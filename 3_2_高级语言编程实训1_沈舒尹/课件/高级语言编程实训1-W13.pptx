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611" r:id="rId3"/>
    <p:sldId id="601" r:id="rId4"/>
    <p:sldId id="624" r:id="rId5"/>
    <p:sldId id="602" r:id="rId6"/>
    <p:sldId id="603" r:id="rId7"/>
    <p:sldId id="626" r:id="rId8"/>
    <p:sldId id="604" r:id="rId9"/>
    <p:sldId id="605" r:id="rId10"/>
    <p:sldId id="606" r:id="rId11"/>
    <p:sldId id="607" r:id="rId12"/>
    <p:sldId id="608" r:id="rId13"/>
    <p:sldId id="609" r:id="rId14"/>
    <p:sldId id="610" r:id="rId15"/>
    <p:sldId id="623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26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9" descr="南开大学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>
              <a:defRPr/>
            </a:pPr>
            <a:fld id="{5E361EEE-5AE9-483C-B206-8F8027C2A6D9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3075" name="图片 6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>
                <a:solidFill>
                  <a:schemeClr val="lt1"/>
                </a:solidFill>
              </a:endParaRPr>
            </a:p>
          </p:txBody>
        </p:sp>
        <p:pic>
          <p:nvPicPr>
            <p:cNvPr id="3077" name="图片 7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6890" y="257810"/>
            <a:ext cx="10401935" cy="548640"/>
          </a:xfrm>
          <a:ln>
            <a:noFill/>
          </a:ln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4099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4101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1340" y="200025"/>
            <a:ext cx="787654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5123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5125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13560" y="212090"/>
            <a:ext cx="791972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 rot="5400000">
            <a:off x="5134769" y="-3017044"/>
            <a:ext cx="1922463" cy="12192000"/>
          </a:xfrm>
          <a:prstGeom prst="rect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z="1350" strike="noStrike" noProof="1" dirty="0">
              <a:latin typeface="Noto Sans S Chinese Black" pitchFamily="34" charset="-122"/>
              <a:ea typeface="Noto Sans S Chinese Black" pitchFamily="34" charset="-122"/>
            </a:endParaRPr>
          </a:p>
        </p:txBody>
      </p:sp>
      <p:pic>
        <p:nvPicPr>
          <p:cNvPr id="7171" name="图片 9" descr="南开大学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0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192735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400" spc="2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5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>
    <p:fade/>
  </p:transition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rgbClr val="711A5F"/>
          </a:solidFill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Clr>
          <a:srgbClr val="BB66AA"/>
        </a:buClr>
        <a:buFont typeface="Arial" panose="020B0604020202020204" pitchFamily="34" charset="0"/>
        <a:buChar char="●"/>
        <a:defRPr sz="3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tabLst>
          <a:tab pos="1609725" algn="l"/>
          <a:tab pos="1609725" algn="l"/>
          <a:tab pos="1609725" algn="l"/>
          <a:tab pos="1609725" algn="l"/>
        </a:tabLst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24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1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1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hyperlink" Target="http://10.137.143.8/nkresult/login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noProof="0" dirty="0">
                <a:solidFill>
                  <a:schemeClr val="bg1"/>
                </a:solidFill>
                <a:ea typeface="Noto Sans S Chinese Bold" panose="020B0800000000000000" pitchFamily="34" charset="-122"/>
                <a:cs typeface="Arial" panose="020B0604020202020204" pitchFamily="34" charset="0"/>
                <a:sym typeface="+mn-ea"/>
              </a:rPr>
              <a:t>Week13:AIGobang3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pc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ea typeface="Noto Sans S Chinese Black" pitchFamily="34" charset="-122"/>
                <a:cs typeface="Times New Roman" panose="02020603050405020304" pitchFamily="18" charset="0"/>
                <a:sym typeface="+mn-ea"/>
              </a:rPr>
              <a:t>—— Practice of Programming </a:t>
            </a:r>
            <a:r>
              <a:rPr lang="en-US" altLang="zh-CN" spc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ea typeface="Noto Sans S Chinese Black" pitchFamily="34" charset="-122"/>
                <a:cs typeface="Times New Roman" panose="02020603050405020304" pitchFamily="18" charset="0"/>
                <a:sym typeface="+mn-ea"/>
              </a:rPr>
              <a:t>Language 1——</a:t>
            </a:r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5174615" y="4705350"/>
            <a:ext cx="18027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Shen </a:t>
            </a:r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Shuyin</a:t>
            </a:r>
            <a:endParaRPr lang="en-US" altLang="zh-CN" b="1">
              <a:solidFill>
                <a:srgbClr val="6817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</a:t>
            </a:r>
            <a:endParaRPr lang="en-US" altLang="zh-CN" b="1">
              <a:solidFill>
                <a:srgbClr val="6817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kern="0" spc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evaluate(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</a:rPr>
              <a:t>row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, 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</a:rPr>
              <a:t>col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, 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</a:rPr>
              <a:t>color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//这个函数计算</a:t>
            </a:r>
            <a:r>
              <a:rPr lang="zh-CN" altLang="en-US" sz="20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在</a:t>
            </a:r>
            <a:r>
              <a:rPr lang="en-US" altLang="zh-CN" sz="20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(col,row)这个点如果下了color这个棋，它对于这个color对应的</a:t>
            </a:r>
            <a:r>
              <a:rPr lang="zh-CN" altLang="en-US" sz="20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棋手</a:t>
            </a:r>
            <a:r>
              <a:rPr lang="en-US" altLang="zh-CN" sz="20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会形成什么样的棋型，总的分值是多少</a:t>
            </a:r>
            <a:endParaRPr lang="en-US" altLang="zh-CN" sz="2000" dirty="0">
              <a:solidFill>
                <a:srgbClr val="00B05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endParaRPr lang="en-US" altLang="zh-CN" sz="2000" dirty="0">
              <a:solidFill>
                <a:srgbClr val="00B05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endParaRPr lang="en-US" altLang="zh-CN" sz="2000" dirty="0">
              <a:solidFill>
                <a:srgbClr val="00B05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计算在</a:t>
            </a:r>
            <a:r>
              <a:rPr lang="en-US" altLang="zh-CN" sz="20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(col,row)这个点</a:t>
            </a:r>
            <a:r>
              <a:rPr lang="zh-CN" altLang="en-US" sz="20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下不同棋子的差值</a:t>
            </a:r>
            <a:endParaRPr lang="en-US" altLang="zh-CN" sz="2000" dirty="0">
              <a:solidFill>
                <a:srgbClr val="00B05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kern="0" spc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int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zh-CN" sz="2000" kern="0" spc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MaxValue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(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int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row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, 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int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col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, 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int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depth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);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kern="0" spc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int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zh-CN" sz="2000" kern="0" spc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MinValue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(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int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row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, 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int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col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, 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int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depth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);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kern="0" spc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Point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zh-CN" sz="2000" kern="0" spc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getMinMaxEvaluate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(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int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depth</a:t>
            </a:r>
            <a:r>
              <a:rPr lang="en-US" altLang="zh-CN" sz="2000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)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;</a:t>
            </a:r>
            <a:r>
              <a:rPr lang="en-US" altLang="zh-CN" sz="20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//计算当前棋盘形式下的AI最大值</a:t>
            </a:r>
            <a:r>
              <a:rPr lang="zh-CN" altLang="en-US" sz="20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，并决定</a:t>
            </a:r>
            <a:r>
              <a:rPr lang="en-US" altLang="zh-CN" sz="20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AI</a:t>
            </a:r>
            <a:r>
              <a:rPr lang="zh-CN" altLang="en-US" sz="20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下棋的位置</a:t>
            </a:r>
            <a:endParaRPr lang="en-US" altLang="zh-CN" sz="2000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endParaRPr lang="en-US" altLang="zh-CN" sz="2000" dirty="0">
              <a:solidFill>
                <a:srgbClr val="00B050"/>
              </a:solidFill>
              <a:latin typeface="+mn-lt"/>
              <a:ea typeface="新宋体" panose="02010609030101010101" pitchFamily="49" charset="-122"/>
              <a:cs typeface="+mn-lt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655" y="2917825"/>
            <a:ext cx="8772525" cy="7810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Review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注意</a:t>
            </a:r>
            <a:r>
              <a:rPr lang="en-US" altLang="zh-CN"/>
              <a:t>row</a:t>
            </a:r>
            <a:r>
              <a:rPr lang="zh-CN" altLang="en-US"/>
              <a:t>，</a:t>
            </a:r>
            <a:r>
              <a:rPr lang="en-US" altLang="zh-CN"/>
              <a:t>col</a:t>
            </a:r>
            <a:r>
              <a:rPr lang="zh-CN" altLang="en-US"/>
              <a:t>与</a:t>
            </a:r>
            <a:r>
              <a:rPr lang="en-US" altLang="zh-CN"/>
              <a:t>y</a:t>
            </a:r>
            <a:r>
              <a:rPr lang="zh-CN" altLang="en-US"/>
              <a:t>，</a:t>
            </a:r>
            <a:r>
              <a:rPr lang="en-US" altLang="zh-CN"/>
              <a:t>x</a:t>
            </a:r>
            <a:r>
              <a:rPr lang="zh-CN" altLang="en-US"/>
              <a:t>对应</a:t>
            </a:r>
            <a:endParaRPr lang="zh-CN" altLang="en-US"/>
          </a:p>
          <a:p>
            <a:endParaRPr lang="zh-CN" altLang="en-US"/>
          </a:p>
          <a:p>
            <a:pPr lvl="1"/>
            <a:endParaRPr lang="zh-CN" altLang="en-US"/>
          </a:p>
          <a:p>
            <a:pPr lvl="1"/>
            <a:r>
              <a:rPr lang="zh-CN" altLang="en-US"/>
              <a:t>chessBox[</a:t>
            </a:r>
            <a:r>
              <a:rPr lang="zh-CN" altLang="en-US">
                <a:solidFill>
                  <a:srgbClr val="FF0000"/>
                </a:solidFill>
              </a:rPr>
              <a:t>row + i * y</a:t>
            </a:r>
            <a:r>
              <a:rPr lang="zh-CN" altLang="en-US"/>
              <a:t>][</a:t>
            </a:r>
            <a:r>
              <a:rPr lang="zh-CN" altLang="en-US">
                <a:solidFill>
                  <a:srgbClr val="FF0000"/>
                </a:solidFill>
              </a:rPr>
              <a:t>col + i * x</a:t>
            </a:r>
            <a:r>
              <a:rPr lang="zh-CN" altLang="en-US"/>
              <a:t>]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485" y="2359025"/>
            <a:ext cx="6731000" cy="1069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Review</a:t>
            </a:r>
            <a:endParaRPr lang="zh-CN" altLang="en-US"/>
          </a:p>
        </p:txBody>
      </p:sp>
      <p:pic>
        <p:nvPicPr>
          <p:cNvPr id="7" name="内容占位符 6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00100" y="2327910"/>
            <a:ext cx="4792980" cy="3093720"/>
          </a:xfrm>
          <a:prstGeom prst="rect">
            <a:avLst/>
          </a:prstGeom>
        </p:spPr>
      </p:pic>
      <p:pic>
        <p:nvPicPr>
          <p:cNvPr id="11" name="内容占位符 10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1595" y="2457450"/>
            <a:ext cx="5176520" cy="28352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01750" y="1319530"/>
            <a:ext cx="9588500" cy="47732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4290337" y="1390876"/>
            <a:ext cx="7222980" cy="4105020"/>
            <a:chOff x="880414" y="2059853"/>
            <a:chExt cx="7222980" cy="410502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0414" y="2179781"/>
              <a:ext cx="7222980" cy="39850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TextBox 52"/>
            <p:cNvSpPr txBox="1"/>
            <p:nvPr/>
          </p:nvSpPr>
          <p:spPr>
            <a:xfrm>
              <a:off x="5361100" y="2059853"/>
              <a:ext cx="1197443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Value=</a:t>
              </a:r>
              <a:r>
                <a:rPr lang="zh-CN" altLang="en-US" dirty="0">
                  <a:solidFill>
                    <a:srgbClr val="FF0000"/>
                  </a:solidFill>
                </a:rPr>
                <a:t>？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MinMax</a:t>
            </a:r>
            <a:r>
              <a:rPr lang="en-US" altLang="zh-CN" dirty="0"/>
              <a:t> Algorithm</a:t>
            </a:r>
            <a:r>
              <a:rPr lang="zh-CN" altLang="en-US" dirty="0"/>
              <a:t>（极小极大值）</a:t>
            </a:r>
            <a:endParaRPr lang="zh-CN" alt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4887153" y="4799269"/>
            <a:ext cx="6169890" cy="415637"/>
            <a:chOff x="1487055" y="5458691"/>
            <a:chExt cx="6169890" cy="415637"/>
          </a:xfrm>
        </p:grpSpPr>
        <p:sp>
          <p:nvSpPr>
            <p:cNvPr id="4" name="Rectangle 3"/>
            <p:cNvSpPr/>
            <p:nvPr/>
          </p:nvSpPr>
          <p:spPr>
            <a:xfrm>
              <a:off x="1487055" y="5458691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780290" y="5472546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212595" y="5472546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629605" y="5472546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418447" y="5472546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661028" y="5472546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175520" y="5477164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690012" y="5477164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96727" y="5472546"/>
              <a:ext cx="360218" cy="39716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28" name="Group 1027"/>
          <p:cNvGrpSpPr/>
          <p:nvPr/>
        </p:nvGrpSpPr>
        <p:grpSpPr>
          <a:xfrm>
            <a:off x="4019492" y="3883703"/>
            <a:ext cx="7280005" cy="1001063"/>
            <a:chOff x="592397" y="4494573"/>
            <a:chExt cx="7280005" cy="1001063"/>
          </a:xfrm>
        </p:grpSpPr>
        <p:cxnSp>
          <p:nvCxnSpPr>
            <p:cNvPr id="59" name="Straight Arrow Connector 58"/>
            <p:cNvCxnSpPr/>
            <p:nvPr/>
          </p:nvCxnSpPr>
          <p:spPr>
            <a:xfrm flipH="1" flipV="1">
              <a:off x="592397" y="4867621"/>
              <a:ext cx="506730" cy="62801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Group 54"/>
            <p:cNvGrpSpPr/>
            <p:nvPr/>
          </p:nvGrpSpPr>
          <p:grpSpPr>
            <a:xfrm>
              <a:off x="1640167" y="4494573"/>
              <a:ext cx="6232235" cy="428332"/>
              <a:chOff x="1667164" y="4550903"/>
              <a:chExt cx="6232235" cy="428332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1667164" y="4550903"/>
                <a:ext cx="484909" cy="397164"/>
                <a:chOff x="1676400" y="4620292"/>
                <a:chExt cx="447964" cy="397164"/>
              </a:xfrm>
            </p:grpSpPr>
            <p:sp>
              <p:nvSpPr>
                <p:cNvPr id="14" name="Oval 13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-1</a:t>
                  </a:r>
                  <a:endParaRPr lang="zh-CN" altLang="en-US" dirty="0"/>
                </a:p>
              </p:txBody>
            </p:sp>
          </p:grpSp>
          <p:grpSp>
            <p:nvGrpSpPr>
              <p:cNvPr id="18" name="Group 17"/>
              <p:cNvGrpSpPr/>
              <p:nvPr/>
            </p:nvGrpSpPr>
            <p:grpSpPr>
              <a:xfrm>
                <a:off x="2303514" y="4564819"/>
                <a:ext cx="489354" cy="397164"/>
                <a:chOff x="1676400" y="4620292"/>
                <a:chExt cx="452070" cy="397164"/>
              </a:xfrm>
            </p:grpSpPr>
            <p:sp>
              <p:nvSpPr>
                <p:cNvPr id="19" name="Oval 18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1680506" y="464309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-5</a:t>
                  </a:r>
                  <a:endParaRPr lang="zh-CN" altLang="en-US" dirty="0"/>
                </a:p>
              </p:txBody>
            </p:sp>
          </p:grpSp>
          <p:grpSp>
            <p:nvGrpSpPr>
              <p:cNvPr id="21" name="Group 20"/>
              <p:cNvGrpSpPr/>
              <p:nvPr/>
            </p:nvGrpSpPr>
            <p:grpSpPr>
              <a:xfrm>
                <a:off x="3324804" y="4564819"/>
                <a:ext cx="484909" cy="397164"/>
                <a:chOff x="1676399" y="4620292"/>
                <a:chExt cx="447964" cy="397164"/>
              </a:xfrm>
            </p:grpSpPr>
            <p:sp>
              <p:nvSpPr>
                <p:cNvPr id="22" name="Oval 21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676399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0</a:t>
                  </a:r>
                  <a:endParaRPr lang="zh-CN" altLang="en-US" dirty="0"/>
                </a:p>
              </p:txBody>
            </p:sp>
          </p:grpSp>
          <p:grpSp>
            <p:nvGrpSpPr>
              <p:cNvPr id="24" name="Group 23"/>
              <p:cNvGrpSpPr/>
              <p:nvPr/>
            </p:nvGrpSpPr>
            <p:grpSpPr>
              <a:xfrm>
                <a:off x="3989823" y="4582071"/>
                <a:ext cx="484909" cy="397164"/>
                <a:chOff x="1676400" y="4620292"/>
                <a:chExt cx="447964" cy="397164"/>
              </a:xfrm>
            </p:grpSpPr>
            <p:sp>
              <p:nvSpPr>
                <p:cNvPr id="25" name="Oval 24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</p:grpSp>
          <p:grpSp>
            <p:nvGrpSpPr>
              <p:cNvPr id="27" name="Group 26"/>
              <p:cNvGrpSpPr/>
              <p:nvPr/>
            </p:nvGrpSpPr>
            <p:grpSpPr>
              <a:xfrm>
                <a:off x="4595333" y="4582071"/>
                <a:ext cx="484909" cy="397164"/>
                <a:chOff x="1676400" y="4620292"/>
                <a:chExt cx="447964" cy="397164"/>
              </a:xfrm>
            </p:grpSpPr>
            <p:sp>
              <p:nvSpPr>
                <p:cNvPr id="28" name="Oval 27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2</a:t>
                  </a:r>
                  <a:endParaRPr lang="zh-CN" altLang="en-US" dirty="0"/>
                </a:p>
              </p:txBody>
            </p:sp>
          </p:grpSp>
          <p:grpSp>
            <p:nvGrpSpPr>
              <p:cNvPr id="30" name="Group 29"/>
              <p:cNvGrpSpPr/>
              <p:nvPr/>
            </p:nvGrpSpPr>
            <p:grpSpPr>
              <a:xfrm>
                <a:off x="5258944" y="4582071"/>
                <a:ext cx="484909" cy="397164"/>
                <a:chOff x="1676400" y="4620292"/>
                <a:chExt cx="447964" cy="397164"/>
              </a:xfrm>
            </p:grpSpPr>
            <p:sp>
              <p:nvSpPr>
                <p:cNvPr id="31" name="Oval 30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TextBox 31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8</a:t>
                  </a:r>
                  <a:endParaRPr lang="zh-CN" altLang="en-US" dirty="0"/>
                </a:p>
              </p:txBody>
            </p:sp>
          </p:grpSp>
          <p:grpSp>
            <p:nvGrpSpPr>
              <p:cNvPr id="33" name="Group 32"/>
              <p:cNvGrpSpPr/>
              <p:nvPr/>
            </p:nvGrpSpPr>
            <p:grpSpPr>
              <a:xfrm>
                <a:off x="5871984" y="4564819"/>
                <a:ext cx="484909" cy="397164"/>
                <a:chOff x="1676400" y="4620292"/>
                <a:chExt cx="447964" cy="397164"/>
              </a:xfrm>
            </p:grpSpPr>
            <p:sp>
              <p:nvSpPr>
                <p:cNvPr id="34" name="Oval 33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TextBox 34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</p:grpSp>
          <p:grpSp>
            <p:nvGrpSpPr>
              <p:cNvPr id="36" name="Group 35"/>
              <p:cNvGrpSpPr/>
              <p:nvPr/>
            </p:nvGrpSpPr>
            <p:grpSpPr>
              <a:xfrm>
                <a:off x="6697743" y="4556540"/>
                <a:ext cx="484909" cy="397164"/>
                <a:chOff x="1676400" y="4620292"/>
                <a:chExt cx="447964" cy="397164"/>
              </a:xfrm>
            </p:grpSpPr>
            <p:sp>
              <p:nvSpPr>
                <p:cNvPr id="37" name="Oval 36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TextBox 37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</p:grpSp>
          <p:grpSp>
            <p:nvGrpSpPr>
              <p:cNvPr id="39" name="Group 38"/>
              <p:cNvGrpSpPr/>
              <p:nvPr/>
            </p:nvGrpSpPr>
            <p:grpSpPr>
              <a:xfrm>
                <a:off x="7414490" y="4573792"/>
                <a:ext cx="484909" cy="397164"/>
                <a:chOff x="1676400" y="4620292"/>
                <a:chExt cx="447964" cy="397164"/>
              </a:xfrm>
            </p:grpSpPr>
            <p:sp>
              <p:nvSpPr>
                <p:cNvPr id="40" name="Oval 39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TextBox 40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0</a:t>
                  </a:r>
                  <a:endParaRPr lang="zh-CN" altLang="en-US" dirty="0"/>
                </a:p>
              </p:txBody>
            </p:sp>
          </p:grpSp>
        </p:grpSp>
      </p:grpSp>
      <p:grpSp>
        <p:nvGrpSpPr>
          <p:cNvPr id="1029" name="Group 1028"/>
          <p:cNvGrpSpPr/>
          <p:nvPr/>
        </p:nvGrpSpPr>
        <p:grpSpPr>
          <a:xfrm>
            <a:off x="3515302" y="2961730"/>
            <a:ext cx="6999463" cy="1012475"/>
            <a:chOff x="88207" y="3572600"/>
            <a:chExt cx="6999463" cy="1012475"/>
          </a:xfrm>
        </p:grpSpPr>
        <p:cxnSp>
          <p:nvCxnSpPr>
            <p:cNvPr id="61" name="Straight Arrow Connector 60"/>
            <p:cNvCxnSpPr/>
            <p:nvPr/>
          </p:nvCxnSpPr>
          <p:spPr>
            <a:xfrm flipH="1" flipV="1">
              <a:off x="88207" y="3910705"/>
              <a:ext cx="1010920" cy="67437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/>
            <p:cNvGrpSpPr/>
            <p:nvPr/>
          </p:nvGrpSpPr>
          <p:grpSpPr>
            <a:xfrm>
              <a:off x="2766194" y="3572600"/>
              <a:ext cx="4321476" cy="420885"/>
              <a:chOff x="2780290" y="3636707"/>
              <a:chExt cx="4321476" cy="420885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2780290" y="3657092"/>
                <a:ext cx="360218" cy="397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2"/>
                    </a:solidFill>
                  </a:rPr>
                  <a:t>0</a:t>
                </a:r>
                <a:endParaRPr lang="zh-CN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4211783" y="3636707"/>
                <a:ext cx="360218" cy="397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2"/>
                    </a:solidFill>
                  </a:rPr>
                  <a:t>4</a:t>
                </a:r>
                <a:endParaRPr lang="zh-CN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5643276" y="3660428"/>
                <a:ext cx="360218" cy="397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2"/>
                    </a:solidFill>
                  </a:rPr>
                  <a:t>8</a:t>
                </a:r>
                <a:endParaRPr lang="zh-CN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6741548" y="3636707"/>
                <a:ext cx="360218" cy="397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2"/>
                    </a:solidFill>
                  </a:rPr>
                  <a:t>4</a:t>
                </a:r>
                <a:endParaRPr lang="zh-CN" altLang="en-US" dirty="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1030" name="Group 1029"/>
          <p:cNvGrpSpPr/>
          <p:nvPr/>
        </p:nvGrpSpPr>
        <p:grpSpPr>
          <a:xfrm>
            <a:off x="3185737" y="2139437"/>
            <a:ext cx="6401870" cy="842678"/>
            <a:chOff x="-241358" y="2750307"/>
            <a:chExt cx="6401870" cy="842678"/>
          </a:xfrm>
        </p:grpSpPr>
        <p:cxnSp>
          <p:nvCxnSpPr>
            <p:cNvPr id="62" name="Straight Arrow Connector 61"/>
            <p:cNvCxnSpPr/>
            <p:nvPr/>
          </p:nvCxnSpPr>
          <p:spPr>
            <a:xfrm flipH="1" flipV="1">
              <a:off x="-241358" y="3025930"/>
              <a:ext cx="1340485" cy="56705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Group 56"/>
            <p:cNvGrpSpPr/>
            <p:nvPr/>
          </p:nvGrpSpPr>
          <p:grpSpPr>
            <a:xfrm>
              <a:off x="3815483" y="2750307"/>
              <a:ext cx="2345029" cy="415371"/>
              <a:chOff x="3809714" y="2805922"/>
              <a:chExt cx="2345029" cy="415371"/>
            </a:xfrm>
          </p:grpSpPr>
          <p:grpSp>
            <p:nvGrpSpPr>
              <p:cNvPr id="46" name="Group 45"/>
              <p:cNvGrpSpPr/>
              <p:nvPr/>
            </p:nvGrpSpPr>
            <p:grpSpPr>
              <a:xfrm>
                <a:off x="3809714" y="2824129"/>
                <a:ext cx="484909" cy="397164"/>
                <a:chOff x="1676400" y="4620292"/>
                <a:chExt cx="447964" cy="397164"/>
              </a:xfrm>
            </p:grpSpPr>
            <p:sp>
              <p:nvSpPr>
                <p:cNvPr id="47" name="Oval 46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0</a:t>
                  </a:r>
                  <a:endParaRPr lang="zh-CN" altLang="en-US" dirty="0"/>
                </a:p>
              </p:txBody>
            </p:sp>
          </p:grpSp>
          <p:grpSp>
            <p:nvGrpSpPr>
              <p:cNvPr id="49" name="Group 48"/>
              <p:cNvGrpSpPr/>
              <p:nvPr/>
            </p:nvGrpSpPr>
            <p:grpSpPr>
              <a:xfrm>
                <a:off x="5669834" y="2805922"/>
                <a:ext cx="484909" cy="397164"/>
                <a:chOff x="1676400" y="4620292"/>
                <a:chExt cx="447964" cy="397164"/>
              </a:xfrm>
            </p:grpSpPr>
            <p:sp>
              <p:nvSpPr>
                <p:cNvPr id="50" name="Oval 49"/>
                <p:cNvSpPr/>
                <p:nvPr/>
              </p:nvSpPr>
              <p:spPr>
                <a:xfrm>
                  <a:off x="1676400" y="4620292"/>
                  <a:ext cx="360219" cy="397164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>
                  <a:off x="1676400" y="4634208"/>
                  <a:ext cx="447964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</p:grpSp>
        </p:grpSp>
      </p:grpSp>
      <p:grpSp>
        <p:nvGrpSpPr>
          <p:cNvPr id="1043" name="Group 1042"/>
          <p:cNvGrpSpPr/>
          <p:nvPr/>
        </p:nvGrpSpPr>
        <p:grpSpPr>
          <a:xfrm>
            <a:off x="2875857" y="1383038"/>
            <a:ext cx="7433565" cy="3441689"/>
            <a:chOff x="-517583" y="1993908"/>
            <a:chExt cx="7433565" cy="3441689"/>
          </a:xfrm>
        </p:grpSpPr>
        <p:grpSp>
          <p:nvGrpSpPr>
            <p:cNvPr id="1031" name="Group 1030"/>
            <p:cNvGrpSpPr/>
            <p:nvPr/>
          </p:nvGrpSpPr>
          <p:grpSpPr>
            <a:xfrm>
              <a:off x="-517583" y="1993908"/>
              <a:ext cx="7034361" cy="788522"/>
              <a:chOff x="-517583" y="1993908"/>
              <a:chExt cx="7034361" cy="788522"/>
            </a:xfrm>
          </p:grpSpPr>
          <p:cxnSp>
            <p:nvCxnSpPr>
              <p:cNvPr id="63" name="Straight Arrow Connector 62"/>
              <p:cNvCxnSpPr/>
              <p:nvPr/>
            </p:nvCxnSpPr>
            <p:spPr>
              <a:xfrm flipH="1" flipV="1">
                <a:off x="-517583" y="2341740"/>
                <a:ext cx="1616710" cy="44069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/>
              <p:cNvSpPr txBox="1"/>
              <p:nvPr/>
            </p:nvSpPr>
            <p:spPr>
              <a:xfrm>
                <a:off x="5319335" y="1993908"/>
                <a:ext cx="1197443" cy="3683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Value=4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039" name="Group 1038"/>
            <p:cNvGrpSpPr/>
            <p:nvPr/>
          </p:nvGrpSpPr>
          <p:grpSpPr>
            <a:xfrm>
              <a:off x="5126182" y="2397280"/>
              <a:ext cx="1789800" cy="3038317"/>
              <a:chOff x="5126182" y="2397280"/>
              <a:chExt cx="1789800" cy="3038317"/>
            </a:xfrm>
          </p:grpSpPr>
          <p:cxnSp>
            <p:nvCxnSpPr>
              <p:cNvPr id="1033" name="Straight Connector 1032"/>
              <p:cNvCxnSpPr/>
              <p:nvPr/>
            </p:nvCxnSpPr>
            <p:spPr>
              <a:xfrm>
                <a:off x="5126182" y="2397280"/>
                <a:ext cx="590674" cy="41481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6048388" y="3055645"/>
                <a:ext cx="734482" cy="497804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6841290" y="3959989"/>
                <a:ext cx="41112" cy="51914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flipH="1">
                <a:off x="6882494" y="4907695"/>
                <a:ext cx="33488" cy="52790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组合 83"/>
          <p:cNvGrpSpPr/>
          <p:nvPr/>
        </p:nvGrpSpPr>
        <p:grpSpPr>
          <a:xfrm>
            <a:off x="107950" y="1680210"/>
            <a:ext cx="9307830" cy="4803140"/>
            <a:chOff x="9991" y="2181"/>
            <a:chExt cx="14658" cy="7564"/>
          </a:xfrm>
        </p:grpSpPr>
        <p:sp>
          <p:nvSpPr>
            <p:cNvPr id="67" name="文本框 66"/>
            <p:cNvSpPr txBox="1"/>
            <p:nvPr/>
          </p:nvSpPr>
          <p:spPr>
            <a:xfrm>
              <a:off x="12121" y="5815"/>
              <a:ext cx="6901" cy="87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lang="en-US" altLang="zh-CN" sz="2000" kern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ea typeface="新宋体" panose="02010609030101010101" pitchFamily="49" charset="-122"/>
                  <a:cs typeface="+mn-lt"/>
                  <a:sym typeface="+mn-ea"/>
                </a:rPr>
                <a:t>MinValue</a:t>
              </a:r>
              <a:r>
                <a:rPr lang="en-US" altLang="zh-CN" sz="2000" kern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ea typeface="新宋体" panose="02010609030101010101" pitchFamily="49" charset="-122"/>
                  <a:cs typeface="+mn-lt"/>
                  <a:sym typeface="+mn-ea"/>
                </a:rPr>
                <a:t>(</a:t>
              </a:r>
              <a:r>
                <a:rPr lang="en-US" altLang="zh-CN" sz="2000" kern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ea typeface="新宋体" panose="02010609030101010101" pitchFamily="49" charset="-122"/>
                  <a:cs typeface="+mn-lt"/>
                  <a:sym typeface="+mn-ea"/>
                </a:rPr>
                <a:t>row</a:t>
              </a:r>
              <a:r>
                <a:rPr lang="en-US" altLang="zh-CN" sz="2000" kern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ea typeface="新宋体" panose="02010609030101010101" pitchFamily="49" charset="-122"/>
                  <a:cs typeface="+mn-lt"/>
                  <a:sym typeface="+mn-ea"/>
                </a:rPr>
                <a:t>,</a:t>
              </a:r>
              <a:r>
                <a:rPr lang="en-US" altLang="zh-CN" sz="2000" kern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ea typeface="新宋体" panose="02010609030101010101" pitchFamily="49" charset="-122"/>
                  <a:cs typeface="+mn-lt"/>
                  <a:sym typeface="+mn-ea"/>
                </a:rPr>
                <a:t>col</a:t>
              </a:r>
              <a:r>
                <a:rPr lang="en-US" altLang="zh-CN" sz="2000" kern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ea typeface="新宋体" panose="02010609030101010101" pitchFamily="49" charset="-122"/>
                  <a:cs typeface="+mn-lt"/>
                  <a:sym typeface="+mn-ea"/>
                </a:rPr>
                <a:t>,</a:t>
              </a:r>
              <a:r>
                <a:rPr lang="en-US" altLang="zh-CN" sz="2000" kern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ea typeface="新宋体" panose="02010609030101010101" pitchFamily="49" charset="-122"/>
                  <a:cs typeface="+mn-lt"/>
                  <a:sym typeface="+mn-ea"/>
                </a:rPr>
                <a:t>1</a:t>
              </a:r>
              <a:r>
                <a:rPr lang="en-US" altLang="zh-CN" sz="2000" kern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ea typeface="新宋体" panose="02010609030101010101" pitchFamily="49" charset="-122"/>
                  <a:cs typeface="+mn-lt"/>
                  <a:sym typeface="+mn-ea"/>
                </a:rPr>
                <a:t>);</a:t>
              </a:r>
              <a:endParaRPr lang="en-US" altLang="zh-CN" sz="2000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ea typeface="新宋体" panose="02010609030101010101" pitchFamily="49" charset="-122"/>
                <a:cs typeface="+mn-lt"/>
                <a:sym typeface="+mn-ea"/>
              </a:endParaRPr>
            </a:p>
          </p:txBody>
        </p:sp>
        <p:grpSp>
          <p:nvGrpSpPr>
            <p:cNvPr id="58" name="组合 57"/>
            <p:cNvGrpSpPr/>
            <p:nvPr/>
          </p:nvGrpSpPr>
          <p:grpSpPr>
            <a:xfrm>
              <a:off x="9991" y="2181"/>
              <a:ext cx="14658" cy="7564"/>
              <a:chOff x="9991" y="2181"/>
              <a:chExt cx="14658" cy="7564"/>
            </a:xfrm>
          </p:grpSpPr>
          <p:sp>
            <p:nvSpPr>
              <p:cNvPr id="60" name="文本框 59"/>
              <p:cNvSpPr txBox="1"/>
              <p:nvPr/>
            </p:nvSpPr>
            <p:spPr>
              <a:xfrm>
                <a:off x="9991" y="2181"/>
                <a:ext cx="5524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altLang="zh-CN" sz="2000" kern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getMinMaxEvaluate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(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4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);</a:t>
                </a:r>
                <a:endParaRPr lang="zh-CN" altLang="en-US" sz="2000" kern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ea typeface="新宋体" panose="02010609030101010101" pitchFamily="49" charset="-122"/>
                  <a:cs typeface="+mn-lt"/>
                  <a:sym typeface="+mn-ea"/>
                </a:endParaRPr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10934" y="4351"/>
                <a:ext cx="6975" cy="87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kern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MaxValue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(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80808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row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, 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80808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col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, 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2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);</a:t>
                </a:r>
                <a:endParaRPr lang="en-US" altLang="zh-CN" sz="2000" kern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ea typeface="新宋体" panose="02010609030101010101" pitchFamily="49" charset="-122"/>
                  <a:cs typeface="+mn-lt"/>
                  <a:sym typeface="+mn-ea"/>
                </a:endParaRPr>
              </a:p>
            </p:txBody>
          </p:sp>
          <p:sp>
            <p:nvSpPr>
              <p:cNvPr id="71" name="文本框 70"/>
              <p:cNvSpPr txBox="1"/>
              <p:nvPr/>
            </p:nvSpPr>
            <p:spPr>
              <a:xfrm>
                <a:off x="10755" y="3047"/>
                <a:ext cx="7380" cy="87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kern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MinValue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(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80808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row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,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80808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col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, 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3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);</a:t>
                </a:r>
                <a:endParaRPr lang="en-US" altLang="zh-CN" sz="2000" kern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ea typeface="新宋体" panose="02010609030101010101" pitchFamily="49" charset="-122"/>
                  <a:cs typeface="+mn-lt"/>
                  <a:sym typeface="+mn-ea"/>
                </a:endParaRPr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11734" y="9117"/>
                <a:ext cx="12915" cy="6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altLang="zh-CN" sz="2000" kern="0" noProof="0" dirty="0" err="1">
                    <a:ln>
                      <a:noFill/>
                    </a:ln>
                    <a:solidFill>
                      <a:schemeClr val="accent4">
                        <a:lumMod val="75000"/>
                        <a:lumOff val="25000"/>
                      </a:schemeClr>
                    </a:solidFill>
                    <a:effectLst/>
                    <a:uLnTx/>
                    <a:ea typeface="新宋体" panose="02010609030101010101" pitchFamily="49" charset="-122"/>
                    <a:cs typeface="+mn-lt"/>
                  </a:rPr>
                  <a:t>return</a:t>
                </a:r>
                <a:r>
                  <a:rPr lang="en-US" altLang="zh-CN" sz="2000" kern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</a:rPr>
                  <a:t> </a:t>
                </a:r>
                <a:r>
                  <a:rPr lang="en-US" altLang="zh-CN" sz="2000" kern="0" noProof="0" dirty="0" err="1">
                    <a:ln>
                      <a:noFill/>
                    </a:ln>
                    <a:effectLst/>
                    <a:uLnTx/>
                    <a:ea typeface="新宋体" panose="02010609030101010101" pitchFamily="49" charset="-122"/>
                    <a:cs typeface="+mn-lt"/>
                  </a:rPr>
                  <a:t>evaluate(row, col, AIPlayer) - evaluate(row, col, HumanPlayer)</a:t>
                </a:r>
                <a:endParaRPr lang="en-US" altLang="zh-CN" sz="2000" kern="0" noProof="0" dirty="0" err="1">
                  <a:ln>
                    <a:noFill/>
                  </a:ln>
                  <a:effectLst/>
                  <a:uLnTx/>
                  <a:ea typeface="新宋体" panose="02010609030101010101" pitchFamily="49" charset="-122"/>
                  <a:cs typeface="+mn-lt"/>
                </a:endParaRPr>
              </a:p>
            </p:txBody>
          </p:sp>
          <p:sp>
            <p:nvSpPr>
              <p:cNvPr id="78" name="文本框 77"/>
              <p:cNvSpPr txBox="1"/>
              <p:nvPr/>
            </p:nvSpPr>
            <p:spPr>
              <a:xfrm>
                <a:off x="12220" y="7352"/>
                <a:ext cx="5893" cy="87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kern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MaxValue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(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80808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row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, 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80808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col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, 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0</a:t>
                </a:r>
                <a:r>
                  <a:rPr lang="en-US" altLang="zh-CN" sz="2000" kern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ea typeface="新宋体" panose="02010609030101010101" pitchFamily="49" charset="-122"/>
                    <a:cs typeface="+mn-lt"/>
                    <a:sym typeface="+mn-ea"/>
                  </a:rPr>
                  <a:t>);</a:t>
                </a:r>
                <a:endParaRPr lang="en-US" altLang="zh-CN" sz="2000" kern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ea typeface="新宋体" panose="02010609030101010101" pitchFamily="49" charset="-122"/>
                  <a:cs typeface="+mn-lt"/>
                  <a:sym typeface="+mn-ea"/>
                </a:endParaRPr>
              </a:p>
            </p:txBody>
          </p:sp>
          <p:cxnSp>
            <p:nvCxnSpPr>
              <p:cNvPr id="80" name="直接箭头连接符 79"/>
              <p:cNvCxnSpPr>
                <a:stCxn id="60" idx="2"/>
              </p:cNvCxnSpPr>
              <p:nvPr/>
            </p:nvCxnSpPr>
            <p:spPr>
              <a:xfrm>
                <a:off x="12753" y="2809"/>
                <a:ext cx="9" cy="56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2" name="直接箭头连接符 81"/>
              <p:cNvCxnSpPr/>
              <p:nvPr/>
            </p:nvCxnSpPr>
            <p:spPr>
              <a:xfrm flipH="1">
                <a:off x="12762" y="5018"/>
                <a:ext cx="9" cy="113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5" name="直接箭头连接符 84"/>
              <p:cNvCxnSpPr/>
              <p:nvPr/>
            </p:nvCxnSpPr>
            <p:spPr>
              <a:xfrm>
                <a:off x="12771" y="6686"/>
                <a:ext cx="0" cy="80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6" name="直接箭头连接符 85"/>
              <p:cNvCxnSpPr/>
              <p:nvPr/>
            </p:nvCxnSpPr>
            <p:spPr>
              <a:xfrm flipH="1">
                <a:off x="12778" y="8000"/>
                <a:ext cx="16" cy="92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7" name="直接箭头连接符 86"/>
              <p:cNvCxnSpPr/>
              <p:nvPr/>
            </p:nvCxnSpPr>
            <p:spPr>
              <a:xfrm>
                <a:off x="12746" y="3861"/>
                <a:ext cx="7" cy="69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zh-CN" altLang="en-US" dirty="0">
                <a:sym typeface="Symbol" panose="05050102010706020507" pitchFamily="18" charset="2"/>
              </a:rPr>
              <a:t>剪枝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CN" altLang="en-US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由五子棋生成的博弈树及其庞大，如果不对它进行优化，它能搜索的层数就及其有限，利用</a:t>
            </a:r>
            <a:r>
              <a:rPr lang="en-US" altLang="zh-CN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α-β</a:t>
            </a:r>
            <a:r>
              <a:rPr lang="zh-CN" altLang="en-US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剪枝能够去掉一些用处不大的走法，以提高运行的速度。</a:t>
            </a:r>
            <a:endParaRPr lang="zh-CN" altLang="en-US" sz="2800" b="0" i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b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zh-CN" altLang="en-US" dirty="0">
                <a:sym typeface="Symbol" panose="05050102010706020507" pitchFamily="18" charset="2"/>
              </a:rPr>
              <a:t>剪枝</a:t>
            </a:r>
            <a:endParaRPr lang="zh-CN" altLang="en-US" dirty="0"/>
          </a:p>
        </p:txBody>
      </p:sp>
      <p:sp>
        <p:nvSpPr>
          <p:cNvPr id="13" name="内容占位符 1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lvl="0">
              <a:lnSpc>
                <a:spcPct val="150000"/>
              </a:lnSpc>
              <a:defRPr/>
            </a:pPr>
            <a:r>
              <a:rPr lang="zh-CN" altLang="en-US" sz="2400" spc="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初始化根节点</a:t>
            </a:r>
            <a:r>
              <a:rPr lang="zh-CN" altLang="en-US" sz="2400" spc="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的</a:t>
            </a:r>
            <a:r>
              <a:rPr lang="en-US" altLang="zh-CN" sz="2400" spc="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=</a:t>
            </a:r>
            <a:r>
              <a:rPr lang="zh-CN" altLang="en-US" sz="2400" spc="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，</a:t>
            </a:r>
            <a:r>
              <a:rPr lang="en-US" altLang="zh-CN" sz="2400" spc="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=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-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对于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MAX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层，当遇到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的获利值大于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α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的时候，需要对该节点的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α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进行修改。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对于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MIN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层，当遇到使得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获利更小的情况，则需要修改该点的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β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值。</a:t>
            </a:r>
            <a:endParaRPr lang="zh-CN" altLang="en-US" sz="2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α≥β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，则进行剪枝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zh-CN" altLang="en-US" dirty="0">
                <a:sym typeface="Symbol" panose="05050102010706020507" pitchFamily="18" charset="2"/>
              </a:rPr>
              <a:t>剪枝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latin typeface="+mn-ea"/>
                <a:cs typeface="+mn-ea"/>
              </a:rPr>
              <a:t>α-β</a:t>
            </a:r>
            <a:r>
              <a:rPr lang="zh-CN" altLang="en-US" sz="2400" dirty="0">
                <a:latin typeface="+mn-ea"/>
                <a:cs typeface="+mn-ea"/>
              </a:rPr>
              <a:t>剪枝的实现，博弈树中每一个节点都有一个</a:t>
            </a:r>
            <a:r>
              <a:rPr lang="en-US" altLang="zh-CN" sz="2400" dirty="0">
                <a:latin typeface="+mn-ea"/>
                <a:cs typeface="+mn-ea"/>
              </a:rPr>
              <a:t>α</a:t>
            </a:r>
            <a:r>
              <a:rPr lang="zh-CN" altLang="en-US" sz="2400" dirty="0">
                <a:latin typeface="+mn-ea"/>
                <a:cs typeface="+mn-ea"/>
              </a:rPr>
              <a:t>和</a:t>
            </a:r>
            <a:r>
              <a:rPr lang="en-US" altLang="zh-CN" sz="2400" dirty="0">
                <a:latin typeface="+mn-ea"/>
                <a:cs typeface="+mn-ea"/>
              </a:rPr>
              <a:t>β</a:t>
            </a:r>
            <a:r>
              <a:rPr lang="zh-CN" altLang="en-US" sz="2400" dirty="0">
                <a:latin typeface="+mn-ea"/>
                <a:cs typeface="+mn-ea"/>
              </a:rPr>
              <a:t>，初始设置</a:t>
            </a:r>
            <a:r>
              <a:rPr lang="en-US" altLang="zh-CN" sz="2400" dirty="0">
                <a:latin typeface="+mn-ea"/>
                <a:cs typeface="+mn-ea"/>
              </a:rPr>
              <a:t>α</a:t>
            </a:r>
            <a:r>
              <a:rPr lang="zh-CN" altLang="en-US" sz="2400" dirty="0">
                <a:latin typeface="+mn-ea"/>
                <a:cs typeface="+mn-ea"/>
              </a:rPr>
              <a:t>为负无穷大（下界），</a:t>
            </a:r>
            <a:r>
              <a:rPr lang="en-US" altLang="zh-CN" sz="2400" dirty="0">
                <a:latin typeface="+mn-ea"/>
                <a:cs typeface="+mn-ea"/>
              </a:rPr>
              <a:t>β</a:t>
            </a:r>
            <a:r>
              <a:rPr lang="zh-CN" altLang="en-US" sz="2400" dirty="0">
                <a:latin typeface="+mn-ea"/>
                <a:cs typeface="+mn-ea"/>
              </a:rPr>
              <a:t>为正无穷大（上界）。</a:t>
            </a:r>
            <a:endParaRPr lang="en-US" altLang="zh-CN" sz="2400" dirty="0">
              <a:latin typeface="+mn-ea"/>
              <a:cs typeface="+mn-ea"/>
            </a:endParaRPr>
          </a:p>
          <a:p>
            <a:r>
              <a:rPr lang="zh-CN" altLang="en-US" sz="2400" dirty="0">
                <a:latin typeface="+mn-ea"/>
                <a:cs typeface="+mn-ea"/>
              </a:rPr>
              <a:t>对于</a:t>
            </a:r>
            <a:r>
              <a:rPr lang="en-US" altLang="zh-CN" sz="2400" dirty="0">
                <a:latin typeface="+mn-ea"/>
                <a:cs typeface="+mn-ea"/>
              </a:rPr>
              <a:t>MAX</a:t>
            </a:r>
            <a:r>
              <a:rPr lang="zh-CN" altLang="en-US" sz="2400" dirty="0">
                <a:latin typeface="+mn-ea"/>
                <a:cs typeface="+mn-ea"/>
              </a:rPr>
              <a:t>层，为了使</a:t>
            </a:r>
            <a:r>
              <a:rPr lang="en-US" altLang="zh-CN" sz="2400" dirty="0">
                <a:latin typeface="+mn-ea"/>
                <a:cs typeface="+mn-ea"/>
              </a:rPr>
              <a:t>AI</a:t>
            </a:r>
            <a:r>
              <a:rPr lang="zh-CN" altLang="en-US" sz="2400" dirty="0">
                <a:latin typeface="+mn-ea"/>
                <a:cs typeface="+mn-ea"/>
              </a:rPr>
              <a:t>的利益最大化，会在从子节点中选择最大的分数返回给该层</a:t>
            </a:r>
            <a:r>
              <a:rPr lang="zh-CN" altLang="en-US" sz="2400" dirty="0">
                <a:latin typeface="+mn-ea"/>
                <a:cs typeface="+mn-ea"/>
              </a:rPr>
              <a:t>结点，当返回的值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cs typeface="+mn-ea"/>
              </a:rPr>
              <a:t>大于</a:t>
            </a:r>
            <a:r>
              <a:rPr lang="en-US" altLang="zh-CN" sz="2400" dirty="0">
                <a:latin typeface="+mn-ea"/>
                <a:cs typeface="+mn-ea"/>
              </a:rPr>
              <a:t>α</a:t>
            </a:r>
            <a:r>
              <a:rPr lang="zh-CN" altLang="en-US" sz="2400" dirty="0">
                <a:latin typeface="+mn-ea"/>
                <a:cs typeface="+mn-ea"/>
              </a:rPr>
              <a:t>时，则修改该节点的</a:t>
            </a:r>
            <a:r>
              <a:rPr lang="en-US" altLang="zh-CN" sz="2400" dirty="0">
                <a:latin typeface="+mn-ea"/>
                <a:cs typeface="+mn-ea"/>
              </a:rPr>
              <a:t>α</a:t>
            </a:r>
            <a:r>
              <a:rPr lang="zh-CN" altLang="en-US" sz="2400" dirty="0">
                <a:latin typeface="+mn-ea"/>
                <a:cs typeface="+mn-ea"/>
              </a:rPr>
              <a:t>值为此分数。</a:t>
            </a:r>
            <a:endParaRPr lang="en-US" altLang="zh-CN" sz="2400" dirty="0">
              <a:latin typeface="+mn-ea"/>
              <a:cs typeface="+mn-ea"/>
            </a:endParaRPr>
          </a:p>
          <a:p>
            <a:r>
              <a:rPr lang="zh-CN" altLang="en-US" sz="2400" dirty="0">
                <a:latin typeface="+mn-ea"/>
                <a:cs typeface="+mn-ea"/>
              </a:rPr>
              <a:t>对于</a:t>
            </a:r>
            <a:r>
              <a:rPr lang="en-US" altLang="zh-CN" sz="2400" dirty="0">
                <a:latin typeface="+mn-ea"/>
                <a:cs typeface="+mn-ea"/>
              </a:rPr>
              <a:t>MIN</a:t>
            </a:r>
            <a:r>
              <a:rPr lang="zh-CN" altLang="en-US" sz="2400" dirty="0">
                <a:latin typeface="+mn-ea"/>
                <a:cs typeface="+mn-ea"/>
              </a:rPr>
              <a:t>层，为了使对手利益最小化，会在</a:t>
            </a:r>
            <a:r>
              <a:rPr lang="zh-CN" altLang="en-US" sz="2400" dirty="0">
                <a:latin typeface="+mn-ea"/>
                <a:cs typeface="+mn-ea"/>
                <a:sym typeface="+mn-ea"/>
              </a:rPr>
              <a:t>从子节点中</a:t>
            </a:r>
            <a:r>
              <a:rPr lang="zh-CN" altLang="en-US" sz="2400" dirty="0">
                <a:latin typeface="+mn-ea"/>
                <a:cs typeface="+mn-ea"/>
              </a:rPr>
              <a:t>选择最小的分数返回给</a:t>
            </a:r>
            <a:r>
              <a:rPr lang="zh-CN" altLang="en-US" sz="2400" dirty="0">
                <a:latin typeface="+mn-ea"/>
                <a:cs typeface="+mn-ea"/>
                <a:sym typeface="+mn-ea"/>
              </a:rPr>
              <a:t>该层结点</a:t>
            </a:r>
            <a:r>
              <a:rPr lang="zh-CN" altLang="en-US" sz="2400" dirty="0">
                <a:latin typeface="+mn-ea"/>
                <a:cs typeface="+mn-ea"/>
              </a:rPr>
              <a:t>，当返回的值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cs typeface="+mn-ea"/>
              </a:rPr>
              <a:t>小于</a:t>
            </a:r>
            <a:r>
              <a:rPr lang="en-US" altLang="zh-CN" sz="2400" dirty="0">
                <a:latin typeface="+mn-ea"/>
                <a:cs typeface="+mn-ea"/>
              </a:rPr>
              <a:t>β</a:t>
            </a:r>
            <a:r>
              <a:rPr lang="zh-CN" altLang="en-US" sz="2400" dirty="0">
                <a:latin typeface="+mn-ea"/>
                <a:cs typeface="+mn-ea"/>
              </a:rPr>
              <a:t>时，则修改</a:t>
            </a:r>
            <a:r>
              <a:rPr lang="zh-CN" altLang="en-US" sz="2400" dirty="0">
                <a:latin typeface="+mn-ea"/>
                <a:cs typeface="+mn-ea"/>
                <a:sym typeface="+mn-ea"/>
              </a:rPr>
              <a:t>该节点</a:t>
            </a:r>
            <a:r>
              <a:rPr lang="zh-CN" altLang="en-US" sz="2400" dirty="0">
                <a:latin typeface="+mn-ea"/>
                <a:cs typeface="+mn-ea"/>
              </a:rPr>
              <a:t>的</a:t>
            </a:r>
            <a:r>
              <a:rPr lang="en-US" altLang="zh-CN" sz="2400" dirty="0">
                <a:latin typeface="+mn-ea"/>
                <a:cs typeface="+mn-ea"/>
              </a:rPr>
              <a:t>β</a:t>
            </a:r>
            <a:r>
              <a:rPr lang="zh-CN" altLang="en-US" sz="2400" dirty="0">
                <a:latin typeface="+mn-ea"/>
                <a:cs typeface="+mn-ea"/>
              </a:rPr>
              <a:t>值为此分数。</a:t>
            </a:r>
            <a:endParaRPr lang="en-US" altLang="zh-CN" sz="2400" dirty="0">
              <a:latin typeface="+mn-ea"/>
              <a:cs typeface="+mn-ea"/>
            </a:endParaRPr>
          </a:p>
          <a:p>
            <a:r>
              <a:rPr lang="zh-CN" altLang="en-US" sz="2400" dirty="0">
                <a:latin typeface="+mn-ea"/>
                <a:cs typeface="+mn-ea"/>
              </a:rPr>
              <a:t>当每一个节点要生成下一步棋子时，先判断</a:t>
            </a:r>
            <a:r>
              <a:rPr lang="en-US" altLang="zh-CN" sz="2400" dirty="0">
                <a:latin typeface="+mn-ea"/>
                <a:cs typeface="+mn-ea"/>
              </a:rPr>
              <a:t>α</a:t>
            </a:r>
            <a:r>
              <a:rPr lang="zh-CN" altLang="en-US" sz="2400" dirty="0">
                <a:latin typeface="+mn-ea"/>
                <a:cs typeface="+mn-ea"/>
              </a:rPr>
              <a:t>与</a:t>
            </a:r>
            <a:r>
              <a:rPr lang="en-US" altLang="zh-CN" sz="2400" dirty="0">
                <a:latin typeface="+mn-ea"/>
                <a:cs typeface="+mn-ea"/>
              </a:rPr>
              <a:t>β</a:t>
            </a:r>
            <a:r>
              <a:rPr lang="zh-CN" altLang="en-US" sz="2400" dirty="0">
                <a:latin typeface="+mn-ea"/>
                <a:cs typeface="+mn-ea"/>
              </a:rPr>
              <a:t>，如果</a:t>
            </a:r>
            <a:r>
              <a:rPr lang="en-US" altLang="zh-CN" sz="2400" dirty="0">
                <a:latin typeface="+mn-ea"/>
                <a:cs typeface="+mn-ea"/>
              </a:rPr>
              <a:t>α</a:t>
            </a:r>
            <a:r>
              <a:rPr lang="en-US" altLang="zh-CN" sz="2400" dirty="0">
                <a:cs typeface="Arial" panose="020B0604020202020204" pitchFamily="34" charset="0"/>
              </a:rPr>
              <a:t>≥</a:t>
            </a:r>
            <a:r>
              <a:rPr lang="en-US" altLang="zh-CN" sz="2400" dirty="0">
                <a:latin typeface="+mn-ea"/>
                <a:cs typeface="+mn-ea"/>
              </a:rPr>
              <a:t>β</a:t>
            </a:r>
            <a:r>
              <a:rPr lang="zh-CN" altLang="en-US" sz="2400" dirty="0">
                <a:latin typeface="+mn-ea"/>
                <a:cs typeface="+mn-ea"/>
              </a:rPr>
              <a:t>，则不用再生成下一步的走法，剪枝</a:t>
            </a:r>
            <a:r>
              <a:rPr lang="zh-CN" altLang="en-US" sz="2400" dirty="0">
                <a:latin typeface="+mn-ea"/>
                <a:cs typeface="+mn-ea"/>
              </a:rPr>
              <a:t>并返回上一层。</a:t>
            </a:r>
            <a:endParaRPr lang="zh-CN" altLang="en-US" sz="2400" dirty="0">
              <a:latin typeface="+mn-ea"/>
              <a:cs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zh-CN" altLang="en-US" dirty="0">
                <a:sym typeface="Symbol" panose="05050102010706020507" pitchFamily="18" charset="2"/>
              </a:rPr>
              <a:t>剪枝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algn="l"/>
            <a:r>
              <a:rPr lang="zh-CN" altLang="en-US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</a:t>
            </a:r>
            <a:r>
              <a:rPr lang="en-US" altLang="zh-CN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</a:t>
            </a:r>
            <a:r>
              <a:rPr lang="zh-CN" altLang="en-US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为下界，</a:t>
            </a:r>
            <a:r>
              <a:rPr lang="en-US" altLang="zh-CN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β</a:t>
            </a:r>
            <a:r>
              <a:rPr lang="zh-CN" altLang="en-US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为上界，对于</a:t>
            </a:r>
            <a:r>
              <a:rPr lang="en-US" altLang="zh-CN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α≤value≤β:</a:t>
            </a:r>
            <a:endParaRPr lang="en-US" altLang="zh-CN" sz="2800" b="0" i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</a:t>
            </a:r>
            <a:r>
              <a:rPr lang="en-US" altLang="zh-CN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α≤β</a:t>
            </a:r>
            <a:r>
              <a:rPr lang="zh-CN" altLang="en-US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</a:t>
            </a:r>
            <a:r>
              <a:rPr lang="en-US" altLang="zh-CN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</a:t>
            </a:r>
            <a:r>
              <a:rPr lang="zh-CN" altLang="en-US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有解。</a:t>
            </a:r>
            <a:endParaRPr lang="zh-CN" altLang="en-US" sz="2800" b="0" i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</a:t>
            </a:r>
            <a:r>
              <a:rPr lang="en-US" altLang="zh-CN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α&gt;β</a:t>
            </a:r>
            <a:r>
              <a:rPr lang="zh-CN" altLang="en-US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</a:t>
            </a:r>
            <a:r>
              <a:rPr lang="zh-CN" altLang="en-US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无解，剪枝，直接返回上一层。</a:t>
            </a:r>
            <a:endParaRPr lang="en-US" altLang="zh-CN" sz="2800" b="0" i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</a:t>
            </a:r>
            <a:r>
              <a:rPr lang="zh-CN" altLang="en-US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层的玩家确定的是上界</a:t>
            </a:r>
            <a:r>
              <a:rPr lang="en-US" altLang="zh-CN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β</a:t>
            </a:r>
            <a:endParaRPr lang="en-US" altLang="zh-CN" sz="2800" b="0" i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</a:t>
            </a:r>
            <a:r>
              <a:rPr lang="zh-CN" altLang="en-US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层的</a:t>
            </a:r>
            <a:r>
              <a:rPr lang="en-US" altLang="zh-CN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确定的是下界</a:t>
            </a:r>
            <a:r>
              <a:rPr lang="en-US" altLang="zh-CN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</a:t>
            </a:r>
            <a:endParaRPr lang="en-US" altLang="zh-CN" sz="2800" b="0" i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</a:t>
            </a:r>
            <a:r>
              <a:rPr lang="en-US" altLang="zh-CN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α&gt;β </a:t>
            </a:r>
            <a:r>
              <a:rPr lang="zh-CN" altLang="en-US" sz="2800" b="0" i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时，不需要考虑该节点的后代，因为它们将永远不会被选择。</a:t>
            </a:r>
            <a:endParaRPr lang="zh-CN" altLang="en-US" sz="2800" b="0" i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MaxValue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(</a:t>
            </a:r>
            <a:r>
              <a:rPr lang="en-US" altLang="zh-CN" sz="1800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row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, </a:t>
            </a:r>
            <a:r>
              <a:rPr lang="en-US" altLang="zh-CN" sz="1800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col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, </a:t>
            </a:r>
            <a:r>
              <a:rPr lang="en-US" altLang="zh-CN" sz="1800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1800" dirty="0" err="1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depth</a:t>
            </a:r>
            <a:r>
              <a:rPr lang="en-US" altLang="zh-CN" sz="1800" dirty="0" err="1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,</a:t>
            </a:r>
            <a:r>
              <a:rPr lang="en-US" altLang="zh-CN" sz="1800" dirty="0" err="1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1800" dirty="0" err="1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alpha</a:t>
            </a:r>
            <a:r>
              <a:rPr lang="en-US" altLang="zh-CN" sz="1800" dirty="0" err="1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,</a:t>
            </a:r>
            <a:r>
              <a:rPr lang="en-US" altLang="zh-CN" sz="1800" dirty="0" err="1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beta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);</a:t>
            </a:r>
            <a:endParaRPr lang="en-US" altLang="zh-CN" sz="1800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MinValue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(</a:t>
            </a:r>
            <a:r>
              <a:rPr lang="en-US" altLang="zh-CN" sz="1800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row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, </a:t>
            </a:r>
            <a:r>
              <a:rPr lang="en-US" altLang="zh-CN" sz="1800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col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, </a:t>
            </a:r>
            <a:r>
              <a:rPr lang="en-US" altLang="zh-CN" sz="1800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1800" dirty="0" err="1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depth</a:t>
            </a:r>
            <a:r>
              <a:rPr lang="en-US" altLang="zh-CN" sz="1800" dirty="0" err="1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,</a:t>
            </a:r>
            <a:r>
              <a:rPr lang="en-US" altLang="zh-CN" sz="1800" dirty="0" err="1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1800" dirty="0" err="1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alpha</a:t>
            </a:r>
            <a:r>
              <a:rPr lang="en-US" altLang="zh-CN" sz="1800" dirty="0" err="1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,</a:t>
            </a:r>
            <a:r>
              <a:rPr lang="en-US" altLang="zh-CN" sz="1800" dirty="0" err="1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beta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);</a:t>
            </a:r>
            <a:endParaRPr lang="en-US" altLang="zh-CN" sz="1800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2B91AF"/>
                </a:solidFill>
                <a:latin typeface="+mn-lt"/>
                <a:ea typeface="新宋体" panose="02010609030101010101" pitchFamily="49" charset="-122"/>
                <a:cs typeface="+mn-lt"/>
              </a:rPr>
              <a:t>Point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getMinMaxEvaluate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(</a:t>
            </a:r>
            <a:r>
              <a:rPr lang="en-US" altLang="zh-CN" sz="1800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depth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) {</a:t>
            </a:r>
            <a:endParaRPr lang="en-US" altLang="zh-CN" sz="1800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	…</a:t>
            </a:r>
            <a:endParaRPr lang="en-US" altLang="zh-CN" sz="1800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	</a:t>
            </a:r>
            <a:r>
              <a:rPr lang="sv-SE" altLang="zh-CN" sz="1800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alpha = </a:t>
            </a:r>
            <a:r>
              <a:rPr lang="en-US" altLang="zh-CN" sz="1800" dirty="0">
                <a:solidFill>
                  <a:srgbClr val="6F008A"/>
                </a:solidFill>
                <a:latin typeface="+mn-lt"/>
                <a:ea typeface="新宋体" panose="02010609030101010101" pitchFamily="49" charset="-122"/>
                <a:cs typeface="+mn-lt"/>
              </a:rPr>
              <a:t>INT_MIN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;  </a:t>
            </a:r>
            <a:r>
              <a:rPr lang="en-US" altLang="zh-CN" sz="18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//</a:t>
            </a:r>
            <a:r>
              <a:rPr lang="zh-CN" altLang="en-US" sz="18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下界，由</a:t>
            </a:r>
            <a:r>
              <a:rPr lang="en-US" altLang="zh-CN" sz="1800" dirty="0" err="1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MAX_value</a:t>
            </a:r>
            <a:r>
              <a:rPr lang="zh-CN" altLang="en-US" sz="18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决定</a:t>
            </a:r>
            <a:endParaRPr lang="en-US" altLang="zh-CN" sz="1800" dirty="0">
              <a:solidFill>
                <a:srgbClr val="00B05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	</a:t>
            </a:r>
            <a:r>
              <a:rPr lang="sv-SE" altLang="zh-CN" sz="1800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beta = </a:t>
            </a:r>
            <a:r>
              <a:rPr lang="en-US" altLang="zh-CN" sz="1800" dirty="0">
                <a:solidFill>
                  <a:srgbClr val="6F008A"/>
                </a:solidFill>
                <a:latin typeface="+mn-lt"/>
                <a:ea typeface="新宋体" panose="02010609030101010101" pitchFamily="49" charset="-122"/>
                <a:cs typeface="+mn-lt"/>
              </a:rPr>
              <a:t>INT_MAX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;  </a:t>
            </a:r>
            <a:r>
              <a:rPr lang="en-US" altLang="zh-CN" sz="18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//</a:t>
            </a:r>
            <a:r>
              <a:rPr lang="zh-CN" altLang="en-US" sz="18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上界，由</a:t>
            </a:r>
            <a:r>
              <a:rPr lang="en-US" altLang="zh-CN" sz="1800" dirty="0" err="1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MIN_value</a:t>
            </a:r>
            <a:r>
              <a:rPr lang="zh-CN" altLang="en-US" sz="18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决定</a:t>
            </a:r>
            <a:endParaRPr lang="en-US" altLang="zh-CN" sz="1800" dirty="0">
              <a:solidFill>
                <a:srgbClr val="00B05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	…</a:t>
            </a:r>
            <a:endParaRPr lang="en-US" altLang="zh-CN" sz="1800" dirty="0">
              <a:solidFill>
                <a:srgbClr val="00B05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sv-SE" altLang="zh-CN" sz="1800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        int</a:t>
            </a:r>
            <a:r>
              <a:rPr lang="sv-SE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lang="en-US" altLang="sv-SE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score</a:t>
            </a:r>
            <a:r>
              <a:rPr lang="sv-SE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= MinValue(i, j, </a:t>
            </a:r>
            <a:r>
              <a:rPr lang="sv-SE" altLang="zh-CN" sz="1800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depth</a:t>
            </a:r>
            <a:r>
              <a:rPr lang="sv-SE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- 1,alpha,beta);</a:t>
            </a:r>
            <a:endParaRPr lang="sv-SE" altLang="zh-CN" sz="1800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sv-SE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	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…</a:t>
            </a:r>
            <a:endParaRPr lang="en-US" altLang="zh-CN" sz="1800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}</a:t>
            </a:r>
            <a:endParaRPr lang="en-US" altLang="zh-CN" sz="1800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endParaRPr lang="en-US" altLang="zh-CN" sz="1800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zh-CN" altLang="en-US" dirty="0">
                <a:sym typeface="Symbol" panose="05050102010706020507" pitchFamily="18" charset="2"/>
              </a:rPr>
              <a:t>剪枝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330" y="1501140"/>
            <a:ext cx="5487035" cy="474853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MinValue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(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row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,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col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,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depth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,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alpha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,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int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beta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){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	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…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	int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score = </a:t>
            </a:r>
            <a:r>
              <a:rPr lang="en-US" altLang="zh-CN" sz="1800" dirty="0" err="1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MaxValue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, j, </a:t>
            </a:r>
            <a:r>
              <a:rPr lang="en-US" altLang="zh-CN" sz="1800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depth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- 1,</a:t>
            </a:r>
            <a:r>
              <a:rPr lang="en-US" altLang="zh-CN" sz="1800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alpha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,</a:t>
            </a:r>
            <a:r>
              <a:rPr lang="en-US" altLang="zh-CN" sz="1800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beta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);</a:t>
            </a:r>
            <a:endParaRPr lang="en-US" altLang="zh-CN" sz="1800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</a:rPr>
              <a:t>	if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(score &lt; </a:t>
            </a:r>
            <a:r>
              <a:rPr lang="en-US" altLang="zh-CN" sz="1800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beta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) {</a:t>
            </a:r>
            <a:endParaRPr lang="en-US" altLang="zh-CN" sz="1800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</a:rPr>
              <a:t>		beta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 = score;</a:t>
            </a:r>
            <a:endParaRPr lang="en-US" altLang="zh-CN" sz="1800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	}</a:t>
            </a:r>
            <a:endParaRPr lang="en-US" altLang="zh-CN" sz="1800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新宋体" panose="02010609030101010101" pitchFamily="49" charset="-122"/>
                <a:cs typeface="+mn-lt"/>
              </a:rPr>
              <a:t>	</a:t>
            </a:r>
            <a:r>
              <a:rPr lang="en-US" altLang="zh-CN" sz="1800" dirty="0">
                <a:latin typeface="+mn-lt"/>
                <a:ea typeface="新宋体" panose="02010609030101010101" pitchFamily="49" charset="-122"/>
                <a:cs typeface="+mn-lt"/>
              </a:rPr>
              <a:t>…</a:t>
            </a:r>
            <a:r>
              <a:rPr lang="en-US" altLang="zh-CN" sz="1800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</a:rPr>
              <a:t>//if alpha &gt;= beta then return beta</a:t>
            </a:r>
            <a:endParaRPr lang="en-US" altLang="zh-CN" sz="1800" dirty="0">
              <a:solidFill>
                <a:srgbClr val="00B05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</a:rPr>
              <a:t>}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endParaRPr lang="zh-CN" altLang="en-US" dirty="0">
              <a:latin typeface="+mn-lt"/>
              <a:cs typeface="+mn-lt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>
            <a:normAutofit fontScale="50000"/>
          </a:bodyPr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MaxValue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zh-CN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row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, 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zh-CN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col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, 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zh-CN" dirty="0" err="1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depth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,</a:t>
            </a:r>
            <a:r>
              <a:rPr lang="en-US" altLang="zh-CN" dirty="0" err="1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zh-CN" dirty="0" err="1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alpha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,</a:t>
            </a:r>
            <a:r>
              <a:rPr lang="en-US" altLang="zh-CN" dirty="0" err="1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zh-CN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beta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){</a:t>
            </a:r>
            <a:endParaRPr lang="en-US" altLang="zh-CN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sv-SE" altLang="zh-CN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	</a:t>
            </a:r>
            <a:r>
              <a:rPr lang="en-US" altLang="zh-CN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…</a:t>
            </a:r>
            <a:endParaRPr lang="sv-SE" altLang="zh-CN" dirty="0">
              <a:solidFill>
                <a:srgbClr val="0000FF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	</a:t>
            </a:r>
            <a:r>
              <a:rPr lang="sv-SE" altLang="zh-CN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int</a:t>
            </a:r>
            <a:r>
              <a:rPr lang="sv-SE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</a:t>
            </a:r>
            <a:r>
              <a:rPr lang="en-US" altLang="sv-SE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score</a:t>
            </a:r>
            <a:r>
              <a:rPr lang="sv-SE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= MinValue(i, j, </a:t>
            </a:r>
            <a:r>
              <a:rPr lang="sv-SE" altLang="zh-CN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depth</a:t>
            </a:r>
            <a:r>
              <a:rPr lang="sv-SE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- 1,</a:t>
            </a:r>
            <a:r>
              <a:rPr lang="sv-SE" altLang="zh-CN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alpha</a:t>
            </a:r>
            <a:r>
              <a:rPr lang="sv-SE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,</a:t>
            </a:r>
            <a:r>
              <a:rPr lang="sv-SE" altLang="zh-CN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beta</a:t>
            </a:r>
            <a:r>
              <a:rPr lang="sv-SE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);</a:t>
            </a:r>
            <a:endParaRPr lang="sv-SE" altLang="zh-CN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	if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(score &gt; </a:t>
            </a:r>
            <a:r>
              <a:rPr lang="en-US" altLang="zh-CN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alpha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){</a:t>
            </a:r>
            <a:endParaRPr lang="en-US" altLang="zh-CN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80808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		alpha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 = score;</a:t>
            </a:r>
            <a:endParaRPr lang="en-US" altLang="zh-CN" dirty="0">
              <a:solidFill>
                <a:srgbClr val="00000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kern="0" spc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	}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	…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//if alpha &gt;= beta then return alpha</a:t>
            </a:r>
            <a:endParaRPr lang="en-US" altLang="zh-CN" dirty="0">
              <a:solidFill>
                <a:srgbClr val="00B050"/>
              </a:solidFill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	…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新宋体" panose="02010609030101010101" pitchFamily="49" charset="-122"/>
              <a:cs typeface="+mn-lt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新宋体" panose="02010609030101010101" pitchFamily="49" charset="-122"/>
                <a:cs typeface="+mn-lt"/>
                <a:sym typeface="+mn-ea"/>
              </a:rPr>
              <a:t>}</a:t>
            </a:r>
            <a:endParaRPr lang="zh-CN" altLang="en-US">
              <a:latin typeface="+mn-lt"/>
              <a:cs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zh-CN" altLang="en-US" dirty="0">
                <a:sym typeface="Symbol" panose="05050102010706020507" pitchFamily="18" charset="2"/>
              </a:rPr>
              <a:t>剪枝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zh-CN" altLang="en-US" sz="2800" dirty="0"/>
              <a:t>完成五子棋游戏</a:t>
            </a:r>
            <a:endParaRPr lang="en-US" altLang="zh-CN" sz="2400" dirty="0"/>
          </a:p>
          <a:p>
            <a:pPr lvl="1"/>
            <a:r>
              <a:rPr lang="zh-CN" altLang="en-US" sz="2400"/>
              <a:t>提交完整的工程文件、视频</a:t>
            </a:r>
            <a:endParaRPr lang="en-US" altLang="zh-CN" sz="2400" dirty="0"/>
          </a:p>
          <a:p>
            <a:pPr marL="228600" lvl="1" algn="l" defTabSz="914400">
              <a:lnSpc>
                <a:spcPct val="130000"/>
              </a:lnSpc>
              <a:spcAft>
                <a:spcPts val="1000"/>
              </a:spcAft>
              <a:buSzTx/>
              <a:buChar char="●"/>
            </a:pPr>
            <a:r>
              <a:rPr lang="zh-CN" altLang="en-US" dirty="0"/>
              <a:t>代码质量评分：</a:t>
            </a:r>
            <a:endParaRPr lang="zh-CN" altLang="en-US" dirty="0"/>
          </a:p>
          <a:p>
            <a:pPr lvl="1"/>
            <a:r>
              <a:rPr lang="zh-CN" altLang="en-US" sz="2400" dirty="0"/>
              <a:t>- Creativity and Functionality: 30%</a:t>
            </a:r>
            <a:endParaRPr lang="zh-CN" altLang="en-US" sz="2400" dirty="0"/>
          </a:p>
          <a:p>
            <a:pPr lvl="1"/>
            <a:r>
              <a:rPr lang="zh-CN" altLang="en-US" sz="2400" dirty="0"/>
              <a:t>- Game Mechanics Implementation: 25%</a:t>
            </a:r>
            <a:endParaRPr lang="zh-CN" altLang="en-US" sz="2400" dirty="0"/>
          </a:p>
          <a:p>
            <a:pPr lvl="1"/>
            <a:r>
              <a:rPr lang="zh-CN" altLang="en-US" sz="2400" dirty="0"/>
              <a:t>- Graphics and User Interface Design: 20%</a:t>
            </a:r>
            <a:endParaRPr lang="zh-CN" altLang="en-US" sz="2400" dirty="0"/>
          </a:p>
          <a:p>
            <a:pPr lvl="1"/>
            <a:r>
              <a:rPr lang="zh-CN" altLang="en-US" sz="2400" dirty="0"/>
              <a:t>- Code Quality and Efficiency: 15%</a:t>
            </a:r>
            <a:endParaRPr lang="zh-CN" altLang="en-US" sz="2400" dirty="0"/>
          </a:p>
          <a:p>
            <a:pPr marL="228600" lvl="0" indent="-228600">
              <a:buFont typeface="Arial" panose="020B0604020202020204" pitchFamily="34" charset="0"/>
              <a:buChar char="●"/>
            </a:pPr>
            <a:r>
              <a:rPr lang="zh-CN" altLang="en-US" sz="2800" dirty="0">
                <a:solidFill>
                  <a:schemeClr val="tx1"/>
                </a:solidFill>
              </a:rPr>
              <a:t>成果上传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marL="0" lvl="0" indent="0"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tx1"/>
                </a:solidFill>
                <a:hlinkClick r:id="rId1"/>
              </a:rPr>
              <a:t>http://10.137.143.8/nkresult/login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Thinking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测试代码使用剪枝算法前后的运行效率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SPECIAL_SOURCE" val="bdnull"/>
</p:tagLst>
</file>

<file path=ppt/tags/tag16.xml><?xml version="1.0" encoding="utf-8"?>
<p:tagLst xmlns:p="http://schemas.openxmlformats.org/presentationml/2006/main">
  <p:tag name="KSO_WM_SPECIAL_SOURCE" val="bdnull"/>
</p:tagLst>
</file>

<file path=ppt/tags/tag17.xml><?xml version="1.0" encoding="utf-8"?>
<p:tagLst xmlns:p="http://schemas.openxmlformats.org/presentationml/2006/main">
  <p:tag name="KSO_WM_SPECIAL_SOURCE" val="bdnull"/>
</p:tagLst>
</file>

<file path=ppt/tags/tag18.xml><?xml version="1.0" encoding="utf-8"?>
<p:tagLst xmlns:p="http://schemas.openxmlformats.org/presentationml/2006/main">
  <p:tag name="KSO_WM_SPECIAL_SOURCE" val="bdnull"/>
</p:tagLst>
</file>

<file path=ppt/tags/tag19.xml><?xml version="1.0" encoding="utf-8"?>
<p:tagLst xmlns:p="http://schemas.openxmlformats.org/presentationml/2006/main">
  <p:tag name="KSO_WM_SPECIAL_SOURCE" val="bdnull"/>
</p:tagLst>
</file>

<file path=ppt/tags/tag20.xml><?xml version="1.0" encoding="utf-8"?>
<p:tagLst xmlns:p="http://schemas.openxmlformats.org/presentationml/2006/main">
  <p:tag name="KSO_WM_SPECIAL_SOURCE" val="bdnull"/>
</p:tagLst>
</file>

<file path=ppt/tags/tag21.xml><?xml version="1.0" encoding="utf-8"?>
<p:tagLst xmlns:p="http://schemas.openxmlformats.org/presentationml/2006/main">
  <p:tag name="KSO_WM_SPECIAL_SOURCE" val="bdnull"/>
</p:tagLst>
</file>

<file path=ppt/tags/tag22.xml><?xml version="1.0" encoding="utf-8"?>
<p:tagLst xmlns:p="http://schemas.openxmlformats.org/presentationml/2006/main">
  <p:tag name="KSO_WM_SPECIAL_SOURCE" val="bdnull"/>
</p:tagLst>
</file>

<file path=ppt/tags/tag23.xml><?xml version="1.0" encoding="utf-8"?>
<p:tagLst xmlns:p="http://schemas.openxmlformats.org/presentationml/2006/main">
  <p:tag name="KSO_WM_SPECIAL_SOURCE" val="bdnull"/>
</p:tagLst>
</file>

<file path=ppt/tags/tag24.xml><?xml version="1.0" encoding="utf-8"?>
<p:tagLst xmlns:p="http://schemas.openxmlformats.org/presentationml/2006/main">
  <p:tag name="KSO_WM_SPECIAL_SOURCE" val="bdnull"/>
</p:tagLst>
</file>

<file path=ppt/tags/tag25.xml><?xml version="1.0" encoding="utf-8"?>
<p:tagLst xmlns:p="http://schemas.openxmlformats.org/presentationml/2006/main">
  <p:tag name="KSO_WM_SPECIAL_SOURCE" val="bdnull"/>
</p:tagLst>
</file>

<file path=ppt/tags/tag26.xml><?xml version="1.0" encoding="utf-8"?>
<p:tagLst xmlns:p="http://schemas.openxmlformats.org/presentationml/2006/main">
  <p:tag name="COMMONDATA" val="eyJoZGlkIjoiOTk5YjBiZTExNzdkZTMzZGJkYjE3NzExMTJjOGEwMDIifQ=="/>
  <p:tag name="KSO_WPP_MARK_KEY" val="6d16b29e-c5c1-4d10-8608-1fb69fd68aa0"/>
  <p:tag name="commondata" val="eyJoZGlkIjoiNTU0ZmIwYTQ3NzlmZGUxZmU3Zjk0M2IyZTNmM2IxNjAifQ=="/>
</p:tagLst>
</file>

<file path=ppt/theme/theme1.xml><?xml version="1.0" encoding="utf-8"?>
<a:theme xmlns:a="http://schemas.openxmlformats.org/drawingml/2006/main" name="1_Office 主题​​">
  <a:themeElements>
    <a:clrScheme name="自定义 3">
      <a:dk1>
        <a:srgbClr val="711A5F"/>
      </a:dk1>
      <a:lt1>
        <a:srgbClr val="FFFFFF"/>
      </a:lt1>
      <a:dk2>
        <a:srgbClr val="711A5F"/>
      </a:dk2>
      <a:lt2>
        <a:srgbClr val="FFFFFF"/>
      </a:lt2>
      <a:accent1>
        <a:srgbClr val="D8929B"/>
      </a:accent1>
      <a:accent2>
        <a:srgbClr val="C7C3E3"/>
      </a:accent2>
      <a:accent3>
        <a:srgbClr val="A07DA0"/>
      </a:accent3>
      <a:accent4>
        <a:srgbClr val="48005F"/>
      </a:accent4>
      <a:accent5>
        <a:srgbClr val="E1A08B"/>
      </a:accent5>
      <a:accent6>
        <a:srgbClr val="AD9CC2"/>
      </a:accent6>
      <a:hlink>
        <a:srgbClr val="C7C3E3"/>
      </a:hlink>
      <a:folHlink>
        <a:srgbClr val="48005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2126</Words>
  <Application>WPS 演示</Application>
  <PresentationFormat>宽屏</PresentationFormat>
  <Paragraphs>160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Noto Sans S Chinese Black</vt:lpstr>
      <vt:lpstr>Times New Roman</vt:lpstr>
      <vt:lpstr>Noto Sans S Chinese Bold</vt:lpstr>
      <vt:lpstr>新宋体</vt:lpstr>
      <vt:lpstr>Symbol</vt:lpstr>
      <vt:lpstr>Arial Unicode MS</vt:lpstr>
      <vt:lpstr>Calibri</vt:lpstr>
      <vt:lpstr>1_Office 主题​​</vt:lpstr>
      <vt:lpstr>Week13:AIGobang3</vt:lpstr>
      <vt:lpstr>Review</vt:lpstr>
      <vt:lpstr>Review</vt:lpstr>
      <vt:lpstr>Review</vt:lpstr>
      <vt:lpstr>Review</vt:lpstr>
      <vt:lpstr>MinMax Algorithm（极小极大值）</vt:lpstr>
      <vt:lpstr>-剪枝</vt:lpstr>
      <vt:lpstr>-剪枝</vt:lpstr>
      <vt:lpstr>-剪枝</vt:lpstr>
      <vt:lpstr>-剪枝</vt:lpstr>
      <vt:lpstr>-剪枝</vt:lpstr>
      <vt:lpstr>-剪枝</vt:lpstr>
      <vt:lpstr>Homework</vt:lpstr>
      <vt:lpstr>Thinking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沈舒尹</cp:lastModifiedBy>
  <cp:revision>346</cp:revision>
  <dcterms:created xsi:type="dcterms:W3CDTF">2019-06-19T02:08:00Z</dcterms:created>
  <dcterms:modified xsi:type="dcterms:W3CDTF">2026-05-26T10:21:27Z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9AFBC04310564A15B3BBD0FFC6679276</vt:lpwstr>
  </property>
</Properties>
</file>