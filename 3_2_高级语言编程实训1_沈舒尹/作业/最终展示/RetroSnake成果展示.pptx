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4" r:id="rId9"/>
    <p:sldId id="265" r:id="rId10"/>
    <p:sldId id="266" r:id="rId11"/>
    <p:sldId id="267" r:id="rId12"/>
    <p:sldId id="268" r:id="rId13"/>
    <p:sldId id="272"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F2F8"/>
    <a:srgbClr val="11E4EF"/>
    <a:srgbClr val="C8F6F9"/>
    <a:srgbClr val="86F846"/>
    <a:srgbClr val="E1F2DF"/>
    <a:srgbClr val="0AF60A"/>
    <a:srgbClr val="DDF7F6"/>
    <a:srgbClr val="C6F5FA"/>
    <a:srgbClr val="E3F3E0"/>
    <a:srgbClr val="F59E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77" autoAdjust="0"/>
  </p:normalViewPr>
  <p:slideViewPr>
    <p:cSldViewPr snapToGrid="0">
      <p:cViewPr>
        <p:scale>
          <a:sx n="60" d="100"/>
          <a:sy n="60" d="100"/>
        </p:scale>
        <p:origin x="1776" y="6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16:00:55.856"/>
    </inkml:context>
    <inkml:brush xml:id="br0">
      <inkml:brushProperty name="width" value="0.05" units="cm"/>
      <inkml:brushProperty name="height" value="0.05" units="cm"/>
      <inkml:brushProperty name="color" value="#AE198D"/>
      <inkml:brushProperty name="inkEffects" value="galaxy"/>
      <inkml:brushProperty name="anchorX" value="3015.71191"/>
      <inkml:brushProperty name="anchorY" value="-2413.66895"/>
      <inkml:brushProperty name="scaleFactor" value="0.5"/>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0EAB9-D0CD-661E-7586-248D0BB9385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DEAC1E-E51A-84DB-0DBE-F952E9815D5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1DA388F-07D9-7834-7838-93449D92DA3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AEFBA5E-80E2-F113-34FB-FFE08EF8DB4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9682591-AEE3-BF39-7FB0-0EE853F944D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a:extLst>
              <a:ext uri="{FF2B5EF4-FFF2-40B4-BE49-F238E27FC236}">
                <a16:creationId xmlns:a16="http://schemas.microsoft.com/office/drawing/2014/main" id="{72753373-A429-746A-CB88-408620188C0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940F9AE-544E-D544-1F36-C5F8D090061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45238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customXml" Target="../ink/ink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1932">
                  <a:alpha val="75000"/>
                </a:srgbClr>
              </a:gs>
              <a:gs pos="65000">
                <a:srgbClr val="001932">
                  <a:alpha val="35000"/>
                </a:srgbClr>
              </a:gs>
              <a:gs pos="100000">
                <a:srgbClr val="001932">
                  <a:alpha val="1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979424" y="3048000"/>
            <a:ext cx="889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Retro Snake</a:t>
            </a:r>
            <a:endParaRPr lang="en-US" sz="1100"/>
          </a:p>
        </p:txBody>
      </p:sp>
      <p:sp>
        <p:nvSpPr>
          <p:cNvPr id="4" name="AutoShape 4"/>
          <p:cNvSpPr/>
          <p:nvPr/>
        </p:nvSpPr>
        <p:spPr>
          <a:xfrm>
            <a:off x="979424" y="3971544"/>
            <a:ext cx="952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a:solidFill>
                  <a:srgbClr val="FFFFFF">
                    <a:alpha val="96078"/>
                  </a:srgbClr>
                </a:solidFill>
                <a:latin typeface="Noto Sans SC"/>
                <a:ea typeface="Noto Sans SC"/>
                <a:cs typeface="Noto Sans SC"/>
                <a:sym typeface="Noto Sans SC"/>
              </a:rPr>
              <a:t>《</a:t>
            </a:r>
            <a:r>
              <a:rPr lang="en-US" sz="2000" b="0" i="0" u="none" strike="noStrike">
                <a:solidFill>
                  <a:srgbClr val="FFFFFF">
                    <a:alpha val="96078"/>
                  </a:srgbClr>
                </a:solidFill>
                <a:latin typeface="Noto Sans SC"/>
                <a:ea typeface="Noto Sans SC"/>
                <a:cs typeface="Noto Sans SC"/>
                <a:sym typeface="Noto Sans SC"/>
              </a:rPr>
              <a:t>高级语言编程实训</a:t>
            </a:r>
            <a:r>
              <a:rPr lang="en-US" altLang="zh-CN" sz="2000" b="0" i="0" u="none" strike="noStrike">
                <a:solidFill>
                  <a:srgbClr val="FFFFFF">
                    <a:alpha val="96078"/>
                  </a:srgbClr>
                </a:solidFill>
                <a:latin typeface="Noto Sans SC"/>
                <a:ea typeface="Noto Sans SC"/>
                <a:cs typeface="Noto Sans SC"/>
                <a:sym typeface="Noto Sans SC"/>
              </a:rPr>
              <a:t>》</a:t>
            </a:r>
            <a:r>
              <a:rPr lang="en-US" sz="2000" b="0" i="0" u="none" strike="noStrike">
                <a:solidFill>
                  <a:srgbClr val="FFFFFF">
                    <a:alpha val="96078"/>
                  </a:srgbClr>
                </a:solidFill>
                <a:latin typeface="Noto Sans SC"/>
                <a:ea typeface="Noto Sans SC"/>
                <a:cs typeface="Noto Sans SC"/>
                <a:sym typeface="Noto Sans SC"/>
              </a:rPr>
              <a:t>成果展示</a:t>
            </a:r>
            <a:endParaRPr lang="en-US" sz="1100"/>
          </a:p>
        </p:txBody>
      </p:sp>
      <p:sp>
        <p:nvSpPr>
          <p:cNvPr id="6" name="AutoShape 6"/>
          <p:cNvSpPr/>
          <p:nvPr/>
        </p:nvSpPr>
        <p:spPr>
          <a:xfrm>
            <a:off x="1116584" y="4953000"/>
            <a:ext cx="53340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a:solidFill>
                  <a:srgbClr val="FFFFFF">
                    <a:alpha val="94902"/>
                  </a:srgbClr>
                </a:solidFill>
                <a:latin typeface="Noto Sans SC"/>
                <a:ea typeface="Noto Sans SC"/>
                <a:sym typeface="Noto Sans SC"/>
              </a:rPr>
              <a:t>汇报人：李宗杭</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286000" y="950976"/>
            <a:ext cx="762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2F80ED"/>
                </a:solidFill>
                <a:latin typeface="Noto Sans SC"/>
                <a:ea typeface="Noto Sans SC"/>
                <a:cs typeface="Noto Sans SC"/>
                <a:sym typeface="Noto Sans SC"/>
              </a:rPr>
              <a:t>目录</a:t>
            </a:r>
            <a:endParaRPr lang="en-US" sz="1800"/>
          </a:p>
        </p:txBody>
      </p:sp>
      <p:sp>
        <p:nvSpPr>
          <p:cNvPr id="34" name="平行四边形 33">
            <a:extLst>
              <a:ext uri="{FF2B5EF4-FFF2-40B4-BE49-F238E27FC236}">
                <a16:creationId xmlns:a16="http://schemas.microsoft.com/office/drawing/2014/main" id="{3283577B-5F70-06F4-DE9E-CEBB8AE5A07D}"/>
              </a:ext>
            </a:extLst>
          </p:cNvPr>
          <p:cNvSpPr/>
          <p:nvPr/>
        </p:nvSpPr>
        <p:spPr>
          <a:xfrm rot="10800000">
            <a:off x="3900932" y="2527108"/>
            <a:ext cx="3604260" cy="892048"/>
          </a:xfrm>
          <a:prstGeom prst="parallelogram">
            <a:avLst/>
          </a:prstGeom>
          <a:gradFill>
            <a:gsLst>
              <a:gs pos="0">
                <a:srgbClr val="E3F3E0"/>
              </a:gs>
              <a:gs pos="100000">
                <a:srgbClr val="E3F3E0"/>
              </a:gs>
              <a:gs pos="54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平行四边形 34">
            <a:extLst>
              <a:ext uri="{FF2B5EF4-FFF2-40B4-BE49-F238E27FC236}">
                <a16:creationId xmlns:a16="http://schemas.microsoft.com/office/drawing/2014/main" id="{882633C8-05D3-0B6F-FF67-9BA5C50333BD}"/>
              </a:ext>
            </a:extLst>
          </p:cNvPr>
          <p:cNvSpPr/>
          <p:nvPr/>
        </p:nvSpPr>
        <p:spPr>
          <a:xfrm rot="10800000">
            <a:off x="4529328" y="3573526"/>
            <a:ext cx="3604260" cy="892048"/>
          </a:xfrm>
          <a:prstGeom prst="parallelogram">
            <a:avLst/>
          </a:prstGeom>
          <a:gradFill>
            <a:gsLst>
              <a:gs pos="0">
                <a:srgbClr val="E3F3E0"/>
              </a:gs>
              <a:gs pos="100000">
                <a:srgbClr val="E3F3E0"/>
              </a:gs>
              <a:gs pos="54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平行四边形 35">
            <a:extLst>
              <a:ext uri="{FF2B5EF4-FFF2-40B4-BE49-F238E27FC236}">
                <a16:creationId xmlns:a16="http://schemas.microsoft.com/office/drawing/2014/main" id="{F4E826CD-001C-D153-B9D4-DA53CD15E4BC}"/>
              </a:ext>
            </a:extLst>
          </p:cNvPr>
          <p:cNvSpPr/>
          <p:nvPr/>
        </p:nvSpPr>
        <p:spPr>
          <a:xfrm rot="10800000">
            <a:off x="8133589" y="3570545"/>
            <a:ext cx="3604260" cy="892048"/>
          </a:xfrm>
          <a:prstGeom prst="parallelogram">
            <a:avLst/>
          </a:prstGeom>
          <a:gradFill>
            <a:gsLst>
              <a:gs pos="0">
                <a:srgbClr val="E3F3E0"/>
              </a:gs>
              <a:gs pos="100000">
                <a:srgbClr val="E3F3E0"/>
              </a:gs>
              <a:gs pos="54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平行四边形 36">
            <a:extLst>
              <a:ext uri="{FF2B5EF4-FFF2-40B4-BE49-F238E27FC236}">
                <a16:creationId xmlns:a16="http://schemas.microsoft.com/office/drawing/2014/main" id="{C786D178-5259-C3C0-A75A-531C83FF2F73}"/>
              </a:ext>
            </a:extLst>
          </p:cNvPr>
          <p:cNvSpPr/>
          <p:nvPr/>
        </p:nvSpPr>
        <p:spPr>
          <a:xfrm rot="10800000">
            <a:off x="925067" y="3570545"/>
            <a:ext cx="3604260" cy="892048"/>
          </a:xfrm>
          <a:prstGeom prst="parallelogram">
            <a:avLst/>
          </a:prstGeom>
          <a:gradFill>
            <a:gsLst>
              <a:gs pos="0">
                <a:srgbClr val="E3F3E0"/>
              </a:gs>
              <a:gs pos="100000">
                <a:srgbClr val="E3F3E0"/>
              </a:gs>
              <a:gs pos="54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平行四边形 37">
            <a:extLst>
              <a:ext uri="{FF2B5EF4-FFF2-40B4-BE49-F238E27FC236}">
                <a16:creationId xmlns:a16="http://schemas.microsoft.com/office/drawing/2014/main" id="{3D65A18E-9920-3968-008C-C581B00B64BE}"/>
              </a:ext>
            </a:extLst>
          </p:cNvPr>
          <p:cNvSpPr/>
          <p:nvPr/>
        </p:nvSpPr>
        <p:spPr>
          <a:xfrm rot="10800000">
            <a:off x="7505192" y="2526539"/>
            <a:ext cx="3604260" cy="892048"/>
          </a:xfrm>
          <a:prstGeom prst="parallelogram">
            <a:avLst/>
          </a:prstGeom>
          <a:gradFill>
            <a:gsLst>
              <a:gs pos="0">
                <a:srgbClr val="E3F3E0"/>
              </a:gs>
              <a:gs pos="100000">
                <a:srgbClr val="E3F3E0"/>
              </a:gs>
              <a:gs pos="54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平行四边形 38">
            <a:extLst>
              <a:ext uri="{FF2B5EF4-FFF2-40B4-BE49-F238E27FC236}">
                <a16:creationId xmlns:a16="http://schemas.microsoft.com/office/drawing/2014/main" id="{CB501F94-4794-0F49-8F69-0F8F42F9F8C7}"/>
              </a:ext>
            </a:extLst>
          </p:cNvPr>
          <p:cNvSpPr/>
          <p:nvPr/>
        </p:nvSpPr>
        <p:spPr>
          <a:xfrm rot="10800000">
            <a:off x="314198" y="2516252"/>
            <a:ext cx="3604260" cy="892048"/>
          </a:xfrm>
          <a:prstGeom prst="parallelogram">
            <a:avLst/>
          </a:prstGeom>
          <a:gradFill>
            <a:gsLst>
              <a:gs pos="0">
                <a:srgbClr val="E3F3E0"/>
              </a:gs>
              <a:gs pos="100000">
                <a:srgbClr val="E3F3E0"/>
              </a:gs>
              <a:gs pos="54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6"/>
          <p:cNvSpPr/>
          <p:nvPr/>
        </p:nvSpPr>
        <p:spPr>
          <a:xfrm>
            <a:off x="514096" y="2689352"/>
            <a:ext cx="88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80ED">
                    <a:alpha val="27843"/>
                  </a:srgbClr>
                </a:solidFill>
                <a:latin typeface="Noto Sans SC"/>
                <a:ea typeface="Noto Sans SC"/>
                <a:cs typeface="Noto Sans SC"/>
                <a:sym typeface="Noto Sans SC"/>
              </a:rPr>
              <a:t>01</a:t>
            </a:r>
            <a:endParaRPr lang="en-US" sz="1100"/>
          </a:p>
        </p:txBody>
      </p:sp>
      <p:sp>
        <p:nvSpPr>
          <p:cNvPr id="7" name="AutoShape 7"/>
          <p:cNvSpPr/>
          <p:nvPr/>
        </p:nvSpPr>
        <p:spPr>
          <a:xfrm>
            <a:off x="1466596" y="2752852"/>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项目概述</a:t>
            </a:r>
            <a:endParaRPr lang="en-US"/>
          </a:p>
        </p:txBody>
      </p:sp>
      <p:sp>
        <p:nvSpPr>
          <p:cNvPr id="11" name="AutoShape 11"/>
          <p:cNvSpPr/>
          <p:nvPr/>
        </p:nvSpPr>
        <p:spPr>
          <a:xfrm>
            <a:off x="4133596" y="2689352"/>
            <a:ext cx="88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80ED">
                    <a:alpha val="27843"/>
                  </a:srgbClr>
                </a:solidFill>
                <a:latin typeface="Noto Sans SC"/>
                <a:ea typeface="Noto Sans SC"/>
                <a:cs typeface="Noto Sans SC"/>
                <a:sym typeface="Noto Sans SC"/>
              </a:rPr>
              <a:t>02</a:t>
            </a:r>
            <a:endParaRPr lang="en-US" sz="1100"/>
          </a:p>
        </p:txBody>
      </p:sp>
      <p:sp>
        <p:nvSpPr>
          <p:cNvPr id="12" name="AutoShape 12"/>
          <p:cNvSpPr/>
          <p:nvPr/>
        </p:nvSpPr>
        <p:spPr>
          <a:xfrm>
            <a:off x="5086096" y="2752852"/>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系统设计与架构</a:t>
            </a:r>
            <a:endParaRPr lang="en-US"/>
          </a:p>
        </p:txBody>
      </p:sp>
      <p:sp>
        <p:nvSpPr>
          <p:cNvPr id="16" name="AutoShape 16"/>
          <p:cNvSpPr/>
          <p:nvPr/>
        </p:nvSpPr>
        <p:spPr>
          <a:xfrm>
            <a:off x="7753096" y="2689352"/>
            <a:ext cx="88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80ED">
                    <a:alpha val="27843"/>
                  </a:srgbClr>
                </a:solidFill>
                <a:latin typeface="Noto Sans SC"/>
                <a:ea typeface="Noto Sans SC"/>
                <a:cs typeface="Noto Sans SC"/>
                <a:sym typeface="Noto Sans SC"/>
              </a:rPr>
              <a:t>03</a:t>
            </a:r>
            <a:endParaRPr lang="en-US" sz="1100"/>
          </a:p>
        </p:txBody>
      </p:sp>
      <p:sp>
        <p:nvSpPr>
          <p:cNvPr id="17" name="AutoShape 17"/>
          <p:cNvSpPr/>
          <p:nvPr/>
        </p:nvSpPr>
        <p:spPr>
          <a:xfrm>
            <a:off x="8705596" y="2752852"/>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核心功能模块详解</a:t>
            </a:r>
            <a:endParaRPr lang="en-US"/>
          </a:p>
        </p:txBody>
      </p:sp>
      <p:sp>
        <p:nvSpPr>
          <p:cNvPr id="21" name="AutoShape 21"/>
          <p:cNvSpPr/>
          <p:nvPr/>
        </p:nvSpPr>
        <p:spPr>
          <a:xfrm>
            <a:off x="1227328" y="3733800"/>
            <a:ext cx="88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80ED">
                    <a:alpha val="27843"/>
                  </a:srgbClr>
                </a:solidFill>
                <a:latin typeface="Noto Sans SC"/>
                <a:ea typeface="Noto Sans SC"/>
                <a:cs typeface="Noto Sans SC"/>
                <a:sym typeface="Noto Sans SC"/>
              </a:rPr>
              <a:t>04</a:t>
            </a:r>
            <a:endParaRPr lang="en-US" sz="1100"/>
          </a:p>
        </p:txBody>
      </p:sp>
      <p:sp>
        <p:nvSpPr>
          <p:cNvPr id="22" name="AutoShape 22"/>
          <p:cNvSpPr/>
          <p:nvPr/>
        </p:nvSpPr>
        <p:spPr>
          <a:xfrm>
            <a:off x="2179828" y="37973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关键技术与算法</a:t>
            </a:r>
            <a:endParaRPr lang="en-US"/>
          </a:p>
        </p:txBody>
      </p:sp>
      <p:sp>
        <p:nvSpPr>
          <p:cNvPr id="26" name="AutoShape 26"/>
          <p:cNvSpPr/>
          <p:nvPr/>
        </p:nvSpPr>
        <p:spPr>
          <a:xfrm>
            <a:off x="4846828" y="3733800"/>
            <a:ext cx="88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80ED">
                    <a:alpha val="27843"/>
                  </a:srgbClr>
                </a:solidFill>
                <a:latin typeface="Noto Sans SC"/>
                <a:ea typeface="Noto Sans SC"/>
                <a:cs typeface="Noto Sans SC"/>
                <a:sym typeface="Noto Sans SC"/>
              </a:rPr>
              <a:t>05</a:t>
            </a:r>
            <a:endParaRPr lang="en-US" sz="1100"/>
          </a:p>
        </p:txBody>
      </p:sp>
      <p:sp>
        <p:nvSpPr>
          <p:cNvPr id="27" name="AutoShape 27"/>
          <p:cNvSpPr/>
          <p:nvPr/>
        </p:nvSpPr>
        <p:spPr>
          <a:xfrm>
            <a:off x="5799328" y="37973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UI/UX 设计体验</a:t>
            </a:r>
            <a:endParaRPr lang="en-US"/>
          </a:p>
        </p:txBody>
      </p:sp>
      <p:sp>
        <p:nvSpPr>
          <p:cNvPr id="31" name="AutoShape 31"/>
          <p:cNvSpPr/>
          <p:nvPr/>
        </p:nvSpPr>
        <p:spPr>
          <a:xfrm>
            <a:off x="8466328" y="3733800"/>
            <a:ext cx="88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80ED">
                    <a:alpha val="27843"/>
                  </a:srgbClr>
                </a:solidFill>
                <a:latin typeface="Noto Sans SC"/>
                <a:ea typeface="Noto Sans SC"/>
                <a:cs typeface="Noto Sans SC"/>
                <a:sym typeface="Noto Sans SC"/>
              </a:rPr>
              <a:t>06</a:t>
            </a:r>
            <a:endParaRPr lang="en-US" sz="1100"/>
          </a:p>
        </p:txBody>
      </p:sp>
      <p:sp>
        <p:nvSpPr>
          <p:cNvPr id="32" name="AutoShape 32"/>
          <p:cNvSpPr/>
          <p:nvPr/>
        </p:nvSpPr>
        <p:spPr>
          <a:xfrm>
            <a:off x="9418828" y="37973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总结</a:t>
            </a:r>
            <a:r>
              <a:rPr lang="zh-CN" altLang="en-US" sz="2000" b="1" i="0" u="none" strike="noStrike">
                <a:solidFill>
                  <a:srgbClr val="2F80ED"/>
                </a:solidFill>
                <a:latin typeface="Noto Sans SC"/>
                <a:ea typeface="Noto Sans SC"/>
                <a:cs typeface="Noto Sans SC"/>
                <a:sym typeface="Noto Sans SC"/>
              </a:rPr>
              <a:t>与展望</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01 项目概述：背景与目标</a:t>
            </a:r>
            <a:endParaRPr lang="en-US" sz="1100"/>
          </a:p>
        </p:txBody>
      </p:sp>
      <p:sp>
        <p:nvSpPr>
          <p:cNvPr id="5" name="AutoShape 5"/>
          <p:cNvSpPr/>
          <p:nvPr/>
        </p:nvSpPr>
        <p:spPr>
          <a:xfrm>
            <a:off x="1016000" y="1631950"/>
            <a:ext cx="1016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600"/>
              </a:spcBef>
              <a:defRPr/>
            </a:pPr>
            <a:r>
              <a:rPr lang="en-US" sz="1400" b="0" i="0" u="none" strike="noStrike">
                <a:solidFill>
                  <a:srgbClr val="333333"/>
                </a:solidFill>
                <a:latin typeface="Noto Sans SC"/>
                <a:ea typeface="Noto Sans SC"/>
                <a:cs typeface="Noto Sans SC"/>
                <a:sym typeface="Noto Sans SC"/>
              </a:rPr>
              <a:t>        本项目是《高级语言编程实训1》课程的</a:t>
            </a:r>
            <a:r>
              <a:rPr lang="zh-CN" altLang="en-US" sz="1400" b="0" i="0" u="none" strike="noStrike">
                <a:solidFill>
                  <a:srgbClr val="333333"/>
                </a:solidFill>
                <a:latin typeface="Noto Sans SC"/>
                <a:ea typeface="Noto Sans SC"/>
                <a:cs typeface="Noto Sans SC"/>
                <a:sym typeface="Noto Sans SC"/>
              </a:rPr>
              <a:t>最终展示</a:t>
            </a:r>
            <a:r>
              <a:rPr lang="en-US" sz="1400" b="0" i="0" u="none" strike="noStrike">
                <a:solidFill>
                  <a:srgbClr val="333333"/>
                </a:solidFill>
                <a:latin typeface="Noto Sans SC"/>
                <a:ea typeface="Noto Sans SC"/>
                <a:cs typeface="Noto Sans SC"/>
                <a:sym typeface="Noto Sans SC"/>
              </a:rPr>
              <a:t>项目，选择</a:t>
            </a:r>
            <a:r>
              <a:rPr lang="zh-CN" altLang="en-US" sz="1400" b="0" i="0" u="none" strike="noStrike">
                <a:solidFill>
                  <a:srgbClr val="333333"/>
                </a:solidFill>
                <a:latin typeface="Noto Sans SC"/>
                <a:ea typeface="Noto Sans SC"/>
                <a:cs typeface="Noto Sans SC"/>
                <a:sym typeface="Noto Sans SC"/>
              </a:rPr>
              <a:t>第一次作业的“复古贪吃蛇”</a:t>
            </a:r>
            <a:r>
              <a:rPr lang="en-US" sz="1400" b="0" i="0" u="none" strike="noStrike">
                <a:solidFill>
                  <a:srgbClr val="333333"/>
                </a:solidFill>
                <a:latin typeface="Noto Sans SC"/>
                <a:ea typeface="Noto Sans SC"/>
                <a:cs typeface="Noto Sans SC"/>
                <a:sym typeface="Noto Sans SC"/>
              </a:rPr>
              <a:t>游戏</a:t>
            </a:r>
            <a:r>
              <a:rPr lang="zh-CN" altLang="en-US" sz="1400" b="0" i="0" u="none" strike="noStrike">
                <a:solidFill>
                  <a:srgbClr val="333333"/>
                </a:solidFill>
                <a:latin typeface="Noto Sans SC"/>
                <a:ea typeface="Noto Sans SC"/>
                <a:cs typeface="Noto Sans SC"/>
                <a:sym typeface="Noto Sans SC"/>
              </a:rPr>
              <a:t>进行完善展示</a:t>
            </a:r>
            <a:r>
              <a:rPr lang="en-US" sz="1400" b="0" i="0" u="none" strike="noStrike">
                <a:solidFill>
                  <a:srgbClr val="333333"/>
                </a:solidFill>
                <a:latin typeface="Noto Sans SC"/>
                <a:ea typeface="Noto Sans SC"/>
                <a:cs typeface="Noto Sans SC"/>
                <a:sym typeface="Noto Sans SC"/>
              </a:rPr>
              <a:t>。通过从零构建游戏，不仅</a:t>
            </a:r>
            <a:r>
              <a:rPr lang="zh-CN" altLang="en-US" sz="1400" b="0" i="0" u="none" strike="noStrike">
                <a:solidFill>
                  <a:srgbClr val="333333"/>
                </a:solidFill>
                <a:latin typeface="Noto Sans SC"/>
                <a:ea typeface="Noto Sans SC"/>
                <a:cs typeface="Noto Sans SC"/>
                <a:sym typeface="Noto Sans SC"/>
              </a:rPr>
              <a:t>锻炼了</a:t>
            </a:r>
            <a:r>
              <a:rPr lang="en-US" sz="1400" b="0" i="0" u="none" strike="noStrike">
                <a:solidFill>
                  <a:srgbClr val="333333"/>
                </a:solidFill>
                <a:latin typeface="Noto Sans SC"/>
                <a:ea typeface="Noto Sans SC"/>
                <a:cs typeface="Noto Sans SC"/>
                <a:sym typeface="Noto Sans SC"/>
              </a:rPr>
              <a:t>C++</a:t>
            </a:r>
            <a:r>
              <a:rPr lang="zh-CN" altLang="en-US" sz="1400" b="0" i="0" u="none" strike="noStrike">
                <a:solidFill>
                  <a:srgbClr val="333333"/>
                </a:solidFill>
                <a:latin typeface="Noto Sans SC"/>
                <a:ea typeface="Noto Sans SC"/>
                <a:cs typeface="Noto Sans SC"/>
                <a:sym typeface="Noto Sans SC"/>
              </a:rPr>
              <a:t>语言的使用</a:t>
            </a:r>
            <a:r>
              <a:rPr lang="en-US" sz="1400" b="0" i="0" u="none" strike="noStrike">
                <a:solidFill>
                  <a:srgbClr val="333333"/>
                </a:solidFill>
                <a:latin typeface="Noto Sans SC"/>
                <a:ea typeface="Noto Sans SC"/>
                <a:cs typeface="Noto Sans SC"/>
                <a:sym typeface="Noto Sans SC"/>
              </a:rPr>
              <a:t>，还</a:t>
            </a:r>
            <a:r>
              <a:rPr lang="zh-CN" altLang="en-US" sz="1400" b="0" i="0" u="none" strike="noStrike">
                <a:solidFill>
                  <a:srgbClr val="333333"/>
                </a:solidFill>
                <a:latin typeface="Noto Sans SC"/>
                <a:ea typeface="Noto Sans SC"/>
                <a:cs typeface="Noto Sans SC"/>
                <a:sym typeface="Noto Sans SC"/>
              </a:rPr>
              <a:t>学习了</a:t>
            </a:r>
            <a:r>
              <a:rPr lang="en-US" sz="1400" b="0" i="0" u="none" strike="noStrike">
                <a:solidFill>
                  <a:srgbClr val="333333"/>
                </a:solidFill>
                <a:latin typeface="Noto Sans SC"/>
                <a:ea typeface="Noto Sans SC"/>
                <a:cs typeface="Noto Sans SC"/>
                <a:sym typeface="Noto Sans SC"/>
              </a:rPr>
              <a:t>EasyX图形库</a:t>
            </a:r>
            <a:r>
              <a:rPr lang="zh-CN" altLang="en-US" sz="1400" b="0" i="0" u="none" strike="noStrike">
                <a:solidFill>
                  <a:srgbClr val="333333"/>
                </a:solidFill>
                <a:latin typeface="Noto Sans SC"/>
                <a:ea typeface="Noto Sans SC"/>
                <a:cs typeface="Noto Sans SC"/>
                <a:sym typeface="Noto Sans SC"/>
              </a:rPr>
              <a:t>的基本使用方法并借其</a:t>
            </a:r>
            <a:r>
              <a:rPr lang="en-US" sz="1400" b="0" i="0" u="none" strike="noStrike">
                <a:solidFill>
                  <a:srgbClr val="333333"/>
                </a:solidFill>
                <a:latin typeface="Noto Sans SC"/>
                <a:ea typeface="Noto Sans SC"/>
                <a:cs typeface="Noto Sans SC"/>
                <a:sym typeface="Noto Sans SC"/>
              </a:rPr>
              <a:t>实现</a:t>
            </a:r>
            <a:r>
              <a:rPr lang="zh-CN" altLang="en-US" sz="1400" b="0" i="0" u="none" strike="noStrike">
                <a:solidFill>
                  <a:srgbClr val="333333"/>
                </a:solidFill>
                <a:latin typeface="Noto Sans SC"/>
                <a:ea typeface="Noto Sans SC"/>
                <a:cs typeface="Noto Sans SC"/>
                <a:sym typeface="Noto Sans SC"/>
              </a:rPr>
              <a:t>了游戏的</a:t>
            </a:r>
            <a:r>
              <a:rPr lang="en-US" sz="1400" b="0" i="0" u="none" strike="noStrike">
                <a:solidFill>
                  <a:srgbClr val="333333"/>
                </a:solidFill>
                <a:latin typeface="Noto Sans SC"/>
                <a:ea typeface="Noto Sans SC"/>
                <a:cs typeface="Noto Sans SC"/>
                <a:sym typeface="Noto Sans SC"/>
              </a:rPr>
              <a:t>可视化交互。</a:t>
            </a:r>
          </a:p>
          <a:p>
            <a:pPr marL="0" indent="0" algn="l">
              <a:lnSpc>
                <a:spcPct val="125000"/>
              </a:lnSpc>
              <a:spcBef>
                <a:spcPts val="600"/>
              </a:spcBef>
              <a:defRPr/>
            </a:pPr>
            <a:r>
              <a:rPr lang="en-US" sz="1400" b="0" i="0" u="none" strike="noStrike">
                <a:solidFill>
                  <a:srgbClr val="333333"/>
                </a:solidFill>
                <a:latin typeface="Noto Sans SC"/>
                <a:ea typeface="Noto Sans SC"/>
                <a:cs typeface="Noto Sans SC"/>
                <a:sym typeface="Noto Sans SC"/>
              </a:rPr>
              <a:t>        贪吃蛇游戏逻辑清晰且扩展性强，既适合夯实基础编程能力，也为探索状态机设计、模块化开发及功能创新提供了理想场景，是一次检验综合编程素养的完整训练。</a:t>
            </a:r>
            <a:endParaRPr lang="en-US" sz="1100"/>
          </a:p>
        </p:txBody>
      </p:sp>
      <p:sp>
        <p:nvSpPr>
          <p:cNvPr id="9" name="AutoShape 9"/>
          <p:cNvSpPr/>
          <p:nvPr/>
        </p:nvSpPr>
        <p:spPr>
          <a:xfrm>
            <a:off x="1016000" y="3496918"/>
            <a:ext cx="171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功能实现</a:t>
            </a:r>
            <a:endParaRPr lang="en-US" sz="1100"/>
          </a:p>
        </p:txBody>
      </p:sp>
      <p:sp>
        <p:nvSpPr>
          <p:cNvPr id="10" name="AutoShape 10"/>
          <p:cNvSpPr/>
          <p:nvPr/>
        </p:nvSpPr>
        <p:spPr>
          <a:xfrm>
            <a:off x="1105002" y="3892550"/>
            <a:ext cx="2736794"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64646"/>
                </a:solidFill>
                <a:latin typeface="Noto Sans SC"/>
                <a:ea typeface="Noto Sans SC"/>
                <a:cs typeface="Noto Sans SC"/>
                <a:sym typeface="Noto Sans SC"/>
              </a:rPr>
              <a:t>复刻经典贪吃蛇核心玩法，</a:t>
            </a:r>
            <a:r>
              <a:rPr lang="zh-CN" altLang="en-US" sz="1300" b="0" i="0" u="none" strike="noStrike">
                <a:solidFill>
                  <a:srgbClr val="464646"/>
                </a:solidFill>
                <a:latin typeface="Noto Sans SC"/>
                <a:ea typeface="Noto Sans SC"/>
                <a:cs typeface="Noto Sans SC"/>
                <a:sym typeface="Noto Sans SC"/>
              </a:rPr>
              <a:t>实现</a:t>
            </a:r>
            <a:r>
              <a:rPr lang="en-US" sz="1300" b="0" i="0" u="none" strike="noStrike">
                <a:solidFill>
                  <a:srgbClr val="464646"/>
                </a:solidFill>
                <a:latin typeface="Noto Sans SC"/>
                <a:ea typeface="Noto Sans SC"/>
                <a:cs typeface="Noto Sans SC"/>
                <a:sym typeface="Noto Sans SC"/>
              </a:rPr>
              <a:t>逻辑严密、运行稳定的游戏程序。确保基础移动、吃食物增长、碰撞检测等核心机制准确无误，达成可运行的完整产品形态。</a:t>
            </a:r>
            <a:endParaRPr lang="en-US" sz="1100"/>
          </a:p>
        </p:txBody>
      </p:sp>
      <p:sp>
        <p:nvSpPr>
          <p:cNvPr id="19" name="AutoShape 19"/>
          <p:cNvSpPr/>
          <p:nvPr/>
        </p:nvSpPr>
        <p:spPr>
          <a:xfrm>
            <a:off x="4705644" y="3496918"/>
            <a:ext cx="171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创新与改进</a:t>
            </a:r>
            <a:endParaRPr lang="en-US" sz="1100"/>
          </a:p>
        </p:txBody>
      </p:sp>
      <p:sp>
        <p:nvSpPr>
          <p:cNvPr id="24" name="AutoShape 24"/>
          <p:cNvSpPr/>
          <p:nvPr/>
        </p:nvSpPr>
        <p:spPr>
          <a:xfrm>
            <a:off x="8327445" y="3429000"/>
            <a:ext cx="171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用户体验</a:t>
            </a:r>
            <a:endParaRPr lang="en-US" sz="1100"/>
          </a:p>
        </p:txBody>
      </p:sp>
      <p:sp>
        <p:nvSpPr>
          <p:cNvPr id="26" name="AutoShape 10">
            <a:extLst>
              <a:ext uri="{FF2B5EF4-FFF2-40B4-BE49-F238E27FC236}">
                <a16:creationId xmlns:a16="http://schemas.microsoft.com/office/drawing/2014/main" id="{6DE3B5E9-C0F2-045E-A507-034438C4B8E5}"/>
              </a:ext>
            </a:extLst>
          </p:cNvPr>
          <p:cNvSpPr/>
          <p:nvPr/>
        </p:nvSpPr>
        <p:spPr>
          <a:xfrm>
            <a:off x="4791103" y="3856714"/>
            <a:ext cx="2736794" cy="146050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en-US" altLang="zh-CN" sz="1300">
                <a:solidFill>
                  <a:srgbClr val="464646"/>
                </a:solidFill>
                <a:latin typeface="Noto Sans SC"/>
                <a:ea typeface="Noto Sans SC"/>
                <a:cs typeface="Noto Sans SC"/>
                <a:sym typeface="Noto Sans SC"/>
              </a:rPr>
              <a:t>突破传统单机模式，设计双人对战、</a:t>
            </a:r>
            <a:r>
              <a:rPr lang="zh-CN" altLang="en-US" sz="1300">
                <a:solidFill>
                  <a:srgbClr val="464646"/>
                </a:solidFill>
                <a:latin typeface="Noto Sans SC"/>
                <a:ea typeface="Noto Sans SC"/>
                <a:cs typeface="Noto Sans SC"/>
                <a:sym typeface="Noto Sans SC"/>
              </a:rPr>
              <a:t>自选</a:t>
            </a:r>
            <a:r>
              <a:rPr lang="en-US" altLang="zh-CN" sz="1300">
                <a:solidFill>
                  <a:srgbClr val="464646"/>
                </a:solidFill>
                <a:latin typeface="Noto Sans SC"/>
                <a:ea typeface="Noto Sans SC"/>
                <a:cs typeface="Noto Sans SC"/>
                <a:sym typeface="Noto Sans SC"/>
              </a:rPr>
              <a:t>难度等扩展玩法。丰富游戏策略维度，让经典游戏在保留核心乐趣的同时，具备更强的趣味性与挑战性。</a:t>
            </a:r>
            <a:endParaRPr lang="en-US" altLang="zh-CN" sz="1100"/>
          </a:p>
        </p:txBody>
      </p:sp>
      <p:sp>
        <p:nvSpPr>
          <p:cNvPr id="27" name="AutoShape 10">
            <a:extLst>
              <a:ext uri="{FF2B5EF4-FFF2-40B4-BE49-F238E27FC236}">
                <a16:creationId xmlns:a16="http://schemas.microsoft.com/office/drawing/2014/main" id="{BFCF4423-317D-C529-1C5A-080B58BD6E8B}"/>
              </a:ext>
            </a:extLst>
          </p:cNvPr>
          <p:cNvSpPr/>
          <p:nvPr/>
        </p:nvSpPr>
        <p:spPr>
          <a:xfrm>
            <a:off x="8413706" y="3892550"/>
            <a:ext cx="2736794" cy="146050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en-US" altLang="zh-CN" sz="1300">
                <a:solidFill>
                  <a:srgbClr val="464646"/>
                </a:solidFill>
                <a:latin typeface="Noto Sans SC"/>
                <a:ea typeface="Noto Sans SC"/>
                <a:cs typeface="Noto Sans SC"/>
                <a:sym typeface="Noto Sans SC"/>
              </a:rPr>
              <a:t>打造简洁美观的可视化界面，优化操作反馈与视觉表现。确保交互逻辑符合直觉，动画过渡流畅自然，为用户提供低学习成本、高沉浸感的游戏操作体验，兼顾功能性与审美性。</a:t>
            </a:r>
            <a:endParaRPr lang="en-US" altLang="zh-CN" sz="1100"/>
          </a:p>
        </p:txBody>
      </p:sp>
      <p:cxnSp>
        <p:nvCxnSpPr>
          <p:cNvPr id="29" name="直接连接符 28">
            <a:extLst>
              <a:ext uri="{FF2B5EF4-FFF2-40B4-BE49-F238E27FC236}">
                <a16:creationId xmlns:a16="http://schemas.microsoft.com/office/drawing/2014/main" id="{DE3C61E0-B313-4A9F-47E5-FDBCFA786F5D}"/>
              </a:ext>
            </a:extLst>
          </p:cNvPr>
          <p:cNvCxnSpPr>
            <a:cxnSpLocks/>
          </p:cNvCxnSpPr>
          <p:nvPr/>
        </p:nvCxnSpPr>
        <p:spPr>
          <a:xfrm>
            <a:off x="1105002" y="3244132"/>
            <a:ext cx="988071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01 项目概述：核心功能概览</a:t>
            </a:r>
            <a:endParaRPr lang="en-US" sz="1100"/>
          </a:p>
        </p:txBody>
      </p:sp>
      <p:sp>
        <p:nvSpPr>
          <p:cNvPr id="4" name="AutoShape 4"/>
          <p:cNvSpPr/>
          <p:nvPr/>
        </p:nvSpPr>
        <p:spPr>
          <a:xfrm>
            <a:off x="762000" y="1524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51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双游戏模式</a:t>
            </a:r>
            <a:endParaRPr lang="en-US" sz="1100"/>
          </a:p>
        </p:txBody>
      </p:sp>
      <p:sp>
        <p:nvSpPr>
          <p:cNvPr id="7" name="AutoShape 7"/>
          <p:cNvSpPr/>
          <p:nvPr/>
        </p:nvSpPr>
        <p:spPr>
          <a:xfrm>
            <a:off x="1016000" y="2286000"/>
            <a:ext cx="2349500" cy="1397000"/>
          </a:xfrm>
          <a:prstGeom prst="roundRect">
            <a:avLst>
              <a:gd name="adj" fmla="val 0"/>
            </a:avLst>
          </a:prstGeom>
          <a:solidFill>
            <a:srgbClr val="2F80ED">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43000" y="2349500"/>
            <a:ext cx="215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329"/>
                </a:solidFill>
                <a:latin typeface="Noto Sans SC"/>
                <a:ea typeface="Noto Sans SC"/>
                <a:cs typeface="Noto Sans SC"/>
                <a:sym typeface="Noto Sans SC"/>
              </a:rPr>
              <a:t>单人挑战</a:t>
            </a:r>
            <a:endParaRPr lang="en-US" sz="1100"/>
          </a:p>
        </p:txBody>
      </p:sp>
      <p:sp>
        <p:nvSpPr>
          <p:cNvPr id="9" name="AutoShape 9"/>
          <p:cNvSpPr/>
          <p:nvPr/>
        </p:nvSpPr>
        <p:spPr>
          <a:xfrm>
            <a:off x="1143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64B55"/>
                </a:solidFill>
                <a:latin typeface="Noto Sans SC"/>
                <a:ea typeface="Noto Sans SC"/>
                <a:cs typeface="Noto Sans SC"/>
                <a:sym typeface="Noto Sans SC"/>
              </a:rPr>
              <a:t>玩家独自挑战高分记录，专注于操作技巧与策略，享受纯粹的成长乐趣与突破自我的成就感。</a:t>
            </a:r>
            <a:endParaRPr lang="en-US" sz="1100"/>
          </a:p>
        </p:txBody>
      </p:sp>
      <p:sp>
        <p:nvSpPr>
          <p:cNvPr id="10" name="AutoShape 10"/>
          <p:cNvSpPr/>
          <p:nvPr/>
        </p:nvSpPr>
        <p:spPr>
          <a:xfrm>
            <a:off x="3492500" y="2286000"/>
            <a:ext cx="2349500" cy="1397000"/>
          </a:xfrm>
          <a:prstGeom prst="roundRect">
            <a:avLst>
              <a:gd name="adj" fmla="val 0"/>
            </a:avLst>
          </a:prstGeom>
          <a:solidFill>
            <a:srgbClr val="F2994A">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619500" y="2349500"/>
            <a:ext cx="215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329"/>
                </a:solidFill>
                <a:latin typeface="Noto Sans SC"/>
                <a:ea typeface="Noto Sans SC"/>
                <a:cs typeface="Noto Sans SC"/>
                <a:sym typeface="Noto Sans SC"/>
              </a:rPr>
              <a:t>双人竞技</a:t>
            </a:r>
            <a:endParaRPr lang="en-US" sz="1100"/>
          </a:p>
        </p:txBody>
      </p:sp>
      <p:sp>
        <p:nvSpPr>
          <p:cNvPr id="12" name="AutoShape 12"/>
          <p:cNvSpPr/>
          <p:nvPr/>
        </p:nvSpPr>
        <p:spPr>
          <a:xfrm>
            <a:off x="36195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64B55"/>
                </a:solidFill>
                <a:latin typeface="Noto Sans SC"/>
                <a:ea typeface="Noto Sans SC"/>
                <a:cs typeface="Noto Sans SC"/>
                <a:sym typeface="Noto Sans SC"/>
              </a:rPr>
              <a:t>支持WASD与方向键双操控，两位玩家在同一屏幕实时对抗，体验面对面的策略博弈与互动乐趣。</a:t>
            </a:r>
            <a:endParaRPr lang="en-US" sz="1100"/>
          </a:p>
        </p:txBody>
      </p:sp>
      <p:sp>
        <p:nvSpPr>
          <p:cNvPr id="13" name="AutoShape 13"/>
          <p:cNvSpPr/>
          <p:nvPr/>
        </p:nvSpPr>
        <p:spPr>
          <a:xfrm>
            <a:off x="6223000" y="1524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77000" y="1651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十级难度系统</a:t>
            </a:r>
            <a:endParaRPr lang="en-US" sz="1100"/>
          </a:p>
        </p:txBody>
      </p:sp>
      <p:sp>
        <p:nvSpPr>
          <p:cNvPr id="16" name="AutoShape 16"/>
          <p:cNvSpPr/>
          <p:nvPr/>
        </p:nvSpPr>
        <p:spPr>
          <a:xfrm>
            <a:off x="6477000" y="2286000"/>
            <a:ext cx="2349500" cy="1397000"/>
          </a:xfrm>
          <a:prstGeom prst="roundRect">
            <a:avLst>
              <a:gd name="adj" fmla="val 0"/>
            </a:avLst>
          </a:prstGeom>
          <a:solidFill>
            <a:srgbClr val="27AE6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04000" y="2349500"/>
            <a:ext cx="215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329"/>
                </a:solidFill>
                <a:latin typeface="Noto Sans SC"/>
                <a:ea typeface="Noto Sans SC"/>
                <a:cs typeface="Noto Sans SC"/>
                <a:sym typeface="Noto Sans SC"/>
              </a:rPr>
              <a:t>速度</a:t>
            </a:r>
            <a:r>
              <a:rPr lang="zh-CN" altLang="en-US" sz="1400" b="1" i="0" u="none" strike="noStrike">
                <a:solidFill>
                  <a:srgbClr val="1F2329"/>
                </a:solidFill>
                <a:latin typeface="Noto Sans SC"/>
                <a:ea typeface="Noto Sans SC"/>
                <a:cs typeface="Noto Sans SC"/>
                <a:sym typeface="Noto Sans SC"/>
              </a:rPr>
              <a:t>提升</a:t>
            </a:r>
            <a:endParaRPr lang="en-US" sz="1100"/>
          </a:p>
        </p:txBody>
      </p:sp>
      <p:sp>
        <p:nvSpPr>
          <p:cNvPr id="18" name="AutoShape 18"/>
          <p:cNvSpPr/>
          <p:nvPr/>
        </p:nvSpPr>
        <p:spPr>
          <a:xfrm>
            <a:off x="6604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64B55"/>
                </a:solidFill>
                <a:latin typeface="Noto Sans SC"/>
                <a:ea typeface="Noto Sans SC"/>
                <a:cs typeface="Noto Sans SC"/>
                <a:sym typeface="Noto Sans SC"/>
              </a:rPr>
              <a:t>难度每提升一级，蛇的初始移动速度与加速度同步递增，对玩家的反应速度提出更高要求。</a:t>
            </a:r>
            <a:endParaRPr lang="en-US" sz="1100"/>
          </a:p>
        </p:txBody>
      </p:sp>
      <p:sp>
        <p:nvSpPr>
          <p:cNvPr id="19" name="AutoShape 19"/>
          <p:cNvSpPr/>
          <p:nvPr/>
        </p:nvSpPr>
        <p:spPr>
          <a:xfrm>
            <a:off x="8953500" y="2286000"/>
            <a:ext cx="2349500" cy="1397000"/>
          </a:xfrm>
          <a:prstGeom prst="roundRect">
            <a:avLst>
              <a:gd name="adj" fmla="val 0"/>
            </a:avLst>
          </a:prstGeom>
          <a:solidFill>
            <a:srgbClr val="EB575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080500" y="2349500"/>
            <a:ext cx="215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F2329"/>
                </a:solidFill>
                <a:latin typeface="Noto Sans SC"/>
                <a:ea typeface="Noto Sans SC"/>
                <a:cs typeface="Noto Sans SC"/>
                <a:sym typeface="Noto Sans SC"/>
              </a:rPr>
              <a:t>复杂</a:t>
            </a:r>
            <a:r>
              <a:rPr lang="en-US" sz="1400" b="1" i="0" u="none" strike="noStrike">
                <a:solidFill>
                  <a:srgbClr val="1F2329"/>
                </a:solidFill>
                <a:latin typeface="Noto Sans SC"/>
                <a:ea typeface="Noto Sans SC"/>
                <a:cs typeface="Noto Sans SC"/>
                <a:sym typeface="Noto Sans SC"/>
              </a:rPr>
              <a:t>环境</a:t>
            </a:r>
            <a:endParaRPr lang="en-US" sz="1100"/>
          </a:p>
        </p:txBody>
      </p:sp>
      <p:sp>
        <p:nvSpPr>
          <p:cNvPr id="21" name="AutoShape 21"/>
          <p:cNvSpPr/>
          <p:nvPr/>
        </p:nvSpPr>
        <p:spPr>
          <a:xfrm>
            <a:off x="9048750" y="2781245"/>
            <a:ext cx="222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64B55"/>
                </a:solidFill>
                <a:latin typeface="Noto Sans SC"/>
                <a:ea typeface="Noto Sans SC"/>
                <a:cs typeface="Noto Sans SC"/>
                <a:sym typeface="Noto Sans SC"/>
              </a:rPr>
              <a:t>难度达到5级后，地图随机生成不可穿越的墙体，增加路径规划难度，让每一局游戏都充满变数。</a:t>
            </a:r>
            <a:endParaRPr lang="en-US" sz="1100"/>
          </a:p>
        </p:txBody>
      </p:sp>
      <p:sp>
        <p:nvSpPr>
          <p:cNvPr id="22" name="AutoShape 22"/>
          <p:cNvSpPr/>
          <p:nvPr/>
        </p:nvSpPr>
        <p:spPr>
          <a:xfrm>
            <a:off x="762000" y="4064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1016000" y="4191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特色食物系统</a:t>
            </a:r>
            <a:endParaRPr lang="en-US" sz="1100"/>
          </a:p>
        </p:txBody>
      </p:sp>
      <p:sp>
        <p:nvSpPr>
          <p:cNvPr id="25" name="AutoShape 25"/>
          <p:cNvSpPr/>
          <p:nvPr/>
        </p:nvSpPr>
        <p:spPr>
          <a:xfrm>
            <a:off x="1016000" y="4826000"/>
            <a:ext cx="2349500" cy="1397000"/>
          </a:xfrm>
          <a:prstGeom prst="roundRect">
            <a:avLst>
              <a:gd name="adj" fmla="val 0"/>
            </a:avLst>
          </a:prstGeom>
          <a:solidFill>
            <a:srgbClr val="06B6D4">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1143000" y="4889500"/>
            <a:ext cx="215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329"/>
                </a:solidFill>
                <a:latin typeface="Noto Sans SC"/>
                <a:ea typeface="Noto Sans SC"/>
                <a:cs typeface="Noto Sans SC"/>
                <a:sym typeface="Noto Sans SC"/>
              </a:rPr>
              <a:t>基础</a:t>
            </a:r>
            <a:r>
              <a:rPr lang="zh-CN" altLang="en-US" sz="1400" b="1" i="0" u="none" strike="noStrike">
                <a:solidFill>
                  <a:srgbClr val="1F2329"/>
                </a:solidFill>
                <a:latin typeface="Noto Sans SC"/>
                <a:ea typeface="Noto Sans SC"/>
                <a:cs typeface="Noto Sans SC"/>
                <a:sym typeface="Noto Sans SC"/>
              </a:rPr>
              <a:t>食物</a:t>
            </a:r>
            <a:endParaRPr lang="en-US" sz="1100"/>
          </a:p>
        </p:txBody>
      </p:sp>
      <p:sp>
        <p:nvSpPr>
          <p:cNvPr id="27" name="AutoShape 27"/>
          <p:cNvSpPr/>
          <p:nvPr/>
        </p:nvSpPr>
        <p:spPr>
          <a:xfrm>
            <a:off x="1143000" y="5334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64B55"/>
                </a:solidFill>
                <a:latin typeface="Noto Sans SC"/>
                <a:ea typeface="Noto Sans SC"/>
                <a:cs typeface="Noto Sans SC"/>
                <a:sym typeface="Noto Sans SC"/>
              </a:rPr>
              <a:t>常规出现的核心资源，被蛇吃掉后使身体稳定增长1节，是积累长度和分数的基础方式。</a:t>
            </a:r>
            <a:endParaRPr lang="en-US" sz="1100"/>
          </a:p>
        </p:txBody>
      </p:sp>
      <p:sp>
        <p:nvSpPr>
          <p:cNvPr id="28" name="AutoShape 28"/>
          <p:cNvSpPr/>
          <p:nvPr/>
        </p:nvSpPr>
        <p:spPr>
          <a:xfrm>
            <a:off x="3492500" y="4826000"/>
            <a:ext cx="2349500" cy="1397000"/>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3619500" y="4889500"/>
            <a:ext cx="215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b="1">
                <a:solidFill>
                  <a:srgbClr val="1F2329"/>
                </a:solidFill>
                <a:latin typeface="Noto Sans SC"/>
                <a:ea typeface="Noto Sans SC"/>
                <a:sym typeface="Noto Sans SC"/>
              </a:rPr>
              <a:t>金色传说</a:t>
            </a:r>
            <a:endParaRPr lang="en-US" sz="1100"/>
          </a:p>
        </p:txBody>
      </p:sp>
      <p:sp>
        <p:nvSpPr>
          <p:cNvPr id="30" name="AutoShape 30"/>
          <p:cNvSpPr/>
          <p:nvPr/>
        </p:nvSpPr>
        <p:spPr>
          <a:xfrm>
            <a:off x="3619500" y="5334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64B55"/>
                </a:solidFill>
                <a:latin typeface="Noto Sans SC"/>
                <a:ea typeface="Noto Sans SC"/>
                <a:cs typeface="Noto Sans SC"/>
                <a:sym typeface="Noto Sans SC"/>
              </a:rPr>
              <a:t>5%低概率刷新的珍贵</a:t>
            </a:r>
            <a:r>
              <a:rPr lang="zh-CN" altLang="en-US" sz="1200" b="0" i="0" u="none" strike="noStrike">
                <a:solidFill>
                  <a:srgbClr val="464B55"/>
                </a:solidFill>
                <a:latin typeface="Noto Sans SC"/>
                <a:ea typeface="Noto Sans SC"/>
                <a:cs typeface="Noto Sans SC"/>
                <a:sym typeface="Noto Sans SC"/>
              </a:rPr>
              <a:t>食物</a:t>
            </a:r>
            <a:r>
              <a:rPr lang="en-US" sz="1200" b="0" i="0" u="none" strike="noStrike">
                <a:solidFill>
                  <a:srgbClr val="464B55"/>
                </a:solidFill>
                <a:latin typeface="Noto Sans SC"/>
                <a:ea typeface="Noto Sans SC"/>
                <a:cs typeface="Noto Sans SC"/>
                <a:sym typeface="Noto Sans SC"/>
              </a:rPr>
              <a:t>，食用后可</a:t>
            </a:r>
            <a:r>
              <a:rPr lang="zh-CN" altLang="en-US" sz="1200" b="0" i="0" u="none" strike="noStrike">
                <a:solidFill>
                  <a:srgbClr val="464B55"/>
                </a:solidFill>
                <a:latin typeface="Noto Sans SC"/>
                <a:ea typeface="Noto Sans SC"/>
                <a:cs typeface="Noto Sans SC"/>
                <a:sym typeface="Noto Sans SC"/>
              </a:rPr>
              <a:t>直接</a:t>
            </a:r>
            <a:r>
              <a:rPr lang="en-US" sz="1200" b="0" i="0" u="none" strike="noStrike">
                <a:solidFill>
                  <a:srgbClr val="464B55"/>
                </a:solidFill>
                <a:latin typeface="Noto Sans SC"/>
                <a:ea typeface="Noto Sans SC"/>
                <a:cs typeface="Noto Sans SC"/>
                <a:sym typeface="Noto Sans SC"/>
              </a:rPr>
              <a:t>增长3节，带来爆发式成长体验。</a:t>
            </a:r>
            <a:endParaRPr lang="en-US" sz="1100"/>
          </a:p>
        </p:txBody>
      </p:sp>
      <p:sp>
        <p:nvSpPr>
          <p:cNvPr id="31" name="AutoShape 31"/>
          <p:cNvSpPr/>
          <p:nvPr/>
        </p:nvSpPr>
        <p:spPr>
          <a:xfrm>
            <a:off x="6223000" y="4064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477000" y="4191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全流程交互体验</a:t>
            </a:r>
            <a:endParaRPr lang="en-US" sz="1100"/>
          </a:p>
        </p:txBody>
      </p:sp>
      <p:sp>
        <p:nvSpPr>
          <p:cNvPr id="34" name="AutoShape 34"/>
          <p:cNvSpPr/>
          <p:nvPr/>
        </p:nvSpPr>
        <p:spPr>
          <a:xfrm>
            <a:off x="6477000" y="4826000"/>
            <a:ext cx="2349500" cy="1397000"/>
          </a:xfrm>
          <a:prstGeom prst="roundRect">
            <a:avLst>
              <a:gd name="adj" fmla="val 0"/>
            </a:avLst>
          </a:prstGeom>
          <a:solidFill>
            <a:srgbClr val="8E44AD">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604000" y="4889500"/>
            <a:ext cx="215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329"/>
                </a:solidFill>
                <a:latin typeface="Noto Sans SC"/>
                <a:ea typeface="Noto Sans SC"/>
                <a:cs typeface="Noto Sans SC"/>
                <a:sym typeface="Noto Sans SC"/>
              </a:rPr>
              <a:t>直观界面</a:t>
            </a:r>
            <a:endParaRPr lang="en-US" sz="1100"/>
          </a:p>
        </p:txBody>
      </p:sp>
      <p:sp>
        <p:nvSpPr>
          <p:cNvPr id="36" name="AutoShape 36"/>
          <p:cNvSpPr/>
          <p:nvPr/>
        </p:nvSpPr>
        <p:spPr>
          <a:xfrm>
            <a:off x="6604000" y="5334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64B55"/>
                </a:solidFill>
                <a:latin typeface="Noto Sans SC"/>
                <a:ea typeface="Noto Sans SC"/>
                <a:cs typeface="Noto Sans SC"/>
                <a:sym typeface="Noto Sans SC"/>
              </a:rPr>
              <a:t>简洁的启动菜单支持快速设置，游戏中实时呈现分数与对战状态，操作反馈即时，体验流畅。</a:t>
            </a:r>
            <a:endParaRPr lang="en-US" sz="1100"/>
          </a:p>
        </p:txBody>
      </p:sp>
      <p:sp>
        <p:nvSpPr>
          <p:cNvPr id="37" name="AutoShape 37"/>
          <p:cNvSpPr/>
          <p:nvPr/>
        </p:nvSpPr>
        <p:spPr>
          <a:xfrm>
            <a:off x="8953500" y="4826000"/>
            <a:ext cx="2349500" cy="1397000"/>
          </a:xfrm>
          <a:prstGeom prst="roundRect">
            <a:avLst>
              <a:gd name="adj" fmla="val 0"/>
            </a:avLst>
          </a:prstGeom>
          <a:solidFill>
            <a:srgbClr val="5D6D7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9080500" y="4889500"/>
            <a:ext cx="215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329"/>
                </a:solidFill>
                <a:latin typeface="Noto Sans SC"/>
                <a:ea typeface="Noto Sans SC"/>
                <a:cs typeface="Noto Sans SC"/>
                <a:sym typeface="Noto Sans SC"/>
              </a:rPr>
              <a:t>结算反馈</a:t>
            </a:r>
            <a:endParaRPr lang="en-US" sz="1100"/>
          </a:p>
        </p:txBody>
      </p:sp>
      <p:sp>
        <p:nvSpPr>
          <p:cNvPr id="39" name="AutoShape 39"/>
          <p:cNvSpPr/>
          <p:nvPr/>
        </p:nvSpPr>
        <p:spPr>
          <a:xfrm>
            <a:off x="9080500" y="5334000"/>
            <a:ext cx="215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64B55"/>
                </a:solidFill>
                <a:latin typeface="Noto Sans SC"/>
                <a:ea typeface="Noto Sans SC"/>
                <a:cs typeface="Noto Sans SC"/>
                <a:sym typeface="Noto Sans SC"/>
              </a:rPr>
              <a:t>对局结束后清晰展示最终结果，包含单人历史排名对比与双人胜负统计，数据化呈现游戏成果。</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01 项目概述：技术栈</a:t>
            </a:r>
            <a:endParaRPr lang="en-US" sz="1100"/>
          </a:p>
        </p:txBody>
      </p:sp>
      <p:sp>
        <p:nvSpPr>
          <p:cNvPr id="4" name="AutoShape 4"/>
          <p:cNvSpPr/>
          <p:nvPr/>
        </p:nvSpPr>
        <p:spPr>
          <a:xfrm>
            <a:off x="1366410" y="1754587"/>
            <a:ext cx="2919840" cy="1527865"/>
          </a:xfrm>
          <a:prstGeom prst="roundRect">
            <a:avLst>
              <a:gd name="adj" fmla="val 0"/>
            </a:avLst>
          </a:prstGeom>
          <a:solidFill>
            <a:srgbClr val="FFFFFF">
              <a:alpha val="50000"/>
            </a:srgbClr>
          </a:solidFill>
          <a:ln w="12700" cap="flat" cmpd="sng">
            <a:solidFill>
              <a:srgbClr val="2F80ED">
                <a:alpha val="15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651580" y="1944094"/>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核心开发语言</a:t>
            </a:r>
            <a:endParaRPr lang="en-US" sz="1100"/>
          </a:p>
        </p:txBody>
      </p:sp>
      <p:sp>
        <p:nvSpPr>
          <p:cNvPr id="7" name="AutoShape 7"/>
          <p:cNvSpPr/>
          <p:nvPr/>
        </p:nvSpPr>
        <p:spPr>
          <a:xfrm>
            <a:off x="1651580" y="2379981"/>
            <a:ext cx="234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1F2937"/>
                </a:solidFill>
                <a:latin typeface="Noto Sans SC"/>
                <a:ea typeface="Noto Sans SC"/>
                <a:cs typeface="Noto Sans SC"/>
                <a:sym typeface="Noto Sans SC"/>
              </a:rPr>
              <a:t>C++</a:t>
            </a:r>
            <a:endParaRPr lang="en-US" sz="1100"/>
          </a:p>
        </p:txBody>
      </p:sp>
      <p:sp>
        <p:nvSpPr>
          <p:cNvPr id="9" name="AutoShape 9"/>
          <p:cNvSpPr/>
          <p:nvPr/>
        </p:nvSpPr>
        <p:spPr>
          <a:xfrm>
            <a:off x="4641850" y="1754588"/>
            <a:ext cx="2919840" cy="1527865"/>
          </a:xfrm>
          <a:prstGeom prst="roundRect">
            <a:avLst>
              <a:gd name="adj" fmla="val 0"/>
            </a:avLst>
          </a:prstGeom>
          <a:solidFill>
            <a:srgbClr val="FFFFFF">
              <a:alpha val="50000"/>
            </a:srgbClr>
          </a:solidFill>
          <a:ln w="12700" cap="flat" cmpd="sng">
            <a:solidFill>
              <a:srgbClr val="2F80ED">
                <a:alpha val="1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921250" y="1944094"/>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核心基础库</a:t>
            </a:r>
            <a:endParaRPr lang="en-US" sz="1100"/>
          </a:p>
        </p:txBody>
      </p:sp>
      <p:sp>
        <p:nvSpPr>
          <p:cNvPr id="12" name="AutoShape 12"/>
          <p:cNvSpPr/>
          <p:nvPr/>
        </p:nvSpPr>
        <p:spPr>
          <a:xfrm>
            <a:off x="4921250" y="2385723"/>
            <a:ext cx="234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STL &amp; Win32 API</a:t>
            </a:r>
            <a:endParaRPr lang="en-US" sz="1100"/>
          </a:p>
        </p:txBody>
      </p:sp>
      <p:sp>
        <p:nvSpPr>
          <p:cNvPr id="14" name="AutoShape 14"/>
          <p:cNvSpPr/>
          <p:nvPr/>
        </p:nvSpPr>
        <p:spPr>
          <a:xfrm>
            <a:off x="7917290" y="1754588"/>
            <a:ext cx="2919840" cy="1527864"/>
          </a:xfrm>
          <a:prstGeom prst="roundRect">
            <a:avLst>
              <a:gd name="adj" fmla="val 0"/>
            </a:avLst>
          </a:prstGeom>
          <a:solidFill>
            <a:srgbClr val="FFFFFF">
              <a:alpha val="50000"/>
            </a:srgbClr>
          </a:solidFill>
          <a:ln w="12700" cap="flat" cmpd="sng">
            <a:solidFill>
              <a:srgbClr val="2F80ED">
                <a:alpha val="15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202460" y="1944094"/>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图形渲染引擎</a:t>
            </a:r>
            <a:endParaRPr lang="en-US" sz="1100"/>
          </a:p>
        </p:txBody>
      </p:sp>
      <p:sp>
        <p:nvSpPr>
          <p:cNvPr id="17" name="AutoShape 17"/>
          <p:cNvSpPr/>
          <p:nvPr/>
        </p:nvSpPr>
        <p:spPr>
          <a:xfrm>
            <a:off x="8202460" y="2385723"/>
            <a:ext cx="234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EasyX Graphics</a:t>
            </a:r>
            <a:endParaRPr lang="en-US" sz="1100"/>
          </a:p>
        </p:txBody>
      </p:sp>
      <p:sp>
        <p:nvSpPr>
          <p:cNvPr id="25" name="AutoShape 25"/>
          <p:cNvSpPr/>
          <p:nvPr/>
        </p:nvSpPr>
        <p:spPr>
          <a:xfrm>
            <a:off x="1492250" y="3791005"/>
            <a:ext cx="914400" cy="914400"/>
          </a:xfrm>
          <a:prstGeom prst="roundRect">
            <a:avLst>
              <a:gd name="adj" fmla="val 0"/>
            </a:avLst>
          </a:prstGeom>
          <a:solidFill>
            <a:srgbClr val="2F80ED">
              <a:alpha val="1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6550" y="3905305"/>
            <a:ext cx="685800" cy="685800"/>
          </a:xfrm>
          <a:prstGeom prst="rect">
            <a:avLst/>
          </a:prstGeom>
        </p:spPr>
      </p:pic>
      <p:sp>
        <p:nvSpPr>
          <p:cNvPr id="27" name="AutoShape 27"/>
          <p:cNvSpPr/>
          <p:nvPr/>
        </p:nvSpPr>
        <p:spPr>
          <a:xfrm>
            <a:off x="2698750" y="3752905"/>
            <a:ext cx="7629994"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技术突破：双缓冲绘图技术应用</a:t>
            </a:r>
            <a:endParaRPr lang="en-US" sz="1100"/>
          </a:p>
        </p:txBody>
      </p:sp>
      <p:sp>
        <p:nvSpPr>
          <p:cNvPr id="28" name="AutoShape 28"/>
          <p:cNvSpPr/>
          <p:nvPr/>
        </p:nvSpPr>
        <p:spPr>
          <a:xfrm>
            <a:off x="2698750" y="4146605"/>
            <a:ext cx="78867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4155"/>
                </a:solidFill>
                <a:latin typeface="Noto Sans SC"/>
                <a:ea typeface="Noto Sans SC"/>
                <a:cs typeface="Noto Sans SC"/>
                <a:sym typeface="Noto Sans SC"/>
              </a:rPr>
              <a:t>针对传统绘图模式下的画面闪烁问题，项目</a:t>
            </a:r>
            <a:r>
              <a:rPr lang="zh-CN" altLang="en-US" sz="1300" b="0" i="0" u="none" strike="noStrike">
                <a:solidFill>
                  <a:srgbClr val="334155"/>
                </a:solidFill>
                <a:latin typeface="Noto Sans SC"/>
                <a:ea typeface="Noto Sans SC"/>
                <a:cs typeface="Noto Sans SC"/>
                <a:sym typeface="Noto Sans SC"/>
              </a:rPr>
              <a:t>使用了</a:t>
            </a:r>
            <a:r>
              <a:rPr lang="en-US" altLang="zh-CN" sz="1300" b="0" i="0" u="none" strike="noStrike">
                <a:solidFill>
                  <a:srgbClr val="334155"/>
                </a:solidFill>
                <a:latin typeface="Noto Sans SC"/>
                <a:ea typeface="Noto Sans SC"/>
                <a:cs typeface="Noto Sans SC"/>
                <a:sym typeface="Noto Sans SC"/>
              </a:rPr>
              <a:t>EasyX</a:t>
            </a:r>
            <a:r>
              <a:rPr lang="zh-CN" altLang="en-US" sz="1300" b="0" i="0" u="none" strike="noStrike">
                <a:solidFill>
                  <a:srgbClr val="334155"/>
                </a:solidFill>
                <a:latin typeface="Noto Sans SC"/>
                <a:ea typeface="Noto Sans SC"/>
                <a:cs typeface="Noto Sans SC"/>
                <a:sym typeface="Noto Sans SC"/>
              </a:rPr>
              <a:t>库提供的</a:t>
            </a:r>
            <a:r>
              <a:rPr lang="en-US" sz="1300" b="0" i="0" u="none" strike="noStrike">
                <a:solidFill>
                  <a:srgbClr val="334155"/>
                </a:solidFill>
                <a:latin typeface="Noto Sans SC"/>
                <a:ea typeface="Noto Sans SC"/>
                <a:cs typeface="Noto Sans SC"/>
                <a:sym typeface="Noto Sans SC"/>
              </a:rPr>
              <a:t>双缓冲技术。通过在内存中预先绘制下一帧图像，完成后一次性显示在屏幕上，有效消除了视觉闪烁，实现了帧间的平滑过渡。</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02 系统设计与架构：状态机模型</a:t>
            </a:r>
            <a:endParaRPr lang="en-US" sz="1100"/>
          </a:p>
        </p:txBody>
      </p:sp>
      <p:sp>
        <p:nvSpPr>
          <p:cNvPr id="4" name="AutoShape 4"/>
          <p:cNvSpPr/>
          <p:nvPr/>
        </p:nvSpPr>
        <p:spPr>
          <a:xfrm>
            <a:off x="762000" y="1587500"/>
            <a:ext cx="3556000" cy="2032000"/>
          </a:xfrm>
          <a:prstGeom prst="roundRect">
            <a:avLst>
              <a:gd name="adj" fmla="val 0"/>
            </a:avLst>
          </a:prstGeom>
          <a:solidFill>
            <a:srgbClr val="FFFFFF">
              <a:alpha val="92000"/>
            </a:srgbClr>
          </a:solidFill>
          <a:ln w="12700" cap="flat" cmpd="sng">
            <a:solidFill>
              <a:srgbClr val="2F80ED">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8288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STATE_START_MENU · 启动菜单</a:t>
            </a:r>
            <a:endParaRPr lang="en-US" sz="1100"/>
          </a:p>
        </p:txBody>
      </p:sp>
      <p:sp>
        <p:nvSpPr>
          <p:cNvPr id="7" name="AutoShape 7"/>
          <p:cNvSpPr/>
          <p:nvPr/>
        </p:nvSpPr>
        <p:spPr>
          <a:xfrm>
            <a:off x="1028479" y="2381250"/>
            <a:ext cx="3023042"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负责游戏初始化阶段的交互入口，处理用户对游戏难度、对战模式的选择，以及开始游戏的指令触发。是玩家进入游戏世界的第一道交互界面。</a:t>
            </a:r>
            <a:endParaRPr lang="en-US" sz="1100"/>
          </a:p>
        </p:txBody>
      </p:sp>
      <p:sp>
        <p:nvSpPr>
          <p:cNvPr id="10" name="AutoShape 10"/>
          <p:cNvSpPr/>
          <p:nvPr/>
        </p:nvSpPr>
        <p:spPr>
          <a:xfrm>
            <a:off x="4508500" y="1587500"/>
            <a:ext cx="3556000" cy="2032000"/>
          </a:xfrm>
          <a:prstGeom prst="roundRect">
            <a:avLst>
              <a:gd name="adj" fmla="val 0"/>
            </a:avLst>
          </a:prstGeom>
          <a:solidFill>
            <a:srgbClr val="FFFFFF">
              <a:alpha val="92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35500" y="18288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STATE_RUNNING · 核心运行</a:t>
            </a:r>
            <a:endParaRPr lang="en-US" sz="1100"/>
          </a:p>
        </p:txBody>
      </p:sp>
      <p:sp>
        <p:nvSpPr>
          <p:cNvPr id="13" name="AutoShape 13"/>
          <p:cNvSpPr/>
          <p:nvPr/>
        </p:nvSpPr>
        <p:spPr>
          <a:xfrm>
            <a:off x="4752975" y="2381250"/>
            <a:ext cx="306705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承载游戏核心业务逻辑的核心状态。在此阶段驱动蛇的AI移动、食物随机生成、碰撞规则检测以及双人对战的实时同步，是游戏计算量最大的环节。</a:t>
            </a:r>
            <a:endParaRPr lang="en-US" sz="1100"/>
          </a:p>
        </p:txBody>
      </p:sp>
      <p:sp>
        <p:nvSpPr>
          <p:cNvPr id="16" name="AutoShape 16"/>
          <p:cNvSpPr/>
          <p:nvPr/>
        </p:nvSpPr>
        <p:spPr>
          <a:xfrm>
            <a:off x="8191500" y="1587500"/>
            <a:ext cx="3556000" cy="2032000"/>
          </a:xfrm>
          <a:prstGeom prst="roundRect">
            <a:avLst>
              <a:gd name="adj" fmla="val 0"/>
            </a:avLst>
          </a:prstGeom>
          <a:solidFill>
            <a:srgbClr val="FFFFFF">
              <a:alpha val="92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18500" y="18288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9E0B"/>
                </a:solidFill>
                <a:latin typeface="Noto Sans SC"/>
                <a:ea typeface="Noto Sans SC"/>
                <a:cs typeface="Noto Sans SC"/>
                <a:sym typeface="Noto Sans SC"/>
              </a:rPr>
              <a:t>STATE_GAME_OVER · </a:t>
            </a:r>
            <a:r>
              <a:rPr lang="zh-CN" altLang="en-US" sz="1600" b="1" i="0" u="none" strike="noStrike">
                <a:solidFill>
                  <a:srgbClr val="F59E0B"/>
                </a:solidFill>
                <a:latin typeface="Noto Sans SC"/>
                <a:ea typeface="Noto Sans SC"/>
                <a:cs typeface="Noto Sans SC"/>
                <a:sym typeface="Noto Sans SC"/>
              </a:rPr>
              <a:t>游戏</a:t>
            </a:r>
            <a:r>
              <a:rPr lang="en-US" sz="1600" b="1" i="0" u="none" strike="noStrike">
                <a:solidFill>
                  <a:srgbClr val="F59E0B"/>
                </a:solidFill>
                <a:latin typeface="Noto Sans SC"/>
                <a:ea typeface="Noto Sans SC"/>
                <a:cs typeface="Noto Sans SC"/>
                <a:sym typeface="Noto Sans SC"/>
              </a:rPr>
              <a:t>结算</a:t>
            </a:r>
            <a:endParaRPr lang="en-US" sz="1100"/>
          </a:p>
        </p:txBody>
      </p:sp>
      <p:sp>
        <p:nvSpPr>
          <p:cNvPr id="19" name="AutoShape 19"/>
          <p:cNvSpPr/>
          <p:nvPr/>
        </p:nvSpPr>
        <p:spPr>
          <a:xfrm>
            <a:off x="8445003" y="2381250"/>
            <a:ext cx="3048994"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当触发失败条件（如撞墙、咬尾）后进入此状态。负责展示最终得分、历史最高分对比，并提供重新开始或返回主菜单的操作选项。</a:t>
            </a:r>
            <a:endParaRPr lang="en-US" sz="1100"/>
          </a:p>
        </p:txBody>
      </p:sp>
      <p:sp>
        <p:nvSpPr>
          <p:cNvPr id="22" name="AutoShape 22"/>
          <p:cNvSpPr/>
          <p:nvPr/>
        </p:nvSpPr>
        <p:spPr>
          <a:xfrm>
            <a:off x="770393" y="3860800"/>
            <a:ext cx="10985500" cy="1589377"/>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97393" y="3987800"/>
            <a:ext cx="3302000" cy="1333500"/>
          </a:xfrm>
          <a:prstGeom prst="roundRect">
            <a:avLst>
              <a:gd name="adj" fmla="val 0"/>
            </a:avLst>
          </a:prstGeom>
          <a:solidFill>
            <a:srgbClr val="2F80ED">
              <a:alpha val="8000"/>
            </a:srgbClr>
          </a:solidFill>
          <a:ln w="12700" cap="flat" cmpd="sng">
            <a:solidFill>
              <a:srgbClr val="2F80ED">
                <a:alpha val="2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1024393" y="4051300"/>
            <a:ext cx="304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F80ED"/>
                </a:solidFill>
                <a:latin typeface="Noto Sans SC"/>
                <a:ea typeface="Noto Sans SC"/>
                <a:cs typeface="Noto Sans SC"/>
                <a:sym typeface="Noto Sans SC"/>
              </a:rPr>
              <a:t>START_MENU → RUNNING</a:t>
            </a:r>
            <a:endParaRPr lang="en-US" sz="1100"/>
          </a:p>
        </p:txBody>
      </p:sp>
      <p:sp>
        <p:nvSpPr>
          <p:cNvPr id="25" name="AutoShape 25"/>
          <p:cNvSpPr/>
          <p:nvPr/>
        </p:nvSpPr>
        <p:spPr>
          <a:xfrm>
            <a:off x="1024393" y="44958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34155"/>
                </a:solidFill>
                <a:latin typeface="Noto Sans SC"/>
                <a:ea typeface="Noto Sans SC"/>
                <a:cs typeface="Noto Sans SC"/>
                <a:sym typeface="Noto Sans SC"/>
              </a:rPr>
              <a:t>触发条件：玩家点击“开始游戏”。系统初始化游戏地图、蛇的位置与食物，完成资源加载后，控制权移交给游戏运行循环。</a:t>
            </a:r>
            <a:endParaRPr lang="en-US" sz="1100"/>
          </a:p>
        </p:txBody>
      </p:sp>
      <p:cxnSp>
        <p:nvCxnSpPr>
          <p:cNvPr id="26" name="Connector 26"/>
          <p:cNvCxnSpPr/>
          <p:nvPr/>
        </p:nvCxnSpPr>
        <p:spPr>
          <a:xfrm rot="5361804">
            <a:off x="3843791" y="4648199"/>
            <a:ext cx="1143000" cy="12700"/>
          </a:xfrm>
          <a:prstGeom prst="straightConnector1">
            <a:avLst/>
          </a:prstGeom>
          <a:solidFill>
            <a:srgbClr val="DEE0E3">
              <a:alpha val="100000"/>
            </a:srgbClr>
          </a:solidFill>
          <a:ln w="12700" cap="flat" cmpd="sng">
            <a:solidFill>
              <a:srgbClr val="2F80ED">
                <a:alpha val="20000"/>
              </a:srgbClr>
            </a:solidFill>
            <a:prstDash val="dash"/>
            <a:round/>
            <a:headEnd type="none" w="med" len="med"/>
            <a:tailEnd type="none" w="med" len="med"/>
          </a:ln>
        </p:spPr>
      </p:cxnSp>
      <p:sp>
        <p:nvSpPr>
          <p:cNvPr id="27" name="AutoShape 27"/>
          <p:cNvSpPr/>
          <p:nvPr/>
        </p:nvSpPr>
        <p:spPr>
          <a:xfrm>
            <a:off x="8276092" y="3987799"/>
            <a:ext cx="3302000" cy="1333500"/>
          </a:xfrm>
          <a:prstGeom prst="roundRect">
            <a:avLst>
              <a:gd name="adj" fmla="val 0"/>
            </a:avLst>
          </a:prstGeom>
          <a:solidFill>
            <a:srgbClr val="F59E0B">
              <a:alpha val="8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4612143" y="3987799"/>
            <a:ext cx="3302000" cy="13335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cxnSp>
        <p:nvCxnSpPr>
          <p:cNvPr id="30" name="Connector 30"/>
          <p:cNvCxnSpPr/>
          <p:nvPr/>
        </p:nvCxnSpPr>
        <p:spPr>
          <a:xfrm rot="5361804">
            <a:off x="7526791" y="4648200"/>
            <a:ext cx="1143000" cy="12700"/>
          </a:xfrm>
          <a:prstGeom prst="straightConnector1">
            <a:avLst/>
          </a:prstGeom>
          <a:solidFill>
            <a:srgbClr val="DEE0E3">
              <a:alpha val="100000"/>
            </a:srgbClr>
          </a:solidFill>
          <a:ln w="12700" cap="flat" cmpd="sng">
            <a:solidFill>
              <a:srgbClr val="2F80ED">
                <a:alpha val="20000"/>
              </a:srgbClr>
            </a:solidFill>
            <a:prstDash val="dash"/>
            <a:round/>
            <a:headEnd type="none" w="med" len="med"/>
            <a:tailEnd type="none" w="med" len="med"/>
          </a:ln>
        </p:spPr>
      </p:cxnSp>
      <p:sp>
        <p:nvSpPr>
          <p:cNvPr id="32" name="AutoShape 32"/>
          <p:cNvSpPr/>
          <p:nvPr/>
        </p:nvSpPr>
        <p:spPr>
          <a:xfrm>
            <a:off x="8403092" y="4051299"/>
            <a:ext cx="304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59E0B"/>
                </a:solidFill>
                <a:latin typeface="Noto Sans SC"/>
                <a:ea typeface="Noto Sans SC"/>
                <a:cs typeface="Noto Sans SC"/>
                <a:sym typeface="Noto Sans SC"/>
              </a:rPr>
              <a:t>GAME_OVER → </a:t>
            </a:r>
            <a:r>
              <a:rPr lang="en-US" altLang="zh-CN" sz="1400" b="1" i="0" u="none" strike="noStrike">
                <a:solidFill>
                  <a:srgbClr val="F59E0B"/>
                </a:solidFill>
                <a:latin typeface="Noto Sans SC"/>
                <a:ea typeface="Noto Sans SC"/>
                <a:cs typeface="Noto Sans SC"/>
                <a:sym typeface="Noto Sans SC"/>
              </a:rPr>
              <a:t>RUNNING</a:t>
            </a:r>
            <a:endParaRPr lang="en-US" sz="1100">
              <a:solidFill>
                <a:srgbClr val="F59E0B"/>
              </a:solidFill>
            </a:endParaRPr>
          </a:p>
        </p:txBody>
      </p:sp>
      <p:sp>
        <p:nvSpPr>
          <p:cNvPr id="33" name="AutoShape 33"/>
          <p:cNvSpPr/>
          <p:nvPr/>
        </p:nvSpPr>
        <p:spPr>
          <a:xfrm>
            <a:off x="8403092" y="4495799"/>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34155"/>
                </a:solidFill>
                <a:latin typeface="Noto Sans SC"/>
                <a:ea typeface="Noto Sans SC"/>
                <a:cs typeface="Noto Sans SC"/>
                <a:sym typeface="Noto Sans SC"/>
              </a:rPr>
              <a:t>操作响应：玩家选择“再来一局”或“退出”。支持快速重启游戏逻辑，形成闭环体验。</a:t>
            </a:r>
            <a:endParaRPr lang="en-US" sz="1100"/>
          </a:p>
        </p:txBody>
      </p:sp>
      <p:sp>
        <p:nvSpPr>
          <p:cNvPr id="29" name="AutoShape 29"/>
          <p:cNvSpPr/>
          <p:nvPr/>
        </p:nvSpPr>
        <p:spPr>
          <a:xfrm>
            <a:off x="4770893" y="4495799"/>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34155"/>
                </a:solidFill>
                <a:latin typeface="Noto Sans SC"/>
                <a:ea typeface="Noto Sans SC"/>
                <a:cs typeface="Noto Sans SC"/>
                <a:sym typeface="Noto Sans SC"/>
              </a:rPr>
              <a:t>触发条件：碰撞检测为真（如蛇头撞墙）。暂停游戏循环，计算最终得分，将本局数据写入历史记录，终止当前游戏进程。</a:t>
            </a:r>
            <a:endParaRPr lang="en-US" sz="1100"/>
          </a:p>
        </p:txBody>
      </p:sp>
      <p:sp>
        <p:nvSpPr>
          <p:cNvPr id="28" name="AutoShape 28"/>
          <p:cNvSpPr/>
          <p:nvPr/>
        </p:nvSpPr>
        <p:spPr>
          <a:xfrm>
            <a:off x="4770893" y="4051299"/>
            <a:ext cx="304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C698"/>
                </a:solidFill>
                <a:latin typeface="Noto Sans SC"/>
                <a:ea typeface="Noto Sans SC"/>
                <a:cs typeface="Noto Sans SC"/>
                <a:sym typeface="Noto Sans SC"/>
              </a:rPr>
              <a:t>RUNNING → GAME_OVER</a:t>
            </a:r>
            <a:endParaRPr lang="en-US" sz="1100">
              <a:solidFill>
                <a:srgbClr val="3BC69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03 核心功能模块详解：创新的双人对战模式</a:t>
            </a:r>
            <a:endParaRPr lang="en-US" sz="1100"/>
          </a:p>
        </p:txBody>
      </p:sp>
      <p:sp>
        <p:nvSpPr>
          <p:cNvPr id="10" name="AutoShape 10"/>
          <p:cNvSpPr/>
          <p:nvPr/>
        </p:nvSpPr>
        <p:spPr>
          <a:xfrm>
            <a:off x="1016000" y="2258943"/>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限时竞技 策略博弈</a:t>
            </a:r>
            <a:endParaRPr lang="en-US" sz="1100"/>
          </a:p>
        </p:txBody>
      </p:sp>
      <p:sp>
        <p:nvSpPr>
          <p:cNvPr id="11" name="AutoShape 11"/>
          <p:cNvSpPr/>
          <p:nvPr/>
        </p:nvSpPr>
        <p:spPr>
          <a:xfrm>
            <a:off x="1016000" y="2805043"/>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4155"/>
                </a:solidFill>
                <a:latin typeface="Noto Sans SC"/>
                <a:ea typeface="Noto Sans SC"/>
                <a:cs typeface="Noto Sans SC"/>
                <a:sym typeface="Noto Sans SC"/>
              </a:rPr>
              <a:t>对局限时3分钟，玩家需要在有限时间内完成双重目标：一是通过吞食地图随机刷新的食物快速增长蛇身长度；二是主动实施策略压迫，诱导对手撞击游戏边界、固定墙体、自身蛇身或对方蛇身。这不仅考验反应速度，更需要对战场局势的精准判断。</a:t>
            </a:r>
            <a:endParaRPr lang="en-US" sz="1100"/>
          </a:p>
        </p:txBody>
      </p:sp>
      <p:sp>
        <p:nvSpPr>
          <p:cNvPr id="14" name="AutoShape 14"/>
          <p:cNvSpPr/>
          <p:nvPr/>
        </p:nvSpPr>
        <p:spPr>
          <a:xfrm>
            <a:off x="6286500" y="2957443"/>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多维规则，动态结算</a:t>
            </a:r>
            <a:endParaRPr lang="en-US" sz="1100"/>
          </a:p>
        </p:txBody>
      </p:sp>
      <p:sp>
        <p:nvSpPr>
          <p:cNvPr id="15" name="AutoShape 15"/>
          <p:cNvSpPr/>
          <p:nvPr/>
        </p:nvSpPr>
        <p:spPr>
          <a:xfrm>
            <a:off x="6286500" y="3503543"/>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4155"/>
                </a:solidFill>
                <a:latin typeface="Noto Sans SC"/>
                <a:ea typeface="Noto Sans SC"/>
                <a:cs typeface="Noto Sans SC"/>
                <a:sym typeface="Noto Sans SC"/>
              </a:rPr>
              <a:t>规则设计兼顾竞技性与趣味性：一方死亡则另一方直接获胜；若双方蛇头相撞同归于尽，按实时长度定胜负；若限时结束无人死亡，蛇身更长者胜出。这种灵活的判定机制让每一局对战都充满变数，不到最后一刻难以预知结果。</a:t>
            </a:r>
            <a:endParaRPr lang="en-US" sz="1100"/>
          </a:p>
        </p:txBody>
      </p:sp>
      <p:cxnSp>
        <p:nvCxnSpPr>
          <p:cNvPr id="23" name="连接符: 肘形 22">
            <a:extLst>
              <a:ext uri="{FF2B5EF4-FFF2-40B4-BE49-F238E27FC236}">
                <a16:creationId xmlns:a16="http://schemas.microsoft.com/office/drawing/2014/main" id="{EF31FC44-CA89-402F-C5E5-7A6E3431E9BB}"/>
              </a:ext>
            </a:extLst>
          </p:cNvPr>
          <p:cNvCxnSpPr/>
          <p:nvPr/>
        </p:nvCxnSpPr>
        <p:spPr>
          <a:xfrm flipV="1">
            <a:off x="1079500" y="2639943"/>
            <a:ext cx="10007600" cy="1562100"/>
          </a:xfrm>
          <a:prstGeom prst="bentConnector3">
            <a:avLst/>
          </a:prstGeom>
          <a:ln>
            <a:solidFill>
              <a:schemeClr val="bg2">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03 核心功能模块详解：十级动态难度系统</a:t>
            </a:r>
            <a:endParaRPr lang="en-US" sz="1100"/>
          </a:p>
        </p:txBody>
      </p:sp>
      <p:sp>
        <p:nvSpPr>
          <p:cNvPr id="4" name="AutoShape 4"/>
          <p:cNvSpPr/>
          <p:nvPr/>
        </p:nvSpPr>
        <p:spPr>
          <a:xfrm>
            <a:off x="508000" y="2533816"/>
            <a:ext cx="2667000" cy="1924216"/>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35000" y="2787816"/>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难度 1 · 新手入门</a:t>
            </a:r>
            <a:endParaRPr lang="en-US" sz="1100"/>
          </a:p>
        </p:txBody>
      </p:sp>
      <p:sp>
        <p:nvSpPr>
          <p:cNvPr id="7" name="AutoShape 7"/>
          <p:cNvSpPr/>
          <p:nvPr/>
        </p:nvSpPr>
        <p:spPr>
          <a:xfrm>
            <a:off x="635000" y="3074947"/>
            <a:ext cx="2481911"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Noto Sans SC"/>
                <a:ea typeface="Noto Sans SC"/>
                <a:cs typeface="Noto Sans SC"/>
                <a:sym typeface="Noto Sans SC"/>
              </a:rPr>
              <a:t>采用基础恒定速度，</a:t>
            </a:r>
            <a:r>
              <a:rPr lang="zh-CN" altLang="en-US" sz="1300" b="0" i="0" u="none" strike="noStrike">
                <a:solidFill>
                  <a:srgbClr val="333333"/>
                </a:solidFill>
                <a:latin typeface="Noto Sans SC"/>
                <a:ea typeface="Noto Sans SC"/>
                <a:cs typeface="Noto Sans SC"/>
                <a:sym typeface="Noto Sans SC"/>
              </a:rPr>
              <a:t>无额外设定</a:t>
            </a:r>
            <a:r>
              <a:rPr lang="en-US" sz="1300" b="0" i="0" u="none" strike="noStrike">
                <a:solidFill>
                  <a:srgbClr val="333333"/>
                </a:solidFill>
                <a:latin typeface="Noto Sans SC"/>
                <a:ea typeface="Noto Sans SC"/>
                <a:cs typeface="Noto Sans SC"/>
                <a:sym typeface="Noto Sans SC"/>
              </a:rPr>
              <a:t>。</a:t>
            </a:r>
            <a:endParaRPr lang="en-US" sz="1100"/>
          </a:p>
        </p:txBody>
      </p:sp>
      <p:sp>
        <p:nvSpPr>
          <p:cNvPr id="8" name="AutoShape 8"/>
          <p:cNvSpPr/>
          <p:nvPr/>
        </p:nvSpPr>
        <p:spPr>
          <a:xfrm>
            <a:off x="3302000" y="2533816"/>
            <a:ext cx="2667000" cy="1924216"/>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429000" y="2787816"/>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难度 2 · 进阶适应</a:t>
            </a:r>
            <a:endParaRPr lang="en-US" sz="1100"/>
          </a:p>
        </p:txBody>
      </p:sp>
      <p:sp>
        <p:nvSpPr>
          <p:cNvPr id="11" name="AutoShape 11"/>
          <p:cNvSpPr/>
          <p:nvPr/>
        </p:nvSpPr>
        <p:spPr>
          <a:xfrm>
            <a:off x="3429000" y="3168816"/>
            <a:ext cx="241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Noto Sans SC"/>
                <a:ea typeface="Noto Sans SC"/>
                <a:cs typeface="Noto Sans SC"/>
                <a:sym typeface="Noto Sans SC"/>
              </a:rPr>
              <a:t>引入</a:t>
            </a:r>
            <a:r>
              <a:rPr lang="en-US" sz="1300" b="1" i="0" u="none" strike="noStrike">
                <a:solidFill>
                  <a:srgbClr val="EB5757"/>
                </a:solidFill>
                <a:latin typeface="Noto Sans SC"/>
                <a:ea typeface="Noto Sans SC"/>
                <a:cs typeface="Noto Sans SC"/>
                <a:sym typeface="Noto Sans SC"/>
              </a:rPr>
              <a:t>长度加速度</a:t>
            </a:r>
            <a:r>
              <a:rPr lang="en-US" sz="1300" b="0" i="0" u="none" strike="noStrike">
                <a:solidFill>
                  <a:srgbClr val="333333"/>
                </a:solidFill>
                <a:latin typeface="Noto Sans SC"/>
                <a:ea typeface="Noto Sans SC"/>
                <a:cs typeface="Noto Sans SC"/>
                <a:sym typeface="Noto Sans SC"/>
              </a:rPr>
              <a:t>规则。蛇身变长的同时，整体移动速度会获得轻微且线性的提升。</a:t>
            </a:r>
            <a:endParaRPr lang="en-US" sz="1100"/>
          </a:p>
        </p:txBody>
      </p:sp>
      <p:sp>
        <p:nvSpPr>
          <p:cNvPr id="12" name="AutoShape 12"/>
          <p:cNvSpPr/>
          <p:nvPr/>
        </p:nvSpPr>
        <p:spPr>
          <a:xfrm>
            <a:off x="6096000" y="2533816"/>
            <a:ext cx="2667000" cy="1924216"/>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223000" y="2787816"/>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难度 5 · 障碍挑战</a:t>
            </a:r>
            <a:endParaRPr lang="en-US" sz="1100"/>
          </a:p>
        </p:txBody>
      </p:sp>
      <p:sp>
        <p:nvSpPr>
          <p:cNvPr id="15" name="AutoShape 15"/>
          <p:cNvSpPr/>
          <p:nvPr/>
        </p:nvSpPr>
        <p:spPr>
          <a:xfrm>
            <a:off x="6223000" y="3168816"/>
            <a:ext cx="241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Noto Sans SC"/>
                <a:ea typeface="Noto Sans SC"/>
                <a:cs typeface="Noto Sans SC"/>
                <a:sym typeface="Noto Sans SC"/>
              </a:rPr>
              <a:t>在</a:t>
            </a:r>
            <a:r>
              <a:rPr lang="zh-CN" altLang="en-US" sz="1300" b="0" i="0" u="none" strike="noStrike">
                <a:solidFill>
                  <a:srgbClr val="333333"/>
                </a:solidFill>
                <a:latin typeface="Noto Sans SC"/>
                <a:ea typeface="Noto Sans SC"/>
                <a:cs typeface="Noto Sans SC"/>
                <a:sym typeface="Noto Sans SC"/>
              </a:rPr>
              <a:t>加速度</a:t>
            </a:r>
            <a:r>
              <a:rPr lang="en-US" sz="1300" b="0" i="0" u="none" strike="noStrike">
                <a:solidFill>
                  <a:srgbClr val="333333"/>
                </a:solidFill>
                <a:latin typeface="Noto Sans SC"/>
                <a:ea typeface="Noto Sans SC"/>
                <a:cs typeface="Noto Sans SC"/>
                <a:sym typeface="Noto Sans SC"/>
              </a:rPr>
              <a:t>的基础上，地图中开始随机生成</a:t>
            </a:r>
            <a:r>
              <a:rPr lang="en-US" sz="1300" b="1" i="0" u="none" strike="noStrike">
                <a:solidFill>
                  <a:srgbClr val="EB5757"/>
                </a:solidFill>
                <a:latin typeface="Noto Sans SC"/>
                <a:ea typeface="Noto Sans SC"/>
                <a:cs typeface="Noto Sans SC"/>
                <a:sym typeface="Noto Sans SC"/>
              </a:rPr>
              <a:t>固定墙体</a:t>
            </a:r>
            <a:r>
              <a:rPr lang="en-US" sz="1300" b="0" i="0" u="none" strike="noStrike">
                <a:solidFill>
                  <a:srgbClr val="333333"/>
                </a:solidFill>
                <a:latin typeface="Noto Sans SC"/>
                <a:ea typeface="Noto Sans SC"/>
                <a:cs typeface="Noto Sans SC"/>
                <a:sym typeface="Noto Sans SC"/>
              </a:rPr>
              <a:t>。难度等级越高，墙体的密度与复杂度也随之上升。</a:t>
            </a:r>
            <a:endParaRPr lang="en-US" sz="1100"/>
          </a:p>
        </p:txBody>
      </p:sp>
      <p:sp>
        <p:nvSpPr>
          <p:cNvPr id="16" name="AutoShape 16"/>
          <p:cNvSpPr/>
          <p:nvPr/>
        </p:nvSpPr>
        <p:spPr>
          <a:xfrm>
            <a:off x="8890000" y="2533816"/>
            <a:ext cx="2667000" cy="1924216"/>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017000" y="2787816"/>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难度 8 · 极限竞速</a:t>
            </a:r>
            <a:endParaRPr lang="en-US" sz="1100"/>
          </a:p>
        </p:txBody>
      </p:sp>
      <p:sp>
        <p:nvSpPr>
          <p:cNvPr id="19" name="AutoShape 19"/>
          <p:cNvSpPr/>
          <p:nvPr/>
        </p:nvSpPr>
        <p:spPr>
          <a:xfrm>
            <a:off x="8953500" y="3061032"/>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Noto Sans SC"/>
                <a:ea typeface="Noto Sans SC"/>
                <a:cs typeface="Noto Sans SC"/>
                <a:sym typeface="Noto Sans SC"/>
              </a:rPr>
              <a:t>双重难度叠加：不仅保持高速加速度，还大幅提升了</a:t>
            </a:r>
            <a:r>
              <a:rPr lang="en-US" sz="1300" b="1" i="0" u="none" strike="noStrike">
                <a:solidFill>
                  <a:srgbClr val="EB5757"/>
                </a:solidFill>
                <a:latin typeface="Noto Sans SC"/>
                <a:ea typeface="Noto Sans SC"/>
                <a:cs typeface="Noto Sans SC"/>
                <a:sym typeface="Noto Sans SC"/>
              </a:rPr>
              <a:t>初始移动速度</a:t>
            </a:r>
            <a:r>
              <a:rPr lang="en-US" sz="1300" b="0" i="0" u="none" strike="noStrike">
                <a:solidFill>
                  <a:srgbClr val="333333"/>
                </a:solidFill>
                <a:latin typeface="Noto Sans SC"/>
                <a:ea typeface="Noto Sans SC"/>
                <a:cs typeface="Noto Sans SC"/>
                <a:sym typeface="Noto Sans SC"/>
              </a:rPr>
              <a:t>。</a:t>
            </a:r>
            <a:endParaRPr lang="en-US" sz="1100"/>
          </a:p>
        </p:txBody>
      </p:sp>
      <p:sp>
        <p:nvSpPr>
          <p:cNvPr id="28" name="箭头: 上弧形 27">
            <a:extLst>
              <a:ext uri="{FF2B5EF4-FFF2-40B4-BE49-F238E27FC236}">
                <a16:creationId xmlns:a16="http://schemas.microsoft.com/office/drawing/2014/main" id="{F36F4E09-BA23-844F-CB18-FBE426B9A4AC}"/>
              </a:ext>
            </a:extLst>
          </p:cNvPr>
          <p:cNvSpPr/>
          <p:nvPr/>
        </p:nvSpPr>
        <p:spPr>
          <a:xfrm>
            <a:off x="2336136" y="1778000"/>
            <a:ext cx="1677727" cy="564984"/>
          </a:xfrm>
          <a:prstGeom prst="curvedDownArrow">
            <a:avLst/>
          </a:prstGeom>
          <a:solidFill>
            <a:srgbClr val="E1F2DF"/>
          </a:solidFill>
          <a:ln w="15875">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箭头: 上弧形 28">
            <a:extLst>
              <a:ext uri="{FF2B5EF4-FFF2-40B4-BE49-F238E27FC236}">
                <a16:creationId xmlns:a16="http://schemas.microsoft.com/office/drawing/2014/main" id="{23B2E6FF-B96F-73E8-A987-BDBB6FD5E5D1}"/>
              </a:ext>
            </a:extLst>
          </p:cNvPr>
          <p:cNvSpPr/>
          <p:nvPr/>
        </p:nvSpPr>
        <p:spPr>
          <a:xfrm flipV="1">
            <a:off x="5257136" y="4647760"/>
            <a:ext cx="1677727" cy="564984"/>
          </a:xfrm>
          <a:prstGeom prst="curvedDownArrow">
            <a:avLst/>
          </a:prstGeom>
          <a:solidFill>
            <a:srgbClr val="E1F2DF"/>
          </a:solidFill>
          <a:ln w="15875">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上弧形 29">
            <a:extLst>
              <a:ext uri="{FF2B5EF4-FFF2-40B4-BE49-F238E27FC236}">
                <a16:creationId xmlns:a16="http://schemas.microsoft.com/office/drawing/2014/main" id="{500C8EA2-5B04-8C2E-7451-E102974692E2}"/>
              </a:ext>
            </a:extLst>
          </p:cNvPr>
          <p:cNvSpPr/>
          <p:nvPr/>
        </p:nvSpPr>
        <p:spPr>
          <a:xfrm>
            <a:off x="8051136" y="1779104"/>
            <a:ext cx="1677727" cy="564984"/>
          </a:xfrm>
          <a:prstGeom prst="curvedDownArrow">
            <a:avLst/>
          </a:prstGeom>
          <a:solidFill>
            <a:srgbClr val="E1F2DF"/>
          </a:solidFill>
          <a:ln w="15875">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03 核心功能模块详解：特色食物与历史记录</a:t>
            </a:r>
            <a:endParaRPr lang="en-US" sz="1100"/>
          </a:p>
        </p:txBody>
      </p:sp>
      <p:sp>
        <p:nvSpPr>
          <p:cNvPr id="4" name="AutoShape 4"/>
          <p:cNvSpPr/>
          <p:nvPr/>
        </p:nvSpPr>
        <p:spPr>
          <a:xfrm>
            <a:off x="762000" y="1645920"/>
            <a:ext cx="3492500" cy="3943184"/>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78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特色食物系统</a:t>
            </a:r>
            <a:endParaRPr lang="en-US" sz="1100"/>
          </a:p>
        </p:txBody>
      </p:sp>
      <p:sp>
        <p:nvSpPr>
          <p:cNvPr id="7" name="AutoShape 7"/>
          <p:cNvSpPr/>
          <p:nvPr/>
        </p:nvSpPr>
        <p:spPr>
          <a:xfrm>
            <a:off x="952500" y="2476500"/>
            <a:ext cx="3111500" cy="1143000"/>
          </a:xfrm>
          <a:prstGeom prst="roundRect">
            <a:avLst>
              <a:gd name="adj" fmla="val 0"/>
            </a:avLst>
          </a:prstGeom>
          <a:solidFill>
            <a:srgbClr val="FFF3CD">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2603500"/>
            <a:ext cx="28575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4000" i="0" u="none" strike="noStrike">
                <a:solidFill>
                  <a:srgbClr val="F59E0B"/>
                </a:solidFill>
                <a:latin typeface="华文行楷" panose="02010800040101010101" pitchFamily="2" charset="-122"/>
                <a:ea typeface="华文行楷" panose="02010800040101010101" pitchFamily="2" charset="-122"/>
                <a:cs typeface="Noto Sans SC"/>
                <a:sym typeface="Noto Sans SC"/>
              </a:rPr>
              <a:t>金色传说</a:t>
            </a:r>
            <a:endParaRPr lang="en-US">
              <a:latin typeface="华文行楷" panose="02010800040101010101" pitchFamily="2" charset="-122"/>
              <a:ea typeface="华文行楷" panose="02010800040101010101" pitchFamily="2" charset="-122"/>
            </a:endParaRPr>
          </a:p>
        </p:txBody>
      </p:sp>
      <p:sp>
        <p:nvSpPr>
          <p:cNvPr id="9" name="AutoShape 9"/>
          <p:cNvSpPr/>
          <p:nvPr/>
        </p:nvSpPr>
        <p:spPr>
          <a:xfrm>
            <a:off x="952500" y="3747604"/>
            <a:ext cx="3111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chemeClr val="bg1">
                    <a:lumMod val="65000"/>
                  </a:schemeClr>
                </a:solidFill>
                <a:latin typeface="Noto Sans SC"/>
                <a:ea typeface="Noto Sans SC"/>
                <a:cs typeface="Noto Sans SC"/>
                <a:sym typeface="Noto Sans SC"/>
              </a:rPr>
              <a:t>设计“金色食物”作为稀缺随机事件，打破常规的成长节奏。玩家在追逐高收益时需要承担被围堵的风险，这种博弈机制极大地增加了游戏的策略深度与单次对局的不可预测性，让每一局贪吃蛇都充满了变数与惊喜。</a:t>
            </a:r>
            <a:endParaRPr lang="en-US" sz="1100">
              <a:solidFill>
                <a:schemeClr val="bg1">
                  <a:lumMod val="65000"/>
                </a:schemeClr>
              </a:solidFill>
            </a:endParaRPr>
          </a:p>
        </p:txBody>
      </p:sp>
      <p:sp>
        <p:nvSpPr>
          <p:cNvPr id="10" name="AutoShape 10"/>
          <p:cNvSpPr/>
          <p:nvPr/>
        </p:nvSpPr>
        <p:spPr>
          <a:xfrm>
            <a:off x="4470400" y="1645920"/>
            <a:ext cx="3492500" cy="3943184"/>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60900" y="1778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单人历史记录</a:t>
            </a:r>
            <a:endParaRPr lang="en-US" sz="1100"/>
          </a:p>
        </p:txBody>
      </p:sp>
      <p:sp>
        <p:nvSpPr>
          <p:cNvPr id="13" name="AutoShape 13"/>
          <p:cNvSpPr/>
          <p:nvPr/>
        </p:nvSpPr>
        <p:spPr>
          <a:xfrm>
            <a:off x="4660900" y="2476500"/>
            <a:ext cx="3111500" cy="1143000"/>
          </a:xfrm>
          <a:prstGeom prst="roundRect">
            <a:avLst>
              <a:gd name="adj" fmla="val 0"/>
            </a:avLst>
          </a:prstGeom>
          <a:solidFill>
            <a:srgbClr val="BFDBFE">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787900" y="2603500"/>
            <a:ext cx="28575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i="0" u="none" strike="noStrike">
                <a:solidFill>
                  <a:srgbClr val="2563EB"/>
                </a:solidFill>
                <a:latin typeface="华文行楷" panose="02010800040101010101" pitchFamily="2" charset="-122"/>
                <a:ea typeface="华文行楷" panose="02010800040101010101" pitchFamily="2" charset="-122"/>
                <a:cs typeface="Noto Sans SC"/>
                <a:sym typeface="Noto Sans SC"/>
              </a:rPr>
              <a:t>巅峰时刻</a:t>
            </a:r>
            <a:endParaRPr lang="en-US">
              <a:latin typeface="华文行楷" panose="02010800040101010101" pitchFamily="2" charset="-122"/>
              <a:ea typeface="华文行楷" panose="02010800040101010101" pitchFamily="2" charset="-122"/>
            </a:endParaRPr>
          </a:p>
        </p:txBody>
      </p:sp>
      <p:sp>
        <p:nvSpPr>
          <p:cNvPr id="15" name="AutoShape 15"/>
          <p:cNvSpPr/>
          <p:nvPr/>
        </p:nvSpPr>
        <p:spPr>
          <a:xfrm>
            <a:off x="4660900" y="3747604"/>
            <a:ext cx="3111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chemeClr val="bg1">
                    <a:lumMod val="65000"/>
                  </a:schemeClr>
                </a:solidFill>
                <a:latin typeface="Noto Sans SC"/>
                <a:ea typeface="Noto Sans SC"/>
                <a:cs typeface="Noto Sans SC"/>
                <a:sym typeface="Noto Sans SC"/>
              </a:rPr>
              <a:t>系统会按难度维度独立归档最高分，在结算页直观展示“历史前三甲”。为硬核玩家提供清晰的自我超越目标，将单次的游戏快感转化为长期的挑战动力。</a:t>
            </a:r>
            <a:endParaRPr lang="en-US" sz="1100">
              <a:solidFill>
                <a:schemeClr val="bg1">
                  <a:lumMod val="65000"/>
                </a:schemeClr>
              </a:solidFill>
            </a:endParaRPr>
          </a:p>
        </p:txBody>
      </p:sp>
      <p:sp>
        <p:nvSpPr>
          <p:cNvPr id="16" name="AutoShape 16"/>
          <p:cNvSpPr/>
          <p:nvPr/>
        </p:nvSpPr>
        <p:spPr>
          <a:xfrm>
            <a:off x="8191500" y="1645920"/>
            <a:ext cx="3492500" cy="3943184"/>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82000" y="1778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80ED"/>
                </a:solidFill>
                <a:latin typeface="Noto Sans SC"/>
                <a:ea typeface="Noto Sans SC"/>
                <a:cs typeface="Noto Sans SC"/>
                <a:sym typeface="Noto Sans SC"/>
              </a:rPr>
              <a:t>双人胜场统计</a:t>
            </a:r>
            <a:endParaRPr lang="en-US" sz="1100"/>
          </a:p>
        </p:txBody>
      </p:sp>
      <p:sp>
        <p:nvSpPr>
          <p:cNvPr id="19" name="AutoShape 19"/>
          <p:cNvSpPr/>
          <p:nvPr/>
        </p:nvSpPr>
        <p:spPr>
          <a:xfrm>
            <a:off x="8382000" y="2476500"/>
            <a:ext cx="3111500" cy="1143000"/>
          </a:xfrm>
          <a:prstGeom prst="roundRect">
            <a:avLst>
              <a:gd name="adj" fmla="val 0"/>
            </a:avLst>
          </a:prstGeom>
          <a:solidFill>
            <a:srgbClr val="A7F3D0">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509000" y="2603500"/>
            <a:ext cx="28575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i="0" u="none" strike="noStrike">
                <a:solidFill>
                  <a:srgbClr val="10B981"/>
                </a:solidFill>
                <a:latin typeface="华文行楷" panose="02010800040101010101" pitchFamily="2" charset="-122"/>
                <a:ea typeface="华文行楷" panose="02010800040101010101" pitchFamily="2" charset="-122"/>
                <a:cs typeface="Noto Sans SC"/>
                <a:sym typeface="Noto Sans SC"/>
              </a:rPr>
              <a:t>实力交锋</a:t>
            </a:r>
            <a:endParaRPr lang="en-US">
              <a:latin typeface="华文行楷" panose="02010800040101010101" pitchFamily="2" charset="-122"/>
              <a:ea typeface="华文行楷" panose="02010800040101010101" pitchFamily="2" charset="-122"/>
            </a:endParaRPr>
          </a:p>
        </p:txBody>
      </p:sp>
      <p:sp>
        <p:nvSpPr>
          <p:cNvPr id="21" name="AutoShape 21"/>
          <p:cNvSpPr/>
          <p:nvPr/>
        </p:nvSpPr>
        <p:spPr>
          <a:xfrm>
            <a:off x="8382000" y="3747604"/>
            <a:ext cx="3111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chemeClr val="bg1">
                    <a:lumMod val="65000"/>
                  </a:schemeClr>
                </a:solidFill>
                <a:latin typeface="Noto Sans SC"/>
                <a:ea typeface="Noto Sans SC"/>
                <a:cs typeface="Noto Sans SC"/>
                <a:sym typeface="Noto Sans SC"/>
              </a:rPr>
              <a:t>支持跨难度的双人对战数据沉淀，实时统计单局胜负与生涯总战绩。这种可视化的竞技对比，让双人对抗有了具象的胜负标尺，强化了玩家间的互动乐趣与竞技氛围，成为好友对战模式中不可或缺的激励机制。</a:t>
            </a:r>
            <a:endParaRPr lang="en-US" sz="1100">
              <a:solidFill>
                <a:schemeClr val="bg1">
                  <a:lumMod val="6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04 关键技术与算法实现：蛇移动与碰撞检测</a:t>
            </a:r>
            <a:endParaRPr lang="en-US" sz="1100"/>
          </a:p>
        </p:txBody>
      </p:sp>
      <p:sp>
        <p:nvSpPr>
          <p:cNvPr id="5" name="AutoShape 5"/>
          <p:cNvSpPr/>
          <p:nvPr/>
        </p:nvSpPr>
        <p:spPr>
          <a:xfrm>
            <a:off x="762000" y="128905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2000" b="0" i="0" u="none" strike="noStrike">
                <a:solidFill>
                  <a:srgbClr val="374151"/>
                </a:solidFill>
                <a:latin typeface="Noto Sans SC"/>
                <a:ea typeface="Noto Sans SC"/>
                <a:cs typeface="Noto Sans SC"/>
                <a:sym typeface="Noto Sans SC"/>
              </a:rPr>
              <a:t>核心函数</a:t>
            </a:r>
            <a:r>
              <a:rPr lang="en-US" sz="2000" b="1" i="0" u="none" strike="noStrike">
                <a:solidFill>
                  <a:srgbClr val="2F80ED"/>
                </a:solidFill>
                <a:latin typeface="Noto Sans SC"/>
                <a:ea typeface="Noto Sans SC"/>
                <a:cs typeface="Noto Sans SC"/>
                <a:sym typeface="Noto Sans SC"/>
              </a:rPr>
              <a:t>stepSnakeSingle()</a:t>
            </a:r>
            <a:endParaRPr lang="en-US" sz="1600"/>
          </a:p>
        </p:txBody>
      </p:sp>
      <p:sp>
        <p:nvSpPr>
          <p:cNvPr id="6" name="AutoShape 6"/>
          <p:cNvSpPr/>
          <p:nvPr/>
        </p:nvSpPr>
        <p:spPr>
          <a:xfrm>
            <a:off x="762000" y="2095500"/>
            <a:ext cx="3429000" cy="1841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0" y="22479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F80ED">
                    <a:alpha val="30196"/>
                  </a:srgbClr>
                </a:solidFill>
                <a:latin typeface="Noto Sans SC"/>
                <a:ea typeface="Noto Sans SC"/>
                <a:cs typeface="Noto Sans SC"/>
                <a:sym typeface="Noto Sans SC"/>
              </a:rPr>
              <a:t>01</a:t>
            </a:r>
            <a:endParaRPr lang="en-US" sz="1100"/>
          </a:p>
        </p:txBody>
      </p:sp>
      <p:sp>
        <p:nvSpPr>
          <p:cNvPr id="9" name="AutoShape 9"/>
          <p:cNvSpPr/>
          <p:nvPr/>
        </p:nvSpPr>
        <p:spPr>
          <a:xfrm>
            <a:off x="1524000" y="2286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计算下一步坐标</a:t>
            </a:r>
            <a:endParaRPr lang="en-US" sz="1100"/>
          </a:p>
        </p:txBody>
      </p:sp>
      <p:sp>
        <p:nvSpPr>
          <p:cNvPr id="10" name="AutoShape 10"/>
          <p:cNvSpPr/>
          <p:nvPr/>
        </p:nvSpPr>
        <p:spPr>
          <a:xfrm>
            <a:off x="889000" y="2794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依据当前设定的移动方向，结合蛇头当前像素坐标，推算出下一帧蛇头的目标位置</a:t>
            </a:r>
            <a:r>
              <a:rPr lang="en-US" sz="1200">
                <a:solidFill>
                  <a:srgbClr val="4B5563"/>
                </a:solidFill>
                <a:latin typeface="Noto Sans SC"/>
                <a:ea typeface="Noto Sans SC"/>
                <a:cs typeface="Noto Sans SC"/>
                <a:sym typeface="Noto Sans SC"/>
              </a:rPr>
              <a:t> </a:t>
            </a:r>
            <a:r>
              <a:rPr lang="en-US" sz="1200" b="1" i="0" u="none" strike="noStrike">
                <a:solidFill>
                  <a:srgbClr val="4B5563"/>
                </a:solidFill>
                <a:latin typeface="Noto Sans SC"/>
                <a:ea typeface="Noto Sans SC"/>
                <a:cs typeface="Noto Sans SC"/>
                <a:sym typeface="Noto Sans SC"/>
              </a:rPr>
              <a:t>next</a:t>
            </a:r>
            <a:r>
              <a:rPr lang="en-US" sz="1200" b="0" i="0" u="none" strike="noStrike">
                <a:solidFill>
                  <a:srgbClr val="4B5563"/>
                </a:solidFill>
                <a:latin typeface="Noto Sans SC"/>
                <a:ea typeface="Noto Sans SC"/>
                <a:cs typeface="Noto Sans SC"/>
                <a:sym typeface="Noto Sans SC"/>
              </a:rPr>
              <a:t>。</a:t>
            </a:r>
            <a:endParaRPr lang="en-US" sz="1100"/>
          </a:p>
        </p:txBody>
      </p:sp>
      <p:sp>
        <p:nvSpPr>
          <p:cNvPr id="11" name="AutoShape 11"/>
          <p:cNvSpPr/>
          <p:nvPr/>
        </p:nvSpPr>
        <p:spPr>
          <a:xfrm>
            <a:off x="4381500" y="2095500"/>
            <a:ext cx="3429000" cy="1841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508500" y="22479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F80ED">
                    <a:alpha val="30196"/>
                  </a:srgbClr>
                </a:solidFill>
                <a:latin typeface="Noto Sans SC"/>
                <a:ea typeface="Noto Sans SC"/>
                <a:cs typeface="Noto Sans SC"/>
                <a:sym typeface="Noto Sans SC"/>
              </a:rPr>
              <a:t>02</a:t>
            </a:r>
            <a:endParaRPr lang="en-US" sz="1100"/>
          </a:p>
        </p:txBody>
      </p:sp>
      <p:sp>
        <p:nvSpPr>
          <p:cNvPr id="14" name="AutoShape 14"/>
          <p:cNvSpPr/>
          <p:nvPr/>
        </p:nvSpPr>
        <p:spPr>
          <a:xfrm>
            <a:off x="5143500" y="2286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边界越界检测</a:t>
            </a:r>
            <a:endParaRPr lang="en-US" sz="1100"/>
          </a:p>
        </p:txBody>
      </p:sp>
      <p:sp>
        <p:nvSpPr>
          <p:cNvPr id="15" name="AutoShape 15"/>
          <p:cNvSpPr/>
          <p:nvPr/>
        </p:nvSpPr>
        <p:spPr>
          <a:xfrm>
            <a:off x="4508500" y="2794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将 </a:t>
            </a:r>
            <a:r>
              <a:rPr lang="en-US" sz="1200" b="1" i="0" u="none" strike="noStrike">
                <a:solidFill>
                  <a:srgbClr val="4B5563"/>
                </a:solidFill>
                <a:latin typeface="Noto Sans SC"/>
                <a:ea typeface="Noto Sans SC"/>
                <a:cs typeface="Noto Sans SC"/>
                <a:sym typeface="Noto Sans SC"/>
              </a:rPr>
              <a:t>next</a:t>
            </a:r>
            <a:r>
              <a:rPr lang="en-US" sz="1200" b="0" i="0" u="none" strike="noStrike">
                <a:solidFill>
                  <a:srgbClr val="4B5563"/>
                </a:solidFill>
                <a:latin typeface="Noto Sans SC"/>
                <a:ea typeface="Noto Sans SC"/>
                <a:cs typeface="Noto Sans SC"/>
                <a:sym typeface="Noto Sans SC"/>
              </a:rPr>
              <a:t> 坐标与游戏视窗的物理边界进行比对。若坐标超出地图设定的有效范围</a:t>
            </a:r>
            <a:r>
              <a:rPr lang="zh-CN" altLang="en-US" sz="1200" b="0" i="0" u="none" strike="noStrike">
                <a:solidFill>
                  <a:srgbClr val="4B5563"/>
                </a:solidFill>
                <a:latin typeface="Noto Sans SC"/>
                <a:ea typeface="Noto Sans SC"/>
                <a:cs typeface="Noto Sans SC"/>
                <a:sym typeface="Noto Sans SC"/>
              </a:rPr>
              <a:t>，</a:t>
            </a:r>
            <a:r>
              <a:rPr lang="en-US" sz="1200" b="0" i="0" u="none" strike="noStrike">
                <a:solidFill>
                  <a:srgbClr val="4B5563"/>
                </a:solidFill>
                <a:latin typeface="Noto Sans SC"/>
                <a:ea typeface="Noto Sans SC"/>
                <a:cs typeface="Noto Sans SC"/>
                <a:sym typeface="Noto Sans SC"/>
              </a:rPr>
              <a:t>判定为碰撞，触发游戏结束逻辑。</a:t>
            </a:r>
            <a:endParaRPr lang="en-US" sz="1100"/>
          </a:p>
        </p:txBody>
      </p:sp>
      <p:sp>
        <p:nvSpPr>
          <p:cNvPr id="16" name="AutoShape 16"/>
          <p:cNvSpPr/>
          <p:nvPr/>
        </p:nvSpPr>
        <p:spPr>
          <a:xfrm>
            <a:off x="8001000" y="2095500"/>
            <a:ext cx="3429000" cy="1841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128000" y="22479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F80ED">
                    <a:alpha val="30196"/>
                  </a:srgbClr>
                </a:solidFill>
                <a:latin typeface="Noto Sans SC"/>
                <a:ea typeface="Noto Sans SC"/>
                <a:cs typeface="Noto Sans SC"/>
                <a:sym typeface="Noto Sans SC"/>
              </a:rPr>
              <a:t>03</a:t>
            </a:r>
            <a:endParaRPr lang="en-US" sz="1100"/>
          </a:p>
        </p:txBody>
      </p:sp>
      <p:sp>
        <p:nvSpPr>
          <p:cNvPr id="19" name="AutoShape 19"/>
          <p:cNvSpPr/>
          <p:nvPr/>
        </p:nvSpPr>
        <p:spPr>
          <a:xfrm>
            <a:off x="8763000" y="2286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静态墙体碰撞</a:t>
            </a:r>
            <a:endParaRPr lang="en-US" sz="1100"/>
          </a:p>
        </p:txBody>
      </p:sp>
      <p:sp>
        <p:nvSpPr>
          <p:cNvPr id="20" name="AutoShape 20"/>
          <p:cNvSpPr/>
          <p:nvPr/>
        </p:nvSpPr>
        <p:spPr>
          <a:xfrm>
            <a:off x="8128000" y="2794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查询游戏地图的障碍物数据，验证 </a:t>
            </a:r>
            <a:r>
              <a:rPr lang="en-US" sz="1200" b="1" i="0" u="none" strike="noStrike">
                <a:solidFill>
                  <a:srgbClr val="4B5563"/>
                </a:solidFill>
                <a:latin typeface="Noto Sans SC"/>
                <a:ea typeface="Noto Sans SC"/>
                <a:cs typeface="Noto Sans SC"/>
                <a:sym typeface="Noto Sans SC"/>
              </a:rPr>
              <a:t>next</a:t>
            </a:r>
            <a:r>
              <a:rPr lang="en-US" sz="1200" b="0" i="0" u="none" strike="noStrike">
                <a:solidFill>
                  <a:srgbClr val="4B5563"/>
                </a:solidFill>
                <a:latin typeface="Noto Sans SC"/>
                <a:ea typeface="Noto Sans SC"/>
                <a:cs typeface="Noto Sans SC"/>
                <a:sym typeface="Noto Sans SC"/>
              </a:rPr>
              <a:t> 坐标是否与墙体的坐标重合。墙体作为不可交互的静态元素，触碰即判定游戏失败。</a:t>
            </a:r>
            <a:endParaRPr lang="en-US" sz="1100"/>
          </a:p>
        </p:txBody>
      </p:sp>
      <p:sp>
        <p:nvSpPr>
          <p:cNvPr id="21" name="AutoShape 21"/>
          <p:cNvSpPr/>
          <p:nvPr/>
        </p:nvSpPr>
        <p:spPr>
          <a:xfrm>
            <a:off x="762000" y="4064000"/>
            <a:ext cx="3429000" cy="1841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89000" y="42164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F80ED">
                    <a:alpha val="30196"/>
                  </a:srgbClr>
                </a:solidFill>
                <a:latin typeface="Noto Sans SC"/>
                <a:ea typeface="Noto Sans SC"/>
                <a:cs typeface="Noto Sans SC"/>
                <a:sym typeface="Noto Sans SC"/>
              </a:rPr>
              <a:t>04</a:t>
            </a:r>
            <a:endParaRPr lang="en-US" sz="1100"/>
          </a:p>
        </p:txBody>
      </p:sp>
      <p:sp>
        <p:nvSpPr>
          <p:cNvPr id="24" name="AutoShape 24"/>
          <p:cNvSpPr/>
          <p:nvPr/>
        </p:nvSpPr>
        <p:spPr>
          <a:xfrm>
            <a:off x="1524000" y="42545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食物获取判定</a:t>
            </a:r>
            <a:endParaRPr lang="en-US" sz="1100"/>
          </a:p>
        </p:txBody>
      </p:sp>
      <p:sp>
        <p:nvSpPr>
          <p:cNvPr id="25" name="AutoShape 25"/>
          <p:cNvSpPr/>
          <p:nvPr/>
        </p:nvSpPr>
        <p:spPr>
          <a:xfrm>
            <a:off x="889000" y="4762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检测蛇头新位置是否覆盖食物生成点。若成功吃到食物，系统将设置增长标记 </a:t>
            </a:r>
            <a:r>
              <a:rPr lang="en-US" sz="1200" b="1" i="0" u="none" strike="noStrike">
                <a:solidFill>
                  <a:srgbClr val="4B5563"/>
                </a:solidFill>
                <a:latin typeface="Noto Sans SC"/>
                <a:ea typeface="Noto Sans SC"/>
                <a:cs typeface="Noto Sans SC"/>
                <a:sym typeface="Noto Sans SC"/>
              </a:rPr>
              <a:t>grow=1</a:t>
            </a:r>
            <a:r>
              <a:rPr lang="en-US" sz="1200" b="0" i="0" u="none" strike="noStrike">
                <a:solidFill>
                  <a:srgbClr val="4B5563"/>
                </a:solidFill>
                <a:latin typeface="Noto Sans SC"/>
                <a:ea typeface="Noto Sans SC"/>
                <a:cs typeface="Noto Sans SC"/>
                <a:sym typeface="Noto Sans SC"/>
              </a:rPr>
              <a:t>，告知后续逻辑需要延长蛇身。</a:t>
            </a:r>
            <a:endParaRPr lang="en-US" sz="1100"/>
          </a:p>
        </p:txBody>
      </p:sp>
      <p:sp>
        <p:nvSpPr>
          <p:cNvPr id="26" name="AutoShape 26"/>
          <p:cNvSpPr/>
          <p:nvPr/>
        </p:nvSpPr>
        <p:spPr>
          <a:xfrm>
            <a:off x="4381500" y="4064000"/>
            <a:ext cx="3429000" cy="1841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4508500" y="42164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F80ED">
                    <a:alpha val="30196"/>
                  </a:srgbClr>
                </a:solidFill>
                <a:latin typeface="Noto Sans SC"/>
                <a:ea typeface="Noto Sans SC"/>
                <a:cs typeface="Noto Sans SC"/>
                <a:sym typeface="Noto Sans SC"/>
              </a:rPr>
              <a:t>05</a:t>
            </a:r>
            <a:endParaRPr lang="en-US" sz="1100"/>
          </a:p>
        </p:txBody>
      </p:sp>
      <p:sp>
        <p:nvSpPr>
          <p:cNvPr id="29" name="AutoShape 29"/>
          <p:cNvSpPr/>
          <p:nvPr/>
        </p:nvSpPr>
        <p:spPr>
          <a:xfrm>
            <a:off x="5143500" y="42545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自身体积碰撞优化</a:t>
            </a:r>
            <a:endParaRPr lang="en-US" sz="1100"/>
          </a:p>
        </p:txBody>
      </p:sp>
      <p:sp>
        <p:nvSpPr>
          <p:cNvPr id="30" name="AutoShape 30"/>
          <p:cNvSpPr/>
          <p:nvPr/>
        </p:nvSpPr>
        <p:spPr>
          <a:xfrm>
            <a:off x="4508500" y="4762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若未吃到</a:t>
            </a:r>
            <a:r>
              <a:rPr lang="zh-CN" altLang="en-US" sz="1200" b="0" i="0" u="none" strike="noStrike">
                <a:solidFill>
                  <a:srgbClr val="4B5563"/>
                </a:solidFill>
                <a:latin typeface="Noto Sans SC"/>
                <a:ea typeface="Noto Sans SC"/>
                <a:cs typeface="Noto Sans SC"/>
                <a:sym typeface="Noto Sans SC"/>
              </a:rPr>
              <a:t>食物</a:t>
            </a:r>
            <a:r>
              <a:rPr lang="en-US" sz="1200" b="0" i="0" u="none" strike="noStrike">
                <a:solidFill>
                  <a:srgbClr val="4B5563"/>
                </a:solidFill>
                <a:latin typeface="Noto Sans SC"/>
                <a:ea typeface="Noto Sans SC"/>
                <a:cs typeface="Noto Sans SC"/>
                <a:sym typeface="Noto Sans SC"/>
              </a:rPr>
              <a:t>，允许踩到即将被移出的尾部。这一优化避免了因帧同步导致的误判，让蛇在高速移动时操作更顺滑。</a:t>
            </a:r>
            <a:endParaRPr lang="en-US" sz="1100"/>
          </a:p>
        </p:txBody>
      </p:sp>
      <p:sp>
        <p:nvSpPr>
          <p:cNvPr id="31" name="AutoShape 31"/>
          <p:cNvSpPr/>
          <p:nvPr/>
        </p:nvSpPr>
        <p:spPr>
          <a:xfrm>
            <a:off x="8001000" y="4064000"/>
            <a:ext cx="3429000" cy="1841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8128000" y="42164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F80ED">
                    <a:alpha val="30196"/>
                  </a:srgbClr>
                </a:solidFill>
                <a:latin typeface="Noto Sans SC"/>
                <a:ea typeface="Noto Sans SC"/>
                <a:cs typeface="Noto Sans SC"/>
                <a:sym typeface="Noto Sans SC"/>
              </a:rPr>
              <a:t>06</a:t>
            </a:r>
            <a:endParaRPr lang="en-US" sz="1100"/>
          </a:p>
        </p:txBody>
      </p:sp>
      <p:sp>
        <p:nvSpPr>
          <p:cNvPr id="34" name="AutoShape 34"/>
          <p:cNvSpPr/>
          <p:nvPr/>
        </p:nvSpPr>
        <p:spPr>
          <a:xfrm>
            <a:off x="8763000" y="42545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80ED"/>
                </a:solidFill>
                <a:latin typeface="Noto Sans SC"/>
                <a:ea typeface="Noto Sans SC"/>
                <a:cs typeface="Noto Sans SC"/>
                <a:sym typeface="Noto Sans SC"/>
              </a:rPr>
              <a:t>蛇身状态更新</a:t>
            </a:r>
            <a:endParaRPr lang="en-US" sz="1100"/>
          </a:p>
        </p:txBody>
      </p:sp>
      <p:sp>
        <p:nvSpPr>
          <p:cNvPr id="35" name="AutoShape 35"/>
          <p:cNvSpPr/>
          <p:nvPr/>
        </p:nvSpPr>
        <p:spPr>
          <a:xfrm>
            <a:off x="8128000" y="4762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将新坐标加入蛇头。若 </a:t>
            </a:r>
            <a:r>
              <a:rPr lang="en-US" sz="1200" b="1" i="0" u="none" strike="noStrike">
                <a:solidFill>
                  <a:srgbClr val="4B5563"/>
                </a:solidFill>
                <a:latin typeface="Noto Sans SC"/>
                <a:ea typeface="Noto Sans SC"/>
                <a:cs typeface="Noto Sans SC"/>
                <a:sym typeface="Noto Sans SC"/>
              </a:rPr>
              <a:t>grow=1</a:t>
            </a:r>
            <a:r>
              <a:rPr lang="en-US" sz="1200" b="0" i="0" u="none" strike="noStrike">
                <a:solidFill>
                  <a:srgbClr val="4B5563"/>
                </a:solidFill>
                <a:latin typeface="Noto Sans SC"/>
                <a:ea typeface="Noto Sans SC"/>
                <a:cs typeface="Noto Sans SC"/>
                <a:sym typeface="Noto Sans SC"/>
              </a:rPr>
              <a:t> 则保留尾部实现增长；否则移除尾部节点。这一步完成了蛇在二维平面上的物理位移，形成连续的运动动画。</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04 关键技术与算法实现：双人同步移动</a:t>
            </a:r>
            <a:endParaRPr lang="en-US" sz="1100"/>
          </a:p>
        </p:txBody>
      </p:sp>
      <p:sp>
        <p:nvSpPr>
          <p:cNvPr id="7" name="AutoShape 7"/>
          <p:cNvSpPr/>
          <p:nvPr/>
        </p:nvSpPr>
        <p:spPr>
          <a:xfrm>
            <a:off x="896840" y="2578927"/>
            <a:ext cx="4826000" cy="1841499"/>
          </a:xfrm>
          <a:prstGeom prst="roundRect">
            <a:avLst>
              <a:gd name="adj" fmla="val 0"/>
            </a:avLst>
          </a:prstGeom>
          <a:solidFill>
            <a:srgbClr val="2F80ED">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23840" y="2680528"/>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a:ea typeface="Noto Sans SC"/>
                <a:cs typeface="Noto Sans SC"/>
                <a:sym typeface="Noto Sans SC"/>
              </a:rPr>
              <a:t>核心策略：先计算，后判定</a:t>
            </a:r>
            <a:endParaRPr lang="en-US" sz="1100"/>
          </a:p>
        </p:txBody>
      </p:sp>
      <p:sp>
        <p:nvSpPr>
          <p:cNvPr id="9" name="AutoShape 9"/>
          <p:cNvSpPr/>
          <p:nvPr/>
        </p:nvSpPr>
        <p:spPr>
          <a:xfrm>
            <a:off x="1023840" y="3150428"/>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通过</a:t>
            </a:r>
            <a:r>
              <a:rPr lang="en-US" sz="1300" b="1" i="0" u="none" strike="noStrike">
                <a:solidFill>
                  <a:srgbClr val="2F80ED"/>
                </a:solidFill>
                <a:latin typeface="Noto Sans SC"/>
                <a:ea typeface="Noto Sans SC"/>
                <a:cs typeface="Noto Sans SC"/>
                <a:sym typeface="Noto Sans SC"/>
              </a:rPr>
              <a:t>stepSnakeDouble()</a:t>
            </a:r>
            <a:r>
              <a:rPr lang="en-US" sz="1300" b="0" i="0" u="none" strike="noStrike">
                <a:solidFill>
                  <a:srgbClr val="374151"/>
                </a:solidFill>
                <a:latin typeface="Noto Sans SC"/>
                <a:ea typeface="Noto Sans SC"/>
                <a:cs typeface="Noto Sans SC"/>
                <a:sym typeface="Noto Sans SC"/>
              </a:rPr>
              <a:t>函数统一调度，先算出两条蛇的下一步潜在位置，再执行碰撞检测。这种方式彻底规避了因代码执行顺序（先后移动）带来的对战不公平性，让双人操作处于完全对等的时间维度。</a:t>
            </a:r>
            <a:endParaRPr lang="en-US" sz="1100"/>
          </a:p>
        </p:txBody>
      </p:sp>
      <p:sp>
        <p:nvSpPr>
          <p:cNvPr id="10" name="AutoShape 10"/>
          <p:cNvSpPr/>
          <p:nvPr/>
        </p:nvSpPr>
        <p:spPr>
          <a:xfrm>
            <a:off x="6357843" y="2578928"/>
            <a:ext cx="4826000" cy="1841500"/>
          </a:xfrm>
          <a:prstGeom prst="roundRect">
            <a:avLst>
              <a:gd name="adj" fmla="val 0"/>
            </a:avLst>
          </a:prstGeom>
          <a:solidFill>
            <a:srgbClr val="2F80ED">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84843" y="2680528"/>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a:ea typeface="Noto Sans SC"/>
                <a:cs typeface="Noto Sans SC"/>
                <a:sym typeface="Noto Sans SC"/>
              </a:rPr>
              <a:t>多维复杂碰撞场景覆盖</a:t>
            </a:r>
            <a:endParaRPr lang="en-US" sz="1100"/>
          </a:p>
        </p:txBody>
      </p:sp>
      <p:sp>
        <p:nvSpPr>
          <p:cNvPr id="12" name="AutoShape 12"/>
          <p:cNvSpPr/>
          <p:nvPr/>
        </p:nvSpPr>
        <p:spPr>
          <a:xfrm>
            <a:off x="6484843" y="3150428"/>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设计了精细化的碰撞判定逻辑，不仅包含常规的边界与身体碰撞，还专门针对双人对战场景，实现了头撞头、相互追尾碰撞、独立障碍物碰撞等特殊情况的精准捕获，确保游戏规则执行的严谨性。</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3089817-BB79-043B-01E4-CF4DC6CD7A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EB432D4-DE9C-4839-71CB-4D90C6C00FE7}"/>
              </a:ext>
            </a:extLst>
          </p:cNvPr>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34956EA9-7AD7-97A4-E662-88E75C504A26}"/>
              </a:ext>
            </a:extLst>
          </p:cNvPr>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04 关键技术与算法实现：UI渲染</a:t>
            </a:r>
            <a:endParaRPr lang="en-US" sz="1100"/>
          </a:p>
        </p:txBody>
      </p:sp>
      <p:sp>
        <p:nvSpPr>
          <p:cNvPr id="17" name="AutoShape 17">
            <a:extLst>
              <a:ext uri="{FF2B5EF4-FFF2-40B4-BE49-F238E27FC236}">
                <a16:creationId xmlns:a16="http://schemas.microsoft.com/office/drawing/2014/main" id="{2E524F8C-3996-ED91-F688-7E0D09EEC668}"/>
              </a:ext>
            </a:extLst>
          </p:cNvPr>
          <p:cNvSpPr/>
          <p:nvPr/>
        </p:nvSpPr>
        <p:spPr>
          <a:xfrm>
            <a:off x="702535" y="2520561"/>
            <a:ext cx="3447771" cy="2076837"/>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0FFBFC83-8D13-3827-D730-0C78D1B6C865}"/>
              </a:ext>
            </a:extLst>
          </p:cNvPr>
          <p:cNvSpPr/>
          <p:nvPr/>
        </p:nvSpPr>
        <p:spPr>
          <a:xfrm>
            <a:off x="876464" y="2691948"/>
            <a:ext cx="2216978"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329"/>
                </a:solidFill>
                <a:latin typeface="Noto Sans SC"/>
                <a:ea typeface="Noto Sans SC"/>
                <a:cs typeface="Noto Sans SC"/>
                <a:sym typeface="Noto Sans SC"/>
              </a:rPr>
              <a:t>双缓冲技术消除动画撕裂</a:t>
            </a:r>
            <a:endParaRPr lang="en-US" sz="1100"/>
          </a:p>
        </p:txBody>
      </p:sp>
      <p:sp>
        <p:nvSpPr>
          <p:cNvPr id="19" name="AutoShape 19">
            <a:extLst>
              <a:ext uri="{FF2B5EF4-FFF2-40B4-BE49-F238E27FC236}">
                <a16:creationId xmlns:a16="http://schemas.microsoft.com/office/drawing/2014/main" id="{4E0769CF-EC7D-B98B-DDFC-BF60FEB09FF2}"/>
              </a:ext>
            </a:extLst>
          </p:cNvPr>
          <p:cNvSpPr/>
          <p:nvPr/>
        </p:nvSpPr>
        <p:spPr>
          <a:xfrm>
            <a:off x="829638" y="3135447"/>
            <a:ext cx="3197483" cy="1301751"/>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利用</a:t>
            </a:r>
            <a:r>
              <a:rPr lang="en-US" sz="1200" b="1" i="0" u="none" strike="noStrike">
                <a:solidFill>
                  <a:srgbClr val="374151"/>
                </a:solidFill>
                <a:latin typeface="Noto Sans SC"/>
                <a:ea typeface="Noto Sans SC"/>
                <a:cs typeface="Noto Sans SC"/>
                <a:sym typeface="Noto Sans SC"/>
              </a:rPr>
              <a:t>BeginBatchDraw()</a:t>
            </a:r>
            <a:r>
              <a:rPr lang="en-US" sz="1200" b="0" i="0" u="none" strike="noStrike">
                <a:solidFill>
                  <a:srgbClr val="374151"/>
                </a:solidFill>
                <a:latin typeface="Noto Sans SC"/>
                <a:ea typeface="Noto Sans SC"/>
                <a:cs typeface="Noto Sans SC"/>
                <a:sym typeface="Noto Sans SC"/>
              </a:rPr>
              <a:t>与</a:t>
            </a:r>
            <a:r>
              <a:rPr lang="en-US" sz="1200" b="1" i="0" u="none" strike="noStrike">
                <a:solidFill>
                  <a:srgbClr val="374151"/>
                </a:solidFill>
                <a:latin typeface="Noto Sans SC"/>
                <a:ea typeface="Noto Sans SC"/>
                <a:cs typeface="Noto Sans SC"/>
                <a:sym typeface="Noto Sans SC"/>
              </a:rPr>
              <a:t>FlushBatchDraw()</a:t>
            </a:r>
            <a:r>
              <a:rPr lang="en-US" sz="1200" b="0" i="0" u="none" strike="noStrike">
                <a:solidFill>
                  <a:srgbClr val="374151"/>
                </a:solidFill>
                <a:latin typeface="Noto Sans SC"/>
                <a:ea typeface="Noto Sans SC"/>
                <a:cs typeface="Noto Sans SC"/>
                <a:sym typeface="Noto Sans SC"/>
              </a:rPr>
              <a:t>将绘制操作缓存至后台，一次性完成屏幕更新，有效解决了高频刷新下的画面闪烁问题，带来如原生应用般的顺滑视觉体验。</a:t>
            </a:r>
            <a:endParaRPr lang="en-US" sz="1100"/>
          </a:p>
        </p:txBody>
      </p:sp>
      <p:sp>
        <p:nvSpPr>
          <p:cNvPr id="20" name="AutoShape 20">
            <a:extLst>
              <a:ext uri="{FF2B5EF4-FFF2-40B4-BE49-F238E27FC236}">
                <a16:creationId xmlns:a16="http://schemas.microsoft.com/office/drawing/2014/main" id="{1BFD2419-9B55-7E40-E2B1-FB55AF32D1D8}"/>
              </a:ext>
            </a:extLst>
          </p:cNvPr>
          <p:cNvSpPr/>
          <p:nvPr/>
        </p:nvSpPr>
        <p:spPr>
          <a:xfrm>
            <a:off x="4372114" y="2520561"/>
            <a:ext cx="3447771" cy="2076837"/>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a:extLst>
              <a:ext uri="{FF2B5EF4-FFF2-40B4-BE49-F238E27FC236}">
                <a16:creationId xmlns:a16="http://schemas.microsoft.com/office/drawing/2014/main" id="{804FCCF8-DA5D-FFCE-0EF1-336E76CA1B00}"/>
              </a:ext>
            </a:extLst>
          </p:cNvPr>
          <p:cNvSpPr/>
          <p:nvPr/>
        </p:nvSpPr>
        <p:spPr>
          <a:xfrm>
            <a:off x="4585860" y="2686933"/>
            <a:ext cx="1867121"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329"/>
                </a:solidFill>
                <a:latin typeface="Noto Sans SC"/>
                <a:ea typeface="Noto Sans SC"/>
                <a:cs typeface="Noto Sans SC"/>
                <a:sym typeface="Noto Sans SC"/>
              </a:rPr>
              <a:t>高复用UI绘制函数库</a:t>
            </a:r>
            <a:endParaRPr lang="en-US" sz="1100"/>
          </a:p>
        </p:txBody>
      </p:sp>
      <p:sp>
        <p:nvSpPr>
          <p:cNvPr id="22" name="AutoShape 22">
            <a:extLst>
              <a:ext uri="{FF2B5EF4-FFF2-40B4-BE49-F238E27FC236}">
                <a16:creationId xmlns:a16="http://schemas.microsoft.com/office/drawing/2014/main" id="{FB41AF5F-011F-7913-22C6-611275F5194C}"/>
              </a:ext>
            </a:extLst>
          </p:cNvPr>
          <p:cNvSpPr/>
          <p:nvPr/>
        </p:nvSpPr>
        <p:spPr>
          <a:xfrm>
            <a:off x="4593920" y="3236566"/>
            <a:ext cx="3055235" cy="1128699"/>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封装</a:t>
            </a:r>
            <a:r>
              <a:rPr lang="en-US" sz="1200" b="1" i="0" u="none" strike="noStrike">
                <a:solidFill>
                  <a:srgbClr val="374151"/>
                </a:solidFill>
                <a:latin typeface="Noto Sans SC"/>
                <a:ea typeface="Noto Sans SC"/>
                <a:cs typeface="Noto Sans SC"/>
                <a:sym typeface="Noto Sans SC"/>
              </a:rPr>
              <a:t>drawCellBlock()</a:t>
            </a:r>
            <a:r>
              <a:rPr lang="en-US" sz="1200" b="0" i="0" u="none" strike="noStrike">
                <a:solidFill>
                  <a:srgbClr val="374151"/>
                </a:solidFill>
                <a:latin typeface="Noto Sans SC"/>
                <a:ea typeface="Noto Sans SC"/>
                <a:cs typeface="Noto Sans SC"/>
                <a:sym typeface="Noto Sans SC"/>
              </a:rPr>
              <a:t>、</a:t>
            </a:r>
            <a:r>
              <a:rPr lang="en-US" sz="1200" b="1" i="0" u="none" strike="noStrike">
                <a:solidFill>
                  <a:srgbClr val="374151"/>
                </a:solidFill>
                <a:latin typeface="Noto Sans SC"/>
                <a:ea typeface="Noto Sans SC"/>
                <a:cs typeface="Noto Sans SC"/>
                <a:sym typeface="Noto Sans SC"/>
              </a:rPr>
              <a:t>drawFoodCircle()</a:t>
            </a:r>
            <a:r>
              <a:rPr lang="en-US" sz="1200" b="0" i="0" u="none" strike="noStrike">
                <a:solidFill>
                  <a:srgbClr val="374151"/>
                </a:solidFill>
                <a:latin typeface="Noto Sans SC"/>
                <a:ea typeface="Noto Sans SC"/>
                <a:cs typeface="Noto Sans SC"/>
                <a:sym typeface="Noto Sans SC"/>
              </a:rPr>
              <a:t>等原子化函数，将游戏核心元素的视觉呈现逻辑标准化。既保证了界面风格的一致性，也大幅降低了后续功能迭代的开发维护成本。</a:t>
            </a:r>
            <a:endParaRPr lang="en-US" sz="1100"/>
          </a:p>
        </p:txBody>
      </p:sp>
      <p:sp>
        <p:nvSpPr>
          <p:cNvPr id="23" name="AutoShape 23">
            <a:extLst>
              <a:ext uri="{FF2B5EF4-FFF2-40B4-BE49-F238E27FC236}">
                <a16:creationId xmlns:a16="http://schemas.microsoft.com/office/drawing/2014/main" id="{9B8B06CD-8DF7-6EA0-11B2-E76E9C629517}"/>
              </a:ext>
            </a:extLst>
          </p:cNvPr>
          <p:cNvSpPr/>
          <p:nvPr/>
        </p:nvSpPr>
        <p:spPr>
          <a:xfrm>
            <a:off x="8037775" y="2520562"/>
            <a:ext cx="3447771" cy="2076837"/>
          </a:xfrm>
          <a:prstGeom prst="roundRect">
            <a:avLst>
              <a:gd name="adj" fmla="val 0"/>
            </a:avLst>
          </a:prstGeom>
          <a:solidFill>
            <a:srgbClr val="EF4444">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a:extLst>
              <a:ext uri="{FF2B5EF4-FFF2-40B4-BE49-F238E27FC236}">
                <a16:creationId xmlns:a16="http://schemas.microsoft.com/office/drawing/2014/main" id="{559FE89A-AA97-B35D-CDB4-41175C933EE3}"/>
              </a:ext>
            </a:extLst>
          </p:cNvPr>
          <p:cNvSpPr/>
          <p:nvPr/>
        </p:nvSpPr>
        <p:spPr>
          <a:xfrm>
            <a:off x="8188404" y="2689556"/>
            <a:ext cx="2044925"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329"/>
                </a:solidFill>
                <a:latin typeface="Noto Sans SC"/>
                <a:ea typeface="Noto Sans SC"/>
                <a:cs typeface="Noto Sans SC"/>
                <a:sym typeface="Noto Sans SC"/>
              </a:rPr>
              <a:t>异步消息循环分发机制</a:t>
            </a:r>
            <a:endParaRPr lang="en-US" sz="1100"/>
          </a:p>
        </p:txBody>
      </p:sp>
      <p:sp>
        <p:nvSpPr>
          <p:cNvPr id="25" name="AutoShape 25">
            <a:extLst>
              <a:ext uri="{FF2B5EF4-FFF2-40B4-BE49-F238E27FC236}">
                <a16:creationId xmlns:a16="http://schemas.microsoft.com/office/drawing/2014/main" id="{BD045CD3-8872-D97F-2238-A4A94D946A01}"/>
              </a:ext>
            </a:extLst>
          </p:cNvPr>
          <p:cNvSpPr/>
          <p:nvPr/>
        </p:nvSpPr>
        <p:spPr>
          <a:xfrm>
            <a:off x="8273122" y="3365500"/>
            <a:ext cx="2977075"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基于</a:t>
            </a:r>
            <a:r>
              <a:rPr lang="en-US" sz="1200" b="1" i="0" u="none" strike="noStrike">
                <a:solidFill>
                  <a:srgbClr val="374151"/>
                </a:solidFill>
                <a:latin typeface="Noto Sans SC"/>
                <a:ea typeface="Noto Sans SC"/>
                <a:cs typeface="Noto Sans SC"/>
                <a:sym typeface="Noto Sans SC"/>
              </a:rPr>
              <a:t>peekmessage()</a:t>
            </a:r>
            <a:r>
              <a:rPr lang="en-US" sz="1200" b="0" i="0" u="none" strike="noStrike">
                <a:solidFill>
                  <a:srgbClr val="374151"/>
                </a:solidFill>
                <a:latin typeface="Noto Sans SC"/>
                <a:ea typeface="Noto Sans SC"/>
                <a:cs typeface="Noto Sans SC"/>
                <a:sym typeface="Noto Sans SC"/>
              </a:rPr>
              <a:t>构建非阻塞事件监听，实时捕获键鼠输入并分发至对应状态机。实现了操作指令的毫秒级响应，让双人对战的操作手感更加跟手、精准。</a:t>
            </a:r>
            <a:endParaRPr lang="en-US" sz="1100"/>
          </a:p>
        </p:txBody>
      </p:sp>
    </p:spTree>
    <p:extLst>
      <p:ext uri="{BB962C8B-B14F-4D97-AF65-F5344CB8AC3E}">
        <p14:creationId xmlns:p14="http://schemas.microsoft.com/office/powerpoint/2010/main" val="63800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05 UI/UX设计与用户体验</a:t>
            </a:r>
            <a:endParaRPr lang="en-US" sz="1100"/>
          </a:p>
        </p:txBody>
      </p:sp>
      <p:sp>
        <p:nvSpPr>
          <p:cNvPr id="4" name="AutoShape 4"/>
          <p:cNvSpPr/>
          <p:nvPr/>
        </p:nvSpPr>
        <p:spPr>
          <a:xfrm>
            <a:off x="626828" y="2032000"/>
            <a:ext cx="5397500" cy="2794000"/>
          </a:xfrm>
          <a:prstGeom prst="roundRect">
            <a:avLst>
              <a:gd name="adj" fmla="val 0"/>
            </a:avLst>
          </a:prstGeom>
          <a:solidFill>
            <a:srgbClr val="FFFFFF">
              <a:alpha val="50000"/>
            </a:srgbClr>
          </a:solidFill>
          <a:ln w="12700" cap="flat" cmpd="sng">
            <a:solidFill>
              <a:srgbClr val="2F80ED">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17328" y="2222500"/>
            <a:ext cx="5016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视觉设计：清新自然的感官体验</a:t>
            </a:r>
            <a:endParaRPr lang="en-US" sz="1100"/>
          </a:p>
        </p:txBody>
      </p:sp>
      <p:sp>
        <p:nvSpPr>
          <p:cNvPr id="6" name="AutoShape 6"/>
          <p:cNvSpPr/>
          <p:nvPr/>
        </p:nvSpPr>
        <p:spPr>
          <a:xfrm>
            <a:off x="817328" y="2921000"/>
            <a:ext cx="1714500" cy="1284136"/>
          </a:xfrm>
          <a:prstGeom prst="roundRect">
            <a:avLst>
              <a:gd name="adj" fmla="val 0"/>
            </a:avLst>
          </a:prstGeom>
          <a:solidFill>
            <a:srgbClr val="C6F5FA">
              <a:alpha val="49804"/>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0828" y="3048000"/>
            <a:ext cx="1587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色彩美学</a:t>
            </a:r>
            <a:endParaRPr lang="en-US" sz="1100"/>
          </a:p>
        </p:txBody>
      </p:sp>
      <p:sp>
        <p:nvSpPr>
          <p:cNvPr id="9" name="AutoShape 9"/>
          <p:cNvSpPr/>
          <p:nvPr/>
        </p:nvSpPr>
        <p:spPr>
          <a:xfrm>
            <a:off x="912578" y="3354512"/>
            <a:ext cx="1587500" cy="728538"/>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清新自然的配色方案</a:t>
            </a:r>
            <a:r>
              <a:rPr lang="zh-CN" altLang="en-US" sz="1200" b="0" i="0" u="none" strike="noStrike">
                <a:solidFill>
                  <a:srgbClr val="4B5563"/>
                </a:solidFill>
                <a:latin typeface="Noto Sans SC"/>
                <a:ea typeface="Noto Sans SC"/>
                <a:cs typeface="Noto Sans SC"/>
                <a:sym typeface="Noto Sans SC"/>
              </a:rPr>
              <a:t>。</a:t>
            </a:r>
            <a:endParaRPr lang="en-US" sz="1100"/>
          </a:p>
        </p:txBody>
      </p:sp>
      <p:sp>
        <p:nvSpPr>
          <p:cNvPr id="10" name="AutoShape 10"/>
          <p:cNvSpPr/>
          <p:nvPr/>
        </p:nvSpPr>
        <p:spPr>
          <a:xfrm>
            <a:off x="2563578" y="2933700"/>
            <a:ext cx="1714500" cy="1271436"/>
          </a:xfrm>
          <a:prstGeom prst="roundRect">
            <a:avLst>
              <a:gd name="adj" fmla="val 0"/>
            </a:avLst>
          </a:prstGeom>
          <a:solidFill>
            <a:srgbClr val="DDF7F6"/>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2658828" y="3048000"/>
            <a:ext cx="1587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字体规范</a:t>
            </a:r>
            <a:endParaRPr lang="en-US" sz="1100"/>
          </a:p>
        </p:txBody>
      </p:sp>
      <p:sp>
        <p:nvSpPr>
          <p:cNvPr id="13" name="AutoShape 13"/>
          <p:cNvSpPr/>
          <p:nvPr/>
        </p:nvSpPr>
        <p:spPr>
          <a:xfrm>
            <a:off x="2690578" y="3354512"/>
            <a:ext cx="1587500" cy="728538"/>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易读性极佳</a:t>
            </a:r>
            <a:r>
              <a:rPr lang="zh-CN" altLang="en-US" sz="1200" b="0" i="0" u="none" strike="noStrike">
                <a:solidFill>
                  <a:srgbClr val="4B5563"/>
                </a:solidFill>
                <a:latin typeface="Noto Sans SC"/>
                <a:ea typeface="Noto Sans SC"/>
                <a:cs typeface="Noto Sans SC"/>
                <a:sym typeface="Noto Sans SC"/>
              </a:rPr>
              <a:t>的</a:t>
            </a:r>
            <a:r>
              <a:rPr lang="en-US" sz="1200" b="0" i="0" u="none" strike="noStrike">
                <a:solidFill>
                  <a:srgbClr val="4B5563"/>
                </a:solidFill>
                <a:latin typeface="Noto Sans SC"/>
                <a:ea typeface="Noto Sans SC"/>
                <a:cs typeface="Noto Sans SC"/>
                <a:sym typeface="Noto Sans SC"/>
              </a:rPr>
              <a:t>字体。</a:t>
            </a:r>
            <a:endParaRPr lang="en-US" sz="1100"/>
          </a:p>
        </p:txBody>
      </p:sp>
      <p:sp>
        <p:nvSpPr>
          <p:cNvPr id="14" name="AutoShape 14"/>
          <p:cNvSpPr/>
          <p:nvPr/>
        </p:nvSpPr>
        <p:spPr>
          <a:xfrm>
            <a:off x="4309828" y="2921000"/>
            <a:ext cx="1587500" cy="1284136"/>
          </a:xfrm>
          <a:prstGeom prst="roundRect">
            <a:avLst>
              <a:gd name="adj" fmla="val 0"/>
            </a:avLst>
          </a:prstGeom>
          <a:solidFill>
            <a:srgbClr val="DDF7F6">
              <a:alpha val="95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373328" y="3024312"/>
            <a:ext cx="1460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b="1">
                <a:solidFill>
                  <a:srgbClr val="1F2937"/>
                </a:solidFill>
                <a:latin typeface="Noto Sans SC"/>
                <a:ea typeface="Noto Sans SC"/>
                <a:cs typeface="Noto Sans SC"/>
                <a:sym typeface="Noto Sans SC"/>
              </a:rPr>
              <a:t>清晰</a:t>
            </a:r>
            <a:r>
              <a:rPr lang="en-US" sz="1400" b="1" i="0" u="none" strike="noStrike">
                <a:solidFill>
                  <a:srgbClr val="1F2937"/>
                </a:solidFill>
                <a:latin typeface="Noto Sans SC"/>
                <a:ea typeface="Noto Sans SC"/>
                <a:cs typeface="Noto Sans SC"/>
                <a:sym typeface="Noto Sans SC"/>
              </a:rPr>
              <a:t>布局</a:t>
            </a:r>
            <a:endParaRPr lang="en-US" sz="1100"/>
          </a:p>
        </p:txBody>
      </p:sp>
      <p:sp>
        <p:nvSpPr>
          <p:cNvPr id="17" name="AutoShape 17"/>
          <p:cNvSpPr/>
          <p:nvPr/>
        </p:nvSpPr>
        <p:spPr>
          <a:xfrm>
            <a:off x="4405078" y="3330824"/>
            <a:ext cx="1460500" cy="728538"/>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遵循对称与居中的视觉习惯，大量运用圆角矩形元素。</a:t>
            </a:r>
            <a:endParaRPr lang="en-US" sz="1100"/>
          </a:p>
        </p:txBody>
      </p:sp>
      <p:sp>
        <p:nvSpPr>
          <p:cNvPr id="19" name="AutoShape 19"/>
          <p:cNvSpPr/>
          <p:nvPr/>
        </p:nvSpPr>
        <p:spPr>
          <a:xfrm>
            <a:off x="817328" y="4332136"/>
            <a:ext cx="482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a:ea typeface="Noto Sans SC"/>
                <a:cs typeface="Noto Sans SC"/>
                <a:sym typeface="Noto Sans SC"/>
              </a:rPr>
              <a:t>设计核心：降低认知负荷，提升沉浸感</a:t>
            </a:r>
            <a:endParaRPr lang="en-US" sz="1100"/>
          </a:p>
        </p:txBody>
      </p:sp>
      <p:sp>
        <p:nvSpPr>
          <p:cNvPr id="22" name="AutoShape 22"/>
          <p:cNvSpPr/>
          <p:nvPr/>
        </p:nvSpPr>
        <p:spPr>
          <a:xfrm>
            <a:off x="6341828" y="2032000"/>
            <a:ext cx="5397500" cy="2794000"/>
          </a:xfrm>
          <a:prstGeom prst="roundRect">
            <a:avLst>
              <a:gd name="adj" fmla="val 0"/>
            </a:avLst>
          </a:prstGeom>
          <a:solidFill>
            <a:srgbClr val="FFFFFF">
              <a:alpha val="50000"/>
            </a:srgbClr>
          </a:solidFill>
          <a:ln w="12700" cap="flat" cmpd="sng">
            <a:solidFill>
              <a:srgbClr val="2F80ED">
                <a:alpha val="3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532328" y="2222500"/>
            <a:ext cx="5016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80ED"/>
                </a:solidFill>
                <a:latin typeface="Noto Sans SC"/>
                <a:ea typeface="Noto Sans SC"/>
                <a:cs typeface="Noto Sans SC"/>
                <a:sym typeface="Noto Sans SC"/>
              </a:rPr>
              <a:t>交互体验：流畅直观的操作闭环</a:t>
            </a:r>
            <a:endParaRPr lang="en-US" sz="1100"/>
          </a:p>
        </p:txBody>
      </p:sp>
      <p:sp>
        <p:nvSpPr>
          <p:cNvPr id="24" name="AutoShape 24"/>
          <p:cNvSpPr/>
          <p:nvPr/>
        </p:nvSpPr>
        <p:spPr>
          <a:xfrm>
            <a:off x="6532328" y="2921000"/>
            <a:ext cx="2540000" cy="1514723"/>
          </a:xfrm>
          <a:prstGeom prst="roundRect">
            <a:avLst>
              <a:gd name="adj" fmla="val 0"/>
            </a:avLst>
          </a:prstGeom>
          <a:solidFill>
            <a:srgbClr val="ECFDF5">
              <a:alpha val="95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659328" y="3048000"/>
            <a:ext cx="2349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自由操作</a:t>
            </a:r>
            <a:endParaRPr lang="en-US" sz="1100"/>
          </a:p>
        </p:txBody>
      </p:sp>
      <p:sp>
        <p:nvSpPr>
          <p:cNvPr id="27" name="AutoShape 27"/>
          <p:cNvSpPr/>
          <p:nvPr/>
        </p:nvSpPr>
        <p:spPr>
          <a:xfrm>
            <a:off x="6659328" y="3189412"/>
            <a:ext cx="2349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操作响应零延迟，交互逻辑符合直觉，大幅降低新手入门门槛，让玩家专注于游戏乐趣本身。</a:t>
            </a:r>
            <a:endParaRPr lang="en-US" sz="1100"/>
          </a:p>
        </p:txBody>
      </p:sp>
      <p:sp>
        <p:nvSpPr>
          <p:cNvPr id="28" name="AutoShape 28"/>
          <p:cNvSpPr/>
          <p:nvPr/>
        </p:nvSpPr>
        <p:spPr>
          <a:xfrm>
            <a:off x="9135828" y="2921000"/>
            <a:ext cx="2540000" cy="1514723"/>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9262828" y="3048000"/>
            <a:ext cx="2349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即时正向反馈</a:t>
            </a:r>
            <a:endParaRPr lang="en-US" sz="1100"/>
          </a:p>
        </p:txBody>
      </p:sp>
      <p:sp>
        <p:nvSpPr>
          <p:cNvPr id="31" name="AutoShape 31"/>
          <p:cNvSpPr/>
          <p:nvPr/>
        </p:nvSpPr>
        <p:spPr>
          <a:xfrm>
            <a:off x="9262828" y="3189412"/>
            <a:ext cx="2349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游戏进程数据实时同步，分数与对战状态</a:t>
            </a:r>
            <a:r>
              <a:rPr lang="zh-CN" altLang="en-US" sz="1200" b="0" i="0" u="none" strike="noStrike">
                <a:solidFill>
                  <a:srgbClr val="4B5563"/>
                </a:solidFill>
                <a:latin typeface="Noto Sans SC"/>
                <a:ea typeface="Noto Sans SC"/>
                <a:cs typeface="Noto Sans SC"/>
                <a:sym typeface="Noto Sans SC"/>
              </a:rPr>
              <a:t>实时</a:t>
            </a:r>
            <a:r>
              <a:rPr lang="en-US" sz="1200" b="0" i="0" u="none" strike="noStrike">
                <a:solidFill>
                  <a:srgbClr val="4B5563"/>
                </a:solidFill>
                <a:latin typeface="Noto Sans SC"/>
                <a:ea typeface="Noto Sans SC"/>
                <a:cs typeface="Noto Sans SC"/>
                <a:sym typeface="Noto Sans SC"/>
              </a:rPr>
              <a:t>刷新。结算阶段清晰呈现胜负结果与</a:t>
            </a:r>
            <a:r>
              <a:rPr lang="zh-CN" altLang="en-US" sz="1200" b="0" i="0" u="none" strike="noStrike">
                <a:solidFill>
                  <a:srgbClr val="4B5563"/>
                </a:solidFill>
                <a:latin typeface="Noto Sans SC"/>
                <a:ea typeface="Noto Sans SC"/>
                <a:cs typeface="Noto Sans SC"/>
                <a:sym typeface="Noto Sans SC"/>
              </a:rPr>
              <a:t>历史战绩</a:t>
            </a:r>
            <a:r>
              <a:rPr lang="en-US" sz="1200" b="0" i="0" u="none" strike="noStrike">
                <a:solidFill>
                  <a:srgbClr val="4B5563"/>
                </a:solidFill>
                <a:latin typeface="Noto Sans SC"/>
                <a:ea typeface="Noto Sans SC"/>
                <a:cs typeface="Noto Sans SC"/>
                <a:sym typeface="Noto Sans SC"/>
              </a:rPr>
              <a:t>，通过及时的正向激励给予玩家成就感。</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F80ED"/>
                </a:solidFill>
                <a:latin typeface="Noto Sans SC"/>
                <a:ea typeface="Noto Sans SC"/>
                <a:cs typeface="Noto Sans SC"/>
                <a:sym typeface="Noto Sans SC"/>
              </a:rPr>
              <a:t>06 总结</a:t>
            </a:r>
            <a:r>
              <a:rPr lang="zh-CN" altLang="en-US" sz="3200" b="1" i="0" u="none" strike="noStrike">
                <a:solidFill>
                  <a:srgbClr val="2F80ED"/>
                </a:solidFill>
                <a:latin typeface="Noto Sans SC"/>
                <a:ea typeface="Noto Sans SC"/>
                <a:cs typeface="Noto Sans SC"/>
                <a:sym typeface="Noto Sans SC"/>
              </a:rPr>
              <a:t>与展望</a:t>
            </a:r>
            <a:endParaRPr lang="en-US" sz="1100"/>
          </a:p>
        </p:txBody>
      </p:sp>
      <p:sp>
        <p:nvSpPr>
          <p:cNvPr id="28" name="AutoShape 28"/>
          <p:cNvSpPr/>
          <p:nvPr/>
        </p:nvSpPr>
        <p:spPr>
          <a:xfrm>
            <a:off x="1932841" y="1484242"/>
            <a:ext cx="9119029" cy="1750449"/>
          </a:xfrm>
          <a:prstGeom prst="roundRect">
            <a:avLst>
              <a:gd name="adj" fmla="val 0"/>
            </a:avLst>
          </a:prstGeom>
          <a:solidFill>
            <a:srgbClr val="FFFFFF">
              <a:alpha val="88000"/>
            </a:srgbClr>
          </a:solidFill>
          <a:ln w="12700" cap="flat" cmpd="sng">
            <a:solidFill>
              <a:srgbClr val="2F80ED">
                <a:alpha val="22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2178889" y="1651000"/>
            <a:ext cx="588164"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0E7490"/>
                </a:solidFill>
                <a:latin typeface="Noto Sans SC"/>
                <a:ea typeface="Noto Sans SC"/>
                <a:cs typeface="Noto Sans SC"/>
                <a:sym typeface="Noto Sans SC"/>
              </a:rPr>
              <a:t>总结</a:t>
            </a:r>
            <a:endParaRPr lang="en-US" sz="1600"/>
          </a:p>
        </p:txBody>
      </p:sp>
      <p:sp>
        <p:nvSpPr>
          <p:cNvPr id="30" name="AutoShape 30"/>
          <p:cNvSpPr/>
          <p:nvPr/>
        </p:nvSpPr>
        <p:spPr>
          <a:xfrm>
            <a:off x="2290207" y="2065766"/>
            <a:ext cx="8404296"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b="0" i="0" u="none" strike="noStrike">
                <a:solidFill>
                  <a:srgbClr val="334155">
                    <a:alpha val="90196"/>
                  </a:srgbClr>
                </a:solidFill>
                <a:latin typeface="Noto Sans SC"/>
                <a:ea typeface="Noto Sans SC"/>
                <a:cs typeface="Noto Sans SC"/>
                <a:sym typeface="Noto Sans SC"/>
              </a:rPr>
              <a:t>本次项目基于经典贪吃蛇游戏，通过 </a:t>
            </a:r>
            <a:r>
              <a:rPr lang="en-US" altLang="zh-CN" b="0" i="0" u="none" strike="noStrike">
                <a:solidFill>
                  <a:srgbClr val="334155">
                    <a:alpha val="90196"/>
                  </a:srgbClr>
                </a:solidFill>
                <a:latin typeface="Noto Sans SC"/>
                <a:ea typeface="Noto Sans SC"/>
                <a:cs typeface="Noto Sans SC"/>
                <a:sym typeface="Noto Sans SC"/>
              </a:rPr>
              <a:t>EasyX </a:t>
            </a:r>
            <a:r>
              <a:rPr lang="zh-CN" altLang="en-US" b="0" i="0" u="none" strike="noStrike">
                <a:solidFill>
                  <a:srgbClr val="334155">
                    <a:alpha val="90196"/>
                  </a:srgbClr>
                </a:solidFill>
                <a:latin typeface="Noto Sans SC"/>
                <a:ea typeface="Noto Sans SC"/>
                <a:cs typeface="Noto Sans SC"/>
                <a:sym typeface="Noto Sans SC"/>
              </a:rPr>
              <a:t>图形库与 </a:t>
            </a:r>
            <a:r>
              <a:rPr lang="en-US" altLang="zh-CN" b="0" i="0" u="none" strike="noStrike">
                <a:solidFill>
                  <a:srgbClr val="334155">
                    <a:alpha val="90196"/>
                  </a:srgbClr>
                </a:solidFill>
                <a:latin typeface="Noto Sans SC"/>
                <a:ea typeface="Noto Sans SC"/>
                <a:cs typeface="Noto Sans SC"/>
                <a:sym typeface="Noto Sans SC"/>
              </a:rPr>
              <a:t>C++ </a:t>
            </a:r>
            <a:r>
              <a:rPr lang="zh-CN" altLang="en-US" b="0" i="0" u="none" strike="noStrike">
                <a:solidFill>
                  <a:srgbClr val="334155">
                    <a:alpha val="90196"/>
                  </a:srgbClr>
                </a:solidFill>
                <a:latin typeface="Noto Sans SC"/>
                <a:ea typeface="Noto Sans SC"/>
                <a:cs typeface="Noto Sans SC"/>
                <a:sym typeface="Noto Sans SC"/>
              </a:rPr>
              <a:t>面向过程编程，成功实现了一款集单人挑战与双人对战于一体的 贪吃蛇游戏。系统具备</a:t>
            </a:r>
            <a:r>
              <a:rPr lang="en-US" altLang="zh-CN" b="0" i="0" u="none" strike="noStrike">
                <a:solidFill>
                  <a:srgbClr val="334155">
                    <a:alpha val="90196"/>
                  </a:srgbClr>
                </a:solidFill>
                <a:latin typeface="Noto Sans SC"/>
                <a:ea typeface="Noto Sans SC"/>
                <a:cs typeface="Noto Sans SC"/>
                <a:sym typeface="Noto Sans SC"/>
              </a:rPr>
              <a:t>10</a:t>
            </a:r>
            <a:r>
              <a:rPr lang="zh-CN" altLang="en-US" b="0" i="0" u="none" strike="noStrike">
                <a:solidFill>
                  <a:srgbClr val="334155">
                    <a:alpha val="90196"/>
                  </a:srgbClr>
                </a:solidFill>
                <a:latin typeface="Noto Sans SC"/>
                <a:ea typeface="Noto Sans SC"/>
                <a:cs typeface="Noto Sans SC"/>
                <a:sym typeface="Noto Sans SC"/>
              </a:rPr>
              <a:t>级动态难度、特殊食物、墙壁障碍、双人限时对战以及完整的统计排名等功能，支持键盘与鼠标双重交互。项目不仅还原了贪吃蛇的核心乐趣，还通过多维度创新显著提升了可玩性与用户体验，圆满完成了课程实训的各项要求。</a:t>
            </a:r>
            <a:endParaRPr lang="en-US" sz="1200"/>
          </a:p>
        </p:txBody>
      </p:sp>
      <p:sp>
        <p:nvSpPr>
          <p:cNvPr id="31" name="AutoShape 31"/>
          <p:cNvSpPr/>
          <p:nvPr/>
        </p:nvSpPr>
        <p:spPr>
          <a:xfrm>
            <a:off x="1932841" y="3429000"/>
            <a:ext cx="4404580" cy="2270538"/>
          </a:xfrm>
          <a:prstGeom prst="roundRect">
            <a:avLst>
              <a:gd name="adj" fmla="val 0"/>
            </a:avLst>
          </a:prstGeom>
          <a:solidFill>
            <a:srgbClr val="FFFFFF">
              <a:alpha val="88000"/>
            </a:srgbClr>
          </a:solidFill>
          <a:ln w="12700" cap="flat" cmpd="sng">
            <a:solidFill>
              <a:srgbClr val="2F80ED">
                <a:alpha val="22000"/>
              </a:srgbClr>
            </a:solid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2178889" y="3620052"/>
            <a:ext cx="588164" cy="344612"/>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0E7490"/>
                </a:solidFill>
                <a:latin typeface="Noto Sans SC"/>
                <a:ea typeface="Noto Sans SC"/>
                <a:cs typeface="Noto Sans SC"/>
                <a:sym typeface="Noto Sans SC"/>
              </a:rPr>
              <a:t>收获</a:t>
            </a:r>
            <a:endParaRPr lang="en-US" sz="1600"/>
          </a:p>
        </p:txBody>
      </p:sp>
      <p:sp>
        <p:nvSpPr>
          <p:cNvPr id="33" name="AutoShape 33"/>
          <p:cNvSpPr/>
          <p:nvPr/>
        </p:nvSpPr>
        <p:spPr>
          <a:xfrm>
            <a:off x="2290207" y="4191994"/>
            <a:ext cx="3799067" cy="1230796"/>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b="0" i="0" u="none" strike="noStrike">
                <a:solidFill>
                  <a:srgbClr val="334155">
                    <a:alpha val="90196"/>
                  </a:srgbClr>
                </a:solidFill>
                <a:latin typeface="Noto Sans SC"/>
                <a:ea typeface="Noto Sans SC"/>
                <a:cs typeface="Noto Sans SC"/>
                <a:sym typeface="Noto Sans SC"/>
              </a:rPr>
              <a:t>掌握了 </a:t>
            </a:r>
            <a:r>
              <a:rPr lang="en-US" altLang="zh-CN" b="0" i="0" u="none" strike="noStrike">
                <a:solidFill>
                  <a:srgbClr val="334155">
                    <a:alpha val="90196"/>
                  </a:srgbClr>
                </a:solidFill>
                <a:latin typeface="Noto Sans SC"/>
                <a:ea typeface="Noto Sans SC"/>
                <a:cs typeface="Noto Sans SC"/>
                <a:sym typeface="Noto Sans SC"/>
              </a:rPr>
              <a:t>EasyX </a:t>
            </a:r>
            <a:r>
              <a:rPr lang="zh-CN" altLang="en-US" b="0" i="0" u="none" strike="noStrike">
                <a:solidFill>
                  <a:srgbClr val="334155">
                    <a:alpha val="90196"/>
                  </a:srgbClr>
                </a:solidFill>
                <a:latin typeface="Noto Sans SC"/>
                <a:ea typeface="Noto Sans SC"/>
                <a:cs typeface="Noto Sans SC"/>
                <a:sym typeface="Noto Sans SC"/>
              </a:rPr>
              <a:t>图形编程、游戏状态机设计、</a:t>
            </a:r>
            <a:r>
              <a:rPr lang="en-US" altLang="zh-CN" b="0" i="0" u="none" strike="noStrike">
                <a:solidFill>
                  <a:srgbClr val="334155">
                    <a:alpha val="90196"/>
                  </a:srgbClr>
                </a:solidFill>
                <a:latin typeface="Noto Sans SC"/>
                <a:ea typeface="Noto Sans SC"/>
                <a:cs typeface="Noto Sans SC"/>
                <a:sym typeface="Noto Sans SC"/>
              </a:rPr>
              <a:t>STL </a:t>
            </a:r>
            <a:r>
              <a:rPr lang="zh-CN" altLang="en-US" b="0" i="0" u="none" strike="noStrike">
                <a:solidFill>
                  <a:srgbClr val="334155">
                    <a:alpha val="90196"/>
                  </a:srgbClr>
                </a:solidFill>
                <a:latin typeface="Noto Sans SC"/>
                <a:ea typeface="Noto Sans SC"/>
                <a:cs typeface="Noto Sans SC"/>
                <a:sym typeface="Noto Sans SC"/>
              </a:rPr>
              <a:t>容器的高效运用，以及双缓冲、定时器、消息处理等游戏循环基础，尤其在双人碰撞检测、动态速度算法等复杂逻辑的调试中，锻炼了严谨的思维与问题解决能力。</a:t>
            </a:r>
            <a:endParaRPr lang="en-US" sz="1200"/>
          </a:p>
        </p:txBody>
      </p:sp>
      <p:sp>
        <p:nvSpPr>
          <p:cNvPr id="34" name="AutoShape 34"/>
          <p:cNvSpPr/>
          <p:nvPr/>
        </p:nvSpPr>
        <p:spPr>
          <a:xfrm>
            <a:off x="6647290" y="3429000"/>
            <a:ext cx="4404580" cy="2270538"/>
          </a:xfrm>
          <a:prstGeom prst="roundRect">
            <a:avLst>
              <a:gd name="adj" fmla="val 0"/>
            </a:avLst>
          </a:prstGeom>
          <a:solidFill>
            <a:srgbClr val="FFFFFF">
              <a:alpha val="88000"/>
            </a:srgbClr>
          </a:solidFill>
          <a:ln w="12700" cap="flat" cmpd="sng">
            <a:solidFill>
              <a:srgbClr val="2F80ED">
                <a:alpha val="22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909407" y="3616987"/>
            <a:ext cx="591489" cy="350742"/>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0E7490"/>
                </a:solidFill>
                <a:latin typeface="Noto Sans SC"/>
                <a:ea typeface="Noto Sans SC"/>
                <a:cs typeface="Noto Sans SC"/>
                <a:sym typeface="Noto Sans SC"/>
              </a:rPr>
              <a:t>展望</a:t>
            </a:r>
            <a:endParaRPr lang="en-US" sz="1600"/>
          </a:p>
        </p:txBody>
      </p:sp>
      <p:sp>
        <p:nvSpPr>
          <p:cNvPr id="36" name="AutoShape 36"/>
          <p:cNvSpPr/>
          <p:nvPr/>
        </p:nvSpPr>
        <p:spPr>
          <a:xfrm>
            <a:off x="6981851" y="4299392"/>
            <a:ext cx="3895533" cy="1016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zh-CN" altLang="en-US">
                <a:solidFill>
                  <a:srgbClr val="334155">
                    <a:alpha val="90196"/>
                  </a:srgbClr>
                </a:solidFill>
                <a:latin typeface="Noto Sans SC"/>
                <a:ea typeface="Noto Sans SC"/>
                <a:cs typeface="Noto Sans SC"/>
                <a:sym typeface="Noto Sans SC"/>
              </a:rPr>
              <a:t>目前游戏已具备较完整的基础框架，未来可进一步引入音效与背景音乐，自定义地图与障碍物编辑，等功能，还可加入简单</a:t>
            </a:r>
            <a:r>
              <a:rPr lang="en-US" altLang="zh-CN">
                <a:solidFill>
                  <a:srgbClr val="334155">
                    <a:alpha val="90196"/>
                  </a:srgbClr>
                </a:solidFill>
                <a:latin typeface="Noto Sans SC"/>
                <a:ea typeface="Noto Sans SC"/>
                <a:cs typeface="Noto Sans SC"/>
                <a:sym typeface="Noto Sans SC"/>
              </a:rPr>
              <a:t>AI</a:t>
            </a:r>
            <a:r>
              <a:rPr lang="zh-CN" altLang="en-US">
                <a:solidFill>
                  <a:srgbClr val="334155">
                    <a:alpha val="90196"/>
                  </a:srgbClr>
                </a:solidFill>
                <a:latin typeface="Noto Sans SC"/>
                <a:ea typeface="Noto Sans SC"/>
                <a:cs typeface="Noto Sans SC"/>
                <a:sym typeface="Noto Sans SC"/>
              </a:rPr>
              <a:t>对手，丰富单人模式下不同强度的挑战。长远来看，可尝试实现局域网联机对战，让双人模式不再受限于同一键盘。</a:t>
            </a:r>
            <a:endParaRPr lang="en-US"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438731" y="1782265"/>
            <a:ext cx="7314538" cy="1817176"/>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ln>
                  <a:solidFill>
                    <a:schemeClr val="tx1"/>
                  </a:solidFill>
                </a:ln>
                <a:solidFill>
                  <a:srgbClr val="E1F2DF"/>
                </a:solidFill>
                <a:effectLst>
                  <a:innerShdw blurRad="63500" dist="50800">
                    <a:prstClr val="black">
                      <a:alpha val="50000"/>
                    </a:prstClr>
                  </a:innerShdw>
                </a:effectLst>
                <a:latin typeface="Noto Sans SC"/>
                <a:ea typeface="Noto Sans SC"/>
                <a:cs typeface="Noto Sans SC"/>
                <a:sym typeface="Noto Sans SC"/>
              </a:rPr>
              <a:t>Thank You</a:t>
            </a:r>
            <a:endParaRPr lang="en-US" sz="2800">
              <a:ln>
                <a:solidFill>
                  <a:schemeClr val="tx1"/>
                </a:solidFill>
              </a:ln>
              <a:solidFill>
                <a:srgbClr val="E1F2DF"/>
              </a:solidFill>
              <a:effectLst>
                <a:innerShdw blurRad="63500" dist="50800">
                  <a:prstClr val="black">
                    <a:alpha val="50000"/>
                  </a:prstClr>
                </a:innerShdw>
              </a:effectLst>
            </a:endParaRPr>
          </a:p>
        </p:txBody>
      </p:sp>
      <mc:AlternateContent xmlns:mc="http://schemas.openxmlformats.org/markup-compatibility/2006" xmlns:p14="http://schemas.microsoft.com/office/powerpoint/2010/main" xmlns:aink="http://schemas.microsoft.com/office/drawing/2016/ink">
        <mc:Choice Requires="p14 aink">
          <p:contentPart p14:bwMode="auto" r:id="rId4">
            <p14:nvContentPartPr>
              <p14:cNvPr id="6" name="墨迹 5">
                <a:extLst>
                  <a:ext uri="{FF2B5EF4-FFF2-40B4-BE49-F238E27FC236}">
                    <a16:creationId xmlns:a16="http://schemas.microsoft.com/office/drawing/2014/main" id="{0D1EA702-8A31-75D5-A688-0ACE089F7FE8}"/>
                  </a:ext>
                </a:extLst>
              </p14:cNvPr>
              <p14:cNvContentPartPr/>
              <p14:nvPr/>
            </p14:nvContentPartPr>
            <p14:xfrm>
              <a:off x="2106626" y="262205"/>
              <a:ext cx="360" cy="360"/>
            </p14:xfrm>
          </p:contentPart>
        </mc:Choice>
        <mc:Fallback xmlns="">
          <p:pic>
            <p:nvPicPr>
              <p:cNvPr id="6" name="墨迹 5">
                <a:extLst>
                  <a:ext uri="{FF2B5EF4-FFF2-40B4-BE49-F238E27FC236}">
                    <a16:creationId xmlns:a16="http://schemas.microsoft.com/office/drawing/2014/main" id="{0D1EA702-8A31-75D5-A688-0ACE089F7FE8}"/>
                  </a:ext>
                </a:extLst>
              </p:cNvPr>
              <p:cNvPicPr/>
              <p:nvPr/>
            </p:nvPicPr>
            <p:blipFill>
              <a:blip r:embed="rId5"/>
              <a:stretch>
                <a:fillRect/>
              </a:stretch>
            </p:blipFill>
            <p:spPr>
              <a:xfrm>
                <a:off x="2097986" y="253205"/>
                <a:ext cx="18000" cy="18000"/>
              </a:xfrm>
              <a:prstGeom prst="rect">
                <a:avLst/>
              </a:prstGeom>
            </p:spPr>
          </p:pic>
        </mc:Fallback>
      </mc:AlternateContent>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TotalTime>
  <Words>1007</Words>
  <Application>Microsoft Office PowerPoint</Application>
  <PresentationFormat>宽屏</PresentationFormat>
  <Paragraphs>176</Paragraphs>
  <Slides>15</Slides>
  <Notes>15</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15</vt:i4>
      </vt:variant>
    </vt:vector>
  </HeadingPairs>
  <TitlesOfParts>
    <vt:vector size="20" baseType="lpstr">
      <vt:lpstr>Noto Sans SC</vt:lpstr>
      <vt:lpstr>华文行楷</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尔里德 李</cp:lastModifiedBy>
  <cp:revision>5</cp:revision>
  <dcterms:modified xsi:type="dcterms:W3CDTF">2026-05-31T16:05:36Z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{"Label":"1","ContentProducer":"001191110102MACQD9K64010000","ProduceID":"7645672575888804816","ReservedCode1":"","ContentPropagator":"","PropagateID":"","ReservedCode2":""}</vt:lpwstr>
  </property>
</Properties>
</file>