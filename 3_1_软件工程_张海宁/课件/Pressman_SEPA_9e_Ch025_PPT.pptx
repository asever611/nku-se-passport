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  <p:sldMasterId id="2147483691" r:id="rId2"/>
    <p:sldMasterId id="2147483684" r:id="rId3"/>
    <p:sldMasterId id="2147483686" r:id="rId4"/>
    <p:sldMasterId id="2147483701" r:id="rId5"/>
  </p:sldMasterIdLst>
  <p:notesMasterIdLst>
    <p:notesMasterId r:id="rId43"/>
  </p:notesMasterIdLst>
  <p:sldIdLst>
    <p:sldId id="293" r:id="rId6"/>
    <p:sldId id="263" r:id="rId7"/>
    <p:sldId id="266" r:id="rId8"/>
    <p:sldId id="265" r:id="rId9"/>
    <p:sldId id="268" r:id="rId10"/>
    <p:sldId id="269" r:id="rId11"/>
    <p:sldId id="267" r:id="rId12"/>
    <p:sldId id="272" r:id="rId13"/>
    <p:sldId id="270" r:id="rId14"/>
    <p:sldId id="284" r:id="rId15"/>
    <p:sldId id="285" r:id="rId16"/>
    <p:sldId id="275" r:id="rId17"/>
    <p:sldId id="289" r:id="rId18"/>
    <p:sldId id="288" r:id="rId19"/>
    <p:sldId id="286" r:id="rId20"/>
    <p:sldId id="287" r:id="rId21"/>
    <p:sldId id="283" r:id="rId22"/>
    <p:sldId id="290" r:id="rId23"/>
    <p:sldId id="291" r:id="rId24"/>
    <p:sldId id="292" r:id="rId25"/>
    <p:sldId id="271" r:id="rId26"/>
    <p:sldId id="273" r:id="rId27"/>
    <p:sldId id="274" r:id="rId28"/>
    <p:sldId id="282" r:id="rId29"/>
    <p:sldId id="276" r:id="rId30"/>
    <p:sldId id="281" r:id="rId31"/>
    <p:sldId id="277" r:id="rId32"/>
    <p:sldId id="278" r:id="rId33"/>
    <p:sldId id="279" r:id="rId34"/>
    <p:sldId id="280" r:id="rId35"/>
    <p:sldId id="260" r:id="rId36"/>
    <p:sldId id="258" r:id="rId37"/>
    <p:sldId id="264" r:id="rId38"/>
    <p:sldId id="294" r:id="rId39"/>
    <p:sldId id="297" r:id="rId40"/>
    <p:sldId id="295" r:id="rId41"/>
    <p:sldId id="296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293"/>
            <p14:sldId id="263"/>
            <p14:sldId id="266"/>
            <p14:sldId id="265"/>
            <p14:sldId id="268"/>
            <p14:sldId id="269"/>
            <p14:sldId id="267"/>
            <p14:sldId id="272"/>
            <p14:sldId id="270"/>
            <p14:sldId id="284"/>
            <p14:sldId id="285"/>
            <p14:sldId id="275"/>
            <p14:sldId id="289"/>
            <p14:sldId id="288"/>
            <p14:sldId id="286"/>
            <p14:sldId id="287"/>
            <p14:sldId id="283"/>
            <p14:sldId id="290"/>
            <p14:sldId id="291"/>
            <p14:sldId id="292"/>
            <p14:sldId id="271"/>
            <p14:sldId id="273"/>
            <p14:sldId id="274"/>
            <p14:sldId id="282"/>
            <p14:sldId id="276"/>
            <p14:sldId id="281"/>
            <p14:sldId id="277"/>
            <p14:sldId id="278"/>
            <p14:sldId id="279"/>
            <p14:sldId id="280"/>
            <p14:sldId id="260"/>
          </p14:sldIdLst>
        </p14:section>
        <p14:section name="Appendix: Image Descriptions for Unsighted Students" id="{9E859B0B-078E-463E-89A6-21C20DD280C4}">
          <p14:sldIdLst>
            <p14:sldId id="258"/>
            <p14:sldId id="264"/>
            <p14:sldId id="294"/>
            <p14:sldId id="297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36" autoAdjust="0"/>
    <p:restoredTop sz="73456" autoAdjust="0"/>
  </p:normalViewPr>
  <p:slideViewPr>
    <p:cSldViewPr snapToGrid="0" showGuides="1">
      <p:cViewPr>
        <p:scale>
          <a:sx n="66" d="100"/>
          <a:sy n="66" d="100"/>
        </p:scale>
        <p:origin x="1132" y="-40"/>
      </p:cViewPr>
      <p:guideLst>
        <p:guide pos="3264"/>
        <p:guide orient="horz" pos="2256"/>
        <p:guide pos="5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-77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 Gao" userId="8b4c448f-f25d-42d5-b038-cc11c3c58695" providerId="ADAL" clId="{12321F33-3FF4-4921-8E1D-D88820044243}"/>
    <pc:docChg chg="modSld">
      <pc:chgData name="Nan Gao" userId="8b4c448f-f25d-42d5-b038-cc11c3c58695" providerId="ADAL" clId="{12321F33-3FF4-4921-8E1D-D88820044243}" dt="2025-12-03T13:50:10.481" v="30"/>
      <pc:docMkLst>
        <pc:docMk/>
      </pc:docMkLst>
      <pc:sldChg chg="modNotesTx">
        <pc:chgData name="Nan Gao" userId="8b4c448f-f25d-42d5-b038-cc11c3c58695" providerId="ADAL" clId="{12321F33-3FF4-4921-8E1D-D88820044243}" dt="2025-12-03T13:50:10.481" v="30"/>
        <pc:sldMkLst>
          <pc:docMk/>
          <pc:sldMk cId="1080484485" sldId="260"/>
        </pc:sldMkLst>
      </pc:sldChg>
      <pc:sldChg chg="modNotesTx">
        <pc:chgData name="Nan Gao" userId="8b4c448f-f25d-42d5-b038-cc11c3c58695" providerId="ADAL" clId="{12321F33-3FF4-4921-8E1D-D88820044243}" dt="2025-12-03T13:43:25.499" v="0"/>
        <pc:sldMkLst>
          <pc:docMk/>
          <pc:sldMk cId="1503147761" sldId="263"/>
        </pc:sldMkLst>
      </pc:sldChg>
      <pc:sldChg chg="modNotesTx">
        <pc:chgData name="Nan Gao" userId="8b4c448f-f25d-42d5-b038-cc11c3c58695" providerId="ADAL" clId="{12321F33-3FF4-4921-8E1D-D88820044243}" dt="2025-12-03T13:44:23.616" v="2"/>
        <pc:sldMkLst>
          <pc:docMk/>
          <pc:sldMk cId="601887075" sldId="265"/>
        </pc:sldMkLst>
      </pc:sldChg>
      <pc:sldChg chg="modNotesTx">
        <pc:chgData name="Nan Gao" userId="8b4c448f-f25d-42d5-b038-cc11c3c58695" providerId="ADAL" clId="{12321F33-3FF4-4921-8E1D-D88820044243}" dt="2025-12-03T13:43:59.339" v="1"/>
        <pc:sldMkLst>
          <pc:docMk/>
          <pc:sldMk cId="791232216" sldId="266"/>
        </pc:sldMkLst>
      </pc:sldChg>
      <pc:sldChg chg="modNotesTx">
        <pc:chgData name="Nan Gao" userId="8b4c448f-f25d-42d5-b038-cc11c3c58695" providerId="ADAL" clId="{12321F33-3FF4-4921-8E1D-D88820044243}" dt="2025-12-03T13:46:00.043" v="5"/>
        <pc:sldMkLst>
          <pc:docMk/>
          <pc:sldMk cId="2244413732" sldId="267"/>
        </pc:sldMkLst>
      </pc:sldChg>
      <pc:sldChg chg="modNotesTx">
        <pc:chgData name="Nan Gao" userId="8b4c448f-f25d-42d5-b038-cc11c3c58695" providerId="ADAL" clId="{12321F33-3FF4-4921-8E1D-D88820044243}" dt="2025-12-03T13:44:37.855" v="3"/>
        <pc:sldMkLst>
          <pc:docMk/>
          <pc:sldMk cId="1362263533" sldId="268"/>
        </pc:sldMkLst>
      </pc:sldChg>
      <pc:sldChg chg="modNotesTx">
        <pc:chgData name="Nan Gao" userId="8b4c448f-f25d-42d5-b038-cc11c3c58695" providerId="ADAL" clId="{12321F33-3FF4-4921-8E1D-D88820044243}" dt="2025-12-03T13:45:02.784" v="4"/>
        <pc:sldMkLst>
          <pc:docMk/>
          <pc:sldMk cId="3160858299" sldId="269"/>
        </pc:sldMkLst>
      </pc:sldChg>
      <pc:sldChg chg="modNotesTx">
        <pc:chgData name="Nan Gao" userId="8b4c448f-f25d-42d5-b038-cc11c3c58695" providerId="ADAL" clId="{12321F33-3FF4-4921-8E1D-D88820044243}" dt="2025-12-03T13:46:13.904" v="7"/>
        <pc:sldMkLst>
          <pc:docMk/>
          <pc:sldMk cId="3635233007" sldId="270"/>
        </pc:sldMkLst>
      </pc:sldChg>
      <pc:sldChg chg="modNotesTx">
        <pc:chgData name="Nan Gao" userId="8b4c448f-f25d-42d5-b038-cc11c3c58695" providerId="ADAL" clId="{12321F33-3FF4-4921-8E1D-D88820044243}" dt="2025-12-03T13:48:33.538" v="20"/>
        <pc:sldMkLst>
          <pc:docMk/>
          <pc:sldMk cId="1474486479" sldId="271"/>
        </pc:sldMkLst>
      </pc:sldChg>
      <pc:sldChg chg="modNotesTx">
        <pc:chgData name="Nan Gao" userId="8b4c448f-f25d-42d5-b038-cc11c3c58695" providerId="ADAL" clId="{12321F33-3FF4-4921-8E1D-D88820044243}" dt="2025-12-03T13:46:07.750" v="6"/>
        <pc:sldMkLst>
          <pc:docMk/>
          <pc:sldMk cId="3381266088" sldId="272"/>
        </pc:sldMkLst>
      </pc:sldChg>
      <pc:sldChg chg="modNotesTx">
        <pc:chgData name="Nan Gao" userId="8b4c448f-f25d-42d5-b038-cc11c3c58695" providerId="ADAL" clId="{12321F33-3FF4-4921-8E1D-D88820044243}" dt="2025-12-03T13:48:42.609" v="21"/>
        <pc:sldMkLst>
          <pc:docMk/>
          <pc:sldMk cId="1891348048" sldId="273"/>
        </pc:sldMkLst>
      </pc:sldChg>
      <pc:sldChg chg="modNotesTx">
        <pc:chgData name="Nan Gao" userId="8b4c448f-f25d-42d5-b038-cc11c3c58695" providerId="ADAL" clId="{12321F33-3FF4-4921-8E1D-D88820044243}" dt="2025-12-03T13:48:52.187" v="22"/>
        <pc:sldMkLst>
          <pc:docMk/>
          <pc:sldMk cId="2548020346" sldId="274"/>
        </pc:sldMkLst>
      </pc:sldChg>
      <pc:sldChg chg="modNotesTx">
        <pc:chgData name="Nan Gao" userId="8b4c448f-f25d-42d5-b038-cc11c3c58695" providerId="ADAL" clId="{12321F33-3FF4-4921-8E1D-D88820044243}" dt="2025-12-03T13:46:56.956" v="10"/>
        <pc:sldMkLst>
          <pc:docMk/>
          <pc:sldMk cId="336471557" sldId="275"/>
        </pc:sldMkLst>
      </pc:sldChg>
      <pc:sldChg chg="modNotesTx">
        <pc:chgData name="Nan Gao" userId="8b4c448f-f25d-42d5-b038-cc11c3c58695" providerId="ADAL" clId="{12321F33-3FF4-4921-8E1D-D88820044243}" dt="2025-12-03T13:49:09.828" v="24"/>
        <pc:sldMkLst>
          <pc:docMk/>
          <pc:sldMk cId="3061413738" sldId="276"/>
        </pc:sldMkLst>
      </pc:sldChg>
      <pc:sldChg chg="modNotesTx">
        <pc:chgData name="Nan Gao" userId="8b4c448f-f25d-42d5-b038-cc11c3c58695" providerId="ADAL" clId="{12321F33-3FF4-4921-8E1D-D88820044243}" dt="2025-12-03T13:49:23.539" v="26"/>
        <pc:sldMkLst>
          <pc:docMk/>
          <pc:sldMk cId="1105002176" sldId="277"/>
        </pc:sldMkLst>
      </pc:sldChg>
      <pc:sldChg chg="modNotesTx">
        <pc:chgData name="Nan Gao" userId="8b4c448f-f25d-42d5-b038-cc11c3c58695" providerId="ADAL" clId="{12321F33-3FF4-4921-8E1D-D88820044243}" dt="2025-12-03T13:49:30.795" v="27"/>
        <pc:sldMkLst>
          <pc:docMk/>
          <pc:sldMk cId="4174162980" sldId="278"/>
        </pc:sldMkLst>
      </pc:sldChg>
      <pc:sldChg chg="modNotesTx">
        <pc:chgData name="Nan Gao" userId="8b4c448f-f25d-42d5-b038-cc11c3c58695" providerId="ADAL" clId="{12321F33-3FF4-4921-8E1D-D88820044243}" dt="2025-12-03T13:49:38.477" v="28"/>
        <pc:sldMkLst>
          <pc:docMk/>
          <pc:sldMk cId="3414813340" sldId="279"/>
        </pc:sldMkLst>
      </pc:sldChg>
      <pc:sldChg chg="modNotesTx">
        <pc:chgData name="Nan Gao" userId="8b4c448f-f25d-42d5-b038-cc11c3c58695" providerId="ADAL" clId="{12321F33-3FF4-4921-8E1D-D88820044243}" dt="2025-12-03T13:50:00.139" v="29"/>
        <pc:sldMkLst>
          <pc:docMk/>
          <pc:sldMk cId="799336208" sldId="280"/>
        </pc:sldMkLst>
      </pc:sldChg>
      <pc:sldChg chg="modNotesTx">
        <pc:chgData name="Nan Gao" userId="8b4c448f-f25d-42d5-b038-cc11c3c58695" providerId="ADAL" clId="{12321F33-3FF4-4921-8E1D-D88820044243}" dt="2025-12-03T13:49:16.124" v="25"/>
        <pc:sldMkLst>
          <pc:docMk/>
          <pc:sldMk cId="213851706" sldId="281"/>
        </pc:sldMkLst>
      </pc:sldChg>
      <pc:sldChg chg="modNotesTx">
        <pc:chgData name="Nan Gao" userId="8b4c448f-f25d-42d5-b038-cc11c3c58695" providerId="ADAL" clId="{12321F33-3FF4-4921-8E1D-D88820044243}" dt="2025-12-03T13:49:02.181" v="23"/>
        <pc:sldMkLst>
          <pc:docMk/>
          <pc:sldMk cId="2267310268" sldId="282"/>
        </pc:sldMkLst>
      </pc:sldChg>
      <pc:sldChg chg="modNotesTx">
        <pc:chgData name="Nan Gao" userId="8b4c448f-f25d-42d5-b038-cc11c3c58695" providerId="ADAL" clId="{12321F33-3FF4-4921-8E1D-D88820044243}" dt="2025-12-03T13:47:51.386" v="15"/>
        <pc:sldMkLst>
          <pc:docMk/>
          <pc:sldMk cId="1493876301" sldId="283"/>
        </pc:sldMkLst>
      </pc:sldChg>
      <pc:sldChg chg="modNotesTx">
        <pc:chgData name="Nan Gao" userId="8b4c448f-f25d-42d5-b038-cc11c3c58695" providerId="ADAL" clId="{12321F33-3FF4-4921-8E1D-D88820044243}" dt="2025-12-03T13:46:23.235" v="8"/>
        <pc:sldMkLst>
          <pc:docMk/>
          <pc:sldMk cId="2529017455" sldId="284"/>
        </pc:sldMkLst>
      </pc:sldChg>
      <pc:sldChg chg="modNotesTx">
        <pc:chgData name="Nan Gao" userId="8b4c448f-f25d-42d5-b038-cc11c3c58695" providerId="ADAL" clId="{12321F33-3FF4-4921-8E1D-D88820044243}" dt="2025-12-03T13:46:40.770" v="9"/>
        <pc:sldMkLst>
          <pc:docMk/>
          <pc:sldMk cId="840486420" sldId="285"/>
        </pc:sldMkLst>
      </pc:sldChg>
      <pc:sldChg chg="modNotesTx">
        <pc:chgData name="Nan Gao" userId="8b4c448f-f25d-42d5-b038-cc11c3c58695" providerId="ADAL" clId="{12321F33-3FF4-4921-8E1D-D88820044243}" dt="2025-12-03T13:47:40.926" v="13"/>
        <pc:sldMkLst>
          <pc:docMk/>
          <pc:sldMk cId="188898307" sldId="286"/>
        </pc:sldMkLst>
      </pc:sldChg>
      <pc:sldChg chg="modNotesTx">
        <pc:chgData name="Nan Gao" userId="8b4c448f-f25d-42d5-b038-cc11c3c58695" providerId="ADAL" clId="{12321F33-3FF4-4921-8E1D-D88820044243}" dt="2025-12-03T13:47:48.741" v="14"/>
        <pc:sldMkLst>
          <pc:docMk/>
          <pc:sldMk cId="1232661505" sldId="287"/>
        </pc:sldMkLst>
      </pc:sldChg>
      <pc:sldChg chg="modNotesTx">
        <pc:chgData name="Nan Gao" userId="8b4c448f-f25d-42d5-b038-cc11c3c58695" providerId="ADAL" clId="{12321F33-3FF4-4921-8E1D-D88820044243}" dt="2025-12-03T13:47:31.827" v="12"/>
        <pc:sldMkLst>
          <pc:docMk/>
          <pc:sldMk cId="3957583413" sldId="288"/>
        </pc:sldMkLst>
      </pc:sldChg>
      <pc:sldChg chg="modNotesTx">
        <pc:chgData name="Nan Gao" userId="8b4c448f-f25d-42d5-b038-cc11c3c58695" providerId="ADAL" clId="{12321F33-3FF4-4921-8E1D-D88820044243}" dt="2025-12-03T13:47:18.927" v="11"/>
        <pc:sldMkLst>
          <pc:docMk/>
          <pc:sldMk cId="2461398216" sldId="289"/>
        </pc:sldMkLst>
      </pc:sldChg>
      <pc:sldChg chg="modNotesTx">
        <pc:chgData name="Nan Gao" userId="8b4c448f-f25d-42d5-b038-cc11c3c58695" providerId="ADAL" clId="{12321F33-3FF4-4921-8E1D-D88820044243}" dt="2025-12-03T13:48:00.443" v="16"/>
        <pc:sldMkLst>
          <pc:docMk/>
          <pc:sldMk cId="1505413859" sldId="290"/>
        </pc:sldMkLst>
      </pc:sldChg>
      <pc:sldChg chg="modNotesTx">
        <pc:chgData name="Nan Gao" userId="8b4c448f-f25d-42d5-b038-cc11c3c58695" providerId="ADAL" clId="{12321F33-3FF4-4921-8E1D-D88820044243}" dt="2025-12-03T13:48:21.188" v="18"/>
        <pc:sldMkLst>
          <pc:docMk/>
          <pc:sldMk cId="1699483278" sldId="291"/>
        </pc:sldMkLst>
      </pc:sldChg>
      <pc:sldChg chg="modNotesTx">
        <pc:chgData name="Nan Gao" userId="8b4c448f-f25d-42d5-b038-cc11c3c58695" providerId="ADAL" clId="{12321F33-3FF4-4921-8E1D-D88820044243}" dt="2025-12-03T13:48:27.078" v="19"/>
        <pc:sldMkLst>
          <pc:docMk/>
          <pc:sldMk cId="659355814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0C36D-C885-4264-AB0A-3435D194E7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BD65E-B991-447B-A2B0-75883EC92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403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在开始具体的软件项目规划之前，我们首先要面对一个根本问题：如何做出可靠的估算。估算不准确是项目失败的主要原因之一，因此理解估算的本质与挑战至关重要。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软件估算涉及对资源、成本和进度的预测，它依赖于三个关键要素：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经验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：过去项目的实践经验；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历史数据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：可靠的度量数据支持；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决策勇气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：在信息不完全时仍做出定量预测的意愿。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估算本身具有风险，这些风险主要来源于：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项目复杂性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：系统越复杂，估算越困难；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项目规模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：规模大会导致分解困难；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结构不确定性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：如需求频繁变更。</a:t>
            </a:r>
          </a:p>
          <a:p>
            <a:r>
              <a:rPr lang="zh-CN" altLang="en-US" dirty="0">
                <a:effectLst/>
              </a:rPr>
              <a:t>例如，如果你第一次开发一个电商系统，没有历史数据，需求还在变动，这时做估算就像在雾中行走，需要有经验和勇气去做出初步判断。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933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明确了估算的挑战后，我们来看一个系统的项目规划任务集。这是规划过程的第一步，帮助我们从整体上建立项目的基础框架。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项目规划任务集包括以下步骤：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确定项目范围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：明确要做什么；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分析可行性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：判断是否可以做；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分析风险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：识别潜在问题；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定义所需资源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人力资源；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可复用软件资源；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环境资源（如硬件、工具）；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估算成本与工作量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分解问题；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使用多种方法估算；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对比并调和不同估算结果。</a:t>
            </a:r>
          </a:p>
          <a:p>
            <a:r>
              <a:rPr lang="zh-CN" altLang="en-US" dirty="0">
                <a:effectLst/>
              </a:rPr>
              <a:t>这里的关键是“分解”与“复核”。就像做一道数学题，你用两种方法解，如果结果一致，你就更有信心。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313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完成初步估算后，下一步就是制定具体的项目进度计划。这是将估算转化为可执行时间表的过程。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这一阶段包括：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制定初步项目进度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定义任务集；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建立任务网络图；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使用工具（如甘特图）制定时间线；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设置进度跟踪机制；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迭代细化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：随着原型或迭代的推进，重复上述步骤，逐步细化每个阶段的详细计划。</a:t>
            </a:r>
          </a:p>
          <a:p>
            <a:r>
              <a:rPr lang="zh-CN" altLang="en-US" dirty="0">
                <a:effectLst/>
              </a:rPr>
              <a:t>进度计划不是一次性的，而是随着项目推进不断调整的。敏捷项目中尤其如此，每个冲刺都要重新规划。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290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在规划任务集中，第一步就是“确定项目范围”。那么，软件的范围具体指什么呢？明确范围是后续所有估算和计划工作的基石。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软件范围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了项目的边界，具体包括：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交付给最终用户的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功能和特性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系统的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输入和输出数据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呈现给用户的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内容和界面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系统的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性能、约束、接口和可靠性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要求。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定义范围通常使用两种技术：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叙述性描述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：通过与所有利益相关者沟通后，形成的文字描述。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用例集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：由最终用户主导，描述系统如何与用户交互的场景。</a:t>
            </a:r>
          </a:p>
          <a:p>
            <a:r>
              <a:rPr lang="zh-CN" altLang="en-US" dirty="0">
                <a:effectLst/>
              </a:rPr>
              <a:t>可以把范围想象成一份“项目契约”。例如，一个在线考试系统的范围，会明确规定是否包含自动组卷、在线监考、成绩分析等功能，以及系统必须支持多少人同时考试（性能），这就是范围的边界。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72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一旦我们和客户共同明确了项目范围，紧接着就必须问一个现实问题：这个项目可行吗？不是所有想做的事情都能做成，可行性分析就是一次现实的检验。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可行性分析主要评估：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技术可行性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：现有的技术能否实现这个系统？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资源可行性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：是否有足够的资金、时间和人力资源？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商业可行性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：做出来的系统真的有人需要吗？是否满足商业目标？</a:t>
            </a:r>
          </a:p>
          <a:p>
            <a:r>
              <a:rPr lang="zh-CN" altLang="en-US" dirty="0">
                <a:effectLst/>
              </a:rPr>
              <a:t>举个例子，客户想要一个能实时翻译所有语言的手机</a:t>
            </a:r>
            <a:r>
              <a:rPr lang="en-US" altLang="zh-CN" dirty="0">
                <a:effectLst/>
              </a:rPr>
              <a:t>App</a:t>
            </a:r>
            <a:r>
              <a:rPr lang="zh-CN" altLang="en-US" dirty="0">
                <a:effectLst/>
              </a:rPr>
              <a:t>。从技术上，现有技术（如深度学习）可能部分实现，但达到完美实时翻译可能还不行；从资源上，需要巨大的研发投入；从商业上，市场可能已有类似产品。综合分析后，可能需要调整范围或决定不做。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533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通过可行性分析，我们确认了项目“值得做”也“可能做”。接下来，就需要具体规划“用什么来做”，也就是识别和获取项目所需的各类资源。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项目资源主要分为三大类：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人力资源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：需要多少人？他们需要具备哪些技能？在何地工作？（如开发人员、测试人员、项目经理）。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可复用软件资源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商业现成品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：直接购买使用的软件。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具有完整经验的组件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：团队之前成功开发过、可以直接复用的模块。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具有部分经验的组件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：需要修改后才能复用的代码。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全新组件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：需要完全从头开发。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环境资源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：支持项目开发的“硬”环境和“软”工具，包括软件工具、硬件设备、网络资源等。</a:t>
            </a:r>
          </a:p>
          <a:p>
            <a:r>
              <a:rPr lang="zh-CN" altLang="en-US" dirty="0">
                <a:effectLst/>
              </a:rPr>
              <a:t>资源规划就像为一次远征准备物资。人力资源是探险队员，可复用软件是已有的地图和工具（复用能大大节省时间），而环境资源就是营地、车辆和通讯设备。规划不好，项目就会中途“断粮”。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019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有了范围和资源概念后，我们回到估算的核心：如何提高估算的准确性？在数据时代，我们可以借助更系统的方法。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要提高估算的可靠性，有几种常见策略：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延迟估算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：等项目做完再估算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这显然不现实，但说明了早期估算的不确定性。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基于类比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：参考已完成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的类似项目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的历史数据。这是最有效的方法之一，前提是你有可比的数据。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分解技术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：将大问题分解为小部分，分别估算再汇总（类似于“分而治之”）。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经验模型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：使用基于大量历史数据建立的数学模型进行预测。</a:t>
            </a:r>
          </a:p>
          <a:p>
            <a:r>
              <a:rPr lang="zh-CN" altLang="en-US" dirty="0">
                <a:effectLst/>
              </a:rPr>
              <a:t>这就像预测一场旅行的花费。方法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相当于旅行结束再看账单；方法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是问你上次去类似地方花了多少钱；方法</a:t>
            </a:r>
            <a:r>
              <a:rPr lang="en-US" altLang="zh-CN" dirty="0">
                <a:effectLst/>
              </a:rPr>
              <a:t>3</a:t>
            </a:r>
            <a:r>
              <a:rPr lang="zh-CN" altLang="en-US" dirty="0">
                <a:effectLst/>
              </a:rPr>
              <a:t>是把花费拆成交通、住宿、餐饮分别算；方法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是使用一个旅行预算计算</a:t>
            </a:r>
            <a:r>
              <a:rPr lang="en-US" altLang="zh-CN" dirty="0">
                <a:effectLst/>
              </a:rPr>
              <a:t>APP</a:t>
            </a:r>
            <a:r>
              <a:rPr lang="zh-CN" altLang="en-US" dirty="0">
                <a:effectLst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048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使用了不同方法进行估算后，我们往往会得到几个不同的数字。这时该怎么办？不能简单地取平均值，而是需要进行“对账”和调和。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调和估算的要点是：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交叉验证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：必须用至少一种不同的方法进行估算，作为对照。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比较与调和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：如果多种估算结果相近，那么估算的可信度就很高。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分析差异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：如果结果相差很大，通常原因有两个：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对项目的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范围理解不透彻或有误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估算所使用的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生产率数据不适用或应用错误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r>
              <a:rPr lang="zh-CN" altLang="en-US" dirty="0">
                <a:effectLst/>
              </a:rPr>
              <a:t>例如，用“代码行估算”和“功能点估算”算出一个项目成本，一个是</a:t>
            </a:r>
            <a:r>
              <a:rPr lang="en-US" altLang="zh-CN" dirty="0">
                <a:effectLst/>
              </a:rPr>
              <a:t>50</a:t>
            </a:r>
            <a:r>
              <a:rPr lang="zh-CN" altLang="en-US" dirty="0">
                <a:effectLst/>
              </a:rPr>
              <a:t>万，另一个是</a:t>
            </a:r>
            <a:r>
              <a:rPr lang="en-US" altLang="zh-CN" dirty="0">
                <a:effectLst/>
              </a:rPr>
              <a:t>80</a:t>
            </a:r>
            <a:r>
              <a:rPr lang="zh-CN" altLang="en-US" dirty="0">
                <a:effectLst/>
              </a:rPr>
              <a:t>万。巨大差异提醒我们必须回头重新审查：是不是漏算了某些功能（范围问题）？或者这个项目的生产率不能套用历史平均值（数据问题）？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582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接下来，我们学习几种具体的估算技术。首先是从“问题”本身出发的估算方法，它依赖于对软件规模的量化。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基于问题的估算，使用两种关键度量：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代码行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或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功能点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：用作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规模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的度量单位，来“丈量”软件的各个部分。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历史生产率数据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：从过去项目中收集的基线数据，用于将规模转化为成本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工作量。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在应用此方法前，有两个重要准备：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建立项目分类法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：将项目分类（如嵌入式系统、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Web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应用），因为不同类型项目生产率差异巨大。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考虑基础设施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：估算时必须包含开发支撑性“基础设施”软件的工作量。</a:t>
            </a:r>
          </a:p>
          <a:p>
            <a:r>
              <a:rPr lang="zh-CN" altLang="en-US" dirty="0">
                <a:effectLst/>
              </a:rPr>
              <a:t>这好比估算装修成本。</a:t>
            </a:r>
            <a:r>
              <a:rPr lang="en-US" altLang="zh-CN" dirty="0">
                <a:effectLst/>
              </a:rPr>
              <a:t>LOC/FP</a:t>
            </a:r>
            <a:r>
              <a:rPr lang="zh-CN" altLang="en-US" dirty="0">
                <a:effectLst/>
              </a:rPr>
              <a:t>就像测量房间的“面积”（规模），而历史生产率数据就像每平方米的“装修单价”。你不能用毛坯房的单价去估算精装房，这就是分类的重要性。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335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了解了基础概念后，我们来看基于问题的估算具体步骤。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具体步骤如下：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从明确的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软件范围陈述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开始。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将范围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分解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为可独立估算的若干功能。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为每个功能估算其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规模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应用对应的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历史生产率数据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推导出每个功能的成本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工作量。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将所有功能的估算值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合并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，得到项目总估算。</a:t>
            </a:r>
          </a:p>
          <a:p>
            <a:r>
              <a:rPr lang="zh-CN" altLang="en-US" dirty="0">
                <a:effectLst/>
              </a:rPr>
              <a:t>继续装修的例子：首先确定装修范围（全屋）。然后分解（客厅、卧室、厨房</a:t>
            </a:r>
            <a:r>
              <a:rPr lang="en-US" altLang="zh-CN" dirty="0">
                <a:effectLst/>
              </a:rPr>
              <a:t>…</a:t>
            </a:r>
            <a:r>
              <a:rPr lang="zh-CN" altLang="en-US" dirty="0">
                <a:effectLst/>
              </a:rPr>
              <a:t>）。接着估算每个房间的面积（</a:t>
            </a:r>
            <a:r>
              <a:rPr lang="en-US" altLang="zh-CN" dirty="0">
                <a:effectLst/>
              </a:rPr>
              <a:t>LOC/FP</a:t>
            </a:r>
            <a:r>
              <a:rPr lang="zh-CN" altLang="en-US" dirty="0">
                <a:effectLst/>
              </a:rPr>
              <a:t>）。再用已知的每平米装修成本（生产率）算出每个房间费用。最后加起来就是总预算。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983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现在，我们通过一个具体的表格示例，来看看如何使用代码行进行估算。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这个表格展示了一个假设项目的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LOC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左侧列出了各个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软件功能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表中估算了每个功能的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代码行数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，并进行了乐观、可能、悲观三种预估，然后通过公式计算期望值。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表格底部进行了汇总：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总期望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LOC = 33200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行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根据历史数据：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平均生产率：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620 LOC/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人力成本率：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$8000/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由此计算出：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估算工作量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33200 / 620 ≈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54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估算成本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54 * $8000 =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$431,000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每行代码成本 ≈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$13</a:t>
            </a:r>
          </a:p>
          <a:p>
            <a:r>
              <a:rPr lang="zh-CN" altLang="en-US" dirty="0">
                <a:effectLst/>
              </a:rPr>
              <a:t>这个表格清晰地展示了从“功能分解”到“规模估算”再到“成本转换”的全过程。注意，这里的生产率（</a:t>
            </a:r>
            <a:r>
              <a:rPr lang="en-US" altLang="zh-CN" dirty="0">
                <a:effectLst/>
              </a:rPr>
              <a:t>620 LOC/</a:t>
            </a:r>
            <a:r>
              <a:rPr lang="zh-CN" altLang="en-US" dirty="0">
                <a:effectLst/>
              </a:rPr>
              <a:t>人月）是一个关键历史参数，不同团队、不同项目类型这个值会不同。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910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现在，我们通过一个具体的表格示例，来看看如何使用代码行进行估算。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这个表格展示了一个假设项目的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LOC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左侧列出了各个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软件功能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表中估算了每个功能的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代码行数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，并进行了乐观、可能、悲观三种预估，然后通过公式计算期望值。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表格底部进行了汇总：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总期望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LOC = 33200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行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根据历史数据：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平均生产率：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620 LOC/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人力成本率：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$8000/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由此计算出：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估算工作量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33200 / 620 ≈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54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估算成本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54 * $8000 =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$431,000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每行代码成本 ≈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$13</a:t>
            </a:r>
          </a:p>
          <a:p>
            <a:r>
              <a:rPr lang="zh-CN" altLang="en-US" dirty="0">
                <a:effectLst/>
              </a:rPr>
              <a:t>这个表格清晰地展示了从“功能分解”到“规模估算”再到“成本转换”的全过程。注意，这里的生产率（</a:t>
            </a:r>
            <a:r>
              <a:rPr lang="en-US" altLang="zh-CN" dirty="0">
                <a:effectLst/>
              </a:rPr>
              <a:t>620 LOC/</a:t>
            </a:r>
            <a:r>
              <a:rPr lang="zh-CN" altLang="en-US" dirty="0">
                <a:effectLst/>
              </a:rPr>
              <a:t>人月）是一个关键历史参数，不同团队、不同项目类型这个值会不同。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64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LOC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估算对于早期设计不明确或非过程式语言的项目可能不适用。功能点估算提供了另一种从功能视角衡量规模的方法。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功能点估算关注软件的“信息域”：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外部输入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外部输出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内部逻辑文件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表格为每个功能项评估了其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复杂度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（简单、平均、复杂），并加权计算。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本例中，计算得到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未调整的功能点总数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= 320 FP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然后，需要考虑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个技术复杂度因子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8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个环境因子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对总数进行调整，最终得到调整后的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假设历史数据为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$1230/FP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，则：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估算成本 ≈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$461,000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估算工作量 ≈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58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</a:p>
          <a:p>
            <a:r>
              <a:rPr lang="zh-CN" altLang="en-US" dirty="0">
                <a:effectLst/>
              </a:rPr>
              <a:t>功能点估算更像从用户角度“数功能”，而不是从开发者角度“数代码行”。它更稳定，不受实现技术影响。调整因子就像“难度系数”，考虑了分布式处理、性能要求等对开发难度的提升。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916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LOC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估算对于早期设计不明确或非过程式语言的项目可能不适用。功能点估算提供了另一种从功能视角衡量规模的方法。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功能点估算关注软件的“信息域”：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外部输入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外部输出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内部逻辑文件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表格为每个功能项评估了其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复杂度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（简单、平均、复杂），并加权计算。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本例中，计算得到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未调整的功能点总数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= 320 FP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然后，需要考虑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个技术复杂度因子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8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个环境因子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对总数进行调整，最终得到调整后的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假设历史数据为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$1230/FP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，则：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估算成本 ≈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$461,000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估算工作量 ≈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58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</a:p>
          <a:p>
            <a:r>
              <a:rPr lang="zh-CN" altLang="en-US" dirty="0">
                <a:effectLst/>
              </a:rPr>
              <a:t>功能点估算更像从用户角度“数功能”，而不是从开发者角度“数代码行”。它更稳定，不受实现技术影响。调整因子就像“难度系数”，考虑了分布式处理、性能要求等对开发难度的提升。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12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除了基于产品规模估算，我们还可以基于开发过程活动来估算。这种方法将视角从“做什么”转移到“要经历哪些步骤”。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过程估算的步骤是：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从项目范围中列出所有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软件功能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为每个功能定义一套标准的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过程框架活动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创建一个矩阵，行是功能，列是过程活动（如沟通、计划、分析、设计、编码、测试等）。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估算每个功能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活动单元格所需的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工作量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将所有单元格的工作量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求和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，得到总工作量。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应用人力成本率，计算总成本。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根据示例矩阵的汇总：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总估算工作量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46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总估算成本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46 * $8000 =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$368,000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dirty="0">
                <a:effectLst/>
              </a:rPr>
              <a:t>这种方法非常细致，迫使规划者思考每个功能在每个开发阶段要花多少功夫。它特别适合过程成熟度较高的团队，能更准确地反映实际工作构成。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393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除了基于产品规模估算，我们还可以基于开发过程活动来估算。这种方法将视角从“做什么”转移到“要经历哪些步骤”。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过程估算的步骤是：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从项目范围中列出所有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软件功能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为每个功能定义一套标准的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过程框架活动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创建一个矩阵，行是功能，列是过程活动（如沟通、计划、分析、设计、编码、测试等）。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估算每个功能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活动单元格所需的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工作量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将所有单元格的工作量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求和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，得到总工作量。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应用人力成本率，计算总成本。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根据示例矩阵的汇总：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总估算工作量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46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总估算成本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46 * $8000 =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$368,000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dirty="0">
                <a:effectLst/>
              </a:rPr>
              <a:t>这种方法非常细致，迫使规划者思考每个功能在每个开发阶段要花多少功夫。它特别适合过程成熟度较高的团队，能更准确地反映实际工作构成。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647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在面向对象分析和用例驱动的开发中，用例点提供了一种与需求直接挂钩的估算方法。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用例点估算公式为：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UCP = (UUCW + UA) × TCF × ECF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其中：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UUCW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：未调整的用例权重总和（根据用例的复杂程度分类加权）。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UA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：未调整的参与者权重总和（根据参与者的复杂程度分类加权）。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TCF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：技术复杂度因子（由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13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个技术因素评分计算得出）。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ECF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：环境复杂度因子（由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个环境因素评分计算得出）。</a:t>
            </a:r>
          </a:p>
          <a:p>
            <a:r>
              <a:rPr lang="zh-CN" altLang="en-US" dirty="0">
                <a:effectLst/>
              </a:rPr>
              <a:t>简单理解：</a:t>
            </a:r>
            <a:r>
              <a:rPr lang="zh-CN" altLang="en-US" b="1" dirty="0">
                <a:effectLst/>
              </a:rPr>
              <a:t>（用例的复杂程度 </a:t>
            </a:r>
            <a:r>
              <a:rPr lang="en-US" altLang="zh-CN" b="1" dirty="0">
                <a:effectLst/>
              </a:rPr>
              <a:t>+ </a:t>
            </a:r>
            <a:r>
              <a:rPr lang="zh-CN" altLang="en-US" b="1" dirty="0">
                <a:effectLst/>
              </a:rPr>
              <a:t>参与者的复杂程度） </a:t>
            </a:r>
            <a:r>
              <a:rPr lang="en-US" altLang="zh-CN" b="1" dirty="0">
                <a:effectLst/>
              </a:rPr>
              <a:t>× </a:t>
            </a:r>
            <a:r>
              <a:rPr lang="zh-CN" altLang="en-US" b="1" dirty="0">
                <a:effectLst/>
              </a:rPr>
              <a:t>技术难度系数 </a:t>
            </a:r>
            <a:r>
              <a:rPr lang="en-US" altLang="zh-CN" b="1" dirty="0">
                <a:effectLst/>
              </a:rPr>
              <a:t>× </a:t>
            </a:r>
            <a:r>
              <a:rPr lang="zh-CN" altLang="en-US" b="1" dirty="0">
                <a:effectLst/>
              </a:rPr>
              <a:t>环境支持系数 </a:t>
            </a:r>
            <a:r>
              <a:rPr lang="en-US" altLang="zh-CN" b="1" dirty="0">
                <a:effectLst/>
              </a:rPr>
              <a:t>= </a:t>
            </a:r>
            <a:r>
              <a:rPr lang="zh-CN" altLang="en-US" b="1" dirty="0">
                <a:effectLst/>
              </a:rPr>
              <a:t>项目整体规模点数</a:t>
            </a:r>
            <a:r>
              <a:rPr lang="zh-CN" altLang="en-US" dirty="0">
                <a:effectLst/>
              </a:rPr>
              <a:t>。这是一种将需求文本直接量化为估算模型的实用技术。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694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我们通过一个具体例子来看看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UCP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是如何计算的。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示例项目包含两个子系统：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工程子系统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个平均复杂度用例，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个简单用例。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基础设施子系统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10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个简单用例。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参与者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个简单，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12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个平均，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个复杂。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计算过程：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UUCW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(16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个复杂用例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×15) + (14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个平均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×10) + (18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个简单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×5) =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470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*（注意：这里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16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个复杂用例是假设，原文为“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个平均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个简单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+10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个简单”，但计算中出现了“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16×15”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，可能是将某些用例归类为复杂。我们按原文公式结构理解即可）*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UA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(8×1) + (12×2) + (4×3) =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44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评估后，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TCF = 1.04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，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ECF = 0.96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UCP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(470 + 44) × 1.04 × 0.96 =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513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dirty="0">
                <a:effectLst/>
              </a:rPr>
              <a:t>这个例子展示了如何将需求文档中的用例和参与者列表，通过分类和加权，转化成一个代表项目规模的单一数字“</a:t>
            </a:r>
            <a:r>
              <a:rPr lang="en-US" altLang="zh-CN" dirty="0">
                <a:effectLst/>
              </a:rPr>
              <a:t>513</a:t>
            </a:r>
            <a:r>
              <a:rPr lang="zh-CN" altLang="en-US" dirty="0">
                <a:effectLst/>
              </a:rPr>
              <a:t>个用例点”。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675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得到了用例点数后，如何将其转化为我们熟悉的工作量和成本呢？这就需要借助历史生产率数据。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转化过程如下：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根据历史项目数据，团队的生产率是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85 LOC/UCP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因此，项目总规模估算为：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513 UCP × 85 LOC/UCP ≈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43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，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605 LOC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再次使用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LOC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估算中的历史数据：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生产率：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620 LOC/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成本率：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$8000/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计算：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估算工作量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43605 / 620 ≈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70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人月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估算成本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70 × $8000 =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$552,000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dirty="0">
                <a:effectLst/>
              </a:rPr>
              <a:t>这里展示了</a:t>
            </a:r>
            <a:r>
              <a:rPr lang="en-US" altLang="zh-CN" dirty="0">
                <a:effectLst/>
              </a:rPr>
              <a:t>UCP</a:t>
            </a:r>
            <a:r>
              <a:rPr lang="zh-CN" altLang="en-US" dirty="0">
                <a:effectLst/>
              </a:rPr>
              <a:t>如何作为“中介”：</a:t>
            </a:r>
            <a:r>
              <a:rPr lang="zh-CN" altLang="en-US" b="1" dirty="0">
                <a:effectLst/>
              </a:rPr>
              <a:t>需求 </a:t>
            </a:r>
            <a:r>
              <a:rPr lang="en-US" altLang="zh-CN" b="1" dirty="0">
                <a:effectLst/>
              </a:rPr>
              <a:t>-&gt; UCP -&gt; LOC -&gt; </a:t>
            </a:r>
            <a:r>
              <a:rPr lang="zh-CN" altLang="en-US" b="1" dirty="0">
                <a:effectLst/>
              </a:rPr>
              <a:t>工作量</a:t>
            </a:r>
            <a:r>
              <a:rPr lang="en-US" altLang="zh-CN" b="1" dirty="0">
                <a:effectLst/>
              </a:rPr>
              <a:t>/</a:t>
            </a:r>
            <a:r>
              <a:rPr lang="zh-CN" altLang="en-US" b="1" dirty="0">
                <a:effectLst/>
              </a:rPr>
              <a:t>成本</a:t>
            </a:r>
            <a:r>
              <a:rPr lang="zh-CN" altLang="en-US" dirty="0">
                <a:effectLst/>
              </a:rPr>
              <a:t>。它结合了面向对象的需求方法和传统的规模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生产率模型。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6114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在敏捷开发中，传统的详细前期估算不再适用。敏捷采用一种更灵活、渐进式的估算方式。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敏捷项目估算通常以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用户故事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为单位，有两种主要路径：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路径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A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（基于任务分解）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为每个用户故事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分解出具体开发任务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每个任务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进行估算（可用经验、历史数据或“计划扑克”游戏）。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将任务估算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累加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，得到该用户故事的工作量。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路径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B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（基于故事规模）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直接估算用户故事的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相对规模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（如故事点、理想人天），或转换为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LOC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利用团队的历史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速率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数据，将规模转化为工作量。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最后，将一个迭代或版本中所有用户故事的估算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汇总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，得到总体工作量。</a:t>
            </a:r>
          </a:p>
          <a:p>
            <a:r>
              <a:rPr lang="zh-CN" altLang="en-US" dirty="0">
                <a:effectLst/>
              </a:rPr>
              <a:t>敏捷估算的核心是</a:t>
            </a:r>
            <a:r>
              <a:rPr lang="zh-CN" altLang="en-US" b="1" dirty="0">
                <a:effectLst/>
              </a:rPr>
              <a:t>相对估算</a:t>
            </a:r>
            <a:r>
              <a:rPr lang="zh-CN" altLang="en-US" dirty="0">
                <a:effectLst/>
              </a:rPr>
              <a:t>和</a:t>
            </a:r>
            <a:r>
              <a:rPr lang="zh-CN" altLang="en-US" b="1" dirty="0">
                <a:effectLst/>
              </a:rPr>
              <a:t>团队共识</a:t>
            </a:r>
            <a:r>
              <a:rPr lang="zh-CN" altLang="en-US" dirty="0">
                <a:effectLst/>
              </a:rPr>
              <a:t>。例如，用“计划扑克”估算时，开发者们共同讨论一个故事的复杂性，并出牌表示其相对于一个基准故事的大小，而不是争论它具体要多少小时。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9871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学习了这么多估算和计划方法，但现实中项目延期依然常见。理解延期的常见原因，能帮助我们更好地规划和规避风险。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项目延期的主要原因包括：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不切实际的工期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：由团队外部强加，未考虑实际能力。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需求变更未反映在计划中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：“范围蔓延”吞噬时间。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低估工作量或资源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：过于乐观的估算。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未充分考虑风险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：无论可预见还是不可预见的。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未预料的技术难题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：技术选型或集成带来的挑战。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未预料的人员问题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：如离职、疾病、沟通不畅。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团队沟通失误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：导致返工或等待。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管理层未能及时发现进度偏差并采取措施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：“温水煮青蛙”。</a:t>
            </a:r>
          </a:p>
          <a:p>
            <a:r>
              <a:rPr lang="zh-CN" altLang="en-US" dirty="0">
                <a:effectLst/>
              </a:rPr>
              <a:t>这些原因很少单独出现，通常是多个因素交织。例如，一个强加的不合理工期（原因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），导致团队压缩了风险分析时间（原因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），结果遇到技术难题（原因</a:t>
            </a:r>
            <a:r>
              <a:rPr lang="en-US" altLang="zh-CN" dirty="0">
                <a:effectLst/>
              </a:rPr>
              <a:t>5</a:t>
            </a:r>
            <a:r>
              <a:rPr lang="zh-CN" altLang="en-US" dirty="0">
                <a:effectLst/>
              </a:rPr>
              <a:t>）时毫无准备，最终导致严重延期。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9648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为了避免延期，我们需要遵循科学的进度安排原则。这些原则是制定可靠时间表的基础。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制定进度计划应遵循七条原则：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分而治之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：将项目和过程分解为可管理的小任务。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识别依赖关系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：明确任务之间的先后顺序和关联。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分配时间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：为每个任务分配工作单元和起止日期。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验证工作量分配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：确保在任一时刻投入的人数不会超负荷（避免“人月神话”）。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明确责任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：每个任务必须指定明确的负责人。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定义明确产出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：每个任务都应有清晰、可验证的交付成果。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关联里程碑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：每个任务都应对应一个项目关键里程碑，便于跟踪。</a:t>
            </a:r>
          </a:p>
          <a:p>
            <a:r>
              <a:rPr lang="zh-CN" altLang="en-US" dirty="0">
                <a:effectLst/>
              </a:rPr>
              <a:t>这就像组装一个复杂模型。你先看说明书分解步骤（原则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），知道必须按</a:t>
            </a:r>
            <a:r>
              <a:rPr lang="en-US" altLang="zh-CN" dirty="0">
                <a:effectLst/>
              </a:rPr>
              <a:t>A-B-C</a:t>
            </a:r>
            <a:r>
              <a:rPr lang="zh-CN" altLang="en-US" dirty="0">
                <a:effectLst/>
              </a:rPr>
              <a:t>顺序装（原则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），估算每一步时间（原则</a:t>
            </a:r>
            <a:r>
              <a:rPr lang="en-US" altLang="zh-CN" dirty="0">
                <a:effectLst/>
              </a:rPr>
              <a:t>3</a:t>
            </a:r>
            <a:r>
              <a:rPr lang="zh-CN" altLang="en-US" dirty="0">
                <a:effectLst/>
              </a:rPr>
              <a:t>），确保不会让太多人挤在一起装同一个零件（原则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），明确谁来装（原则</a:t>
            </a:r>
            <a:r>
              <a:rPr lang="en-US" altLang="zh-CN" dirty="0">
                <a:effectLst/>
              </a:rPr>
              <a:t>5</a:t>
            </a:r>
            <a:r>
              <a:rPr lang="zh-CN" altLang="en-US" dirty="0">
                <a:effectLst/>
              </a:rPr>
              <a:t>），每一步装完都有个可检查的结果（原则</a:t>
            </a:r>
            <a:r>
              <a:rPr lang="en-US" altLang="zh-CN" dirty="0">
                <a:effectLst/>
              </a:rPr>
              <a:t>6</a:t>
            </a:r>
            <a:r>
              <a:rPr lang="zh-CN" altLang="en-US" dirty="0">
                <a:effectLst/>
              </a:rPr>
              <a:t>），并且完成几个关键步骤（如完成底盘、完成外壳）就算一个阶段性胜利（原则</a:t>
            </a:r>
            <a:r>
              <a:rPr lang="en-US" altLang="zh-CN" dirty="0">
                <a:effectLst/>
              </a:rPr>
              <a:t>7</a:t>
            </a:r>
            <a:r>
              <a:rPr lang="zh-CN" altLang="en-US" dirty="0">
                <a:effectLst/>
              </a:rPr>
              <a:t>）。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0144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一个经典的问题是：如果我们想提前交付日期，是多加人就能解决的吗？这张图揭示了工作量与交付日期之间的非线性关系。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图中的曲线（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Putnam-Norden-Rayleigh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曲线）表明：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存在一个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理论上的最优开发时间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，此时总成本最低。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如果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强行压缩工期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到最优时间之前，所需的工作量（及成本）会急剧增加，因为并行工作带来的沟通、协调开销剧增。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图中左侧的“不可能区域”意味着，无论投入多少资源，工期都无法被无限压缩，存在一个物理极限。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公式 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Ea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 ∝ 1/ (Td^4 / Ta^4)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量化了这种关系，显示时间微小的压缩会导致工作量成四次方增长。</a:t>
            </a:r>
          </a:p>
          <a:p>
            <a:r>
              <a:rPr lang="zh-CN" altLang="en-US" dirty="0">
                <a:effectLst/>
              </a:rPr>
              <a:t>这个模型告诉我们“欲速则不达”。就像怀孕生宝宝，不可能通过增加孕妇人数来将十月怀胎缩短到一个月。软件开发也有其内在的、无法通过单纯堆人消除的“孕育”时间。盲目赶工往往导致成本飙升和质量下降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6638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对于一些创新型或技术风险极高的项目，在正式开发前，需要一个“概念开发”阶段来降低不确定性。这是一个探索和验证的迷你周期。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概念开发任务集包括六个步骤：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概念界定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：确定项目的核心想法和边界。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初步概念规划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：评估组织是否有能力承接。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技术风险评估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：识别并评估拟用技术的风险。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概念验证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：通过小型实验或原型，验证关键技术的可行性。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概念实现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：建立一个可演示的原型，用于向客户或管理层“推销”这个概念。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收集客户反馈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：获取目标用户对概念原型的反应，指导后续方向。</a:t>
            </a:r>
          </a:p>
          <a:p>
            <a:r>
              <a:rPr lang="zh-CN" altLang="en-US" dirty="0">
                <a:effectLst/>
              </a:rPr>
              <a:t>这相当于产品开发的“第</a:t>
            </a:r>
            <a:r>
              <a:rPr lang="en-US" altLang="zh-CN" dirty="0">
                <a:effectLst/>
              </a:rPr>
              <a:t>0</a:t>
            </a:r>
            <a:r>
              <a:rPr lang="zh-CN" altLang="en-US" dirty="0">
                <a:effectLst/>
              </a:rPr>
              <a:t>阶段”。比如，公司想做一个基于脑机接口的新游戏。概念开发阶段就是先小范围验证：我们能不能读取到稳定的脑电信号？（概念验证），然后做个非常粗糙但能演示“用意念移动小球”的原型（概念实现），拿给潜在玩家看他们是否感兴趣（客户反馈），再决定是否投入巨资正式开发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6405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我们以“概念界定”这个任务为例，看看一个高层任务是如何被细化为一系列具体、可操作的动作的。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任务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1.1“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概念界定”被细化为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个子任务：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1.1.1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识别需求、益处和潜在客户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：做市场初步调研。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1.1.2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定义期望的输出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控制和驱动应用的输入事件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：这里又嵌套了更细的审查和推导步骤。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1.1.3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定义每个主要功能的功能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行为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：同样包含审查和建模的嵌套步骤。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1.1.4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分离出需用软件实现的技术要素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：明确软件的工作边界。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1.1.5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调研现有软件的可用性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：避免重复造轮子。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1.1.6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定义技术可行性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：得出结论。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1.1.7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快速估算规模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：形成初步量化概念。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1.1.8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创建范围定义文档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：产出最终交付物。</a:t>
            </a:r>
          </a:p>
          <a:p>
            <a:r>
              <a:rPr lang="zh-CN" altLang="en-US" dirty="0">
                <a:effectLst/>
              </a:rPr>
              <a:t>这个细化过程体现了软件工程“分解”和“逐步求精”的思想。它确保了一个模糊的“概念”被逐步转化为清晰、可评估的“范围定义”。嵌套的</a:t>
            </a:r>
            <a:r>
              <a:rPr lang="en-US" altLang="zh-CN" b="1" dirty="0">
                <a:effectLst/>
              </a:rPr>
              <a:t>FTR</a:t>
            </a:r>
            <a:r>
              <a:rPr lang="zh-CN" altLang="en-US" dirty="0">
                <a:effectLst/>
              </a:rPr>
              <a:t>代表</a:t>
            </a:r>
            <a:r>
              <a:rPr lang="zh-CN" altLang="en-US" b="1" dirty="0">
                <a:effectLst/>
              </a:rPr>
              <a:t>正式技术评审</a:t>
            </a:r>
            <a:r>
              <a:rPr lang="zh-CN" altLang="en-US" dirty="0">
                <a:effectLst/>
              </a:rPr>
              <a:t>，是关键的质量保证活动。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5228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将分解后的所有任务，按照它们之间的依赖关系排列起来，就形成了任务网络图，也称为活动网络或前导图。它是制定进度计划的关键输入。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这张网络图展示了概念开发阶段各任务间的逻辑关系：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任务以节点表示，箭头表示依赖关系。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例如：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1.1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（概念界定）是起点。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1.2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（概念规划）可能在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1.1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部分完成后就可以开始。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1.3a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（技术风险评估的几个子项）可以并行开展。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（概念验证）依赖于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1.3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风险评估的结果。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1.5a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（针对不同概念功能的实现）可以并行。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之后需要进行集成（‘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integrate a b c’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），然后才能进行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1.6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（收集客户反应）。</a:t>
            </a:r>
          </a:p>
          <a:p>
            <a:r>
              <a:rPr lang="zh-CN" altLang="en-US" dirty="0">
                <a:effectLst/>
              </a:rPr>
              <a:t>这个图直观地告诉我们哪些活可以一起干（并行），哪些必须等前面的干完才能开始（串行）。它是找出</a:t>
            </a:r>
            <a:r>
              <a:rPr lang="zh-CN" altLang="en-US" b="1" dirty="0">
                <a:effectLst/>
              </a:rPr>
              <a:t>关键路径</a:t>
            </a:r>
            <a:r>
              <a:rPr lang="en-US" altLang="zh-CN" dirty="0">
                <a:effectLst/>
              </a:rPr>
              <a:t>——</a:t>
            </a:r>
            <a:r>
              <a:rPr lang="zh-CN" altLang="en-US" dirty="0">
                <a:effectLst/>
              </a:rPr>
              <a:t>即决定项目最短工期的任务序列</a:t>
            </a:r>
            <a:r>
              <a:rPr lang="en-US" altLang="zh-CN" dirty="0">
                <a:effectLst/>
              </a:rPr>
              <a:t>——</a:t>
            </a:r>
            <a:r>
              <a:rPr lang="zh-CN" altLang="en-US" dirty="0">
                <a:effectLst/>
              </a:rPr>
              <a:t>的基础。项目经理根据它来优化资源分配。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0653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任务网络图定义了逻辑关系，而甘特图则将这些任务在时间轴上铺开，直观地展示每个任务的起止时间、持续时间和重叠情况，是项目沟通和跟踪最常用的工具。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甘特图包含以下要素：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水平时间轴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：表示项目的日历时间。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横向条形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：每个条形代表一个任务，条形的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长度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对应任务的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持续时间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，条形的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位置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对应其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开始和结束日期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依赖关系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：通常用箭头连接条形，显示任务先后顺序。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里程碑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：用菱形等符号标记在时间轴上，表示关键事件（如评审完成、版本发布）。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资源分配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：高级的甘特图还可以在条形上标注负责人。</a:t>
            </a:r>
          </a:p>
          <a:p>
            <a:r>
              <a:rPr lang="zh-CN" altLang="en-US" dirty="0">
                <a:effectLst/>
              </a:rPr>
              <a:t>甘特图就像项目的“日程表”或“施工进度图”。它让项目经理和团队成员一目了然地看到：下周我该做什么？那个功能开发什么时候开始？测试阶段和开发阶段重叠了多久？它是跟踪项目是否“按图施工”的基准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6706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有了计划（甘特图），在项目执行过程中就需要定期追踪实际进展。项目跟踪表是一种简单有效的工具，用于记录计划与实际的差异。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项目跟踪表通常包含以下列：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工作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：任务描述。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计划开始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完成日期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：来自基准计划。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实际开始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完成日期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：实际发生日期。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负责人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：任务指派给谁。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分配工作量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：计划投入的人天或人时。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备注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：记录偏差原因、遇到的问题等。</a:t>
            </a:r>
          </a:p>
          <a:p>
            <a:r>
              <a:rPr lang="zh-CN" altLang="en-US" dirty="0">
                <a:effectLst/>
              </a:rPr>
              <a:t>这张表是项目的“健康记录卡”。通过对比“计划”和“实际”两列，可以迅速发现哪些任务延期了（实际完成晚于计划），哪些提前了。备注栏用于记录“诊断结果”，例如“因等待第三方接口文档延误</a:t>
            </a:r>
            <a:r>
              <a:rPr lang="en-US" altLang="zh-CN" dirty="0">
                <a:effectLst/>
              </a:rPr>
              <a:t>3</a:t>
            </a:r>
            <a:r>
              <a:rPr lang="zh-CN" altLang="en-US" dirty="0">
                <a:effectLst/>
              </a:rPr>
              <a:t>天”。定期更新和审查此表，是控制项目进度的核心工作。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3227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最后，我们总结一下跟踪项目进度的具体方法。跟踪不是为了问责，而是为了及早发现问题，及时纠偏。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有效的进度跟踪方法包括：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定期项目状态会议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：团队成员汇报进展和问题。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评审结果评估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：分析所有技术评审中暴露出的问题和工作量影响。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里程碑检查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：确认计划的关键里程碑是否按期达成。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对比任务起止日期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：使用项目跟踪表，对比计划与实际日期。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非正式沟通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：与开发人员私下交流，获取对进度和潜在问题的直观感受。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跟踪项目速率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：这是敏捷方法中的关键指标，衡量团队每个迭代能完成多少故事点，用于预测未来进度。</a:t>
            </a:r>
          </a:p>
          <a:p>
            <a:r>
              <a:rPr lang="zh-CN" altLang="en-US" dirty="0">
                <a:effectLst/>
              </a:rPr>
              <a:t>跟踪应该是</a:t>
            </a:r>
            <a:r>
              <a:rPr lang="zh-CN" altLang="en-US" b="1" dirty="0">
                <a:effectLst/>
              </a:rPr>
              <a:t>持续</a:t>
            </a:r>
            <a:r>
              <a:rPr lang="zh-CN" altLang="en-US" dirty="0">
                <a:effectLst/>
              </a:rPr>
              <a:t>和</a:t>
            </a:r>
            <a:r>
              <a:rPr lang="zh-CN" altLang="en-US" b="1" dirty="0">
                <a:effectLst/>
              </a:rPr>
              <a:t>多维度</a:t>
            </a:r>
            <a:r>
              <a:rPr lang="zh-CN" altLang="en-US" dirty="0">
                <a:effectLst/>
              </a:rPr>
              <a:t>的。正式的会议和表格提供硬数据，非正式的聊天能发现表格上看不到的风险（比如团队士气低落）。在敏捷中，“速率”是一个强大的预测工具：如果团队过去三个迭代的平均速率是</a:t>
            </a:r>
            <a:r>
              <a:rPr lang="en-US" altLang="zh-CN" dirty="0">
                <a:effectLst/>
              </a:rPr>
              <a:t>30</a:t>
            </a:r>
            <a:r>
              <a:rPr lang="zh-CN" altLang="en-US" dirty="0">
                <a:effectLst/>
              </a:rPr>
              <a:t>点，那么一个有</a:t>
            </a:r>
            <a:r>
              <a:rPr lang="en-US" altLang="zh-CN" dirty="0">
                <a:effectLst/>
              </a:rPr>
              <a:t>90</a:t>
            </a:r>
            <a:r>
              <a:rPr lang="zh-CN" altLang="en-US" dirty="0">
                <a:effectLst/>
              </a:rPr>
              <a:t>点故事的版本，大概需要</a:t>
            </a:r>
            <a:r>
              <a:rPr lang="en-US" altLang="zh-CN" dirty="0">
                <a:effectLst/>
              </a:rPr>
              <a:t>3</a:t>
            </a:r>
            <a:r>
              <a:rPr lang="zh-CN" altLang="en-US" dirty="0">
                <a:effectLst/>
              </a:rPr>
              <a:t>个迭代完成。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4750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至此，我们已经系统地学习了软件项目规划的核心内容，从估算挑战、范围定义，到多种估算技术，再到进度制定、跟踪与调整，形成了一个完整的知识闭环。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内容解释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】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本章内容总结：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核心目标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：创建一份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可行的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软件计划。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关键挑战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：在不确定性中做出可靠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估算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方法论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：结合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分解技术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历史数据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和多种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估算模型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规划产出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：明确的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范围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可行性分析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资源计划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进度表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保障手段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：遵循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调度原则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，进行持续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进度跟踪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r>
              <a:rPr lang="zh-CN" altLang="en-US" dirty="0">
                <a:effectLst/>
              </a:rPr>
              <a:t>记住，</a:t>
            </a:r>
            <a:r>
              <a:rPr lang="zh-CN" altLang="en-US" b="1" dirty="0">
                <a:effectLst/>
              </a:rPr>
              <a:t>计划不是刻在石头上的</a:t>
            </a:r>
            <a:r>
              <a:rPr lang="zh-CN" altLang="en-US" dirty="0">
                <a:effectLst/>
              </a:rPr>
              <a:t>。最好的计划是那些被积极使用、并根据项目实际情况和学到的新知识而不断调整的计划。规划的能力，是软件工程师和项目经理从“被动执行”走向“主动驾驭”项目的重要标志。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BD65E-B991-447B-A2B0-75883EC92AD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789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McGraw-Hill Education.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McGraw-Hill Education.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McGraw-Hill Education.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McGraw-Hill Education.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/>
            </a:lvl1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 descr="McGraw-Hill Education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McGraw-Hill Education.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McGraw-Hill Education.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 descr="McGraw-Hill Education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®</a:t>
            </a:r>
            <a:endParaRPr lang="en-US" sz="1600" spc="40" baseline="60000" dirty="0"/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© McGraw Hill</a:t>
            </a:r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C2E4AF62-4201-4F5D-966F-4A59CD13C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© McGraw Hill</a:t>
            </a:r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C2E4AF62-4201-4F5D-966F-4A59CD13C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lang="en-US" sz="800" smtClean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© McGraw Hill</a:t>
            </a:r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C2E4AF62-4201-4F5D-966F-4A59CD13C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3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3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14C897A-4409-4F96-826A-7AE9F12819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25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9DC5F79-D657-4B2E-8FAB-C143E56189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Viable Software Plan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9F268B-4D44-410E-9686-AEB4FDBAB4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Four – Managing Software Projects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5BF32-B42F-470F-B1EE-DD2931D140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9"/>
            <a:ext cx="9144000" cy="379562"/>
          </a:xfrm>
        </p:spPr>
        <p:txBody>
          <a:bodyPr/>
          <a:lstStyle/>
          <a:p>
            <a:pPr defTabSz="457200">
              <a:spcBef>
                <a:spcPct val="20000"/>
              </a:spcBef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 2020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reproduction or further distribution permitted without the prior written consent of McGraw Hill.</a:t>
            </a:r>
          </a:p>
        </p:txBody>
      </p:sp>
      <p:pic>
        <p:nvPicPr>
          <p:cNvPr id="4" name="Picture Placeholder 3" descr="Software Engineering-A Practitioner's Approach, Ninth edition by Roger S. Pressman and Bruce R. Maxim">
            <a:extLst>
              <a:ext uri="{FF2B5EF4-FFF2-40B4-BE49-F238E27FC236}">
                <a16:creationId xmlns:a16="http://schemas.microsoft.com/office/drawing/2014/main" id="{F931430B-C7B5-4B32-83F1-F94512FA590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2" b="2502"/>
          <a:stretch>
            <a:fillRect/>
          </a:stretch>
        </p:blipFill>
        <p:spPr>
          <a:xfrm>
            <a:off x="4438835" y="1175021"/>
            <a:ext cx="4229100" cy="4976453"/>
          </a:xfrm>
        </p:spPr>
      </p:pic>
    </p:spTree>
    <p:extLst>
      <p:ext uri="{BB962C8B-B14F-4D97-AF65-F5344CB8AC3E}">
        <p14:creationId xmlns:p14="http://schemas.microsoft.com/office/powerpoint/2010/main" val="17082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Estimation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051133"/>
            <a:ext cx="8458200" cy="275174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300"/>
              </a:spcBef>
            </a:pPr>
            <a:r>
              <a:rPr lang="en-US" alt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Estimation of resources, cost, and schedule for a software engineering effort requires: 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to good historical information (metrics).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courage to commit to quantitative predictions when qualitative information is all that exists.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342900" y="3844963"/>
            <a:ext cx="8458200" cy="2043089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alt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Estimation carries inherent risk and this risk leads to uncertainty: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complexity.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size (makes decomposition tougher).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Degree of structural uncertainty (requirements stability).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14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Task Set </a:t>
            </a:r>
            <a:r>
              <a:rPr lang="en-US" sz="1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071607"/>
            <a:ext cx="8458200" cy="1594681"/>
          </a:xfrm>
        </p:spPr>
        <p:txBody>
          <a:bodyPr vert="horz" lIns="91440" tIns="45720" rIns="91440" bIns="45720" rtlCol="0">
            <a:noAutofit/>
          </a:bodyPr>
          <a:lstStyle/>
          <a:p>
            <a:pPr marL="403200" indent="-403200">
              <a:buFont typeface="+mj-lt"/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project scope.</a:t>
            </a:r>
          </a:p>
          <a:p>
            <a:pPr marL="403200" indent="-403200">
              <a:buFont typeface="+mj-lt"/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feasibility. </a:t>
            </a:r>
          </a:p>
          <a:p>
            <a:pPr marL="403200" indent="-403200">
              <a:buFont typeface="+mj-lt"/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risks (Chapter 26). </a:t>
            </a:r>
          </a:p>
          <a:p>
            <a:pPr marL="403200" indent="-403200">
              <a:buFont typeface="+mj-lt"/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required resources.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342900" y="2710859"/>
            <a:ext cx="8458200" cy="1414366"/>
          </a:xfrm>
        </p:spPr>
        <p:txBody>
          <a:bodyPr>
            <a:normAutofit/>
          </a:bodyPr>
          <a:lstStyle/>
          <a:p>
            <a:pPr marL="358775" lvl="3" indent="0">
              <a:buNone/>
            </a:pP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Determine required human resources.</a:t>
            </a:r>
          </a:p>
          <a:p>
            <a:pPr marL="358775" lvl="3" indent="0">
              <a:buNone/>
            </a:pP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Define reusable software resources.</a:t>
            </a:r>
          </a:p>
          <a:p>
            <a:pPr marL="358775" lvl="3" indent="0">
              <a:buNone/>
            </a:pP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Identify environmental resources.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342900" y="4174268"/>
            <a:ext cx="8458200" cy="414823"/>
          </a:xfrm>
        </p:spPr>
        <p:txBody>
          <a:bodyPr>
            <a:normAutofit/>
          </a:bodyPr>
          <a:lstStyle/>
          <a:p>
            <a:pPr marL="403200" indent="-403200">
              <a:buFont typeface="+mj-lt"/>
              <a:buAutoNum type="arabicPeriod" startAt="5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cost and effort.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42900" y="4638134"/>
            <a:ext cx="8458200" cy="1571531"/>
          </a:xfrm>
        </p:spPr>
        <p:txBody>
          <a:bodyPr>
            <a:normAutofit/>
          </a:bodyPr>
          <a:lstStyle/>
          <a:p>
            <a:pPr marL="358775" lvl="3" indent="0">
              <a:buNone/>
            </a:pP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Decompose the problem.</a:t>
            </a:r>
          </a:p>
          <a:p>
            <a:pPr marL="358775" lvl="3" indent="0">
              <a:buNone/>
            </a:pP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Develop two or more estimates.</a:t>
            </a:r>
          </a:p>
          <a:p>
            <a:pPr marL="358775" lvl="3" indent="0">
              <a:buNone/>
            </a:pP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Reconcile the estimates</a:t>
            </a:r>
            <a:r>
              <a:rPr lang="en-US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232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Task Set </a:t>
            </a:r>
            <a:r>
              <a:rPr lang="en-US" sz="1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085316"/>
            <a:ext cx="8458200" cy="470019"/>
          </a:xfrm>
        </p:spPr>
        <p:txBody>
          <a:bodyPr vert="horz" lIns="91440" tIns="45720" rIns="91440" bIns="45720" rtlCol="0">
            <a:noAutofit/>
          </a:bodyPr>
          <a:lstStyle/>
          <a:p>
            <a:pPr marL="403200" indent="-403200">
              <a:buFont typeface="+mj-lt"/>
              <a:buAutoNum type="arabicPeriod" startAt="6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initial project schedule.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342900" y="1597417"/>
            <a:ext cx="8458200" cy="1974723"/>
          </a:xfrm>
        </p:spPr>
        <p:txBody>
          <a:bodyPr>
            <a:normAutofit/>
          </a:bodyPr>
          <a:lstStyle/>
          <a:p>
            <a:pPr lvl="1" indent="0">
              <a:buNone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Establish a meaningful task set.</a:t>
            </a:r>
          </a:p>
          <a:p>
            <a:pPr lvl="1" indent="0">
              <a:buNone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Define a task network.</a:t>
            </a:r>
          </a:p>
          <a:p>
            <a:pPr lvl="1" indent="0">
              <a:buNone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Use scheduling tools to develop a time-line chart.</a:t>
            </a:r>
          </a:p>
          <a:p>
            <a:pPr lvl="1" indent="0">
              <a:buNone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Define schedule tracking mechanisms. 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342900" y="3614222"/>
            <a:ext cx="8458200" cy="744133"/>
          </a:xfrm>
        </p:spPr>
        <p:txBody>
          <a:bodyPr>
            <a:normAutofit/>
          </a:bodyPr>
          <a:lstStyle/>
          <a:p>
            <a:pPr marL="403200" indent="-403200">
              <a:buFont typeface="+mj-lt"/>
              <a:buAutoNum type="arabicPeriod" startAt="7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1 to 6 to create a detailed schedule for each prototype as the scope of each prototype is defined.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88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Scope?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051133"/>
            <a:ext cx="8458200" cy="221119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300"/>
              </a:spcBef>
            </a:pPr>
            <a:r>
              <a:rPr lang="en-US" altLang="en-US" sz="2400" i="1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scope</a:t>
            </a:r>
            <a:r>
              <a:rPr lang="en-US" alt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describes </a:t>
            </a:r>
          </a:p>
          <a:p>
            <a:pPr marL="291600" lvl="2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and features to be delivered to end-users.</a:t>
            </a:r>
          </a:p>
          <a:p>
            <a:pPr marL="291600" lvl="2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input and output.</a:t>
            </a:r>
          </a:p>
          <a:p>
            <a:pPr marL="291600" lvl="2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presented to users of using the software.</a:t>
            </a:r>
          </a:p>
          <a:p>
            <a:pPr marL="291600" lvl="2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constraints, interfaces, and reliability that </a:t>
            </a:r>
            <a:r>
              <a:rPr lang="en-US" altLang="en-US" sz="2000" i="1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r>
              <a:rPr lang="en-US" altLang="en-US" sz="20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system.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342900" y="3397707"/>
            <a:ext cx="8458200" cy="1771786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alt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is defined using one of two techniques:</a:t>
            </a:r>
          </a:p>
          <a:p>
            <a:pPr marL="291600" lvl="2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narrative description of software scope is developed after communication with all stakeholders.</a:t>
            </a:r>
          </a:p>
          <a:p>
            <a:pPr marL="291600" lvl="2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 of use-cases is developed by end-users.</a:t>
            </a:r>
            <a:endParaRPr lang="en-US" sz="1600" noProof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26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Feasibility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059268"/>
            <a:ext cx="8458200" cy="4460453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scope has been identified (with the concurrence of the customer), it is reasonable to ask:</a:t>
            </a:r>
          </a:p>
          <a:p>
            <a:pPr marL="291600" indent="-291600"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build software to meet this scope? </a:t>
            </a:r>
          </a:p>
          <a:p>
            <a:pPr marL="291600" indent="-291600"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project feasible? </a:t>
            </a:r>
          </a:p>
          <a:p>
            <a:pPr marL="291600" indent="-291600"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must try to determine if the system can be created using available technology, dollars, time, and other resources. </a:t>
            </a:r>
          </a:p>
          <a:p>
            <a:pPr marL="291600" indent="-291600"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 of business need is important too - it does no good to build a high-tech system or product that no one wants.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85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Resources</a:t>
            </a:r>
          </a:p>
        </p:txBody>
      </p:sp>
      <p:pic>
        <p:nvPicPr>
          <p:cNvPr id="4" name="Picture 3" descr="The diagram shows project resources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182" y="1231062"/>
            <a:ext cx="4779636" cy="4771899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2969D9-AE7A-43AF-A580-6EB7DBE5B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3940" y="6324599"/>
            <a:ext cx="2937232" cy="221479"/>
          </a:xfrm>
        </p:spPr>
        <p:txBody>
          <a:bodyPr/>
          <a:lstStyle/>
          <a:p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Access the text alternative for slide images.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41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Estimation Accuracy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067814"/>
            <a:ext cx="8191500" cy="4460453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reliable cost and effort estimates several options arise: </a:t>
            </a:r>
          </a:p>
          <a:p>
            <a:pPr marL="403200" indent="-40320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estimation until late in the project (we can achieve 100 percent accurate estimates after the project is complete!). </a:t>
            </a:r>
          </a:p>
          <a:p>
            <a:pPr marL="403200" indent="-40320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estimates on similar projects that have already been completed (works great if you have completed similar projects).</a:t>
            </a:r>
          </a:p>
          <a:p>
            <a:pPr marL="403200" indent="-40320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relatively simple decomposition techniques to generate project cost and effort estimates (similar to divide and conquer). </a:t>
            </a:r>
          </a:p>
          <a:p>
            <a:pPr marL="403200" indent="-40320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one or more empirical models for software cost and effort estimation (often derived using statistical regression models).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26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Reconciling Estimates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067814"/>
            <a:ext cx="8191500" cy="4460453"/>
          </a:xfrm>
        </p:spPr>
        <p:txBody>
          <a:bodyPr vert="horz" lIns="91440" tIns="45720" rIns="91440" bIns="45720" rtlCol="0"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estimation technique must be checked by computing at least one other estimate using a different approach.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have created multiple estimates they need to be compared and reconciled.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both estimates show agreement, there is good reason to believe that the estimates are reliable.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divergent estimates can often be traced to one of two causes: </a:t>
            </a:r>
          </a:p>
          <a:p>
            <a:pPr marL="622800" lvl="1" indent="-32040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scope of the project is not adequately understood or has been misinterpreted by the planner.</a:t>
            </a:r>
          </a:p>
          <a:p>
            <a:pPr marL="622800" lvl="1" indent="-32040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data used for problem-based estimation techniques is inappropriate for the application or has been misapplied.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233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Problem-Based Estimation </a:t>
            </a:r>
            <a:r>
              <a:rPr lang="en-US" sz="1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080152"/>
            <a:ext cx="8458200" cy="2158703"/>
          </a:xfrm>
        </p:spPr>
        <p:txBody>
          <a:bodyPr vert="horz" lIns="91440" tIns="45720" rIns="91440" bIns="45720" rtlCol="0"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and F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data are used in two ways during software project estimation: </a:t>
            </a:r>
          </a:p>
          <a:p>
            <a:pPr marL="622800" lvl="1" indent="-32040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estimation variables to “size” each element of the software</a:t>
            </a:r>
          </a:p>
          <a:p>
            <a:pPr marL="622800" lvl="1" indent="-32040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baseline metrics collected from past projects and used with other variable to develop cost and effort projections.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342900" y="3264493"/>
            <a:ext cx="8458200" cy="1803164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collecting productivity metrics for projects, be sure to establish a taxonomy of project types. 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sure that your estimates include the effort required to develop “infrastructure” software.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01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Problem-Based Estimation </a:t>
            </a:r>
            <a:r>
              <a:rPr lang="en-US" sz="1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059268"/>
            <a:ext cx="8458200" cy="4460453"/>
          </a:xfrm>
        </p:spPr>
        <p:txBody>
          <a:bodyPr vert="horz" lIns="91440" tIns="45720" rIns="91440" bIns="45720" rtlCol="0"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with a bounded statement of software scope. 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 the statement of scope into problem functions that can each be estimated individually. 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or F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is then estimated for each function. 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productivity metrics (For example, L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C/pm or F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P/pm) are then applied to the appropriate estimation variable.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Cost/effort for the function is derived using historic data. 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estimates are combined to produce an overall estimate for the entire project.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486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C-Based Estimation Table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92269"/>
          </a:xfrm>
        </p:spPr>
        <p:txBody>
          <a:bodyPr>
            <a:no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Copyright © McGraw-Hill Education. All rights reserved. No reproduction or distribution without the prior written consent of McGraw-Hill Education.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022173"/>
              </p:ext>
            </p:extLst>
          </p:nvPr>
        </p:nvGraphicFramePr>
        <p:xfrm>
          <a:off x="922946" y="1952478"/>
          <a:ext cx="664577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4728">
                  <a:extLst>
                    <a:ext uri="{9D8B030D-6E8A-4147-A177-3AD203B41FA5}">
                      <a16:colId xmlns:a16="http://schemas.microsoft.com/office/drawing/2014/main" val="68684721"/>
                    </a:ext>
                  </a:extLst>
                </a:gridCol>
                <a:gridCol w="2031050">
                  <a:extLst>
                    <a:ext uri="{9D8B030D-6E8A-4147-A177-3AD203B41FA5}">
                      <a16:colId xmlns:a16="http://schemas.microsoft.com/office/drawing/2014/main" val="3487428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L</a:t>
                      </a:r>
                      <a:r>
                        <a:rPr lang="en-US" sz="1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sz="1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7865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User-interface and control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facilities (U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F)</a:t>
                      </a:r>
                      <a:endParaRPr lang="en-US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535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Two-Dimensional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geometric analysis (2D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A)</a:t>
                      </a:r>
                      <a:endParaRPr lang="en-US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9429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Three-Dimensional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geometric analysis (3D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A)</a:t>
                      </a:r>
                      <a:endParaRPr lang="en-US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6,800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03522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management (D</a:t>
                      </a:r>
                      <a:r>
                        <a:rPr lang="en-US" sz="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3,350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60214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graphics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display facilities (G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F)</a:t>
                      </a:r>
                      <a:endParaRPr lang="en-US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4,950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2251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Peripheral control function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F)</a:t>
                      </a:r>
                      <a:endParaRPr lang="en-US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1558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analysis modules (D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00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M)</a:t>
                      </a:r>
                      <a:endParaRPr lang="en-US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66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lines</a:t>
                      </a:r>
                      <a:r>
                        <a:rPr lang="en-US" i="1" baseline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code</a:t>
                      </a:r>
                      <a:endParaRPr lang="en-US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33,200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74189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71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Estimation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148519"/>
            <a:ext cx="8458200" cy="2038973"/>
          </a:xfrm>
        </p:spPr>
        <p:txBody>
          <a:bodyPr vert="horz" lIns="91440" tIns="45720" rIns="91440" bIns="45720" rtlCol="0"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Average productivity for these systems is 620 L</a:t>
            </a:r>
            <a:r>
              <a:rPr lang="en-US" sz="1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O</a:t>
            </a:r>
            <a:r>
              <a:rPr lang="en-US" sz="1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C/pm. 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Burdened labor rate is $8000 per month.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Cost per line of code is approximately $13. 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Based on L</a:t>
            </a:r>
            <a:r>
              <a:rPr lang="en-US" sz="1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O</a:t>
            </a:r>
            <a:r>
              <a:rPr lang="en-US" sz="1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C estimates and historical data: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342900" y="3154288"/>
            <a:ext cx="8458200" cy="991312"/>
          </a:xfrm>
        </p:spPr>
        <p:txBody>
          <a:bodyPr>
            <a:normAutofit/>
          </a:bodyPr>
          <a:lstStyle/>
          <a:p>
            <a:pPr marL="685800" lvl="4" indent="0">
              <a:lnSpc>
                <a:spcPct val="90000"/>
              </a:lnSpc>
              <a:spcBef>
                <a:spcPct val="50000"/>
              </a:spcBef>
              <a:buNone/>
              <a:defRPr/>
            </a:pPr>
            <a:r>
              <a:rPr lang="en-US" sz="24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estimated project cost is </a:t>
            </a:r>
            <a:r>
              <a:rPr 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$431,000 </a:t>
            </a:r>
          </a:p>
          <a:p>
            <a:pPr marL="685800" lvl="4" indent="0">
              <a:lnSpc>
                <a:spcPct val="90000"/>
              </a:lnSpc>
              <a:spcBef>
                <a:spcPct val="50000"/>
              </a:spcBef>
              <a:buNone/>
              <a:defRPr/>
            </a:pPr>
            <a:r>
              <a:rPr lang="en-US" sz="2400" noProof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-128" charset="-128"/>
                <a:cs typeface="Times New Roman" panose="02020603050405020304" pitchFamily="18" charset="0"/>
              </a:rPr>
              <a:t>estimated effort is 54 person-months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398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P-Based Estimation Table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342900" y="1285255"/>
            <a:ext cx="8458200" cy="492270"/>
          </a:xfrm>
        </p:spPr>
        <p:txBody>
          <a:bodyPr>
            <a:no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Copyright © McGraw-Hill Education. All rights reserved. No reproduction or distribution without the prior written consent of McGraw-Hill Education.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342900" y="1891033"/>
            <a:ext cx="8458200" cy="433422"/>
          </a:xfrm>
        </p:spPr>
        <p:txBody>
          <a:bodyPr/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25.1 Estimating information domain values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379702"/>
              </p:ext>
            </p:extLst>
          </p:nvPr>
        </p:nvGraphicFramePr>
        <p:xfrm>
          <a:off x="393107" y="2533594"/>
          <a:ext cx="8221054" cy="30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570">
                  <a:extLst>
                    <a:ext uri="{9D8B030D-6E8A-4147-A177-3AD203B41FA5}">
                      <a16:colId xmlns:a16="http://schemas.microsoft.com/office/drawing/2014/main" val="2708615052"/>
                    </a:ext>
                  </a:extLst>
                </a:gridCol>
                <a:gridCol w="589659">
                  <a:extLst>
                    <a:ext uri="{9D8B030D-6E8A-4147-A177-3AD203B41FA5}">
                      <a16:colId xmlns:a16="http://schemas.microsoft.com/office/drawing/2014/main" val="1018271763"/>
                    </a:ext>
                  </a:extLst>
                </a:gridCol>
                <a:gridCol w="786214">
                  <a:extLst>
                    <a:ext uri="{9D8B030D-6E8A-4147-A177-3AD203B41FA5}">
                      <a16:colId xmlns:a16="http://schemas.microsoft.com/office/drawing/2014/main" val="1624847348"/>
                    </a:ext>
                  </a:extLst>
                </a:gridCol>
                <a:gridCol w="658026">
                  <a:extLst>
                    <a:ext uri="{9D8B030D-6E8A-4147-A177-3AD203B41FA5}">
                      <a16:colId xmlns:a16="http://schemas.microsoft.com/office/drawing/2014/main" val="3970345666"/>
                    </a:ext>
                  </a:extLst>
                </a:gridCol>
                <a:gridCol w="734938">
                  <a:extLst>
                    <a:ext uri="{9D8B030D-6E8A-4147-A177-3AD203B41FA5}">
                      <a16:colId xmlns:a16="http://schemas.microsoft.com/office/drawing/2014/main" val="2787231509"/>
                    </a:ext>
                  </a:extLst>
                </a:gridCol>
                <a:gridCol w="820396">
                  <a:extLst>
                    <a:ext uri="{9D8B030D-6E8A-4147-A177-3AD203B41FA5}">
                      <a16:colId xmlns:a16="http://schemas.microsoft.com/office/drawing/2014/main" val="1459035349"/>
                    </a:ext>
                  </a:extLst>
                </a:gridCol>
                <a:gridCol w="1726251">
                  <a:extLst>
                    <a:ext uri="{9D8B030D-6E8A-4147-A177-3AD203B41FA5}">
                      <a16:colId xmlns:a16="http://schemas.microsoft.com/office/drawing/2014/main" val="4219033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domain value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Likely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Pess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 count.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P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987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external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 (24 × 4 = 96)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86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external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 (14 × 5 = 70)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86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external enquiries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(20 × 5 = 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346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internal logical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(4 × 10 = 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307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external interface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(2 × 7 = 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09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2075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583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P-Based Estimation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50490"/>
          </a:xfrm>
        </p:spPr>
        <p:txBody>
          <a:bodyPr vert="horz" lIns="91440" tIns="45720" rIns="91440" bIns="45720" rtlCol="0"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compute the F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equation: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949296"/>
              </p:ext>
            </p:extLst>
          </p:nvPr>
        </p:nvGraphicFramePr>
        <p:xfrm>
          <a:off x="2063381" y="1822613"/>
          <a:ext cx="5017239" cy="494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31760" imgH="279360" progId="Equation.DSMT4">
                  <p:embed/>
                </p:oleObj>
              </mc:Choice>
              <mc:Fallback>
                <p:oleObj name="Equation" r:id="rId3" imgW="2831760" imgH="27936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3381" y="1822613"/>
                        <a:ext cx="5017239" cy="494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342900" y="2465464"/>
            <a:ext cx="8458200" cy="823835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purposes of this estimate, the complexity weighting factor is assumed to be average and the F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count total from the table is 320.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342900" y="3412454"/>
            <a:ext cx="7058025" cy="491790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the sum of the 14 complexity factors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339887"/>
              </p:ext>
            </p:extLst>
          </p:nvPr>
        </p:nvGraphicFramePr>
        <p:xfrm>
          <a:off x="5831926" y="3437899"/>
          <a:ext cx="1455663" cy="441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8080" imgH="253800" progId="Equation.DSMT4">
                  <p:embed/>
                </p:oleObj>
              </mc:Choice>
              <mc:Fallback>
                <p:oleObj name="Equation" r:id="rId5" imgW="838080" imgH="2538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31926" y="3437899"/>
                        <a:ext cx="1455663" cy="441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905240"/>
              </p:ext>
            </p:extLst>
          </p:nvPr>
        </p:nvGraphicFramePr>
        <p:xfrm>
          <a:off x="2631684" y="3988285"/>
          <a:ext cx="3194833" cy="494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03240" imgH="279360" progId="Equation.DSMT4">
                  <p:embed/>
                </p:oleObj>
              </mc:Choice>
              <mc:Fallback>
                <p:oleObj name="Equation" r:id="rId7" imgW="1803240" imgH="279360" progId="Equation.DSMT4">
                  <p:embed/>
                  <p:pic>
                    <p:nvPicPr>
                      <p:cNvPr id="14" name="Object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31684" y="3988285"/>
                        <a:ext cx="3194833" cy="494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42900" y="4578198"/>
            <a:ext cx="8458200" cy="49881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estimated number of F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can be computed: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8193"/>
              </p:ext>
            </p:extLst>
          </p:nvPr>
        </p:nvGraphicFramePr>
        <p:xfrm>
          <a:off x="1218994" y="5160575"/>
          <a:ext cx="5512213" cy="494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11480" imgH="279360" progId="Equation.DSMT4">
                  <p:embed/>
                </p:oleObj>
              </mc:Choice>
              <mc:Fallback>
                <p:oleObj name="Equation" r:id="rId9" imgW="3111480" imgH="279360" progId="Equation.DSMT4">
                  <p:embed/>
                  <p:pic>
                    <p:nvPicPr>
                      <p:cNvPr id="15" name="Object 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18994" y="5160575"/>
                        <a:ext cx="5512213" cy="494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/>
          <p:cNvSpPr>
            <a:spLocks noGrp="1"/>
          </p:cNvSpPr>
          <p:nvPr>
            <p:ph sz="quarter" idx="17"/>
          </p:nvPr>
        </p:nvSpPr>
        <p:spPr>
          <a:xfrm>
            <a:off x="342900" y="5765464"/>
            <a:ext cx="8458200" cy="813136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historic cost per F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is approximately $1,230 then total estimated project cost is $461,000 estimated effort is 58 person-months.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98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Process-Based Estimation Table</a:t>
            </a:r>
          </a:p>
        </p:txBody>
      </p:sp>
      <p:pic>
        <p:nvPicPr>
          <p:cNvPr id="4" name="Picture 3" descr="A process based estimation table has activity and task in the column headings and the functions as different rows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210" y="1207511"/>
            <a:ext cx="6573580" cy="4853178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32969D9-AE7A-43AF-A580-6EB7DBE5B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3940" y="6324599"/>
            <a:ext cx="2937232" cy="221479"/>
          </a:xfrm>
        </p:spPr>
        <p:txBody>
          <a:bodyPr/>
          <a:lstStyle/>
          <a:p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Access the text alternative for slide images.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661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Process-Based Estimation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153274"/>
            <a:ext cx="8458200" cy="4460453"/>
          </a:xfrm>
        </p:spPr>
        <p:txBody>
          <a:bodyPr vert="horz" lIns="91440" tIns="45720" rIns="91440" bIns="45720" rtlCol="0"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Process-based estimation begins with a delineation of software functions obtained from the project scope. 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series of framework activities are performed for each function.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and related framework activities may be represented as part of a table with tasks as columns and rows as functions.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effort estimates (for example, person-months) are entered as the matrix cell values.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labor rates (that is, cost/unit effort) are then applied to the effort estimated for each process activity.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an average burdened labor rate of $8,000 per month, the total estimated project cost is $368,000 and the estimated effort is 46 person-months based on the matric entries.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876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Point Estimation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155700"/>
            <a:ext cx="8458200" cy="2159000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of use case points takes the following into account: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and complexity of the use cases in the system.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and complexity of the actors on the system.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nonfunctional requirements not written as use cases.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 in which the project will be developed.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342900" y="3454796"/>
            <a:ext cx="8458200" cy="2603104"/>
          </a:xfrm>
        </p:spPr>
        <p:txBody>
          <a:bodyPr>
            <a:normAutofit/>
          </a:bodyPr>
          <a:lstStyle/>
          <a:p>
            <a:pPr marL="901700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(U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+ 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W) × T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× E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	– unadjusted sum of use case weights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	– unadjusted sum of actor weight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	– technical complexity 13 factors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	– environment complexity 8 factors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413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Point Estimation Example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153274"/>
            <a:ext cx="8458200" cy="462573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engineering subsystem group is described by 14 average use cases and 8 simple use cases. And the infrastructure subsystem is described with 10 simple use cases.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(16 use cases × 15) + [(14 use cases × 10) 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+ (8 use cases × 5)] + (10 use cases × 5) = 470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8 simple actors, 12 average actors, and 4 complex actors. 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(8 actors × 1) + (12 actors × 2) + (4 actors × 3) = 44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evaluation of the technology and the environment, 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1.04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0.96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(470 + 44) × 1.04 × 0.96 = 513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483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Point Estimation Example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153274"/>
            <a:ext cx="8458200" cy="4625734"/>
          </a:xfrm>
        </p:spPr>
        <p:txBody>
          <a:bodyPr vert="horz" lIns="91440" tIns="45720" rIns="91440" bIns="45720" rtlCol="0"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past project data as a guide, the development group produces 85 L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per U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estimate of the overall size of the 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project is 43,600 L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620 L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C/pm as the average productivity for systems of this type and a burdened labor rate of $8,000 per month, and the cost per line of code is approximately $13. 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use case estimate and the historical productivity data: </a:t>
            </a:r>
          </a:p>
          <a:p>
            <a:pPr marL="715963">
              <a:spcBef>
                <a:spcPts val="1000"/>
              </a:spcBef>
              <a:spcAft>
                <a:spcPts val="0"/>
              </a:spcAft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estimated project cost is $552,000.</a:t>
            </a:r>
          </a:p>
          <a:p>
            <a:pPr marL="715963">
              <a:spcBef>
                <a:spcPts val="1000"/>
              </a:spcBef>
              <a:spcAft>
                <a:spcPts val="0"/>
              </a:spcAft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effort is about 70 person-months.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355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Project Estimation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153274"/>
            <a:ext cx="8458200" cy="4460453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Each user story is considered separately for estimation purposes. </a:t>
            </a:r>
          </a:p>
          <a:p>
            <a:pPr marL="266700" indent="-266700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Each user story is decomposed into the set of software engineering tasks that will be required to develop it. 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3a.  Each task is estimated separately (historic data, empirical model,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experience, or planning poker. </a:t>
            </a:r>
          </a:p>
          <a:p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3b.  Alternatively, the “volume” of the user story can be estimated in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LOC, FP, or use case count. 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4a.  Estimates for each task are summed to estimate the user story. 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4b.  Alternatively, the volume translated into effort using historical data. </a:t>
            </a:r>
          </a:p>
          <a:p>
            <a:pPr marL="266700" indent="-266700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Effort estimates for all user stories are summed to create effort estimate for the increment.</a:t>
            </a:r>
            <a:endParaRPr lang="en-US" alt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486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Projects Late?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153274"/>
            <a:ext cx="8191500" cy="5307161"/>
          </a:xfrm>
        </p:spPr>
        <p:txBody>
          <a:bodyPr vert="horz" lIns="91440" tIns="45720" rIns="91440" bIns="45720" rtlCol="0">
            <a:noAutofit/>
          </a:bodyPr>
          <a:lstStyle/>
          <a:p>
            <a:pPr marL="291600" indent="-291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Unrealistic deadline established by someone outside the software team and forced on managers and practitioners on the group.</a:t>
            </a:r>
          </a:p>
          <a:p>
            <a:pPr marL="291600" indent="-291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requirements not reflected in schedule changes.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honest underestimate of the amount of effort and/or the number of resources that will be required to do the job.</a:t>
            </a:r>
          </a:p>
          <a:p>
            <a:pPr marL="291600" indent="-291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and/or unpredictable risks that were not considered when the project commenced.</a:t>
            </a:r>
          </a:p>
          <a:p>
            <a:pPr marL="291600" indent="-291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difficulties that could not have been foreseen in advance.</a:t>
            </a:r>
          </a:p>
          <a:p>
            <a:pPr marL="291600" indent="-291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difficulties that could not have been foreseen in advance.</a:t>
            </a:r>
          </a:p>
          <a:p>
            <a:pPr marL="291600" indent="-291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Miscommunication among project staff that results in delays.</a:t>
            </a:r>
          </a:p>
          <a:p>
            <a:pPr marL="291600" indent="-291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by project management to recognize that the project is falling behind schedule and lack of action to correct the problem.</a:t>
            </a:r>
            <a:endParaRPr lang="en-US" alt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348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Principles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153274"/>
            <a:ext cx="8458200" cy="4644022"/>
          </a:xfrm>
        </p:spPr>
        <p:txBody>
          <a:bodyPr vert="horz" lIns="91440" tIns="45720" rIns="91440" bIns="45720" rtlCol="0"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Compartmentalization.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must be compartmentalized by decomposing the product and the process.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Interdependency.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interdependency of each compartmentalized activity or task must be determined. 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allocation.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task must be allocated some number of work units and assigned a start date and a completion date.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 validation.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no more than the allocated number of people has been scheduled at any given time.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responsibilities.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task that is scheduled should be assigned to a specific team member.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outcomes.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task should have a defined outcome.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milestones.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task should be associated with a project milestone.</a:t>
            </a:r>
            <a:endParaRPr lang="en-US" alt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020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Effort and Delivery Date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95F0CC-3311-41BC-BB77-7DFD8899C5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9347" y="6192078"/>
            <a:ext cx="2932062" cy="323022"/>
          </a:xfrm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Access the text alternative for slide images.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  <a:hlinkClick r:id="rId3" action="ppaction://hlinksldjump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BA7055-A926-4CF5-9927-637EC287B3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plots the relationship between effort and delivery time. 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50" y="1714026"/>
            <a:ext cx="7341301" cy="431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10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Development Task 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153274"/>
            <a:ext cx="8458200" cy="4644022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Concept scoping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overall scope of the project. </a:t>
            </a:r>
          </a:p>
          <a:p>
            <a:pPr marL="377825" indent="-377825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Preliminary concept planning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the organization’s ability to undertake the work implied by the project scope. </a:t>
            </a:r>
          </a:p>
          <a:p>
            <a:pPr marL="377825" indent="-377825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Technology risk assessment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risk associated with the technology to be implemented as part of the project scope. </a:t>
            </a:r>
          </a:p>
          <a:p>
            <a:pPr marL="377825" indent="-377825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 Proof of concept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viability of a new technology in the software context. </a:t>
            </a:r>
          </a:p>
          <a:p>
            <a:pPr marL="377825" indent="-377825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 Concept implementation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the concept representation in a manner that can be reviewed by a customer and is used for “marketing” purposes when a concept must be sold to other customers or management. </a:t>
            </a:r>
          </a:p>
          <a:p>
            <a:pPr marL="377825" indent="-377825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1.6 Customer reaction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concept solicits feedback on a new technology concept and targets specific customer applications.</a:t>
            </a:r>
            <a:endParaRPr lang="en-US" alt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413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1.1 Refinement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179810"/>
            <a:ext cx="8458200" cy="45902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definition:  Task 1.1  Concept Scoping  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1.1.1	Identify need, benefits and potential customers;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1.1.2	Define desired output/control and input events that drive the application;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Begin Task 1.1.2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1.1.2.1	FTR:  Review written description of need indicates that a FTR is to be conducted.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1.1.2.2	Derive a list of customer visible outputs/inputs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1.1.2.3	FTR:  Review outputs/inputs with customer and revise as required;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endtask Task 1.1.2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1.1.3	Define the functionality/behavior for each major function;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Begin Task 1.1.3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1.1.3.1	FTR:  Review output and input data objects derived in task 1.1.2;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1.1.3.2	Derive a model of functions/behaviors;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1.1.3.3	FTR:  Review functions/behaviors with customer and revise as required;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endtask Task 1.1.3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1.1.4	Isolate those elements of the technology to be implemented in software; 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1.1.5	Research availability of existing software;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1.1.6	Define technical feasibility;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1.1.7	Make quick estimate of size;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sz="1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1.1.8	Create a Scope Definition</a:t>
            </a:r>
            <a:r>
              <a:rPr lang="en-US" alt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endTask definition:   Task 1.1</a:t>
            </a:r>
            <a:endParaRPr lang="en-US" alt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51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Network (Activity Network) </a:t>
            </a:r>
          </a:p>
        </p:txBody>
      </p:sp>
      <p:pic>
        <p:nvPicPr>
          <p:cNvPr id="4" name="Picture 3" descr="The diagram shows task network. 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29" y="1870635"/>
            <a:ext cx="8259342" cy="311673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32969D9-AE7A-43AF-A580-6EB7DBE5B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3940" y="6324599"/>
            <a:ext cx="2937232" cy="221479"/>
          </a:xfrm>
        </p:spPr>
        <p:txBody>
          <a:bodyPr/>
          <a:lstStyle/>
          <a:p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Access the text alternative for slide images.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002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Chart (Gantt Chart) </a:t>
            </a:r>
          </a:p>
        </p:txBody>
      </p:sp>
      <p:pic>
        <p:nvPicPr>
          <p:cNvPr id="4" name="Picture 3" descr="The diagram shows a time line chart. or Gantt chart. The column headings are: tasks, week 1, week 2, week 3, week 4 and week 5. 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29" y="1097936"/>
            <a:ext cx="7043743" cy="503814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162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Table for Project Tracking </a:t>
            </a:r>
          </a:p>
        </p:txBody>
      </p:sp>
      <p:pic>
        <p:nvPicPr>
          <p:cNvPr id="4" name="Picture 3" descr="A project table for project tracking lists the work tasks. 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73" y="1917542"/>
            <a:ext cx="8073454" cy="3022916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32969D9-AE7A-43AF-A580-6EB7DBE5B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3940" y="6324599"/>
            <a:ext cx="2937232" cy="221479"/>
          </a:xfrm>
        </p:spPr>
        <p:txBody>
          <a:bodyPr/>
          <a:lstStyle/>
          <a:p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Access the text alternative for slide images.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813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D065-69D6-43BD-8F16-1ED37377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Tracking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9857-6496-490D-8EF4-49E16A2031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153274"/>
            <a:ext cx="8458200" cy="4644022"/>
          </a:xfrm>
        </p:spPr>
        <p:txBody>
          <a:bodyPr vert="horz" lIns="91440" tIns="45720" rIns="91440" bIns="45720" rtlCol="0"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Conducting periodic project status meetings in which each team member reports progress and problems.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the results of all reviews conducted throughout the software engineering process.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whether formal project milestones have been accomplished by the scheduled date.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the actual start date to the planned start date for each project task listed in the project resource table.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informally with practitioners to obtain their subjective assessment of progress to date and problems on the horizon.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the project velocity, which is a way of seeing how quickly the development team is clearing the user story backlog.</a:t>
            </a:r>
            <a:endParaRPr lang="en-US" alt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782CA-4060-4792-BD56-58A66C68C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336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F92C4D4-C867-4E2F-BF62-33A518B42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End of Main Content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0F02A-B1AC-4A6F-B7C6-6A288F03C2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 2020 McGraw-Hill Education. All rights reserved. Authorized only for instructor use in the classroom.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reproduction or further distribution permitted without the prior written consent of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1080484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B6140-A63B-4D20-A758-54BAF6E00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Content: Text Alternatives for Images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65C4E0-2E36-443B-B4C4-06FC04FDC3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016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D4DC-B29D-4077-A952-3D6776ED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Resources – Text alternative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C41FC-4A63-4805-8E6E-36C2F99BE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Return to parent-slide containing images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B4685-AFF6-4664-AF0E-CBEF4179CF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515035"/>
            <a:ext cx="8458200" cy="2470556"/>
          </a:xfrm>
        </p:spPr>
        <p:txBody>
          <a:bodyPr>
            <a:noAutofit/>
          </a:bodyPr>
          <a:lstStyle/>
          <a:p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diagram shows project resources. A central triangle labeled project connects to people, environment and reusable software. Reusable software entails: COTS components, full-experience components, past-experience components and new components. People entails: number, skills and location. Environment entails: software tools, hardware and network resources.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5395E-AB4F-4DE4-8CC5-2D362FE974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Return to parent-slide containing images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70D88-AB9B-47B4-9537-948FBA614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52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D4DC-B29D-4077-A952-3D6776ED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1021976"/>
          </a:xfrm>
        </p:spPr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Process-Based Estimation Table – Text alternative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C41FC-4A63-4805-8E6E-36C2F99BE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81587" y="1641976"/>
            <a:ext cx="2980826" cy="225425"/>
          </a:xfrm>
        </p:spPr>
        <p:txBody>
          <a:bodyPr/>
          <a:lstStyle/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Return to parent-slide containing images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B4685-AFF6-4664-AF0E-CBEF4179CF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2088777"/>
            <a:ext cx="8458200" cy="3045198"/>
          </a:xfrm>
        </p:spPr>
        <p:txBody>
          <a:bodyPr>
            <a:normAutofit/>
          </a:bodyPr>
          <a:lstStyle/>
          <a:p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based estimation table has activity and task in the column headings and the functions as different rows. The activities are: 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planning, risk analysis, engineering, construction release, C</a:t>
            </a:r>
            <a:r>
              <a:rPr 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and totals. The tasks under engineering are: analysis and design and under construction release are: code and test.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5395E-AB4F-4DE4-8CC5-2D362FE974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Return to parent-slide containing images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70D88-AB9B-47B4-9537-948FBA614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752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D4DC-B29D-4077-A952-3D6776ED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1021976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Effort and Delivery Date – </a:t>
            </a:r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alternative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C41FC-4A63-4805-8E6E-36C2F99BE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81587" y="1641976"/>
            <a:ext cx="2980826" cy="225425"/>
          </a:xfrm>
        </p:spPr>
        <p:txBody>
          <a:bodyPr/>
          <a:lstStyle/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Return to parent-slide containing images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  <a:hlinkClick r:id="rId2" action="ppaction://hlinksldjump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B4685-AFF6-4664-AF0E-CBEF4179CF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2088777"/>
            <a:ext cx="8458200" cy="304519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plots the relationship between effort and delivery time. The graph is plotted for effort cost versus development time. The graph shows a curve that fall along the y axis towards the x axis and rises again as time increases. The curve has the following function: E sub a = m time (t sub d to the power 4 over t sub a to the power 4). The variables are defined as follows:  E sub a = effort in person months; t sub d = nominal delivery time for schedule; t sub a = optimal development cost in terms of cost; t sub o = actual delivery time desired. On the left of the curve a dotted line between the curve and y axis a shaded region defines the impossible region. The line is plotted at T sub min = 0.75 T sub 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5395E-AB4F-4DE4-8CC5-2D362FE974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Return to parent-slide containing images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  <a:hlinkClick r:id="rId2" action="ppaction://hlinksldjump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70D88-AB9B-47B4-9537-948FBA614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301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D4DC-B29D-4077-A952-3D6776ED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1021976"/>
          </a:xfrm>
        </p:spPr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Network (Activity Network) – Text alternative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C41FC-4A63-4805-8E6E-36C2F99BE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81587" y="1641976"/>
            <a:ext cx="2980826" cy="225425"/>
          </a:xfrm>
        </p:spPr>
        <p:txBody>
          <a:bodyPr/>
          <a:lstStyle/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Return to parent-slide containing images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B4685-AFF6-4664-AF0E-CBEF4179CF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2088777"/>
            <a:ext cx="8458200" cy="2330824"/>
          </a:xfrm>
        </p:spPr>
        <p:txBody>
          <a:bodyPr>
            <a:normAutofit/>
          </a:bodyPr>
          <a:lstStyle/>
          <a:p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network is follows: 1.1 concept scoping; 1.2 concept planning. 1.3a, tech risk assessment; 1.3b, tech risk assessment; 1.3c, tech risk assessment. 1.4, proof of connect; 1.5a, concept implement; 1.5b, concept implement; 1.5c, concept implement; Three 1.5 tasks are applied in parallel to 3 different concept functions. After 1.5 integrate a b c; 1.6 customer reaction.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5395E-AB4F-4DE4-8CC5-2D362FE974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Return to parent-slide containing images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70D88-AB9B-47B4-9537-948FBA614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8167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D4DC-B29D-4077-A952-3D6776ED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1021976"/>
          </a:xfrm>
        </p:spPr>
        <p:txBody>
          <a:bodyPr>
            <a:noAutofit/>
          </a:bodyPr>
          <a:lstStyle/>
          <a:p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Table for Project Tracking  – Text alternative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C41FC-4A63-4805-8E6E-36C2F99BE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81587" y="1641976"/>
            <a:ext cx="2980826" cy="225425"/>
          </a:xfrm>
        </p:spPr>
        <p:txBody>
          <a:bodyPr/>
          <a:lstStyle/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Return to parent-slide containing images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B4685-AFF6-4664-AF0E-CBEF4179CF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2088777"/>
            <a:ext cx="8458200" cy="2330824"/>
          </a:xfrm>
        </p:spPr>
        <p:txBody>
          <a:bodyPr>
            <a:normAutofit/>
          </a:bodyPr>
          <a:lstStyle/>
          <a:p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table for project tracking lists the work tasks. The other column headings are: planned start, actual start, planned complete, actual complete, assigned person, effort allocated and notes.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5395E-AB4F-4DE4-8CC5-2D362FE974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Return to parent-slide containing images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70D88-AB9B-47B4-9537-948FBA614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422000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8_2018.potx" id="{0A7644F7-F48A-4B8E-BAF2-625D36B4B6E5}" vid="{49205645-1F2A-4B1E-9674-DA1B2F4D5ED6}"/>
    </a:ext>
  </a:extLst>
</a:theme>
</file>

<file path=ppt/theme/theme2.xml><?xml version="1.0" encoding="utf-8"?>
<a:theme xmlns:a="http://schemas.openxmlformats.org/drawingml/2006/main" name="MainContentSlideMaster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8_2018.potx" id="{0A7644F7-F48A-4B8E-BAF2-625D36B4B6E5}" vid="{4FF0FDA0-6894-4596-BDAC-FCF1DCFBA9AA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8_2018.potx" id="{0A7644F7-F48A-4B8E-BAF2-625D36B4B6E5}" vid="{B82DCB52-FEF9-40CC-B3DC-F0115DBC3F82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8_2018.potx" id="{0A7644F7-F48A-4B8E-BAF2-625D36B4B6E5}" vid="{38380B4B-557F-493C-8BD4-E5DEA4FEDAB0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8_2018.potx" id="{0A7644F7-F48A-4B8E-BAF2-625D36B4B6E5}" vid="{F0C5A687-89F8-48FC-8D59-8BA67B8E380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Template_Editorial_v8_2018</Template>
  <TotalTime>526</TotalTime>
  <Words>12233</Words>
  <Application>Microsoft Office PowerPoint</Application>
  <PresentationFormat>On-screen Show (4:3)</PresentationFormat>
  <Paragraphs>646</Paragraphs>
  <Slides>37</Slides>
  <Notes>30</Notes>
  <HiddenSlides>6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quote-cjk-patch</vt:lpstr>
      <vt:lpstr>等线</vt:lpstr>
      <vt:lpstr>Arial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Chapter 25</vt:lpstr>
      <vt:lpstr>Estimation Issues</vt:lpstr>
      <vt:lpstr>Project Planning Task Set 1</vt:lpstr>
      <vt:lpstr>Project Planning Task Set 2</vt:lpstr>
      <vt:lpstr>What is Scope?</vt:lpstr>
      <vt:lpstr>Project Feasibility</vt:lpstr>
      <vt:lpstr>Project Resources</vt:lpstr>
      <vt:lpstr>Data Analytics and Estimation Accuracy</vt:lpstr>
      <vt:lpstr>Reconciling Estimates</vt:lpstr>
      <vt:lpstr>Problem-Based Estimation 1</vt:lpstr>
      <vt:lpstr>Problem-Based Estimation 2</vt:lpstr>
      <vt:lpstr>L O C-Based Estimation Table</vt:lpstr>
      <vt:lpstr>L O C-Based Estimation </vt:lpstr>
      <vt:lpstr>F P-Based Estimation Table</vt:lpstr>
      <vt:lpstr>F P-Based Estimation </vt:lpstr>
      <vt:lpstr>Process-Based Estimation Table</vt:lpstr>
      <vt:lpstr>Process-Based Estimation</vt:lpstr>
      <vt:lpstr>Use Case Point Estimation</vt:lpstr>
      <vt:lpstr>Use Case Point Estimation Example 1</vt:lpstr>
      <vt:lpstr>Use Case Point Estimation Example 2</vt:lpstr>
      <vt:lpstr>Agile Project Estimation</vt:lpstr>
      <vt:lpstr>Why Are Projects Late?</vt:lpstr>
      <vt:lpstr>Scheduling Principles</vt:lpstr>
      <vt:lpstr>Relationship Between Effort and Delivery Date</vt:lpstr>
      <vt:lpstr>Concept Development Task Set</vt:lpstr>
      <vt:lpstr>Task 1.1 Refinement</vt:lpstr>
      <vt:lpstr>Task Network (Activity Network) </vt:lpstr>
      <vt:lpstr>Timeline Chart (Gantt Chart) </vt:lpstr>
      <vt:lpstr>Project Table for Project Tracking </vt:lpstr>
      <vt:lpstr>Schedule Tracking</vt:lpstr>
      <vt:lpstr>End of Main Content</vt:lpstr>
      <vt:lpstr>Accessibility Content: Text Alternatives for Images</vt:lpstr>
      <vt:lpstr>Project Resources – Text alternative</vt:lpstr>
      <vt:lpstr>Process-Based Estimation Table – Text alternative</vt:lpstr>
      <vt:lpstr>Relationship Between Effort and Delivery Date – Text alternative</vt:lpstr>
      <vt:lpstr>Task Network (Activity Network) – Text alternative</vt:lpstr>
      <vt:lpstr>Project Table for Project Tracking  – Text alternative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of Four Title Slide Options</dc:title>
  <dc:creator>Ervolino, Heather</dc:creator>
  <cp:keywords>PPT</cp:keywords>
  <cp:lastModifiedBy>Nan Gao</cp:lastModifiedBy>
  <cp:revision>100</cp:revision>
  <dcterms:created xsi:type="dcterms:W3CDTF">2019-01-22T22:04:31Z</dcterms:created>
  <dcterms:modified xsi:type="dcterms:W3CDTF">2025-12-03T13:50:20Z</dcterms:modified>
</cp:coreProperties>
</file>