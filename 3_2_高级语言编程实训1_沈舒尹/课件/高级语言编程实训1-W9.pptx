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0" r:id="rId3"/>
    <p:sldId id="327" r:id="rId4"/>
    <p:sldId id="284" r:id="rId5"/>
    <p:sldId id="285" r:id="rId6"/>
    <p:sldId id="286" r:id="rId7"/>
    <p:sldId id="287" r:id="rId8"/>
    <p:sldId id="29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308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1A5F"/>
    <a:srgbClr val="FFFFFF"/>
    <a:srgbClr val="B5299C"/>
    <a:srgbClr val="681858"/>
    <a:srgbClr val="992381"/>
    <a:srgbClr val="B02894"/>
    <a:srgbClr val="D549BC"/>
    <a:srgbClr val="E282D1"/>
    <a:srgbClr val="CF31B0"/>
    <a:srgbClr val="DF75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3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 descr="学院logo"/>
          <p:cNvPicPr>
            <a:picLocks noChangeAspect="1"/>
          </p:cNvPicPr>
          <p:nvPr userDrawn="1"/>
        </p:nvPicPr>
        <p:blipFill>
          <a:blip r:embed="rId3"/>
          <a:srcRect l="16426" t="16556" r="16806" b="16435"/>
          <a:stretch>
            <a:fillRect/>
          </a:stretch>
        </p:blipFill>
        <p:spPr>
          <a:xfrm>
            <a:off x="11056620" y="0"/>
            <a:ext cx="1135380" cy="854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  <p:grpSp>
        <p:nvGrpSpPr>
          <p:cNvPr id="2050" name="组合 12"/>
          <p:cNvGrpSpPr/>
          <p:nvPr userDrawn="1"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2051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椭圆 5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2053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grpSp>
        <p:nvGrpSpPr>
          <p:cNvPr id="3074" name="组合 12"/>
          <p:cNvGrpSpPr/>
          <p:nvPr userDrawn="1"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椭圆 7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3077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grpSp>
        <p:nvGrpSpPr>
          <p:cNvPr id="4098" name="组合 12"/>
          <p:cNvGrpSpPr/>
          <p:nvPr userDrawn="1"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椭圆 5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5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29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Week9:Gobang2</a:t>
            </a:r>
            <a:endParaRPr lang="en-US" altLang="zh-CN" noProof="0" dirty="0">
              <a:solidFill>
                <a:schemeClr val="bg1"/>
              </a:solidFill>
              <a:ea typeface="Noto Sans S Chinese Bold" panose="020B0800000000000000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——Practice of Programming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 Language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 1——</a:t>
            </a:r>
            <a:endParaRPr lang="zh-CN" altLang="en-US" kern="1200" normalizeH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kern="1200" normalizeH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59400" y="4759325"/>
            <a:ext cx="14789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14400">
              <a:buClr>
                <a:srgbClr val="BB66AA"/>
              </a:buClr>
              <a:buSzTx/>
            </a:pPr>
            <a:r>
              <a:rPr lang="en-US" altLang="zh-CN">
                <a:solidFill>
                  <a:schemeClr val="tx1"/>
                </a:solidFill>
                <a:ea typeface="+mn-ea"/>
                <a:sym typeface="+mn-ea"/>
              </a:rPr>
              <a:t>Shen Shuyin</a:t>
            </a:r>
            <a:endParaRPr lang="en-US" altLang="zh-CN">
              <a:solidFill>
                <a:schemeClr val="tx1"/>
              </a:solidFill>
              <a:ea typeface="+mn-ea"/>
              <a:sym typeface="+mn-ea"/>
            </a:endParaRPr>
          </a:p>
          <a:p>
            <a:pPr algn="ctr" defTabSz="914400">
              <a:buClr>
                <a:srgbClr val="BB66AA"/>
              </a:buClr>
              <a:buSzTx/>
            </a:pPr>
            <a:r>
              <a:rPr lang="en-US" altLang="zh-CN">
                <a:solidFill>
                  <a:schemeClr val="tx1"/>
                </a:solidFill>
                <a:ea typeface="+mn-ea"/>
                <a:sym typeface="+mn-ea"/>
              </a:rPr>
              <a:t>Spring</a:t>
            </a:r>
            <a:endParaRPr lang="en-US" altLang="zh-CN">
              <a:solidFill>
                <a:schemeClr val="tx1"/>
              </a:solidFill>
              <a:ea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46020" y="2597150"/>
            <a:ext cx="7292340" cy="25450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5905" y="1193165"/>
            <a:ext cx="7161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Draw numbers and alphabets</a:t>
            </a:r>
            <a:endParaRPr lang="en-US" altLang="zh-CN" sz="2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30" y="2007870"/>
            <a:ext cx="6835140" cy="2842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Review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checkClick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2149475"/>
            <a:ext cx="10672445" cy="41008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How to play?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 err="1"/>
              <a:t>drawChess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Update </a:t>
            </a:r>
            <a:r>
              <a:rPr lang="en-US" altLang="zh-CN" dirty="0" err="1"/>
              <a:t>chessBox</a:t>
            </a:r>
            <a:r>
              <a:rPr lang="en-US" altLang="zh-CN" dirty="0"/>
              <a:t>[][]</a:t>
            </a:r>
            <a:endParaRPr lang="en-US" altLang="zh-CN" dirty="0"/>
          </a:p>
          <a:p>
            <a:r>
              <a:rPr lang="en-US" altLang="zh-CN" dirty="0"/>
              <a:t>Change player color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6430" y="2099310"/>
            <a:ext cx="5494655" cy="1329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Judge if the player win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 directions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endParaRPr lang="en-US" altLang="zh-CN" dirty="0"/>
          </a:p>
          <a:p>
            <a:pPr lvl="1"/>
            <a:r>
              <a:rPr lang="en-US" altLang="zh-CN" dirty="0"/>
              <a:t>y</a:t>
            </a:r>
            <a:endParaRPr lang="en-US" altLang="zh-CN" dirty="0"/>
          </a:p>
          <a:p>
            <a:pPr lvl="1"/>
            <a:r>
              <a:rPr lang="en-US" altLang="zh-CN" dirty="0"/>
              <a:t>y = x</a:t>
            </a:r>
            <a:endParaRPr lang="en-US" altLang="zh-CN" dirty="0"/>
          </a:p>
          <a:p>
            <a:pPr lvl="1"/>
            <a:r>
              <a:rPr lang="en-US" altLang="zh-CN" dirty="0"/>
              <a:t>y= -x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7412181" y="2902526"/>
            <a:ext cx="2669309" cy="2678546"/>
            <a:chOff x="1445490" y="2542308"/>
            <a:chExt cx="2669309" cy="267854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1"/>
            <a:srcRect l="3931" t="3242" r="2965" b="1433"/>
            <a:stretch>
              <a:fillRect/>
            </a:stretch>
          </p:blipFill>
          <p:spPr>
            <a:xfrm>
              <a:off x="1445490" y="2542308"/>
              <a:ext cx="2669309" cy="2678546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/>
            <p:nvPr/>
          </p:nvCxnSpPr>
          <p:spPr>
            <a:xfrm>
              <a:off x="1930400" y="3099953"/>
              <a:ext cx="1782618" cy="1717964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780145" y="2872509"/>
              <a:ext cx="4618" cy="217978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5" idx="3"/>
            </p:cNvCxnSpPr>
            <p:nvPr/>
          </p:nvCxnSpPr>
          <p:spPr>
            <a:xfrm>
              <a:off x="1704108" y="3881581"/>
              <a:ext cx="2410691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1851890" y="2953616"/>
              <a:ext cx="1861128" cy="186430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How many chesses need to be check?</a:t>
            </a:r>
            <a:endParaRPr lang="en-US" altLang="zh-C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>
            <a:off x="946785" y="1388745"/>
            <a:ext cx="3656330" cy="1826895"/>
            <a:chOff x="972" y="5600"/>
            <a:chExt cx="4620" cy="2130"/>
          </a:xfrm>
        </p:grpSpPr>
        <p:grpSp>
          <p:nvGrpSpPr>
            <p:cNvPr id="52" name="Group 10"/>
            <p:cNvGrpSpPr/>
            <p:nvPr/>
          </p:nvGrpSpPr>
          <p:grpSpPr>
            <a:xfrm>
              <a:off x="972" y="5600"/>
              <a:ext cx="4620" cy="2130"/>
              <a:chOff x="617319" y="3556000"/>
              <a:chExt cx="2933700" cy="1352550"/>
            </a:xfrm>
          </p:grpSpPr>
          <p:pic>
            <p:nvPicPr>
              <p:cNvPr id="53" name="Picture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17319" y="3556000"/>
                <a:ext cx="2933700" cy="1352550"/>
              </a:xfrm>
              <a:prstGeom prst="rect">
                <a:avLst/>
              </a:prstGeom>
            </p:spPr>
          </p:pic>
          <p:sp>
            <p:nvSpPr>
              <p:cNvPr id="54" name="Rectangle 9"/>
              <p:cNvSpPr/>
              <p:nvPr/>
            </p:nvSpPr>
            <p:spPr>
              <a:xfrm>
                <a:off x="863599" y="3992129"/>
                <a:ext cx="443346" cy="48029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cxnSp>
          <p:nvCxnSpPr>
            <p:cNvPr id="55" name="Straight Arrow Connector 27"/>
            <p:cNvCxnSpPr/>
            <p:nvPr/>
          </p:nvCxnSpPr>
          <p:spPr>
            <a:xfrm>
              <a:off x="1789" y="6705"/>
              <a:ext cx="305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946785" y="3755390"/>
            <a:ext cx="3656330" cy="1826895"/>
            <a:chOff x="972" y="8175"/>
            <a:chExt cx="4620" cy="2130"/>
          </a:xfrm>
        </p:grpSpPr>
        <p:grpSp>
          <p:nvGrpSpPr>
            <p:cNvPr id="57" name="Group 17"/>
            <p:cNvGrpSpPr/>
            <p:nvPr/>
          </p:nvGrpSpPr>
          <p:grpSpPr>
            <a:xfrm>
              <a:off x="972" y="8175"/>
              <a:ext cx="4620" cy="2130"/>
              <a:chOff x="617319" y="3556000"/>
              <a:chExt cx="2933700" cy="1352550"/>
            </a:xfrm>
          </p:grpSpPr>
          <p:pic>
            <p:nvPicPr>
              <p:cNvPr id="58" name="Picture 1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17319" y="3556000"/>
                <a:ext cx="2933700" cy="1352550"/>
              </a:xfrm>
              <a:prstGeom prst="rect">
                <a:avLst/>
              </a:prstGeom>
            </p:spPr>
          </p:pic>
          <p:sp>
            <p:nvSpPr>
              <p:cNvPr id="59" name="Rectangle 19"/>
              <p:cNvSpPr/>
              <p:nvPr/>
            </p:nvSpPr>
            <p:spPr>
              <a:xfrm>
                <a:off x="1796471" y="3992129"/>
                <a:ext cx="443346" cy="48029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cxnSp>
          <p:nvCxnSpPr>
            <p:cNvPr id="60" name="Straight Arrow Connector 28"/>
            <p:cNvCxnSpPr/>
            <p:nvPr/>
          </p:nvCxnSpPr>
          <p:spPr>
            <a:xfrm>
              <a:off x="1665" y="9262"/>
              <a:ext cx="305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5563235" y="901065"/>
            <a:ext cx="3656330" cy="1826895"/>
            <a:chOff x="8199" y="3290"/>
            <a:chExt cx="4620" cy="2130"/>
          </a:xfrm>
        </p:grpSpPr>
        <p:grpSp>
          <p:nvGrpSpPr>
            <p:cNvPr id="62" name="Group 14"/>
            <p:cNvGrpSpPr/>
            <p:nvPr/>
          </p:nvGrpSpPr>
          <p:grpSpPr>
            <a:xfrm>
              <a:off x="8199" y="3290"/>
              <a:ext cx="4620" cy="2130"/>
              <a:chOff x="617319" y="3556000"/>
              <a:chExt cx="2933700" cy="1352550"/>
            </a:xfrm>
          </p:grpSpPr>
          <p:pic>
            <p:nvPicPr>
              <p:cNvPr id="63" name="Picture 1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17319" y="3556000"/>
                <a:ext cx="2933700" cy="1352550"/>
              </a:xfrm>
              <a:prstGeom prst="rect">
                <a:avLst/>
              </a:prstGeom>
            </p:spPr>
          </p:pic>
          <p:sp>
            <p:nvSpPr>
              <p:cNvPr id="64" name="Rectangle 16"/>
              <p:cNvSpPr/>
              <p:nvPr/>
            </p:nvSpPr>
            <p:spPr>
              <a:xfrm>
                <a:off x="1343889" y="3992129"/>
                <a:ext cx="443346" cy="48029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cxnSp>
          <p:nvCxnSpPr>
            <p:cNvPr id="65" name="Straight Arrow Connector 29"/>
            <p:cNvCxnSpPr/>
            <p:nvPr/>
          </p:nvCxnSpPr>
          <p:spPr>
            <a:xfrm>
              <a:off x="8924" y="4342"/>
              <a:ext cx="305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5563235" y="2858135"/>
            <a:ext cx="3656330" cy="1826895"/>
            <a:chOff x="8199" y="5797"/>
            <a:chExt cx="4620" cy="2130"/>
          </a:xfrm>
        </p:grpSpPr>
        <p:grpSp>
          <p:nvGrpSpPr>
            <p:cNvPr id="67" name="Group 20"/>
            <p:cNvGrpSpPr/>
            <p:nvPr/>
          </p:nvGrpSpPr>
          <p:grpSpPr>
            <a:xfrm>
              <a:off x="8199" y="5797"/>
              <a:ext cx="4620" cy="2130"/>
              <a:chOff x="617319" y="3556000"/>
              <a:chExt cx="2933700" cy="1352550"/>
            </a:xfrm>
          </p:grpSpPr>
          <p:pic>
            <p:nvPicPr>
              <p:cNvPr id="68" name="Picture 2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17319" y="3556000"/>
                <a:ext cx="2933700" cy="1352550"/>
              </a:xfrm>
              <a:prstGeom prst="rect">
                <a:avLst/>
              </a:prstGeom>
            </p:spPr>
          </p:pic>
          <p:sp>
            <p:nvSpPr>
              <p:cNvPr id="69" name="Rectangle 22"/>
              <p:cNvSpPr/>
              <p:nvPr/>
            </p:nvSpPr>
            <p:spPr>
              <a:xfrm>
                <a:off x="2288518" y="4005695"/>
                <a:ext cx="443346" cy="48029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cxnSp>
          <p:nvCxnSpPr>
            <p:cNvPr id="70" name="Straight Arrow Connector 30"/>
            <p:cNvCxnSpPr/>
            <p:nvPr/>
          </p:nvCxnSpPr>
          <p:spPr>
            <a:xfrm>
              <a:off x="9040" y="6931"/>
              <a:ext cx="305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/>
          <p:cNvGrpSpPr/>
          <p:nvPr/>
        </p:nvGrpSpPr>
        <p:grpSpPr>
          <a:xfrm>
            <a:off x="5582285" y="4815205"/>
            <a:ext cx="3656330" cy="1826895"/>
            <a:chOff x="8308" y="8304"/>
            <a:chExt cx="4620" cy="2130"/>
          </a:xfrm>
        </p:grpSpPr>
        <p:grpSp>
          <p:nvGrpSpPr>
            <p:cNvPr id="72" name="Group 23"/>
            <p:cNvGrpSpPr/>
            <p:nvPr/>
          </p:nvGrpSpPr>
          <p:grpSpPr>
            <a:xfrm>
              <a:off x="8308" y="8304"/>
              <a:ext cx="4620" cy="2130"/>
              <a:chOff x="617319" y="3556000"/>
              <a:chExt cx="2933700" cy="1352550"/>
            </a:xfrm>
          </p:grpSpPr>
          <p:pic>
            <p:nvPicPr>
              <p:cNvPr id="73" name="Picture 2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17319" y="3556000"/>
                <a:ext cx="2933700" cy="1352550"/>
              </a:xfrm>
              <a:prstGeom prst="rect">
                <a:avLst/>
              </a:prstGeom>
            </p:spPr>
          </p:pic>
          <p:sp>
            <p:nvSpPr>
              <p:cNvPr id="74" name="Rectangle 25"/>
              <p:cNvSpPr/>
              <p:nvPr/>
            </p:nvSpPr>
            <p:spPr>
              <a:xfrm>
                <a:off x="2805754" y="3992129"/>
                <a:ext cx="443346" cy="480291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cxnSp>
          <p:nvCxnSpPr>
            <p:cNvPr id="75" name="Straight Arrow Connector 31"/>
            <p:cNvCxnSpPr/>
            <p:nvPr/>
          </p:nvCxnSpPr>
          <p:spPr>
            <a:xfrm flipH="1">
              <a:off x="9040" y="9411"/>
              <a:ext cx="305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615430" y="1635125"/>
            <a:ext cx="4577715" cy="4101465"/>
            <a:chOff x="7888" y="3229"/>
            <a:chExt cx="5554" cy="4832"/>
          </a:xfrm>
        </p:grpSpPr>
        <p:pic>
          <p:nvPicPr>
            <p:cNvPr id="13" name="Content Placeholder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7888" y="3229"/>
              <a:ext cx="5555" cy="4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8549" y="6952"/>
              <a:ext cx="862" cy="91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8980" y="3785"/>
              <a:ext cx="3747" cy="362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717550" y="1635125"/>
            <a:ext cx="4578985" cy="4102100"/>
            <a:chOff x="7888" y="3229"/>
            <a:chExt cx="5555" cy="4833"/>
          </a:xfrm>
        </p:grpSpPr>
        <p:pic>
          <p:nvPicPr>
            <p:cNvPr id="4" name="Content Placeholder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 bwMode="auto">
            <a:xfrm>
              <a:off x="7888" y="3229"/>
              <a:ext cx="5555" cy="4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13"/>
            <p:cNvSpPr/>
            <p:nvPr/>
          </p:nvSpPr>
          <p:spPr>
            <a:xfrm>
              <a:off x="12264" y="3323"/>
              <a:ext cx="862" cy="911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" name="Straight Arrow Connector 21"/>
            <p:cNvCxnSpPr/>
            <p:nvPr/>
          </p:nvCxnSpPr>
          <p:spPr>
            <a:xfrm flipH="1">
              <a:off x="8927" y="3774"/>
              <a:ext cx="3773" cy="378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How many chesses need to be check?</a:t>
            </a:r>
            <a:endParaRPr lang="en-US" altLang="zh-CN" sz="280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How many chesses need to be check?</a:t>
            </a:r>
            <a:endParaRPr lang="en-US" altLang="zh-C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4+1+4</a:t>
            </a:r>
            <a:endParaRPr lang="en-US" altLang="zh-CN" dirty="0"/>
          </a:p>
          <a:p>
            <a:r>
              <a:rPr lang="en-US" altLang="zh-CN" dirty="0"/>
              <a:t>Check </a:t>
            </a:r>
            <a:r>
              <a:rPr lang="en-US" altLang="zh-CN" dirty="0"/>
              <a:t>boundary limit(0~N-1)</a:t>
            </a:r>
            <a:endParaRPr lang="en-US" altLang="zh-CN" dirty="0"/>
          </a:p>
          <a:p>
            <a:r>
              <a:rPr lang="en-US" altLang="zh-CN" dirty="0"/>
              <a:t>For Example :click at (</a:t>
            </a:r>
            <a:r>
              <a:rPr lang="en-US" altLang="zh-CN" dirty="0" err="1"/>
              <a:t>clickRow,clickCol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en-US" altLang="zh-CN" dirty="0"/>
              <a:t>x direction</a:t>
            </a:r>
            <a:endParaRPr lang="en-US" altLang="zh-CN" dirty="0"/>
          </a:p>
          <a:p>
            <a:pPr lvl="1"/>
            <a:r>
              <a:rPr lang="en-US" altLang="zh-CN" dirty="0"/>
              <a:t>From (clickCol-4) to (clickCol+4)</a:t>
            </a:r>
            <a:endParaRPr lang="en-US" altLang="zh-CN" dirty="0"/>
          </a:p>
          <a:p>
            <a:pPr lvl="1"/>
            <a:r>
              <a:rPr lang="en-US" altLang="zh-CN" dirty="0"/>
              <a:t>Check </a:t>
            </a:r>
            <a:r>
              <a:rPr lang="en-US" altLang="zh-CN" dirty="0" err="1"/>
              <a:t>chessBox</a:t>
            </a:r>
            <a:r>
              <a:rPr lang="en-US" altLang="zh-CN" dirty="0"/>
              <a:t>[][] value </a:t>
            </a:r>
            <a:endParaRPr lang="zh-CN" alt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5864282" y="5128144"/>
            <a:ext cx="6324600" cy="1667164"/>
            <a:chOff x="1058718" y="4941454"/>
            <a:chExt cx="6324600" cy="1667164"/>
          </a:xfrm>
        </p:grpSpPr>
        <p:grpSp>
          <p:nvGrpSpPr>
            <p:cNvPr id="18" name="Group 17"/>
            <p:cNvGrpSpPr/>
            <p:nvPr/>
          </p:nvGrpSpPr>
          <p:grpSpPr>
            <a:xfrm>
              <a:off x="1058718" y="4941454"/>
              <a:ext cx="6324600" cy="1667164"/>
              <a:chOff x="1058718" y="4941454"/>
              <a:chExt cx="6324600" cy="1667164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1"/>
              <a:srcRect t="16254"/>
              <a:stretch>
                <a:fillRect/>
              </a:stretch>
            </p:blipFill>
            <p:spPr>
              <a:xfrm>
                <a:off x="1058718" y="4941454"/>
                <a:ext cx="6324600" cy="1667164"/>
              </a:xfrm>
              <a:prstGeom prst="rect">
                <a:avLst/>
              </a:prstGeom>
            </p:spPr>
          </p:pic>
          <p:sp>
            <p:nvSpPr>
              <p:cNvPr id="10" name="Oval 9"/>
              <p:cNvSpPr/>
              <p:nvPr/>
            </p:nvSpPr>
            <p:spPr>
              <a:xfrm>
                <a:off x="2216727" y="5591465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667411" y="5612244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720686" y="5591464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195780" y="5591464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622225" y="5591463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072909" y="5591465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084620" y="5591462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578186" y="5591461"/>
                <a:ext cx="295563" cy="36714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2674788" y="5384800"/>
              <a:ext cx="2280808" cy="729673"/>
            </a:xfrm>
            <a:prstGeom prst="rect">
              <a:avLst/>
            </a:prstGeom>
            <a:solidFill>
              <a:srgbClr val="CACAFF">
                <a:alpha val="50196"/>
              </a:srgb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611991" y="5410194"/>
              <a:ext cx="2343291" cy="729673"/>
            </a:xfrm>
            <a:prstGeom prst="rect">
              <a:avLst/>
            </a:prstGeom>
            <a:solidFill>
              <a:srgbClr val="CACAFF">
                <a:alpha val="50196"/>
              </a:srgb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bool </a:t>
            </a:r>
            <a:r>
              <a:rPr lang="en-US" altLang="zh-CN" dirty="0" err="1"/>
              <a:t>judgeWin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en-US" altLang="zh-CN" dirty="0" err="1"/>
              <a:t>checkLimit</a:t>
            </a:r>
            <a:r>
              <a:rPr lang="en-US" altLang="zh-CN" dirty="0"/>
              <a:t>() (0~N-1)</a:t>
            </a:r>
            <a:endParaRPr lang="en-US" altLang="zh-CN" dirty="0"/>
          </a:p>
          <a:p>
            <a:pPr lvl="1"/>
            <a:r>
              <a:rPr lang="en-US" altLang="zh-CN" dirty="0"/>
              <a:t>Count the continuous chess with the same color</a:t>
            </a:r>
            <a:endParaRPr lang="en-US" altLang="zh-CN" dirty="0"/>
          </a:p>
          <a:p>
            <a:pPr lvl="1"/>
            <a:r>
              <a:rPr lang="en-US" altLang="zh-CN" dirty="0"/>
              <a:t>Check x, y, y=x, y=-x 4 directions</a:t>
            </a:r>
            <a:endParaRPr lang="en-US" altLang="zh-C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1" y="3895609"/>
            <a:ext cx="6648450" cy="2962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Thinking: if the player regret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Let </a:t>
            </a:r>
            <a:r>
              <a:rPr lang="en-US" altLang="zh-CN" dirty="0" err="1"/>
              <a:t>chessBox</a:t>
            </a:r>
            <a:r>
              <a:rPr lang="en-US" altLang="zh-CN" dirty="0"/>
              <a:t>[</a:t>
            </a:r>
            <a:r>
              <a:rPr lang="en-US" altLang="zh-CN" dirty="0" err="1"/>
              <a:t>clickRow</a:t>
            </a:r>
            <a:r>
              <a:rPr lang="en-US" altLang="zh-CN" dirty="0"/>
              <a:t>][</a:t>
            </a:r>
            <a:r>
              <a:rPr lang="en-US" altLang="zh-CN" dirty="0" err="1"/>
              <a:t>clickCol</a:t>
            </a:r>
            <a:r>
              <a:rPr lang="en-US" altLang="zh-CN" dirty="0"/>
              <a:t>] = 0</a:t>
            </a:r>
            <a:endParaRPr lang="en-US" altLang="zh-CN" dirty="0"/>
          </a:p>
          <a:p>
            <a:r>
              <a:rPr lang="en-US" altLang="zh-CN" dirty="0"/>
              <a:t>How to remove the chess from view?</a:t>
            </a:r>
            <a:endParaRPr lang="en-US" altLang="zh-CN" dirty="0"/>
          </a:p>
          <a:p>
            <a:pPr lvl="1"/>
            <a:r>
              <a:rPr lang="en-US" altLang="zh-CN" dirty="0" err="1"/>
              <a:t>Cleardevice</a:t>
            </a:r>
            <a:endParaRPr lang="en-US" altLang="zh-CN" dirty="0"/>
          </a:p>
          <a:p>
            <a:pPr lvl="1"/>
            <a:r>
              <a:rPr lang="en-US" altLang="zh-CN" dirty="0"/>
              <a:t>Draw board</a:t>
            </a:r>
            <a:endParaRPr lang="en-US" altLang="zh-CN" dirty="0"/>
          </a:p>
          <a:p>
            <a:pPr lvl="1"/>
            <a:r>
              <a:rPr lang="en-US" altLang="zh-CN" dirty="0"/>
              <a:t>Draw </a:t>
            </a:r>
            <a:r>
              <a:rPr lang="en-US" altLang="zh-CN" dirty="0" err="1"/>
              <a:t>chessBox</a:t>
            </a:r>
            <a:endParaRPr lang="en-US" altLang="zh-CN" dirty="0"/>
          </a:p>
          <a:p>
            <a:pPr lvl="1"/>
            <a:r>
              <a:rPr lang="en-US" altLang="zh-CN" dirty="0"/>
              <a:t>flag</a:t>
            </a:r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</a:t>
            </a:r>
            <a:r>
              <a:rPr lang="en-US" altLang="zh-CN" dirty="0" err="1"/>
              <a:t>regretPlay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en-US" altLang="zh-CN" dirty="0" err="1"/>
              <a:t>chessBox</a:t>
            </a:r>
            <a:r>
              <a:rPr lang="en-US" altLang="zh-CN" dirty="0"/>
              <a:t>[</a:t>
            </a:r>
            <a:r>
              <a:rPr lang="en-US" altLang="zh-CN" dirty="0" err="1"/>
              <a:t>clickRow</a:t>
            </a:r>
            <a:r>
              <a:rPr lang="en-US" altLang="zh-CN" dirty="0"/>
              <a:t>][</a:t>
            </a:r>
            <a:r>
              <a:rPr lang="en-US" altLang="zh-CN" dirty="0" err="1"/>
              <a:t>clickCol</a:t>
            </a:r>
            <a:r>
              <a:rPr lang="en-US" altLang="zh-CN" dirty="0"/>
              <a:t>] = 0;</a:t>
            </a:r>
            <a:endParaRPr lang="en-US" altLang="zh-CN" dirty="0"/>
          </a:p>
          <a:p>
            <a:pPr lvl="1"/>
            <a:r>
              <a:rPr lang="en-US" altLang="zh-CN" dirty="0"/>
              <a:t>drawboard();</a:t>
            </a:r>
            <a:endParaRPr lang="en-US" altLang="zh-CN" dirty="0"/>
          </a:p>
          <a:p>
            <a:pPr lvl="1"/>
            <a:r>
              <a:rPr lang="en-US" altLang="zh-CN" dirty="0"/>
              <a:t>For loop </a:t>
            </a:r>
            <a:r>
              <a:rPr lang="en-US" altLang="zh-CN" dirty="0" err="1"/>
              <a:t>drawChess</a:t>
            </a:r>
            <a:r>
              <a:rPr lang="en-US" altLang="zh-CN" dirty="0"/>
              <a:t>() with </a:t>
            </a:r>
            <a:r>
              <a:rPr lang="en-US" altLang="zh-CN" dirty="0" err="1"/>
              <a:t>chessBox</a:t>
            </a:r>
            <a:r>
              <a:rPr lang="en-US" altLang="zh-CN" dirty="0"/>
              <a:t>[N][N]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GetHWnd();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Returns the handle of the graphics window.</a:t>
            </a: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endParaRPr lang="en-US" altLang="zh-CN" sz="1800" dirty="0">
              <a:solidFill>
                <a:srgbClr val="2B91AF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GetHWnd();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MoveWindow(hwnd, coord_x, coord_y, width, height,</a:t>
            </a:r>
            <a:r>
              <a:rPr lang="en-US" altLang="zh-CN" sz="18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TRUE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//set window position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SetWindowText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(hwnd, 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L"</a:t>
            </a:r>
            <a:r>
              <a:rPr lang="zh-CN" altLang="en-US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五子棋对战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 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//set window name</a:t>
            </a:r>
            <a:endParaRPr lang="en-US" altLang="zh-CN" b="0" i="0" dirty="0">
              <a:solidFill>
                <a:srgbClr val="212529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781" y="4759180"/>
            <a:ext cx="2438400" cy="9048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MessageBox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MessageBox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         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handle to owner window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LPCTSTR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lpText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    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text in message box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LPCTSTR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lpCaption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 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message box title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UINT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uType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</a:t>
            </a:r>
            <a:r>
              <a:rPr lang="en-US" altLang="zh-CN" sz="1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message box style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Example:</a:t>
            </a:r>
            <a:endParaRPr lang="en-US" altLang="zh-CN" dirty="0">
              <a:solidFill>
                <a:srgbClr val="000000"/>
              </a:solidFill>
              <a:latin typeface="+mj-lt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HWND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wnd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GetHWnd(); 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ret = 0;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 = </a:t>
            </a:r>
            <a:r>
              <a:rPr lang="en-US" altLang="zh-CN" sz="1800" dirty="0" err="1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MessageBox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(hwnd, 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L"</a:t>
            </a:r>
            <a:r>
              <a:rPr lang="zh-CN" altLang="en-US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黑棋获胜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</a:t>
            </a:r>
            <a:r>
              <a:rPr lang="zh-CN" altLang="en-US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重来一局吗？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L"</a:t>
            </a:r>
            <a:r>
              <a:rPr lang="zh-CN" altLang="en-US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游戏结束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18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MB_YESNO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|</a:t>
            </a:r>
            <a:r>
              <a:rPr lang="en-US" altLang="zh-CN" sz="18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MB_ICONQUESTION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(ret == </a:t>
            </a:r>
            <a:r>
              <a:rPr lang="en-US" altLang="zh-CN" sz="18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IDYES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2811461"/>
            <a:ext cx="2819400" cy="20478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Complete </a:t>
            </a:r>
            <a:r>
              <a:rPr lang="en-US" altLang="zh-CN" dirty="0" err="1"/>
              <a:t>judgeWin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checkLimit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Complete person vs person game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692" y="3694281"/>
            <a:ext cx="2890272" cy="301593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禁手规则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三三禁手</a:t>
            </a:r>
            <a:endParaRPr lang="zh-CN" altLang="en-US" dirty="0"/>
          </a:p>
          <a:p>
            <a:pPr lvl="1"/>
            <a:r>
              <a:rPr lang="zh-CN" altLang="en-US" dirty="0"/>
              <a:t>由于黑方落一子，同时形成二个或二个以上黑方</a:t>
            </a:r>
            <a:r>
              <a:rPr lang="zh-CN" altLang="en-US" dirty="0">
                <a:solidFill>
                  <a:srgbClr val="FF0000"/>
                </a:solidFill>
              </a:rPr>
              <a:t>活三</a:t>
            </a:r>
            <a:r>
              <a:rPr lang="zh-CN" altLang="en-US" dirty="0"/>
              <a:t>的局面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四四禁手</a:t>
            </a:r>
            <a:endParaRPr lang="zh-CN" altLang="en-US" dirty="0"/>
          </a:p>
          <a:p>
            <a:pPr lvl="1"/>
            <a:r>
              <a:rPr lang="zh-CN" altLang="en-US" dirty="0"/>
              <a:t>由于黑方落一子，同时形成二个或二个以上黑方四（</a:t>
            </a:r>
            <a:r>
              <a:rPr lang="zh-CN" altLang="en-US" dirty="0">
                <a:solidFill>
                  <a:srgbClr val="FF0000"/>
                </a:solidFill>
              </a:rPr>
              <a:t>活四或者冲四</a:t>
            </a:r>
            <a:r>
              <a:rPr lang="zh-CN" altLang="en-US" dirty="0"/>
              <a:t>）的局面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长连禁手</a:t>
            </a:r>
            <a:endParaRPr lang="zh-CN" altLang="en-US" dirty="0"/>
          </a:p>
          <a:p>
            <a:pPr lvl="1"/>
            <a:r>
              <a:rPr lang="zh-CN" altLang="en-US" dirty="0"/>
              <a:t>由于黑方落一子，形成</a:t>
            </a:r>
            <a:r>
              <a:rPr lang="zh-CN" altLang="en-US" dirty="0">
                <a:solidFill>
                  <a:srgbClr val="FF0000"/>
                </a:solidFill>
              </a:rPr>
              <a:t>六个</a:t>
            </a:r>
            <a:r>
              <a:rPr lang="zh-CN" altLang="en-US" dirty="0"/>
              <a:t>或者六个以上的同色连续棋子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" y="242944"/>
            <a:ext cx="4810125" cy="6372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433" y="236481"/>
            <a:ext cx="4838700" cy="4219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File Read and Write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33090" y="1267460"/>
            <a:ext cx="5653405" cy="4971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66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66"/>
</p:tagLst>
</file>

<file path=ppt/tags/tag16.xml><?xml version="1.0" encoding="utf-8"?>
<p:tagLst xmlns:p="http://schemas.openxmlformats.org/presentationml/2006/main">
  <p:tag name="KSO_WM_SPECIAL_SOURCE" val="bdnull"/>
</p:tagLst>
</file>

<file path=ppt/tags/tag17.xml><?xml version="1.0" encoding="utf-8"?>
<p:tagLst xmlns:p="http://schemas.openxmlformats.org/presentationml/2006/main">
  <p:tag name="KSO_WM_SPECIAL_SOURCE" val="bdnull"/>
</p:tagLst>
</file>

<file path=ppt/tags/tag18.xml><?xml version="1.0" encoding="utf-8"?>
<p:tagLst xmlns:p="http://schemas.openxmlformats.org/presentationml/2006/main">
  <p:tag name="KSO_WM_SPECIAL_SOURCE" val="bdnull"/>
</p:tagLst>
</file>

<file path=ppt/tags/tag19.xml><?xml version="1.0" encoding="utf-8"?>
<p:tagLst xmlns:p="http://schemas.openxmlformats.org/presentationml/2006/main">
  <p:tag name="KSO_WM_SPECIAL_SOURCE" val="bdnull"/>
</p:tagLst>
</file>

<file path=ppt/tags/tag20.xml><?xml version="1.0" encoding="utf-8"?>
<p:tagLst xmlns:p="http://schemas.openxmlformats.org/presentationml/2006/main">
  <p:tag name="KSO_WM_SPECIAL_SOURCE" val="bdnull"/>
</p:tagLst>
</file>

<file path=ppt/tags/tag21.xml><?xml version="1.0" encoding="utf-8"?>
<p:tagLst xmlns:p="http://schemas.openxmlformats.org/presentationml/2006/main">
  <p:tag name="KSO_WM_SPECIAL_SOURCE" val="bdnull"/>
</p:tagLst>
</file>

<file path=ppt/tags/tag22.xml><?xml version="1.0" encoding="utf-8"?>
<p:tagLst xmlns:p="http://schemas.openxmlformats.org/presentationml/2006/main">
  <p:tag name="KSO_WM_SPECIAL_SOURCE" val="bdnull"/>
</p:tagLst>
</file>

<file path=ppt/tags/tag23.xml><?xml version="1.0" encoding="utf-8"?>
<p:tagLst xmlns:p="http://schemas.openxmlformats.org/presentationml/2006/main">
  <p:tag name="KSO_WM_SPECIAL_SOURCE" val="bdnull"/>
</p:tagLst>
</file>

<file path=ppt/tags/tag24.xml><?xml version="1.0" encoding="utf-8"?>
<p:tagLst xmlns:p="http://schemas.openxmlformats.org/presentationml/2006/main">
  <p:tag name="KSO_WM_SPECIAL_SOURCE" val="bdnull"/>
</p:tagLst>
</file>

<file path=ppt/tags/tag25.xml><?xml version="1.0" encoding="utf-8"?>
<p:tagLst xmlns:p="http://schemas.openxmlformats.org/presentationml/2006/main">
  <p:tag name="KSO_WM_SPECIAL_SOURCE" val="bdnull"/>
</p:tagLst>
</file>

<file path=ppt/tags/tag26.xml><?xml version="1.0" encoding="utf-8"?>
<p:tagLst xmlns:p="http://schemas.openxmlformats.org/presentationml/2006/main">
  <p:tag name="KSO_WM_SPECIAL_SOURCE" val="bdnull"/>
</p:tagLst>
</file>

<file path=ppt/tags/tag27.xml><?xml version="1.0" encoding="utf-8"?>
<p:tagLst xmlns:p="http://schemas.openxmlformats.org/presentationml/2006/main">
  <p:tag name="KSO_WM_SPECIAL_SOURCE" val="bdnull"/>
</p:tagLst>
</file>

<file path=ppt/tags/tag28.xml><?xml version="1.0" encoding="utf-8"?>
<p:tagLst xmlns:p="http://schemas.openxmlformats.org/presentationml/2006/main">
  <p:tag name="KSO_WM_SPECIAL_SOURCE" val="bdnull"/>
</p:tagLst>
</file>

<file path=ppt/tags/tag29.xml><?xml version="1.0" encoding="utf-8"?>
<p:tagLst xmlns:p="http://schemas.openxmlformats.org/presentationml/2006/main">
  <p:tag name="KSO_WM_SPECIAL_SOURCE" val="bdnull"/>
</p:tagLst>
</file>

<file path=ppt/tags/tag30.xml><?xml version="1.0" encoding="utf-8"?>
<p:tagLst xmlns:p="http://schemas.openxmlformats.org/presentationml/2006/main">
  <p:tag name="KSO_WM_SPECIAL_SOURCE" val="bdnull"/>
</p:tagLst>
</file>

<file path=ppt/tags/tag31.xml><?xml version="1.0" encoding="utf-8"?>
<p:tagLst xmlns:p="http://schemas.openxmlformats.org/presentationml/2006/main">
  <p:tag name="KSO_WPP_MARK_KEY" val="8c09f6f4-05b7-4005-8d8d-d66759460d41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</Words>
  <Application>WPS 演示</Application>
  <PresentationFormat>宽屏</PresentationFormat>
  <Paragraphs>108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Noto Sans S Chinese Black</vt:lpstr>
      <vt:lpstr>Times New Roman</vt:lpstr>
      <vt:lpstr>Noto Sans S Chinese Bold</vt:lpstr>
      <vt:lpstr>Segoe UI</vt:lpstr>
      <vt:lpstr>新宋体</vt:lpstr>
      <vt:lpstr>Arial Unicode MS</vt:lpstr>
      <vt:lpstr>Calibri</vt:lpstr>
      <vt:lpstr>1_Office 主题​​</vt:lpstr>
      <vt:lpstr>Week9:Gobang2</vt:lpstr>
      <vt:lpstr>Review</vt:lpstr>
      <vt:lpstr>Review</vt:lpstr>
      <vt:lpstr>How to play?</vt:lpstr>
      <vt:lpstr>Judge if the player win</vt:lpstr>
      <vt:lpstr>How many chesses need to be check?</vt:lpstr>
      <vt:lpstr>How many chesses need to be check?</vt:lpstr>
      <vt:lpstr>How many chesses need to be check?</vt:lpstr>
      <vt:lpstr>Practice</vt:lpstr>
      <vt:lpstr>Thinking: if the player regret</vt:lpstr>
      <vt:lpstr>Practice</vt:lpstr>
      <vt:lpstr>GetHWnd();</vt:lpstr>
      <vt:lpstr>MessageBox()</vt:lpstr>
      <vt:lpstr>Homework</vt:lpstr>
      <vt:lpstr>禁手规则</vt:lpstr>
      <vt:lpstr>PowerPoint 演示文稿</vt:lpstr>
      <vt:lpstr>File Read and Write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沈舒尹</cp:lastModifiedBy>
  <cp:revision>202</cp:revision>
  <dcterms:created xsi:type="dcterms:W3CDTF">2019-06-19T02:08:00Z</dcterms:created>
  <dcterms:modified xsi:type="dcterms:W3CDTF">2026-03-17T07:49:31Z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2CFAAB0B45214E978428CFA9B596BB92</vt:lpwstr>
  </property>
</Properties>
</file>