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2"/>
    <p:sldId id="412" r:id="rId3"/>
    <p:sldId id="413" r:id="rId4"/>
    <p:sldId id="431" r:id="rId5"/>
    <p:sldId id="432" r:id="rId6"/>
    <p:sldId id="435" r:id="rId7"/>
    <p:sldId id="436" r:id="rId8"/>
    <p:sldId id="43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3308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40" y="72"/>
      </p:cViewPr>
      <p:guideLst>
        <p:guide orient="horz" pos="2184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6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2024/11/18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RBTree</a:t>
            </a:r>
            <a:r>
              <a:rPr lang="zh-CN" altLang="en-US"/>
              <a:t>插入旋转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单击输入您的封面副标题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右旋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9" idx="3"/>
            <a:endCxn id="3" idx="3"/>
          </p:cNvCxnSpPr>
          <p:nvPr/>
        </p:nvCxnSpPr>
        <p:spPr>
          <a:xfrm flipH="1">
            <a:off x="3529965" y="4036060"/>
            <a:ext cx="222250" cy="1803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剪去同侧角的矩形 12"/>
          <p:cNvSpPr/>
          <p:nvPr/>
        </p:nvSpPr>
        <p:spPr>
          <a:xfrm>
            <a:off x="4207510" y="4216400"/>
            <a:ext cx="171450" cy="173355"/>
          </a:xfrm>
          <a:prstGeom prst="snip2SameRect">
            <a:avLst>
              <a:gd name="adj1" fmla="val 32592"/>
              <a:gd name="adj2" fmla="val 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stCxn id="9" idx="5"/>
            <a:endCxn id="13" idx="3"/>
          </p:cNvCxnSpPr>
          <p:nvPr/>
        </p:nvCxnSpPr>
        <p:spPr>
          <a:xfrm>
            <a:off x="4064000" y="4036060"/>
            <a:ext cx="229235" cy="1803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4207510" y="3020695"/>
            <a:ext cx="770890" cy="683260"/>
            <a:chOff x="6626" y="4757"/>
            <a:chExt cx="1214" cy="1076"/>
          </a:xfrm>
        </p:grpSpPr>
        <p:sp>
          <p:nvSpPr>
            <p:cNvPr id="5" name="椭圆 4"/>
            <p:cNvSpPr/>
            <p:nvPr/>
          </p:nvSpPr>
          <p:spPr>
            <a:xfrm>
              <a:off x="6626" y="4757"/>
              <a:ext cx="695" cy="74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剪去同侧角的矩形 16"/>
            <p:cNvSpPr/>
            <p:nvPr/>
          </p:nvSpPr>
          <p:spPr>
            <a:xfrm>
              <a:off x="7570" y="5596"/>
              <a:ext cx="270" cy="237"/>
            </a:xfrm>
            <a:prstGeom prst="snip2SameRect">
              <a:avLst>
                <a:gd name="adj1" fmla="val 40740"/>
                <a:gd name="adj2" fmla="val 0"/>
              </a:avLst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" name="直接箭头连接符 17"/>
            <p:cNvCxnSpPr>
              <a:stCxn id="5" idx="5"/>
            </p:cNvCxnSpPr>
            <p:nvPr/>
          </p:nvCxnSpPr>
          <p:spPr>
            <a:xfrm>
              <a:off x="7219" y="5389"/>
              <a:ext cx="413" cy="27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剪去同侧角的矩形 2"/>
          <p:cNvSpPr/>
          <p:nvPr/>
        </p:nvSpPr>
        <p:spPr>
          <a:xfrm>
            <a:off x="3444240" y="4216400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剪去同侧角的矩形 28"/>
          <p:cNvSpPr/>
          <p:nvPr/>
        </p:nvSpPr>
        <p:spPr>
          <a:xfrm>
            <a:off x="2861310" y="5165725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357245" y="5055235"/>
            <a:ext cx="4219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子树，实心为左子树，空心为右子树。颜色为旋转前父节点颜色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04 L 0.021895 0.000004 C 0.031695 0.000004 0.043770 0.024869 0.043770 0.045051 L 0.043770 0.090096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" y="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3 0.000043 L 0.000003 -0.044588 C 0.000003 -0.064581 0.011532 -0.089217 0.020889 -0.089217 L 0.041774 -0.089217 " pathEditMode="relative" rAng="0" ptsTypes=""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-4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8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5313 -0.000556 " pathEditMode="relative" rAng="0" ptsTypes="">
                                      <p:cBhvr>
                                        <p:cTn id="1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800000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4792 0.000370 " pathEditMode="relative" rAng="0" ptsTypes="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21458 -0.000648 " pathEditMode="relative" rAng="0" ptsTypes="">
                                      <p:cBhvr>
                                        <p:cTn id="2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2292 -0.087685 " pathEditMode="relative" ptsTypes="">
                                      <p:cBhvr>
                                        <p:cTn id="2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46 -0.001296 L 0.043802 -0.088611 " pathEditMode="relative" rAng="0" ptsTypes=""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" y="-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3" grpId="0" bldLvl="0" animBg="1"/>
      <p:bldP spid="3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左旋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4677410" y="3622675"/>
            <a:ext cx="770890" cy="683260"/>
            <a:chOff x="6626" y="4757"/>
            <a:chExt cx="1214" cy="1076"/>
          </a:xfrm>
        </p:grpSpPr>
        <p:sp>
          <p:nvSpPr>
            <p:cNvPr id="11" name="椭圆 10"/>
            <p:cNvSpPr/>
            <p:nvPr/>
          </p:nvSpPr>
          <p:spPr>
            <a:xfrm>
              <a:off x="6626" y="4757"/>
              <a:ext cx="695" cy="74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剪去同侧角的矩形 18"/>
            <p:cNvSpPr/>
            <p:nvPr/>
          </p:nvSpPr>
          <p:spPr>
            <a:xfrm>
              <a:off x="7570" y="5560"/>
              <a:ext cx="270" cy="273"/>
            </a:xfrm>
            <a:prstGeom prst="snip2SameRect">
              <a:avLst>
                <a:gd name="adj1" fmla="val 34444"/>
                <a:gd name="adj2" fmla="val 0"/>
              </a:avLst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7259" y="5368"/>
              <a:ext cx="311" cy="27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3907155" y="3020695"/>
            <a:ext cx="741045" cy="749300"/>
            <a:chOff x="6153" y="4757"/>
            <a:chExt cx="1167" cy="1180"/>
          </a:xfrm>
        </p:grpSpPr>
        <p:sp>
          <p:nvSpPr>
            <p:cNvPr id="21" name="椭圆 20"/>
            <p:cNvSpPr/>
            <p:nvPr/>
          </p:nvSpPr>
          <p:spPr>
            <a:xfrm>
              <a:off x="6626" y="4757"/>
              <a:ext cx="695" cy="7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箭头连接符 21"/>
            <p:cNvCxnSpPr>
              <a:stCxn id="21" idx="3"/>
              <a:endCxn id="24" idx="7"/>
            </p:cNvCxnSpPr>
            <p:nvPr/>
          </p:nvCxnSpPr>
          <p:spPr>
            <a:xfrm flipH="1">
              <a:off x="6383" y="5389"/>
              <a:ext cx="345" cy="316"/>
            </a:xfrm>
            <a:prstGeom prst="straightConnector1">
              <a:avLst/>
            </a:prstGeom>
            <a:ln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剪去同侧角的矩形 23"/>
            <p:cNvSpPr/>
            <p:nvPr/>
          </p:nvSpPr>
          <p:spPr>
            <a:xfrm>
              <a:off x="6153" y="5665"/>
              <a:ext cx="270" cy="273"/>
            </a:xfrm>
            <a:prstGeom prst="snip2SameRect">
              <a:avLst>
                <a:gd name="adj1" fmla="val 37777"/>
                <a:gd name="adj2" fmla="val 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9" name="直接箭头连接符 28"/>
          <p:cNvCxnSpPr>
            <a:stCxn id="21" idx="5"/>
          </p:cNvCxnSpPr>
          <p:nvPr/>
        </p:nvCxnSpPr>
        <p:spPr>
          <a:xfrm>
            <a:off x="4584065" y="3422015"/>
            <a:ext cx="191770" cy="2444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剪去同侧角的矩形 29"/>
          <p:cNvSpPr/>
          <p:nvPr/>
        </p:nvSpPr>
        <p:spPr>
          <a:xfrm>
            <a:off x="4438015" y="4185920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/>
          <p:cNvCxnSpPr>
            <a:stCxn id="11" idx="3"/>
            <a:endCxn id="30" idx="3"/>
          </p:cNvCxnSpPr>
          <p:nvPr/>
        </p:nvCxnSpPr>
        <p:spPr>
          <a:xfrm flipH="1">
            <a:off x="4523740" y="4023995"/>
            <a:ext cx="218440" cy="161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3281 0.088148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0" y="4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37917 -0.081667 " pathEditMode="relative" rAng="0" ptsTypes="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0" y="-37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800000">
                                      <p:cBhvr>
                                        <p:cTn id="1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1302 0.000000 " pathEditMode="relative" ptsTypes="">
                                      <p:cBhvr>
                                        <p:cTn id="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0990 0.000000 " pathEditMode="relative" ptsTypes="">
                                      <p:cBhvr>
                                        <p:cTn id="1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17865 -0.000648 " pathEditMode="relative" ptsTypes="">
                                      <p:cBhvr>
                                        <p:cTn id="2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节点定义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N</a:t>
            </a: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207510" y="30206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357245" y="5055235"/>
            <a:ext cx="6217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N:</a:t>
            </a:r>
            <a:r>
              <a:rPr lang="zh-CN" altLang="en-US"/>
              <a:t>新插入节点，</a:t>
            </a:r>
            <a:r>
              <a:rPr lang="en-US" altLang="zh-CN"/>
              <a:t>S</a:t>
            </a:r>
            <a:r>
              <a:rPr lang="zh-CN" altLang="en-US"/>
              <a:t>新节点的兄弟节点，</a:t>
            </a:r>
            <a:r>
              <a:rPr lang="en-US" altLang="zh-CN"/>
              <a:t>P</a:t>
            </a:r>
            <a:r>
              <a:rPr lang="zh-CN" altLang="en-US"/>
              <a:t>为</a:t>
            </a:r>
            <a:r>
              <a:rPr lang="en-US" altLang="zh-CN"/>
              <a:t>N</a:t>
            </a:r>
            <a:r>
              <a:rPr lang="zh-CN" altLang="en-US"/>
              <a:t>的父节点，</a:t>
            </a:r>
            <a:r>
              <a:rPr lang="en-US" altLang="zh-CN"/>
              <a:t>GP</a:t>
            </a:r>
            <a:r>
              <a:rPr lang="zh-CN" altLang="en-US"/>
              <a:t>为其祖父节点，</a:t>
            </a:r>
            <a:r>
              <a:rPr lang="en-US" altLang="zh-CN"/>
              <a:t>U</a:t>
            </a:r>
            <a:r>
              <a:rPr lang="zh-CN" altLang="en-US"/>
              <a:t>为</a:t>
            </a:r>
            <a:r>
              <a:rPr lang="en-US" altLang="zh-CN"/>
              <a:t>uncle</a:t>
            </a:r>
            <a:r>
              <a:rPr lang="zh-CN" altLang="en-US"/>
              <a:t>节点。</a:t>
            </a:r>
          </a:p>
        </p:txBody>
      </p:sp>
      <p:sp>
        <p:nvSpPr>
          <p:cNvPr id="2" name="椭圆 1"/>
          <p:cNvSpPr/>
          <p:nvPr/>
        </p:nvSpPr>
        <p:spPr>
          <a:xfrm>
            <a:off x="4742180" y="363474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4584065" y="34220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插入情况</a:t>
            </a:r>
            <a:r>
              <a:rPr lang="en-US" altLang="zh-CN"/>
              <a:t>1-</a:t>
            </a:r>
            <a:r>
              <a:t>父节点为黑色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N</a:t>
            </a: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207510" y="302069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983865" y="4659630"/>
            <a:ext cx="6217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其他结点颜色满足红黑树要求，不需要任何操作。相当于</a:t>
            </a:r>
            <a:r>
              <a:rPr lang="en-US" altLang="zh-CN"/>
              <a:t>4</a:t>
            </a:r>
            <a:r>
              <a:rPr lang="zh-CN" altLang="en-US"/>
              <a:t>阶</a:t>
            </a:r>
            <a:r>
              <a:rPr lang="en-US" altLang="zh-CN"/>
              <a:t>b</a:t>
            </a:r>
            <a:r>
              <a:rPr lang="zh-CN" altLang="en-US"/>
              <a:t>树一个不满的节点（</a:t>
            </a:r>
            <a:r>
              <a:rPr lang="en-US" altLang="zh-CN"/>
              <a:t>1</a:t>
            </a:r>
            <a:r>
              <a:rPr lang="zh-CN" altLang="en-US"/>
              <a:t>个或</a:t>
            </a:r>
            <a:r>
              <a:rPr lang="en-US" altLang="zh-CN"/>
              <a:t>2</a:t>
            </a:r>
            <a:r>
              <a:rPr lang="zh-CN" altLang="en-US"/>
              <a:t>个）插入一个元素。</a:t>
            </a:r>
          </a:p>
        </p:txBody>
      </p:sp>
      <p:sp>
        <p:nvSpPr>
          <p:cNvPr id="2" name="椭圆 1"/>
          <p:cNvSpPr/>
          <p:nvPr/>
        </p:nvSpPr>
        <p:spPr>
          <a:xfrm>
            <a:off x="4742180" y="363474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4584065" y="34220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插入情况</a:t>
            </a:r>
            <a:r>
              <a:rPr lang="en-US" altLang="zh-CN"/>
              <a:t>2-</a:t>
            </a:r>
            <a:r>
              <a:t>父节点为红色，</a:t>
            </a:r>
            <a:r>
              <a:rPr lang="en-US" altLang="zh-CN"/>
              <a:t>U</a:t>
            </a:r>
            <a:r>
              <a:t>节点为黑色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G</a:t>
            </a:r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U</a:t>
            </a: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N</a:t>
            </a: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207510" y="302069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357245" y="5055235"/>
            <a:ext cx="6217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相当于在一个具有</a:t>
            </a:r>
            <a:r>
              <a:rPr lang="en-US" altLang="zh-CN"/>
              <a:t>2</a:t>
            </a:r>
            <a:r>
              <a:rPr lang="zh-CN" altLang="en-US"/>
              <a:t>个节点的</a:t>
            </a:r>
            <a:r>
              <a:rPr lang="en-US" altLang="zh-CN"/>
              <a:t>4</a:t>
            </a:r>
            <a:r>
              <a:rPr lang="zh-CN" altLang="en-US"/>
              <a:t>阶</a:t>
            </a:r>
            <a:r>
              <a:rPr lang="en-US" altLang="zh-CN"/>
              <a:t>B</a:t>
            </a:r>
            <a:r>
              <a:rPr lang="zh-CN" altLang="en-US"/>
              <a:t>树中插入一个新节点。需要进行旋转，染色，但是不会影响</a:t>
            </a:r>
            <a:r>
              <a:rPr lang="en-US" altLang="zh-CN"/>
              <a:t>B</a:t>
            </a:r>
            <a:r>
              <a:rPr lang="zh-CN" altLang="en-US"/>
              <a:t>树树高，也就不会影响</a:t>
            </a:r>
            <a:r>
              <a:rPr lang="en-US" altLang="zh-CN"/>
              <a:t>RB</a:t>
            </a:r>
            <a:r>
              <a:rPr lang="zh-CN" altLang="en-US"/>
              <a:t>树的黑色边个数。</a:t>
            </a:r>
          </a:p>
        </p:txBody>
      </p:sp>
      <p:sp>
        <p:nvSpPr>
          <p:cNvPr id="2" name="椭圆 1"/>
          <p:cNvSpPr/>
          <p:nvPr/>
        </p:nvSpPr>
        <p:spPr>
          <a:xfrm>
            <a:off x="4742180" y="363474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4584065" y="34220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7736840" y="253682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G</a:t>
            </a:r>
          </a:p>
        </p:txBody>
      </p:sp>
      <p:cxnSp>
        <p:nvCxnSpPr>
          <p:cNvPr id="13" name="直接箭头连接符 12"/>
          <p:cNvCxnSpPr>
            <a:stCxn id="3" idx="3"/>
            <a:endCxn id="18" idx="7"/>
          </p:cNvCxnSpPr>
          <p:nvPr/>
        </p:nvCxnSpPr>
        <p:spPr>
          <a:xfrm flipH="1">
            <a:off x="7578725" y="293814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8113395" y="2938145"/>
            <a:ext cx="568325" cy="695960"/>
            <a:chOff x="12777" y="4627"/>
            <a:chExt cx="895" cy="1096"/>
          </a:xfrm>
        </p:grpSpPr>
        <p:sp>
          <p:nvSpPr>
            <p:cNvPr id="12" name="椭圆 11"/>
            <p:cNvSpPr/>
            <p:nvPr/>
          </p:nvSpPr>
          <p:spPr>
            <a:xfrm>
              <a:off x="12978" y="4983"/>
              <a:ext cx="695" cy="74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>
                  <a:solidFill>
                    <a:schemeClr val="bg1"/>
                  </a:solidFill>
                  <a:sym typeface="+mn-ea"/>
                </a:rPr>
                <a:t>U</a:t>
              </a:r>
            </a:p>
          </p:txBody>
        </p:sp>
        <p:cxnSp>
          <p:nvCxnSpPr>
            <p:cNvPr id="14" name="直接箭头连接符 13"/>
            <p:cNvCxnSpPr>
              <a:stCxn id="3" idx="5"/>
              <a:endCxn id="12" idx="1"/>
            </p:cNvCxnSpPr>
            <p:nvPr/>
          </p:nvCxnSpPr>
          <p:spPr>
            <a:xfrm>
              <a:off x="12777" y="4627"/>
              <a:ext cx="303" cy="46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椭圆 15"/>
          <p:cNvSpPr/>
          <p:nvPr/>
        </p:nvSpPr>
        <p:spPr>
          <a:xfrm>
            <a:off x="6682105" y="377825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N</a:t>
            </a:r>
          </a:p>
        </p:txBody>
      </p:sp>
      <p:cxnSp>
        <p:nvCxnSpPr>
          <p:cNvPr id="17" name="直接箭头连接符 16"/>
          <p:cNvCxnSpPr>
            <a:stCxn id="18" idx="3"/>
            <a:endCxn id="16" idx="7"/>
          </p:cNvCxnSpPr>
          <p:nvPr/>
        </p:nvCxnSpPr>
        <p:spPr>
          <a:xfrm flipH="1">
            <a:off x="7058660" y="356552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7202170" y="316420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19" name="椭圆 18"/>
          <p:cNvSpPr/>
          <p:nvPr/>
        </p:nvSpPr>
        <p:spPr>
          <a:xfrm>
            <a:off x="7736840" y="384746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20" name="直接箭头连接符 19"/>
          <p:cNvCxnSpPr>
            <a:stCxn id="18" idx="5"/>
            <a:endCxn id="19" idx="1"/>
          </p:cNvCxnSpPr>
          <p:nvPr/>
        </p:nvCxnSpPr>
        <p:spPr>
          <a:xfrm>
            <a:off x="7578725" y="3565525"/>
            <a:ext cx="222885" cy="351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29 0.011944 L 0.034323 0.099537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" y="4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1302 0.093704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4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1823 0.000000 " pathEditMode="relative" ptsTypes="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200000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3 0.000648 L 0.043385 -0.092963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-4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54 0.005556 L 0.040313 -0.088703 " pathEditMode="relative" rAng="0" ptsTypes="">
                                      <p:cBhvr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-47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25 0.001019 L 0.038698 -0.087778 " pathEditMode="relative" rAng="0" ptsTypes="">
                                      <p:cBhvr>
                                        <p:cTn id="2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" y="-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5469 0.003056 " pathEditMode="relative" rAng="0" ptsTypes="">
                                      <p:cBhvr>
                                        <p:cTn id="3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3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15729 0.005370 " pathEditMode="relative" rAng="0" ptsTypes="">
                                      <p:cBhvr>
                                        <p:cTn id="3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箭头连接符 19"/>
          <p:cNvCxnSpPr>
            <a:stCxn id="18" idx="5"/>
            <a:endCxn id="19" idx="1"/>
          </p:cNvCxnSpPr>
          <p:nvPr/>
        </p:nvCxnSpPr>
        <p:spPr>
          <a:xfrm>
            <a:off x="7578725" y="3565525"/>
            <a:ext cx="222885" cy="351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插入情况</a:t>
            </a:r>
            <a:r>
              <a:rPr lang="en-US" altLang="zh-CN"/>
              <a:t>3-</a:t>
            </a:r>
            <a:r>
              <a:t>父节点为红色，</a:t>
            </a:r>
            <a:r>
              <a:rPr lang="en-US" altLang="zh-CN"/>
              <a:t>U</a:t>
            </a:r>
            <a:r>
              <a:t>节点为黑色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G</a:t>
            </a:r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U</a:t>
            </a: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207510" y="302069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357245" y="5055235"/>
            <a:ext cx="6217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相当于在一个具有</a:t>
            </a:r>
            <a:r>
              <a:rPr lang="en-US" altLang="zh-CN"/>
              <a:t>2</a:t>
            </a:r>
            <a:r>
              <a:rPr lang="zh-CN" altLang="en-US"/>
              <a:t>个节点的</a:t>
            </a:r>
            <a:r>
              <a:rPr lang="en-US" altLang="zh-CN"/>
              <a:t>4</a:t>
            </a:r>
            <a:r>
              <a:rPr lang="zh-CN" altLang="en-US"/>
              <a:t>阶</a:t>
            </a:r>
            <a:r>
              <a:rPr lang="en-US" altLang="zh-CN"/>
              <a:t>B</a:t>
            </a:r>
            <a:r>
              <a:rPr lang="zh-CN" altLang="en-US"/>
              <a:t>树中插入一个新节点。需要进行旋转，染色，但是不会影响</a:t>
            </a:r>
            <a:r>
              <a:rPr lang="en-US" altLang="zh-CN"/>
              <a:t>B</a:t>
            </a:r>
            <a:r>
              <a:rPr lang="zh-CN" altLang="en-US"/>
              <a:t>树树高，也就不会影响</a:t>
            </a:r>
            <a:r>
              <a:rPr lang="en-US" altLang="zh-CN"/>
              <a:t>RB</a:t>
            </a:r>
            <a:r>
              <a:rPr lang="zh-CN" altLang="en-US"/>
              <a:t>树的黑色边个数。</a:t>
            </a:r>
          </a:p>
        </p:txBody>
      </p:sp>
      <p:sp>
        <p:nvSpPr>
          <p:cNvPr id="2" name="椭圆 1"/>
          <p:cNvSpPr/>
          <p:nvPr/>
        </p:nvSpPr>
        <p:spPr>
          <a:xfrm>
            <a:off x="4742180" y="363474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N</a:t>
            </a: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4584065" y="34220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7736840" y="253682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G</a:t>
            </a:r>
          </a:p>
        </p:txBody>
      </p:sp>
      <p:cxnSp>
        <p:nvCxnSpPr>
          <p:cNvPr id="13" name="直接箭头连接符 12"/>
          <p:cNvCxnSpPr>
            <a:stCxn id="3" idx="3"/>
            <a:endCxn id="18" idx="7"/>
          </p:cNvCxnSpPr>
          <p:nvPr/>
        </p:nvCxnSpPr>
        <p:spPr>
          <a:xfrm flipH="1">
            <a:off x="7578725" y="293814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8113395" y="2938145"/>
            <a:ext cx="568325" cy="695960"/>
            <a:chOff x="12777" y="4627"/>
            <a:chExt cx="895" cy="1096"/>
          </a:xfrm>
        </p:grpSpPr>
        <p:sp>
          <p:nvSpPr>
            <p:cNvPr id="12" name="椭圆 11"/>
            <p:cNvSpPr/>
            <p:nvPr/>
          </p:nvSpPr>
          <p:spPr>
            <a:xfrm>
              <a:off x="12978" y="4983"/>
              <a:ext cx="695" cy="74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>
                  <a:solidFill>
                    <a:schemeClr val="bg1"/>
                  </a:solidFill>
                  <a:sym typeface="+mn-ea"/>
                </a:rPr>
                <a:t>U</a:t>
              </a:r>
            </a:p>
          </p:txBody>
        </p:sp>
        <p:cxnSp>
          <p:nvCxnSpPr>
            <p:cNvPr id="14" name="直接箭头连接符 13"/>
            <p:cNvCxnSpPr>
              <a:stCxn id="3" idx="5"/>
              <a:endCxn id="12" idx="1"/>
            </p:cNvCxnSpPr>
            <p:nvPr/>
          </p:nvCxnSpPr>
          <p:spPr>
            <a:xfrm>
              <a:off x="12777" y="4627"/>
              <a:ext cx="303" cy="46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椭圆 15"/>
          <p:cNvSpPr/>
          <p:nvPr/>
        </p:nvSpPr>
        <p:spPr>
          <a:xfrm>
            <a:off x="6682105" y="377825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17" name="直接箭头连接符 16"/>
          <p:cNvCxnSpPr>
            <a:stCxn id="18" idx="3"/>
            <a:endCxn id="16" idx="7"/>
          </p:cNvCxnSpPr>
          <p:nvPr/>
        </p:nvCxnSpPr>
        <p:spPr>
          <a:xfrm flipH="1">
            <a:off x="7058660" y="356552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7202170" y="316420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19" name="椭圆 18"/>
          <p:cNvSpPr/>
          <p:nvPr/>
        </p:nvSpPr>
        <p:spPr>
          <a:xfrm>
            <a:off x="7736840" y="384746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5052 0.097222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0" y="4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3802 0.101389 " pathEditMode="relative" rAng="0" ptsTypes="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" y="4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0000 -0.188889 " pathEditMode="relative" ptsTypes="">
                                      <p:cBhvr>
                                        <p:cTn id="2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3854 -0.092685 " pathEditMode="relative" rAng="0" ptsTypes="">
                                      <p:cBhvr>
                                        <p:cTn id="2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" y="-4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插入情况</a:t>
            </a:r>
            <a:r>
              <a:rPr lang="en-US" altLang="zh-CN"/>
              <a:t>4-</a:t>
            </a:r>
            <a:r>
              <a:t>父节点为红色，</a:t>
            </a:r>
            <a:r>
              <a:rPr lang="en-US" altLang="zh-CN"/>
              <a:t>U</a:t>
            </a:r>
            <a:r>
              <a:t>节点为红色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G</a:t>
            </a:r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U</a:t>
            </a: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N</a:t>
            </a: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207510" y="302069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357245" y="5055235"/>
            <a:ext cx="6217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</a:t>
            </a:r>
            <a:r>
              <a:rPr lang="zh-CN" altLang="en-US"/>
              <a:t>节点和</a:t>
            </a:r>
            <a:r>
              <a:rPr lang="en-US" altLang="zh-CN"/>
              <a:t>S</a:t>
            </a:r>
            <a:r>
              <a:rPr lang="zh-CN" altLang="en-US"/>
              <a:t>节点只可以为黑色。需要重新染色，然后继续以</a:t>
            </a:r>
            <a:r>
              <a:rPr lang="en-US" altLang="zh-CN"/>
              <a:t>G</a:t>
            </a:r>
            <a:r>
              <a:rPr lang="zh-CN" altLang="en-US"/>
              <a:t>为新插入节点进行修正，直到需要旋转平衡或者到根</a:t>
            </a:r>
          </a:p>
        </p:txBody>
      </p:sp>
      <p:sp>
        <p:nvSpPr>
          <p:cNvPr id="2" name="椭圆 1"/>
          <p:cNvSpPr/>
          <p:nvPr/>
        </p:nvSpPr>
        <p:spPr>
          <a:xfrm>
            <a:off x="4742180" y="363474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4584065" y="34220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宽屏</PresentationFormat>
  <Paragraphs>50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Wingdings</vt:lpstr>
      <vt:lpstr>Office 主题​​</vt:lpstr>
      <vt:lpstr>RBTree插入旋转</vt:lpstr>
      <vt:lpstr>右旋</vt:lpstr>
      <vt:lpstr>左旋</vt:lpstr>
      <vt:lpstr>节点定义</vt:lpstr>
      <vt:lpstr>插入情况1-父节点为黑色</vt:lpstr>
      <vt:lpstr>插入情况2-父节点为红色，U节点为黑色</vt:lpstr>
      <vt:lpstr>插入情况3-父节点为红色，U节点为黑色</vt:lpstr>
      <vt:lpstr>插入情况4-父节点为红色，U节点为红色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李尔里德</dc:creator>
  <cp:lastModifiedBy>尔里德 李</cp:lastModifiedBy>
  <cp:revision>172</cp:revision>
  <dcterms:created xsi:type="dcterms:W3CDTF">2019-06-19T02:08:00Z</dcterms:created>
  <dcterms:modified xsi:type="dcterms:W3CDTF">2024-11-18T08:36:54Z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