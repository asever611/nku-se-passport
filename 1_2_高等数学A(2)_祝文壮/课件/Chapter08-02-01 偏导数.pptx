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2024/2/22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D9A5981-CB2D-47E1-8F7B-D10537744354}" type="slidenum">
              <a:rPr lang="en-US" altLang="zh-CN" sz="1200"/>
              <a:pPr eaLnBrk="1" hangingPunct="1"/>
              <a:t>1</a:t>
            </a:fld>
            <a:endParaRPr lang="en-US" altLang="zh-CN" sz="1200"/>
          </a:p>
        </p:txBody>
      </p:sp>
      <p:sp>
        <p:nvSpPr>
          <p:cNvPr id="355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53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03050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6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7.wmf"/><Relationship Id="rId18" Type="http://schemas.openxmlformats.org/officeDocument/2006/relationships/oleObject" Target="../embeddings/oleObject20.bin"/><Relationship Id="rId3" Type="http://schemas.openxmlformats.org/officeDocument/2006/relationships/image" Target="../media/image12.emf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19.wmf"/><Relationship Id="rId2" Type="http://schemas.openxmlformats.org/officeDocument/2006/relationships/oleObject" Target="../embeddings/oleObject12.bin"/><Relationship Id="rId16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5" Type="http://schemas.openxmlformats.org/officeDocument/2006/relationships/image" Target="../media/image18.wmf"/><Relationship Id="rId10" Type="http://schemas.openxmlformats.org/officeDocument/2006/relationships/oleObject" Target="../embeddings/oleObject16.bin"/><Relationship Id="rId19" Type="http://schemas.openxmlformats.org/officeDocument/2006/relationships/image" Target="../media/image20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1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5.wmf"/><Relationship Id="rId18" Type="http://schemas.openxmlformats.org/officeDocument/2006/relationships/oleObject" Target="../embeddings/oleObject29.bin"/><Relationship Id="rId3" Type="http://schemas.openxmlformats.org/officeDocument/2006/relationships/image" Target="../media/image21.emf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27.wmf"/><Relationship Id="rId2" Type="http://schemas.openxmlformats.org/officeDocument/2006/relationships/oleObject" Target="../embeddings/oleObject21.bin"/><Relationship Id="rId16" Type="http://schemas.openxmlformats.org/officeDocument/2006/relationships/oleObject" Target="../embeddings/oleObject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4.wmf"/><Relationship Id="rId5" Type="http://schemas.openxmlformats.org/officeDocument/2006/relationships/image" Target="../media/image13.wmf"/><Relationship Id="rId15" Type="http://schemas.openxmlformats.org/officeDocument/2006/relationships/image" Target="../media/image26.wmf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28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3.wmf"/><Relationship Id="rId3" Type="http://schemas.openxmlformats.org/officeDocument/2006/relationships/image" Target="../media/image29.emf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35.bin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2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38.wmf"/><Relationship Id="rId3" Type="http://schemas.openxmlformats.org/officeDocument/2006/relationships/image" Target="../media/image23.wmf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41.bin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image" Target="../media/image39.wmf"/><Relationship Id="rId7" Type="http://schemas.openxmlformats.org/officeDocument/2006/relationships/image" Target="../media/image41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3.wmf"/><Relationship Id="rId5" Type="http://schemas.openxmlformats.org/officeDocument/2006/relationships/image" Target="../media/image40.wmf"/><Relationship Id="rId10" Type="http://schemas.openxmlformats.org/officeDocument/2006/relationships/oleObject" Target="../embeddings/oleObject46.bin"/><Relationship Id="rId4" Type="http://schemas.openxmlformats.org/officeDocument/2006/relationships/oleObject" Target="../embeddings/oleObject43.bin"/><Relationship Id="rId9" Type="http://schemas.openxmlformats.org/officeDocument/2006/relationships/image" Target="../media/image4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49.wmf"/><Relationship Id="rId3" Type="http://schemas.openxmlformats.org/officeDocument/2006/relationships/image" Target="../media/image44.wmf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52.bin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48.wmf"/><Relationship Id="rId5" Type="http://schemas.openxmlformats.org/officeDocument/2006/relationships/image" Target="../media/image45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4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55.wmf"/><Relationship Id="rId3" Type="http://schemas.openxmlformats.org/officeDocument/2006/relationships/image" Target="../media/image50.wmf"/><Relationship Id="rId7" Type="http://schemas.openxmlformats.org/officeDocument/2006/relationships/image" Target="../media/image52.wmf"/><Relationship Id="rId12" Type="http://schemas.openxmlformats.org/officeDocument/2006/relationships/oleObject" Target="../embeddings/oleObject58.bin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54.wmf"/><Relationship Id="rId5" Type="http://schemas.openxmlformats.org/officeDocument/2006/relationships/image" Target="../media/image51.wmf"/><Relationship Id="rId15" Type="http://schemas.openxmlformats.org/officeDocument/2006/relationships/image" Target="../media/image56.wmf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53.wmf"/><Relationship Id="rId14" Type="http://schemas.openxmlformats.org/officeDocument/2006/relationships/oleObject" Target="../embeddings/oleObject59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7" Type="http://schemas.openxmlformats.org/officeDocument/2006/relationships/image" Target="../media/image59.w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6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65.emf"/><Relationship Id="rId18" Type="http://schemas.openxmlformats.org/officeDocument/2006/relationships/oleObject" Target="../embeddings/oleObject71.bin"/><Relationship Id="rId26" Type="http://schemas.openxmlformats.org/officeDocument/2006/relationships/oleObject" Target="../embeddings/oleObject75.bin"/><Relationship Id="rId3" Type="http://schemas.openxmlformats.org/officeDocument/2006/relationships/image" Target="../media/image60.wmf"/><Relationship Id="rId21" Type="http://schemas.openxmlformats.org/officeDocument/2006/relationships/image" Target="../media/image69.wmf"/><Relationship Id="rId7" Type="http://schemas.openxmlformats.org/officeDocument/2006/relationships/image" Target="../media/image62.emf"/><Relationship Id="rId12" Type="http://schemas.openxmlformats.org/officeDocument/2006/relationships/oleObject" Target="../embeddings/oleObject68.bin"/><Relationship Id="rId17" Type="http://schemas.openxmlformats.org/officeDocument/2006/relationships/image" Target="../media/image67.wmf"/><Relationship Id="rId25" Type="http://schemas.openxmlformats.org/officeDocument/2006/relationships/image" Target="../media/image71.wmf"/><Relationship Id="rId2" Type="http://schemas.openxmlformats.org/officeDocument/2006/relationships/oleObject" Target="../embeddings/oleObject63.bin"/><Relationship Id="rId16" Type="http://schemas.openxmlformats.org/officeDocument/2006/relationships/oleObject" Target="../embeddings/oleObject70.bin"/><Relationship Id="rId20" Type="http://schemas.openxmlformats.org/officeDocument/2006/relationships/oleObject" Target="../embeddings/oleObject72.bin"/><Relationship Id="rId29" Type="http://schemas.openxmlformats.org/officeDocument/2006/relationships/image" Target="../media/image73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64.wmf"/><Relationship Id="rId24" Type="http://schemas.openxmlformats.org/officeDocument/2006/relationships/oleObject" Target="../embeddings/oleObject74.bin"/><Relationship Id="rId5" Type="http://schemas.openxmlformats.org/officeDocument/2006/relationships/image" Target="../media/image61.wmf"/><Relationship Id="rId15" Type="http://schemas.openxmlformats.org/officeDocument/2006/relationships/image" Target="../media/image66.wmf"/><Relationship Id="rId23" Type="http://schemas.openxmlformats.org/officeDocument/2006/relationships/image" Target="../media/image70.wmf"/><Relationship Id="rId28" Type="http://schemas.openxmlformats.org/officeDocument/2006/relationships/oleObject" Target="../embeddings/oleObject76.bin"/><Relationship Id="rId10" Type="http://schemas.openxmlformats.org/officeDocument/2006/relationships/oleObject" Target="../embeddings/oleObject67.bin"/><Relationship Id="rId19" Type="http://schemas.openxmlformats.org/officeDocument/2006/relationships/image" Target="../media/image68.wmf"/><Relationship Id="rId31" Type="http://schemas.openxmlformats.org/officeDocument/2006/relationships/image" Target="../media/image74.wmf"/><Relationship Id="rId4" Type="http://schemas.openxmlformats.org/officeDocument/2006/relationships/oleObject" Target="../embeddings/oleObject64.bin"/><Relationship Id="rId9" Type="http://schemas.openxmlformats.org/officeDocument/2006/relationships/image" Target="../media/image63.wmf"/><Relationship Id="rId14" Type="http://schemas.openxmlformats.org/officeDocument/2006/relationships/oleObject" Target="../embeddings/oleObject69.bin"/><Relationship Id="rId22" Type="http://schemas.openxmlformats.org/officeDocument/2006/relationships/oleObject" Target="../embeddings/oleObject73.bin"/><Relationship Id="rId27" Type="http://schemas.openxmlformats.org/officeDocument/2006/relationships/image" Target="../media/image72.wmf"/><Relationship Id="rId30" Type="http://schemas.openxmlformats.org/officeDocument/2006/relationships/oleObject" Target="../embeddings/oleObject7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3" Type="http://schemas.openxmlformats.org/officeDocument/2006/relationships/image" Target="../media/image75.wmf"/><Relationship Id="rId7" Type="http://schemas.openxmlformats.org/officeDocument/2006/relationships/image" Target="../media/image77.wmf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79.wmf"/><Relationship Id="rId5" Type="http://schemas.openxmlformats.org/officeDocument/2006/relationships/image" Target="../media/image76.wmf"/><Relationship Id="rId10" Type="http://schemas.openxmlformats.org/officeDocument/2006/relationships/oleObject" Target="../embeddings/oleObject82.bin"/><Relationship Id="rId4" Type="http://schemas.openxmlformats.org/officeDocument/2006/relationships/oleObject" Target="../embeddings/oleObject79.bin"/><Relationship Id="rId9" Type="http://schemas.openxmlformats.org/officeDocument/2006/relationships/image" Target="../media/image7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13" Type="http://schemas.openxmlformats.org/officeDocument/2006/relationships/image" Target="../media/image85.wmf"/><Relationship Id="rId18" Type="http://schemas.openxmlformats.org/officeDocument/2006/relationships/oleObject" Target="../embeddings/oleObject91.bin"/><Relationship Id="rId26" Type="http://schemas.openxmlformats.org/officeDocument/2006/relationships/oleObject" Target="../embeddings/oleObject95.bin"/><Relationship Id="rId3" Type="http://schemas.openxmlformats.org/officeDocument/2006/relationships/image" Target="../media/image80.emf"/><Relationship Id="rId21" Type="http://schemas.openxmlformats.org/officeDocument/2006/relationships/image" Target="../media/image89.wmf"/><Relationship Id="rId7" Type="http://schemas.openxmlformats.org/officeDocument/2006/relationships/image" Target="../media/image82.wmf"/><Relationship Id="rId12" Type="http://schemas.openxmlformats.org/officeDocument/2006/relationships/oleObject" Target="../embeddings/oleObject88.bin"/><Relationship Id="rId17" Type="http://schemas.openxmlformats.org/officeDocument/2006/relationships/image" Target="../media/image87.wmf"/><Relationship Id="rId25" Type="http://schemas.openxmlformats.org/officeDocument/2006/relationships/image" Target="../media/image91.wmf"/><Relationship Id="rId2" Type="http://schemas.openxmlformats.org/officeDocument/2006/relationships/oleObject" Target="../embeddings/oleObject83.bin"/><Relationship Id="rId16" Type="http://schemas.openxmlformats.org/officeDocument/2006/relationships/oleObject" Target="../embeddings/oleObject90.bin"/><Relationship Id="rId20" Type="http://schemas.openxmlformats.org/officeDocument/2006/relationships/oleObject" Target="../embeddings/oleObject92.bin"/><Relationship Id="rId29" Type="http://schemas.openxmlformats.org/officeDocument/2006/relationships/image" Target="../media/image93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84.wmf"/><Relationship Id="rId24" Type="http://schemas.openxmlformats.org/officeDocument/2006/relationships/oleObject" Target="../embeddings/oleObject94.bin"/><Relationship Id="rId5" Type="http://schemas.openxmlformats.org/officeDocument/2006/relationships/image" Target="../media/image81.wmf"/><Relationship Id="rId15" Type="http://schemas.openxmlformats.org/officeDocument/2006/relationships/image" Target="../media/image86.wmf"/><Relationship Id="rId23" Type="http://schemas.openxmlformats.org/officeDocument/2006/relationships/image" Target="../media/image90.wmf"/><Relationship Id="rId28" Type="http://schemas.openxmlformats.org/officeDocument/2006/relationships/oleObject" Target="../embeddings/oleObject96.bin"/><Relationship Id="rId10" Type="http://schemas.openxmlformats.org/officeDocument/2006/relationships/oleObject" Target="../embeddings/oleObject87.bin"/><Relationship Id="rId19" Type="http://schemas.openxmlformats.org/officeDocument/2006/relationships/image" Target="../media/image88.wmf"/><Relationship Id="rId31" Type="http://schemas.openxmlformats.org/officeDocument/2006/relationships/image" Target="../media/image94.wmf"/><Relationship Id="rId4" Type="http://schemas.openxmlformats.org/officeDocument/2006/relationships/oleObject" Target="../embeddings/oleObject84.bin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89.bin"/><Relationship Id="rId22" Type="http://schemas.openxmlformats.org/officeDocument/2006/relationships/oleObject" Target="../embeddings/oleObject93.bin"/><Relationship Id="rId27" Type="http://schemas.openxmlformats.org/officeDocument/2006/relationships/image" Target="../media/image92.wmf"/><Relationship Id="rId30" Type="http://schemas.openxmlformats.org/officeDocument/2006/relationships/oleObject" Target="../embeddings/oleObject9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13" Type="http://schemas.openxmlformats.org/officeDocument/2006/relationships/image" Target="../media/image100.wmf"/><Relationship Id="rId3" Type="http://schemas.openxmlformats.org/officeDocument/2006/relationships/image" Target="../media/image95.emf"/><Relationship Id="rId7" Type="http://schemas.openxmlformats.org/officeDocument/2006/relationships/image" Target="../media/image97.wmf"/><Relationship Id="rId12" Type="http://schemas.openxmlformats.org/officeDocument/2006/relationships/oleObject" Target="../embeddings/oleObject103.bin"/><Relationship Id="rId2" Type="http://schemas.openxmlformats.org/officeDocument/2006/relationships/oleObject" Target="../embeddings/oleObject9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99.wmf"/><Relationship Id="rId5" Type="http://schemas.openxmlformats.org/officeDocument/2006/relationships/image" Target="../media/image96.wmf"/><Relationship Id="rId15" Type="http://schemas.openxmlformats.org/officeDocument/2006/relationships/image" Target="../media/image101.wmf"/><Relationship Id="rId10" Type="http://schemas.openxmlformats.org/officeDocument/2006/relationships/oleObject" Target="../embeddings/oleObject102.bin"/><Relationship Id="rId4" Type="http://schemas.openxmlformats.org/officeDocument/2006/relationships/oleObject" Target="../embeddings/oleObject99.bin"/><Relationship Id="rId9" Type="http://schemas.openxmlformats.org/officeDocument/2006/relationships/image" Target="../media/image98.wmf"/><Relationship Id="rId14" Type="http://schemas.openxmlformats.org/officeDocument/2006/relationships/oleObject" Target="../embeddings/oleObject10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3" Type="http://schemas.openxmlformats.org/officeDocument/2006/relationships/image" Target="../media/image102.wmf"/><Relationship Id="rId7" Type="http://schemas.openxmlformats.org/officeDocument/2006/relationships/image" Target="../media/image103.wmf"/><Relationship Id="rId2" Type="http://schemas.openxmlformats.org/officeDocument/2006/relationships/oleObject" Target="../embeddings/oleObject10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05.wmf"/><Relationship Id="rId5" Type="http://schemas.openxmlformats.org/officeDocument/2006/relationships/image" Target="../media/image45.wmf"/><Relationship Id="rId10" Type="http://schemas.openxmlformats.org/officeDocument/2006/relationships/oleObject" Target="../embeddings/oleObject109.bin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0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13" Type="http://schemas.openxmlformats.org/officeDocument/2006/relationships/image" Target="../media/image108.wmf"/><Relationship Id="rId18" Type="http://schemas.openxmlformats.org/officeDocument/2006/relationships/oleObject" Target="../embeddings/oleObject118.bin"/><Relationship Id="rId26" Type="http://schemas.openxmlformats.org/officeDocument/2006/relationships/oleObject" Target="../embeddings/oleObject122.bin"/><Relationship Id="rId3" Type="http://schemas.openxmlformats.org/officeDocument/2006/relationships/image" Target="../media/image50.wmf"/><Relationship Id="rId21" Type="http://schemas.openxmlformats.org/officeDocument/2006/relationships/image" Target="../media/image112.wmf"/><Relationship Id="rId7" Type="http://schemas.openxmlformats.org/officeDocument/2006/relationships/image" Target="../media/image52.wmf"/><Relationship Id="rId12" Type="http://schemas.openxmlformats.org/officeDocument/2006/relationships/oleObject" Target="../embeddings/oleObject115.bin"/><Relationship Id="rId17" Type="http://schemas.openxmlformats.org/officeDocument/2006/relationships/image" Target="../media/image110.wmf"/><Relationship Id="rId25" Type="http://schemas.openxmlformats.org/officeDocument/2006/relationships/image" Target="../media/image114.wmf"/><Relationship Id="rId2" Type="http://schemas.openxmlformats.org/officeDocument/2006/relationships/oleObject" Target="../embeddings/oleObject110.bin"/><Relationship Id="rId16" Type="http://schemas.openxmlformats.org/officeDocument/2006/relationships/oleObject" Target="../embeddings/oleObject117.bin"/><Relationship Id="rId20" Type="http://schemas.openxmlformats.org/officeDocument/2006/relationships/oleObject" Target="../embeddings/oleObject1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2.bin"/><Relationship Id="rId11" Type="http://schemas.openxmlformats.org/officeDocument/2006/relationships/image" Target="../media/image54.wmf"/><Relationship Id="rId24" Type="http://schemas.openxmlformats.org/officeDocument/2006/relationships/oleObject" Target="../embeddings/oleObject121.bin"/><Relationship Id="rId5" Type="http://schemas.openxmlformats.org/officeDocument/2006/relationships/image" Target="../media/image106.wmf"/><Relationship Id="rId15" Type="http://schemas.openxmlformats.org/officeDocument/2006/relationships/image" Target="../media/image109.wmf"/><Relationship Id="rId23" Type="http://schemas.openxmlformats.org/officeDocument/2006/relationships/image" Target="../media/image113.wmf"/><Relationship Id="rId10" Type="http://schemas.openxmlformats.org/officeDocument/2006/relationships/oleObject" Target="../embeddings/oleObject114.bin"/><Relationship Id="rId19" Type="http://schemas.openxmlformats.org/officeDocument/2006/relationships/image" Target="../media/image111.wmf"/><Relationship Id="rId4" Type="http://schemas.openxmlformats.org/officeDocument/2006/relationships/oleObject" Target="../embeddings/oleObject111.bin"/><Relationship Id="rId9" Type="http://schemas.openxmlformats.org/officeDocument/2006/relationships/image" Target="../media/image107.wmf"/><Relationship Id="rId14" Type="http://schemas.openxmlformats.org/officeDocument/2006/relationships/oleObject" Target="../embeddings/oleObject116.bin"/><Relationship Id="rId22" Type="http://schemas.openxmlformats.org/officeDocument/2006/relationships/oleObject" Target="../embeddings/oleObject120.bin"/><Relationship Id="rId27" Type="http://schemas.openxmlformats.org/officeDocument/2006/relationships/image" Target="../media/image11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3" Type="http://schemas.openxmlformats.org/officeDocument/2006/relationships/image" Target="../media/image116.emf"/><Relationship Id="rId7" Type="http://schemas.openxmlformats.org/officeDocument/2006/relationships/image" Target="../media/image118.wmf"/><Relationship Id="rId2" Type="http://schemas.openxmlformats.org/officeDocument/2006/relationships/oleObject" Target="../embeddings/oleObject12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25.bin"/><Relationship Id="rId5" Type="http://schemas.openxmlformats.org/officeDocument/2006/relationships/image" Target="../media/image117.emf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1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0.bin"/><Relationship Id="rId13" Type="http://schemas.openxmlformats.org/officeDocument/2006/relationships/image" Target="../media/image125.wmf"/><Relationship Id="rId3" Type="http://schemas.openxmlformats.org/officeDocument/2006/relationships/image" Target="../media/image120.wmf"/><Relationship Id="rId7" Type="http://schemas.openxmlformats.org/officeDocument/2006/relationships/image" Target="../media/image122.wmf"/><Relationship Id="rId12" Type="http://schemas.openxmlformats.org/officeDocument/2006/relationships/oleObject" Target="../embeddings/oleObject132.bin"/><Relationship Id="rId2" Type="http://schemas.openxmlformats.org/officeDocument/2006/relationships/oleObject" Target="../embeddings/oleObject1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9.bin"/><Relationship Id="rId11" Type="http://schemas.openxmlformats.org/officeDocument/2006/relationships/image" Target="../media/image124.wmf"/><Relationship Id="rId5" Type="http://schemas.openxmlformats.org/officeDocument/2006/relationships/image" Target="../media/image121.wmf"/><Relationship Id="rId15" Type="http://schemas.openxmlformats.org/officeDocument/2006/relationships/image" Target="../media/image126.wmf"/><Relationship Id="rId10" Type="http://schemas.openxmlformats.org/officeDocument/2006/relationships/oleObject" Target="../embeddings/oleObject131.bin"/><Relationship Id="rId4" Type="http://schemas.openxmlformats.org/officeDocument/2006/relationships/oleObject" Target="../embeddings/oleObject128.bin"/><Relationship Id="rId9" Type="http://schemas.openxmlformats.org/officeDocument/2006/relationships/image" Target="../media/image123.wmf"/><Relationship Id="rId14" Type="http://schemas.openxmlformats.org/officeDocument/2006/relationships/oleObject" Target="../embeddings/oleObject13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oleObject" Target="../embeddings/oleObject134.bin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../../../&#39640;&#31561;&#25968;&#23398;-sxl/&#19979;&#20876;/&#31532;&#20843;&#31456;/D8_9&#20064;&#39064;&#35838;.ppt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0" name="Text Box 10"/>
          <p:cNvSpPr txBox="1">
            <a:spLocks noChangeArrowheads="1"/>
          </p:cNvSpPr>
          <p:nvPr/>
        </p:nvSpPr>
        <p:spPr bwMode="auto">
          <a:xfrm>
            <a:off x="3664736" y="3059112"/>
            <a:ext cx="5500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FF33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一、 偏导数的定义及其计算</a:t>
            </a:r>
          </a:p>
        </p:txBody>
      </p:sp>
      <p:sp>
        <p:nvSpPr>
          <p:cNvPr id="40971" name="Text Box 11"/>
          <p:cNvSpPr txBox="1">
            <a:spLocks noChangeArrowheads="1"/>
          </p:cNvSpPr>
          <p:nvPr/>
        </p:nvSpPr>
        <p:spPr bwMode="auto">
          <a:xfrm>
            <a:off x="3670416" y="3918164"/>
            <a:ext cx="358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FF33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二 、高阶偏导数  </a:t>
            </a:r>
          </a:p>
        </p:txBody>
      </p:sp>
      <p:sp>
        <p:nvSpPr>
          <p:cNvPr id="40972" name="AutoShape 1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4079875" y="5300663"/>
            <a:ext cx="3276600" cy="6858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973" name="Text Box 13"/>
          <p:cNvSpPr txBox="1">
            <a:spLocks noChangeArrowheads="1"/>
          </p:cNvSpPr>
          <p:nvPr/>
        </p:nvSpPr>
        <p:spPr bwMode="auto">
          <a:xfrm>
            <a:off x="3459028" y="1737392"/>
            <a:ext cx="4121641" cy="830997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800" b="1" dirty="0">
                <a:solidFill>
                  <a:srgbClr val="FF0000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§2</a:t>
            </a:r>
            <a:r>
              <a:rPr lang="zh-CN" altLang="en-US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偏  导  数  </a:t>
            </a:r>
          </a:p>
        </p:txBody>
      </p:sp>
      <p:graphicFrame>
        <p:nvGraphicFramePr>
          <p:cNvPr id="40974" name="Object 14"/>
          <p:cNvGraphicFramePr>
            <a:graphicFrameLocks noChangeAspect="1"/>
          </p:cNvGraphicFramePr>
          <p:nvPr/>
        </p:nvGraphicFramePr>
        <p:xfrm>
          <a:off x="6000750" y="321945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0500" imgH="419100" progId="Equation.3">
                  <p:embed/>
                </p:oleObj>
              </mc:Choice>
              <mc:Fallback>
                <p:oleObj name="公式" r:id="rId4" imgW="190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3219450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5" name="Rectangle 15"/>
          <p:cNvSpPr>
            <a:spLocks noChangeArrowheads="1"/>
          </p:cNvSpPr>
          <p:nvPr/>
        </p:nvSpPr>
        <p:spPr bwMode="auto">
          <a:xfrm>
            <a:off x="3648075" y="4721225"/>
            <a:ext cx="3654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三 、小结  思考题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056440" y="404664"/>
            <a:ext cx="1375698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8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927690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2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477984"/>
              </p:ext>
            </p:extLst>
          </p:nvPr>
        </p:nvGraphicFramePr>
        <p:xfrm>
          <a:off x="914400" y="1627188"/>
          <a:ext cx="10360025" cy="320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9909810" imgH="3061863" progId="Word.Document.8">
                  <p:embed/>
                </p:oleObj>
              </mc:Choice>
              <mc:Fallback>
                <p:oleObj name="Document" r:id="rId2" imgW="9909810" imgH="306186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627188"/>
                        <a:ext cx="10360025" cy="320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>
          <a:xfrm>
            <a:off x="1343472" y="692696"/>
            <a:ext cx="6192688" cy="936104"/>
          </a:xfrm>
        </p:spPr>
        <p:txBody>
          <a:bodyPr/>
          <a:lstStyle/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一、偏导数的定义及其计算法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675599"/>
              </p:ext>
            </p:extLst>
          </p:nvPr>
        </p:nvGraphicFramePr>
        <p:xfrm>
          <a:off x="1919536" y="4653136"/>
          <a:ext cx="7056783" cy="1397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306346" imgH="1188689" progId="Word.Document.8">
                  <p:embed/>
                </p:oleObj>
              </mc:Choice>
              <mc:Fallback>
                <p:oleObj name="Document" r:id="rId4" imgW="6306346" imgH="11886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4653136"/>
                        <a:ext cx="7056783" cy="1397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338052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274" name="Object 2"/>
          <p:cNvGraphicFramePr>
            <a:graphicFrameLocks noGrp="1" noChangeAspect="1"/>
          </p:cNvGraphicFramePr>
          <p:nvPr>
            <p:ph type="title"/>
            <p:extLst>
              <p:ext uri="{D42A27DB-BD31-4B8C-83A1-F6EECF244321}">
                <p14:modId xmlns:p14="http://schemas.microsoft.com/office/powerpoint/2010/main" val="87345757"/>
              </p:ext>
            </p:extLst>
          </p:nvPr>
        </p:nvGraphicFramePr>
        <p:xfrm>
          <a:off x="1559496" y="1268760"/>
          <a:ext cx="8496946" cy="317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579712" imgH="2828446" progId="Word.Document.8">
                  <p:embed/>
                </p:oleObj>
              </mc:Choice>
              <mc:Fallback>
                <p:oleObj name="Document" r:id="rId2" imgW="7579712" imgH="282844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1268760"/>
                        <a:ext cx="8496946" cy="317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012440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0"/>
                                        <p:tgtEl>
                                          <p:spTgt spid="18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973753"/>
              </p:ext>
            </p:extLst>
          </p:nvPr>
        </p:nvGraphicFramePr>
        <p:xfrm>
          <a:off x="1381297" y="836712"/>
          <a:ext cx="9553034" cy="2777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9345231" imgH="2709279" progId="Word.Document.8">
                  <p:embed/>
                </p:oleObj>
              </mc:Choice>
              <mc:Fallback>
                <p:oleObj name="Document" r:id="rId2" imgW="9345231" imgH="270927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297" y="836712"/>
                        <a:ext cx="9553034" cy="27771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2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667083"/>
              </p:ext>
            </p:extLst>
          </p:nvPr>
        </p:nvGraphicFramePr>
        <p:xfrm>
          <a:off x="1660027" y="3429000"/>
          <a:ext cx="8995573" cy="197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8570510" imgH="1889465" progId="Word.Document.8">
                  <p:embed/>
                </p:oleObj>
              </mc:Choice>
              <mc:Fallback>
                <p:oleObj name="Document" r:id="rId4" imgW="8570510" imgH="188946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027" y="3429000"/>
                        <a:ext cx="8995573" cy="197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128713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18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2590800" y="928688"/>
            <a:ext cx="708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偏导数的概念可以推广到二元以上函数</a:t>
            </a:r>
          </a:p>
        </p:txBody>
      </p:sp>
      <p:grpSp>
        <p:nvGrpSpPr>
          <p:cNvPr id="184323" name="Group 3"/>
          <p:cNvGrpSpPr>
            <a:grpSpLocks/>
          </p:cNvGrpSpPr>
          <p:nvPr/>
        </p:nvGrpSpPr>
        <p:grpSpPr bwMode="auto">
          <a:xfrm>
            <a:off x="2590800" y="1600201"/>
            <a:ext cx="6248400" cy="519113"/>
            <a:chOff x="672" y="1104"/>
            <a:chExt cx="3936" cy="327"/>
          </a:xfrm>
        </p:grpSpPr>
        <p:sp>
          <p:nvSpPr>
            <p:cNvPr id="45063" name="Text Box 4"/>
            <p:cNvSpPr txBox="1">
              <a:spLocks noChangeArrowheads="1"/>
            </p:cNvSpPr>
            <p:nvPr/>
          </p:nvSpPr>
          <p:spPr bwMode="auto">
            <a:xfrm>
              <a:off x="672" y="1104"/>
              <a:ext cx="39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如                          在                处    </a:t>
              </a:r>
            </a:p>
          </p:txBody>
        </p:sp>
        <p:graphicFrame>
          <p:nvGraphicFramePr>
            <p:cNvPr id="45064" name="Object 5"/>
            <p:cNvGraphicFramePr>
              <a:graphicFrameLocks noChangeAspect="1"/>
            </p:cNvGraphicFramePr>
            <p:nvPr/>
          </p:nvGraphicFramePr>
          <p:xfrm>
            <a:off x="1024" y="1152"/>
            <a:ext cx="1328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108200" imgH="406400" progId="Equation.3">
                    <p:embed/>
                  </p:oleObj>
                </mc:Choice>
                <mc:Fallback>
                  <p:oleObj name="公式" r:id="rId2" imgW="2108200" imgH="40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4" y="1152"/>
                          <a:ext cx="1328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65" name="Object 6"/>
            <p:cNvGraphicFramePr>
              <a:graphicFrameLocks noChangeAspect="1"/>
            </p:cNvGraphicFramePr>
            <p:nvPr/>
          </p:nvGraphicFramePr>
          <p:xfrm>
            <a:off x="2688" y="1137"/>
            <a:ext cx="76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205977" imgH="406224" progId="Equation.3">
                    <p:embed/>
                  </p:oleObj>
                </mc:Choice>
                <mc:Fallback>
                  <p:oleObj name="公式" r:id="rId4" imgW="1205977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1137"/>
                          <a:ext cx="76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43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2525637"/>
              </p:ext>
            </p:extLst>
          </p:nvPr>
        </p:nvGraphicFramePr>
        <p:xfrm>
          <a:off x="2726122" y="2359795"/>
          <a:ext cx="6815956" cy="973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44720" imgH="406080" progId="Equation.DSMT4">
                  <p:embed/>
                </p:oleObj>
              </mc:Choice>
              <mc:Fallback>
                <p:oleObj name="Equation" r:id="rId6" imgW="2844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122" y="2359795"/>
                        <a:ext cx="6815956" cy="973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91919"/>
              </p:ext>
            </p:extLst>
          </p:nvPr>
        </p:nvGraphicFramePr>
        <p:xfrm>
          <a:off x="2726122" y="3370512"/>
          <a:ext cx="6749534" cy="102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31760" imgH="431640" progId="Equation.DSMT4">
                  <p:embed/>
                </p:oleObj>
              </mc:Choice>
              <mc:Fallback>
                <p:oleObj name="Equation" r:id="rId8" imgW="2831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122" y="3370512"/>
                        <a:ext cx="6749534" cy="102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1325115"/>
              </p:ext>
            </p:extLst>
          </p:nvPr>
        </p:nvGraphicFramePr>
        <p:xfrm>
          <a:off x="2726122" y="4440538"/>
          <a:ext cx="6732158" cy="1004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06560" imgH="419040" progId="Equation.DSMT4">
                  <p:embed/>
                </p:oleObj>
              </mc:Choice>
              <mc:Fallback>
                <p:oleObj name="Equation" r:id="rId10" imgW="2806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122" y="4440538"/>
                        <a:ext cx="6732158" cy="10046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875170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84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8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84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12359"/>
              </p:ext>
            </p:extLst>
          </p:nvPr>
        </p:nvGraphicFramePr>
        <p:xfrm>
          <a:off x="2500313" y="973138"/>
          <a:ext cx="7440612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478189" imgH="700182" progId="Word.Document.8">
                  <p:embed/>
                </p:oleObj>
              </mc:Choice>
              <mc:Fallback>
                <p:oleObj name="Document" r:id="rId2" imgW="7478189" imgH="70018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973138"/>
                        <a:ext cx="7440612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47" name="Text Box 3"/>
          <p:cNvSpPr txBox="1">
            <a:spLocks noChangeArrowheads="1"/>
          </p:cNvSpPr>
          <p:nvPr/>
        </p:nvSpPr>
        <p:spPr bwMode="auto">
          <a:xfrm>
            <a:off x="2438400" y="1995488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85348" name="Object 4"/>
          <p:cNvGraphicFramePr>
            <a:graphicFrameLocks noChangeAspect="1"/>
          </p:cNvGraphicFramePr>
          <p:nvPr/>
        </p:nvGraphicFramePr>
        <p:xfrm>
          <a:off x="3429000" y="1854200"/>
          <a:ext cx="762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61669" imgH="888614" progId="Equation.3">
                  <p:embed/>
                </p:oleObj>
              </mc:Choice>
              <mc:Fallback>
                <p:oleObj name="公式" r:id="rId4" imgW="761669" imgH="8886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854200"/>
                        <a:ext cx="762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49" name="Object 5"/>
          <p:cNvGraphicFramePr>
            <a:graphicFrameLocks noChangeAspect="1"/>
          </p:cNvGraphicFramePr>
          <p:nvPr/>
        </p:nvGraphicFramePr>
        <p:xfrm>
          <a:off x="4343400" y="2159000"/>
          <a:ext cx="1320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20800" imgH="368300" progId="Equation.3">
                  <p:embed/>
                </p:oleObj>
              </mc:Choice>
              <mc:Fallback>
                <p:oleObj name="公式" r:id="rId6" imgW="13208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159000"/>
                        <a:ext cx="1320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0" name="Object 6"/>
          <p:cNvGraphicFramePr>
            <a:graphicFrameLocks noChangeAspect="1"/>
          </p:cNvGraphicFramePr>
          <p:nvPr/>
        </p:nvGraphicFramePr>
        <p:xfrm>
          <a:off x="6248400" y="1905000"/>
          <a:ext cx="685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85800" imgH="914400" progId="Equation.3">
                  <p:embed/>
                </p:oleObj>
              </mc:Choice>
              <mc:Fallback>
                <p:oleObj name="公式" r:id="rId8" imgW="6858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905000"/>
                        <a:ext cx="685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1" name="Object 7"/>
          <p:cNvGraphicFramePr>
            <a:graphicFrameLocks noChangeAspect="1"/>
          </p:cNvGraphicFramePr>
          <p:nvPr/>
        </p:nvGraphicFramePr>
        <p:xfrm>
          <a:off x="7054850" y="2222500"/>
          <a:ext cx="1308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08100" imgH="368300" progId="Equation.3">
                  <p:embed/>
                </p:oleObj>
              </mc:Choice>
              <mc:Fallback>
                <p:oleObj name="公式" r:id="rId10" imgW="13081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4850" y="2222500"/>
                        <a:ext cx="1308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2" name="Object 8"/>
          <p:cNvGraphicFramePr>
            <a:graphicFrameLocks noChangeAspect="1"/>
          </p:cNvGraphicFramePr>
          <p:nvPr/>
        </p:nvGraphicFramePr>
        <p:xfrm>
          <a:off x="2895600" y="3022600"/>
          <a:ext cx="1790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790700" imgH="965200" progId="Equation.3">
                  <p:embed/>
                </p:oleObj>
              </mc:Choice>
              <mc:Fallback>
                <p:oleObj name="公式" r:id="rId12" imgW="17907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022600"/>
                        <a:ext cx="17907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3" name="Object 9"/>
          <p:cNvGraphicFramePr>
            <a:graphicFrameLocks noChangeAspect="1"/>
          </p:cNvGraphicFramePr>
          <p:nvPr/>
        </p:nvGraphicFramePr>
        <p:xfrm>
          <a:off x="4699000" y="3362325"/>
          <a:ext cx="2349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349500" imgH="368300" progId="Equation.3">
                  <p:embed/>
                </p:oleObj>
              </mc:Choice>
              <mc:Fallback>
                <p:oleObj name="公式" r:id="rId14" imgW="23495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0" y="3362325"/>
                        <a:ext cx="2349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4" name="Object 10"/>
          <p:cNvGraphicFramePr>
            <a:graphicFrameLocks noChangeAspect="1"/>
          </p:cNvGraphicFramePr>
          <p:nvPr/>
        </p:nvGraphicFramePr>
        <p:xfrm>
          <a:off x="3457575" y="4216400"/>
          <a:ext cx="1206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206500" imgH="965200" progId="Equation.3">
                  <p:embed/>
                </p:oleObj>
              </mc:Choice>
              <mc:Fallback>
                <p:oleObj name="公式" r:id="rId16" imgW="12065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575" y="4216400"/>
                        <a:ext cx="1206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5" name="Object 11"/>
          <p:cNvGraphicFramePr>
            <a:graphicFrameLocks noChangeAspect="1"/>
          </p:cNvGraphicFramePr>
          <p:nvPr/>
        </p:nvGraphicFramePr>
        <p:xfrm>
          <a:off x="4705350" y="4521200"/>
          <a:ext cx="2336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336800" imgH="368300" progId="Equation.3">
                  <p:embed/>
                </p:oleObj>
              </mc:Choice>
              <mc:Fallback>
                <p:oleObj name="公式" r:id="rId18" imgW="23368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350" y="4521200"/>
                        <a:ext cx="2336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038639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90711"/>
              </p:ext>
            </p:extLst>
          </p:nvPr>
        </p:nvGraphicFramePr>
        <p:xfrm>
          <a:off x="2450949" y="986099"/>
          <a:ext cx="6097487" cy="1654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119140" imgH="1676476" progId="Word.Document.8">
                  <p:embed/>
                </p:oleObj>
              </mc:Choice>
              <mc:Fallback>
                <p:oleObj name="Document" r:id="rId2" imgW="6119140" imgH="167647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949" y="986099"/>
                        <a:ext cx="6097487" cy="1654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2438400" y="2895601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186372" name="Object 4"/>
          <p:cNvGraphicFramePr>
            <a:graphicFrameLocks noChangeAspect="1"/>
          </p:cNvGraphicFramePr>
          <p:nvPr/>
        </p:nvGraphicFramePr>
        <p:xfrm>
          <a:off x="3517900" y="2757488"/>
          <a:ext cx="762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61669" imgH="888614" progId="Equation.3">
                  <p:embed/>
                </p:oleObj>
              </mc:Choice>
              <mc:Fallback>
                <p:oleObj name="公式" r:id="rId4" imgW="761669" imgH="8886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2757488"/>
                        <a:ext cx="762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3" name="Object 5"/>
          <p:cNvGraphicFramePr>
            <a:graphicFrameLocks noChangeAspect="1"/>
          </p:cNvGraphicFramePr>
          <p:nvPr/>
        </p:nvGraphicFramePr>
        <p:xfrm>
          <a:off x="4324350" y="2946400"/>
          <a:ext cx="901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01309" imgH="469696" progId="Equation.3">
                  <p:embed/>
                </p:oleObj>
              </mc:Choice>
              <mc:Fallback>
                <p:oleObj name="公式" r:id="rId6" imgW="901309" imgH="4696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4350" y="2946400"/>
                        <a:ext cx="901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4" name="Object 6"/>
          <p:cNvGraphicFramePr>
            <a:graphicFrameLocks noChangeAspect="1"/>
          </p:cNvGraphicFramePr>
          <p:nvPr/>
        </p:nvGraphicFramePr>
        <p:xfrm>
          <a:off x="6057900" y="2757488"/>
          <a:ext cx="736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36600" imgH="965200" progId="Equation.3">
                  <p:embed/>
                </p:oleObj>
              </mc:Choice>
              <mc:Fallback>
                <p:oleObj name="公式" r:id="rId8" imgW="7366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0" y="2757488"/>
                        <a:ext cx="736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5" name="Object 7"/>
          <p:cNvGraphicFramePr>
            <a:graphicFrameLocks noChangeAspect="1"/>
          </p:cNvGraphicFramePr>
          <p:nvPr/>
        </p:nvGraphicFramePr>
        <p:xfrm>
          <a:off x="6851650" y="2960688"/>
          <a:ext cx="11049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04900" imgH="444500" progId="Equation.3">
                  <p:embed/>
                </p:oleObj>
              </mc:Choice>
              <mc:Fallback>
                <p:oleObj name="公式" r:id="rId10" imgW="11049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650" y="2960688"/>
                        <a:ext cx="11049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6" name="Object 8"/>
          <p:cNvGraphicFramePr>
            <a:graphicFrameLocks noChangeAspect="1"/>
          </p:cNvGraphicFramePr>
          <p:nvPr/>
        </p:nvGraphicFramePr>
        <p:xfrm>
          <a:off x="3276600" y="3925888"/>
          <a:ext cx="2159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159000" imgH="965200" progId="Equation.3">
                  <p:embed/>
                </p:oleObj>
              </mc:Choice>
              <mc:Fallback>
                <p:oleObj name="公式" r:id="rId12" imgW="21590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925888"/>
                        <a:ext cx="2159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7" name="Object 9"/>
          <p:cNvGraphicFramePr>
            <a:graphicFrameLocks noChangeAspect="1"/>
          </p:cNvGraphicFramePr>
          <p:nvPr/>
        </p:nvGraphicFramePr>
        <p:xfrm>
          <a:off x="5562600" y="3925888"/>
          <a:ext cx="3568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568700" imgH="965200" progId="Equation.3">
                  <p:embed/>
                </p:oleObj>
              </mc:Choice>
              <mc:Fallback>
                <p:oleObj name="公式" r:id="rId14" imgW="35687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925888"/>
                        <a:ext cx="35687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8" name="Object 10"/>
          <p:cNvGraphicFramePr>
            <a:graphicFrameLocks noChangeAspect="1"/>
          </p:cNvGraphicFramePr>
          <p:nvPr/>
        </p:nvGraphicFramePr>
        <p:xfrm>
          <a:off x="3327400" y="5284788"/>
          <a:ext cx="1511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511300" imgH="419100" progId="Equation.3">
                  <p:embed/>
                </p:oleObj>
              </mc:Choice>
              <mc:Fallback>
                <p:oleObj name="公式" r:id="rId16" imgW="15113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5284788"/>
                        <a:ext cx="1511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9" name="Object 11"/>
          <p:cNvGraphicFramePr>
            <a:graphicFrameLocks noChangeAspect="1"/>
          </p:cNvGraphicFramePr>
          <p:nvPr/>
        </p:nvGraphicFramePr>
        <p:xfrm>
          <a:off x="4978400" y="5367338"/>
          <a:ext cx="7620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761669" imgH="342751" progId="Equation.3">
                  <p:embed/>
                </p:oleObj>
              </mc:Choice>
              <mc:Fallback>
                <p:oleObj name="公式" r:id="rId18" imgW="761669" imgH="3427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400" y="5367338"/>
                        <a:ext cx="762000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80" name="Text Box 12"/>
          <p:cNvSpPr txBox="1">
            <a:spLocks noChangeArrowheads="1"/>
          </p:cNvSpPr>
          <p:nvPr/>
        </p:nvSpPr>
        <p:spPr bwMode="auto">
          <a:xfrm>
            <a:off x="6580188" y="5251451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原结论成立．</a:t>
            </a:r>
          </a:p>
        </p:txBody>
      </p:sp>
    </p:spTree>
    <p:extLst>
      <p:ext uri="{BB962C8B-B14F-4D97-AF65-F5344CB8AC3E}">
        <p14:creationId xmlns:p14="http://schemas.microsoft.com/office/powerpoint/2010/main" val="18763352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0"/>
                                        <p:tgtEl>
                                          <p:spTgt spid="18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86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6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6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/>
      <p:bldP spid="18638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326336"/>
              </p:ext>
            </p:extLst>
          </p:nvPr>
        </p:nvGraphicFramePr>
        <p:xfrm>
          <a:off x="2516188" y="873125"/>
          <a:ext cx="703897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76054" imgH="1093651" progId="Word.Document.8">
                  <p:embed/>
                </p:oleObj>
              </mc:Choice>
              <mc:Fallback>
                <p:oleObj name="Document" r:id="rId2" imgW="7076054" imgH="109365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873125"/>
                        <a:ext cx="7038975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2438400" y="2209801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87396" name="Object 4"/>
          <p:cNvGraphicFramePr>
            <a:graphicFrameLocks noChangeAspect="1"/>
          </p:cNvGraphicFramePr>
          <p:nvPr/>
        </p:nvGraphicFramePr>
        <p:xfrm>
          <a:off x="3429000" y="2133600"/>
          <a:ext cx="762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61669" imgH="888614" progId="Equation.3">
                  <p:embed/>
                </p:oleObj>
              </mc:Choice>
              <mc:Fallback>
                <p:oleObj name="公式" r:id="rId4" imgW="761669" imgH="8886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133600"/>
                        <a:ext cx="762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7" name="Object 5"/>
          <p:cNvGraphicFramePr>
            <a:graphicFrameLocks noChangeAspect="1"/>
          </p:cNvGraphicFramePr>
          <p:nvPr/>
        </p:nvGraphicFramePr>
        <p:xfrm>
          <a:off x="4210050" y="2032000"/>
          <a:ext cx="44196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419600" imgH="1625600" progId="Equation.3">
                  <p:embed/>
                </p:oleObj>
              </mc:Choice>
              <mc:Fallback>
                <p:oleObj name="公式" r:id="rId6" imgW="4419600" imgH="162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050" y="2032000"/>
                        <a:ext cx="44196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8" name="Object 6"/>
          <p:cNvGraphicFramePr>
            <a:graphicFrameLocks noChangeAspect="1"/>
          </p:cNvGraphicFramePr>
          <p:nvPr/>
        </p:nvGraphicFramePr>
        <p:xfrm>
          <a:off x="3962400" y="3949700"/>
          <a:ext cx="39878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987800" imgH="1155700" progId="Equation.3">
                  <p:embed/>
                </p:oleObj>
              </mc:Choice>
              <mc:Fallback>
                <p:oleObj name="公式" r:id="rId8" imgW="3987800" imgH="1155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949700"/>
                        <a:ext cx="39878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9" name="Object 7"/>
          <p:cNvGraphicFramePr>
            <a:graphicFrameLocks noChangeAspect="1"/>
          </p:cNvGraphicFramePr>
          <p:nvPr/>
        </p:nvGraphicFramePr>
        <p:xfrm>
          <a:off x="3956050" y="5207000"/>
          <a:ext cx="1536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36700" imgH="914400" progId="Equation.3">
                  <p:embed/>
                </p:oleObj>
              </mc:Choice>
              <mc:Fallback>
                <p:oleObj name="公式" r:id="rId10" imgW="15367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6050" y="5207000"/>
                        <a:ext cx="1536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0" name="Object 8"/>
          <p:cNvGraphicFramePr>
            <a:graphicFrameLocks noChangeAspect="1"/>
          </p:cNvGraphicFramePr>
          <p:nvPr/>
        </p:nvGraphicFramePr>
        <p:xfrm>
          <a:off x="8280400" y="4116388"/>
          <a:ext cx="17780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777229" imgH="533169" progId="Equation.3">
                  <p:embed/>
                </p:oleObj>
              </mc:Choice>
              <mc:Fallback>
                <p:oleObj name="公式" r:id="rId12" imgW="1777229" imgH="5331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0400" y="4116388"/>
                        <a:ext cx="17780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786648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8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8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7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Object 2"/>
          <p:cNvGraphicFramePr>
            <a:graphicFrameLocks noChangeAspect="1"/>
          </p:cNvGraphicFramePr>
          <p:nvPr/>
        </p:nvGraphicFramePr>
        <p:xfrm>
          <a:off x="2971800" y="1016000"/>
          <a:ext cx="736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36600" imgH="965200" progId="Equation.3">
                  <p:embed/>
                </p:oleObj>
              </mc:Choice>
              <mc:Fallback>
                <p:oleObj name="公式" r:id="rId2" imgW="7366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016000"/>
                        <a:ext cx="736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5" name="Object 3"/>
          <p:cNvGraphicFramePr>
            <a:graphicFrameLocks noChangeAspect="1"/>
          </p:cNvGraphicFramePr>
          <p:nvPr/>
        </p:nvGraphicFramePr>
        <p:xfrm>
          <a:off x="3752850" y="914400"/>
          <a:ext cx="44196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419600" imgH="1625600" progId="Equation.3">
                  <p:embed/>
                </p:oleObj>
              </mc:Choice>
              <mc:Fallback>
                <p:oleObj name="公式" r:id="rId4" imgW="4419600" imgH="162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850" y="914400"/>
                        <a:ext cx="44196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0" name="Object 4"/>
          <p:cNvGraphicFramePr>
            <a:graphicFrameLocks noChangeAspect="1"/>
          </p:cNvGraphicFramePr>
          <p:nvPr/>
        </p:nvGraphicFramePr>
        <p:xfrm>
          <a:off x="3505200" y="2819400"/>
          <a:ext cx="39878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987800" imgH="1155700" progId="Equation.3">
                  <p:embed/>
                </p:oleObj>
              </mc:Choice>
              <mc:Fallback>
                <p:oleObj name="公式" r:id="rId6" imgW="3987800" imgH="1155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819400"/>
                        <a:ext cx="39878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1" name="Object 5"/>
          <p:cNvGraphicFramePr>
            <a:graphicFrameLocks noChangeAspect="1"/>
          </p:cNvGraphicFramePr>
          <p:nvPr/>
        </p:nvGraphicFramePr>
        <p:xfrm>
          <a:off x="3476625" y="4051300"/>
          <a:ext cx="2667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67000" imgH="965200" progId="Equation.3">
                  <p:embed/>
                </p:oleObj>
              </mc:Choice>
              <mc:Fallback>
                <p:oleObj name="公式" r:id="rId8" imgW="26670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25" y="4051300"/>
                        <a:ext cx="2667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2" name="Object 6"/>
          <p:cNvGraphicFramePr>
            <a:graphicFrameLocks noChangeAspect="1"/>
          </p:cNvGraphicFramePr>
          <p:nvPr/>
        </p:nvGraphicFramePr>
        <p:xfrm>
          <a:off x="6819900" y="4343401"/>
          <a:ext cx="11049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04421" imgH="406224" progId="Equation.3">
                  <p:embed/>
                </p:oleObj>
              </mc:Choice>
              <mc:Fallback>
                <p:oleObj name="公式" r:id="rId10" imgW="1104421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900" y="4343401"/>
                        <a:ext cx="11049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566906"/>
              </p:ext>
            </p:extLst>
          </p:nvPr>
        </p:nvGraphicFramePr>
        <p:xfrm>
          <a:off x="3807121" y="5083917"/>
          <a:ext cx="8763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76300" imgH="1168400" progId="Equation.3">
                  <p:embed/>
                </p:oleObj>
              </mc:Choice>
              <mc:Fallback>
                <p:oleObj name="公式" r:id="rId12" imgW="876300" imgH="116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7121" y="5083917"/>
                        <a:ext cx="8763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24" name="Text Box 8"/>
          <p:cNvSpPr txBox="1">
            <a:spLocks noChangeArrowheads="1"/>
          </p:cNvSpPr>
          <p:nvPr/>
        </p:nvSpPr>
        <p:spPr bwMode="auto">
          <a:xfrm>
            <a:off x="4660900" y="5380626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不存在．</a:t>
            </a:r>
          </a:p>
        </p:txBody>
      </p:sp>
    </p:spTree>
    <p:extLst>
      <p:ext uri="{BB962C8B-B14F-4D97-AF65-F5344CB8AC3E}">
        <p14:creationId xmlns:p14="http://schemas.microsoft.com/office/powerpoint/2010/main" val="373700092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18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466" name="Object 2"/>
          <p:cNvGraphicFramePr>
            <a:graphicFrameLocks noChangeAspect="1"/>
          </p:cNvGraphicFramePr>
          <p:nvPr/>
        </p:nvGraphicFramePr>
        <p:xfrm>
          <a:off x="3509964" y="1701801"/>
          <a:ext cx="6161087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172200" imgH="894080" progId="Word.Document.8">
                  <p:embed/>
                </p:oleObj>
              </mc:Choice>
              <mc:Fallback>
                <p:oleObj name="文档" r:id="rId2" imgW="6172200" imgH="8940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9964" y="1701801"/>
                        <a:ext cx="6161087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396897"/>
              </p:ext>
            </p:extLst>
          </p:nvPr>
        </p:nvGraphicFramePr>
        <p:xfrm>
          <a:off x="2499386" y="3910806"/>
          <a:ext cx="7364240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73320" imgH="279360" progId="Equation.DSMT4">
                  <p:embed/>
                </p:oleObj>
              </mc:Choice>
              <mc:Fallback>
                <p:oleObj name="Equation" r:id="rId4" imgW="30733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9386" y="3910806"/>
                        <a:ext cx="7364240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2438400" y="944564"/>
            <a:ext cx="4593704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有关偏导数的几点说明：</a:t>
            </a:r>
          </a:p>
        </p:txBody>
      </p:sp>
      <p:sp>
        <p:nvSpPr>
          <p:cNvPr id="190469" name="Text Box 5"/>
          <p:cNvSpPr txBox="1">
            <a:spLocks noChangeArrowheads="1"/>
          </p:cNvSpPr>
          <p:nvPr/>
        </p:nvSpPr>
        <p:spPr bwMode="auto">
          <a:xfrm>
            <a:off x="2590800" y="1858963"/>
            <a:ext cx="144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１、</a:t>
            </a:r>
          </a:p>
        </p:txBody>
      </p:sp>
      <p:sp>
        <p:nvSpPr>
          <p:cNvPr id="190470" name="Text Box 6"/>
          <p:cNvSpPr txBox="1">
            <a:spLocks noChangeArrowheads="1"/>
          </p:cNvSpPr>
          <p:nvPr/>
        </p:nvSpPr>
        <p:spPr bwMode="auto">
          <a:xfrm>
            <a:off x="2590800" y="27432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２、</a:t>
            </a:r>
          </a:p>
        </p:txBody>
      </p:sp>
      <p:sp>
        <p:nvSpPr>
          <p:cNvPr id="190471" name="Rectangle 7"/>
          <p:cNvSpPr>
            <a:spLocks noChangeArrowheads="1"/>
          </p:cNvSpPr>
          <p:nvPr/>
        </p:nvSpPr>
        <p:spPr bwMode="auto">
          <a:xfrm>
            <a:off x="3429000" y="2743200"/>
            <a:ext cx="6019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求分界点、不连续点处的偏导数要用定义求；</a:t>
            </a:r>
          </a:p>
        </p:txBody>
      </p:sp>
      <p:sp>
        <p:nvSpPr>
          <p:cNvPr id="190472" name="Text Box 8"/>
          <p:cNvSpPr txBox="1">
            <a:spLocks noChangeArrowheads="1"/>
          </p:cNvSpPr>
          <p:nvPr/>
        </p:nvSpPr>
        <p:spPr bwMode="auto">
          <a:xfrm>
            <a:off x="2476500" y="4953001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904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401985"/>
              </p:ext>
            </p:extLst>
          </p:nvPr>
        </p:nvGraphicFramePr>
        <p:xfrm>
          <a:off x="3269126" y="4671153"/>
          <a:ext cx="3998160" cy="1101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12800" imgH="444240" progId="Equation.DSMT4">
                  <p:embed/>
                </p:oleObj>
              </mc:Choice>
              <mc:Fallback>
                <p:oleObj name="Equation" r:id="rId6" imgW="1612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9126" y="4671153"/>
                        <a:ext cx="3998160" cy="1101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4" name="Object 10"/>
          <p:cNvGraphicFramePr>
            <a:graphicFrameLocks noChangeAspect="1"/>
          </p:cNvGraphicFramePr>
          <p:nvPr/>
        </p:nvGraphicFramePr>
        <p:xfrm>
          <a:off x="7251700" y="5105400"/>
          <a:ext cx="520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20474" imgH="330057" progId="Equation.3">
                  <p:embed/>
                </p:oleObj>
              </mc:Choice>
              <mc:Fallback>
                <p:oleObj name="公式" r:id="rId8" imgW="520474" imgH="3300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5105400"/>
                        <a:ext cx="520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113368"/>
              </p:ext>
            </p:extLst>
          </p:nvPr>
        </p:nvGraphicFramePr>
        <p:xfrm>
          <a:off x="7825653" y="5041247"/>
          <a:ext cx="1623147" cy="581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72840" imgH="241200" progId="Equation.DSMT4">
                  <p:embed/>
                </p:oleObj>
              </mc:Choice>
              <mc:Fallback>
                <p:oleObj name="Equation" r:id="rId10" imgW="6728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5653" y="5041247"/>
                        <a:ext cx="1623147" cy="5818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616393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"/>
                                        <p:tgtEl>
                                          <p:spTgt spid="19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9" grpId="0" autoUpdateAnimBg="0"/>
      <p:bldP spid="190470" grpId="0" autoUpdateAnimBg="0"/>
      <p:bldP spid="190471" grpId="0" autoUpdateAnimBg="0"/>
      <p:bldP spid="19047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490" name="Object 2"/>
          <p:cNvGraphicFramePr>
            <a:graphicFrameLocks noChangeAspect="1"/>
          </p:cNvGraphicFramePr>
          <p:nvPr/>
        </p:nvGraphicFramePr>
        <p:xfrm>
          <a:off x="2492375" y="762000"/>
          <a:ext cx="6578600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578600" imgH="2019300" progId="Equation.3">
                  <p:embed/>
                </p:oleObj>
              </mc:Choice>
              <mc:Fallback>
                <p:oleObj name="Equation" r:id="rId2" imgW="6578600" imgH="2019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75" y="762000"/>
                        <a:ext cx="6578600" cy="201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2376488" y="1230313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1492" name="Text Box 4"/>
          <p:cNvSpPr txBox="1">
            <a:spLocks noChangeArrowheads="1"/>
          </p:cNvSpPr>
          <p:nvPr/>
        </p:nvSpPr>
        <p:spPr bwMode="auto">
          <a:xfrm>
            <a:off x="2382838" y="3068638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91493" name="Object 5"/>
          <p:cNvGraphicFramePr>
            <a:graphicFrameLocks noChangeAspect="1"/>
          </p:cNvGraphicFramePr>
          <p:nvPr/>
        </p:nvGraphicFramePr>
        <p:xfrm>
          <a:off x="3276600" y="3124200"/>
          <a:ext cx="2628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28900" imgH="431800" progId="Equation.3">
                  <p:embed/>
                </p:oleObj>
              </mc:Choice>
              <mc:Fallback>
                <p:oleObj name="Equation" r:id="rId4" imgW="2628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124200"/>
                        <a:ext cx="2628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964701"/>
              </p:ext>
            </p:extLst>
          </p:nvPr>
        </p:nvGraphicFramePr>
        <p:xfrm>
          <a:off x="3179192" y="3741986"/>
          <a:ext cx="4566000" cy="1037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55520" imgH="444240" progId="Equation.DSMT4">
                  <p:embed/>
                </p:oleObj>
              </mc:Choice>
              <mc:Fallback>
                <p:oleObj name="Equation" r:id="rId6" imgW="1955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9192" y="3741986"/>
                        <a:ext cx="4566000" cy="10377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5" name="Object 7"/>
          <p:cNvGraphicFramePr>
            <a:graphicFrameLocks noChangeAspect="1"/>
          </p:cNvGraphicFramePr>
          <p:nvPr/>
        </p:nvGraphicFramePr>
        <p:xfrm>
          <a:off x="7737475" y="3748088"/>
          <a:ext cx="2006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06600" imgH="965200" progId="Equation.3">
                  <p:embed/>
                </p:oleObj>
              </mc:Choice>
              <mc:Fallback>
                <p:oleObj name="Equation" r:id="rId8" imgW="20066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7475" y="3748088"/>
                        <a:ext cx="2006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580739"/>
              </p:ext>
            </p:extLst>
          </p:nvPr>
        </p:nvGraphicFramePr>
        <p:xfrm>
          <a:off x="3148553" y="4867621"/>
          <a:ext cx="4596639" cy="1044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55520" imgH="444240" progId="Equation.DSMT4">
                  <p:embed/>
                </p:oleObj>
              </mc:Choice>
              <mc:Fallback>
                <p:oleObj name="Equation" r:id="rId10" imgW="1955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553" y="4867621"/>
                        <a:ext cx="4596639" cy="10446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7" name="Object 9"/>
          <p:cNvGraphicFramePr>
            <a:graphicFrameLocks noChangeAspect="1"/>
          </p:cNvGraphicFramePr>
          <p:nvPr/>
        </p:nvGraphicFramePr>
        <p:xfrm>
          <a:off x="7716838" y="4891088"/>
          <a:ext cx="2006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06600" imgH="965200" progId="Equation.3">
                  <p:embed/>
                </p:oleObj>
              </mc:Choice>
              <mc:Fallback>
                <p:oleObj name="Equation" r:id="rId12" imgW="20066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6838" y="4891088"/>
                        <a:ext cx="2006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142212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9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1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9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2"/>
          <p:cNvGraphicFramePr>
            <a:graphicFrameLocks noChangeAspect="1"/>
          </p:cNvGraphicFramePr>
          <p:nvPr/>
        </p:nvGraphicFramePr>
        <p:xfrm>
          <a:off x="2667000" y="685800"/>
          <a:ext cx="2628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900" imgH="431800" progId="Equation.3">
                  <p:embed/>
                </p:oleObj>
              </mc:Choice>
              <mc:Fallback>
                <p:oleObj name="Equation" r:id="rId2" imgW="2628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685800"/>
                        <a:ext cx="2628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5322888" y="612776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按定义可知：</a:t>
            </a:r>
          </a:p>
        </p:txBody>
      </p:sp>
      <p:graphicFrame>
        <p:nvGraphicFramePr>
          <p:cNvPr id="1925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546980"/>
              </p:ext>
            </p:extLst>
          </p:nvPr>
        </p:nvGraphicFramePr>
        <p:xfrm>
          <a:off x="2587526" y="1095695"/>
          <a:ext cx="4790380" cy="940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70000" imgH="406080" progId="Equation.DSMT4">
                  <p:embed/>
                </p:oleObj>
              </mc:Choice>
              <mc:Fallback>
                <p:oleObj name="Equation" r:id="rId4" imgW="2070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526" y="1095695"/>
                        <a:ext cx="4790380" cy="940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7" name="Object 5"/>
          <p:cNvGraphicFramePr>
            <a:graphicFrameLocks noChangeAspect="1"/>
          </p:cNvGraphicFramePr>
          <p:nvPr/>
        </p:nvGraphicFramePr>
        <p:xfrm>
          <a:off x="7391400" y="1146175"/>
          <a:ext cx="2019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300" imgH="838200" progId="Equation.3">
                  <p:embed/>
                </p:oleObj>
              </mc:Choice>
              <mc:Fallback>
                <p:oleObj name="Equation" r:id="rId6" imgW="20193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1146175"/>
                        <a:ext cx="2019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017415"/>
              </p:ext>
            </p:extLst>
          </p:nvPr>
        </p:nvGraphicFramePr>
        <p:xfrm>
          <a:off x="2587526" y="2008194"/>
          <a:ext cx="4803874" cy="1014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44440" imgH="431640" progId="Equation.DSMT4">
                  <p:embed/>
                </p:oleObj>
              </mc:Choice>
              <mc:Fallback>
                <p:oleObj name="Equation" r:id="rId8" imgW="2044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526" y="2008194"/>
                        <a:ext cx="4803874" cy="10144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9" name="Object 7"/>
          <p:cNvGraphicFramePr>
            <a:graphicFrameLocks noChangeAspect="1"/>
          </p:cNvGraphicFramePr>
          <p:nvPr/>
        </p:nvGraphicFramePr>
        <p:xfrm>
          <a:off x="7397750" y="2066925"/>
          <a:ext cx="1981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81200" imgH="914400" progId="Equation.3">
                  <p:embed/>
                </p:oleObj>
              </mc:Choice>
              <mc:Fallback>
                <p:oleObj name="Equation" r:id="rId10" imgW="19812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0" y="2066925"/>
                        <a:ext cx="1981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074555"/>
              </p:ext>
            </p:extLst>
          </p:nvPr>
        </p:nvGraphicFramePr>
        <p:xfrm>
          <a:off x="2667000" y="2923850"/>
          <a:ext cx="6005834" cy="1659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27200" imgH="698400" progId="Equation.DSMT4">
                  <p:embed/>
                </p:oleObj>
              </mc:Choice>
              <mc:Fallback>
                <p:oleObj name="Equation" r:id="rId12" imgW="25272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923850"/>
                        <a:ext cx="6005834" cy="16599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988369"/>
              </p:ext>
            </p:extLst>
          </p:nvPr>
        </p:nvGraphicFramePr>
        <p:xfrm>
          <a:off x="2654594" y="4509120"/>
          <a:ext cx="5974955" cy="1651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27200" imgH="698400" progId="Equation.DSMT4">
                  <p:embed/>
                </p:oleObj>
              </mc:Choice>
              <mc:Fallback>
                <p:oleObj name="Equation" r:id="rId14" imgW="25272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594" y="4509120"/>
                        <a:ext cx="5974955" cy="1651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001115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9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9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2438400" y="762001"/>
            <a:ext cx="594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３、偏导数存在与连续的关系</a:t>
            </a:r>
          </a:p>
        </p:txBody>
      </p:sp>
      <p:sp>
        <p:nvSpPr>
          <p:cNvPr id="193539" name="Line 3"/>
          <p:cNvSpPr>
            <a:spLocks noChangeShapeType="1"/>
          </p:cNvSpPr>
          <p:nvPr/>
        </p:nvSpPr>
        <p:spPr bwMode="auto">
          <a:xfrm>
            <a:off x="6781800" y="1704975"/>
            <a:ext cx="6096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3540" name="Line 4"/>
          <p:cNvSpPr>
            <a:spLocks noChangeShapeType="1"/>
          </p:cNvSpPr>
          <p:nvPr/>
        </p:nvSpPr>
        <p:spPr bwMode="auto">
          <a:xfrm flipV="1">
            <a:off x="7848600" y="2286001"/>
            <a:ext cx="609600" cy="28575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3541" name="WordArt 5"/>
          <p:cNvSpPr>
            <a:spLocks noChangeArrowheads="1" noChangeShapeType="1" noTextEdit="1"/>
          </p:cNvSpPr>
          <p:nvPr/>
        </p:nvSpPr>
        <p:spPr bwMode="auto">
          <a:xfrm>
            <a:off x="8001000" y="2057400"/>
            <a:ext cx="228600" cy="457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4236"/>
              </a:avLst>
            </a:prstTxWarp>
          </a:bodyPr>
          <a:lstStyle/>
          <a:p>
            <a:pPr algn="ctr"/>
            <a:r>
              <a:rPr lang="zh-CN" alt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宋体" panose="02010600030101010101" pitchFamily="2" charset="-122"/>
              </a:rPr>
              <a:t>？</a:t>
            </a:r>
          </a:p>
        </p:txBody>
      </p:sp>
      <p:graphicFrame>
        <p:nvGraphicFramePr>
          <p:cNvPr id="193542" name="Object 6"/>
          <p:cNvGraphicFramePr>
            <a:graphicFrameLocks noChangeAspect="1"/>
          </p:cNvGraphicFramePr>
          <p:nvPr/>
        </p:nvGraphicFramePr>
        <p:xfrm>
          <a:off x="2743201" y="2590801"/>
          <a:ext cx="6970713" cy="198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990080" imgH="1991360" progId="Word.Document.8">
                  <p:embed/>
                </p:oleObj>
              </mc:Choice>
              <mc:Fallback>
                <p:oleObj name="文档" r:id="rId2" imgW="6990080" imgH="19913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1" y="2590801"/>
                        <a:ext cx="6970713" cy="198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544" name="Text Box 8"/>
          <p:cNvSpPr txBox="1">
            <a:spLocks noChangeArrowheads="1"/>
          </p:cNvSpPr>
          <p:nvPr/>
        </p:nvSpPr>
        <p:spPr bwMode="auto">
          <a:xfrm>
            <a:off x="2514600" y="5305426"/>
            <a:ext cx="464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但函数在该点处并不连续</a:t>
            </a:r>
            <a:r>
              <a:rPr lang="en-US" altLang="zh-CN" sz="2800" b="1"/>
              <a:t>.</a:t>
            </a:r>
          </a:p>
        </p:txBody>
      </p:sp>
      <p:sp>
        <p:nvSpPr>
          <p:cNvPr id="193545" name="Rectangle 9"/>
          <p:cNvSpPr>
            <a:spLocks noChangeArrowheads="1"/>
          </p:cNvSpPr>
          <p:nvPr/>
        </p:nvSpPr>
        <p:spPr bwMode="auto">
          <a:xfrm>
            <a:off x="6705600" y="5338763"/>
            <a:ext cx="3657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accent2"/>
                </a:solidFill>
              </a:rPr>
              <a:t>偏导数存在       连续</a:t>
            </a:r>
            <a:r>
              <a:rPr lang="en-US" altLang="zh-CN" sz="2800" b="1">
                <a:solidFill>
                  <a:schemeClr val="accent2"/>
                </a:solidFill>
              </a:rPr>
              <a:t>.</a:t>
            </a:r>
          </a:p>
        </p:txBody>
      </p:sp>
      <p:grpSp>
        <p:nvGrpSpPr>
          <p:cNvPr id="193546" name="Group 10"/>
          <p:cNvGrpSpPr>
            <a:grpSpLocks/>
          </p:cNvGrpSpPr>
          <p:nvPr/>
        </p:nvGrpSpPr>
        <p:grpSpPr bwMode="auto">
          <a:xfrm>
            <a:off x="8610600" y="5457826"/>
            <a:ext cx="609600" cy="257175"/>
            <a:chOff x="4446" y="3330"/>
            <a:chExt cx="384" cy="162"/>
          </a:xfrm>
        </p:grpSpPr>
        <p:sp>
          <p:nvSpPr>
            <p:cNvPr id="54285" name="Line 11"/>
            <p:cNvSpPr>
              <a:spLocks noChangeShapeType="1"/>
            </p:cNvSpPr>
            <p:nvPr/>
          </p:nvSpPr>
          <p:spPr bwMode="auto">
            <a:xfrm>
              <a:off x="4446" y="3426"/>
              <a:ext cx="384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6" name="Line 12"/>
            <p:cNvSpPr>
              <a:spLocks noChangeShapeType="1"/>
            </p:cNvSpPr>
            <p:nvPr/>
          </p:nvSpPr>
          <p:spPr bwMode="auto">
            <a:xfrm flipH="1">
              <a:off x="4560" y="3330"/>
              <a:ext cx="96" cy="162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3549" name="Rectangle 13"/>
          <p:cNvSpPr>
            <a:spLocks noChangeArrowheads="1"/>
          </p:cNvSpPr>
          <p:nvPr/>
        </p:nvSpPr>
        <p:spPr bwMode="auto">
          <a:xfrm>
            <a:off x="2895600" y="1462088"/>
            <a:ext cx="57292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一元函数中在某点可导   </a:t>
            </a:r>
            <a:r>
              <a:rPr lang="zh-CN" altLang="en-US" sz="2800" b="1">
                <a:solidFill>
                  <a:schemeClr val="accent2"/>
                </a:solidFill>
              </a:rPr>
              <a:t>      </a:t>
            </a:r>
            <a:r>
              <a:rPr lang="zh-CN" altLang="en-US" sz="2800" b="1"/>
              <a:t> 连续，</a:t>
            </a:r>
          </a:p>
        </p:txBody>
      </p:sp>
      <p:sp>
        <p:nvSpPr>
          <p:cNvPr id="193550" name="Rectangle 14"/>
          <p:cNvSpPr>
            <a:spLocks noChangeArrowheads="1"/>
          </p:cNvSpPr>
          <p:nvPr/>
        </p:nvSpPr>
        <p:spPr bwMode="auto">
          <a:xfrm>
            <a:off x="2895600" y="2057401"/>
            <a:ext cx="6902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多元函数中在某点偏导数存在 </a:t>
            </a:r>
            <a:r>
              <a:rPr lang="zh-CN" altLang="en-US" sz="2800" b="1">
                <a:solidFill>
                  <a:schemeClr val="accent2"/>
                </a:solidFill>
              </a:rPr>
              <a:t>         </a:t>
            </a:r>
            <a:r>
              <a:rPr lang="zh-CN" altLang="en-US" sz="2800" b="1"/>
              <a:t> 连续，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098138"/>
              </p:ext>
            </p:extLst>
          </p:nvPr>
        </p:nvGraphicFramePr>
        <p:xfrm>
          <a:off x="5895526" y="4509198"/>
          <a:ext cx="35433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2360" imgH="241200" progId="Equation.DSMT4">
                  <p:embed/>
                </p:oleObj>
              </mc:Choice>
              <mc:Fallback>
                <p:oleObj name="Equation" r:id="rId4" imgW="1422360" imgH="2412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5526" y="4509198"/>
                        <a:ext cx="3543300" cy="604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2632868" y="4507110"/>
            <a:ext cx="3713957" cy="539358"/>
            <a:chOff x="2514600" y="4433262"/>
            <a:chExt cx="3713957" cy="539358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4197131"/>
                </p:ext>
              </p:extLst>
            </p:nvPr>
          </p:nvGraphicFramePr>
          <p:xfrm>
            <a:off x="4457700" y="4541044"/>
            <a:ext cx="762000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61669" imgH="406224" progId="Equation.DSMT4">
                    <p:embed/>
                  </p:oleObj>
                </mc:Choice>
                <mc:Fallback>
                  <p:oleObj name="Equation" r:id="rId6" imgW="761669" imgH="406224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7700" y="4541044"/>
                          <a:ext cx="762000" cy="4095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30"/>
            <p:cNvSpPr>
              <a:spLocks noChangeArrowheads="1"/>
            </p:cNvSpPr>
            <p:nvPr/>
          </p:nvSpPr>
          <p:spPr bwMode="auto">
            <a:xfrm>
              <a:off x="2514600" y="4433262"/>
              <a:ext cx="214124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依定义知在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" name="Rectangle 31"/>
            <p:cNvSpPr>
              <a:spLocks noChangeArrowheads="1"/>
            </p:cNvSpPr>
            <p:nvPr/>
          </p:nvSpPr>
          <p:spPr bwMode="auto">
            <a:xfrm>
              <a:off x="5187475" y="4449400"/>
              <a:ext cx="104108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处，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786041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3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193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2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0" fill="hold"/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0" fill="hold"/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9" grpId="0" animBg="1"/>
      <p:bldP spid="193540" grpId="0" animBg="1"/>
      <p:bldP spid="193541" grpId="0" animBg="1"/>
      <p:bldP spid="193544" grpId="0" autoUpdateAnimBg="0"/>
      <p:bldP spid="193545" grpId="0" autoUpdateAnimBg="0"/>
      <p:bldP spid="193549" grpId="0" autoUpdateAnimBg="0"/>
      <p:bldP spid="19355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22958" y="320859"/>
            <a:ext cx="5546725" cy="533400"/>
          </a:xfrm>
          <a:noFill/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4.  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二元函数偏导数的几何意义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1945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9343701"/>
              </p:ext>
            </p:extLst>
          </p:nvPr>
        </p:nvGraphicFramePr>
        <p:xfrm>
          <a:off x="2279576" y="854190"/>
          <a:ext cx="4475092" cy="1191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520560" progId="Equation.DSMT4">
                  <p:embed/>
                </p:oleObj>
              </mc:Choice>
              <mc:Fallback>
                <p:oleObj name="Equation" r:id="rId2" imgW="196848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854190"/>
                        <a:ext cx="4475092" cy="1191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080059"/>
              </p:ext>
            </p:extLst>
          </p:nvPr>
        </p:nvGraphicFramePr>
        <p:xfrm>
          <a:off x="3073147" y="2087739"/>
          <a:ext cx="1921572" cy="116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480" imgH="482400" progId="Equation.DSMT4">
                  <p:embed/>
                </p:oleObj>
              </mc:Choice>
              <mc:Fallback>
                <p:oleObj name="Equation" r:id="rId4" imgW="825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147" y="2087739"/>
                        <a:ext cx="1921572" cy="116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5" name="Object 5"/>
          <p:cNvGraphicFramePr>
            <a:graphicFrameLocks noChangeAspect="1"/>
          </p:cNvGraphicFramePr>
          <p:nvPr/>
        </p:nvGraphicFramePr>
        <p:xfrm>
          <a:off x="2351088" y="3219451"/>
          <a:ext cx="8493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38055" imgH="419126" progId="Equation.3">
                  <p:embed/>
                </p:oleObj>
              </mc:Choice>
              <mc:Fallback>
                <p:oleObj name="公式" r:id="rId6" imgW="838055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3219451"/>
                        <a:ext cx="84931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383330"/>
              </p:ext>
            </p:extLst>
          </p:nvPr>
        </p:nvGraphicFramePr>
        <p:xfrm>
          <a:off x="2572716" y="3617212"/>
          <a:ext cx="4523872" cy="1205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68480" imgH="520560" progId="Equation.DSMT4">
                  <p:embed/>
                </p:oleObj>
              </mc:Choice>
              <mc:Fallback>
                <p:oleObj name="Equation" r:id="rId8" imgW="196848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2716" y="3617212"/>
                        <a:ext cx="4523872" cy="12056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67" name="Text Box 7"/>
          <p:cNvSpPr txBox="1">
            <a:spLocks noChangeArrowheads="1"/>
          </p:cNvSpPr>
          <p:nvPr/>
        </p:nvSpPr>
        <p:spPr bwMode="auto">
          <a:xfrm>
            <a:off x="1868488" y="5135563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是曲线</a:t>
            </a:r>
          </a:p>
        </p:txBody>
      </p:sp>
      <p:graphicFrame>
        <p:nvGraphicFramePr>
          <p:cNvPr id="1945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112090"/>
              </p:ext>
            </p:extLst>
          </p:nvPr>
        </p:nvGraphicFramePr>
        <p:xfrm>
          <a:off x="3039286" y="4847025"/>
          <a:ext cx="1968137" cy="1161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25480" imgH="482400" progId="Equation.DSMT4">
                  <p:embed/>
                </p:oleObj>
              </mc:Choice>
              <mc:Fallback>
                <p:oleObj name="Equation" r:id="rId10" imgW="825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9286" y="4847025"/>
                        <a:ext cx="1968137" cy="1161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9" name="Object 9"/>
          <p:cNvGraphicFramePr>
            <a:graphicFrameLocks noChangeAspect="1"/>
          </p:cNvGraphicFramePr>
          <p:nvPr/>
        </p:nvGraphicFramePr>
        <p:xfrm>
          <a:off x="7778751" y="5187951"/>
          <a:ext cx="8540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57142" imgH="476121" progId="Equation.3">
                  <p:embed/>
                </p:oleObj>
              </mc:Choice>
              <mc:Fallback>
                <p:oleObj name="公式" r:id="rId12" imgW="857142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751" y="5187951"/>
                        <a:ext cx="85407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70" name="Text Box 10"/>
          <p:cNvSpPr txBox="1">
            <a:spLocks noChangeArrowheads="1"/>
          </p:cNvSpPr>
          <p:nvPr/>
        </p:nvSpPr>
        <p:spPr bwMode="auto">
          <a:xfrm>
            <a:off x="4904436" y="2312778"/>
            <a:ext cx="29718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在点 </a:t>
            </a:r>
            <a:r>
              <a:rPr lang="en-US" altLang="zh-CN" sz="2800" b="1" i="1" dirty="0">
                <a:ea typeface="楷体_GB2312" pitchFamily="49" charset="-122"/>
              </a:rPr>
              <a:t>M</a:t>
            </a:r>
            <a:r>
              <a:rPr lang="en-US" altLang="zh-CN" sz="2800" b="1" baseline="-25000" dirty="0">
                <a:ea typeface="楷体_GB2312" pitchFamily="49" charset="-122"/>
              </a:rPr>
              <a:t>0 </a:t>
            </a:r>
            <a:r>
              <a:rPr lang="zh-CN" altLang="en-US" sz="2800" b="1" dirty="0">
                <a:ea typeface="楷体_GB2312" pitchFamily="49" charset="-122"/>
              </a:rPr>
              <a:t>处的切线</a:t>
            </a:r>
          </a:p>
        </p:txBody>
      </p:sp>
      <p:sp>
        <p:nvSpPr>
          <p:cNvPr id="194571" name="Text Box 11"/>
          <p:cNvSpPr txBox="1">
            <a:spLocks noChangeArrowheads="1"/>
          </p:cNvSpPr>
          <p:nvPr/>
        </p:nvSpPr>
        <p:spPr bwMode="auto">
          <a:xfrm>
            <a:off x="3216275" y="3141663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对 </a:t>
            </a:r>
            <a:r>
              <a:rPr lang="en-US" altLang="zh-CN" sz="2800" b="1" i="1">
                <a:ea typeface="楷体_GB2312" pitchFamily="49" charset="-122"/>
              </a:rPr>
              <a:t>x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轴的斜率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194572" name="Text Box 12"/>
          <p:cNvSpPr txBox="1">
            <a:spLocks noChangeArrowheads="1"/>
          </p:cNvSpPr>
          <p:nvPr/>
        </p:nvSpPr>
        <p:spPr bwMode="auto">
          <a:xfrm>
            <a:off x="4953000" y="5105401"/>
            <a:ext cx="29718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在点</a:t>
            </a:r>
            <a:r>
              <a:rPr lang="en-US" altLang="zh-CN" sz="2800" b="1" i="1">
                <a:ea typeface="楷体_GB2312" pitchFamily="49" charset="-122"/>
              </a:rPr>
              <a:t>M</a:t>
            </a:r>
            <a:r>
              <a:rPr lang="en-US" altLang="zh-CN" sz="2800" b="1" baseline="-25000">
                <a:ea typeface="楷体_GB2312" pitchFamily="49" charset="-122"/>
              </a:rPr>
              <a:t>0 </a:t>
            </a:r>
            <a:r>
              <a:rPr lang="zh-CN" altLang="en-US" sz="2800" b="1">
                <a:ea typeface="楷体_GB2312" pitchFamily="49" charset="-122"/>
              </a:rPr>
              <a:t>处的切线</a:t>
            </a:r>
          </a:p>
        </p:txBody>
      </p:sp>
      <p:sp>
        <p:nvSpPr>
          <p:cNvPr id="194573" name="Text Box 13"/>
          <p:cNvSpPr txBox="1">
            <a:spLocks noChangeArrowheads="1"/>
          </p:cNvSpPr>
          <p:nvPr/>
        </p:nvSpPr>
        <p:spPr bwMode="auto">
          <a:xfrm>
            <a:off x="10043657" y="5133976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斜率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94574" name="Text Box 14"/>
          <p:cNvSpPr txBox="1">
            <a:spLocks noChangeArrowheads="1"/>
          </p:cNvSpPr>
          <p:nvPr/>
        </p:nvSpPr>
        <p:spPr bwMode="auto">
          <a:xfrm>
            <a:off x="1905000" y="2376488"/>
            <a:ext cx="1524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ea typeface="楷体_GB2312" pitchFamily="49" charset="-122"/>
              </a:rPr>
              <a:t>是曲线</a:t>
            </a:r>
          </a:p>
        </p:txBody>
      </p:sp>
      <p:grpSp>
        <p:nvGrpSpPr>
          <p:cNvPr id="194579" name="Group 19"/>
          <p:cNvGrpSpPr>
            <a:grpSpLocks/>
          </p:cNvGrpSpPr>
          <p:nvPr/>
        </p:nvGrpSpPr>
        <p:grpSpPr bwMode="auto">
          <a:xfrm>
            <a:off x="7678738" y="808192"/>
            <a:ext cx="2608262" cy="3686817"/>
            <a:chOff x="3744" y="177"/>
            <a:chExt cx="1824" cy="2580"/>
          </a:xfrm>
        </p:grpSpPr>
        <p:sp>
          <p:nvSpPr>
            <p:cNvPr id="55344" name="Arc 20"/>
            <p:cNvSpPr>
              <a:spLocks/>
            </p:cNvSpPr>
            <p:nvPr/>
          </p:nvSpPr>
          <p:spPr bwMode="auto">
            <a:xfrm>
              <a:off x="4369" y="417"/>
              <a:ext cx="1041" cy="576"/>
            </a:xfrm>
            <a:custGeom>
              <a:avLst/>
              <a:gdLst>
                <a:gd name="T0" fmla="*/ 0 w 21275"/>
                <a:gd name="T1" fmla="*/ 24 h 21600"/>
                <a:gd name="T2" fmla="*/ 1041 w 21275"/>
                <a:gd name="T3" fmla="*/ 164 h 21600"/>
                <a:gd name="T4" fmla="*/ 303 w 21275"/>
                <a:gd name="T5" fmla="*/ 57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75" h="21600" fill="none" extrusionOk="0">
                  <a:moveTo>
                    <a:pt x="0" y="908"/>
                  </a:moveTo>
                  <a:cubicBezTo>
                    <a:pt x="2010" y="305"/>
                    <a:pt x="4098" y="-1"/>
                    <a:pt x="6198" y="0"/>
                  </a:cubicBezTo>
                  <a:cubicBezTo>
                    <a:pt x="11830" y="0"/>
                    <a:pt x="17241" y="2200"/>
                    <a:pt x="21274" y="6132"/>
                  </a:cubicBezTo>
                </a:path>
                <a:path w="21275" h="21600" stroke="0" extrusionOk="0">
                  <a:moveTo>
                    <a:pt x="0" y="908"/>
                  </a:moveTo>
                  <a:cubicBezTo>
                    <a:pt x="2010" y="305"/>
                    <a:pt x="4098" y="-1"/>
                    <a:pt x="6198" y="0"/>
                  </a:cubicBezTo>
                  <a:cubicBezTo>
                    <a:pt x="11830" y="0"/>
                    <a:pt x="17241" y="2200"/>
                    <a:pt x="21274" y="6132"/>
                  </a:cubicBezTo>
                  <a:lnTo>
                    <a:pt x="6198" y="21600"/>
                  </a:lnTo>
                  <a:lnTo>
                    <a:pt x="0" y="908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5" name="Arc 21"/>
            <p:cNvSpPr>
              <a:spLocks/>
            </p:cNvSpPr>
            <p:nvPr/>
          </p:nvSpPr>
          <p:spPr bwMode="auto">
            <a:xfrm>
              <a:off x="3889" y="1159"/>
              <a:ext cx="1166" cy="576"/>
            </a:xfrm>
            <a:custGeom>
              <a:avLst/>
              <a:gdLst>
                <a:gd name="T0" fmla="*/ 0 w 23838"/>
                <a:gd name="T1" fmla="*/ 54 h 21600"/>
                <a:gd name="T2" fmla="*/ 1166 w 23838"/>
                <a:gd name="T3" fmla="*/ 155 h 21600"/>
                <a:gd name="T4" fmla="*/ 446 w 23838"/>
                <a:gd name="T5" fmla="*/ 57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838" h="21600" fill="none" extrusionOk="0">
                  <a:moveTo>
                    <a:pt x="0" y="2015"/>
                  </a:moveTo>
                  <a:cubicBezTo>
                    <a:pt x="2853" y="687"/>
                    <a:pt x="5962" y="-1"/>
                    <a:pt x="9110" y="0"/>
                  </a:cubicBezTo>
                  <a:cubicBezTo>
                    <a:pt x="14576" y="0"/>
                    <a:pt x="19839" y="2072"/>
                    <a:pt x="23838" y="5799"/>
                  </a:cubicBezTo>
                </a:path>
                <a:path w="23838" h="21600" stroke="0" extrusionOk="0">
                  <a:moveTo>
                    <a:pt x="0" y="2015"/>
                  </a:moveTo>
                  <a:cubicBezTo>
                    <a:pt x="2853" y="687"/>
                    <a:pt x="5962" y="-1"/>
                    <a:pt x="9110" y="0"/>
                  </a:cubicBezTo>
                  <a:cubicBezTo>
                    <a:pt x="14576" y="0"/>
                    <a:pt x="19839" y="2072"/>
                    <a:pt x="23838" y="5799"/>
                  </a:cubicBezTo>
                  <a:lnTo>
                    <a:pt x="9110" y="21600"/>
                  </a:lnTo>
                  <a:lnTo>
                    <a:pt x="0" y="2015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6" name="Arc 22"/>
            <p:cNvSpPr>
              <a:spLocks/>
            </p:cNvSpPr>
            <p:nvPr/>
          </p:nvSpPr>
          <p:spPr bwMode="auto">
            <a:xfrm flipH="1">
              <a:off x="5040" y="574"/>
              <a:ext cx="528" cy="728"/>
            </a:xfrm>
            <a:custGeom>
              <a:avLst/>
              <a:gdLst>
                <a:gd name="T0" fmla="*/ 167 w 21600"/>
                <a:gd name="T1" fmla="*/ 0 h 20488"/>
                <a:gd name="T2" fmla="*/ 528 w 21600"/>
                <a:gd name="T3" fmla="*/ 726 h 20488"/>
                <a:gd name="T4" fmla="*/ 0 w 21600"/>
                <a:gd name="T5" fmla="*/ 728 h 204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0488" fill="none" extrusionOk="0">
                  <a:moveTo>
                    <a:pt x="6841" y="-1"/>
                  </a:moveTo>
                  <a:cubicBezTo>
                    <a:pt x="15635" y="2936"/>
                    <a:pt x="21575" y="11158"/>
                    <a:pt x="21599" y="20430"/>
                  </a:cubicBezTo>
                </a:path>
                <a:path w="21600" h="20488" stroke="0" extrusionOk="0">
                  <a:moveTo>
                    <a:pt x="6841" y="-1"/>
                  </a:moveTo>
                  <a:cubicBezTo>
                    <a:pt x="15635" y="2936"/>
                    <a:pt x="21575" y="11158"/>
                    <a:pt x="21599" y="20430"/>
                  </a:cubicBezTo>
                  <a:lnTo>
                    <a:pt x="0" y="20488"/>
                  </a:lnTo>
                  <a:lnTo>
                    <a:pt x="6841" y="-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7" name="Arc 23"/>
            <p:cNvSpPr>
              <a:spLocks/>
            </p:cNvSpPr>
            <p:nvPr/>
          </p:nvSpPr>
          <p:spPr bwMode="auto">
            <a:xfrm flipH="1">
              <a:off x="3888" y="438"/>
              <a:ext cx="528" cy="816"/>
            </a:xfrm>
            <a:custGeom>
              <a:avLst/>
              <a:gdLst>
                <a:gd name="T0" fmla="*/ 46 w 21581"/>
                <a:gd name="T1" fmla="*/ 0 h 21520"/>
                <a:gd name="T2" fmla="*/ 528 w 21581"/>
                <a:gd name="T3" fmla="*/ 781 h 21520"/>
                <a:gd name="T4" fmla="*/ 0 w 21581"/>
                <a:gd name="T5" fmla="*/ 816 h 215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81" h="21520" fill="none" extrusionOk="0">
                  <a:moveTo>
                    <a:pt x="1859" y="0"/>
                  </a:moveTo>
                  <a:cubicBezTo>
                    <a:pt x="12678" y="935"/>
                    <a:pt x="21120" y="9756"/>
                    <a:pt x="21580" y="20605"/>
                  </a:cubicBezTo>
                </a:path>
                <a:path w="21581" h="21520" stroke="0" extrusionOk="0">
                  <a:moveTo>
                    <a:pt x="1859" y="0"/>
                  </a:moveTo>
                  <a:cubicBezTo>
                    <a:pt x="12678" y="935"/>
                    <a:pt x="21120" y="9756"/>
                    <a:pt x="21580" y="20605"/>
                  </a:cubicBezTo>
                  <a:lnTo>
                    <a:pt x="0" y="21520"/>
                  </a:lnTo>
                  <a:lnTo>
                    <a:pt x="1859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5348" name="Group 24"/>
            <p:cNvGrpSpPr>
              <a:grpSpLocks/>
            </p:cNvGrpSpPr>
            <p:nvPr/>
          </p:nvGrpSpPr>
          <p:grpSpPr bwMode="auto">
            <a:xfrm>
              <a:off x="3744" y="198"/>
              <a:ext cx="1584" cy="2448"/>
              <a:chOff x="3744" y="198"/>
              <a:chExt cx="1584" cy="2448"/>
            </a:xfrm>
          </p:grpSpPr>
          <p:sp>
            <p:nvSpPr>
              <p:cNvPr id="55352" name="Line 25"/>
              <p:cNvSpPr>
                <a:spLocks noChangeShapeType="1"/>
              </p:cNvSpPr>
              <p:nvPr/>
            </p:nvSpPr>
            <p:spPr bwMode="auto">
              <a:xfrm>
                <a:off x="4128" y="1878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53" name="Line 26"/>
              <p:cNvSpPr>
                <a:spLocks noChangeShapeType="1"/>
              </p:cNvSpPr>
              <p:nvPr/>
            </p:nvSpPr>
            <p:spPr bwMode="auto">
              <a:xfrm flipH="1">
                <a:off x="3744" y="1878"/>
                <a:ext cx="384" cy="7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54" name="Line 27"/>
              <p:cNvSpPr>
                <a:spLocks noChangeShapeType="1"/>
              </p:cNvSpPr>
              <p:nvPr/>
            </p:nvSpPr>
            <p:spPr bwMode="auto">
              <a:xfrm flipV="1">
                <a:off x="4128" y="198"/>
                <a:ext cx="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55" name="Line 28"/>
              <p:cNvSpPr>
                <a:spLocks noChangeShapeType="1"/>
              </p:cNvSpPr>
              <p:nvPr/>
            </p:nvSpPr>
            <p:spPr bwMode="auto">
              <a:xfrm flipV="1">
                <a:off x="4128" y="1158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56" name="Line 29"/>
              <p:cNvSpPr>
                <a:spLocks noChangeShapeType="1"/>
              </p:cNvSpPr>
              <p:nvPr/>
            </p:nvSpPr>
            <p:spPr bwMode="auto">
              <a:xfrm flipV="1">
                <a:off x="4128" y="582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55349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2992080"/>
                </p:ext>
              </p:extLst>
            </p:nvPr>
          </p:nvGraphicFramePr>
          <p:xfrm>
            <a:off x="5324" y="1820"/>
            <a:ext cx="215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9680" imgH="164880" progId="Equation.DSMT4">
                    <p:embed/>
                  </p:oleObj>
                </mc:Choice>
                <mc:Fallback>
                  <p:oleObj name="Equation" r:id="rId14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4" y="1820"/>
                          <a:ext cx="215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50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6907643"/>
                </p:ext>
              </p:extLst>
            </p:nvPr>
          </p:nvGraphicFramePr>
          <p:xfrm>
            <a:off x="3792" y="2545"/>
            <a:ext cx="222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9680" imgH="139680" progId="Equation.DSMT4">
                    <p:embed/>
                  </p:oleObj>
                </mc:Choice>
                <mc:Fallback>
                  <p:oleObj name="Equation" r:id="rId16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2545"/>
                          <a:ext cx="222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51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3910572"/>
                </p:ext>
              </p:extLst>
            </p:nvPr>
          </p:nvGraphicFramePr>
          <p:xfrm>
            <a:off x="3888" y="177"/>
            <a:ext cx="19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14120" imgH="139680" progId="Equation.DSMT4">
                    <p:embed/>
                  </p:oleObj>
                </mc:Choice>
                <mc:Fallback>
                  <p:oleObj name="Equation" r:id="rId18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77"/>
                          <a:ext cx="19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593" name="Group 33"/>
          <p:cNvGrpSpPr>
            <a:grpSpLocks/>
          </p:cNvGrpSpPr>
          <p:nvPr/>
        </p:nvGrpSpPr>
        <p:grpSpPr bwMode="auto">
          <a:xfrm>
            <a:off x="7385681" y="1557339"/>
            <a:ext cx="2213934" cy="2438971"/>
            <a:chOff x="3596" y="695"/>
            <a:chExt cx="1548" cy="1691"/>
          </a:xfrm>
        </p:grpSpPr>
        <p:sp>
          <p:nvSpPr>
            <p:cNvPr id="55339" name="Line 34"/>
            <p:cNvSpPr>
              <a:spLocks noChangeShapeType="1"/>
            </p:cNvSpPr>
            <p:nvPr/>
          </p:nvSpPr>
          <p:spPr bwMode="auto">
            <a:xfrm>
              <a:off x="3936" y="2304"/>
              <a:ext cx="1200" cy="0"/>
            </a:xfrm>
            <a:prstGeom prst="line">
              <a:avLst/>
            </a:prstGeom>
            <a:noFill/>
            <a:ln w="15875">
              <a:solidFill>
                <a:srgbClr val="FF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5340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2461691"/>
                </p:ext>
              </p:extLst>
            </p:nvPr>
          </p:nvGraphicFramePr>
          <p:xfrm>
            <a:off x="3596" y="2058"/>
            <a:ext cx="25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77480" imgH="228600" progId="Equation.DSMT4">
                    <p:embed/>
                  </p:oleObj>
                </mc:Choice>
                <mc:Fallback>
                  <p:oleObj name="Equation" r:id="rId20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6" y="2058"/>
                          <a:ext cx="250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41" name="Arc 36"/>
            <p:cNvSpPr>
              <a:spLocks/>
            </p:cNvSpPr>
            <p:nvPr/>
          </p:nvSpPr>
          <p:spPr bwMode="auto">
            <a:xfrm>
              <a:off x="4032" y="695"/>
              <a:ext cx="1112" cy="578"/>
            </a:xfrm>
            <a:custGeom>
              <a:avLst/>
              <a:gdLst>
                <a:gd name="T0" fmla="*/ 0 w 22720"/>
                <a:gd name="T1" fmla="*/ 25 h 21600"/>
                <a:gd name="T2" fmla="*/ 1112 w 22720"/>
                <a:gd name="T3" fmla="*/ 201 h 21600"/>
                <a:gd name="T4" fmla="*/ 310 w 22720"/>
                <a:gd name="T5" fmla="*/ 578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720" h="21600" fill="none" extrusionOk="0">
                  <a:moveTo>
                    <a:pt x="0" y="952"/>
                  </a:moveTo>
                  <a:cubicBezTo>
                    <a:pt x="2054" y="320"/>
                    <a:pt x="4192" y="-1"/>
                    <a:pt x="6342" y="0"/>
                  </a:cubicBezTo>
                  <a:cubicBezTo>
                    <a:pt x="12635" y="0"/>
                    <a:pt x="18616" y="2745"/>
                    <a:pt x="22720" y="7517"/>
                  </a:cubicBezTo>
                </a:path>
                <a:path w="22720" h="21600" stroke="0" extrusionOk="0">
                  <a:moveTo>
                    <a:pt x="0" y="952"/>
                  </a:moveTo>
                  <a:cubicBezTo>
                    <a:pt x="2054" y="320"/>
                    <a:pt x="4192" y="-1"/>
                    <a:pt x="6342" y="0"/>
                  </a:cubicBezTo>
                  <a:cubicBezTo>
                    <a:pt x="12635" y="0"/>
                    <a:pt x="18616" y="2745"/>
                    <a:pt x="22720" y="7517"/>
                  </a:cubicBezTo>
                  <a:lnTo>
                    <a:pt x="6342" y="21600"/>
                  </a:lnTo>
                  <a:lnTo>
                    <a:pt x="0" y="952"/>
                  </a:lnTo>
                  <a:close/>
                </a:path>
              </a:pathLst>
            </a:cu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2" name="Line 37"/>
            <p:cNvSpPr>
              <a:spLocks noChangeShapeType="1"/>
            </p:cNvSpPr>
            <p:nvPr/>
          </p:nvSpPr>
          <p:spPr bwMode="auto">
            <a:xfrm>
              <a:off x="4032" y="726"/>
              <a:ext cx="0" cy="1584"/>
            </a:xfrm>
            <a:prstGeom prst="line">
              <a:avLst/>
            </a:prstGeom>
            <a:noFill/>
            <a:ln w="15875">
              <a:solidFill>
                <a:srgbClr val="FF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3" name="Line 38"/>
            <p:cNvSpPr>
              <a:spLocks noChangeShapeType="1"/>
            </p:cNvSpPr>
            <p:nvPr/>
          </p:nvSpPr>
          <p:spPr bwMode="auto">
            <a:xfrm>
              <a:off x="5136" y="870"/>
              <a:ext cx="0" cy="144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599" name="Group 39"/>
          <p:cNvGrpSpPr>
            <a:grpSpLocks/>
          </p:cNvGrpSpPr>
          <p:nvPr/>
        </p:nvGrpSpPr>
        <p:grpSpPr bwMode="auto">
          <a:xfrm>
            <a:off x="8328027" y="1484312"/>
            <a:ext cx="1932944" cy="755646"/>
            <a:chOff x="4176" y="630"/>
            <a:chExt cx="1352" cy="529"/>
          </a:xfrm>
        </p:grpSpPr>
        <p:sp>
          <p:nvSpPr>
            <p:cNvPr id="55337" name="Line 40"/>
            <p:cNvSpPr>
              <a:spLocks noChangeShapeType="1"/>
            </p:cNvSpPr>
            <p:nvPr/>
          </p:nvSpPr>
          <p:spPr bwMode="auto">
            <a:xfrm>
              <a:off x="4176" y="630"/>
              <a:ext cx="120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5338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4632105"/>
                </p:ext>
              </p:extLst>
            </p:nvPr>
          </p:nvGraphicFramePr>
          <p:xfrm>
            <a:off x="5275" y="807"/>
            <a:ext cx="253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77480" imgH="241200" progId="Equation.DSMT4">
                    <p:embed/>
                  </p:oleObj>
                </mc:Choice>
                <mc:Fallback>
                  <p:oleObj name="Equation" r:id="rId22" imgW="177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5" y="807"/>
                          <a:ext cx="253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4602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719253"/>
              </p:ext>
            </p:extLst>
          </p:nvPr>
        </p:nvGraphicFramePr>
        <p:xfrm>
          <a:off x="8161338" y="3232150"/>
          <a:ext cx="287337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6720" imgH="139680" progId="Equation.DSMT4">
                  <p:embed/>
                </p:oleObj>
              </mc:Choice>
              <mc:Fallback>
                <p:oleObj name="Equation" r:id="rId24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1338" y="3232150"/>
                        <a:ext cx="287337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603" name="Group 43"/>
          <p:cNvGrpSpPr>
            <a:grpSpLocks/>
          </p:cNvGrpSpPr>
          <p:nvPr/>
        </p:nvGrpSpPr>
        <p:grpSpPr bwMode="auto">
          <a:xfrm>
            <a:off x="8199398" y="877889"/>
            <a:ext cx="955714" cy="1289659"/>
            <a:chOff x="4108" y="226"/>
            <a:chExt cx="668" cy="902"/>
          </a:xfrm>
        </p:grpSpPr>
        <p:sp>
          <p:nvSpPr>
            <p:cNvPr id="55335" name="Line 44"/>
            <p:cNvSpPr>
              <a:spLocks noChangeShapeType="1"/>
            </p:cNvSpPr>
            <p:nvPr/>
          </p:nvSpPr>
          <p:spPr bwMode="auto">
            <a:xfrm flipH="1">
              <a:off x="4320" y="226"/>
              <a:ext cx="456" cy="8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5336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6806596"/>
                </p:ext>
              </p:extLst>
            </p:nvPr>
          </p:nvGraphicFramePr>
          <p:xfrm>
            <a:off x="4108" y="809"/>
            <a:ext cx="255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77480" imgH="228600" progId="Equation.DSMT4">
                    <p:embed/>
                  </p:oleObj>
                </mc:Choice>
                <mc:Fallback>
                  <p:oleObj name="Equation" r:id="rId26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8" y="809"/>
                          <a:ext cx="255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606" name="Group 46"/>
          <p:cNvGrpSpPr>
            <a:grpSpLocks/>
          </p:cNvGrpSpPr>
          <p:nvPr/>
        </p:nvGrpSpPr>
        <p:grpSpPr bwMode="auto">
          <a:xfrm>
            <a:off x="8616953" y="1268413"/>
            <a:ext cx="869161" cy="3086100"/>
            <a:chOff x="4416" y="480"/>
            <a:chExt cx="608" cy="2160"/>
          </a:xfrm>
        </p:grpSpPr>
        <p:sp>
          <p:nvSpPr>
            <p:cNvPr id="55330" name="Line 47"/>
            <p:cNvSpPr>
              <a:spLocks noChangeShapeType="1"/>
            </p:cNvSpPr>
            <p:nvPr/>
          </p:nvSpPr>
          <p:spPr bwMode="auto">
            <a:xfrm flipH="1">
              <a:off x="4416" y="1872"/>
              <a:ext cx="336" cy="768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5331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0898814"/>
                </p:ext>
              </p:extLst>
            </p:nvPr>
          </p:nvGraphicFramePr>
          <p:xfrm>
            <a:off x="4797" y="1579"/>
            <a:ext cx="227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77480" imgH="228600" progId="Equation.DSMT4">
                    <p:embed/>
                  </p:oleObj>
                </mc:Choice>
                <mc:Fallback>
                  <p:oleObj name="Equation" r:id="rId28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7" y="1579"/>
                          <a:ext cx="227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32" name="Arc 49"/>
            <p:cNvSpPr>
              <a:spLocks/>
            </p:cNvSpPr>
            <p:nvPr/>
          </p:nvSpPr>
          <p:spPr bwMode="auto">
            <a:xfrm flipH="1">
              <a:off x="4416" y="490"/>
              <a:ext cx="528" cy="710"/>
            </a:xfrm>
            <a:custGeom>
              <a:avLst/>
              <a:gdLst>
                <a:gd name="T0" fmla="*/ 203 w 21578"/>
                <a:gd name="T1" fmla="*/ 0 h 19950"/>
                <a:gd name="T2" fmla="*/ 528 w 21578"/>
                <a:gd name="T3" fmla="*/ 675 h 19950"/>
                <a:gd name="T4" fmla="*/ 0 w 21578"/>
                <a:gd name="T5" fmla="*/ 710 h 199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78" h="19950" fill="none" extrusionOk="0">
                  <a:moveTo>
                    <a:pt x="8279" y="0"/>
                  </a:moveTo>
                  <a:cubicBezTo>
                    <a:pt x="16016" y="3211"/>
                    <a:pt x="21199" y="10605"/>
                    <a:pt x="21577" y="18974"/>
                  </a:cubicBezTo>
                </a:path>
                <a:path w="21578" h="19950" stroke="0" extrusionOk="0">
                  <a:moveTo>
                    <a:pt x="8279" y="0"/>
                  </a:moveTo>
                  <a:cubicBezTo>
                    <a:pt x="16016" y="3211"/>
                    <a:pt x="21199" y="10605"/>
                    <a:pt x="21577" y="18974"/>
                  </a:cubicBezTo>
                  <a:lnTo>
                    <a:pt x="0" y="19950"/>
                  </a:lnTo>
                  <a:lnTo>
                    <a:pt x="8279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33" name="Line 50"/>
            <p:cNvSpPr>
              <a:spLocks noChangeShapeType="1"/>
            </p:cNvSpPr>
            <p:nvPr/>
          </p:nvSpPr>
          <p:spPr bwMode="auto">
            <a:xfrm>
              <a:off x="4416" y="1152"/>
              <a:ext cx="0" cy="1488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34" name="Line 51"/>
            <p:cNvSpPr>
              <a:spLocks noChangeShapeType="1"/>
            </p:cNvSpPr>
            <p:nvPr/>
          </p:nvSpPr>
          <p:spPr bwMode="auto">
            <a:xfrm flipV="1">
              <a:off x="4752" y="480"/>
              <a:ext cx="0" cy="1392"/>
            </a:xfrm>
            <a:prstGeom prst="line">
              <a:avLst/>
            </a:prstGeom>
            <a:noFill/>
            <a:ln w="15875">
              <a:solidFill>
                <a:srgbClr val="FF99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612" name="Group 52"/>
          <p:cNvGrpSpPr>
            <a:grpSpLocks/>
          </p:cNvGrpSpPr>
          <p:nvPr/>
        </p:nvGrpSpPr>
        <p:grpSpPr bwMode="auto">
          <a:xfrm>
            <a:off x="8492656" y="1235712"/>
            <a:ext cx="369715" cy="2610801"/>
            <a:chOff x="4313" y="476"/>
            <a:chExt cx="259" cy="1828"/>
          </a:xfrm>
        </p:grpSpPr>
        <p:sp>
          <p:nvSpPr>
            <p:cNvPr id="55326" name="Line 53"/>
            <p:cNvSpPr>
              <a:spLocks noChangeShapeType="1"/>
            </p:cNvSpPr>
            <p:nvPr/>
          </p:nvSpPr>
          <p:spPr bwMode="auto">
            <a:xfrm flipV="1">
              <a:off x="4560" y="720"/>
              <a:ext cx="0" cy="1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5327" name="Group 54"/>
            <p:cNvGrpSpPr>
              <a:grpSpLocks/>
            </p:cNvGrpSpPr>
            <p:nvPr/>
          </p:nvGrpSpPr>
          <p:grpSpPr bwMode="auto">
            <a:xfrm>
              <a:off x="4313" y="476"/>
              <a:ext cx="259" cy="246"/>
              <a:chOff x="4313" y="476"/>
              <a:chExt cx="259" cy="246"/>
            </a:xfrm>
          </p:grpSpPr>
          <p:graphicFrame>
            <p:nvGraphicFramePr>
              <p:cNvPr id="55328" name="Object 5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26573266"/>
                  </p:ext>
                </p:extLst>
              </p:nvPr>
            </p:nvGraphicFramePr>
            <p:xfrm>
              <a:off x="4313" y="476"/>
              <a:ext cx="259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0" imgW="241200" imgH="228600" progId="Equation.DSMT4">
                      <p:embed/>
                    </p:oleObj>
                  </mc:Choice>
                  <mc:Fallback>
                    <p:oleObj name="Equation" r:id="rId30" imgW="2412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13" y="476"/>
                            <a:ext cx="259" cy="2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5329" name="Oval 56"/>
              <p:cNvSpPr>
                <a:spLocks noChangeArrowheads="1"/>
              </p:cNvSpPr>
              <p:nvPr/>
            </p:nvSpPr>
            <p:spPr bwMode="auto">
              <a:xfrm>
                <a:off x="4534" y="672"/>
                <a:ext cx="34" cy="34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194620" name="Rectangle 60"/>
          <p:cNvSpPr>
            <a:spLocks noChangeArrowheads="1"/>
          </p:cNvSpPr>
          <p:nvPr/>
        </p:nvSpPr>
        <p:spPr bwMode="auto">
          <a:xfrm>
            <a:off x="8610600" y="5119688"/>
            <a:ext cx="175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对 </a:t>
            </a:r>
            <a:r>
              <a:rPr lang="en-US" altLang="zh-CN" sz="2800" b="1" i="1">
                <a:ea typeface="楷体_GB2312" pitchFamily="49" charset="-122"/>
              </a:rPr>
              <a:t>y </a:t>
            </a:r>
            <a:r>
              <a:rPr lang="zh-CN" altLang="en-US" sz="2800" b="1">
                <a:ea typeface="楷体_GB2312" pitchFamily="49" charset="-122"/>
              </a:rPr>
              <a:t>轴的</a:t>
            </a:r>
            <a:endParaRPr lang="zh-CN" altLang="en-US" sz="2800" b="1" i="1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064278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9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4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9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94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94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94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94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7" grpId="0" autoUpdateAnimBg="0"/>
      <p:bldP spid="194570" grpId="0" autoUpdateAnimBg="0"/>
      <p:bldP spid="194571" grpId="0" autoUpdateAnimBg="0"/>
      <p:bldP spid="194572" grpId="0" autoUpdateAnimBg="0"/>
      <p:bldP spid="194573" grpId="0" autoUpdateAnimBg="0"/>
      <p:bldP spid="194574" grpId="0" build="p" autoUpdateAnimBg="0"/>
      <p:bldP spid="194620" grpId="0" build="p" autoUpdateAnimBg="0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5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928649"/>
              </p:ext>
            </p:extLst>
          </p:nvPr>
        </p:nvGraphicFramePr>
        <p:xfrm>
          <a:off x="2102723" y="2628268"/>
          <a:ext cx="3840877" cy="983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880" imgH="444240" progId="Equation.DSMT4">
                  <p:embed/>
                </p:oleObj>
              </mc:Choice>
              <mc:Fallback>
                <p:oleObj name="Equation" r:id="rId2" imgW="17398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2723" y="2628268"/>
                        <a:ext cx="3840877" cy="983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111137"/>
              </p:ext>
            </p:extLst>
          </p:nvPr>
        </p:nvGraphicFramePr>
        <p:xfrm>
          <a:off x="6233785" y="2590111"/>
          <a:ext cx="3748415" cy="106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469800" progId="Equation.DSMT4">
                  <p:embed/>
                </p:oleObj>
              </mc:Choice>
              <mc:Fallback>
                <p:oleObj name="Equation" r:id="rId4" imgW="16635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3785" y="2590111"/>
                        <a:ext cx="3748415" cy="106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604102"/>
              </p:ext>
            </p:extLst>
          </p:nvPr>
        </p:nvGraphicFramePr>
        <p:xfrm>
          <a:off x="2109018" y="3827619"/>
          <a:ext cx="3910783" cy="962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03240" imgH="444240" progId="Equation.DSMT4">
                  <p:embed/>
                </p:oleObj>
              </mc:Choice>
              <mc:Fallback>
                <p:oleObj name="Equation" r:id="rId6" imgW="18032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018" y="3827619"/>
                        <a:ext cx="3910783" cy="962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174060"/>
              </p:ext>
            </p:extLst>
          </p:nvPr>
        </p:nvGraphicFramePr>
        <p:xfrm>
          <a:off x="6233785" y="3769103"/>
          <a:ext cx="3857671" cy="1020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7680" imgH="469800" progId="Equation.DSMT4">
                  <p:embed/>
                </p:oleObj>
              </mc:Choice>
              <mc:Fallback>
                <p:oleObj name="Equation" r:id="rId8" imgW="17776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3785" y="3769103"/>
                        <a:ext cx="3857671" cy="10206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0" name="Object 6"/>
          <p:cNvGraphicFramePr>
            <a:graphicFrameLocks noChangeAspect="1"/>
          </p:cNvGraphicFramePr>
          <p:nvPr/>
        </p:nvGraphicFramePr>
        <p:xfrm>
          <a:off x="2584450" y="1752601"/>
          <a:ext cx="549275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0" imgW="5273040" imgH="594360" progId="Word.Document.8">
                  <p:embed/>
                </p:oleObj>
              </mc:Choice>
              <mc:Fallback>
                <p:oleObj name="文档" r:id="rId10" imgW="5273040" imgH="5943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4450" y="1752601"/>
                        <a:ext cx="549275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591" name="Text Box 7"/>
          <p:cNvSpPr txBox="1">
            <a:spLocks noChangeArrowheads="1"/>
          </p:cNvSpPr>
          <p:nvPr/>
        </p:nvSpPr>
        <p:spPr bwMode="auto">
          <a:xfrm>
            <a:off x="9867900" y="3453850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纯偏导</a:t>
            </a:r>
          </a:p>
        </p:txBody>
      </p:sp>
      <p:sp>
        <p:nvSpPr>
          <p:cNvPr id="195592" name="Text Box 8"/>
          <p:cNvSpPr txBox="1">
            <a:spLocks noChangeArrowheads="1"/>
          </p:cNvSpPr>
          <p:nvPr/>
        </p:nvSpPr>
        <p:spPr bwMode="auto">
          <a:xfrm>
            <a:off x="9677400" y="4649195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混合偏导</a:t>
            </a:r>
          </a:p>
        </p:txBody>
      </p:sp>
      <p:sp>
        <p:nvSpPr>
          <p:cNvPr id="195593" name="Rectangle 9"/>
          <p:cNvSpPr>
            <a:spLocks noChangeArrowheads="1"/>
          </p:cNvSpPr>
          <p:nvPr/>
        </p:nvSpPr>
        <p:spPr bwMode="auto">
          <a:xfrm>
            <a:off x="2286000" y="5348288"/>
            <a:ext cx="822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定义：二阶及二阶以上的偏导数统称为高阶偏导数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56330" name="Rectangle 10"/>
          <p:cNvSpPr>
            <a:spLocks noGrp="1" noChangeArrowheads="1"/>
          </p:cNvSpPr>
          <p:nvPr>
            <p:ph type="title"/>
          </p:nvPr>
        </p:nvSpPr>
        <p:spPr>
          <a:xfrm>
            <a:off x="2423592" y="715599"/>
            <a:ext cx="4449688" cy="879376"/>
          </a:xfr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二、高阶偏导数</a:t>
            </a:r>
          </a:p>
        </p:txBody>
      </p:sp>
    </p:spTree>
    <p:extLst>
      <p:ext uri="{BB962C8B-B14F-4D97-AF65-F5344CB8AC3E}">
        <p14:creationId xmlns:p14="http://schemas.microsoft.com/office/powerpoint/2010/main" val="417530619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19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91" grpId="0" autoUpdateAnimBg="0"/>
      <p:bldP spid="195592" grpId="0" autoUpdateAnimBg="0"/>
      <p:bldP spid="19559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646689"/>
              </p:ext>
            </p:extLst>
          </p:nvPr>
        </p:nvGraphicFramePr>
        <p:xfrm>
          <a:off x="2517775" y="781050"/>
          <a:ext cx="7164388" cy="242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04021" imgH="2361361" progId="Word.Document.8">
                  <p:embed/>
                </p:oleObj>
              </mc:Choice>
              <mc:Fallback>
                <p:oleObj name="Document" r:id="rId2" imgW="7004021" imgH="236136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5" y="781050"/>
                        <a:ext cx="7164388" cy="242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11" name="Text Box 3"/>
          <p:cNvSpPr txBox="1">
            <a:spLocks noChangeArrowheads="1"/>
          </p:cNvSpPr>
          <p:nvPr/>
        </p:nvSpPr>
        <p:spPr bwMode="auto">
          <a:xfrm>
            <a:off x="2362200" y="2895601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96612" name="Object 4"/>
          <p:cNvGraphicFramePr>
            <a:graphicFrameLocks noChangeAspect="1"/>
          </p:cNvGraphicFramePr>
          <p:nvPr/>
        </p:nvGraphicFramePr>
        <p:xfrm>
          <a:off x="3124200" y="2743200"/>
          <a:ext cx="457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57200" imgH="889000" progId="Equation.3">
                  <p:embed/>
                </p:oleObj>
              </mc:Choice>
              <mc:Fallback>
                <p:oleObj name="公式" r:id="rId4" imgW="457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743200"/>
                        <a:ext cx="4572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3" name="Object 5"/>
          <p:cNvGraphicFramePr>
            <a:graphicFrameLocks noChangeAspect="1"/>
          </p:cNvGraphicFramePr>
          <p:nvPr/>
        </p:nvGraphicFramePr>
        <p:xfrm>
          <a:off x="3657600" y="2959100"/>
          <a:ext cx="2755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55900" imgH="469900" progId="Equation.3">
                  <p:embed/>
                </p:oleObj>
              </mc:Choice>
              <mc:Fallback>
                <p:oleObj name="公式" r:id="rId6" imgW="27559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959100"/>
                        <a:ext cx="2755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4" name="Object 6"/>
          <p:cNvGraphicFramePr>
            <a:graphicFrameLocks noChangeAspect="1"/>
          </p:cNvGraphicFramePr>
          <p:nvPr/>
        </p:nvGraphicFramePr>
        <p:xfrm>
          <a:off x="6629401" y="2743200"/>
          <a:ext cx="430213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31800" imgH="965200" progId="Equation.3">
                  <p:embed/>
                </p:oleObj>
              </mc:Choice>
              <mc:Fallback>
                <p:oleObj name="公式" r:id="rId8" imgW="4318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1" y="2743200"/>
                        <a:ext cx="430213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5" name="Object 7"/>
          <p:cNvGraphicFramePr>
            <a:graphicFrameLocks noChangeAspect="1"/>
          </p:cNvGraphicFramePr>
          <p:nvPr/>
        </p:nvGraphicFramePr>
        <p:xfrm>
          <a:off x="7200900" y="2946400"/>
          <a:ext cx="2768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768600" imgH="469900" progId="Equation.3">
                  <p:embed/>
                </p:oleObj>
              </mc:Choice>
              <mc:Fallback>
                <p:oleObj name="公式" r:id="rId10" imgW="2768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900" y="2946400"/>
                        <a:ext cx="2768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6" name="Object 8"/>
          <p:cNvGraphicFramePr>
            <a:graphicFrameLocks noChangeAspect="1"/>
          </p:cNvGraphicFramePr>
          <p:nvPr/>
        </p:nvGraphicFramePr>
        <p:xfrm>
          <a:off x="2628900" y="3810000"/>
          <a:ext cx="609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09600" imgH="927100" progId="Equation.3">
                  <p:embed/>
                </p:oleObj>
              </mc:Choice>
              <mc:Fallback>
                <p:oleObj name="公式" r:id="rId12" imgW="6096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3810000"/>
                        <a:ext cx="609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7" name="Object 9"/>
          <p:cNvGraphicFramePr>
            <a:graphicFrameLocks noChangeAspect="1"/>
          </p:cNvGraphicFramePr>
          <p:nvPr/>
        </p:nvGraphicFramePr>
        <p:xfrm>
          <a:off x="3238500" y="4049713"/>
          <a:ext cx="1117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117600" imgH="469900" progId="Equation.3">
                  <p:embed/>
                </p:oleObj>
              </mc:Choice>
              <mc:Fallback>
                <p:oleObj name="公式" r:id="rId14" imgW="1117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4049713"/>
                        <a:ext cx="1117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8" name="Object 10"/>
          <p:cNvGraphicFramePr>
            <a:graphicFrameLocks noChangeAspect="1"/>
          </p:cNvGraphicFramePr>
          <p:nvPr/>
        </p:nvGraphicFramePr>
        <p:xfrm>
          <a:off x="6819900" y="3810001"/>
          <a:ext cx="5969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96641" imgH="1002865" progId="Equation.3">
                  <p:embed/>
                </p:oleObj>
              </mc:Choice>
              <mc:Fallback>
                <p:oleObj name="公式" r:id="rId16" imgW="596641" imgH="10028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900" y="3810001"/>
                        <a:ext cx="5969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9" name="Object 11"/>
          <p:cNvGraphicFramePr>
            <a:graphicFrameLocks noChangeAspect="1"/>
          </p:cNvGraphicFramePr>
          <p:nvPr/>
        </p:nvGraphicFramePr>
        <p:xfrm>
          <a:off x="7416800" y="4049713"/>
          <a:ext cx="2019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019300" imgH="469900" progId="Equation.3">
                  <p:embed/>
                </p:oleObj>
              </mc:Choice>
              <mc:Fallback>
                <p:oleObj name="公式" r:id="rId18" imgW="20193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800" y="4049713"/>
                        <a:ext cx="2019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0" name="Object 12"/>
          <p:cNvGraphicFramePr>
            <a:graphicFrameLocks noChangeAspect="1"/>
          </p:cNvGraphicFramePr>
          <p:nvPr/>
        </p:nvGraphicFramePr>
        <p:xfrm>
          <a:off x="4838700" y="3873500"/>
          <a:ext cx="609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609600" imgH="927100" progId="Equation.3">
                  <p:embed/>
                </p:oleObj>
              </mc:Choice>
              <mc:Fallback>
                <p:oleObj name="公式" r:id="rId20" imgW="6096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0" y="3873500"/>
                        <a:ext cx="609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1" name="Object 13"/>
          <p:cNvGraphicFramePr>
            <a:graphicFrameLocks noChangeAspect="1"/>
          </p:cNvGraphicFramePr>
          <p:nvPr/>
        </p:nvGraphicFramePr>
        <p:xfrm>
          <a:off x="5486400" y="4125913"/>
          <a:ext cx="952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952087" imgH="469696" progId="Equation.3">
                  <p:embed/>
                </p:oleObj>
              </mc:Choice>
              <mc:Fallback>
                <p:oleObj name="公式" r:id="rId22" imgW="952087" imgH="4696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125913"/>
                        <a:ext cx="952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2" name="Object 14"/>
          <p:cNvGraphicFramePr>
            <a:graphicFrameLocks noChangeAspect="1"/>
          </p:cNvGraphicFramePr>
          <p:nvPr/>
        </p:nvGraphicFramePr>
        <p:xfrm>
          <a:off x="6210301" y="4953001"/>
          <a:ext cx="811213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812447" imgH="1002865" progId="Equation.3">
                  <p:embed/>
                </p:oleObj>
              </mc:Choice>
              <mc:Fallback>
                <p:oleObj name="公式" r:id="rId24" imgW="812447" imgH="10028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0301" y="4953001"/>
                        <a:ext cx="811213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3" name="Object 15"/>
          <p:cNvGraphicFramePr>
            <a:graphicFrameLocks noChangeAspect="1"/>
          </p:cNvGraphicFramePr>
          <p:nvPr/>
        </p:nvGraphicFramePr>
        <p:xfrm>
          <a:off x="7073900" y="5245100"/>
          <a:ext cx="2527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2527300" imgH="469900" progId="Equation.3">
                  <p:embed/>
                </p:oleObj>
              </mc:Choice>
              <mc:Fallback>
                <p:oleObj name="公式" r:id="rId26" imgW="25273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900" y="5245100"/>
                        <a:ext cx="2527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4" name="Object 16"/>
          <p:cNvGraphicFramePr>
            <a:graphicFrameLocks noChangeAspect="1"/>
          </p:cNvGraphicFramePr>
          <p:nvPr/>
        </p:nvGraphicFramePr>
        <p:xfrm>
          <a:off x="2476501" y="4876801"/>
          <a:ext cx="811213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812447" imgH="1002865" progId="Equation.3">
                  <p:embed/>
                </p:oleObj>
              </mc:Choice>
              <mc:Fallback>
                <p:oleObj name="公式" r:id="rId28" imgW="812447" imgH="10028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1" y="4876801"/>
                        <a:ext cx="811213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5" name="Object 17"/>
          <p:cNvGraphicFramePr>
            <a:graphicFrameLocks noChangeAspect="1"/>
          </p:cNvGraphicFramePr>
          <p:nvPr/>
        </p:nvGraphicFramePr>
        <p:xfrm>
          <a:off x="3346450" y="5192713"/>
          <a:ext cx="2514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2514600" imgH="469900" progId="Equation.3">
                  <p:embed/>
                </p:oleObj>
              </mc:Choice>
              <mc:Fallback>
                <p:oleObj name="公式" r:id="rId30" imgW="2514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6450" y="5192713"/>
                        <a:ext cx="2514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450754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6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6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6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6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6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6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1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3505200" y="0"/>
            <a:ext cx="518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387453"/>
              </p:ext>
            </p:extLst>
          </p:nvPr>
        </p:nvGraphicFramePr>
        <p:xfrm>
          <a:off x="2517775" y="981075"/>
          <a:ext cx="7015163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129969" imgH="704594" progId="Word.Document.8">
                  <p:embed/>
                </p:oleObj>
              </mc:Choice>
              <mc:Fallback>
                <p:oleObj name="Document" r:id="rId2" imgW="7129969" imgH="70459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5" y="981075"/>
                        <a:ext cx="7015163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2438400" y="1998663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97637" name="Object 5"/>
          <p:cNvGraphicFramePr>
            <a:graphicFrameLocks noChangeAspect="1"/>
          </p:cNvGraphicFramePr>
          <p:nvPr/>
        </p:nvGraphicFramePr>
        <p:xfrm>
          <a:off x="3232150" y="1933575"/>
          <a:ext cx="2374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74900" imgH="838200" progId="Equation.3">
                  <p:embed/>
                </p:oleObj>
              </mc:Choice>
              <mc:Fallback>
                <p:oleObj name="公式" r:id="rId4" imgW="23749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150" y="1933575"/>
                        <a:ext cx="2374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38" name="Object 6"/>
          <p:cNvGraphicFramePr>
            <a:graphicFrameLocks noChangeAspect="1"/>
          </p:cNvGraphicFramePr>
          <p:nvPr/>
        </p:nvGraphicFramePr>
        <p:xfrm>
          <a:off x="6540500" y="1895475"/>
          <a:ext cx="2565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565400" imgH="914400" progId="Equation.3">
                  <p:embed/>
                </p:oleObj>
              </mc:Choice>
              <mc:Fallback>
                <p:oleObj name="公式" r:id="rId6" imgW="25654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0" y="1895475"/>
                        <a:ext cx="2565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39" name="Object 7"/>
          <p:cNvGraphicFramePr>
            <a:graphicFrameLocks noChangeAspect="1"/>
          </p:cNvGraphicFramePr>
          <p:nvPr/>
        </p:nvGraphicFramePr>
        <p:xfrm>
          <a:off x="3022600" y="3133725"/>
          <a:ext cx="26543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54300" imgH="876300" progId="Equation.3">
                  <p:embed/>
                </p:oleObj>
              </mc:Choice>
              <mc:Fallback>
                <p:oleObj name="公式" r:id="rId8" imgW="26543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3133725"/>
                        <a:ext cx="26543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0" name="Object 8"/>
          <p:cNvGraphicFramePr>
            <a:graphicFrameLocks noChangeAspect="1"/>
          </p:cNvGraphicFramePr>
          <p:nvPr/>
        </p:nvGraphicFramePr>
        <p:xfrm>
          <a:off x="6534150" y="3138488"/>
          <a:ext cx="2870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870200" imgH="952500" progId="Equation.3">
                  <p:embed/>
                </p:oleObj>
              </mc:Choice>
              <mc:Fallback>
                <p:oleObj name="公式" r:id="rId10" imgW="28702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4150" y="3138488"/>
                        <a:ext cx="2870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1" name="Object 9"/>
          <p:cNvGraphicFramePr>
            <a:graphicFrameLocks noChangeAspect="1"/>
          </p:cNvGraphicFramePr>
          <p:nvPr/>
        </p:nvGraphicFramePr>
        <p:xfrm>
          <a:off x="2876550" y="4457700"/>
          <a:ext cx="3060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060700" imgH="952500" progId="Equation.3">
                  <p:embed/>
                </p:oleObj>
              </mc:Choice>
              <mc:Fallback>
                <p:oleObj name="公式" r:id="rId12" imgW="30607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4457700"/>
                        <a:ext cx="30607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2" name="Object 10"/>
          <p:cNvGraphicFramePr>
            <a:graphicFrameLocks noChangeAspect="1"/>
          </p:cNvGraphicFramePr>
          <p:nvPr/>
        </p:nvGraphicFramePr>
        <p:xfrm>
          <a:off x="6407150" y="4433888"/>
          <a:ext cx="3060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060700" imgH="952500" progId="Equation.3">
                  <p:embed/>
                </p:oleObj>
              </mc:Choice>
              <mc:Fallback>
                <p:oleObj name="公式" r:id="rId14" imgW="30607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150" y="4433888"/>
                        <a:ext cx="30607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533475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2362200" y="768351"/>
            <a:ext cx="1862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问题：</a:t>
            </a:r>
          </a:p>
        </p:txBody>
      </p:sp>
      <p:sp>
        <p:nvSpPr>
          <p:cNvPr id="198659" name="Text Box 3"/>
          <p:cNvSpPr txBox="1">
            <a:spLocks noChangeArrowheads="1"/>
          </p:cNvSpPr>
          <p:nvPr/>
        </p:nvSpPr>
        <p:spPr bwMode="auto">
          <a:xfrm>
            <a:off x="3490914" y="762001"/>
            <a:ext cx="45100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混合偏导数都相等吗？</a:t>
            </a:r>
          </a:p>
        </p:txBody>
      </p:sp>
      <p:graphicFrame>
        <p:nvGraphicFramePr>
          <p:cNvPr id="1986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024001"/>
              </p:ext>
            </p:extLst>
          </p:nvPr>
        </p:nvGraphicFramePr>
        <p:xfrm>
          <a:off x="2362200" y="1245291"/>
          <a:ext cx="6902152" cy="2240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95480" imgH="939600" progId="Equation.DSMT4">
                  <p:embed/>
                </p:oleObj>
              </mc:Choice>
              <mc:Fallback>
                <p:oleObj name="Equation" r:id="rId2" imgW="289548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245291"/>
                        <a:ext cx="6902152" cy="22401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61" name="Text Box 5"/>
          <p:cNvSpPr txBox="1">
            <a:spLocks noChangeArrowheads="1"/>
          </p:cNvSpPr>
          <p:nvPr/>
        </p:nvSpPr>
        <p:spPr bwMode="auto">
          <a:xfrm>
            <a:off x="2376488" y="1833563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98662" name="Text Box 6"/>
          <p:cNvSpPr txBox="1">
            <a:spLocks noChangeArrowheads="1"/>
          </p:cNvSpPr>
          <p:nvPr/>
        </p:nvSpPr>
        <p:spPr bwMode="auto">
          <a:xfrm>
            <a:off x="2382838" y="35052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98663" name="Object 7"/>
          <p:cNvGraphicFramePr>
            <a:graphicFrameLocks noChangeAspect="1"/>
          </p:cNvGraphicFramePr>
          <p:nvPr/>
        </p:nvGraphicFramePr>
        <p:xfrm>
          <a:off x="3276600" y="3560763"/>
          <a:ext cx="2628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28900" imgH="431800" progId="Equation.3">
                  <p:embed/>
                </p:oleObj>
              </mc:Choice>
              <mc:Fallback>
                <p:oleObj name="Equation" r:id="rId4" imgW="2628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560763"/>
                        <a:ext cx="2628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4042241"/>
              </p:ext>
            </p:extLst>
          </p:nvPr>
        </p:nvGraphicFramePr>
        <p:xfrm>
          <a:off x="2428818" y="4024314"/>
          <a:ext cx="4895072" cy="963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60440" imgH="444240" progId="Equation.DSMT4">
                  <p:embed/>
                </p:oleObj>
              </mc:Choice>
              <mc:Fallback>
                <p:oleObj name="Equation" r:id="rId6" imgW="22604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18" y="4024314"/>
                        <a:ext cx="4895072" cy="963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39135"/>
              </p:ext>
            </p:extLst>
          </p:nvPr>
        </p:nvGraphicFramePr>
        <p:xfrm>
          <a:off x="7323890" y="4051623"/>
          <a:ext cx="30607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65500" imgH="965200" progId="Equation.DSMT4">
                  <p:embed/>
                </p:oleObj>
              </mc:Choice>
              <mc:Fallback>
                <p:oleObj name="Equation" r:id="rId8" imgW="3365500" imgH="965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3890" y="4051623"/>
                        <a:ext cx="30607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689530"/>
              </p:ext>
            </p:extLst>
          </p:nvPr>
        </p:nvGraphicFramePr>
        <p:xfrm>
          <a:off x="2397362" y="4951894"/>
          <a:ext cx="4621280" cy="1005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44440" imgH="444240" progId="Equation.DSMT4">
                  <p:embed/>
                </p:oleObj>
              </mc:Choice>
              <mc:Fallback>
                <p:oleObj name="Equation" r:id="rId10" imgW="20444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362" y="4951894"/>
                        <a:ext cx="4621280" cy="10054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591418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8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8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9" grpId="0" autoUpdateAnimBg="0"/>
      <p:bldP spid="198661" grpId="0" autoUpdateAnimBg="0"/>
      <p:bldP spid="19866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849123"/>
              </p:ext>
            </p:extLst>
          </p:nvPr>
        </p:nvGraphicFramePr>
        <p:xfrm>
          <a:off x="1532394" y="1243949"/>
          <a:ext cx="2628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900" imgH="431800" progId="Equation.3">
                  <p:embed/>
                </p:oleObj>
              </mc:Choice>
              <mc:Fallback>
                <p:oleObj name="Equation" r:id="rId2" imgW="2628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2394" y="1243949"/>
                        <a:ext cx="2628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4161294" y="1215720"/>
            <a:ext cx="230425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按定义可知：</a:t>
            </a:r>
          </a:p>
        </p:txBody>
      </p:sp>
      <p:graphicFrame>
        <p:nvGraphicFramePr>
          <p:cNvPr id="1996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910671"/>
              </p:ext>
            </p:extLst>
          </p:nvPr>
        </p:nvGraphicFramePr>
        <p:xfrm>
          <a:off x="1559429" y="1707542"/>
          <a:ext cx="4821393" cy="946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70000" imgH="406080" progId="Equation.DSMT4">
                  <p:embed/>
                </p:oleObj>
              </mc:Choice>
              <mc:Fallback>
                <p:oleObj name="Equation" r:id="rId4" imgW="2070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29" y="1707542"/>
                        <a:ext cx="4821393" cy="946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087089"/>
              </p:ext>
            </p:extLst>
          </p:nvPr>
        </p:nvGraphicFramePr>
        <p:xfrm>
          <a:off x="6327362" y="1762124"/>
          <a:ext cx="2019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300" imgH="838200" progId="Equation.3">
                  <p:embed/>
                </p:oleObj>
              </mc:Choice>
              <mc:Fallback>
                <p:oleObj name="Equation" r:id="rId6" imgW="20193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7362" y="1762124"/>
                        <a:ext cx="2019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705070"/>
              </p:ext>
            </p:extLst>
          </p:nvPr>
        </p:nvGraphicFramePr>
        <p:xfrm>
          <a:off x="1472303" y="2682979"/>
          <a:ext cx="4849037" cy="102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44440" imgH="431640" progId="Equation.DSMT4">
                  <p:embed/>
                </p:oleObj>
              </mc:Choice>
              <mc:Fallback>
                <p:oleObj name="Equation" r:id="rId8" imgW="2044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2303" y="2682979"/>
                        <a:ext cx="4849037" cy="10240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412304"/>
              </p:ext>
            </p:extLst>
          </p:nvPr>
        </p:nvGraphicFramePr>
        <p:xfrm>
          <a:off x="6406563" y="2753901"/>
          <a:ext cx="1981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81200" imgH="914400" progId="Equation.3">
                  <p:embed/>
                </p:oleObj>
              </mc:Choice>
              <mc:Fallback>
                <p:oleObj name="Equation" r:id="rId10" imgW="19812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6563" y="2753901"/>
                        <a:ext cx="1981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009656"/>
              </p:ext>
            </p:extLst>
          </p:nvPr>
        </p:nvGraphicFramePr>
        <p:xfrm>
          <a:off x="1449544" y="3686490"/>
          <a:ext cx="4894556" cy="967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84120" imgH="431640" progId="Equation.DSMT4">
                  <p:embed/>
                </p:oleObj>
              </mc:Choice>
              <mc:Fallback>
                <p:oleObj name="Equation" r:id="rId12" imgW="2184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544" y="3686490"/>
                        <a:ext cx="4894556" cy="967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179278"/>
              </p:ext>
            </p:extLst>
          </p:nvPr>
        </p:nvGraphicFramePr>
        <p:xfrm>
          <a:off x="6361974" y="3979729"/>
          <a:ext cx="584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83947" imgH="368140" progId="Equation.3">
                  <p:embed/>
                </p:oleObj>
              </mc:Choice>
              <mc:Fallback>
                <p:oleObj name="Equation" r:id="rId14" imgW="583947" imgH="3681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1974" y="3979729"/>
                        <a:ext cx="584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9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6729298"/>
              </p:ext>
            </p:extLst>
          </p:nvPr>
        </p:nvGraphicFramePr>
        <p:xfrm>
          <a:off x="1422114" y="4544408"/>
          <a:ext cx="4870643" cy="929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97080" imgH="419040" progId="Equation.DSMT4">
                  <p:embed/>
                </p:oleObj>
              </mc:Choice>
              <mc:Fallback>
                <p:oleObj name="Equation" r:id="rId16" imgW="21970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114" y="4544408"/>
                        <a:ext cx="4870643" cy="9290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7300172"/>
              </p:ext>
            </p:extLst>
          </p:nvPr>
        </p:nvGraphicFramePr>
        <p:xfrm>
          <a:off x="6337134" y="4850200"/>
          <a:ext cx="558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58558" imgH="317362" progId="Equation.3">
                  <p:embed/>
                </p:oleObj>
              </mc:Choice>
              <mc:Fallback>
                <p:oleObj name="Equation" r:id="rId18" imgW="558558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134" y="4850200"/>
                        <a:ext cx="5588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9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9665097"/>
              </p:ext>
            </p:extLst>
          </p:nvPr>
        </p:nvGraphicFramePr>
        <p:xfrm>
          <a:off x="2209569" y="5661248"/>
          <a:ext cx="4093090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14320" imgH="241200" progId="Equation.DSMT4">
                  <p:embed/>
                </p:oleObj>
              </mc:Choice>
              <mc:Fallback>
                <p:oleObj name="Equation" r:id="rId20" imgW="1714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569" y="5661248"/>
                        <a:ext cx="4093090" cy="576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8304503" y="44624"/>
            <a:ext cx="3824703" cy="1900772"/>
            <a:chOff x="7955769" y="4031766"/>
            <a:chExt cx="3824703" cy="1900772"/>
          </a:xfrm>
          <a:solidFill>
            <a:schemeClr val="accent2">
              <a:lumMod val="60000"/>
              <a:lumOff val="40000"/>
            </a:schemeClr>
          </a:solidFill>
        </p:grpSpPr>
        <p:graphicFrame>
          <p:nvGraphicFramePr>
            <p:cNvPr id="13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6897835"/>
                </p:ext>
              </p:extLst>
            </p:nvPr>
          </p:nvGraphicFramePr>
          <p:xfrm>
            <a:off x="7955769" y="4031766"/>
            <a:ext cx="3824703" cy="963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993680" imgH="444240" progId="Equation.DSMT4">
                    <p:embed/>
                  </p:oleObj>
                </mc:Choice>
                <mc:Fallback>
                  <p:oleObj name="Equation" r:id="rId22" imgW="199368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55769" y="4031766"/>
                          <a:ext cx="3824703" cy="963612"/>
                        </a:xfrm>
                        <a:prstGeom prst="rect">
                          <a:avLst/>
                        </a:prstGeom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0762529"/>
                </p:ext>
              </p:extLst>
            </p:nvPr>
          </p:nvGraphicFramePr>
          <p:xfrm>
            <a:off x="7955770" y="5003236"/>
            <a:ext cx="3824702" cy="929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993680" imgH="444240" progId="Equation.DSMT4">
                    <p:embed/>
                  </p:oleObj>
                </mc:Choice>
                <mc:Fallback>
                  <p:oleObj name="Equation" r:id="rId24" imgW="199368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55770" y="5003236"/>
                          <a:ext cx="3824702" cy="929302"/>
                        </a:xfrm>
                        <a:prstGeom prst="rect">
                          <a:avLst/>
                        </a:prstGeom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287912"/>
              </p:ext>
            </p:extLst>
          </p:nvPr>
        </p:nvGraphicFramePr>
        <p:xfrm>
          <a:off x="6155510" y="36766"/>
          <a:ext cx="2148993" cy="445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41120" imgH="215640" progId="Equation.DSMT4">
                  <p:embed/>
                </p:oleObj>
              </mc:Choice>
              <mc:Fallback>
                <p:oleObj name="Equation" r:id="rId26" imgW="1041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5510" y="36766"/>
                        <a:ext cx="2148993" cy="445523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785256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9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9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9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9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9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9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9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706" name="Object 2"/>
          <p:cNvGraphicFramePr>
            <a:graphicFrameLocks noGrp="1" noChangeAspect="1"/>
          </p:cNvGraphicFramePr>
          <p:nvPr>
            <p:ph type="title"/>
            <p:extLst>
              <p:ext uri="{D42A27DB-BD31-4B8C-83A1-F6EECF244321}">
                <p14:modId xmlns:p14="http://schemas.microsoft.com/office/powerpoint/2010/main" val="1964802682"/>
              </p:ext>
            </p:extLst>
          </p:nvPr>
        </p:nvGraphicFramePr>
        <p:xfrm>
          <a:off x="2133601" y="1524001"/>
          <a:ext cx="7850831" cy="2098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127652" imgH="2174703" progId="Word.Document.8">
                  <p:embed/>
                </p:oleObj>
              </mc:Choice>
              <mc:Fallback>
                <p:oleObj name="Document" r:id="rId2" imgW="8127652" imgH="217470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1524001"/>
                        <a:ext cx="7850831" cy="20983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07" name="Line 3"/>
          <p:cNvSpPr>
            <a:spLocks noChangeShapeType="1"/>
          </p:cNvSpPr>
          <p:nvPr/>
        </p:nvSpPr>
        <p:spPr bwMode="auto">
          <a:xfrm>
            <a:off x="6672064" y="2636912"/>
            <a:ext cx="648072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07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539103"/>
              </p:ext>
            </p:extLst>
          </p:nvPr>
        </p:nvGraphicFramePr>
        <p:xfrm>
          <a:off x="2492375" y="3640138"/>
          <a:ext cx="7235825" cy="1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56243" imgH="1580478" progId="Word.Document.8">
                  <p:embed/>
                </p:oleObj>
              </mc:Choice>
              <mc:Fallback>
                <p:oleObj name="Document" r:id="rId4" imgW="7356243" imgH="15804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75" y="3640138"/>
                        <a:ext cx="7235825" cy="155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09" name="Object 5"/>
          <p:cNvGraphicFramePr>
            <a:graphicFrameLocks noChangeAspect="1"/>
          </p:cNvGraphicFramePr>
          <p:nvPr/>
        </p:nvGraphicFramePr>
        <p:xfrm>
          <a:off x="3648075" y="4076700"/>
          <a:ext cx="2120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20900" imgH="1016000" progId="Equation.3">
                  <p:embed/>
                </p:oleObj>
              </mc:Choice>
              <mc:Fallback>
                <p:oleObj name="公式" r:id="rId6" imgW="21209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4076700"/>
                        <a:ext cx="21209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6" name="Text Box 6"/>
          <p:cNvSpPr txBox="1">
            <a:spLocks noChangeArrowheads="1"/>
          </p:cNvSpPr>
          <p:nvPr/>
        </p:nvSpPr>
        <p:spPr bwMode="auto">
          <a:xfrm>
            <a:off x="2362201" y="768351"/>
            <a:ext cx="20050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问题：</a:t>
            </a:r>
          </a:p>
        </p:txBody>
      </p:sp>
      <p:sp>
        <p:nvSpPr>
          <p:cNvPr id="200711" name="Text Box 7"/>
          <p:cNvSpPr txBox="1">
            <a:spLocks noChangeArrowheads="1"/>
          </p:cNvSpPr>
          <p:nvPr/>
        </p:nvSpPr>
        <p:spPr bwMode="auto">
          <a:xfrm>
            <a:off x="3387725" y="762001"/>
            <a:ext cx="693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具备怎样的条件才能使混合偏导数相等？</a:t>
            </a:r>
          </a:p>
        </p:txBody>
      </p:sp>
      <p:sp>
        <p:nvSpPr>
          <p:cNvPr id="200712" name="Text Box 8"/>
          <p:cNvSpPr txBox="1">
            <a:spLocks noChangeArrowheads="1"/>
          </p:cNvSpPr>
          <p:nvPr/>
        </p:nvSpPr>
        <p:spPr bwMode="auto">
          <a:xfrm>
            <a:off x="2438400" y="5200651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00713" name="Object 9"/>
          <p:cNvGraphicFramePr>
            <a:graphicFrameLocks noChangeAspect="1"/>
          </p:cNvGraphicFramePr>
          <p:nvPr/>
        </p:nvGraphicFramePr>
        <p:xfrm>
          <a:off x="3302000" y="5041900"/>
          <a:ext cx="4318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318000" imgH="825500" progId="Equation.3">
                  <p:embed/>
                </p:oleObj>
              </mc:Choice>
              <mc:Fallback>
                <p:oleObj name="公式" r:id="rId8" imgW="43180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5041900"/>
                        <a:ext cx="43180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563492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0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0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7" grpId="0" animBg="1"/>
      <p:bldP spid="200711" grpId="0" autoUpdateAnimBg="0"/>
      <p:bldP spid="20071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6" name="Object 2"/>
          <p:cNvGraphicFramePr>
            <a:graphicFrameLocks noChangeAspect="1"/>
          </p:cNvGraphicFramePr>
          <p:nvPr/>
        </p:nvGraphicFramePr>
        <p:xfrm>
          <a:off x="2952750" y="914400"/>
          <a:ext cx="2324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24100" imgH="914400" progId="Equation.3">
                  <p:embed/>
                </p:oleObj>
              </mc:Choice>
              <mc:Fallback>
                <p:oleObj name="公式" r:id="rId2" imgW="23241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914400"/>
                        <a:ext cx="2324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7" name="Object 3"/>
          <p:cNvGraphicFramePr>
            <a:graphicFrameLocks noChangeAspect="1"/>
          </p:cNvGraphicFramePr>
          <p:nvPr/>
        </p:nvGraphicFramePr>
        <p:xfrm>
          <a:off x="5689600" y="914400"/>
          <a:ext cx="2032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32000" imgH="914400" progId="Equation.3">
                  <p:embed/>
                </p:oleObj>
              </mc:Choice>
              <mc:Fallback>
                <p:oleObj name="公式" r:id="rId4" imgW="20320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9600" y="914400"/>
                        <a:ext cx="2032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2" name="Object 4"/>
          <p:cNvGraphicFramePr>
            <a:graphicFrameLocks noChangeAspect="1"/>
          </p:cNvGraphicFramePr>
          <p:nvPr/>
        </p:nvGraphicFramePr>
        <p:xfrm>
          <a:off x="2781300" y="2171700"/>
          <a:ext cx="5753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753100" imgH="952500" progId="Equation.3">
                  <p:embed/>
                </p:oleObj>
              </mc:Choice>
              <mc:Fallback>
                <p:oleObj name="公式" r:id="rId6" imgW="57531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2171700"/>
                        <a:ext cx="5753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3" name="Object 5"/>
          <p:cNvGraphicFramePr>
            <a:graphicFrameLocks noChangeAspect="1"/>
          </p:cNvGraphicFramePr>
          <p:nvPr/>
        </p:nvGraphicFramePr>
        <p:xfrm>
          <a:off x="2971800" y="3467100"/>
          <a:ext cx="553878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537200" imgH="952500" progId="Equation.3">
                  <p:embed/>
                </p:oleObj>
              </mc:Choice>
              <mc:Fallback>
                <p:oleObj name="公式" r:id="rId8" imgW="55372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467100"/>
                        <a:ext cx="5538788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4" name="Object 6"/>
          <p:cNvGraphicFramePr>
            <a:graphicFrameLocks noChangeAspect="1"/>
          </p:cNvGraphicFramePr>
          <p:nvPr/>
        </p:nvGraphicFramePr>
        <p:xfrm>
          <a:off x="2603500" y="4756150"/>
          <a:ext cx="2044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44700" imgH="965200" progId="Equation.3">
                  <p:embed/>
                </p:oleObj>
              </mc:Choice>
              <mc:Fallback>
                <p:oleObj name="Equation" r:id="rId10" imgW="20447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4756150"/>
                        <a:ext cx="20447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5" name="Object 7"/>
          <p:cNvGraphicFramePr>
            <a:graphicFrameLocks noChangeAspect="1"/>
          </p:cNvGraphicFramePr>
          <p:nvPr/>
        </p:nvGraphicFramePr>
        <p:xfrm>
          <a:off x="8180388" y="5056188"/>
          <a:ext cx="582612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83693" imgH="317225" progId="Equation.3">
                  <p:embed/>
                </p:oleObj>
              </mc:Choice>
              <mc:Fallback>
                <p:oleObj name="公式" r:id="rId12" imgW="583693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0388" y="5056188"/>
                        <a:ext cx="582612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6" name="Object 8"/>
          <p:cNvGraphicFramePr>
            <a:graphicFrameLocks noChangeAspect="1"/>
          </p:cNvGraphicFramePr>
          <p:nvPr/>
        </p:nvGraphicFramePr>
        <p:xfrm>
          <a:off x="4724400" y="4749800"/>
          <a:ext cx="3365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65500" imgH="965200" progId="Equation.3">
                  <p:embed/>
                </p:oleObj>
              </mc:Choice>
              <mc:Fallback>
                <p:oleObj name="Equation" r:id="rId14" imgW="33655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749800"/>
                        <a:ext cx="3365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37" name="Text Box 9"/>
          <p:cNvSpPr txBox="1">
            <a:spLocks noChangeArrowheads="1"/>
          </p:cNvSpPr>
          <p:nvPr/>
        </p:nvSpPr>
        <p:spPr bwMode="auto">
          <a:xfrm>
            <a:off x="9067800" y="4953001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/>
              <a:t>证毕．</a:t>
            </a:r>
          </a:p>
        </p:txBody>
      </p:sp>
    </p:spTree>
    <p:extLst>
      <p:ext uri="{BB962C8B-B14F-4D97-AF65-F5344CB8AC3E}">
        <p14:creationId xmlns:p14="http://schemas.microsoft.com/office/powerpoint/2010/main" val="21261909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1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1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Text Box 2"/>
          <p:cNvSpPr txBox="1">
            <a:spLocks noChangeArrowheads="1"/>
          </p:cNvSpPr>
          <p:nvPr/>
        </p:nvSpPr>
        <p:spPr bwMode="auto">
          <a:xfrm>
            <a:off x="2882900" y="2300289"/>
            <a:ext cx="3505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/>
              <a:t>偏导数的定义</a:t>
            </a:r>
          </a:p>
        </p:txBody>
      </p:sp>
      <p:sp>
        <p:nvSpPr>
          <p:cNvPr id="202755" name="Rectangle 3"/>
          <p:cNvSpPr>
            <a:spLocks noChangeArrowheads="1"/>
          </p:cNvSpPr>
          <p:nvPr/>
        </p:nvSpPr>
        <p:spPr bwMode="auto">
          <a:xfrm>
            <a:off x="2895600" y="3136900"/>
            <a:ext cx="6477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偏导数的计算、偏导数的几何意义</a:t>
            </a:r>
          </a:p>
        </p:txBody>
      </p:sp>
      <p:sp>
        <p:nvSpPr>
          <p:cNvPr id="202756" name="Rectangle 4"/>
          <p:cNvSpPr>
            <a:spLocks noChangeArrowheads="1"/>
          </p:cNvSpPr>
          <p:nvPr/>
        </p:nvSpPr>
        <p:spPr bwMode="auto">
          <a:xfrm>
            <a:off x="2895600" y="4221164"/>
            <a:ext cx="22240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高阶偏导数</a:t>
            </a:r>
          </a:p>
        </p:txBody>
      </p:sp>
      <p:sp>
        <p:nvSpPr>
          <p:cNvPr id="202757" name="Text Box 5"/>
          <p:cNvSpPr txBox="1">
            <a:spLocks noChangeArrowheads="1"/>
          </p:cNvSpPr>
          <p:nvPr/>
        </p:nvSpPr>
        <p:spPr bwMode="auto">
          <a:xfrm>
            <a:off x="5410200" y="2362201"/>
            <a:ext cx="396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（偏增量比的极限）</a:t>
            </a:r>
          </a:p>
        </p:txBody>
      </p:sp>
      <p:graphicFrame>
        <p:nvGraphicFramePr>
          <p:cNvPr id="202758" name="Object 6"/>
          <p:cNvGraphicFramePr>
            <a:graphicFrameLocks noChangeAspect="1"/>
          </p:cNvGraphicFramePr>
          <p:nvPr/>
        </p:nvGraphicFramePr>
        <p:xfrm>
          <a:off x="5105401" y="4038600"/>
          <a:ext cx="404813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06224" imgH="1040948" progId="Equation.3">
                  <p:embed/>
                </p:oleObj>
              </mc:Choice>
              <mc:Fallback>
                <p:oleObj name="公式" r:id="rId2" imgW="406224" imgH="10409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1" y="4038600"/>
                        <a:ext cx="404813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59" name="Rectangle 7"/>
          <p:cNvSpPr>
            <a:spLocks noChangeArrowheads="1"/>
          </p:cNvSpPr>
          <p:nvPr/>
        </p:nvSpPr>
        <p:spPr bwMode="auto">
          <a:xfrm>
            <a:off x="5410201" y="3810000"/>
            <a:ext cx="1412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纯偏导</a:t>
            </a:r>
          </a:p>
        </p:txBody>
      </p:sp>
      <p:sp>
        <p:nvSpPr>
          <p:cNvPr id="202760" name="Rectangle 8"/>
          <p:cNvSpPr>
            <a:spLocks noChangeArrowheads="1"/>
          </p:cNvSpPr>
          <p:nvPr/>
        </p:nvSpPr>
        <p:spPr bwMode="auto">
          <a:xfrm>
            <a:off x="5410200" y="4602164"/>
            <a:ext cx="1822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混合偏导</a:t>
            </a:r>
          </a:p>
        </p:txBody>
      </p:sp>
      <p:sp>
        <p:nvSpPr>
          <p:cNvPr id="202761" name="Rectangle 9"/>
          <p:cNvSpPr>
            <a:spLocks noChangeArrowheads="1"/>
          </p:cNvSpPr>
          <p:nvPr/>
        </p:nvSpPr>
        <p:spPr bwMode="auto">
          <a:xfrm>
            <a:off x="7010400" y="4654551"/>
            <a:ext cx="3189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accent2"/>
                </a:solidFill>
              </a:rPr>
              <a:t>（相等的条件）</a:t>
            </a:r>
          </a:p>
        </p:txBody>
      </p:sp>
      <p:sp>
        <p:nvSpPr>
          <p:cNvPr id="63498" name="Rectangle 10"/>
          <p:cNvSpPr>
            <a:spLocks noGrp="1" noChangeArrowheads="1"/>
          </p:cNvSpPr>
          <p:nvPr>
            <p:ph type="title"/>
          </p:nvPr>
        </p:nvSpPr>
        <p:spPr>
          <a:xfrm>
            <a:off x="2783632" y="1052736"/>
            <a:ext cx="2465785" cy="822918"/>
          </a:xfr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三、小结</a:t>
            </a:r>
          </a:p>
        </p:txBody>
      </p:sp>
    </p:spTree>
    <p:extLst>
      <p:ext uri="{BB962C8B-B14F-4D97-AF65-F5344CB8AC3E}">
        <p14:creationId xmlns:p14="http://schemas.microsoft.com/office/powerpoint/2010/main" val="237803339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0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20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20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20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"/>
                                        <p:tgtEl>
                                          <p:spTgt spid="20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725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"/>
                                        <p:tgtEl>
                                          <p:spTgt spid="20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25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"/>
                                        <p:tgtEl>
                                          <p:spTgt spid="20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4" grpId="0" autoUpdateAnimBg="0"/>
      <p:bldP spid="202755" grpId="0" autoUpdateAnimBg="0"/>
      <p:bldP spid="202756" grpId="0" autoUpdateAnimBg="0"/>
      <p:bldP spid="202757" grpId="0" autoUpdateAnimBg="0"/>
      <p:bldP spid="202759" grpId="0" autoUpdateAnimBg="0"/>
      <p:bldP spid="202760" grpId="0" autoUpdateAnimBg="0"/>
      <p:bldP spid="202761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Text Box 2"/>
          <p:cNvSpPr txBox="1">
            <a:spLocks noChangeArrowheads="1"/>
          </p:cNvSpPr>
          <p:nvPr/>
        </p:nvSpPr>
        <p:spPr bwMode="auto">
          <a:xfrm>
            <a:off x="2208213" y="908051"/>
            <a:ext cx="480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1. </a:t>
            </a:r>
            <a:r>
              <a:rPr lang="zh-CN" altLang="en-US" sz="2800" b="1">
                <a:ea typeface="楷体_GB2312" pitchFamily="49" charset="-122"/>
              </a:rPr>
              <a:t>偏导数的概念及有关结论</a:t>
            </a:r>
          </a:p>
        </p:txBody>
      </p:sp>
      <p:sp>
        <p:nvSpPr>
          <p:cNvPr id="203779" name="Text Box 3"/>
          <p:cNvSpPr txBox="1">
            <a:spLocks noChangeArrowheads="1"/>
          </p:cNvSpPr>
          <p:nvPr/>
        </p:nvSpPr>
        <p:spPr bwMode="auto">
          <a:xfrm>
            <a:off x="2424113" y="1557338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定义</a:t>
            </a:r>
            <a:r>
              <a:rPr lang="en-US" altLang="zh-CN" sz="2800" b="1">
                <a:ea typeface="楷体_GB2312" pitchFamily="49" charset="-122"/>
              </a:rPr>
              <a:t>; </a:t>
            </a:r>
            <a:r>
              <a:rPr lang="zh-CN" altLang="en-US" sz="2800" b="1">
                <a:ea typeface="楷体_GB2312" pitchFamily="49" charset="-122"/>
              </a:rPr>
              <a:t>记号</a:t>
            </a:r>
            <a:r>
              <a:rPr lang="en-US" altLang="zh-CN" sz="2800" b="1">
                <a:ea typeface="楷体_GB2312" pitchFamily="49" charset="-122"/>
              </a:rPr>
              <a:t>; </a:t>
            </a:r>
            <a:r>
              <a:rPr lang="zh-CN" altLang="en-US" sz="2800" b="1">
                <a:ea typeface="楷体_GB2312" pitchFamily="49" charset="-122"/>
              </a:rPr>
              <a:t>几何意义</a:t>
            </a:r>
          </a:p>
        </p:txBody>
      </p:sp>
      <p:sp>
        <p:nvSpPr>
          <p:cNvPr id="203780" name="Text Box 4"/>
          <p:cNvSpPr txBox="1">
            <a:spLocks noChangeArrowheads="1"/>
          </p:cNvSpPr>
          <p:nvPr/>
        </p:nvSpPr>
        <p:spPr bwMode="auto">
          <a:xfrm>
            <a:off x="2424113" y="2276476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函数在一点偏导数存在</a:t>
            </a:r>
          </a:p>
        </p:txBody>
      </p:sp>
      <p:sp>
        <p:nvSpPr>
          <p:cNvPr id="203781" name="Text Box 5"/>
          <p:cNvSpPr txBox="1">
            <a:spLocks noChangeArrowheads="1"/>
          </p:cNvSpPr>
          <p:nvPr/>
        </p:nvSpPr>
        <p:spPr bwMode="auto">
          <a:xfrm>
            <a:off x="7315200" y="228600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函数在此点连续</a:t>
            </a:r>
          </a:p>
        </p:txBody>
      </p:sp>
      <p:sp>
        <p:nvSpPr>
          <p:cNvPr id="203782" name="Text Box 6"/>
          <p:cNvSpPr txBox="1">
            <a:spLocks noChangeArrowheads="1"/>
          </p:cNvSpPr>
          <p:nvPr/>
        </p:nvSpPr>
        <p:spPr bwMode="auto">
          <a:xfrm>
            <a:off x="2438400" y="2909888"/>
            <a:ext cx="3322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混合偏导数连续</a:t>
            </a:r>
          </a:p>
        </p:txBody>
      </p:sp>
      <p:grpSp>
        <p:nvGrpSpPr>
          <p:cNvPr id="203783" name="Group 7"/>
          <p:cNvGrpSpPr>
            <a:grpSpLocks/>
          </p:cNvGrpSpPr>
          <p:nvPr/>
        </p:nvGrpSpPr>
        <p:grpSpPr bwMode="auto">
          <a:xfrm>
            <a:off x="6400800" y="2362200"/>
            <a:ext cx="914400" cy="457200"/>
            <a:chOff x="2928" y="1200"/>
            <a:chExt cx="576" cy="288"/>
          </a:xfrm>
        </p:grpSpPr>
        <p:sp>
          <p:nvSpPr>
            <p:cNvPr id="64539" name="AutoShape 8"/>
            <p:cNvSpPr>
              <a:spLocks noChangeArrowheads="1"/>
            </p:cNvSpPr>
            <p:nvPr/>
          </p:nvSpPr>
          <p:spPr bwMode="auto">
            <a:xfrm>
              <a:off x="2928" y="1296"/>
              <a:ext cx="576" cy="96"/>
            </a:xfrm>
            <a:prstGeom prst="rightArrow">
              <a:avLst>
                <a:gd name="adj1" fmla="val 50000"/>
                <a:gd name="adj2" fmla="val 1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4540" name="Line 9"/>
            <p:cNvSpPr>
              <a:spLocks noChangeShapeType="1"/>
            </p:cNvSpPr>
            <p:nvPr/>
          </p:nvSpPr>
          <p:spPr bwMode="auto">
            <a:xfrm>
              <a:off x="2976" y="1200"/>
              <a:ext cx="384" cy="28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3786" name="AutoShape 10"/>
          <p:cNvSpPr>
            <a:spLocks noChangeArrowheads="1"/>
          </p:cNvSpPr>
          <p:nvPr/>
        </p:nvSpPr>
        <p:spPr bwMode="auto">
          <a:xfrm>
            <a:off x="5486400" y="3108325"/>
            <a:ext cx="914400" cy="152400"/>
          </a:xfrm>
          <a:prstGeom prst="rightArrow">
            <a:avLst>
              <a:gd name="adj1" fmla="val 50000"/>
              <a:gd name="adj2" fmla="val 150000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3787" name="Text Box 11"/>
          <p:cNvSpPr txBox="1">
            <a:spLocks noChangeArrowheads="1"/>
          </p:cNvSpPr>
          <p:nvPr/>
        </p:nvSpPr>
        <p:spPr bwMode="auto">
          <a:xfrm>
            <a:off x="6400800" y="29098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与求导顺序无关</a:t>
            </a:r>
          </a:p>
        </p:txBody>
      </p:sp>
      <p:sp>
        <p:nvSpPr>
          <p:cNvPr id="203788" name="Text Box 12">
            <a:hlinkClick r:id="rId2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2209800" y="3505201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2. </a:t>
            </a:r>
            <a:r>
              <a:rPr lang="zh-CN" altLang="en-US" sz="2800" b="1">
                <a:ea typeface="楷体_GB2312" pitchFamily="49" charset="-122"/>
              </a:rPr>
              <a:t>偏导数的计算方法</a:t>
            </a:r>
          </a:p>
        </p:txBody>
      </p:sp>
      <p:sp>
        <p:nvSpPr>
          <p:cNvPr id="203789" name="Text Box 13"/>
          <p:cNvSpPr txBox="1">
            <a:spLocks noChangeArrowheads="1"/>
          </p:cNvSpPr>
          <p:nvPr/>
        </p:nvSpPr>
        <p:spPr bwMode="auto">
          <a:xfrm>
            <a:off x="2438400" y="4221163"/>
            <a:ext cx="419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求一点处偏导数的方法</a:t>
            </a:r>
          </a:p>
        </p:txBody>
      </p:sp>
      <p:sp>
        <p:nvSpPr>
          <p:cNvPr id="203790" name="AutoShape 14"/>
          <p:cNvSpPr>
            <a:spLocks/>
          </p:cNvSpPr>
          <p:nvPr/>
        </p:nvSpPr>
        <p:spPr bwMode="auto">
          <a:xfrm>
            <a:off x="6400800" y="3911601"/>
            <a:ext cx="230188" cy="1223963"/>
          </a:xfrm>
          <a:prstGeom prst="leftBrace">
            <a:avLst>
              <a:gd name="adj1" fmla="val 44310"/>
              <a:gd name="adj2" fmla="val 4872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3791" name="Text Box 15"/>
          <p:cNvSpPr txBox="1">
            <a:spLocks noChangeArrowheads="1"/>
          </p:cNvSpPr>
          <p:nvPr/>
        </p:nvSpPr>
        <p:spPr bwMode="auto">
          <a:xfrm>
            <a:off x="6629400" y="3687763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先代后求</a:t>
            </a:r>
          </a:p>
        </p:txBody>
      </p:sp>
      <p:sp>
        <p:nvSpPr>
          <p:cNvPr id="203792" name="Text Box 16"/>
          <p:cNvSpPr txBox="1">
            <a:spLocks noChangeArrowheads="1"/>
          </p:cNvSpPr>
          <p:nvPr/>
        </p:nvSpPr>
        <p:spPr bwMode="auto">
          <a:xfrm>
            <a:off x="6629400" y="420528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先求后代</a:t>
            </a:r>
          </a:p>
        </p:txBody>
      </p:sp>
      <p:sp>
        <p:nvSpPr>
          <p:cNvPr id="203793" name="Text Box 17"/>
          <p:cNvSpPr txBox="1">
            <a:spLocks noChangeArrowheads="1"/>
          </p:cNvSpPr>
          <p:nvPr/>
        </p:nvSpPr>
        <p:spPr bwMode="auto">
          <a:xfrm>
            <a:off x="6629400" y="466248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利用定义</a:t>
            </a:r>
          </a:p>
        </p:txBody>
      </p:sp>
      <p:sp>
        <p:nvSpPr>
          <p:cNvPr id="203794" name="Text Box 18"/>
          <p:cNvSpPr txBox="1">
            <a:spLocks noChangeArrowheads="1"/>
          </p:cNvSpPr>
          <p:nvPr/>
        </p:nvSpPr>
        <p:spPr bwMode="auto">
          <a:xfrm>
            <a:off x="2438400" y="5211763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求高阶偏导数的方法</a:t>
            </a:r>
          </a:p>
        </p:txBody>
      </p:sp>
      <p:sp>
        <p:nvSpPr>
          <p:cNvPr id="203795" name="Line 19"/>
          <p:cNvSpPr>
            <a:spLocks noChangeShapeType="1"/>
          </p:cNvSpPr>
          <p:nvPr/>
        </p:nvSpPr>
        <p:spPr bwMode="auto">
          <a:xfrm>
            <a:off x="6172200" y="5516563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3796" name="Text Box 20"/>
          <p:cNvSpPr txBox="1">
            <a:spLocks noChangeArrowheads="1"/>
          </p:cNvSpPr>
          <p:nvPr/>
        </p:nvSpPr>
        <p:spPr bwMode="auto">
          <a:xfrm>
            <a:off x="7162800" y="5211763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逐次求导法</a:t>
            </a:r>
          </a:p>
        </p:txBody>
      </p:sp>
      <p:sp>
        <p:nvSpPr>
          <p:cNvPr id="203797" name="Text Box 21"/>
          <p:cNvSpPr txBox="1">
            <a:spLocks noChangeArrowheads="1"/>
          </p:cNvSpPr>
          <p:nvPr/>
        </p:nvSpPr>
        <p:spPr bwMode="auto">
          <a:xfrm>
            <a:off x="2590800" y="5791201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zh-CN" altLang="en-US" sz="2800" b="1">
                <a:ea typeface="楷体_GB2312" pitchFamily="49" charset="-122"/>
              </a:rPr>
              <a:t>与求导顺序无关时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应选择方便的求导顺序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6688983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3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3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3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3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3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3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0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3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3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3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0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0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8" grpId="0" autoUpdateAnimBg="0"/>
      <p:bldP spid="203779" grpId="0" autoUpdateAnimBg="0"/>
      <p:bldP spid="203780" grpId="0" autoUpdateAnimBg="0"/>
      <p:bldP spid="203781" grpId="0" autoUpdateAnimBg="0"/>
      <p:bldP spid="203782" grpId="0" autoUpdateAnimBg="0"/>
      <p:bldP spid="203786" grpId="0" animBg="1"/>
      <p:bldP spid="203787" grpId="0" autoUpdateAnimBg="0"/>
      <p:bldP spid="203788" grpId="0" autoUpdateAnimBg="0"/>
      <p:bldP spid="203789" grpId="0" autoUpdateAnimBg="0"/>
      <p:bldP spid="203790" grpId="0" animBg="1"/>
      <p:bldP spid="203791" grpId="0" autoUpdateAnimBg="0"/>
      <p:bldP spid="203792" grpId="0" autoUpdateAnimBg="0"/>
      <p:bldP spid="203793" grpId="0" autoUpdateAnimBg="0"/>
      <p:bldP spid="203794" grpId="0" autoUpdateAnimBg="0"/>
      <p:bldP spid="203795" grpId="0" animBg="1"/>
      <p:bldP spid="203796" grpId="0" autoUpdateAnimBg="0"/>
      <p:bldP spid="203797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2627</TotalTime>
  <Words>333</Words>
  <Application>Microsoft Office PowerPoint</Application>
  <PresentationFormat>宽屏</PresentationFormat>
  <Paragraphs>75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黑体</vt:lpstr>
      <vt:lpstr>华文楷体</vt:lpstr>
      <vt:lpstr>华文行楷</vt:lpstr>
      <vt:lpstr>楷体_GB2312</vt:lpstr>
      <vt:lpstr>宋体</vt:lpstr>
      <vt:lpstr>Arial</vt:lpstr>
      <vt:lpstr>Calibri</vt:lpstr>
      <vt:lpstr>Times New Roman</vt:lpstr>
      <vt:lpstr>Office 主题</vt:lpstr>
      <vt:lpstr>公式</vt:lpstr>
      <vt:lpstr>Document</vt:lpstr>
      <vt:lpstr>Equation</vt:lpstr>
      <vt:lpstr>文档</vt:lpstr>
      <vt:lpstr>PowerPoint 演示文稿</vt:lpstr>
      <vt:lpstr>一、偏导数的定义及其计算法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  二元函数偏导数的几何意义:</vt:lpstr>
      <vt:lpstr>二、高阶偏导数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三、小结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97</cp:revision>
  <dcterms:created xsi:type="dcterms:W3CDTF">2009-06-13T01:14:34Z</dcterms:created>
  <dcterms:modified xsi:type="dcterms:W3CDTF">2024-02-22T08:09:54Z</dcterms:modified>
</cp:coreProperties>
</file>