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handoutMasterIdLst>
    <p:handoutMasterId r:id="rId73"/>
  </p:handoutMasterIdLst>
  <p:sldIdLst>
    <p:sldId id="2629" r:id="rId3"/>
    <p:sldId id="2043" r:id="rId4"/>
    <p:sldId id="2734" r:id="rId5"/>
    <p:sldId id="2576" r:id="rId6"/>
    <p:sldId id="3096" r:id="rId7"/>
    <p:sldId id="3098" r:id="rId8"/>
    <p:sldId id="3097" r:id="rId9"/>
    <p:sldId id="2578" r:id="rId10"/>
    <p:sldId id="3032" r:id="rId11"/>
    <p:sldId id="2579" r:id="rId12"/>
    <p:sldId id="2969" r:id="rId14"/>
    <p:sldId id="3033" r:id="rId15"/>
    <p:sldId id="2580" r:id="rId16"/>
    <p:sldId id="2581" r:id="rId17"/>
    <p:sldId id="2582" r:id="rId18"/>
    <p:sldId id="2583" r:id="rId19"/>
    <p:sldId id="2584" r:id="rId20"/>
    <p:sldId id="2585" r:id="rId21"/>
    <p:sldId id="2586" r:id="rId22"/>
    <p:sldId id="2587" r:id="rId23"/>
    <p:sldId id="2910" r:id="rId24"/>
    <p:sldId id="2588" r:id="rId25"/>
    <p:sldId id="2589" r:id="rId26"/>
    <p:sldId id="2956" r:id="rId27"/>
    <p:sldId id="2957" r:id="rId28"/>
    <p:sldId id="2958" r:id="rId29"/>
    <p:sldId id="2959" r:id="rId30"/>
    <p:sldId id="2960" r:id="rId31"/>
    <p:sldId id="2963" r:id="rId32"/>
    <p:sldId id="2961" r:id="rId33"/>
    <p:sldId id="2962" r:id="rId34"/>
    <p:sldId id="2968" r:id="rId35"/>
    <p:sldId id="2590" r:id="rId36"/>
    <p:sldId id="2591" r:id="rId37"/>
    <p:sldId id="2592" r:id="rId38"/>
    <p:sldId id="2593" r:id="rId39"/>
    <p:sldId id="2600" r:id="rId40"/>
    <p:sldId id="2601" r:id="rId41"/>
    <p:sldId id="2602" r:id="rId42"/>
    <p:sldId id="2603" r:id="rId43"/>
    <p:sldId id="2604" r:id="rId44"/>
    <p:sldId id="2605" r:id="rId45"/>
    <p:sldId id="2606" r:id="rId46"/>
    <p:sldId id="2607" r:id="rId47"/>
    <p:sldId id="2608" r:id="rId48"/>
    <p:sldId id="2609" r:id="rId49"/>
    <p:sldId id="2610" r:id="rId50"/>
    <p:sldId id="2611" r:id="rId51"/>
    <p:sldId id="2612" r:id="rId52"/>
    <p:sldId id="2613" r:id="rId53"/>
    <p:sldId id="2614" r:id="rId54"/>
    <p:sldId id="2615" r:id="rId55"/>
    <p:sldId id="2616" r:id="rId56"/>
    <p:sldId id="2617" r:id="rId57"/>
    <p:sldId id="2832" r:id="rId58"/>
    <p:sldId id="2618" r:id="rId59"/>
    <p:sldId id="2619" r:id="rId60"/>
    <p:sldId id="2620" r:id="rId61"/>
    <p:sldId id="2621" r:id="rId62"/>
    <p:sldId id="2622" r:id="rId63"/>
    <p:sldId id="2624" r:id="rId64"/>
    <p:sldId id="2625" r:id="rId65"/>
    <p:sldId id="2626" r:id="rId66"/>
    <p:sldId id="2627" r:id="rId67"/>
    <p:sldId id="2628" r:id="rId68"/>
    <p:sldId id="2827" r:id="rId69"/>
    <p:sldId id="2828" r:id="rId70"/>
    <p:sldId id="2829" r:id="rId71"/>
    <p:sldId id="309" r:id="rId72"/>
  </p:sldIdLst>
  <p:sldSz cx="10801350" cy="7200900"/>
  <p:notesSz cx="6858000" cy="9144000"/>
  <p:embeddedFontLst>
    <p:embeddedFont>
      <p:font typeface="Calibri" panose="020F0502020204030204" pitchFamily="34" charset="0"/>
      <p:regular r:id="rId77"/>
      <p:bold r:id="rId78"/>
      <p:italic r:id="rId79"/>
      <p:boldItalic r:id="rId80"/>
    </p:embeddedFont>
    <p:embeddedFont>
      <p:font typeface="Impact" panose="020B0806030902050204" pitchFamily="34" charset="0"/>
      <p:regular r:id="rId81"/>
    </p:embeddedFont>
    <p:embeddedFont>
      <p:font typeface="方正姚体" panose="02010601030101010101" charset="-122"/>
      <p:regular r:id="rId82"/>
    </p:embeddedFont>
    <p:embeddedFont>
      <p:font typeface="微软雅黑" panose="020B0503020204020204" pitchFamily="34" charset="-122"/>
      <p:regular r:id="rId83"/>
    </p:embeddedFont>
    <p:embeddedFont>
      <p:font typeface="Felix Titling" panose="04060505060202020A04" pitchFamily="82" charset="0"/>
      <p:regular r:id="rId84"/>
    </p:embeddedFont>
    <p:embeddedFont>
      <p:font typeface="Latha" panose="020B0604020202020204" pitchFamily="34" charset="0"/>
      <p:regular r:id="rId85"/>
      <p:bold r:id="rId86"/>
    </p:embeddedFont>
    <p:embeddedFont>
      <p:font typeface="Consolas" panose="020B0609020204030204" charset="0"/>
      <p:regular r:id="rId87"/>
      <p:bold r:id="rId88"/>
      <p:italic r:id="rId89"/>
      <p:boldItalic r:id="rId90"/>
    </p:embeddedFont>
    <p:embeddedFont>
      <p:font typeface="黑体" panose="02010609060101010101" pitchFamily="49" charset="-122"/>
      <p:regular r:id="rId91"/>
    </p:embeddedFont>
    <p:embeddedFont>
      <p:font typeface="Arial Unicode MS" panose="020B0604020202020204" charset="-122"/>
      <p:regular r:id="rId92"/>
    </p:embeddedFont>
    <p:embeddedFont>
      <p:font typeface="Segoe Print" panose="02000600000000000000" charset="0"/>
      <p:regular r:id="rId93"/>
      <p:bold r:id="rId94"/>
    </p:embeddedFont>
    <p:embeddedFont>
      <p:font typeface="新宋体" panose="02010609030101010101" charset="-122"/>
      <p:regular r:id="rId95"/>
    </p:embeddedFont>
    <p:embeddedFont>
      <p:font typeface="Tahoma" panose="020B0604030504040204" pitchFamily="34" charset="0"/>
      <p:regular r:id="rId96"/>
      <p:bold r:id="rId97"/>
    </p:embeddedFont>
    <p:embeddedFont>
      <p:font typeface="华文中宋" panose="02010600040101010101" pitchFamily="2" charset="-122"/>
      <p:regular r:id="rId98"/>
    </p:embeddedFont>
  </p:embeddedFontLst>
  <p:custDataLst>
    <p:tags r:id="rId99"/>
  </p:custDataLst>
  <p:defaultTextStyle>
    <a:defPPr>
      <a:defRPr lang="zh-CN"/>
    </a:defPPr>
    <a:lvl1pPr marL="0" lvl="0" indent="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1pPr>
    <a:lvl2pPr marL="514350" lvl="1" indent="-5715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2pPr>
    <a:lvl3pPr marL="1028700" lvl="2" indent="-1143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3pPr>
    <a:lvl4pPr marL="1543050" lvl="3" indent="-17145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4pPr>
    <a:lvl5pPr marL="2057400" lvl="4"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66" userDrawn="1">
          <p15:clr>
            <a:srgbClr val="A4A3A4"/>
          </p15:clr>
        </p15:guide>
        <p15:guide id="2" pos="34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34587"/>
    <p:restoredTop sz="86432"/>
  </p:normalViewPr>
  <p:slideViewPr>
    <p:cSldViewPr showGuides="1">
      <p:cViewPr varScale="1">
        <p:scale>
          <a:sx n="72" d="100"/>
          <a:sy n="72" d="100"/>
        </p:scale>
        <p:origin x="732" y="78"/>
      </p:cViewPr>
      <p:guideLst>
        <p:guide orient="horz" pos="2266"/>
        <p:guide pos="3431"/>
      </p:guideLst>
    </p:cSldViewPr>
  </p:slideViewPr>
  <p:outlineViewPr>
    <p:cViewPr>
      <p:scale>
        <a:sx n="33" d="100"/>
        <a:sy n="33" d="100"/>
      </p:scale>
      <p:origin x="0" y="61116"/>
    </p:cViewPr>
  </p:outlineViewPr>
  <p:notesTextViewPr>
    <p:cViewPr>
      <p:scale>
        <a:sx n="1" d="1"/>
        <a:sy n="1" d="1"/>
      </p:scale>
      <p:origin x="0" y="0"/>
    </p:cViewPr>
  </p:notesTextViewPr>
  <p:gridSpacing cx="45004" cy="45004"/>
</p:viewPr>
</file>

<file path=ppt/_rels/presentation.xml.rels><?xml version="1.0" encoding="UTF-8" standalone="yes"?>
<Relationships xmlns="http://schemas.openxmlformats.org/package/2006/relationships"><Relationship Id="rId99" Type="http://schemas.openxmlformats.org/officeDocument/2006/relationships/tags" Target="tags/tag106.xml"/><Relationship Id="rId98" Type="http://schemas.openxmlformats.org/officeDocument/2006/relationships/font" Target="fonts/font22.fntdata"/><Relationship Id="rId97" Type="http://schemas.openxmlformats.org/officeDocument/2006/relationships/font" Target="fonts/font21.fntdata"/><Relationship Id="rId96" Type="http://schemas.openxmlformats.org/officeDocument/2006/relationships/font" Target="fonts/font20.fntdata"/><Relationship Id="rId95" Type="http://schemas.openxmlformats.org/officeDocument/2006/relationships/font" Target="fonts/font19.fntdata"/><Relationship Id="rId94" Type="http://schemas.openxmlformats.org/officeDocument/2006/relationships/font" Target="fonts/font18.fntdata"/><Relationship Id="rId93" Type="http://schemas.openxmlformats.org/officeDocument/2006/relationships/font" Target="fonts/font17.fntdata"/><Relationship Id="rId92" Type="http://schemas.openxmlformats.org/officeDocument/2006/relationships/font" Target="fonts/font16.fntdata"/><Relationship Id="rId91" Type="http://schemas.openxmlformats.org/officeDocument/2006/relationships/font" Target="fonts/font15.fntdata"/><Relationship Id="rId90" Type="http://schemas.openxmlformats.org/officeDocument/2006/relationships/font" Target="fonts/font14.fntdata"/><Relationship Id="rId9" Type="http://schemas.openxmlformats.org/officeDocument/2006/relationships/slide" Target="slides/slide7.xml"/><Relationship Id="rId89" Type="http://schemas.openxmlformats.org/officeDocument/2006/relationships/font" Target="fonts/font13.fntdata"/><Relationship Id="rId88" Type="http://schemas.openxmlformats.org/officeDocument/2006/relationships/font" Target="fonts/font12.fntdata"/><Relationship Id="rId87" Type="http://schemas.openxmlformats.org/officeDocument/2006/relationships/font" Target="fonts/font11.fntdata"/><Relationship Id="rId86" Type="http://schemas.openxmlformats.org/officeDocument/2006/relationships/font" Target="fonts/font10.fntdata"/><Relationship Id="rId85" Type="http://schemas.openxmlformats.org/officeDocument/2006/relationships/font" Target="fonts/font9.fntdata"/><Relationship Id="rId84" Type="http://schemas.openxmlformats.org/officeDocument/2006/relationships/font" Target="fonts/font8.fntdata"/><Relationship Id="rId83" Type="http://schemas.openxmlformats.org/officeDocument/2006/relationships/font" Target="fonts/font7.fntdata"/><Relationship Id="rId82" Type="http://schemas.openxmlformats.org/officeDocument/2006/relationships/font" Target="fonts/font6.fntdata"/><Relationship Id="rId81" Type="http://schemas.openxmlformats.org/officeDocument/2006/relationships/font" Target="fonts/font5.fntdata"/><Relationship Id="rId80" Type="http://schemas.openxmlformats.org/officeDocument/2006/relationships/font" Target="fonts/font4.fntdata"/><Relationship Id="rId8" Type="http://schemas.openxmlformats.org/officeDocument/2006/relationships/slide" Target="slides/slide6.xml"/><Relationship Id="rId79" Type="http://schemas.openxmlformats.org/officeDocument/2006/relationships/font" Target="fonts/font3.fntdata"/><Relationship Id="rId78" Type="http://schemas.openxmlformats.org/officeDocument/2006/relationships/font" Target="fonts/font2.fntdata"/><Relationship Id="rId77" Type="http://schemas.openxmlformats.org/officeDocument/2006/relationships/font" Target="fonts/font1.fntdata"/><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handoutMaster" Target="handoutMasters/handoutMaster1.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cs typeface="+mn-ea"/>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D05E5354-236C-43A4-9505-265C5F84D836}" type="slidenum">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1"/>
          <p:cNvSpPr>
            <a:spLocks noGrp="1"/>
          </p:cNvSpPr>
          <p:nvPr>
            <p:ph type="hdr" sz="quarter"/>
          </p:nvPr>
        </p:nvSpPr>
        <p:spPr>
          <a:xfrm>
            <a:off x="0" y="0"/>
            <a:ext cx="2971800" cy="457200"/>
          </a:xfrm>
          <a:prstGeom prst="rect">
            <a:avLst/>
          </a:prstGeom>
          <a:noFill/>
          <a:ln w="9525">
            <a:noFill/>
            <a:miter/>
          </a:ln>
        </p:spPr>
        <p:txBody>
          <a:bodyPr vert="horz"/>
          <a:lstStyle>
            <a:lvl1pPr eaLnBrk="1" hangingPunct="1">
              <a:buFont typeface="Arial" panose="020B0604020202020204" pitchFamily="34" charset="0"/>
              <a:buNone/>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p:cNvSpPr>
          <p:nvPr>
            <p:ph type="dt" idx="1"/>
          </p:nvPr>
        </p:nvSpPr>
        <p:spPr>
          <a:xfrm>
            <a:off x="3884613" y="0"/>
            <a:ext cx="2971800" cy="457200"/>
          </a:xfrm>
          <a:prstGeom prst="rect">
            <a:avLst/>
          </a:prstGeom>
          <a:noFill/>
          <a:ln w="9525">
            <a:noFill/>
            <a:miter/>
          </a:ln>
        </p:spPr>
        <p:txBody>
          <a:bodyPr vert="horz"/>
          <a:lstStyle>
            <a:lvl1pPr algn="r" eaLnBrk="1" hangingPunct="1">
              <a:buFont typeface="Arial" panose="020B0604020202020204" pitchFamily="34" charset="0"/>
              <a:buNone/>
              <a:defRPr sz="1200" noProof="1"/>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88" name="幻灯片图像占位符 3"/>
          <p:cNvSpPr>
            <a:spLocks noGrp="1" noRot="1" noChangeAspect="1"/>
          </p:cNvSpPr>
          <p:nvPr>
            <p:ph type="sldImg"/>
          </p:nvPr>
        </p:nvSpPr>
        <p:spPr>
          <a:xfrm>
            <a:off x="857250" y="685800"/>
            <a:ext cx="5143500" cy="3429000"/>
          </a:xfrm>
          <a:prstGeom prst="rect">
            <a:avLst/>
          </a:prstGeom>
          <a:noFill/>
          <a:ln w="9525">
            <a:noFill/>
          </a:ln>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2054" name="页脚占位符 5"/>
          <p:cNvSpPr>
            <a:spLocks noGrp="1"/>
          </p:cNvSpPr>
          <p:nvPr>
            <p:ph type="ftr" sz="quarter" idx="4"/>
          </p:nvPr>
        </p:nvSpPr>
        <p:spPr>
          <a:xfrm>
            <a:off x="0" y="8685213"/>
            <a:ext cx="2971800" cy="457200"/>
          </a:xfrm>
          <a:prstGeom prst="rect">
            <a:avLst/>
          </a:prstGeom>
          <a:noFill/>
          <a:ln w="9525">
            <a:noFill/>
            <a:miter/>
          </a:ln>
        </p:spPr>
        <p:txBody>
          <a:bodyPr vert="horz" anchor="b"/>
          <a:lstStyle>
            <a:lvl1pPr eaLnBrk="1" hangingPunct="1">
              <a:buFont typeface="Arial" panose="020B0604020202020204" pitchFamily="34" charset="0"/>
              <a:buNone/>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p:cNvSpPr>
          <p:nvPr>
            <p:ph type="sldNum" sz="quarter" idx="5"/>
          </p:nvPr>
        </p:nvSpPr>
        <p:spPr>
          <a:xfrm>
            <a:off x="3884613" y="8685213"/>
            <a:ext cx="2971800" cy="457200"/>
          </a:xfrm>
          <a:prstGeom prst="rect">
            <a:avLst/>
          </a:prstGeom>
          <a:noFill/>
          <a:ln w="9525">
            <a:noFill/>
            <a:miter/>
          </a:ln>
        </p:spPr>
        <p:txBody>
          <a:bodyPr vert="horz" wrap="square" lIns="91440" tIns="45720" rIns="91440" bIns="45720" numCol="1" anchor="b" anchorCtr="0" compatLnSpc="1"/>
          <a:lstStyle>
            <a:lvl1pPr algn="r" eaLnBrk="1" hangingPunct="1">
              <a:buFont typeface="Arial" panose="020B0604020202020204" pitchFamily="34" charset="0"/>
              <a:buNone/>
              <a:defRPr noProof="1">
                <a:latin typeface="Calibri" panose="020F0502020204030204" pitchFamily="34" charset="0"/>
                <a:cs typeface="+mn-ea"/>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46DF28B4-3203-46B9-9E5A-9CF2DE0788FE}" type="slidenum">
              <a:rPr kumimoji="0" lang="zh-CN" altLang="en-US" sz="20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lvl="1"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lvl="2"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lvl="3"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lvl="4"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lvl="5" indent="0">
      <a:defRPr sz="1200" kern="1200">
        <a:latin typeface="+mn-lt"/>
        <a:ea typeface="+mn-ea"/>
        <a:cs typeface="+mn-cs"/>
      </a:defRPr>
    </a:lvl6pPr>
    <a:lvl7pPr marL="2743200" lvl="6" indent="0">
      <a:defRPr sz="1200" kern="1200">
        <a:latin typeface="+mn-lt"/>
        <a:ea typeface="+mn-ea"/>
        <a:cs typeface="+mn-cs"/>
      </a:defRPr>
    </a:lvl7pPr>
    <a:lvl8pPr marL="3200400" lvl="7" indent="0">
      <a:defRPr sz="1200" kern="1200">
        <a:latin typeface="+mn-lt"/>
        <a:ea typeface="+mn-ea"/>
        <a:cs typeface="+mn-cs"/>
      </a:defRPr>
    </a:lvl8pPr>
    <a:lvl9pPr marL="3657600" lvl="8" indent="0">
      <a:defRPr sz="1200" kern="1200">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1202" name="幻灯片图像占位符 48129"/>
          <p:cNvSpPr>
            <a:spLocks noGrp="1" noRot="1" noChangeArrowheads="1" noTextEdit="1"/>
          </p:cNvSpPr>
          <p:nvPr>
            <p:ph type="sldImg" idx="4294967295"/>
          </p:nvPr>
        </p:nvSpPr>
        <p:spPr/>
      </p:sp>
      <p:sp>
        <p:nvSpPr>
          <p:cNvPr id="51203" name="文本占位符 48130"/>
          <p:cNvSpPr>
            <a:spLocks noGrp="1" noRot="1" noChangeArrowheads="1"/>
          </p:cNvSpPr>
          <p:nvPr>
            <p:ph type="body" idx="4294967295"/>
          </p:nvPr>
        </p:nvSpPr>
        <p:spPr>
          <a:xfrm>
            <a:off x="914400" y="4343400"/>
            <a:ext cx="5029200" cy="4114800"/>
          </a:xfrm>
        </p:spPr>
        <p:txBody>
          <a:bodyPr/>
          <a:lstStyle/>
          <a:p>
            <a:r>
              <a:rPr lang="en-US" smtClean="0">
                <a:latin typeface="Calibri" panose="020F0502020204030204" pitchFamily="34" charset="0"/>
              </a:rPr>
              <a:t>Contents:  100</a:t>
            </a:r>
            <a:endParaRPr lang="en-US" smtClean="0">
              <a:latin typeface="Calibri" panose="020F0502020204030204" pitchFamily="34" charset="0"/>
            </a:endParaRPr>
          </a:p>
          <a:p>
            <a:r>
              <a:rPr lang="en-US" smtClean="0">
                <a:latin typeface="Calibri" panose="020F0502020204030204" pitchFamily="34" charset="0"/>
              </a:rPr>
              <a:t>Distination:  Beijing</a:t>
            </a:r>
            <a:endParaRPr lang="en-US" smtClean="0">
              <a:latin typeface="Calibri" panose="020F0502020204030204" pitchFamily="34" charset="0"/>
            </a:endParaRPr>
          </a:p>
          <a:p>
            <a:r>
              <a:rPr lang="en-US" smtClean="0">
                <a:latin typeface="Calibri" panose="020F0502020204030204" pitchFamily="34" charset="0"/>
              </a:rPr>
              <a:t>1010</a:t>
            </a:r>
            <a:endParaRPr lang="en-US" smtClean="0">
              <a:latin typeface="Calibri" panose="020F0502020204030204" pitchFamily="34" charset="0"/>
            </a:endParaRPr>
          </a:p>
          <a:p>
            <a:r>
              <a:rPr lang="en-US" smtClean="0">
                <a:latin typeface="Calibri" panose="020F0502020204030204" pitchFamily="34" charset="0"/>
              </a:rPr>
              <a:t>200</a:t>
            </a:r>
            <a:endParaRPr lang="en-US" smtClean="0">
              <a:latin typeface="Calibri" panose="020F0502020204030204" pitchFamily="34" charset="0"/>
            </a:endParaRPr>
          </a:p>
          <a:p>
            <a:r>
              <a:rPr lang="en-US" smtClean="0">
                <a:latin typeface="Calibri" panose="020F0502020204030204" pitchFamily="34" charset="0"/>
              </a:rPr>
              <a:t>Shanghai</a:t>
            </a:r>
            <a:endParaRPr lang="en-US" smtClean="0">
              <a:latin typeface="Calibri" panose="020F0502020204030204" pitchFamily="34" charset="0"/>
            </a:endParaRPr>
          </a:p>
          <a:p>
            <a:endParaRPr lang="zh-CN" altLang="en-US" smtClean="0">
              <a:latin typeface="Calibri" panose="020F050202020403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350169" y="1178481"/>
            <a:ext cx="8101013" cy="2506980"/>
          </a:xfrm>
        </p:spPr>
        <p:txBody>
          <a:bodyPr anchor="b"/>
          <a:lstStyle>
            <a:lvl1pPr algn="ct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50169" y="3782140"/>
            <a:ext cx="8101013" cy="1738550"/>
          </a:xfrm>
        </p:spPr>
        <p:txBody>
          <a:bodyPr/>
          <a:lstStyle>
            <a:lvl1pPr marL="0" indent="0" algn="ctr">
              <a:buNone/>
              <a:defRPr sz="2125"/>
            </a:lvl1pPr>
            <a:lvl2pPr marL="405130" indent="0" algn="ctr">
              <a:buNone/>
              <a:defRPr sz="1770"/>
            </a:lvl2pPr>
            <a:lvl3pPr marL="810260" indent="0" algn="ctr">
              <a:buNone/>
              <a:defRPr sz="1595"/>
            </a:lvl3pPr>
            <a:lvl4pPr marL="1215390" indent="0" algn="ctr">
              <a:buNone/>
              <a:defRPr sz="1420"/>
            </a:lvl4pPr>
            <a:lvl5pPr marL="1620520" indent="0" algn="ctr">
              <a:buNone/>
              <a:defRPr sz="1420"/>
            </a:lvl5pPr>
            <a:lvl6pPr marL="2025015" indent="0" algn="ctr">
              <a:buNone/>
              <a:defRPr sz="1420"/>
            </a:lvl6pPr>
            <a:lvl7pPr marL="2430145" indent="0" algn="ctr">
              <a:buNone/>
              <a:defRPr sz="1420"/>
            </a:lvl7pPr>
            <a:lvl8pPr marL="2835275" indent="0" algn="ctr">
              <a:buNone/>
              <a:defRPr sz="1420"/>
            </a:lvl8pPr>
            <a:lvl9pPr marL="3240405" indent="0" algn="ctr">
              <a:buNone/>
              <a:defRPr sz="1420"/>
            </a:lvl9pPr>
          </a:lstStyle>
          <a:p>
            <a:pPr fontAlgn="base"/>
            <a:r>
              <a:rPr lang="zh-CN" altLang="en-US" sz="2125" strike="noStrike" noProof="1" smtClean="0"/>
              <a:t>单击此处编辑母版副标题样式</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04DEC44-81F5-402B-88E0-D0171ABF27A4}"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sz="3200"/>
            </a:lvl1pPr>
            <a:lvl2pPr>
              <a:defRPr sz="2800"/>
            </a:lvl2pPr>
            <a:lvl3pPr>
              <a:defRPr sz="2400"/>
            </a:lvl3pPr>
            <a:lvl4pPr>
              <a:defRPr sz="2000"/>
            </a:lvl4pPr>
            <a:lvl5pPr>
              <a:defRPr sz="1800"/>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36967" y="1795225"/>
            <a:ext cx="9316164" cy="2995374"/>
          </a:xfrm>
        </p:spPr>
        <p:txBody>
          <a:bodyPr anchor="b"/>
          <a:lstStyle>
            <a:lvl1pP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36967" y="4818936"/>
            <a:ext cx="9316164" cy="1575196"/>
          </a:xfrm>
        </p:spPr>
        <p:txBody>
          <a:bodyPr/>
          <a:lstStyle>
            <a:lvl1pPr marL="0" indent="0">
              <a:buNone/>
              <a:defRPr sz="2125">
                <a:solidFill>
                  <a:schemeClr val="tx1">
                    <a:tint val="75000"/>
                  </a:schemeClr>
                </a:solidFill>
              </a:defRPr>
            </a:lvl1pPr>
            <a:lvl2pPr marL="405130" indent="0">
              <a:buNone/>
              <a:defRPr sz="1770">
                <a:solidFill>
                  <a:schemeClr val="tx1">
                    <a:tint val="75000"/>
                  </a:schemeClr>
                </a:solidFill>
              </a:defRPr>
            </a:lvl2pPr>
            <a:lvl3pPr marL="810260" indent="0">
              <a:buNone/>
              <a:defRPr sz="1595">
                <a:solidFill>
                  <a:schemeClr val="tx1">
                    <a:tint val="75000"/>
                  </a:schemeClr>
                </a:solidFill>
              </a:defRPr>
            </a:lvl3pPr>
            <a:lvl4pPr marL="1215390" indent="0">
              <a:buNone/>
              <a:defRPr sz="1420">
                <a:solidFill>
                  <a:schemeClr val="tx1">
                    <a:tint val="75000"/>
                  </a:schemeClr>
                </a:solidFill>
              </a:defRPr>
            </a:lvl4pPr>
            <a:lvl5pPr marL="1620520" indent="0">
              <a:buNone/>
              <a:defRPr sz="1420">
                <a:solidFill>
                  <a:schemeClr val="tx1">
                    <a:tint val="75000"/>
                  </a:schemeClr>
                </a:solidFill>
              </a:defRPr>
            </a:lvl5pPr>
            <a:lvl6pPr marL="2025015" indent="0">
              <a:buNone/>
              <a:defRPr sz="1420">
                <a:solidFill>
                  <a:schemeClr val="tx1">
                    <a:tint val="75000"/>
                  </a:schemeClr>
                </a:solidFill>
              </a:defRPr>
            </a:lvl6pPr>
            <a:lvl7pPr marL="2430145" indent="0">
              <a:buNone/>
              <a:defRPr sz="1420">
                <a:solidFill>
                  <a:schemeClr val="tx1">
                    <a:tint val="75000"/>
                  </a:schemeClr>
                </a:solidFill>
              </a:defRPr>
            </a:lvl7pPr>
            <a:lvl8pPr marL="2835275" indent="0">
              <a:buNone/>
              <a:defRPr sz="1420">
                <a:solidFill>
                  <a:schemeClr val="tx1">
                    <a:tint val="75000"/>
                  </a:schemeClr>
                </a:solidFill>
              </a:defRPr>
            </a:lvl8pPr>
            <a:lvl9pPr marL="3240405" indent="0">
              <a:buNone/>
              <a:defRPr sz="1420">
                <a:solidFill>
                  <a:schemeClr val="tx1">
                    <a:tint val="75000"/>
                  </a:schemeClr>
                </a:solidFill>
              </a:defRPr>
            </a:lvl9pPr>
          </a:lstStyle>
          <a:p>
            <a:pPr lvl="0" fontAlgn="base"/>
            <a:r>
              <a:rPr lang="zh-CN" altLang="en-US" sz="2125" strike="noStrike" noProof="1" smtClean="0"/>
              <a:t>单击此处编辑母版文本样式</a:t>
            </a:r>
            <a:endParaRPr lang="zh-CN" altLang="en-US" strike="noStrike" noProof="1" smtClean="0"/>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5DA2773A-039E-4D0B-9FB6-870239BEDA7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95300" y="1395413"/>
            <a:ext cx="4763707" cy="47513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453444" y="1395413"/>
            <a:ext cx="4763707" cy="47513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4E050F0-2353-4035-9336-0D6E26FF3F0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383381"/>
            <a:ext cx="9316164" cy="1391841"/>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051408" y="1867360"/>
            <a:ext cx="4317682"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051408" y="2798648"/>
            <a:ext cx="4317682" cy="370049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5543256" y="1867360"/>
            <a:ext cx="4338946"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5543256" y="2798648"/>
            <a:ext cx="4338946" cy="370049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1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1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C96AC177-BAFA-4737-87AF-3776919DE842}"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B509E3B-15AE-44C4-A5B2-D5FF4FCB0DA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CA08B262-9595-4FD8-97A0-F2BEE22F6F4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483716" cy="1680210"/>
          </a:xfrm>
        </p:spPr>
        <p:txBody>
          <a:bodyPr anchor="b"/>
          <a:lstStyle>
            <a:lvl1pPr>
              <a:defRPr sz="2835"/>
            </a:lvl1pPr>
          </a:lstStyle>
          <a:p>
            <a:pPr fontAlgn="base"/>
            <a:r>
              <a:rPr lang="zh-CN" altLang="en-US" sz="2835" strike="noStrike" noProof="1" smtClean="0"/>
              <a:t>单击此处编辑母版标题样式</a:t>
            </a:r>
            <a:endParaRPr lang="zh-CN" altLang="en-US" strike="noStrike" noProof="1"/>
          </a:p>
        </p:txBody>
      </p:sp>
      <p:sp>
        <p:nvSpPr>
          <p:cNvPr id="3" name="内容占位符 2"/>
          <p:cNvSpPr>
            <a:spLocks noGrp="1"/>
          </p:cNvSpPr>
          <p:nvPr>
            <p:ph idx="1"/>
          </p:nvPr>
        </p:nvSpPr>
        <p:spPr>
          <a:xfrm>
            <a:off x="4591981" y="1036796"/>
            <a:ext cx="5468183" cy="5117306"/>
          </a:xfrm>
        </p:spPr>
        <p:txBody>
          <a:bodyPr/>
          <a:lstStyle>
            <a:lvl1pPr>
              <a:defRPr sz="2835"/>
            </a:lvl1pPr>
            <a:lvl2pPr>
              <a:defRPr sz="2480"/>
            </a:lvl2pPr>
            <a:lvl3pPr>
              <a:defRPr sz="2125"/>
            </a:lvl3pPr>
            <a:lvl4pPr>
              <a:defRPr sz="1770"/>
            </a:lvl4pPr>
            <a:lvl5pPr>
              <a:defRPr sz="1770"/>
            </a:lvl5pPr>
            <a:lvl6pPr>
              <a:defRPr sz="1770"/>
            </a:lvl6pPr>
            <a:lvl7pPr>
              <a:defRPr sz="1770"/>
            </a:lvl7pPr>
            <a:lvl8pPr>
              <a:defRPr sz="1770"/>
            </a:lvl8pPr>
            <a:lvl9pPr>
              <a:defRPr sz="1770"/>
            </a:lvl9pPr>
          </a:lstStyle>
          <a:p>
            <a:pPr lvl="0" fontAlgn="base"/>
            <a:r>
              <a:rPr lang="zh-CN" altLang="en-US" sz="2835" strike="noStrike" noProof="1" smtClean="0"/>
              <a:t>单击此处编辑母版文本样式</a:t>
            </a:r>
            <a:endParaRPr lang="zh-CN" altLang="en-US" strike="noStrike" noProof="1" smtClean="0"/>
          </a:p>
          <a:p>
            <a:pPr lvl="1" fontAlgn="base"/>
            <a:r>
              <a:rPr lang="zh-CN" altLang="en-US" sz="2480" strike="noStrike" noProof="1" smtClean="0"/>
              <a:t>第二级</a:t>
            </a:r>
            <a:endParaRPr lang="zh-CN" altLang="en-US" strike="noStrike" noProof="1" smtClean="0"/>
          </a:p>
          <a:p>
            <a:pPr lvl="2" fontAlgn="base"/>
            <a:r>
              <a:rPr lang="zh-CN" altLang="en-US" sz="2125" strike="noStrike" noProof="1" smtClean="0"/>
              <a:t>第三级</a:t>
            </a:r>
            <a:endParaRPr lang="zh-CN" altLang="en-US" strike="noStrike" noProof="1" smtClean="0"/>
          </a:p>
          <a:p>
            <a:pPr lvl="3" fontAlgn="base"/>
            <a:r>
              <a:rPr lang="zh-CN" altLang="en-US" sz="1770" strike="noStrike" noProof="1" smtClean="0"/>
              <a:t>第四级</a:t>
            </a:r>
            <a:endParaRPr lang="zh-CN" altLang="en-US" strike="noStrike" noProof="1" smtClean="0"/>
          </a:p>
          <a:p>
            <a:pPr lvl="4" fontAlgn="base"/>
            <a:r>
              <a:rPr lang="zh-CN" altLang="en-US" sz="1770" strike="noStrike" noProof="1" smtClean="0"/>
              <a:t>第五级</a:t>
            </a:r>
            <a:endParaRPr lang="zh-CN" altLang="en-US" strike="noStrike" noProof="1"/>
          </a:p>
        </p:txBody>
      </p:sp>
      <p:sp>
        <p:nvSpPr>
          <p:cNvPr id="4" name="文本占位符 3"/>
          <p:cNvSpPr>
            <a:spLocks noGrp="1"/>
          </p:cNvSpPr>
          <p:nvPr>
            <p:ph type="body" sz="half" idx="2"/>
          </p:nvPr>
        </p:nvSpPr>
        <p:spPr>
          <a:xfrm>
            <a:off x="744000" y="2160270"/>
            <a:ext cx="3483716" cy="4002167"/>
          </a:xfrm>
        </p:spPr>
        <p:txBody>
          <a:bodyPr/>
          <a:lstStyle>
            <a:lvl1pPr marL="0" indent="0">
              <a:buNone/>
              <a:defRPr sz="1420"/>
            </a:lvl1pPr>
            <a:lvl2pPr marL="405130" indent="0">
              <a:buNone/>
              <a:defRPr sz="1240"/>
            </a:lvl2pPr>
            <a:lvl3pPr marL="810260" indent="0">
              <a:buNone/>
              <a:defRPr sz="1065"/>
            </a:lvl3pPr>
            <a:lvl4pPr marL="1215390" indent="0">
              <a:buNone/>
              <a:defRPr sz="885"/>
            </a:lvl4pPr>
            <a:lvl5pPr marL="1620520" indent="0">
              <a:buNone/>
              <a:defRPr sz="885"/>
            </a:lvl5pPr>
            <a:lvl6pPr marL="2025015" indent="0">
              <a:buNone/>
              <a:defRPr sz="885"/>
            </a:lvl6pPr>
            <a:lvl7pPr marL="2430145" indent="0">
              <a:buNone/>
              <a:defRPr sz="885"/>
            </a:lvl7pPr>
            <a:lvl8pPr marL="2835275" indent="0">
              <a:buNone/>
              <a:defRPr sz="885"/>
            </a:lvl8pPr>
            <a:lvl9pPr marL="3240405" indent="0">
              <a:buNone/>
              <a:defRPr sz="885"/>
            </a:lvl9pPr>
          </a:lstStyle>
          <a:p>
            <a:pPr lvl="0" fontAlgn="base"/>
            <a:r>
              <a:rPr lang="zh-CN" altLang="en-US" sz="1420" strike="noStrike" noProof="1" smtClean="0"/>
              <a:t>单击此处编辑母版文本样式</a:t>
            </a:r>
            <a:endParaRPr lang="zh-CN" altLang="en-US" strike="noStrike" noProof="1" smtClean="0"/>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A4918B3-A6F1-48BA-8184-BEE8D7C6884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690239" cy="1680210"/>
          </a:xfrm>
        </p:spPr>
        <p:txBody>
          <a:bodyPr anchor="b"/>
          <a:lstStyle>
            <a:lvl1pPr>
              <a:defRPr sz="2835"/>
            </a:lvl1pPr>
          </a:lstStyle>
          <a:p>
            <a:pPr fontAlgn="base"/>
            <a:r>
              <a:rPr lang="zh-CN" altLang="en-US" sz="2835"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4591981" y="480061"/>
            <a:ext cx="5468183" cy="5674043"/>
          </a:xfrm>
        </p:spPr>
        <p:txBody>
          <a:bodyPr vert="horz" wrap="square" lIns="102870" tIns="51435" rIns="102870" bIns="51435" numCol="1" anchor="t" anchorCtr="0" compatLnSpc="1"/>
          <a:lstStyle>
            <a:lvl1pPr marL="0" indent="0">
              <a:buNone/>
              <a:defRPr sz="2835"/>
            </a:lvl1pPr>
            <a:lvl2pPr marL="405130" indent="0">
              <a:buNone/>
              <a:defRPr sz="2480"/>
            </a:lvl2pPr>
            <a:lvl3pPr marL="810260" indent="0">
              <a:buNone/>
              <a:defRPr sz="2125"/>
            </a:lvl3pPr>
            <a:lvl4pPr marL="1215390" indent="0">
              <a:buNone/>
              <a:defRPr sz="1770"/>
            </a:lvl4pPr>
            <a:lvl5pPr marL="1620520" indent="0">
              <a:buNone/>
              <a:defRPr sz="1770"/>
            </a:lvl5pPr>
            <a:lvl6pPr marL="2025015" indent="0">
              <a:buNone/>
              <a:defRPr sz="1770"/>
            </a:lvl6pPr>
            <a:lvl7pPr marL="2430145" indent="0">
              <a:buNone/>
              <a:defRPr sz="1770"/>
            </a:lvl7pPr>
            <a:lvl8pPr marL="2835275" indent="0">
              <a:buNone/>
              <a:defRPr sz="1770"/>
            </a:lvl8pPr>
            <a:lvl9pPr marL="3240405" indent="0">
              <a:buNone/>
              <a:defRPr sz="1770"/>
            </a:lvl9pPr>
          </a:lstStyle>
          <a:p>
            <a:pPr marL="0" marR="0" lvl="0" indent="0"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35"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4" name="文本占位符 3"/>
          <p:cNvSpPr>
            <a:spLocks noGrp="1"/>
          </p:cNvSpPr>
          <p:nvPr>
            <p:ph type="body" sz="half" idx="2"/>
          </p:nvPr>
        </p:nvSpPr>
        <p:spPr>
          <a:xfrm>
            <a:off x="744000" y="2160270"/>
            <a:ext cx="3690239" cy="4002167"/>
          </a:xfrm>
        </p:spPr>
        <p:txBody>
          <a:bodyPr/>
          <a:lstStyle>
            <a:lvl1pPr marL="0" indent="0">
              <a:buNone/>
              <a:defRPr sz="1770"/>
            </a:lvl1pPr>
            <a:lvl2pPr marL="405130" indent="0">
              <a:buNone/>
              <a:defRPr sz="1595"/>
            </a:lvl2pPr>
            <a:lvl3pPr marL="810260" indent="0">
              <a:buNone/>
              <a:defRPr sz="1420"/>
            </a:lvl3pPr>
            <a:lvl4pPr marL="1215390" indent="0">
              <a:buNone/>
              <a:defRPr sz="1240"/>
            </a:lvl4pPr>
            <a:lvl5pPr marL="1620520" indent="0">
              <a:buNone/>
              <a:defRPr sz="1240"/>
            </a:lvl5pPr>
            <a:lvl6pPr marL="2025015" indent="0">
              <a:buNone/>
              <a:defRPr sz="1240"/>
            </a:lvl6pPr>
            <a:lvl7pPr marL="2430145" indent="0">
              <a:buNone/>
              <a:defRPr sz="1240"/>
            </a:lvl7pPr>
            <a:lvl8pPr marL="2835275" indent="0">
              <a:buNone/>
              <a:defRPr sz="1240"/>
            </a:lvl8pPr>
            <a:lvl9pPr marL="3240405" indent="0">
              <a:buNone/>
              <a:defRPr sz="1240"/>
            </a:lvl9pPr>
          </a:lstStyle>
          <a:p>
            <a:pPr lvl="0" fontAlgn="base"/>
            <a:r>
              <a:rPr lang="zh-CN" altLang="en-US" sz="1770" strike="noStrike" noProof="1" smtClean="0"/>
              <a:t>单击此处编辑母版文本样式</a:t>
            </a:r>
            <a:endParaRPr lang="zh-CN" altLang="en-US" strike="noStrike" noProof="1" smtClean="0"/>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2C44AEEF-2EA4-49FB-A4C6-AE4915F2818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7EAA3FC1-4343-4447-8791-CFAC0F972F3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786688" y="450850"/>
            <a:ext cx="2430463" cy="5695950"/>
          </a:xfrm>
        </p:spPr>
        <p:txBody>
          <a:bodyPr vert="eaVert"/>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95300" y="450850"/>
            <a:ext cx="7150491" cy="56959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17F0989-DA08-4BD9-846C-C1F14FB8A3CB}"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230655" y="240030"/>
            <a:ext cx="9850606" cy="608076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2"/>
          <p:cNvSpPr>
            <a:spLocks noGrp="1"/>
          </p:cNvSpPr>
          <p:nvPr>
            <p:ph type="dt" sz="half" idx="2"/>
          </p:nvPr>
        </p:nvSpPr>
        <p:spPr>
          <a:xfrm>
            <a:off x="5397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fld id="{EA784135-762A-4035-8EE0-10B9542390D5}" type="datetime1">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3"/>
          <p:cNvSpPr>
            <a:spLocks noGrp="1"/>
          </p:cNvSpPr>
          <p:nvPr>
            <p:ph type="ftr" sz="quarter" idx="3"/>
          </p:nvPr>
        </p:nvSpPr>
        <p:spPr>
          <a:xfrm>
            <a:off x="3690938" y="6561138"/>
            <a:ext cx="3419475"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4"/>
          <p:cNvSpPr>
            <a:spLocks noGrp="1"/>
          </p:cNvSpPr>
          <p:nvPr>
            <p:ph type="sldNum" sz="quarter" idx="4"/>
          </p:nvPr>
        </p:nvSpPr>
        <p:spPr>
          <a:xfrm>
            <a:off x="77406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5AB1899D-96FE-4D39-BDD1-90357FF6953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0655" y="240030"/>
            <a:ext cx="9468058" cy="96012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20090" y="1680210"/>
            <a:ext cx="4590574" cy="464058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490686" y="1680210"/>
            <a:ext cx="4590574" cy="464058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2" name="日期占位符 4"/>
          <p:cNvSpPr>
            <a:spLocks noGrp="1"/>
          </p:cNvSpPr>
          <p:nvPr>
            <p:ph type="dt" sz="half" idx="12"/>
          </p:nvPr>
        </p:nvSpPr>
        <p:spPr>
          <a:xfrm>
            <a:off x="5397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fld id="{1FDD5721-E9EE-4D83-8C0D-0FC7C1A21609}" type="datetime1">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5"/>
          <p:cNvSpPr>
            <a:spLocks noGrp="1"/>
          </p:cNvSpPr>
          <p:nvPr>
            <p:ph type="ftr" sz="quarter" idx="3"/>
          </p:nvPr>
        </p:nvSpPr>
        <p:spPr>
          <a:xfrm>
            <a:off x="3690938" y="6561138"/>
            <a:ext cx="3419475"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6"/>
          <p:cNvSpPr>
            <a:spLocks noGrp="1"/>
          </p:cNvSpPr>
          <p:nvPr>
            <p:ph type="sldNum" sz="quarter" idx="4"/>
          </p:nvPr>
        </p:nvSpPr>
        <p:spPr>
          <a:xfrm>
            <a:off x="77406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0A02036-80E4-4490-812A-9D6B1EB1DF9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495300" y="450850"/>
            <a:ext cx="9720263" cy="569913"/>
          </a:xfrm>
          <a:prstGeom prst="rect">
            <a:avLst/>
          </a:prstGeom>
          <a:noFill/>
          <a:ln w="9525">
            <a:noFill/>
          </a:ln>
        </p:spPr>
        <p:txBody>
          <a:bodyPr lIns="102870" tIns="51435" rIns="102870" bIns="51435" anchor="ctr"/>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495300" y="1395413"/>
            <a:ext cx="9721850" cy="4751387"/>
          </a:xfrm>
          <a:prstGeom prst="rect">
            <a:avLst/>
          </a:prstGeom>
          <a:noFill/>
          <a:ln w="9525">
            <a:noFill/>
          </a:ln>
        </p:spPr>
        <p:txBody>
          <a:bodyPr lIns="102870" tIns="51435" rIns="102870" bIns="51435" anchor="t"/>
          <a:p>
            <a:pPr lvl="0" indent="-386080"/>
            <a:r>
              <a:rPr lang="zh-CN" altLang="en-US" dirty="0"/>
              <a:t>单击此处编辑母版文本样式</a:t>
            </a:r>
            <a:endParaRPr lang="zh-CN" altLang="en-US" dirty="0"/>
          </a:p>
          <a:p>
            <a:pPr lvl="1" indent="-320675"/>
            <a:r>
              <a:rPr lang="zh-CN" altLang="en-US" dirty="0"/>
              <a:t>第二级</a:t>
            </a:r>
            <a:endParaRPr lang="zh-CN" altLang="en-US" dirty="0"/>
          </a:p>
          <a:p>
            <a:pPr lvl="2" indent="-257175"/>
            <a:r>
              <a:rPr lang="zh-CN" altLang="en-US" dirty="0"/>
              <a:t>第三级</a:t>
            </a:r>
            <a:endParaRPr lang="zh-CN" altLang="en-US" dirty="0"/>
          </a:p>
          <a:p>
            <a:pPr lvl="3" indent="-257175"/>
            <a:r>
              <a:rPr lang="zh-CN" altLang="en-US" dirty="0"/>
              <a:t>第四级</a:t>
            </a:r>
            <a:endParaRPr lang="zh-CN" altLang="en-US" dirty="0"/>
          </a:p>
          <a:p>
            <a:pPr lvl="4" indent="-257175"/>
            <a:r>
              <a:rPr lang="zh-CN" altLang="en-US" dirty="0"/>
              <a:t>第五级</a:t>
            </a:r>
            <a:endParaRPr lang="zh-CN" altLang="en-US" dirty="0"/>
          </a:p>
        </p:txBody>
      </p:sp>
      <p:sp>
        <p:nvSpPr>
          <p:cNvPr id="1028"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eaLnBrk="1" hangingPunct="1">
              <a:buFont typeface="Arial" panose="020B0604020202020204" pitchFamily="34" charset="0"/>
              <a:buNone/>
              <a:defRPr sz="1400" noProof="1">
                <a:solidFill>
                  <a:srgbClr val="898989"/>
                </a:solidFill>
                <a:latin typeface="Calibri" panose="020F0502020204030204" pitchFamily="34" charset="0"/>
                <a:sym typeface="Calibri" panose="020F0502020204030204" pitchFamily="34" charset="0"/>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29"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lgn="ctr" eaLnBrk="1" hangingPunct="1">
              <a:buFont typeface="Arial" panose="020B0604020202020204" pitchFamily="34" charset="0"/>
              <a:buNone/>
              <a:defRPr sz="1400" noProof="1">
                <a:solidFill>
                  <a:srgbClr val="898989"/>
                </a:solidFill>
                <a:latin typeface="Calibri" panose="020F0502020204030204" pitchFamily="34" charset="0"/>
                <a:sym typeface="Calibri" panose="020F0502020204030204" pitchFamily="34" charset="0"/>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0"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lgn="r" eaLnBrk="1" hangingPunct="1">
              <a:buFont typeface="Arial" panose="020B0604020202020204" pitchFamily="34" charset="0"/>
              <a:buNone/>
              <a:defRPr sz="1400" noProof="1">
                <a:solidFill>
                  <a:srgbClr val="898989"/>
                </a:solidFill>
                <a:latin typeface="Calibri" panose="020F0502020204030204" pitchFamily="34" charset="0"/>
                <a:cs typeface="+mn-ea"/>
                <a:sym typeface="Calibri" panose="020F0502020204030204" pitchFamily="34" charset="0"/>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7761D1BB-FC42-4936-A86B-3CA890E1C33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1" name="矩形 6"/>
          <p:cNvSpPr>
            <a:spLocks noChangeArrowheads="1"/>
          </p:cNvSpPr>
          <p:nvPr/>
        </p:nvSpPr>
        <p:spPr bwMode="auto">
          <a:xfrm>
            <a:off x="0" y="6526213"/>
            <a:ext cx="10801350" cy="9525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2870" tIns="51435" rIns="102870" bIns="5143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2" name="TextBox 7"/>
          <p:cNvSpPr>
            <a:spLocks noChangeArrowheads="1"/>
          </p:cNvSpPr>
          <p:nvPr/>
        </p:nvSpPr>
        <p:spPr bwMode="auto">
          <a:xfrm>
            <a:off x="8731250" y="6319838"/>
            <a:ext cx="755650" cy="473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spAutoFit/>
          </a:bodyP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rPr>
              <a:t>Java</a:t>
            </a:r>
            <a:endParaRPr kumimoji="0" lang="zh-CN" altLang="en-US" sz="2400" b="0" i="0" u="none" strike="noStrike" kern="1200" cap="none" spc="0" normalizeH="0" baseline="0" noProof="0" smtClean="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endParaRPr>
          </a:p>
        </p:txBody>
      </p:sp>
      <p:sp>
        <p:nvSpPr>
          <p:cNvPr id="1033" name="矩形 6"/>
          <p:cNvSpPr>
            <a:spLocks noChangeArrowheads="1"/>
          </p:cNvSpPr>
          <p:nvPr/>
        </p:nvSpPr>
        <p:spPr bwMode="auto">
          <a:xfrm>
            <a:off x="0" y="1216025"/>
            <a:ext cx="10801350" cy="5397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4140" tIns="50165" rIns="104140" bIns="5016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4" name="TextBox 7"/>
          <p:cNvSpPr/>
          <p:nvPr/>
        </p:nvSpPr>
        <p:spPr>
          <a:xfrm>
            <a:off x="1125535" y="6301206"/>
            <a:ext cx="2190664" cy="473206"/>
          </a:xfrm>
          <a:prstGeom prst="rect">
            <a:avLst/>
          </a:prstGeom>
          <a:solidFill>
            <a:schemeClr val="bg1">
              <a:alpha val="100000"/>
            </a:schemeClr>
          </a:solidFill>
          <a:ln w="9525">
            <a:noFill/>
            <a:miter/>
          </a:ln>
        </p:spPr>
        <p:txBody>
          <a:bodyPr wrap="none" lIns="102870" tIns="51435" rIns="102870" bIns="51435">
            <a:spAutoFit/>
            <a:scene3d>
              <a:camera prst="orthographicFront"/>
              <a:lightRig rig="threePt" dir="t"/>
            </a:scene3d>
          </a:bodyPr>
          <a:lstStyle/>
          <a:p>
            <a:pPr marL="0" marR="0" lvl="0" indent="0" algn="l" defTabSz="10287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en-US" altLang="zh-CN"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Java</a:t>
            </a:r>
            <a:r>
              <a:rPr kumimoji="0" lang="zh-CN" altLang="en-US"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语言与应用</a:t>
            </a:r>
            <a:endParaRPr kumimoji="0" lang="zh-CN" altLang="en-US" sz="2400" b="1" i="0" u="none" strike="noStrike" kern="1200" cap="none" spc="-100" normalizeH="0" baseline="0" noProof="1">
              <a:ln>
                <a:noFill/>
              </a:ln>
              <a:solidFill>
                <a:schemeClr val="tx2">
                  <a:lumMod val="60000"/>
                  <a:lumOff val="40000"/>
                </a:schemeClr>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Impact" panose="020B0806030902050204" pitchFamily="34" charset="0"/>
            </a:endParaRPr>
          </a:p>
        </p:txBody>
      </p:sp>
      <p:pic>
        <p:nvPicPr>
          <p:cNvPr id="1035" name="图片 1"/>
          <p:cNvPicPr>
            <a:picLocks noChangeAspect="1"/>
          </p:cNvPicPr>
          <p:nvPr userDrawn="1"/>
        </p:nvPicPr>
        <p:blipFill>
          <a:blip r:embed="rId14"/>
          <a:srcRect l="10876" r="18822" b="17163"/>
          <a:stretch>
            <a:fillRect/>
          </a:stretch>
        </p:blipFill>
        <p:spPr>
          <a:xfrm>
            <a:off x="8453438" y="6216650"/>
            <a:ext cx="1095375" cy="5921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1028700" rtl="0" eaLnBrk="0" fontAlgn="base" hangingPunct="0">
        <a:spcBef>
          <a:spcPct val="0"/>
        </a:spcBef>
        <a:spcAft>
          <a:spcPct val="0"/>
        </a:spcAft>
        <a:buFont typeface="Arial" panose="020B0604020202020204" pitchFamily="34" charset="0"/>
        <a:defRPr sz="3600" b="1" kern="1200">
          <a:solidFill>
            <a:srgbClr val="00B0F0"/>
          </a:solidFill>
          <a:latin typeface="微软雅黑" panose="020B0503020204020204" pitchFamily="34" charset="-122"/>
          <a:ea typeface="微软雅黑" panose="020B0503020204020204" pitchFamily="34" charset="-122"/>
          <a:cs typeface="+mj-cs"/>
          <a:sym typeface="Calibri" panose="020F0502020204030204" pitchFamily="34" charset="0"/>
        </a:defRPr>
      </a:lvl1pPr>
      <a:lvl2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2pPr>
      <a:lvl3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3pPr>
      <a:lvl4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4pPr>
      <a:lvl5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5pPr>
      <a:lvl6pPr marL="4572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6pPr>
      <a:lvl7pPr marL="9144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7pPr>
      <a:lvl8pPr marL="13716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8pPr>
      <a:lvl9pPr marL="18288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386080" indent="-386080" algn="l" defTabSz="1028700" rtl="0" eaLnBrk="0" fontAlgn="base" hangingPunct="0">
        <a:spcBef>
          <a:spcPct val="20000"/>
        </a:spcBef>
        <a:spcAft>
          <a:spcPct val="0"/>
        </a:spcAft>
        <a:buFont typeface="Arial" panose="020B0604020202020204" pitchFamily="34" charset="0"/>
        <a:buChar char="•"/>
        <a:defRPr sz="36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835025" lvl="1" indent="-320675" algn="l" defTabSz="1028700" rtl="0" eaLnBrk="0" fontAlgn="base" hangingPunct="0">
        <a:spcBef>
          <a:spcPct val="20000"/>
        </a:spcBef>
        <a:spcAft>
          <a:spcPct val="0"/>
        </a:spcAft>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2pPr>
      <a:lvl3pPr marL="1285875" lvl="2" indent="-257175" algn="l" defTabSz="1028700" rtl="0" eaLnBrk="0" fontAlgn="base" hangingPunct="0">
        <a:spcBef>
          <a:spcPct val="20000"/>
        </a:spcBef>
        <a:spcAft>
          <a:spcPct val="0"/>
        </a:spcAft>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3pPr>
      <a:lvl4pPr marL="1800225" lvl="3"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4pPr>
      <a:lvl5pPr marL="2314575" lvl="4"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5pPr>
      <a:lvl6pPr marL="2514600" lvl="5"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6pPr>
      <a:lvl7pPr marL="2971800" lvl="6"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7pPr>
      <a:lvl8pPr marL="3429000" lvl="7"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8pPr>
      <a:lvl9pPr marL="3886200" lvl="8"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9pPr>
    </p:bodyStyle>
    <p:otherStyle>
      <a:lvl1pPr lvl="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1pPr>
      <a:lvl2pPr marL="514350" lvl="1" indent="-571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2pPr>
      <a:lvl3pPr marL="1028700" lvl="2" indent="-1143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3pPr>
      <a:lvl4pPr marL="1543050" lvl="3" indent="-1714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4pPr>
      <a:lvl5pPr marL="2057400" lvl="4"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5pPr>
      <a:lvl6pPr marL="2286000" lvl="5"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6pPr>
      <a:lvl7pPr marL="2743200" lvl="6"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7pPr>
      <a:lvl8pPr marL="3200400" lvl="7"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8pPr>
      <a:lvl9pPr marL="3657600" lvl="8"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image" Target="../media/image3.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组合 2"/>
          <p:cNvGrpSpPr/>
          <p:nvPr/>
        </p:nvGrpSpPr>
        <p:grpSpPr>
          <a:xfrm>
            <a:off x="9593263" y="2851150"/>
            <a:ext cx="1144587" cy="1430338"/>
            <a:chOff x="8564451" y="2716812"/>
            <a:chExt cx="579549" cy="1361673"/>
          </a:xfrm>
        </p:grpSpPr>
        <p:sp>
          <p:nvSpPr>
            <p:cNvPr id="12" name="矩形 11"/>
            <p:cNvSpPr/>
            <p:nvPr/>
          </p:nvSpPr>
          <p:spPr>
            <a:xfrm>
              <a:off x="8564451" y="2716812"/>
              <a:ext cx="579549" cy="99291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31" name="矩形 30"/>
            <p:cNvSpPr/>
            <p:nvPr/>
          </p:nvSpPr>
          <p:spPr>
            <a:xfrm>
              <a:off x="8564451" y="3804941"/>
              <a:ext cx="579549" cy="27354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2" name="组合 1"/>
          <p:cNvGrpSpPr/>
          <p:nvPr/>
        </p:nvGrpSpPr>
        <p:grpSpPr>
          <a:xfrm>
            <a:off x="125413" y="2852738"/>
            <a:ext cx="9881236" cy="1442719"/>
            <a:chOff x="0" y="2716812"/>
            <a:chExt cx="6251680" cy="1371641"/>
          </a:xfrm>
        </p:grpSpPr>
        <p:sp>
          <p:nvSpPr>
            <p:cNvPr id="30" name="矩形 29"/>
            <p:cNvSpPr/>
            <p:nvPr/>
          </p:nvSpPr>
          <p:spPr>
            <a:xfrm>
              <a:off x="0" y="3803897"/>
              <a:ext cx="5991142" cy="27328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0" y="2716812"/>
              <a:ext cx="5991142" cy="9919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4112" name="文本框 6"/>
            <p:cNvSpPr txBox="1"/>
            <p:nvPr/>
          </p:nvSpPr>
          <p:spPr>
            <a:xfrm>
              <a:off x="3109569" y="2917849"/>
              <a:ext cx="3142111" cy="739552"/>
            </a:xfrm>
            <a:prstGeom prst="rect">
              <a:avLst/>
            </a:prstGeom>
            <a:noFill/>
            <a:ln w="9525">
              <a:noFill/>
              <a:miter/>
            </a:ln>
          </p:spPr>
          <p:txBody>
            <a:bodyPr wrap="square">
              <a:spAutoFit/>
            </a:bodyPr>
            <a:lstStyle/>
            <a:p>
              <a:pPr marR="0" algn="ctr" defTabSz="1028700">
                <a:lnSpc>
                  <a:spcPct val="125000"/>
                </a:lnSpc>
                <a:buClrTx/>
                <a:buSzTx/>
                <a:buFont typeface="Arial" panose="020B0604020202020204" pitchFamily="34" charset="0"/>
                <a:buNone/>
                <a:defRPr/>
              </a:pPr>
              <a:r>
                <a:rPr kumimoji="0" lang="en-US"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Java</a:t>
              </a:r>
              <a:r>
                <a:rPr kumimoji="0" lang="zh-CN" altLang="en-US"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类与对象</a:t>
              </a:r>
              <a:r>
                <a:rPr kumimoji="0" lang="en-US" altLang="zh-CN"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(3)</a:t>
              </a:r>
              <a:endParaRPr kumimoji="0" lang="zh-CN" altLang="en-US"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6152" name="文本框 32"/>
            <p:cNvSpPr txBox="1"/>
            <p:nvPr/>
          </p:nvSpPr>
          <p:spPr>
            <a:xfrm>
              <a:off x="3046895" y="3709320"/>
              <a:ext cx="2944046" cy="379133"/>
            </a:xfrm>
            <a:prstGeom prst="rect">
              <a:avLst/>
            </a:prstGeom>
            <a:noFill/>
            <a:ln w="9525">
              <a:noFill/>
            </a:ln>
          </p:spPr>
          <p:txBody>
            <a:bodyPr wrap="square">
              <a:spAutoFit/>
            </a:bodyPr>
            <a:lstStyle/>
            <a:p>
              <a:pPr marR="0" algn="ctr" defTabSz="1028700">
                <a:lnSpc>
                  <a:spcPct val="125000"/>
                </a:lnSpc>
                <a:buClrTx/>
                <a:buSzTx/>
                <a:buFont typeface="Arial" panose="020B0604020202020204" pitchFamily="34" charset="0"/>
                <a:buNone/>
                <a:defRPr/>
              </a:pPr>
              <a:r>
                <a:rPr kumimoji="0" lang="en-US"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rPr>
                <a:t>Class and Object(3)</a:t>
              </a:r>
              <a:endParaRPr kumimoji="0" lang="en-US"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endParaRPr>
            </a:p>
          </p:txBody>
        </p:sp>
      </p:grpSp>
      <p:sp>
        <p:nvSpPr>
          <p:cNvPr id="13" name="椭圆 12"/>
          <p:cNvSpPr/>
          <p:nvPr/>
        </p:nvSpPr>
        <p:spPr>
          <a:xfrm>
            <a:off x="915988" y="3074988"/>
            <a:ext cx="3167063" cy="1082675"/>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Impact" panose="020B0806030902050204" pitchFamily="34" charset="0"/>
              <a:ea typeface="+mn-ea"/>
              <a:cs typeface="+mn-cs"/>
            </a:endParaRPr>
          </a:p>
        </p:txBody>
      </p:sp>
      <p:sp>
        <p:nvSpPr>
          <p:cNvPr id="7" name="椭圆 6"/>
          <p:cNvSpPr/>
          <p:nvPr/>
        </p:nvSpPr>
        <p:spPr>
          <a:xfrm>
            <a:off x="1025525" y="3197225"/>
            <a:ext cx="2952750" cy="842963"/>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r>
              <a:rPr lang="en-US" altLang="zh-CN" sz="4400">
                <a:ln>
                  <a:noFill/>
                </a:ln>
                <a:effectLst/>
                <a:uLnTx/>
                <a:uFillTx/>
                <a:latin typeface="Felix Titling" panose="04060505060202020A04" pitchFamily="82" charset="0"/>
                <a:sym typeface="+mn-ea"/>
              </a:rPr>
              <a:t>Java</a:t>
            </a:r>
            <a:endParaRPr kumimoji="0" lang="en-US" altLang="zh-CN" sz="4400" b="0" i="0" u="none" strike="noStrike" kern="1200" cap="none" spc="0" normalizeH="0" baseline="0" noProof="1">
              <a:ln>
                <a:noFill/>
              </a:ln>
              <a:solidFill>
                <a:schemeClr val="lt1"/>
              </a:solidFill>
              <a:effectLst/>
              <a:uLnTx/>
              <a:uFillTx/>
              <a:latin typeface="Felix Titling" panose="04060505060202020A04" pitchFamily="82" charset="0"/>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p:txBody>
          <a:bodyPr wrap="square" lIns="102870" tIns="51435" rIns="102870" bIns="51435" anchor="ctr"/>
          <a:p>
            <a:pPr defTabSz="1028700">
              <a:buFont typeface="Arial" panose="020B0604020202020204" pitchFamily="34" charset="0"/>
            </a:pP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主要内容</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122" name="Rectangle 3"/>
          <p:cNvSpPr>
            <a:spLocks noGrp="1"/>
          </p:cNvSpPr>
          <p:nvPr>
            <p:ph idx="1"/>
          </p:nvPr>
        </p:nvSpPr>
        <p:spPr/>
        <p:txBody>
          <a:bodyPr wrap="square" lIns="103584" tIns="51793" rIns="103584" bIns="51793" anchor="t"/>
          <a:p>
            <a:pPr marL="609600" indent="-609600" eaLnBrk="1" hangingPunct="1">
              <a:lnSpc>
                <a:spcPct val="140000"/>
              </a:lnSpc>
              <a:buSzPct val="90000"/>
              <a:buFont typeface="Wingdings" panose="05000000000000000000" pitchFamily="2" charset="2"/>
              <a:buAutoNum type="arabicPeriod"/>
            </a:pPr>
            <a:r>
              <a:rPr lang="zh-CN" altLang="en-US" dirty="0" smtClean="0">
                <a:sym typeface="+mn-ea"/>
              </a:rPr>
              <a:t>内部类</a:t>
            </a:r>
            <a:endParaRPr lang="zh-CN" altLang="en-US" dirty="0" smtClean="0">
              <a:sym typeface="+mn-ea"/>
            </a:endParaRPr>
          </a:p>
          <a:p>
            <a:pPr marL="609600" indent="-609600" eaLnBrk="1" hangingPunct="1">
              <a:lnSpc>
                <a:spcPct val="140000"/>
              </a:lnSpc>
              <a:buSzPct val="90000"/>
              <a:buFont typeface="Wingdings" panose="05000000000000000000" pitchFamily="2" charset="2"/>
              <a:buAutoNum type="arabicPeriod"/>
            </a:pPr>
            <a:r>
              <a:rPr lang="zh-CN" altLang="en-US" dirty="0" smtClean="0">
                <a:sym typeface="+mn-ea"/>
              </a:rPr>
              <a:t>原始数据类型的</a:t>
            </a:r>
            <a:r>
              <a:rPr lang="zh-CN" altLang="en-US" dirty="0" smtClean="0">
                <a:sym typeface="+mn-ea"/>
              </a:rPr>
              <a:t>封装类</a:t>
            </a:r>
            <a:endParaRPr lang="zh-CN" altLang="en-US" dirty="0" smtClean="0">
              <a:sym typeface="+mn-ea"/>
            </a:endParaRPr>
          </a:p>
          <a:p>
            <a:pPr marL="609600" indent="-609600" eaLnBrk="1" hangingPunct="1">
              <a:lnSpc>
                <a:spcPct val="140000"/>
              </a:lnSpc>
              <a:buSzPct val="90000"/>
              <a:buFont typeface="Wingdings" panose="05000000000000000000" pitchFamily="2" charset="2"/>
              <a:buAutoNum type="arabicPeriod"/>
            </a:pPr>
            <a:r>
              <a:rPr lang="zh-CN" altLang="en-US" dirty="0" smtClean="0">
                <a:sym typeface="+mn-ea"/>
              </a:rPr>
              <a:t>常用</a:t>
            </a:r>
            <a:r>
              <a:rPr lang="zh-CN" altLang="en-US" dirty="0" smtClean="0">
                <a:sym typeface="+mn-ea"/>
              </a:rPr>
              <a:t>类</a:t>
            </a:r>
            <a:endParaRPr lang="zh-CN" altLang="en-US" dirty="0" smtClean="0"/>
          </a:p>
          <a:p>
            <a:pPr marL="609600" indent="-609600" eaLnBrk="1" hangingPunct="1">
              <a:lnSpc>
                <a:spcPct val="140000"/>
              </a:lnSpc>
              <a:buSzPct val="90000"/>
              <a:buFont typeface="Wingdings" panose="05000000000000000000" pitchFamily="2" charset="2"/>
              <a:buAutoNum type="arabicPeriod"/>
            </a:pP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5000"/>
              </a:lnSpc>
              <a:spcBef>
                <a:spcPct val="15000"/>
              </a:spcBef>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pic>
        <p:nvPicPr>
          <p:cNvPr id="15363" name="图片 8" descr="java_duke.png"/>
          <p:cNvPicPr>
            <a:picLocks noChangeAspect="1"/>
          </p:cNvPicPr>
          <p:nvPr/>
        </p:nvPicPr>
        <p:blipFill>
          <a:blip r:embed="rId1"/>
          <a:stretch>
            <a:fillRect/>
          </a:stretch>
        </p:blipFill>
        <p:spPr>
          <a:xfrm>
            <a:off x="6772910" y="1553845"/>
            <a:ext cx="2550795" cy="459295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201168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内部类</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38125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[1]</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a:t>内部类</a:t>
            </a:r>
            <a:endParaRPr lang="zh-CN" altLang="en-US"/>
          </a:p>
        </p:txBody>
      </p:sp>
      <p:sp>
        <p:nvSpPr>
          <p:cNvPr id="6" name="内容占位符 5"/>
          <p:cNvSpPr>
            <a:spLocks noGrp="1"/>
          </p:cNvSpPr>
          <p:nvPr>
            <p:ph idx="1"/>
          </p:nvPr>
        </p:nvSpPr>
        <p:spPr/>
        <p:txBody>
          <a:bodyPr/>
          <a:p>
            <a:pPr>
              <a:lnSpc>
                <a:spcPct val="150000"/>
              </a:lnSpc>
              <a:buClr>
                <a:srgbClr val="000000"/>
              </a:buClr>
            </a:pPr>
            <a:r>
              <a:rPr lang="zh-CN" altLang="en-US" sz="2800">
                <a:cs typeface="微软雅黑" panose="020B0503020204020204" pitchFamily="34" charset="-122"/>
                <a:sym typeface="+mn-ea"/>
              </a:rPr>
              <a:t>在类中定义的类称为内部类，分为静态内部类</a:t>
            </a:r>
            <a:r>
              <a:rPr lang="en-US" altLang="zh-CN" sz="2800">
                <a:cs typeface="微软雅黑" panose="020B0503020204020204" pitchFamily="34" charset="-122"/>
                <a:sym typeface="+mn-ea"/>
              </a:rPr>
              <a:t>/</a:t>
            </a:r>
            <a:r>
              <a:rPr lang="zh-CN" altLang="en-US" sz="2800">
                <a:cs typeface="微软雅黑" panose="020B0503020204020204" pitchFamily="34" charset="-122"/>
                <a:sym typeface="+mn-ea"/>
              </a:rPr>
              <a:t>成员</a:t>
            </a:r>
            <a:r>
              <a:rPr lang="zh-CN" altLang="en-US" sz="2800">
                <a:cs typeface="微软雅黑" panose="020B0503020204020204" pitchFamily="34" charset="-122"/>
                <a:sym typeface="+mn-ea"/>
              </a:rPr>
              <a:t>内部类</a:t>
            </a:r>
            <a:endParaRPr lang="zh-CN" altLang="en-US" sz="2800">
              <a:cs typeface="微软雅黑" panose="020B0503020204020204" pitchFamily="34" charset="-122"/>
            </a:endParaRPr>
          </a:p>
          <a:p>
            <a:pPr>
              <a:lnSpc>
                <a:spcPct val="150000"/>
              </a:lnSpc>
              <a:buClr>
                <a:srgbClr val="000000"/>
              </a:buClr>
            </a:pPr>
            <a:r>
              <a:rPr lang="zh-CN" altLang="en-US" sz="2800">
                <a:cs typeface="微软雅黑" panose="020B0503020204020204" pitchFamily="34" charset="-122"/>
                <a:sym typeface="+mn-ea"/>
              </a:rPr>
              <a:t>内部类之外的类称为外部类。 </a:t>
            </a:r>
            <a:endParaRPr lang="zh-CN" altLang="en-US" sz="2800">
              <a:cs typeface="微软雅黑" panose="020B0503020204020204" pitchFamily="34" charset="-122"/>
            </a:endParaRPr>
          </a:p>
          <a:p>
            <a:pPr>
              <a:lnSpc>
                <a:spcPct val="150000"/>
              </a:lnSpc>
              <a:buClr>
                <a:srgbClr val="000000"/>
              </a:buClr>
            </a:pPr>
            <a:r>
              <a:rPr lang="zh-CN" altLang="en-US" sz="2800">
                <a:cs typeface="微软雅黑" panose="020B0503020204020204" pitchFamily="34" charset="-122"/>
                <a:sym typeface="+mn-ea"/>
              </a:rPr>
              <a:t>内部类完全在其包围类的范围之内。</a:t>
            </a:r>
            <a:endParaRPr lang="zh-CN" altLang="en-US" sz="2800">
              <a:cs typeface="微软雅黑" panose="020B0503020204020204" pitchFamily="34" charset="-122"/>
              <a:sym typeface="+mn-ea"/>
            </a:endParaRPr>
          </a:p>
          <a:p>
            <a:pPr>
              <a:lnSpc>
                <a:spcPct val="150000"/>
              </a:lnSpc>
              <a:buClr>
                <a:srgbClr val="000000"/>
              </a:buClr>
            </a:pPr>
            <a:r>
              <a:rPr lang="zh-CN" altLang="en-US" sz="2800">
                <a:cs typeface="微软雅黑" panose="020B0503020204020204" pitchFamily="34" charset="-122"/>
                <a:sym typeface="+mn-ea"/>
              </a:rPr>
              <a:t>内部类可以使用</a:t>
            </a:r>
            <a:r>
              <a:rPr lang="en-US" altLang="zh-CN" sz="2800">
                <a:cs typeface="微软雅黑" panose="020B0503020204020204" pitchFamily="34" charset="-122"/>
                <a:sym typeface="+mn-ea"/>
              </a:rPr>
              <a:t>private</a:t>
            </a:r>
            <a:r>
              <a:rPr lang="zh-CN" altLang="en-US" sz="2800">
                <a:cs typeface="微软雅黑" panose="020B0503020204020204" pitchFamily="34" charset="-122"/>
                <a:sym typeface="+mn-ea"/>
              </a:rPr>
              <a:t>修饰</a:t>
            </a:r>
            <a:endParaRPr lang="zh-CN" altLang="en-US" sz="2800">
              <a:cs typeface="微软雅黑" panose="020B0503020204020204" pitchFamily="34" charset="-122"/>
            </a:endParaRPr>
          </a:p>
          <a:p>
            <a:pPr>
              <a:buNone/>
            </a:pPr>
            <a:endParaRPr lang="zh-CN" altLang="en-US" sz="2800">
              <a:cs typeface="微软雅黑" panose="020B0503020204020204" pitchFamily="34" charset="-122"/>
            </a:endParaRPr>
          </a:p>
        </p:txBody>
      </p:sp>
    </p:spTree>
    <p:custDataLst>
      <p:tags r:id="rId1"/>
    </p:custDataLst>
  </p:cSld>
  <p:clrMapOvr>
    <a:masterClrMapping/>
  </p:clrMapOvr>
  <p:transition spd="slow">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a:t>静态内部类</a:t>
            </a:r>
            <a:endParaRPr lang="zh-CN" altLang="en-US"/>
          </a:p>
        </p:txBody>
      </p:sp>
      <p:sp>
        <p:nvSpPr>
          <p:cNvPr id="6" name="内容占位符 5"/>
          <p:cNvSpPr>
            <a:spLocks noGrp="1"/>
          </p:cNvSpPr>
          <p:nvPr>
            <p:ph idx="1"/>
          </p:nvPr>
        </p:nvSpPr>
        <p:spPr>
          <a:xfrm>
            <a:off x="22860" y="1395730"/>
            <a:ext cx="4915535" cy="4751070"/>
          </a:xfrm>
        </p:spPr>
        <p:txBody>
          <a:bodyPr/>
          <a:p>
            <a:pPr>
              <a:lnSpc>
                <a:spcPct val="150000"/>
              </a:lnSpc>
              <a:buClr>
                <a:srgbClr val="000000"/>
              </a:buClr>
            </a:pPr>
            <a:r>
              <a:rPr sz="2800">
                <a:cs typeface="微软雅黑" panose="020B0503020204020204" pitchFamily="34" charset="-122"/>
                <a:sym typeface="+mn-ea"/>
              </a:rPr>
              <a:t>static修饰</a:t>
            </a:r>
            <a:r>
              <a:rPr lang="zh-CN" sz="2800">
                <a:cs typeface="微软雅黑" panose="020B0503020204020204" pitchFamily="34" charset="-122"/>
                <a:sym typeface="+mn-ea"/>
              </a:rPr>
              <a:t>的</a:t>
            </a:r>
            <a:r>
              <a:rPr sz="2800">
                <a:cs typeface="微软雅黑" panose="020B0503020204020204" pitchFamily="34" charset="-122"/>
                <a:sym typeface="+mn-ea"/>
              </a:rPr>
              <a:t>内部类</a:t>
            </a:r>
            <a:endParaRPr sz="2800">
              <a:cs typeface="微软雅黑" panose="020B0503020204020204" pitchFamily="34" charset="-122"/>
              <a:sym typeface="+mn-ea"/>
            </a:endParaRPr>
          </a:p>
          <a:p>
            <a:pPr lvl="1">
              <a:lnSpc>
                <a:spcPct val="150000"/>
              </a:lnSpc>
              <a:buClr>
                <a:srgbClr val="000000"/>
              </a:buClr>
            </a:pPr>
            <a:r>
              <a:rPr lang="zh-CN" sz="2000">
                <a:cs typeface="微软雅黑" panose="020B0503020204020204" pitchFamily="34" charset="-122"/>
                <a:sym typeface="+mn-ea"/>
              </a:rPr>
              <a:t>编译为</a:t>
            </a:r>
            <a:r>
              <a:rPr sz="2000">
                <a:cs typeface="微软雅黑" panose="020B0503020204020204" pitchFamily="34" charset="-122"/>
                <a:sym typeface="+mn-ea"/>
              </a:rPr>
              <a:t>外部类名 + $ + 内部类名</a:t>
            </a:r>
            <a:endParaRPr sz="2450">
              <a:cs typeface="微软雅黑" panose="020B0503020204020204" pitchFamily="34" charset="-122"/>
              <a:sym typeface="+mn-ea"/>
            </a:endParaRPr>
          </a:p>
          <a:p>
            <a:pPr lvl="1">
              <a:lnSpc>
                <a:spcPct val="150000"/>
              </a:lnSpc>
              <a:buClr>
                <a:srgbClr val="000000"/>
              </a:buClr>
            </a:pPr>
            <a:r>
              <a:rPr sz="2000">
                <a:cs typeface="微软雅黑" panose="020B0503020204020204" pitchFamily="34" charset="-122"/>
                <a:sym typeface="+mn-ea"/>
              </a:rPr>
              <a:t>可以定义</a:t>
            </a:r>
            <a:r>
              <a:rPr lang="zh-CN" sz="2000">
                <a:cs typeface="微软雅黑" panose="020B0503020204020204" pitchFamily="34" charset="-122"/>
                <a:sym typeface="+mn-ea"/>
              </a:rPr>
              <a:t>构造函数，</a:t>
            </a:r>
            <a:r>
              <a:rPr sz="2000">
                <a:cs typeface="微软雅黑" panose="020B0503020204020204" pitchFamily="34" charset="-122"/>
                <a:sym typeface="+mn-ea"/>
              </a:rPr>
              <a:t>静态属性，静态方法，实例属性，实例方法</a:t>
            </a:r>
            <a:endParaRPr sz="2000">
              <a:cs typeface="微软雅黑" panose="020B0503020204020204" pitchFamily="34" charset="-122"/>
              <a:sym typeface="+mn-ea"/>
            </a:endParaRPr>
          </a:p>
          <a:p>
            <a:pPr lvl="1">
              <a:lnSpc>
                <a:spcPct val="150000"/>
              </a:lnSpc>
              <a:buClr>
                <a:srgbClr val="000000"/>
              </a:buClr>
            </a:pPr>
            <a:r>
              <a:rPr lang="zh-CN" sz="2000">
                <a:cs typeface="微软雅黑" panose="020B0503020204020204" pitchFamily="34" charset="-122"/>
                <a:sym typeface="+mn-ea"/>
              </a:rPr>
              <a:t>可直接访问外部类的静态变量，不可访问成员变量</a:t>
            </a:r>
            <a:endParaRPr lang="zh-CN" sz="2000">
              <a:cs typeface="微软雅黑" panose="020B0503020204020204" pitchFamily="34" charset="-122"/>
              <a:sym typeface="+mn-ea"/>
            </a:endParaRPr>
          </a:p>
          <a:p>
            <a:pPr lvl="1">
              <a:lnSpc>
                <a:spcPct val="150000"/>
              </a:lnSpc>
              <a:buClr>
                <a:srgbClr val="000000"/>
              </a:buClr>
            </a:pPr>
            <a:r>
              <a:rPr lang="zh-CN" sz="2000">
                <a:cs typeface="微软雅黑" panose="020B0503020204020204" pitchFamily="34" charset="-122"/>
                <a:sym typeface="+mn-ea"/>
              </a:rPr>
              <a:t>外部类需要构造内部类实例访问内部类的成员变量和方法</a:t>
            </a:r>
            <a:endParaRPr lang="zh-CN" sz="2000">
              <a:cs typeface="微软雅黑" panose="020B0503020204020204" pitchFamily="34" charset="-122"/>
              <a:sym typeface="+mn-ea"/>
            </a:endParaRPr>
          </a:p>
          <a:p>
            <a:pPr lvl="1">
              <a:lnSpc>
                <a:spcPct val="150000"/>
              </a:lnSpc>
              <a:buClr>
                <a:srgbClr val="000000"/>
              </a:buClr>
            </a:pPr>
            <a:r>
              <a:rPr lang="zh-CN" sz="2000">
                <a:cs typeface="微软雅黑" panose="020B0503020204020204" pitchFamily="34" charset="-122"/>
                <a:sym typeface="+mn-ea"/>
              </a:rPr>
              <a:t>可以直接通过内部类名称进行构造</a:t>
            </a:r>
            <a:endParaRPr sz="2000">
              <a:cs typeface="微软雅黑" panose="020B0503020204020204" pitchFamily="34" charset="-122"/>
              <a:sym typeface="+mn-ea"/>
            </a:endParaRPr>
          </a:p>
          <a:p>
            <a:pPr>
              <a:buNone/>
            </a:pPr>
            <a:endParaRPr lang="zh-CN" altLang="en-US" sz="2000">
              <a:cs typeface="微软雅黑" panose="020B0503020204020204" pitchFamily="34" charset="-122"/>
              <a:sym typeface="+mn-ea"/>
            </a:endParaRPr>
          </a:p>
        </p:txBody>
      </p:sp>
      <p:sp>
        <p:nvSpPr>
          <p:cNvPr id="100" name="文本框 99"/>
          <p:cNvSpPr txBox="1"/>
          <p:nvPr/>
        </p:nvSpPr>
        <p:spPr>
          <a:xfrm>
            <a:off x="5064125" y="1104265"/>
            <a:ext cx="5672455" cy="3538220"/>
          </a:xfrm>
          <a:prstGeom prst="rect">
            <a:avLst/>
          </a:prstGeom>
          <a:noFill/>
          <a:ln w="9525">
            <a:noFill/>
          </a:ln>
        </p:spPr>
        <p:txBody>
          <a:bodyPr wrap="square">
            <a:spAutoFit/>
          </a:bodyPr>
          <a:p>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class</a:t>
            </a:r>
            <a:r>
              <a:rPr lang="en-US" sz="1600">
                <a:solidFill>
                  <a:srgbClr val="000000"/>
                </a:solidFill>
                <a:latin typeface="Consolas" panose="020B0609020204030204" charset="0"/>
                <a:ea typeface="宋体" panose="02010600030101010101" pitchFamily="2" charset="-122"/>
              </a:rPr>
              <a:t> </a:t>
            </a:r>
            <a:r>
              <a:rPr lang="en-US" sz="1600" u="sng">
                <a:solidFill>
                  <a:srgbClr val="000000"/>
                </a:solidFill>
                <a:latin typeface="Consolas" panose="020B0609020204030204" charset="0"/>
                <a:ea typeface="宋体" panose="02010600030101010101" pitchFamily="2" charset="-122"/>
              </a:rPr>
              <a:t>OuterClass</a:t>
            </a:r>
            <a:r>
              <a:rPr lang="en-US" sz="1600">
                <a:solidFill>
                  <a:srgbClr val="000000"/>
                </a:solidFill>
                <a:latin typeface="Consolas" panose="020B0609020204030204" charset="0"/>
                <a:ea typeface="宋体" panose="02010600030101010101" pitchFamily="2" charset="-122"/>
              </a:rPr>
              <a:t> {    </a:t>
            </a:r>
            <a:r>
              <a:rPr lang="en-US" sz="1600" b="1">
                <a:solidFill>
                  <a:srgbClr val="7F0055"/>
                </a:solidFill>
                <a:latin typeface="Consolas" panose="020B0609020204030204" charset="0"/>
                <a:ea typeface="宋体" panose="02010600030101010101" pitchFamily="2" charset="-122"/>
              </a:rPr>
              <a:t>private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String </a:t>
            </a:r>
            <a:r>
              <a:rPr lang="en-US" sz="1600" i="1">
                <a:solidFill>
                  <a:srgbClr val="0000C0"/>
                </a:solidFill>
                <a:latin typeface="Consolas" panose="020B0609020204030204" charset="0"/>
                <a:ea typeface="宋体" panose="02010600030101010101" pitchFamily="2" charset="-122"/>
              </a:rPr>
              <a:t>name</a:t>
            </a:r>
            <a:r>
              <a:rPr lang="en-US" sz="1600">
                <a:solidFill>
                  <a:srgbClr val="000000"/>
                </a:solidFill>
                <a:latin typeface="Consolas" panose="020B0609020204030204" charset="0"/>
                <a:ea typeface="宋体" panose="02010600030101010101" pitchFamily="2" charset="-122"/>
              </a:rPr>
              <a:t> = </a:t>
            </a:r>
            <a:r>
              <a:rPr lang="en-US" sz="1600">
                <a:solidFill>
                  <a:srgbClr val="2A00FF"/>
                </a:solidFill>
                <a:latin typeface="Consolas" panose="020B0609020204030204" charset="0"/>
                <a:ea typeface="宋体" panose="02010600030101010101" pitchFamily="2" charset="-122"/>
              </a:rPr>
              <a:t>"hello world"</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private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int</a:t>
            </a:r>
            <a:r>
              <a:rPr lang="en-US" sz="1600">
                <a:solidFill>
                  <a:srgbClr val="000000"/>
                </a:solidFill>
                <a:latin typeface="Consolas" panose="020B0609020204030204" charset="0"/>
                <a:ea typeface="宋体" panose="02010600030101010101" pitchFamily="2" charset="-122"/>
              </a:rPr>
              <a:t> </a:t>
            </a:r>
            <a:r>
              <a:rPr lang="en-US" sz="1600">
                <a:solidFill>
                  <a:srgbClr val="0000C0"/>
                </a:solidFill>
                <a:latin typeface="Consolas" panose="020B0609020204030204" charset="0"/>
                <a:ea typeface="宋体" panose="02010600030101010101" pitchFamily="2" charset="-122"/>
              </a:rPr>
              <a:t>age</a:t>
            </a:r>
            <a:r>
              <a:rPr lang="en-US" sz="1600">
                <a:solidFill>
                  <a:srgbClr val="000000"/>
                </a:solidFill>
                <a:latin typeface="Consolas" panose="020B0609020204030204" charset="0"/>
                <a:ea typeface="宋体" panose="02010600030101010101" pitchFamily="2" charset="-122"/>
              </a:rPr>
              <a:t> = 23;</a:t>
            </a:r>
            <a:r>
              <a:rPr lang="en-US" sz="1600">
                <a:latin typeface="Consolas" panose="020B0609020204030204" charset="0"/>
                <a:ea typeface="宋体" panose="02010600030101010101" pitchFamily="2" charset="-122"/>
              </a:rPr>
              <a:t> </a:t>
            </a:r>
            <a:r>
              <a:rPr lang="zh-CN" sz="1600">
                <a:solidFill>
                  <a:srgbClr val="3F7F5F"/>
                </a:solidFill>
                <a:sym typeface="+mn-ea"/>
              </a:rPr>
              <a:t>//编译为</a:t>
            </a:r>
            <a:r>
              <a:rPr lang="en-US" altLang="zh-CN" sz="1600">
                <a:solidFill>
                  <a:srgbClr val="3F7F5F"/>
                </a:solidFill>
                <a:sym typeface="+mn-ea"/>
              </a:rPr>
              <a:t>OuterClass$MyInnerClass.class</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class</a:t>
            </a:r>
            <a:r>
              <a:rPr lang="en-US" sz="1600">
                <a:solidFill>
                  <a:srgbClr val="000000"/>
                </a:solidFill>
                <a:latin typeface="Consolas" panose="020B0609020204030204" charset="0"/>
                <a:ea typeface="宋体" panose="02010600030101010101" pitchFamily="2" charset="-122"/>
              </a:rPr>
              <a:t> MyInnerClass{        </a:t>
            </a:r>
            <a:r>
              <a:rPr lang="en-US" sz="1600" b="1">
                <a:solidFill>
                  <a:srgbClr val="7F0055"/>
                </a:solidFill>
                <a:latin typeface="Consolas" panose="020B0609020204030204" charset="0"/>
                <a:ea typeface="宋体" panose="02010600030101010101" pitchFamily="2" charset="-122"/>
              </a:rPr>
              <a:t>private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String </a:t>
            </a:r>
            <a:r>
              <a:rPr lang="en-US" sz="1600" i="1">
                <a:solidFill>
                  <a:srgbClr val="0000C0"/>
                </a:solidFill>
                <a:latin typeface="Consolas" panose="020B0609020204030204" charset="0"/>
                <a:ea typeface="宋体" panose="02010600030101010101" pitchFamily="2" charset="-122"/>
              </a:rPr>
              <a:t>myName</a:t>
            </a:r>
            <a:r>
              <a:rPr lang="en-US" sz="1600">
                <a:solidFill>
                  <a:srgbClr val="000000"/>
                </a:solidFill>
                <a:latin typeface="Consolas" panose="020B0609020204030204" charset="0"/>
                <a:ea typeface="宋体" panose="02010600030101010101" pitchFamily="2" charset="-122"/>
              </a:rPr>
              <a:t> = </a:t>
            </a:r>
            <a:r>
              <a:rPr lang="en-US" sz="1600">
                <a:solidFill>
                  <a:srgbClr val="2A00FF"/>
                </a:solidFill>
                <a:latin typeface="Consolas" panose="020B0609020204030204" charset="0"/>
                <a:ea typeface="宋体" panose="02010600030101010101" pitchFamily="2" charset="-122"/>
              </a:rPr>
              <a:t>"single"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private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int</a:t>
            </a:r>
            <a:r>
              <a:rPr lang="en-US" sz="1600">
                <a:solidFill>
                  <a:srgbClr val="000000"/>
                </a:solidFill>
                <a:latin typeface="Consolas" panose="020B0609020204030204" charset="0"/>
                <a:ea typeface="宋体" panose="02010600030101010101" pitchFamily="2" charset="-122"/>
              </a:rPr>
              <a:t> </a:t>
            </a:r>
            <a:r>
              <a:rPr lang="en-US" sz="1600">
                <a:solidFill>
                  <a:srgbClr val="0000C0"/>
                </a:solidFill>
                <a:latin typeface="Consolas" panose="020B0609020204030204" charset="0"/>
                <a:ea typeface="宋体" panose="02010600030101010101" pitchFamily="2" charset="-122"/>
              </a:rPr>
              <a:t>myAge</a:t>
            </a:r>
            <a:r>
              <a:rPr lang="en-US" sz="1600">
                <a:solidFill>
                  <a:srgbClr val="000000"/>
                </a:solidFill>
                <a:latin typeface="Consolas" panose="020B0609020204030204" charset="0"/>
                <a:ea typeface="宋体" panose="02010600030101010101" pitchFamily="2" charset="-122"/>
              </a:rPr>
              <a:t> = 23;</a:t>
            </a:r>
            <a:r>
              <a:rPr lang="en-US" sz="1600">
                <a:latin typeface="Consolas" panose="020B0609020204030204" charset="0"/>
                <a:ea typeface="宋体" panose="02010600030101010101" pitchFamily="2" charset="-122"/>
              </a:rPr>
              <a:t> </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void</a:t>
            </a:r>
            <a:r>
              <a:rPr lang="en-US" sz="1600">
                <a:solidFill>
                  <a:srgbClr val="000000"/>
                </a:solidFill>
                <a:latin typeface="Consolas" panose="020B0609020204030204" charset="0"/>
                <a:ea typeface="宋体" panose="02010600030101010101" pitchFamily="2" charset="-122"/>
              </a:rPr>
              <a:t> sayHello(){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i="1">
                <a:solidFill>
                  <a:srgbClr val="0000C0"/>
                </a:solidFill>
                <a:latin typeface="Consolas" panose="020B0609020204030204" charset="0"/>
                <a:ea typeface="宋体" panose="02010600030101010101" pitchFamily="2" charset="-122"/>
              </a:rPr>
              <a:t>name</a:t>
            </a:r>
            <a:r>
              <a:rPr lang="en-US" sz="1600">
                <a:solidFill>
                  <a:srgbClr val="000000"/>
                </a:solidFill>
                <a:latin typeface="Consolas" panose="020B0609020204030204" charset="0"/>
                <a:ea typeface="宋体" panose="02010600030101010101" pitchFamily="2" charset="-122"/>
              </a:rPr>
              <a:t>);            </a:t>
            </a:r>
            <a:r>
              <a:rPr lang="zh-CN" sz="1600">
                <a:solidFill>
                  <a:srgbClr val="3F7F5F"/>
                </a:solidFill>
                <a:ea typeface="宋体" panose="02010600030101010101" pitchFamily="2" charset="-122"/>
              </a:rPr>
              <a:t>//编译器报错提示：不可访问的字段 age</a:t>
            </a: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u="sng">
                <a:solidFill>
                  <a:srgbClr val="0000C0"/>
                </a:solidFill>
                <a:latin typeface="Consolas" panose="020B0609020204030204" charset="0"/>
                <a:ea typeface="宋体" panose="02010600030101010101" pitchFamily="2" charset="-122"/>
              </a:rPr>
              <a:t>age</a:t>
            </a:r>
            <a:r>
              <a:rPr lang="en-US" sz="1600">
                <a:solidFill>
                  <a:srgbClr val="000000"/>
                </a:solidFill>
                <a:latin typeface="Consolas" panose="020B0609020204030204" charset="0"/>
                <a:ea typeface="宋体" panose="02010600030101010101" pitchFamily="2" charset="-122"/>
              </a:rPr>
              <a:t>);        }    }}</a:t>
            </a:r>
            <a:endParaRPr lang="en-US" altLang="en-US" sz="1600">
              <a:solidFill>
                <a:srgbClr val="000000"/>
              </a:solidFill>
              <a:latin typeface="Consolas" panose="020B0609020204030204" charset="0"/>
              <a:ea typeface="宋体" panose="02010600030101010101" pitchFamily="2" charset="-122"/>
            </a:endParaRPr>
          </a:p>
        </p:txBody>
      </p:sp>
      <p:sp>
        <p:nvSpPr>
          <p:cNvPr id="7" name="文本框 6"/>
          <p:cNvSpPr txBox="1"/>
          <p:nvPr/>
        </p:nvSpPr>
        <p:spPr>
          <a:xfrm>
            <a:off x="4897755" y="4642485"/>
            <a:ext cx="5763260" cy="2061210"/>
          </a:xfrm>
          <a:prstGeom prst="rect">
            <a:avLst/>
          </a:prstGeom>
          <a:noFill/>
          <a:ln w="9525">
            <a:noFill/>
          </a:ln>
        </p:spPr>
        <p:txBody>
          <a:bodyPr wrap="square">
            <a:spAutoFit/>
          </a:bodyPr>
          <a:p>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class</a:t>
            </a:r>
            <a:r>
              <a:rPr lang="en-US" sz="1600">
                <a:solidFill>
                  <a:srgbClr val="000000"/>
                </a:solidFill>
                <a:latin typeface="Consolas" panose="020B0609020204030204" charset="0"/>
                <a:ea typeface="宋体" panose="02010600030101010101" pitchFamily="2" charset="-122"/>
              </a:rPr>
              <a:t> InnerTest {	</a:t>
            </a:r>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void</a:t>
            </a:r>
            <a:r>
              <a:rPr lang="en-US" sz="1600">
                <a:solidFill>
                  <a:srgbClr val="000000"/>
                </a:solidFill>
                <a:latin typeface="Consolas" panose="020B0609020204030204" charset="0"/>
                <a:ea typeface="宋体" panose="02010600030101010101" pitchFamily="2" charset="-122"/>
              </a:rPr>
              <a:t> main(String[] </a:t>
            </a:r>
            <a:r>
              <a:rPr lang="en-US" sz="1600">
                <a:solidFill>
                  <a:srgbClr val="6A3E3E"/>
                </a:solidFill>
                <a:latin typeface="Consolas" panose="020B0609020204030204" charset="0"/>
                <a:ea typeface="宋体" panose="02010600030101010101" pitchFamily="2" charset="-122"/>
              </a:rPr>
              <a:t>arg</a:t>
            </a:r>
            <a:r>
              <a:rPr lang="en-US" sz="1600">
                <a:solidFill>
                  <a:srgbClr val="000000"/>
                </a:solidFill>
                <a:latin typeface="Consolas" panose="020B0609020204030204" charset="0"/>
                <a:ea typeface="宋体" panose="02010600030101010101" pitchFamily="2" charset="-122"/>
              </a:rPr>
              <a:t>) {		</a:t>
            </a:r>
            <a:r>
              <a:rPr lang="zh-CN" sz="1600">
                <a:solidFill>
                  <a:srgbClr val="3F7F5F"/>
                </a:solidFill>
                <a:ea typeface="宋体" panose="02010600030101010101" pitchFamily="2" charset="-122"/>
              </a:rPr>
              <a:t>//可以直接通过类构造</a:t>
            </a:r>
            <a:r>
              <a:rPr lang="en-US" sz="1600">
                <a:solidFill>
                  <a:srgbClr val="000000"/>
                </a:solidFill>
                <a:latin typeface="Consolas" panose="020B0609020204030204" charset="0"/>
                <a:ea typeface="宋体" panose="02010600030101010101" pitchFamily="2" charset="-122"/>
              </a:rPr>
              <a:t>		OuterClass.MyInnerClass </a:t>
            </a:r>
            <a:r>
              <a:rPr lang="en-US" sz="1600">
                <a:solidFill>
                  <a:srgbClr val="6A3E3E"/>
                </a:solidFill>
                <a:latin typeface="Consolas" panose="020B0609020204030204" charset="0"/>
                <a:ea typeface="宋体" panose="02010600030101010101" pitchFamily="2" charset="-122"/>
              </a:rPr>
              <a:t>test</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new</a:t>
            </a:r>
            <a:r>
              <a:rPr lang="en-US" sz="1600">
                <a:solidFill>
                  <a:srgbClr val="000000"/>
                </a:solidFill>
                <a:latin typeface="Consolas" panose="020B0609020204030204" charset="0"/>
                <a:ea typeface="宋体" panose="02010600030101010101" pitchFamily="2" charset="-122"/>
              </a:rPr>
              <a:t> OuterClass.MyInnerClass();		</a:t>
            </a:r>
            <a:r>
              <a:rPr lang="en-US" sz="1600">
                <a:solidFill>
                  <a:srgbClr val="6A3E3E"/>
                </a:solidFill>
                <a:highlight>
                  <a:srgbClr val="FFFF00"/>
                </a:highlight>
                <a:latin typeface="Consolas" panose="020B0609020204030204" charset="0"/>
                <a:ea typeface="宋体" panose="02010600030101010101" pitchFamily="2" charset="-122"/>
              </a:rPr>
              <a:t>test</a:t>
            </a:r>
            <a:r>
              <a:rPr lang="en-US" sz="1600">
                <a:solidFill>
                  <a:srgbClr val="000000"/>
                </a:solidFill>
                <a:highlight>
                  <a:srgbClr val="FFFF00"/>
                </a:highlight>
                <a:latin typeface="Consolas" panose="020B0609020204030204" charset="0"/>
                <a:ea typeface="宋体" panose="02010600030101010101" pitchFamily="2" charset="-122"/>
              </a:rPr>
              <a:t>.sayHello();</a:t>
            </a:r>
            <a:r>
              <a:rPr lang="en-US" sz="1600">
                <a:solidFill>
                  <a:srgbClr val="000000"/>
                </a:solidFill>
                <a:latin typeface="Consolas" panose="020B0609020204030204" charset="0"/>
                <a:ea typeface="宋体" panose="02010600030101010101" pitchFamily="2" charset="-122"/>
              </a:rPr>
              <a:t>	}}</a:t>
            </a:r>
            <a:endParaRPr lang="en-US" altLang="en-US" sz="1600">
              <a:solidFill>
                <a:srgbClr val="000000"/>
              </a:solidFill>
              <a:latin typeface="Consolas" panose="020B0609020204030204" charset="0"/>
              <a:ea typeface="宋体" panose="02010600030101010101" pitchFamily="2" charset="-122"/>
            </a:endParaRPr>
          </a:p>
        </p:txBody>
      </p:sp>
    </p:spTree>
    <p:custDataLst>
      <p:tags r:id="rId1"/>
    </p:custDataLst>
  </p:cSld>
  <p:clrMapOvr>
    <a:masterClrMapping/>
  </p:clrMapOvr>
  <p:transition spd="slow">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静态内部类</a:t>
            </a:r>
            <a:r>
              <a:rPr lang="zh-CN" altLang="en-US"/>
              <a:t>应用</a:t>
            </a:r>
            <a:endParaRPr lang="zh-CN" altLang="en-US"/>
          </a:p>
        </p:txBody>
      </p:sp>
      <p:sp>
        <p:nvSpPr>
          <p:cNvPr id="3" name="内容占位符 2"/>
          <p:cNvSpPr>
            <a:spLocks noGrp="1"/>
          </p:cNvSpPr>
          <p:nvPr>
            <p:ph idx="1"/>
          </p:nvPr>
        </p:nvSpPr>
        <p:spPr/>
        <p:txBody>
          <a:bodyPr/>
          <a:p>
            <a:pPr>
              <a:lnSpc>
                <a:spcPct val="130000"/>
              </a:lnSpc>
              <a:spcBef>
                <a:spcPts val="15"/>
              </a:spcBef>
              <a:spcAft>
                <a:spcPts val="0"/>
              </a:spcAft>
            </a:pPr>
            <a:r>
              <a:rPr lang="zh-CN" altLang="en-US" sz="2800"/>
              <a:t>静态内部类不需要依赖外围类的实例，独立于外围类，为外围类提供服务</a:t>
            </a:r>
            <a:endParaRPr lang="zh-CN" altLang="en-US" sz="2800"/>
          </a:p>
          <a:p>
            <a:pPr>
              <a:lnSpc>
                <a:spcPct val="130000"/>
              </a:lnSpc>
              <a:spcBef>
                <a:spcPts val="15"/>
              </a:spcBef>
              <a:spcAft>
                <a:spcPts val="0"/>
              </a:spcAft>
            </a:pPr>
            <a:r>
              <a:rPr lang="zh-CN" altLang="en-US" sz="2800"/>
              <a:t>Integer 类中的 IntegerCache</a:t>
            </a:r>
            <a:br>
              <a:rPr lang="zh-CN" altLang="en-US" sz="2800"/>
            </a:br>
            <a:r>
              <a:rPr lang="zh-CN" altLang="en-US" sz="2400"/>
              <a:t>不需要访问外围类中任何成员，通过内部定义的一些属性和方法为外</a:t>
            </a:r>
            <a:r>
              <a:rPr lang="zh-CN" altLang="en-US" sz="2400"/>
              <a:t>部类提供缓存服务。</a:t>
            </a:r>
            <a:endParaRPr lang="zh-CN" altLang="en-US" sz="2400"/>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pic>
        <p:nvPicPr>
          <p:cNvPr id="5" name="图片 4"/>
          <p:cNvPicPr>
            <a:picLocks noChangeAspect="1"/>
          </p:cNvPicPr>
          <p:nvPr>
            <p:custDataLst>
              <p:tags r:id="rId1"/>
            </p:custDataLst>
          </p:nvPr>
        </p:nvPicPr>
        <p:blipFill>
          <a:blip r:embed="rId2"/>
          <a:stretch>
            <a:fillRect/>
          </a:stretch>
        </p:blipFill>
        <p:spPr>
          <a:xfrm>
            <a:off x="4140200" y="3689985"/>
            <a:ext cx="5553075" cy="2519680"/>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a:t>成员内部类</a:t>
            </a:r>
            <a:endParaRPr lang="zh-CN" altLang="en-US"/>
          </a:p>
        </p:txBody>
      </p:sp>
      <p:sp>
        <p:nvSpPr>
          <p:cNvPr id="6" name="内容占位符 5"/>
          <p:cNvSpPr>
            <a:spLocks noGrp="1"/>
          </p:cNvSpPr>
          <p:nvPr>
            <p:ph idx="1"/>
          </p:nvPr>
        </p:nvSpPr>
        <p:spPr>
          <a:xfrm>
            <a:off x="45085" y="1214755"/>
            <a:ext cx="4915535" cy="4751070"/>
          </a:xfrm>
        </p:spPr>
        <p:txBody>
          <a:bodyPr/>
          <a:p>
            <a:pPr>
              <a:lnSpc>
                <a:spcPct val="150000"/>
              </a:lnSpc>
              <a:buClr>
                <a:srgbClr val="000000"/>
              </a:buClr>
            </a:pPr>
            <a:r>
              <a:rPr lang="zh-CN" sz="2800">
                <a:cs typeface="微软雅黑" panose="020B0503020204020204" pitchFamily="34" charset="-122"/>
                <a:sym typeface="+mn-ea"/>
              </a:rPr>
              <a:t>无</a:t>
            </a:r>
            <a:r>
              <a:rPr sz="2800">
                <a:cs typeface="微软雅黑" panose="020B0503020204020204" pitchFamily="34" charset="-122"/>
                <a:sym typeface="+mn-ea"/>
              </a:rPr>
              <a:t>static修饰</a:t>
            </a:r>
            <a:r>
              <a:rPr lang="zh-CN" sz="2800">
                <a:cs typeface="微软雅黑" panose="020B0503020204020204" pitchFamily="34" charset="-122"/>
                <a:sym typeface="+mn-ea"/>
              </a:rPr>
              <a:t>的</a:t>
            </a:r>
            <a:r>
              <a:rPr sz="2800">
                <a:cs typeface="微软雅黑" panose="020B0503020204020204" pitchFamily="34" charset="-122"/>
                <a:sym typeface="+mn-ea"/>
              </a:rPr>
              <a:t>内部类</a:t>
            </a:r>
            <a:endParaRPr sz="2800">
              <a:cs typeface="微软雅黑" panose="020B0503020204020204" pitchFamily="34" charset="-122"/>
              <a:sym typeface="+mn-ea"/>
            </a:endParaRPr>
          </a:p>
          <a:p>
            <a:pPr lvl="1" algn="l">
              <a:lnSpc>
                <a:spcPct val="135000"/>
              </a:lnSpc>
              <a:spcBef>
                <a:spcPts val="10"/>
              </a:spcBef>
              <a:spcAft>
                <a:spcPts val="0"/>
              </a:spcAft>
              <a:buClr>
                <a:srgbClr val="000000"/>
              </a:buClr>
              <a:buSzTx/>
            </a:pPr>
            <a:r>
              <a:rPr lang="zh-CN" sz="2000">
                <a:cs typeface="微软雅黑" panose="020B0503020204020204" pitchFamily="34" charset="-122"/>
                <a:sym typeface="+mn-ea"/>
              </a:rPr>
              <a:t>可以定义构造函数，实例属性，实例方法</a:t>
            </a:r>
            <a:endParaRPr lang="zh-CN" sz="2000">
              <a:cs typeface="微软雅黑" panose="020B0503020204020204" pitchFamily="34" charset="-122"/>
              <a:sym typeface="+mn-ea"/>
            </a:endParaRPr>
          </a:p>
          <a:p>
            <a:pPr lvl="1">
              <a:lnSpc>
                <a:spcPct val="135000"/>
              </a:lnSpc>
              <a:spcBef>
                <a:spcPts val="10"/>
              </a:spcBef>
              <a:spcAft>
                <a:spcPts val="0"/>
              </a:spcAft>
              <a:buClr>
                <a:srgbClr val="000000"/>
              </a:buClr>
            </a:pPr>
            <a:r>
              <a:rPr lang="zh-CN" sz="2000">
                <a:cs typeface="微软雅黑" panose="020B0503020204020204" pitchFamily="34" charset="-122"/>
                <a:sym typeface="+mn-ea"/>
              </a:rPr>
              <a:t>可以直接访问外部类实例属性和方法</a:t>
            </a:r>
            <a:endParaRPr lang="zh-CN" sz="2000">
              <a:cs typeface="微软雅黑" panose="020B0503020204020204" pitchFamily="34" charset="-122"/>
              <a:sym typeface="+mn-ea"/>
            </a:endParaRPr>
          </a:p>
          <a:p>
            <a:pPr lvl="1">
              <a:lnSpc>
                <a:spcPct val="135000"/>
              </a:lnSpc>
              <a:spcBef>
                <a:spcPts val="10"/>
              </a:spcBef>
              <a:spcAft>
                <a:spcPts val="0"/>
              </a:spcAft>
              <a:buClr>
                <a:srgbClr val="000000"/>
              </a:buClr>
            </a:pPr>
            <a:r>
              <a:rPr lang="zh-CN" sz="2000">
                <a:cs typeface="微软雅黑" panose="020B0503020204020204" pitchFamily="34" charset="-122"/>
                <a:sym typeface="+mn-ea"/>
              </a:rPr>
              <a:t>成员内部类对象一定属于一个所属外部类对象，通过外部类对象进行构造</a:t>
            </a:r>
            <a:endParaRPr lang="zh-CN" sz="2000">
              <a:cs typeface="微软雅黑" panose="020B0503020204020204" pitchFamily="34" charset="-122"/>
              <a:sym typeface="+mn-ea"/>
            </a:endParaRPr>
          </a:p>
          <a:p>
            <a:pPr lvl="1">
              <a:lnSpc>
                <a:spcPct val="135000"/>
              </a:lnSpc>
              <a:spcBef>
                <a:spcPts val="10"/>
              </a:spcBef>
              <a:spcAft>
                <a:spcPts val="0"/>
              </a:spcAft>
              <a:buClr>
                <a:srgbClr val="000000"/>
              </a:buClr>
            </a:pPr>
            <a:r>
              <a:rPr lang="zh-CN" sz="2000">
                <a:highlight>
                  <a:srgbClr val="FFFF00"/>
                </a:highlight>
                <a:cs typeface="微软雅黑" panose="020B0503020204020204" pitchFamily="34" charset="-122"/>
                <a:sym typeface="+mn-ea"/>
              </a:rPr>
              <a:t>内部类对象隐含一个外部类对象</a:t>
            </a:r>
            <a:endParaRPr lang="zh-CN" sz="2000">
              <a:highlight>
                <a:srgbClr val="FFFF00"/>
              </a:highlight>
              <a:cs typeface="微软雅黑" panose="020B0503020204020204" pitchFamily="34" charset="-122"/>
              <a:sym typeface="+mn-ea"/>
            </a:endParaRPr>
          </a:p>
          <a:p>
            <a:pPr lvl="1">
              <a:lnSpc>
                <a:spcPct val="135000"/>
              </a:lnSpc>
              <a:spcBef>
                <a:spcPts val="10"/>
              </a:spcBef>
              <a:spcAft>
                <a:spcPts val="0"/>
              </a:spcAft>
              <a:buClr>
                <a:srgbClr val="000000"/>
              </a:buClr>
            </a:pPr>
            <a:r>
              <a:rPr lang="zh-CN" sz="2000">
                <a:highlight>
                  <a:srgbClr val="FFFF00"/>
                </a:highlight>
                <a:cs typeface="微软雅黑" panose="020B0503020204020204" pitchFamily="34" charset="-122"/>
                <a:sym typeface="+mn-ea"/>
              </a:rPr>
              <a:t>构造函数隐含一个外部类对象</a:t>
            </a:r>
            <a:endParaRPr sz="2000">
              <a:highlight>
                <a:srgbClr val="FFFF00"/>
              </a:highlight>
              <a:cs typeface="微软雅黑" panose="020B0503020204020204" pitchFamily="34" charset="-122"/>
              <a:sym typeface="+mn-ea"/>
            </a:endParaRPr>
          </a:p>
          <a:p>
            <a:pPr>
              <a:buNone/>
            </a:pPr>
            <a:endParaRPr lang="zh-CN" altLang="en-US" sz="2000">
              <a:highlight>
                <a:srgbClr val="FFFF00"/>
              </a:highlight>
              <a:cs typeface="微软雅黑" panose="020B0503020204020204" pitchFamily="34" charset="-122"/>
              <a:sym typeface="+mn-ea"/>
            </a:endParaRPr>
          </a:p>
        </p:txBody>
      </p:sp>
      <p:sp>
        <p:nvSpPr>
          <p:cNvPr id="100" name="文本框 99"/>
          <p:cNvSpPr txBox="1"/>
          <p:nvPr/>
        </p:nvSpPr>
        <p:spPr>
          <a:xfrm>
            <a:off x="5040630" y="1035050"/>
            <a:ext cx="5672455" cy="3538220"/>
          </a:xfrm>
          <a:prstGeom prst="rect">
            <a:avLst/>
          </a:prstGeom>
          <a:noFill/>
          <a:ln w="9525">
            <a:noFill/>
          </a:ln>
        </p:spPr>
        <p:txBody>
          <a:bodyPr wrap="square">
            <a:spAutoFit/>
          </a:bodyPr>
          <a:p>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class</a:t>
            </a:r>
            <a:r>
              <a:rPr lang="en-US" sz="1600">
                <a:solidFill>
                  <a:srgbClr val="000000"/>
                </a:solidFill>
                <a:latin typeface="Consolas" panose="020B0609020204030204" charset="0"/>
                <a:ea typeface="宋体" panose="02010600030101010101" pitchFamily="2" charset="-122"/>
              </a:rPr>
              <a:t> </a:t>
            </a:r>
            <a:r>
              <a:rPr lang="en-US" sz="1600" u="sng">
                <a:solidFill>
                  <a:srgbClr val="000000"/>
                </a:solidFill>
                <a:latin typeface="Consolas" panose="020B0609020204030204" charset="0"/>
                <a:ea typeface="宋体" panose="02010600030101010101" pitchFamily="2" charset="-122"/>
              </a:rPr>
              <a:t>OuterClass</a:t>
            </a:r>
            <a:r>
              <a:rPr lang="en-US" sz="1600">
                <a:solidFill>
                  <a:srgbClr val="000000"/>
                </a:solidFill>
                <a:latin typeface="Consolas" panose="020B0609020204030204" charset="0"/>
                <a:ea typeface="宋体" panose="02010600030101010101" pitchFamily="2" charset="-122"/>
              </a:rPr>
              <a:t> {    </a:t>
            </a:r>
            <a:r>
              <a:rPr lang="en-US" sz="1600" b="1">
                <a:solidFill>
                  <a:srgbClr val="7F0055"/>
                </a:solidFill>
                <a:latin typeface="Consolas" panose="020B0609020204030204" charset="0"/>
                <a:ea typeface="宋体" panose="02010600030101010101" pitchFamily="2" charset="-122"/>
              </a:rPr>
              <a:t>private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String </a:t>
            </a:r>
            <a:r>
              <a:rPr lang="en-US" sz="1600" i="1">
                <a:solidFill>
                  <a:srgbClr val="0000C0"/>
                </a:solidFill>
                <a:latin typeface="Consolas" panose="020B0609020204030204" charset="0"/>
                <a:ea typeface="宋体" panose="02010600030101010101" pitchFamily="2" charset="-122"/>
              </a:rPr>
              <a:t>name</a:t>
            </a:r>
            <a:r>
              <a:rPr lang="en-US" sz="1600">
                <a:solidFill>
                  <a:srgbClr val="000000"/>
                </a:solidFill>
                <a:latin typeface="Consolas" panose="020B0609020204030204" charset="0"/>
                <a:ea typeface="宋体" panose="02010600030101010101" pitchFamily="2" charset="-122"/>
              </a:rPr>
              <a:t> = </a:t>
            </a:r>
            <a:r>
              <a:rPr lang="en-US" sz="1600">
                <a:solidFill>
                  <a:srgbClr val="2A00FF"/>
                </a:solidFill>
                <a:latin typeface="Consolas" panose="020B0609020204030204" charset="0"/>
                <a:ea typeface="宋体" panose="02010600030101010101" pitchFamily="2" charset="-122"/>
              </a:rPr>
              <a:t>"hello world"</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private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int</a:t>
            </a:r>
            <a:r>
              <a:rPr lang="en-US" sz="1600">
                <a:solidFill>
                  <a:srgbClr val="000000"/>
                </a:solidFill>
                <a:latin typeface="Consolas" panose="020B0609020204030204" charset="0"/>
                <a:ea typeface="宋体" panose="02010600030101010101" pitchFamily="2" charset="-122"/>
              </a:rPr>
              <a:t> </a:t>
            </a:r>
            <a:r>
              <a:rPr lang="en-US" sz="1600">
                <a:solidFill>
                  <a:srgbClr val="0000C0"/>
                </a:solidFill>
                <a:latin typeface="Consolas" panose="020B0609020204030204" charset="0"/>
                <a:ea typeface="宋体" panose="02010600030101010101" pitchFamily="2" charset="-122"/>
              </a:rPr>
              <a:t>age</a:t>
            </a:r>
            <a:r>
              <a:rPr lang="en-US" sz="1600">
                <a:solidFill>
                  <a:srgbClr val="000000"/>
                </a:solidFill>
                <a:latin typeface="Consolas" panose="020B0609020204030204" charset="0"/>
                <a:ea typeface="宋体" panose="02010600030101010101" pitchFamily="2" charset="-122"/>
              </a:rPr>
              <a:t> = 23;</a:t>
            </a:r>
            <a:r>
              <a:rPr lang="en-US" sz="1600">
                <a:latin typeface="Consolas" panose="020B0609020204030204" charset="0"/>
                <a:ea typeface="宋体" panose="02010600030101010101" pitchFamily="2" charset="-122"/>
              </a:rPr>
              <a:t> </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class</a:t>
            </a:r>
            <a:r>
              <a:rPr lang="en-US" sz="1600">
                <a:solidFill>
                  <a:srgbClr val="000000"/>
                </a:solidFill>
                <a:latin typeface="Consolas" panose="020B0609020204030204" charset="0"/>
                <a:ea typeface="宋体" panose="02010600030101010101" pitchFamily="2" charset="-122"/>
              </a:rPr>
              <a:t> MyInnerClass{</a:t>
            </a:r>
            <a:endParaRPr lang="en-US" sz="1600">
              <a:solidFill>
                <a:srgbClr val="000000"/>
              </a:solidFill>
              <a:latin typeface="Consolas" panose="020B0609020204030204" charset="0"/>
              <a:ea typeface="宋体" panose="02010600030101010101" pitchFamily="2" charset="-122"/>
            </a:endParaRPr>
          </a:p>
          <a:p>
            <a:r>
              <a:rPr lang="en-US" sz="1600">
                <a:solidFill>
                  <a:srgbClr val="000000"/>
                </a:solidFill>
                <a:latin typeface="Consolas" panose="020B0609020204030204" charset="0"/>
                <a:ea typeface="宋体" panose="02010600030101010101" pitchFamily="2" charset="-122"/>
              </a:rPr>
              <a:t>        </a:t>
            </a:r>
            <a:r>
              <a:rPr lang="zh-CN" sz="1600">
                <a:solidFill>
                  <a:srgbClr val="3F7F5F"/>
                </a:solidFill>
                <a:sym typeface="+mn-ea"/>
              </a:rPr>
              <a:t>//编译器报错提示：不可定义静态类型</a:t>
            </a:r>
            <a:r>
              <a:rPr lang="en-US" sz="1600">
                <a:solidFill>
                  <a:srgbClr val="000000"/>
                </a:solidFill>
                <a:latin typeface="Consolas" panose="020B0609020204030204" charset="0"/>
                <a:ea typeface="宋体" panose="02010600030101010101" pitchFamily="2" charset="-122"/>
              </a:rPr>
              <a:t>        </a:t>
            </a:r>
            <a:r>
              <a:rPr lang="en-US" sz="1600" b="1" u="sng">
                <a:solidFill>
                  <a:srgbClr val="7F0055"/>
                </a:solidFill>
                <a:latin typeface="Consolas" panose="020B0609020204030204" charset="0"/>
                <a:ea typeface="宋体" panose="02010600030101010101" pitchFamily="2" charset="-122"/>
              </a:rPr>
              <a:t>private</a:t>
            </a:r>
            <a:r>
              <a:rPr lang="en-US" sz="1600" u="sng">
                <a:solidFill>
                  <a:srgbClr val="000000"/>
                </a:solidFill>
                <a:latin typeface="Consolas" panose="020B0609020204030204" charset="0"/>
                <a:ea typeface="宋体" panose="02010600030101010101" pitchFamily="2" charset="-122"/>
              </a:rPr>
              <a:t> </a:t>
            </a:r>
            <a:r>
              <a:rPr lang="en-US" sz="1600" b="1" u="sng">
                <a:solidFill>
                  <a:srgbClr val="7F0055"/>
                </a:solidFill>
                <a:latin typeface="Consolas" panose="020B0609020204030204" charset="0"/>
                <a:ea typeface="宋体" panose="02010600030101010101" pitchFamily="2" charset="-122"/>
              </a:rPr>
              <a:t>static</a:t>
            </a:r>
            <a:r>
              <a:rPr lang="en-US" sz="1600" u="sng">
                <a:solidFill>
                  <a:srgbClr val="000000"/>
                </a:solidFill>
                <a:latin typeface="Consolas" panose="020B0609020204030204" charset="0"/>
                <a:ea typeface="宋体" panose="02010600030101010101" pitchFamily="2" charset="-122"/>
              </a:rPr>
              <a:t> String </a:t>
            </a:r>
            <a:r>
              <a:rPr lang="en-US" sz="1600" i="1" u="sng">
                <a:solidFill>
                  <a:srgbClr val="0000C0"/>
                </a:solidFill>
                <a:latin typeface="Consolas" panose="020B0609020204030204" charset="0"/>
                <a:ea typeface="宋体" panose="02010600030101010101" pitchFamily="2" charset="-122"/>
              </a:rPr>
              <a:t>myName</a:t>
            </a:r>
            <a:r>
              <a:rPr lang="en-US" sz="1600" u="sng">
                <a:solidFill>
                  <a:srgbClr val="000000"/>
                </a:solidFill>
                <a:latin typeface="Consolas" panose="020B0609020204030204" charset="0"/>
                <a:ea typeface="宋体" panose="02010600030101010101" pitchFamily="2" charset="-122"/>
              </a:rPr>
              <a:t> = </a:t>
            </a:r>
            <a:r>
              <a:rPr lang="en-US" sz="1600" u="sng">
                <a:solidFill>
                  <a:srgbClr val="2A00FF"/>
                </a:solidFill>
                <a:latin typeface="Consolas" panose="020B0609020204030204" charset="0"/>
                <a:ea typeface="宋体" panose="02010600030101010101" pitchFamily="2" charset="-122"/>
              </a:rPr>
              <a:t>"single"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private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int</a:t>
            </a:r>
            <a:r>
              <a:rPr lang="en-US" sz="1600">
                <a:solidFill>
                  <a:srgbClr val="000000"/>
                </a:solidFill>
                <a:latin typeface="Consolas" panose="020B0609020204030204" charset="0"/>
                <a:ea typeface="宋体" panose="02010600030101010101" pitchFamily="2" charset="-122"/>
              </a:rPr>
              <a:t> </a:t>
            </a:r>
            <a:r>
              <a:rPr lang="en-US" sz="1600">
                <a:solidFill>
                  <a:srgbClr val="0000C0"/>
                </a:solidFill>
                <a:latin typeface="Consolas" panose="020B0609020204030204" charset="0"/>
                <a:ea typeface="宋体" panose="02010600030101010101" pitchFamily="2" charset="-122"/>
              </a:rPr>
              <a:t>myAge</a:t>
            </a:r>
            <a:r>
              <a:rPr lang="en-US" sz="1600">
                <a:solidFill>
                  <a:srgbClr val="000000"/>
                </a:solidFill>
                <a:latin typeface="Consolas" panose="020B0609020204030204" charset="0"/>
                <a:ea typeface="宋体" panose="02010600030101010101" pitchFamily="2" charset="-122"/>
              </a:rPr>
              <a:t> = 23;</a:t>
            </a:r>
            <a:r>
              <a:rPr lang="en-US" sz="1600">
                <a:latin typeface="Consolas" panose="020B0609020204030204" charset="0"/>
                <a:ea typeface="宋体" panose="02010600030101010101" pitchFamily="2" charset="-122"/>
              </a:rPr>
              <a:t> </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void</a:t>
            </a:r>
            <a:r>
              <a:rPr lang="en-US" sz="1600">
                <a:solidFill>
                  <a:srgbClr val="000000"/>
                </a:solidFill>
                <a:latin typeface="Consolas" panose="020B0609020204030204" charset="0"/>
                <a:ea typeface="宋体" panose="02010600030101010101" pitchFamily="2" charset="-122"/>
              </a:rPr>
              <a:t> sayHello(){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i="1">
                <a:solidFill>
                  <a:srgbClr val="0000C0"/>
                </a:solidFill>
                <a:latin typeface="Consolas" panose="020B0609020204030204" charset="0"/>
                <a:ea typeface="宋体" panose="02010600030101010101" pitchFamily="2" charset="-122"/>
              </a:rPr>
              <a:t>name</a:t>
            </a: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a:solidFill>
                  <a:srgbClr val="0000C0"/>
                </a:solidFill>
                <a:latin typeface="Consolas" panose="020B0609020204030204" charset="0"/>
                <a:ea typeface="宋体" panose="02010600030101010101" pitchFamily="2" charset="-122"/>
              </a:rPr>
              <a:t>age</a:t>
            </a:r>
            <a:r>
              <a:rPr lang="en-US" sz="1600">
                <a:solidFill>
                  <a:srgbClr val="000000"/>
                </a:solidFill>
                <a:latin typeface="Consolas" panose="020B0609020204030204" charset="0"/>
                <a:ea typeface="宋体" panose="02010600030101010101" pitchFamily="2" charset="-122"/>
              </a:rPr>
              <a:t>);        }    }}</a:t>
            </a:r>
            <a:endParaRPr lang="en-US" altLang="en-US" sz="1600">
              <a:solidFill>
                <a:srgbClr val="000000"/>
              </a:solidFill>
              <a:latin typeface="Consolas" panose="020B0609020204030204" charset="0"/>
              <a:ea typeface="宋体" panose="02010600030101010101" pitchFamily="2" charset="-122"/>
            </a:endParaRPr>
          </a:p>
        </p:txBody>
      </p:sp>
      <p:sp>
        <p:nvSpPr>
          <p:cNvPr id="2" name="文本框 1"/>
          <p:cNvSpPr txBox="1"/>
          <p:nvPr/>
        </p:nvSpPr>
        <p:spPr>
          <a:xfrm>
            <a:off x="3999230" y="4050030"/>
            <a:ext cx="6802120" cy="3046095"/>
          </a:xfrm>
          <a:prstGeom prst="rect">
            <a:avLst/>
          </a:prstGeom>
          <a:noFill/>
          <a:ln w="9525">
            <a:noFill/>
          </a:ln>
        </p:spPr>
        <p:txBody>
          <a:bodyPr wrap="square">
            <a:spAutoFit/>
          </a:bodyPr>
          <a:p>
            <a:r>
              <a:rPr lang="en-US" sz="1600">
                <a:latin typeface="Consolas" panose="020B0609020204030204" charset="0"/>
                <a:ea typeface="宋体" panose="02010600030101010101" pitchFamily="2" charset="-122"/>
              </a:rPr>
              <a:t> </a:t>
            </a:r>
            <a:endParaRPr lang="en-US" sz="1600" b="1">
              <a:solidFill>
                <a:srgbClr val="7F0055"/>
              </a:solidFill>
              <a:latin typeface="Consolas" panose="020B0609020204030204" charset="0"/>
              <a:ea typeface="宋体" panose="02010600030101010101" pitchFamily="2" charset="-122"/>
            </a:endParaRPr>
          </a:p>
          <a:p>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void</a:t>
            </a:r>
            <a:r>
              <a:rPr lang="en-US" sz="1600">
                <a:solidFill>
                  <a:srgbClr val="000000"/>
                </a:solidFill>
                <a:latin typeface="Consolas" panose="020B0609020204030204" charset="0"/>
                <a:ea typeface="宋体" panose="02010600030101010101" pitchFamily="2" charset="-122"/>
              </a:rPr>
              <a:t> main(String[] </a:t>
            </a:r>
            <a:r>
              <a:rPr lang="en-US" sz="1600">
                <a:solidFill>
                  <a:srgbClr val="6A3E3E"/>
                </a:solidFill>
                <a:latin typeface="Consolas" panose="020B0609020204030204" charset="0"/>
                <a:ea typeface="宋体" panose="02010600030101010101" pitchFamily="2" charset="-122"/>
              </a:rPr>
              <a:t>arg</a:t>
            </a:r>
            <a:r>
              <a:rPr lang="en-US" sz="1600">
                <a:solidFill>
                  <a:srgbClr val="000000"/>
                </a:solidFill>
                <a:latin typeface="Consolas" panose="020B0609020204030204" charset="0"/>
                <a:ea typeface="宋体" panose="02010600030101010101" pitchFamily="2" charset="-122"/>
              </a:rPr>
              <a:t>) {</a:t>
            </a:r>
            <a:endParaRPr lang="en-US" sz="1600">
              <a:solidFill>
                <a:srgbClr val="000000"/>
              </a:solidFill>
              <a:latin typeface="Consolas" panose="020B0609020204030204" charset="0"/>
              <a:ea typeface="宋体" panose="02010600030101010101" pitchFamily="2" charset="-122"/>
            </a:endParaRPr>
          </a:p>
          <a:p>
            <a:r>
              <a:rPr lang="en-US" altLang="zh-CN" sz="1600">
                <a:solidFill>
                  <a:srgbClr val="3F7F5F"/>
                </a:solidFill>
                <a:sym typeface="+mn-ea"/>
              </a:rPr>
              <a:t>                   </a:t>
            </a:r>
            <a:r>
              <a:rPr lang="zh-CN" sz="1600">
                <a:solidFill>
                  <a:srgbClr val="3F7F5F"/>
                </a:solidFill>
                <a:sym typeface="+mn-ea"/>
              </a:rPr>
              <a:t>//通过外部类对象构造</a:t>
            </a:r>
            <a:r>
              <a:rPr lang="en-US" sz="1600">
                <a:solidFill>
                  <a:srgbClr val="000000"/>
                </a:solidFill>
                <a:latin typeface="Consolas" panose="020B0609020204030204" charset="0"/>
                <a:ea typeface="宋体" panose="02010600030101010101" pitchFamily="2" charset="-122"/>
              </a:rPr>
              <a:t>		OuterClass </a:t>
            </a:r>
            <a:r>
              <a:rPr lang="en-US" sz="1600">
                <a:solidFill>
                  <a:srgbClr val="6A3E3E"/>
                </a:solidFill>
                <a:latin typeface="Consolas" panose="020B0609020204030204" charset="0"/>
                <a:ea typeface="宋体" panose="02010600030101010101" pitchFamily="2" charset="-122"/>
              </a:rPr>
              <a:t>outerClass</a:t>
            </a:r>
            <a:r>
              <a:rPr lang="en-US" sz="1600">
                <a:solidFill>
                  <a:srgbClr val="000000"/>
                </a:solidFill>
                <a:latin typeface="Consolas" panose="020B0609020204030204" charset="0"/>
                <a:ea typeface="宋体" panose="02010600030101010101" pitchFamily="2" charset="-122"/>
              </a:rPr>
              <a:t> = </a:t>
            </a:r>
            <a:r>
              <a:rPr lang="en-US" sz="1600" b="1">
                <a:solidFill>
                  <a:srgbClr val="7F0055"/>
                </a:solidFill>
                <a:latin typeface="Consolas" panose="020B0609020204030204" charset="0"/>
                <a:ea typeface="宋体" panose="02010600030101010101" pitchFamily="2" charset="-122"/>
              </a:rPr>
              <a:t>new</a:t>
            </a:r>
            <a:r>
              <a:rPr lang="en-US" sz="1600">
                <a:solidFill>
                  <a:srgbClr val="000000"/>
                </a:solidFill>
                <a:latin typeface="Consolas" panose="020B0609020204030204" charset="0"/>
                <a:ea typeface="宋体" panose="02010600030101010101" pitchFamily="2" charset="-122"/>
              </a:rPr>
              <a:t> OuterClass();		OuterClass.MyInnerClass </a:t>
            </a:r>
            <a:r>
              <a:rPr lang="en-US" sz="1600">
                <a:solidFill>
                  <a:srgbClr val="6A3E3E"/>
                </a:solidFill>
                <a:latin typeface="Consolas" panose="020B0609020204030204" charset="0"/>
                <a:ea typeface="宋体" panose="02010600030101010101" pitchFamily="2" charset="-122"/>
              </a:rPr>
              <a:t>myInnerClass</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outerClass</a:t>
            </a:r>
            <a:r>
              <a:rPr lang="en-US" sz="1600">
                <a:solidFill>
                  <a:srgbClr val="000000"/>
                </a:solidFill>
                <a:latin typeface="Consolas" panose="020B0609020204030204" charset="0"/>
                <a:ea typeface="宋体" panose="02010600030101010101" pitchFamily="2" charset="-122"/>
              </a:rPr>
              <a:t>.</a:t>
            </a:r>
            <a:r>
              <a:rPr lang="en-US" sz="1600" b="1">
                <a:solidFill>
                  <a:srgbClr val="7F0055"/>
                </a:solidFill>
                <a:latin typeface="Consolas" panose="020B0609020204030204" charset="0"/>
                <a:ea typeface="宋体" panose="02010600030101010101" pitchFamily="2" charset="-122"/>
              </a:rPr>
              <a:t>new</a:t>
            </a:r>
            <a:r>
              <a:rPr lang="en-US" sz="1600">
                <a:solidFill>
                  <a:srgbClr val="000000"/>
                </a:solidFill>
                <a:latin typeface="Consolas" panose="020B0609020204030204" charset="0"/>
                <a:ea typeface="宋体" panose="02010600030101010101" pitchFamily="2" charset="-122"/>
              </a:rPr>
              <a:t> MyInnerClass();		</a:t>
            </a:r>
            <a:r>
              <a:rPr lang="en-US" sz="1600">
                <a:solidFill>
                  <a:srgbClr val="6A3E3E"/>
                </a:solidFill>
                <a:latin typeface="Consolas" panose="020B0609020204030204" charset="0"/>
                <a:ea typeface="宋体" panose="02010600030101010101" pitchFamily="2" charset="-122"/>
              </a:rPr>
              <a:t>myInnerClass</a:t>
            </a:r>
            <a:r>
              <a:rPr lang="en-US" sz="1600">
                <a:solidFill>
                  <a:srgbClr val="000000"/>
                </a:solidFill>
                <a:latin typeface="Consolas" panose="020B0609020204030204" charset="0"/>
                <a:ea typeface="宋体" panose="02010600030101010101" pitchFamily="2" charset="-122"/>
              </a:rPr>
              <a:t>.sayHello();</a:t>
            </a:r>
            <a:r>
              <a:rPr lang="en-US" sz="1600">
                <a:latin typeface="Consolas" panose="020B0609020204030204" charset="0"/>
                <a:ea typeface="宋体" panose="02010600030101010101" pitchFamily="2" charset="-122"/>
              </a:rPr>
              <a:t> </a:t>
            </a:r>
            <a:r>
              <a:rPr lang="en-US" sz="1600">
                <a:solidFill>
                  <a:srgbClr val="000000"/>
                </a:solidFill>
                <a:latin typeface="Consolas" panose="020B0609020204030204" charset="0"/>
                <a:ea typeface="宋体" panose="02010600030101010101" pitchFamily="2" charset="-122"/>
              </a:rPr>
              <a:t>	}</a:t>
            </a:r>
            <a:endParaRPr lang="en-US" sz="1600">
              <a:solidFill>
                <a:srgbClr val="000000"/>
              </a:solidFill>
              <a:latin typeface="Consolas" panose="020B0609020204030204" charset="0"/>
              <a:ea typeface="宋体" panose="02010600030101010101" pitchFamily="2" charset="-122"/>
            </a:endParaRPr>
          </a:p>
          <a:p>
            <a:r>
              <a:rPr lang="en-US" sz="1600">
                <a:latin typeface="Times New Roman" panose="02020603050405020304" pitchFamily="18" charset="0"/>
                <a:ea typeface="宋体" panose="02010600030101010101" pitchFamily="2" charset="-122"/>
              </a:rPr>
              <a:t> </a:t>
            </a:r>
            <a:endParaRPr lang="en-US" altLang="en-US" sz="1600">
              <a:latin typeface="Times New Roman" panose="02020603050405020304" pitchFamily="18" charset="0"/>
              <a:ea typeface="宋体" panose="02010600030101010101" pitchFamily="2" charset="-122"/>
            </a:endParaRPr>
          </a:p>
        </p:txBody>
      </p:sp>
    </p:spTree>
    <p:custDataLst>
      <p:tags r:id="rId1"/>
    </p:custDataLst>
  </p:cSld>
  <p:clrMapOvr>
    <a:masterClrMapping/>
  </p:clrMapOvr>
  <p:transition spd="slow">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a:t>内部类应用（</a:t>
            </a:r>
            <a:r>
              <a:rPr lang="en-US" altLang="zh-CN"/>
              <a:t>1</a:t>
            </a:r>
            <a:r>
              <a:rPr lang="zh-CN" altLang="en-US"/>
              <a:t>）</a:t>
            </a:r>
            <a:endParaRPr lang="zh-CN" altLang="en-US"/>
          </a:p>
        </p:txBody>
      </p:sp>
      <p:sp>
        <p:nvSpPr>
          <p:cNvPr id="3" name="内容占位符 2"/>
          <p:cNvSpPr>
            <a:spLocks noGrp="1"/>
          </p:cNvSpPr>
          <p:nvPr>
            <p:ph idx="1"/>
          </p:nvPr>
        </p:nvSpPr>
        <p:spPr/>
        <p:txBody>
          <a:bodyPr/>
          <a:p>
            <a:r>
              <a:rPr lang="zh-CN" altLang="en-US"/>
              <a:t>实现</a:t>
            </a:r>
            <a:r>
              <a:rPr lang="zh-CN" altLang="en-US"/>
              <a:t>组合</a:t>
            </a:r>
            <a:endParaRPr lang="zh-CN" altLang="en-US"/>
          </a:p>
        </p:txBody>
      </p:sp>
      <p:sp>
        <p:nvSpPr>
          <p:cNvPr id="49154" name="矩形 46082"/>
          <p:cNvSpPr>
            <a:spLocks noChangeArrowheads="1"/>
          </p:cNvSpPr>
          <p:nvPr/>
        </p:nvSpPr>
        <p:spPr bwMode="auto">
          <a:xfrm>
            <a:off x="5261610" y="1021080"/>
            <a:ext cx="5434965" cy="5077460"/>
          </a:xfrm>
          <a:prstGeom prst="rect">
            <a:avLst/>
          </a:prstGeom>
          <a:solidFill>
            <a:srgbClr val="FFFFFF"/>
          </a:solidFill>
          <a:ln w="9525">
            <a:solidFill>
              <a:srgbClr val="000000"/>
            </a:solidFill>
            <a:miter lim="800000"/>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sz="1800"/>
              <a:t> </a:t>
            </a:r>
            <a:r>
              <a:rPr lang="en-US" sz="1800" b="1">
                <a:solidFill>
                  <a:srgbClr val="993300"/>
                </a:solidFill>
                <a:latin typeface="Courier New" panose="02070309020205020404" pitchFamily="49" charset="0"/>
                <a:ea typeface="黑体" panose="02010609060101010101" pitchFamily="49" charset="-122"/>
              </a:rPr>
              <a:t>public Destination to(String s) {     //method 1</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return new Destination(s);</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public Contents cont(int cn) {         //method 2</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return new Contents(cn); </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public void ship(String dest,int cn) {       //method 3</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Contents c = cont(cn);</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Destination d = to(dest); 	System.out.println</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(“Contents:  ” + c.value());    	System.out.println</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("Distination: " +d.readLabel()); </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  </a:t>
            </a:r>
            <a:r>
              <a:rPr lang="en-US" sz="1800" b="1">
                <a:solidFill>
                  <a:srgbClr val="993300"/>
                </a:solidFill>
                <a:ea typeface="黑体" panose="02010609060101010101" pitchFamily="49" charset="-122"/>
              </a:rPr>
              <a:t>…</a:t>
            </a:r>
            <a:r>
              <a:rPr lang="en-US" sz="1800" b="1">
                <a:solidFill>
                  <a:srgbClr val="993300"/>
                </a:solidFill>
                <a:latin typeface="Courier New" panose="02070309020205020404" pitchFamily="49" charset="0"/>
                <a:ea typeface="黑体" panose="02010609060101010101" pitchFamily="49" charset="-122"/>
              </a:rPr>
              <a:t> </a:t>
            </a:r>
            <a:r>
              <a:rPr lang="en-US" sz="1800" b="1">
                <a:solidFill>
                  <a:srgbClr val="993300"/>
                </a:solidFill>
                <a:ea typeface="黑体" panose="02010609060101010101" pitchFamily="49" charset="-122"/>
              </a:rPr>
              <a:t>…</a:t>
            </a:r>
            <a:endParaRPr lang="en-US" sz="1800" b="1">
              <a:solidFill>
                <a:srgbClr val="993300"/>
              </a:solidFill>
              <a:latin typeface="Courier New" panose="02070309020205020404" pitchFamily="49" charset="0"/>
              <a:ea typeface="黑体" panose="02010609060101010101" pitchFamily="49" charset="-122"/>
            </a:endParaRPr>
          </a:p>
          <a:p>
            <a:r>
              <a:rPr lang="en-US" sz="1800" b="1">
                <a:solidFill>
                  <a:srgbClr val="993300"/>
                </a:solidFill>
                <a:latin typeface="Courier New" panose="02070309020205020404" pitchFamily="49" charset="0"/>
                <a:ea typeface="黑体" panose="02010609060101010101" pitchFamily="49" charset="-122"/>
              </a:rPr>
              <a:t>} </a:t>
            </a:r>
            <a:endParaRPr lang="zh-CN" altLang="en-US" sz="1800" b="1">
              <a:solidFill>
                <a:srgbClr val="993300"/>
              </a:solidFill>
              <a:latin typeface="Courier New" panose="02070309020205020404" pitchFamily="49" charset="0"/>
              <a:ea typeface="黑体" panose="02010609060101010101" pitchFamily="49" charset="-122"/>
            </a:endParaRPr>
          </a:p>
        </p:txBody>
      </p:sp>
      <p:sp>
        <p:nvSpPr>
          <p:cNvPr id="4" name="文本框 3"/>
          <p:cNvSpPr txBox="1"/>
          <p:nvPr/>
        </p:nvSpPr>
        <p:spPr>
          <a:xfrm>
            <a:off x="314960" y="2070735"/>
            <a:ext cx="5213350" cy="4276725"/>
          </a:xfrm>
          <a:prstGeom prst="rect">
            <a:avLst/>
          </a:prstGeom>
          <a:noFill/>
        </p:spPr>
        <p:txBody>
          <a:bodyPr wrap="square" rtlCol="0" anchor="t">
            <a:spAutoFit/>
          </a:bodyPr>
          <a:p>
            <a:pPr>
              <a:lnSpc>
                <a:spcPct val="100000"/>
              </a:lnSpc>
              <a:buFont typeface="Wingdings" panose="05000000000000000000" pitchFamily="2" charset="2"/>
              <a:buNone/>
            </a:pPr>
            <a:r>
              <a:rPr lang="en-US" sz="1600" b="1" dirty="0" smtClean="0">
                <a:solidFill>
                  <a:srgbClr val="993300"/>
                </a:solidFill>
                <a:latin typeface="Courier New" panose="02070309020205020404" pitchFamily="49" charset="0"/>
                <a:ea typeface="黑体" panose="02010609060101010101" pitchFamily="49" charset="-122"/>
                <a:sym typeface="+mn-ea"/>
              </a:rPr>
              <a:t>public class Parcel2 {</a:t>
            </a:r>
            <a:endParaRPr lang="en-US" sz="1600" b="1" dirty="0" smtClean="0">
              <a:solidFill>
                <a:srgbClr val="99330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000066"/>
                </a:solidFill>
                <a:latin typeface="Courier New" panose="02070309020205020404" pitchFamily="49" charset="0"/>
                <a:ea typeface="黑体" panose="02010609060101010101" pitchFamily="49" charset="-122"/>
                <a:sym typeface="+mn-ea"/>
              </a:rPr>
              <a:t>  	</a:t>
            </a:r>
            <a:r>
              <a:rPr lang="en-US" sz="1600" b="1" dirty="0" smtClean="0">
                <a:solidFill>
                  <a:srgbClr val="00B0F0"/>
                </a:solidFill>
                <a:latin typeface="Courier New" panose="02070309020205020404" pitchFamily="49" charset="0"/>
                <a:ea typeface="黑体" panose="02010609060101010101" pitchFamily="49" charset="-122"/>
                <a:sym typeface="+mn-ea"/>
              </a:rPr>
              <a:t>class Contents {</a:t>
            </a:r>
            <a:endParaRPr lang="en-US" sz="1600" b="1" dirty="0" smtClean="0">
              <a:solidFill>
                <a:srgbClr val="00B0F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00B0F0"/>
                </a:solidFill>
                <a:latin typeface="Courier New" panose="02070309020205020404" pitchFamily="49" charset="0"/>
                <a:ea typeface="黑体" panose="02010609060101010101" pitchFamily="49" charset="-122"/>
                <a:sym typeface="+mn-ea"/>
              </a:rPr>
              <a:t>//inner class 1</a:t>
            </a:r>
            <a:endParaRPr lang="en-US" sz="1600" b="1" dirty="0" smtClean="0">
              <a:solidFill>
                <a:srgbClr val="00B0F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00B0F0"/>
                </a:solidFill>
                <a:latin typeface="Courier New" panose="02070309020205020404" pitchFamily="49" charset="0"/>
                <a:ea typeface="黑体" panose="02010609060101010101" pitchFamily="49" charset="-122"/>
                <a:sym typeface="+mn-ea"/>
              </a:rPr>
              <a:t>   	private </a:t>
            </a:r>
            <a:r>
              <a:rPr lang="en-US" sz="1600" b="1" dirty="0" err="1" smtClean="0">
                <a:solidFill>
                  <a:srgbClr val="00B0F0"/>
                </a:solidFill>
                <a:latin typeface="Courier New" panose="02070309020205020404" pitchFamily="49" charset="0"/>
                <a:ea typeface="黑体" panose="02010609060101010101" pitchFamily="49" charset="-122"/>
                <a:sym typeface="+mn-ea"/>
              </a:rPr>
              <a:t>int</a:t>
            </a:r>
            <a:r>
              <a:rPr lang="en-US" sz="1600" b="1" dirty="0" smtClean="0">
                <a:solidFill>
                  <a:srgbClr val="00B0F0"/>
                </a:solidFill>
                <a:latin typeface="Courier New" panose="02070309020205020404" pitchFamily="49" charset="0"/>
                <a:ea typeface="黑体" panose="02010609060101010101" pitchFamily="49" charset="-122"/>
                <a:sym typeface="+mn-ea"/>
              </a:rPr>
              <a:t> </a:t>
            </a:r>
            <a:r>
              <a:rPr lang="en-US" sz="1600" b="1" dirty="0" err="1" smtClean="0">
                <a:solidFill>
                  <a:srgbClr val="00B0F0"/>
                </a:solidFill>
                <a:latin typeface="Courier New" panose="02070309020205020404" pitchFamily="49" charset="0"/>
                <a:ea typeface="黑体" panose="02010609060101010101" pitchFamily="49" charset="-122"/>
                <a:sym typeface="+mn-ea"/>
              </a:rPr>
              <a:t>i</a:t>
            </a:r>
            <a:r>
              <a:rPr lang="en-US" sz="1600" b="1" dirty="0" smtClean="0">
                <a:solidFill>
                  <a:srgbClr val="00B0F0"/>
                </a:solidFill>
                <a:latin typeface="Courier New" panose="02070309020205020404" pitchFamily="49" charset="0"/>
                <a:ea typeface="黑体" panose="02010609060101010101" pitchFamily="49" charset="-122"/>
                <a:sym typeface="+mn-ea"/>
              </a:rPr>
              <a:t> ;</a:t>
            </a:r>
            <a:endParaRPr lang="en-US" sz="1600" b="1" dirty="0" smtClean="0">
              <a:solidFill>
                <a:srgbClr val="00B0F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00B0F0"/>
                </a:solidFill>
                <a:latin typeface="Courier New" panose="02070309020205020404" pitchFamily="49" charset="0"/>
                <a:ea typeface="黑体" panose="02010609060101010101" pitchFamily="49" charset="-122"/>
                <a:sym typeface="+mn-ea"/>
              </a:rPr>
              <a:t>    	 Contents(</a:t>
            </a:r>
            <a:r>
              <a:rPr lang="en-US" sz="1600" b="1" dirty="0" err="1" smtClean="0">
                <a:solidFill>
                  <a:srgbClr val="00B0F0"/>
                </a:solidFill>
                <a:latin typeface="Courier New" panose="02070309020205020404" pitchFamily="49" charset="0"/>
                <a:ea typeface="黑体" panose="02010609060101010101" pitchFamily="49" charset="-122"/>
                <a:sym typeface="+mn-ea"/>
              </a:rPr>
              <a:t>int</a:t>
            </a:r>
            <a:r>
              <a:rPr lang="en-US" sz="1600" b="1" dirty="0" smtClean="0">
                <a:solidFill>
                  <a:srgbClr val="00B0F0"/>
                </a:solidFill>
                <a:latin typeface="Courier New" panose="02070309020205020404" pitchFamily="49" charset="0"/>
                <a:ea typeface="黑体" panose="02010609060101010101" pitchFamily="49" charset="-122"/>
                <a:sym typeface="+mn-ea"/>
              </a:rPr>
              <a:t> </a:t>
            </a:r>
            <a:r>
              <a:rPr lang="en-US" sz="1600" b="1" dirty="0" err="1" smtClean="0">
                <a:solidFill>
                  <a:srgbClr val="00B0F0"/>
                </a:solidFill>
                <a:latin typeface="Courier New" panose="02070309020205020404" pitchFamily="49" charset="0"/>
                <a:ea typeface="黑体" panose="02010609060101010101" pitchFamily="49" charset="-122"/>
                <a:sym typeface="+mn-ea"/>
              </a:rPr>
              <a:t>cn</a:t>
            </a:r>
            <a:r>
              <a:rPr lang="en-US" sz="1600" b="1" dirty="0" smtClean="0">
                <a:solidFill>
                  <a:srgbClr val="00B0F0"/>
                </a:solidFill>
                <a:latin typeface="Courier New" panose="02070309020205020404" pitchFamily="49" charset="0"/>
                <a:ea typeface="黑体" panose="02010609060101010101" pitchFamily="49" charset="-122"/>
                <a:sym typeface="+mn-ea"/>
              </a:rPr>
              <a:t>) </a:t>
            </a:r>
            <a:endParaRPr lang="en-US" sz="1600" b="1" dirty="0" smtClean="0">
              <a:solidFill>
                <a:srgbClr val="00B0F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00B0F0"/>
                </a:solidFill>
                <a:latin typeface="Courier New" panose="02070309020205020404" pitchFamily="49" charset="0"/>
                <a:ea typeface="黑体" panose="02010609060101010101" pitchFamily="49" charset="-122"/>
                <a:sym typeface="+mn-ea"/>
              </a:rPr>
              <a:t>       { </a:t>
            </a:r>
            <a:r>
              <a:rPr lang="en-US" sz="1600" b="1" dirty="0" err="1" smtClean="0">
                <a:solidFill>
                  <a:srgbClr val="00B0F0"/>
                </a:solidFill>
                <a:latin typeface="Courier New" panose="02070309020205020404" pitchFamily="49" charset="0"/>
                <a:ea typeface="黑体" panose="02010609060101010101" pitchFamily="49" charset="-122"/>
                <a:sym typeface="+mn-ea"/>
              </a:rPr>
              <a:t>i</a:t>
            </a:r>
            <a:r>
              <a:rPr lang="en-US" sz="1600" b="1" dirty="0" smtClean="0">
                <a:solidFill>
                  <a:srgbClr val="00B0F0"/>
                </a:solidFill>
                <a:latin typeface="Courier New" panose="02070309020205020404" pitchFamily="49" charset="0"/>
                <a:ea typeface="黑体" panose="02010609060101010101" pitchFamily="49" charset="-122"/>
                <a:sym typeface="+mn-ea"/>
              </a:rPr>
              <a:t>=</a:t>
            </a:r>
            <a:r>
              <a:rPr lang="en-US" sz="1600" b="1" dirty="0" err="1" smtClean="0">
                <a:solidFill>
                  <a:srgbClr val="00B0F0"/>
                </a:solidFill>
                <a:latin typeface="Courier New" panose="02070309020205020404" pitchFamily="49" charset="0"/>
                <a:ea typeface="黑体" panose="02010609060101010101" pitchFamily="49" charset="-122"/>
                <a:sym typeface="+mn-ea"/>
              </a:rPr>
              <a:t>cn</a:t>
            </a:r>
            <a:r>
              <a:rPr lang="en-US" sz="1600" b="1" dirty="0" smtClean="0">
                <a:solidFill>
                  <a:srgbClr val="00B0F0"/>
                </a:solidFill>
                <a:latin typeface="Courier New" panose="02070309020205020404" pitchFamily="49" charset="0"/>
                <a:ea typeface="黑体" panose="02010609060101010101" pitchFamily="49" charset="-122"/>
                <a:sym typeface="+mn-ea"/>
              </a:rPr>
              <a:t>;}</a:t>
            </a:r>
            <a:endParaRPr lang="en-US" sz="1600" b="1" dirty="0" smtClean="0">
              <a:solidFill>
                <a:srgbClr val="00B0F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00B0F0"/>
                </a:solidFill>
                <a:latin typeface="Courier New" panose="02070309020205020404" pitchFamily="49" charset="0"/>
                <a:ea typeface="黑体" panose="02010609060101010101" pitchFamily="49" charset="-122"/>
                <a:sym typeface="+mn-ea"/>
              </a:rPr>
              <a:t>    	 public </a:t>
            </a:r>
            <a:r>
              <a:rPr lang="en-US" sz="1600" b="1" dirty="0" err="1" smtClean="0">
                <a:solidFill>
                  <a:srgbClr val="00B0F0"/>
                </a:solidFill>
                <a:latin typeface="Courier New" panose="02070309020205020404" pitchFamily="49" charset="0"/>
                <a:ea typeface="黑体" panose="02010609060101010101" pitchFamily="49" charset="-122"/>
                <a:sym typeface="+mn-ea"/>
              </a:rPr>
              <a:t>int</a:t>
            </a:r>
            <a:r>
              <a:rPr lang="en-US" sz="1600" b="1" dirty="0" smtClean="0">
                <a:solidFill>
                  <a:srgbClr val="00B0F0"/>
                </a:solidFill>
                <a:latin typeface="Courier New" panose="02070309020205020404" pitchFamily="49" charset="0"/>
                <a:ea typeface="黑体" panose="02010609060101010101" pitchFamily="49" charset="-122"/>
                <a:sym typeface="+mn-ea"/>
              </a:rPr>
              <a:t> value() </a:t>
            </a:r>
            <a:endParaRPr lang="en-US" sz="1600" b="1" dirty="0" smtClean="0">
              <a:solidFill>
                <a:srgbClr val="00B0F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00B0F0"/>
                </a:solidFill>
                <a:latin typeface="Courier New" panose="02070309020205020404" pitchFamily="49" charset="0"/>
                <a:ea typeface="黑体" panose="02010609060101010101" pitchFamily="49" charset="-122"/>
                <a:sym typeface="+mn-ea"/>
              </a:rPr>
              <a:t>        { return </a:t>
            </a:r>
            <a:r>
              <a:rPr lang="en-US" sz="1600" b="1" dirty="0" err="1" smtClean="0">
                <a:solidFill>
                  <a:srgbClr val="00B0F0"/>
                </a:solidFill>
                <a:latin typeface="Courier New" panose="02070309020205020404" pitchFamily="49" charset="0"/>
                <a:ea typeface="黑体" panose="02010609060101010101" pitchFamily="49" charset="-122"/>
                <a:sym typeface="+mn-ea"/>
              </a:rPr>
              <a:t>i</a:t>
            </a:r>
            <a:r>
              <a:rPr lang="en-US" sz="1600" b="1" dirty="0" smtClean="0">
                <a:solidFill>
                  <a:srgbClr val="00B0F0"/>
                </a:solidFill>
                <a:latin typeface="Courier New" panose="02070309020205020404" pitchFamily="49" charset="0"/>
                <a:ea typeface="黑体" panose="02010609060101010101" pitchFamily="49" charset="-122"/>
                <a:sym typeface="+mn-ea"/>
              </a:rPr>
              <a:t>; }</a:t>
            </a:r>
            <a:endParaRPr lang="en-US" sz="1600" b="1" dirty="0" smtClean="0">
              <a:solidFill>
                <a:srgbClr val="00B0F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00B0F0"/>
                </a:solidFill>
                <a:latin typeface="Courier New" panose="02070309020205020404" pitchFamily="49" charset="0"/>
                <a:ea typeface="黑体" panose="02010609060101010101" pitchFamily="49" charset="-122"/>
                <a:sym typeface="+mn-ea"/>
              </a:rPr>
              <a:t>   }</a:t>
            </a:r>
            <a:endParaRPr lang="en-US" sz="1600" b="1" dirty="0" smtClean="0">
              <a:solidFill>
                <a:srgbClr val="00B0F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993300"/>
                </a:solidFill>
                <a:latin typeface="Courier New" panose="02070309020205020404" pitchFamily="49" charset="0"/>
                <a:ea typeface="黑体" panose="02010609060101010101" pitchFamily="49" charset="-122"/>
                <a:sym typeface="+mn-ea"/>
              </a:rPr>
              <a:t>   </a:t>
            </a:r>
            <a:r>
              <a:rPr lang="en-US" sz="1600" b="1" dirty="0" smtClean="0">
                <a:solidFill>
                  <a:srgbClr val="FF3300"/>
                </a:solidFill>
                <a:latin typeface="Courier New" panose="02070309020205020404" pitchFamily="49" charset="0"/>
                <a:ea typeface="黑体" panose="02010609060101010101" pitchFamily="49" charset="-122"/>
                <a:sym typeface="+mn-ea"/>
              </a:rPr>
              <a:t>class Destination {</a:t>
            </a:r>
            <a:endParaRPr lang="en-US" sz="1600" b="1" dirty="0" smtClean="0">
              <a:solidFill>
                <a:srgbClr val="FF330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FF3300"/>
                </a:solidFill>
                <a:latin typeface="Courier New" panose="02070309020205020404" pitchFamily="49" charset="0"/>
                <a:ea typeface="黑体" panose="02010609060101010101" pitchFamily="49" charset="-122"/>
                <a:sym typeface="+mn-ea"/>
              </a:rPr>
              <a:t>  //inner class 2</a:t>
            </a:r>
            <a:endParaRPr lang="en-US" sz="1600" b="1" dirty="0" smtClean="0">
              <a:solidFill>
                <a:srgbClr val="FF330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FF3300"/>
                </a:solidFill>
                <a:latin typeface="Courier New" panose="02070309020205020404" pitchFamily="49" charset="0"/>
                <a:ea typeface="黑体" panose="02010609060101010101" pitchFamily="49" charset="-122"/>
                <a:sym typeface="+mn-ea"/>
              </a:rPr>
              <a:t>   	private String label;</a:t>
            </a:r>
            <a:endParaRPr lang="en-US" sz="1600" b="1" dirty="0" smtClean="0">
              <a:solidFill>
                <a:srgbClr val="FF330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FF3300"/>
                </a:solidFill>
                <a:latin typeface="Courier New" panose="02070309020205020404" pitchFamily="49" charset="0"/>
                <a:ea typeface="黑体" panose="02010609060101010101" pitchFamily="49" charset="-122"/>
                <a:sym typeface="+mn-ea"/>
              </a:rPr>
              <a:t>    	Destination(String </a:t>
            </a:r>
            <a:r>
              <a:rPr lang="en-US" sz="1600" b="1" dirty="0" err="1" smtClean="0">
                <a:solidFill>
                  <a:srgbClr val="FF3300"/>
                </a:solidFill>
                <a:latin typeface="Courier New" panose="02070309020205020404" pitchFamily="49" charset="0"/>
                <a:ea typeface="黑体" panose="02010609060101010101" pitchFamily="49" charset="-122"/>
                <a:sym typeface="+mn-ea"/>
              </a:rPr>
              <a:t>whereTo</a:t>
            </a:r>
            <a:r>
              <a:rPr lang="en-US" sz="1600" b="1" dirty="0" smtClean="0">
                <a:solidFill>
                  <a:srgbClr val="FF3300"/>
                </a:solidFill>
                <a:latin typeface="Courier New" panose="02070309020205020404" pitchFamily="49" charset="0"/>
                <a:ea typeface="黑体" panose="02010609060101010101" pitchFamily="49" charset="-122"/>
                <a:sym typeface="+mn-ea"/>
              </a:rPr>
              <a:t>) </a:t>
            </a:r>
            <a:endParaRPr lang="en-US" sz="1600" b="1" dirty="0" smtClean="0">
              <a:solidFill>
                <a:srgbClr val="FF330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FF3300"/>
                </a:solidFill>
                <a:latin typeface="Courier New" panose="02070309020205020404" pitchFamily="49" charset="0"/>
                <a:ea typeface="黑体" panose="02010609060101010101" pitchFamily="49" charset="-122"/>
                <a:sym typeface="+mn-ea"/>
              </a:rPr>
              <a:t>		{label = </a:t>
            </a:r>
            <a:r>
              <a:rPr lang="en-US" sz="1600" b="1" dirty="0" err="1" smtClean="0">
                <a:solidFill>
                  <a:srgbClr val="FF3300"/>
                </a:solidFill>
                <a:latin typeface="Courier New" panose="02070309020205020404" pitchFamily="49" charset="0"/>
                <a:ea typeface="黑体" panose="02010609060101010101" pitchFamily="49" charset="-122"/>
                <a:sym typeface="+mn-ea"/>
              </a:rPr>
              <a:t>whereTo</a:t>
            </a:r>
            <a:r>
              <a:rPr lang="en-US" sz="1600" b="1" dirty="0" smtClean="0">
                <a:solidFill>
                  <a:srgbClr val="FF3300"/>
                </a:solidFill>
                <a:latin typeface="Courier New" panose="02070309020205020404" pitchFamily="49" charset="0"/>
                <a:ea typeface="黑体" panose="02010609060101010101" pitchFamily="49" charset="-122"/>
                <a:sym typeface="+mn-ea"/>
              </a:rPr>
              <a:t>; }</a:t>
            </a:r>
            <a:endParaRPr lang="en-US" sz="1600" b="1" dirty="0" smtClean="0">
              <a:solidFill>
                <a:srgbClr val="FF330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FF3300"/>
                </a:solidFill>
                <a:latin typeface="Courier New" panose="02070309020205020404" pitchFamily="49" charset="0"/>
                <a:ea typeface="黑体" panose="02010609060101010101" pitchFamily="49" charset="-122"/>
                <a:sym typeface="+mn-ea"/>
              </a:rPr>
              <a:t>    	String </a:t>
            </a:r>
            <a:r>
              <a:rPr lang="en-US" sz="1600" b="1" dirty="0" err="1" smtClean="0">
                <a:solidFill>
                  <a:srgbClr val="FF3300"/>
                </a:solidFill>
                <a:latin typeface="Courier New" panose="02070309020205020404" pitchFamily="49" charset="0"/>
                <a:ea typeface="黑体" panose="02010609060101010101" pitchFamily="49" charset="-122"/>
                <a:sym typeface="+mn-ea"/>
              </a:rPr>
              <a:t>readLabel</a:t>
            </a:r>
            <a:r>
              <a:rPr lang="en-US" sz="1600" b="1" dirty="0" smtClean="0">
                <a:solidFill>
                  <a:srgbClr val="FF3300"/>
                </a:solidFill>
                <a:latin typeface="Courier New" panose="02070309020205020404" pitchFamily="49" charset="0"/>
                <a:ea typeface="黑体" panose="02010609060101010101" pitchFamily="49" charset="-122"/>
                <a:sym typeface="+mn-ea"/>
              </a:rPr>
              <a:t>() </a:t>
            </a:r>
            <a:endParaRPr lang="en-US" sz="1600" b="1" dirty="0" smtClean="0">
              <a:solidFill>
                <a:srgbClr val="FF330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FF3300"/>
                </a:solidFill>
                <a:latin typeface="Courier New" panose="02070309020205020404" pitchFamily="49" charset="0"/>
                <a:ea typeface="黑体" panose="02010609060101010101" pitchFamily="49" charset="-122"/>
                <a:sym typeface="+mn-ea"/>
              </a:rPr>
              <a:t>       { return label; }</a:t>
            </a:r>
            <a:endParaRPr lang="en-US" sz="1600" b="1" dirty="0" smtClean="0">
              <a:solidFill>
                <a:srgbClr val="FF3300"/>
              </a:solidFill>
              <a:latin typeface="Courier New" panose="02070309020205020404" pitchFamily="49" charset="0"/>
              <a:ea typeface="黑体" panose="02010609060101010101" pitchFamily="49" charset="-122"/>
            </a:endParaRPr>
          </a:p>
          <a:p>
            <a:pPr>
              <a:lnSpc>
                <a:spcPct val="100000"/>
              </a:lnSpc>
              <a:buFont typeface="Wingdings" panose="05000000000000000000" pitchFamily="2" charset="2"/>
              <a:buNone/>
            </a:pPr>
            <a:r>
              <a:rPr lang="en-US" sz="1600" b="1" dirty="0" smtClean="0">
                <a:solidFill>
                  <a:srgbClr val="FF3300"/>
                </a:solidFill>
                <a:latin typeface="Courier New" panose="02070309020205020404" pitchFamily="49" charset="0"/>
                <a:ea typeface="黑体" panose="02010609060101010101" pitchFamily="49" charset="-122"/>
                <a:sym typeface="+mn-ea"/>
              </a:rPr>
              <a:t>   }</a:t>
            </a:r>
            <a:r>
              <a:rPr lang="en-US" sz="1600" b="1" dirty="0" smtClean="0">
                <a:solidFill>
                  <a:srgbClr val="FF3300"/>
                </a:solidFill>
                <a:ea typeface="黑体" panose="02010609060101010101" pitchFamily="49" charset="-122"/>
                <a:sym typeface="+mn-ea"/>
              </a:rPr>
              <a:t>  </a:t>
            </a:r>
            <a:endParaRPr lang="en-US" altLang="en-US" sz="1600" b="1" dirty="0" smtClean="0">
              <a:solidFill>
                <a:srgbClr val="FF3300"/>
              </a:solidFill>
              <a:ea typeface="黑体" panose="02010609060101010101" pitchFamily="49" charset="-122"/>
              <a:sym typeface="+mn-ea"/>
            </a:endParaRPr>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a:t>内部类应用（</a:t>
            </a:r>
            <a:r>
              <a:rPr lang="en-US" altLang="zh-CN"/>
              <a:t>2</a:t>
            </a:r>
            <a:r>
              <a:rPr lang="zh-CN" altLang="en-US"/>
              <a:t>）</a:t>
            </a:r>
            <a:endParaRPr lang="zh-CN" altLang="en-US"/>
          </a:p>
        </p:txBody>
      </p:sp>
      <p:sp>
        <p:nvSpPr>
          <p:cNvPr id="3" name="内容占位符 2"/>
          <p:cNvSpPr>
            <a:spLocks noGrp="1"/>
          </p:cNvSpPr>
          <p:nvPr>
            <p:ph idx="1"/>
          </p:nvPr>
        </p:nvSpPr>
        <p:spPr>
          <a:xfrm>
            <a:off x="90170" y="1349693"/>
            <a:ext cx="9721850" cy="4751387"/>
          </a:xfrm>
        </p:spPr>
        <p:txBody>
          <a:bodyPr/>
          <a:p>
            <a:r>
              <a:rPr lang="zh-CN" altLang="en-US"/>
              <a:t>模拟多重</a:t>
            </a:r>
            <a:r>
              <a:rPr lang="zh-CN" altLang="en-US"/>
              <a:t>继承</a:t>
            </a:r>
            <a:endParaRPr lang="zh-CN" altLang="en-US"/>
          </a:p>
          <a:p>
            <a:pPr marL="514350" lvl="1" indent="0">
              <a:buNone/>
            </a:pPr>
            <a:r>
              <a:rPr lang="zh-CN" altLang="en-US" sz="2400"/>
              <a:t>缺陷：丢失继承信息</a:t>
            </a:r>
            <a:endParaRPr lang="zh-CN" altLang="en-US" sz="2400"/>
          </a:p>
          <a:p>
            <a:pPr marL="514350" lvl="1" indent="0">
              <a:buNone/>
            </a:pPr>
            <a:r>
              <a:rPr lang="zh-CN" altLang="en-US" sz="2400">
                <a:sym typeface="+mn-ea"/>
              </a:rPr>
              <a:t>优势：可以组合多个实体类</a:t>
            </a:r>
            <a:endParaRPr lang="zh-CN" altLang="en-US" sz="2400">
              <a:sym typeface="+mn-ea"/>
            </a:endParaRPr>
          </a:p>
        </p:txBody>
      </p:sp>
      <p:sp>
        <p:nvSpPr>
          <p:cNvPr id="100" name="文本框 99"/>
          <p:cNvSpPr txBox="1"/>
          <p:nvPr/>
        </p:nvSpPr>
        <p:spPr>
          <a:xfrm>
            <a:off x="540385" y="3015615"/>
            <a:ext cx="3997325" cy="2245360"/>
          </a:xfrm>
          <a:prstGeom prst="rect">
            <a:avLst/>
          </a:prstGeom>
          <a:noFill/>
          <a:ln w="9525">
            <a:noFill/>
          </a:ln>
        </p:spPr>
        <p:txBody>
          <a:bodyPr wrap="square">
            <a:spAutoFit/>
          </a:bodyPr>
          <a:p>
            <a:r>
              <a:rPr lang="en-US" sz="1400" b="1">
                <a:solidFill>
                  <a:srgbClr val="7F0055"/>
                </a:solidFill>
                <a:latin typeface="Consolas" panose="020B0609020204030204" charset="0"/>
                <a:ea typeface="宋体" panose="02010600030101010101" pitchFamily="2" charset="-122"/>
              </a:rPr>
              <a:t>class</a:t>
            </a:r>
            <a:r>
              <a:rPr lang="en-US" sz="1400">
                <a:solidFill>
                  <a:srgbClr val="000000"/>
                </a:solidFill>
                <a:latin typeface="Consolas" panose="020B0609020204030204" charset="0"/>
                <a:ea typeface="宋体" panose="02010600030101010101" pitchFamily="2" charset="-122"/>
              </a:rPr>
              <a:t> BaseA{		String getName() {		</a:t>
            </a:r>
            <a:r>
              <a:rPr lang="en-US" sz="1400" b="1">
                <a:solidFill>
                  <a:srgbClr val="7F0055"/>
                </a:solidFill>
                <a:latin typeface="Consolas" panose="020B0609020204030204" charset="0"/>
                <a:ea typeface="宋体" panose="02010600030101010101" pitchFamily="2" charset="-122"/>
              </a:rPr>
              <a:t>return</a:t>
            </a:r>
            <a:r>
              <a:rPr lang="en-US" sz="1400">
                <a:solidFill>
                  <a:srgbClr val="000000"/>
                </a:solidFill>
                <a:latin typeface="Consolas" panose="020B0609020204030204" charset="0"/>
                <a:ea typeface="宋体" panose="02010600030101010101" pitchFamily="2" charset="-122"/>
              </a:rPr>
              <a:t> </a:t>
            </a:r>
            <a:r>
              <a:rPr lang="en-US" sz="1400">
                <a:solidFill>
                  <a:srgbClr val="2A00FF"/>
                </a:solidFill>
                <a:latin typeface="Consolas" panose="020B0609020204030204" charset="0"/>
                <a:ea typeface="宋体" panose="02010600030101010101" pitchFamily="2" charset="-122"/>
              </a:rPr>
              <a:t>"BaseA"</a:t>
            </a:r>
            <a:r>
              <a:rPr lang="en-US" sz="1400">
                <a:solidFill>
                  <a:srgbClr val="000000"/>
                </a:solidFill>
                <a:latin typeface="Consolas" panose="020B0609020204030204" charset="0"/>
                <a:ea typeface="宋体" panose="02010600030101010101" pitchFamily="2" charset="-122"/>
              </a:rPr>
              <a:t>;	}}</a:t>
            </a:r>
            <a:r>
              <a:rPr lang="en-US" sz="1400" b="1">
                <a:solidFill>
                  <a:srgbClr val="7F0055"/>
                </a:solidFill>
                <a:latin typeface="Consolas" panose="020B0609020204030204" charset="0"/>
                <a:ea typeface="宋体" panose="02010600030101010101" pitchFamily="2" charset="-122"/>
              </a:rPr>
              <a:t>class</a:t>
            </a:r>
            <a:r>
              <a:rPr lang="en-US" sz="1400">
                <a:solidFill>
                  <a:srgbClr val="000000"/>
                </a:solidFill>
                <a:latin typeface="Consolas" panose="020B0609020204030204" charset="0"/>
                <a:ea typeface="宋体" panose="02010600030101010101" pitchFamily="2" charset="-122"/>
              </a:rPr>
              <a:t> BaseB{		String getInfo() {		</a:t>
            </a:r>
            <a:r>
              <a:rPr lang="en-US" sz="1400" b="1">
                <a:solidFill>
                  <a:srgbClr val="7F0055"/>
                </a:solidFill>
                <a:latin typeface="Consolas" panose="020B0609020204030204" charset="0"/>
                <a:ea typeface="宋体" panose="02010600030101010101" pitchFamily="2" charset="-122"/>
              </a:rPr>
              <a:t>return</a:t>
            </a:r>
            <a:r>
              <a:rPr lang="en-US" sz="1400">
                <a:solidFill>
                  <a:srgbClr val="000000"/>
                </a:solidFill>
                <a:latin typeface="Consolas" panose="020B0609020204030204" charset="0"/>
                <a:ea typeface="宋体" panose="02010600030101010101" pitchFamily="2" charset="-122"/>
              </a:rPr>
              <a:t> </a:t>
            </a:r>
            <a:r>
              <a:rPr lang="en-US" sz="1400">
                <a:solidFill>
                  <a:srgbClr val="2A00FF"/>
                </a:solidFill>
                <a:latin typeface="Consolas" panose="020B0609020204030204" charset="0"/>
                <a:ea typeface="宋体" panose="02010600030101010101" pitchFamily="2" charset="-122"/>
              </a:rPr>
              <a:t>"BaseB"</a:t>
            </a:r>
            <a:r>
              <a:rPr lang="en-US" sz="1400">
                <a:solidFill>
                  <a:srgbClr val="000000"/>
                </a:solidFill>
                <a:latin typeface="Consolas" panose="020B0609020204030204" charset="0"/>
                <a:ea typeface="宋体" panose="02010600030101010101" pitchFamily="2" charset="-122"/>
              </a:rPr>
              <a:t>;	}}</a:t>
            </a:r>
            <a:endParaRPr lang="en-US" altLang="en-US" sz="1400">
              <a:solidFill>
                <a:srgbClr val="000000"/>
              </a:solidFill>
              <a:latin typeface="Consolas" panose="020B0609020204030204" charset="0"/>
              <a:ea typeface="宋体" panose="02010600030101010101" pitchFamily="2" charset="-122"/>
            </a:endParaRPr>
          </a:p>
        </p:txBody>
      </p:sp>
      <p:sp>
        <p:nvSpPr>
          <p:cNvPr id="5" name="文本框 4"/>
          <p:cNvSpPr txBox="1"/>
          <p:nvPr/>
        </p:nvSpPr>
        <p:spPr>
          <a:xfrm>
            <a:off x="4749165" y="180340"/>
            <a:ext cx="5884545" cy="6123940"/>
          </a:xfrm>
          <a:prstGeom prst="rect">
            <a:avLst/>
          </a:prstGeom>
          <a:solidFill>
            <a:schemeClr val="bg1"/>
          </a:solidFill>
          <a:ln w="9525">
            <a:noFill/>
          </a:ln>
        </p:spPr>
        <p:txBody>
          <a:bodyPr wrap="square">
            <a:spAutoFit/>
          </a:bodyPr>
          <a:p>
            <a:r>
              <a:rPr lang="en-US" sz="1400" b="1">
                <a:solidFill>
                  <a:srgbClr val="7F0055"/>
                </a:solidFill>
                <a:latin typeface="Consolas" panose="020B0609020204030204" charset="0"/>
                <a:ea typeface="宋体" panose="02010600030101010101" pitchFamily="2" charset="-122"/>
              </a:rPr>
              <a:t>public</a:t>
            </a:r>
            <a:r>
              <a:rPr lang="en-US" sz="1400">
                <a:solidFill>
                  <a:srgbClr val="000000"/>
                </a:solidFill>
                <a:latin typeface="Consolas" panose="020B0609020204030204" charset="0"/>
                <a:ea typeface="宋体" panose="02010600030101010101" pitchFamily="2" charset="-122"/>
              </a:rPr>
              <a:t> </a:t>
            </a:r>
            <a:r>
              <a:rPr lang="en-US" sz="1400" b="1">
                <a:solidFill>
                  <a:srgbClr val="7F0055"/>
                </a:solidFill>
                <a:latin typeface="Consolas" panose="020B0609020204030204" charset="0"/>
                <a:ea typeface="宋体" panose="02010600030101010101" pitchFamily="2" charset="-122"/>
              </a:rPr>
              <a:t>class</a:t>
            </a:r>
            <a:r>
              <a:rPr lang="en-US" sz="1400">
                <a:solidFill>
                  <a:srgbClr val="000000"/>
                </a:solidFill>
                <a:latin typeface="Consolas" panose="020B0609020204030204" charset="0"/>
                <a:ea typeface="宋体" panose="02010600030101010101" pitchFamily="2" charset="-122"/>
              </a:rPr>
              <a:t> InnerClass {	</a:t>
            </a:r>
            <a:r>
              <a:rPr lang="en-US" sz="1400" b="1">
                <a:solidFill>
                  <a:srgbClr val="7F0055"/>
                </a:solidFill>
                <a:latin typeface="Consolas" panose="020B0609020204030204" charset="0"/>
                <a:ea typeface="宋体" panose="02010600030101010101" pitchFamily="2" charset="-122"/>
              </a:rPr>
              <a:t>private</a:t>
            </a:r>
            <a:r>
              <a:rPr lang="en-US" sz="1400">
                <a:solidFill>
                  <a:srgbClr val="000000"/>
                </a:solidFill>
                <a:latin typeface="Consolas" panose="020B0609020204030204" charset="0"/>
                <a:ea typeface="宋体" panose="02010600030101010101" pitchFamily="2" charset="-122"/>
              </a:rPr>
              <a:t> String </a:t>
            </a:r>
            <a:r>
              <a:rPr lang="en-US" sz="1400">
                <a:solidFill>
                  <a:srgbClr val="0000C0"/>
                </a:solidFill>
                <a:latin typeface="Consolas" panose="020B0609020204030204" charset="0"/>
                <a:ea typeface="宋体" panose="02010600030101010101" pitchFamily="2" charset="-122"/>
              </a:rPr>
              <a:t>str</a:t>
            </a:r>
            <a:r>
              <a:rPr lang="en-US" sz="1400">
                <a:solidFill>
                  <a:srgbClr val="000000"/>
                </a:solidFill>
                <a:latin typeface="Consolas" panose="020B0609020204030204" charset="0"/>
                <a:ea typeface="宋体" panose="02010600030101010101" pitchFamily="2" charset="-122"/>
              </a:rPr>
              <a:t>=</a:t>
            </a:r>
            <a:r>
              <a:rPr lang="en-US" sz="1400">
                <a:solidFill>
                  <a:srgbClr val="2A00FF"/>
                </a:solidFill>
                <a:latin typeface="Consolas" panose="020B0609020204030204" charset="0"/>
                <a:ea typeface="宋体" panose="02010600030101010101" pitchFamily="2" charset="-122"/>
              </a:rPr>
              <a:t>"InnerClass"</a:t>
            </a:r>
            <a:r>
              <a:rPr lang="en-US" sz="1400">
                <a:solidFill>
                  <a:srgbClr val="000000"/>
                </a:solidFill>
                <a:latin typeface="Consolas" panose="020B0609020204030204" charset="0"/>
                <a:ea typeface="宋体" panose="02010600030101010101" pitchFamily="2" charset="-122"/>
              </a:rPr>
              <a:t>;	</a:t>
            </a:r>
            <a:r>
              <a:rPr lang="en-US" sz="1400" b="1">
                <a:solidFill>
                  <a:srgbClr val="7F0055"/>
                </a:solidFill>
                <a:latin typeface="Consolas" panose="020B0609020204030204" charset="0"/>
                <a:ea typeface="宋体" panose="02010600030101010101" pitchFamily="2" charset="-122"/>
              </a:rPr>
              <a:t>private</a:t>
            </a:r>
            <a:r>
              <a:rPr lang="en-US" sz="1400">
                <a:solidFill>
                  <a:srgbClr val="000000"/>
                </a:solidFill>
                <a:latin typeface="Consolas" panose="020B0609020204030204" charset="0"/>
                <a:ea typeface="宋体" panose="02010600030101010101" pitchFamily="2" charset="-122"/>
              </a:rPr>
              <a:t> </a:t>
            </a:r>
            <a:r>
              <a:rPr lang="en-US" sz="1400" b="1">
                <a:solidFill>
                  <a:srgbClr val="7F0055"/>
                </a:solidFill>
                <a:latin typeface="Consolas" panose="020B0609020204030204" charset="0"/>
                <a:ea typeface="宋体" panose="02010600030101010101" pitchFamily="2" charset="-122"/>
              </a:rPr>
              <a:t>class</a:t>
            </a:r>
            <a:r>
              <a:rPr lang="en-US" sz="1400">
                <a:solidFill>
                  <a:srgbClr val="000000"/>
                </a:solidFill>
                <a:latin typeface="Consolas" panose="020B0609020204030204" charset="0"/>
                <a:ea typeface="宋体" panose="02010600030101010101" pitchFamily="2" charset="-122"/>
              </a:rPr>
              <a:t> InnerA </a:t>
            </a:r>
            <a:r>
              <a:rPr lang="en-US" sz="1400" b="1">
                <a:solidFill>
                  <a:srgbClr val="7F0055"/>
                </a:solidFill>
                <a:latin typeface="Consolas" panose="020B0609020204030204" charset="0"/>
                <a:ea typeface="宋体" panose="02010600030101010101" pitchFamily="2" charset="-122"/>
              </a:rPr>
              <a:t>extends</a:t>
            </a:r>
            <a:r>
              <a:rPr lang="en-US" sz="1400">
                <a:solidFill>
                  <a:srgbClr val="000000"/>
                </a:solidFill>
                <a:latin typeface="Consolas" panose="020B0609020204030204" charset="0"/>
                <a:ea typeface="宋体" panose="02010600030101010101" pitchFamily="2" charset="-122"/>
              </a:rPr>
              <a:t> BaseA{		</a:t>
            </a:r>
            <a:r>
              <a:rPr lang="en-US" sz="1400">
                <a:solidFill>
                  <a:srgbClr val="646464"/>
                </a:solidFill>
                <a:latin typeface="Consolas" panose="020B0609020204030204" charset="0"/>
                <a:ea typeface="宋体" panose="02010600030101010101" pitchFamily="2" charset="-122"/>
              </a:rPr>
              <a:t>@Override</a:t>
            </a:r>
            <a:r>
              <a:rPr lang="en-US" sz="1400">
                <a:solidFill>
                  <a:srgbClr val="000000"/>
                </a:solidFill>
                <a:latin typeface="Consolas" panose="020B0609020204030204" charset="0"/>
                <a:ea typeface="宋体" panose="02010600030101010101" pitchFamily="2" charset="-122"/>
              </a:rPr>
              <a:t>		String getName() {			</a:t>
            </a:r>
            <a:r>
              <a:rPr lang="en-US" sz="1400" b="1">
                <a:solidFill>
                  <a:srgbClr val="7F0055"/>
                </a:solidFill>
                <a:latin typeface="Consolas" panose="020B0609020204030204" charset="0"/>
                <a:ea typeface="宋体" panose="02010600030101010101" pitchFamily="2" charset="-122"/>
              </a:rPr>
              <a:t>return</a:t>
            </a:r>
            <a:r>
              <a:rPr lang="en-US" sz="1400">
                <a:solidFill>
                  <a:srgbClr val="000000"/>
                </a:solidFill>
                <a:latin typeface="Consolas" panose="020B0609020204030204" charset="0"/>
                <a:ea typeface="宋体" panose="02010600030101010101" pitchFamily="2" charset="-122"/>
              </a:rPr>
              <a:t> </a:t>
            </a:r>
            <a:r>
              <a:rPr lang="en-US" sz="1400">
                <a:solidFill>
                  <a:srgbClr val="0000C0"/>
                </a:solidFill>
                <a:latin typeface="Consolas" panose="020B0609020204030204" charset="0"/>
                <a:ea typeface="宋体" panose="02010600030101010101" pitchFamily="2" charset="-122"/>
              </a:rPr>
              <a:t>str</a:t>
            </a:r>
            <a:r>
              <a:rPr lang="en-US" sz="1400">
                <a:solidFill>
                  <a:srgbClr val="000000"/>
                </a:solidFill>
                <a:latin typeface="Consolas" panose="020B0609020204030204" charset="0"/>
                <a:ea typeface="宋体" panose="02010600030101010101" pitchFamily="2" charset="-122"/>
              </a:rPr>
              <a:t>+</a:t>
            </a:r>
            <a:r>
              <a:rPr lang="en-US" sz="1400">
                <a:solidFill>
                  <a:srgbClr val="2A00FF"/>
                </a:solidFill>
                <a:latin typeface="Consolas" panose="020B0609020204030204" charset="0"/>
                <a:ea typeface="宋体" panose="02010600030101010101" pitchFamily="2" charset="-122"/>
              </a:rPr>
              <a:t>"InnerA"</a:t>
            </a:r>
            <a:r>
              <a:rPr lang="en-US" sz="1400">
                <a:solidFill>
                  <a:srgbClr val="000000"/>
                </a:solidFill>
                <a:latin typeface="Consolas" panose="020B0609020204030204" charset="0"/>
                <a:ea typeface="宋体" panose="02010600030101010101" pitchFamily="2" charset="-122"/>
              </a:rPr>
              <a:t>;		}	}	</a:t>
            </a:r>
            <a:r>
              <a:rPr lang="en-US" sz="1400" b="1">
                <a:solidFill>
                  <a:srgbClr val="7F0055"/>
                </a:solidFill>
                <a:latin typeface="Consolas" panose="020B0609020204030204" charset="0"/>
                <a:ea typeface="宋体" panose="02010600030101010101" pitchFamily="2" charset="-122"/>
              </a:rPr>
              <a:t>private</a:t>
            </a:r>
            <a:r>
              <a:rPr lang="en-US" sz="1400">
                <a:solidFill>
                  <a:srgbClr val="000000"/>
                </a:solidFill>
                <a:latin typeface="Consolas" panose="020B0609020204030204" charset="0"/>
                <a:ea typeface="宋体" panose="02010600030101010101" pitchFamily="2" charset="-122"/>
              </a:rPr>
              <a:t> </a:t>
            </a:r>
            <a:r>
              <a:rPr lang="en-US" sz="1400" b="1">
                <a:solidFill>
                  <a:srgbClr val="7F0055"/>
                </a:solidFill>
                <a:latin typeface="Consolas" panose="020B0609020204030204" charset="0"/>
                <a:ea typeface="宋体" panose="02010600030101010101" pitchFamily="2" charset="-122"/>
              </a:rPr>
              <a:t>class</a:t>
            </a:r>
            <a:r>
              <a:rPr lang="en-US" sz="1400">
                <a:solidFill>
                  <a:srgbClr val="000000"/>
                </a:solidFill>
                <a:latin typeface="Consolas" panose="020B0609020204030204" charset="0"/>
                <a:ea typeface="宋体" panose="02010600030101010101" pitchFamily="2" charset="-122"/>
              </a:rPr>
              <a:t> InnerB </a:t>
            </a:r>
            <a:r>
              <a:rPr lang="en-US" sz="1400" b="1">
                <a:solidFill>
                  <a:srgbClr val="7F0055"/>
                </a:solidFill>
                <a:latin typeface="Consolas" panose="020B0609020204030204" charset="0"/>
                <a:ea typeface="宋体" panose="02010600030101010101" pitchFamily="2" charset="-122"/>
              </a:rPr>
              <a:t>extends</a:t>
            </a:r>
            <a:r>
              <a:rPr lang="en-US" sz="1400">
                <a:solidFill>
                  <a:srgbClr val="000000"/>
                </a:solidFill>
                <a:latin typeface="Consolas" panose="020B0609020204030204" charset="0"/>
                <a:ea typeface="宋体" panose="02010600030101010101" pitchFamily="2" charset="-122"/>
              </a:rPr>
              <a:t> BaseB{		</a:t>
            </a:r>
            <a:r>
              <a:rPr lang="en-US" sz="1400">
                <a:solidFill>
                  <a:srgbClr val="646464"/>
                </a:solidFill>
                <a:latin typeface="Consolas" panose="020B0609020204030204" charset="0"/>
                <a:ea typeface="宋体" panose="02010600030101010101" pitchFamily="2" charset="-122"/>
              </a:rPr>
              <a:t>@Override</a:t>
            </a:r>
            <a:r>
              <a:rPr lang="en-US" sz="1400">
                <a:solidFill>
                  <a:srgbClr val="000000"/>
                </a:solidFill>
                <a:latin typeface="Consolas" panose="020B0609020204030204" charset="0"/>
                <a:ea typeface="宋体" panose="02010600030101010101" pitchFamily="2" charset="-122"/>
              </a:rPr>
              <a:t>		String getInfo() {			</a:t>
            </a:r>
            <a:r>
              <a:rPr lang="en-US" sz="1400" b="1">
                <a:solidFill>
                  <a:srgbClr val="7F0055"/>
                </a:solidFill>
                <a:latin typeface="Consolas" panose="020B0609020204030204" charset="0"/>
                <a:ea typeface="宋体" panose="02010600030101010101" pitchFamily="2" charset="-122"/>
              </a:rPr>
              <a:t>return</a:t>
            </a:r>
            <a:r>
              <a:rPr lang="en-US" sz="1400">
                <a:solidFill>
                  <a:srgbClr val="000000"/>
                </a:solidFill>
                <a:latin typeface="Consolas" panose="020B0609020204030204" charset="0"/>
                <a:ea typeface="宋体" panose="02010600030101010101" pitchFamily="2" charset="-122"/>
              </a:rPr>
              <a:t> </a:t>
            </a:r>
            <a:r>
              <a:rPr lang="en-US" sz="1400">
                <a:solidFill>
                  <a:srgbClr val="0000C0"/>
                </a:solidFill>
                <a:latin typeface="Consolas" panose="020B0609020204030204" charset="0"/>
                <a:ea typeface="宋体" panose="02010600030101010101" pitchFamily="2" charset="-122"/>
              </a:rPr>
              <a:t>str</a:t>
            </a:r>
            <a:r>
              <a:rPr lang="en-US" sz="1400">
                <a:solidFill>
                  <a:srgbClr val="000000"/>
                </a:solidFill>
                <a:latin typeface="Consolas" panose="020B0609020204030204" charset="0"/>
                <a:ea typeface="宋体" panose="02010600030101010101" pitchFamily="2" charset="-122"/>
              </a:rPr>
              <a:t>+</a:t>
            </a:r>
            <a:r>
              <a:rPr lang="en-US" sz="1400">
                <a:solidFill>
                  <a:srgbClr val="2A00FF"/>
                </a:solidFill>
                <a:latin typeface="Consolas" panose="020B0609020204030204" charset="0"/>
                <a:ea typeface="宋体" panose="02010600030101010101" pitchFamily="2" charset="-122"/>
              </a:rPr>
              <a:t>"InnerB"</a:t>
            </a:r>
            <a:r>
              <a:rPr lang="en-US" sz="1400">
                <a:solidFill>
                  <a:srgbClr val="000000"/>
                </a:solidFill>
                <a:latin typeface="Consolas" panose="020B0609020204030204" charset="0"/>
                <a:ea typeface="宋体" panose="02010600030101010101" pitchFamily="2" charset="-122"/>
              </a:rPr>
              <a:t>;		}	}	</a:t>
            </a:r>
            <a:r>
              <a:rPr lang="en-US" sz="1400" b="1">
                <a:solidFill>
                  <a:srgbClr val="7F0055"/>
                </a:solidFill>
                <a:latin typeface="Consolas" panose="020B0609020204030204" charset="0"/>
                <a:ea typeface="宋体" panose="02010600030101010101" pitchFamily="2" charset="-122"/>
              </a:rPr>
              <a:t>private</a:t>
            </a:r>
            <a:r>
              <a:rPr lang="en-US" sz="1400">
                <a:solidFill>
                  <a:srgbClr val="000000"/>
                </a:solidFill>
                <a:latin typeface="Consolas" panose="020B0609020204030204" charset="0"/>
                <a:ea typeface="宋体" panose="02010600030101010101" pitchFamily="2" charset="-122"/>
              </a:rPr>
              <a:t> InnerA </a:t>
            </a:r>
            <a:r>
              <a:rPr lang="en-US" sz="1400">
                <a:solidFill>
                  <a:srgbClr val="0000C0"/>
                </a:solidFill>
                <a:latin typeface="Consolas" panose="020B0609020204030204" charset="0"/>
                <a:ea typeface="宋体" panose="02010600030101010101" pitchFamily="2" charset="-122"/>
              </a:rPr>
              <a:t>a</a:t>
            </a:r>
            <a:r>
              <a:rPr lang="en-US" sz="1400">
                <a:solidFill>
                  <a:srgbClr val="000000"/>
                </a:solidFill>
                <a:latin typeface="Consolas" panose="020B0609020204030204" charset="0"/>
                <a:ea typeface="宋体" panose="02010600030101010101" pitchFamily="2" charset="-122"/>
              </a:rPr>
              <a:t>=</a:t>
            </a:r>
            <a:r>
              <a:rPr lang="en-US" sz="1400" b="1">
                <a:solidFill>
                  <a:srgbClr val="7F0055"/>
                </a:solidFill>
                <a:latin typeface="Consolas" panose="020B0609020204030204" charset="0"/>
                <a:ea typeface="宋体" panose="02010600030101010101" pitchFamily="2" charset="-122"/>
              </a:rPr>
              <a:t>new</a:t>
            </a:r>
            <a:r>
              <a:rPr lang="en-US" sz="1400">
                <a:solidFill>
                  <a:srgbClr val="000000"/>
                </a:solidFill>
                <a:latin typeface="Consolas" panose="020B0609020204030204" charset="0"/>
                <a:ea typeface="宋体" panose="02010600030101010101" pitchFamily="2" charset="-122"/>
              </a:rPr>
              <a:t> InnerA();	</a:t>
            </a:r>
            <a:r>
              <a:rPr lang="en-US" sz="1400" b="1">
                <a:solidFill>
                  <a:srgbClr val="7F0055"/>
                </a:solidFill>
                <a:latin typeface="Consolas" panose="020B0609020204030204" charset="0"/>
                <a:ea typeface="宋体" panose="02010600030101010101" pitchFamily="2" charset="-122"/>
              </a:rPr>
              <a:t>private</a:t>
            </a:r>
            <a:r>
              <a:rPr lang="en-US" sz="1400">
                <a:solidFill>
                  <a:srgbClr val="000000"/>
                </a:solidFill>
                <a:latin typeface="Consolas" panose="020B0609020204030204" charset="0"/>
                <a:ea typeface="宋体" panose="02010600030101010101" pitchFamily="2" charset="-122"/>
              </a:rPr>
              <a:t> InnerB </a:t>
            </a:r>
            <a:r>
              <a:rPr lang="en-US" sz="1400">
                <a:solidFill>
                  <a:srgbClr val="0000C0"/>
                </a:solidFill>
                <a:latin typeface="Consolas" panose="020B0609020204030204" charset="0"/>
                <a:ea typeface="宋体" panose="02010600030101010101" pitchFamily="2" charset="-122"/>
              </a:rPr>
              <a:t>b</a:t>
            </a:r>
            <a:r>
              <a:rPr lang="en-US" sz="1400">
                <a:solidFill>
                  <a:srgbClr val="000000"/>
                </a:solidFill>
                <a:latin typeface="Consolas" panose="020B0609020204030204" charset="0"/>
                <a:ea typeface="宋体" panose="02010600030101010101" pitchFamily="2" charset="-122"/>
              </a:rPr>
              <a:t>=</a:t>
            </a:r>
            <a:r>
              <a:rPr lang="en-US" sz="1400" b="1">
                <a:solidFill>
                  <a:srgbClr val="7F0055"/>
                </a:solidFill>
                <a:latin typeface="Consolas" panose="020B0609020204030204" charset="0"/>
                <a:ea typeface="宋体" panose="02010600030101010101" pitchFamily="2" charset="-122"/>
              </a:rPr>
              <a:t>new</a:t>
            </a:r>
            <a:r>
              <a:rPr lang="en-US" sz="1400">
                <a:solidFill>
                  <a:srgbClr val="000000"/>
                </a:solidFill>
                <a:latin typeface="Consolas" panose="020B0609020204030204" charset="0"/>
                <a:ea typeface="宋体" panose="02010600030101010101" pitchFamily="2" charset="-122"/>
              </a:rPr>
              <a:t> InnerB();	</a:t>
            </a:r>
            <a:r>
              <a:rPr lang="en-US" sz="1400" b="1">
                <a:solidFill>
                  <a:srgbClr val="7F0055"/>
                </a:solidFill>
                <a:latin typeface="Consolas" panose="020B0609020204030204" charset="0"/>
                <a:ea typeface="宋体" panose="02010600030101010101" pitchFamily="2" charset="-122"/>
              </a:rPr>
              <a:t>public</a:t>
            </a:r>
            <a:r>
              <a:rPr lang="en-US" sz="1400">
                <a:solidFill>
                  <a:srgbClr val="000000"/>
                </a:solidFill>
                <a:latin typeface="Consolas" panose="020B0609020204030204" charset="0"/>
                <a:ea typeface="宋体" panose="02010600030101010101" pitchFamily="2" charset="-122"/>
              </a:rPr>
              <a:t> String getInfo() {		</a:t>
            </a:r>
            <a:r>
              <a:rPr lang="en-US" sz="1400" b="1">
                <a:solidFill>
                  <a:srgbClr val="7F0055"/>
                </a:solidFill>
                <a:latin typeface="Consolas" panose="020B0609020204030204" charset="0"/>
                <a:ea typeface="宋体" panose="02010600030101010101" pitchFamily="2" charset="-122"/>
              </a:rPr>
              <a:t>return</a:t>
            </a:r>
            <a:r>
              <a:rPr lang="en-US" sz="1400">
                <a:solidFill>
                  <a:srgbClr val="000000"/>
                </a:solidFill>
                <a:latin typeface="Consolas" panose="020B0609020204030204" charset="0"/>
                <a:ea typeface="宋体" panose="02010600030101010101" pitchFamily="2" charset="-122"/>
              </a:rPr>
              <a:t> </a:t>
            </a:r>
            <a:r>
              <a:rPr lang="en-US" sz="1400">
                <a:solidFill>
                  <a:srgbClr val="0000C0"/>
                </a:solidFill>
                <a:latin typeface="Consolas" panose="020B0609020204030204" charset="0"/>
                <a:ea typeface="宋体" panose="02010600030101010101" pitchFamily="2" charset="-122"/>
              </a:rPr>
              <a:t>b</a:t>
            </a:r>
            <a:r>
              <a:rPr lang="en-US" sz="1400">
                <a:solidFill>
                  <a:srgbClr val="000000"/>
                </a:solidFill>
                <a:latin typeface="Consolas" panose="020B0609020204030204" charset="0"/>
                <a:ea typeface="宋体" panose="02010600030101010101" pitchFamily="2" charset="-122"/>
              </a:rPr>
              <a:t>.getInfo();	}	</a:t>
            </a:r>
            <a:r>
              <a:rPr lang="en-US" sz="1400" b="1">
                <a:solidFill>
                  <a:srgbClr val="7F0055"/>
                </a:solidFill>
                <a:latin typeface="Consolas" panose="020B0609020204030204" charset="0"/>
                <a:ea typeface="宋体" panose="02010600030101010101" pitchFamily="2" charset="-122"/>
              </a:rPr>
              <a:t>public</a:t>
            </a:r>
            <a:r>
              <a:rPr lang="en-US" sz="1400">
                <a:solidFill>
                  <a:srgbClr val="000000"/>
                </a:solidFill>
                <a:latin typeface="Consolas" panose="020B0609020204030204" charset="0"/>
                <a:ea typeface="宋体" panose="02010600030101010101" pitchFamily="2" charset="-122"/>
              </a:rPr>
              <a:t> String getName() {		</a:t>
            </a:r>
            <a:r>
              <a:rPr lang="en-US" sz="1400" b="1">
                <a:solidFill>
                  <a:srgbClr val="7F0055"/>
                </a:solidFill>
                <a:latin typeface="Consolas" panose="020B0609020204030204" charset="0"/>
                <a:ea typeface="宋体" panose="02010600030101010101" pitchFamily="2" charset="-122"/>
              </a:rPr>
              <a:t>return</a:t>
            </a:r>
            <a:r>
              <a:rPr lang="en-US" sz="1400">
                <a:solidFill>
                  <a:srgbClr val="000000"/>
                </a:solidFill>
                <a:latin typeface="Consolas" panose="020B0609020204030204" charset="0"/>
                <a:ea typeface="宋体" panose="02010600030101010101" pitchFamily="2" charset="-122"/>
              </a:rPr>
              <a:t> </a:t>
            </a:r>
            <a:r>
              <a:rPr lang="en-US" sz="1400">
                <a:solidFill>
                  <a:srgbClr val="0000C0"/>
                </a:solidFill>
                <a:latin typeface="Consolas" panose="020B0609020204030204" charset="0"/>
                <a:ea typeface="宋体" panose="02010600030101010101" pitchFamily="2" charset="-122"/>
              </a:rPr>
              <a:t>a</a:t>
            </a:r>
            <a:r>
              <a:rPr lang="en-US" sz="1400">
                <a:solidFill>
                  <a:srgbClr val="000000"/>
                </a:solidFill>
                <a:latin typeface="Consolas" panose="020B0609020204030204" charset="0"/>
                <a:ea typeface="宋体" panose="02010600030101010101" pitchFamily="2" charset="-122"/>
              </a:rPr>
              <a:t>.getName();	}	</a:t>
            </a:r>
            <a:r>
              <a:rPr lang="en-US" sz="1400" b="1">
                <a:solidFill>
                  <a:srgbClr val="7F0055"/>
                </a:solidFill>
                <a:latin typeface="Consolas" panose="020B0609020204030204" charset="0"/>
                <a:ea typeface="宋体" panose="02010600030101010101" pitchFamily="2" charset="-122"/>
              </a:rPr>
              <a:t>public</a:t>
            </a:r>
            <a:r>
              <a:rPr lang="en-US" sz="1400">
                <a:solidFill>
                  <a:srgbClr val="000000"/>
                </a:solidFill>
                <a:latin typeface="Consolas" panose="020B0609020204030204" charset="0"/>
                <a:ea typeface="宋体" panose="02010600030101010101" pitchFamily="2" charset="-122"/>
              </a:rPr>
              <a:t> </a:t>
            </a:r>
            <a:r>
              <a:rPr lang="en-US" sz="1400" b="1">
                <a:solidFill>
                  <a:srgbClr val="7F0055"/>
                </a:solidFill>
                <a:latin typeface="Consolas" panose="020B0609020204030204" charset="0"/>
                <a:ea typeface="宋体" panose="02010600030101010101" pitchFamily="2" charset="-122"/>
              </a:rPr>
              <a:t>static</a:t>
            </a:r>
            <a:r>
              <a:rPr lang="en-US" sz="1400">
                <a:solidFill>
                  <a:srgbClr val="000000"/>
                </a:solidFill>
                <a:latin typeface="Consolas" panose="020B0609020204030204" charset="0"/>
                <a:ea typeface="宋体" panose="02010600030101010101" pitchFamily="2" charset="-122"/>
              </a:rPr>
              <a:t> </a:t>
            </a:r>
            <a:r>
              <a:rPr lang="en-US" sz="1400" b="1">
                <a:solidFill>
                  <a:srgbClr val="7F0055"/>
                </a:solidFill>
                <a:latin typeface="Consolas" panose="020B0609020204030204" charset="0"/>
                <a:ea typeface="宋体" panose="02010600030101010101" pitchFamily="2" charset="-122"/>
              </a:rPr>
              <a:t>void</a:t>
            </a:r>
            <a:r>
              <a:rPr lang="en-US" sz="1400">
                <a:solidFill>
                  <a:srgbClr val="000000"/>
                </a:solidFill>
                <a:latin typeface="Consolas" panose="020B0609020204030204" charset="0"/>
                <a:ea typeface="宋体" panose="02010600030101010101" pitchFamily="2" charset="-122"/>
              </a:rPr>
              <a:t> main(String[] </a:t>
            </a:r>
            <a:r>
              <a:rPr lang="en-US" sz="1400">
                <a:solidFill>
                  <a:srgbClr val="6A3E3E"/>
                </a:solidFill>
                <a:latin typeface="Consolas" panose="020B0609020204030204" charset="0"/>
                <a:ea typeface="宋体" panose="02010600030101010101" pitchFamily="2" charset="-122"/>
              </a:rPr>
              <a:t>arg</a:t>
            </a:r>
            <a:r>
              <a:rPr lang="en-US" sz="1400">
                <a:solidFill>
                  <a:srgbClr val="000000"/>
                </a:solidFill>
                <a:latin typeface="Consolas" panose="020B0609020204030204" charset="0"/>
                <a:ea typeface="宋体" panose="02010600030101010101" pitchFamily="2" charset="-122"/>
              </a:rPr>
              <a:t>) {		InnerClass </a:t>
            </a:r>
            <a:r>
              <a:rPr lang="en-US" sz="1400">
                <a:solidFill>
                  <a:srgbClr val="6A3E3E"/>
                </a:solidFill>
                <a:latin typeface="Consolas" panose="020B0609020204030204" charset="0"/>
                <a:ea typeface="宋体" panose="02010600030101010101" pitchFamily="2" charset="-122"/>
              </a:rPr>
              <a:t>ic</a:t>
            </a:r>
            <a:r>
              <a:rPr lang="en-US" sz="1400">
                <a:solidFill>
                  <a:srgbClr val="000000"/>
                </a:solidFill>
                <a:latin typeface="Consolas" panose="020B0609020204030204" charset="0"/>
                <a:ea typeface="宋体" panose="02010600030101010101" pitchFamily="2" charset="-122"/>
              </a:rPr>
              <a:t>=</a:t>
            </a:r>
            <a:r>
              <a:rPr lang="en-US" sz="1400" b="1">
                <a:solidFill>
                  <a:srgbClr val="7F0055"/>
                </a:solidFill>
                <a:latin typeface="Consolas" panose="020B0609020204030204" charset="0"/>
                <a:ea typeface="宋体" panose="02010600030101010101" pitchFamily="2" charset="-122"/>
              </a:rPr>
              <a:t>new</a:t>
            </a:r>
            <a:r>
              <a:rPr lang="en-US" sz="1400">
                <a:solidFill>
                  <a:srgbClr val="000000"/>
                </a:solidFill>
                <a:latin typeface="Consolas" panose="020B0609020204030204" charset="0"/>
                <a:ea typeface="宋体" panose="02010600030101010101" pitchFamily="2" charset="-122"/>
              </a:rPr>
              <a:t> InnerClass();	System.</a:t>
            </a:r>
            <a:r>
              <a:rPr lang="en-US" sz="1400" b="1" i="1">
                <a:solidFill>
                  <a:srgbClr val="0000C0"/>
                </a:solidFill>
                <a:latin typeface="Consolas" panose="020B0609020204030204" charset="0"/>
                <a:ea typeface="宋体" panose="02010600030101010101" pitchFamily="2" charset="-122"/>
              </a:rPr>
              <a:t>out</a:t>
            </a:r>
            <a:r>
              <a:rPr lang="en-US" sz="1400">
                <a:solidFill>
                  <a:srgbClr val="000000"/>
                </a:solidFill>
                <a:latin typeface="Consolas" panose="020B0609020204030204" charset="0"/>
                <a:ea typeface="宋体" panose="02010600030101010101" pitchFamily="2" charset="-122"/>
              </a:rPr>
              <a:t>.println(</a:t>
            </a:r>
            <a:r>
              <a:rPr lang="en-US" sz="1400">
                <a:solidFill>
                  <a:srgbClr val="6A3E3E"/>
                </a:solidFill>
                <a:latin typeface="Consolas" panose="020B0609020204030204" charset="0"/>
                <a:ea typeface="宋体" panose="02010600030101010101" pitchFamily="2" charset="-122"/>
              </a:rPr>
              <a:t>ic</a:t>
            </a:r>
            <a:r>
              <a:rPr lang="en-US" sz="1400">
                <a:solidFill>
                  <a:srgbClr val="000000"/>
                </a:solidFill>
                <a:latin typeface="Consolas" panose="020B0609020204030204" charset="0"/>
                <a:ea typeface="宋体" panose="02010600030101010101" pitchFamily="2" charset="-122"/>
              </a:rPr>
              <a:t>.getInfo()+</a:t>
            </a:r>
            <a:r>
              <a:rPr lang="en-US" sz="1400">
                <a:solidFill>
                  <a:srgbClr val="6A3E3E"/>
                </a:solidFill>
                <a:latin typeface="Consolas" panose="020B0609020204030204" charset="0"/>
                <a:ea typeface="宋体" panose="02010600030101010101" pitchFamily="2" charset="-122"/>
              </a:rPr>
              <a:t>ic</a:t>
            </a:r>
            <a:r>
              <a:rPr lang="en-US" sz="1400">
                <a:solidFill>
                  <a:srgbClr val="000000"/>
                </a:solidFill>
                <a:latin typeface="Consolas" panose="020B0609020204030204" charset="0"/>
                <a:ea typeface="宋体" panose="02010600030101010101" pitchFamily="2" charset="-122"/>
              </a:rPr>
              <a:t>.getName());	}</a:t>
            </a:r>
            <a:r>
              <a:rPr lang="en-US" sz="1400">
                <a:latin typeface="Consolas" panose="020B0609020204030204" charset="0"/>
                <a:ea typeface="宋体" panose="02010600030101010101" pitchFamily="2" charset="-122"/>
              </a:rPr>
              <a:t> </a:t>
            </a:r>
            <a:r>
              <a:rPr lang="en-US" sz="1400">
                <a:solidFill>
                  <a:srgbClr val="000000"/>
                </a:solidFill>
                <a:latin typeface="Consolas" panose="020B0609020204030204" charset="0"/>
                <a:ea typeface="宋体" panose="02010600030101010101" pitchFamily="2" charset="-122"/>
              </a:rPr>
              <a:t>}</a:t>
            </a:r>
            <a:endParaRPr lang="en-US" altLang="en-US" sz="1400">
              <a:solidFill>
                <a:srgbClr val="000000"/>
              </a:solidFill>
              <a:latin typeface="Consolas" panose="020B0609020204030204" charset="0"/>
              <a:ea typeface="宋体" panose="02010600030101010101" pitchFamily="2" charset="-122"/>
            </a:endParaRP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a:t>外部类调用内部类</a:t>
            </a:r>
            <a:endParaRPr lang="zh-CN" altLang="en-US"/>
          </a:p>
        </p:txBody>
      </p:sp>
      <p:sp>
        <p:nvSpPr>
          <p:cNvPr id="50177" name="文本占位符 47105"/>
          <p:cNvSpPr>
            <a:spLocks noGrp="1" noChangeArrowheads="1"/>
          </p:cNvSpPr>
          <p:nvPr>
            <p:ph idx="1"/>
          </p:nvPr>
        </p:nvSpPr>
        <p:spPr>
          <a:solidFill>
            <a:srgbClr val="FFFFFF"/>
          </a:solidFill>
        </p:spPr>
        <p:txBody>
          <a:bodyPr>
            <a:normAutofit fontScale="60000"/>
          </a:bodyPr>
          <a:lstStyle/>
          <a:p>
            <a:pPr latinLnBrk="0">
              <a:lnSpc>
                <a:spcPct val="150000"/>
              </a:lnSpc>
              <a:spcBef>
                <a:spcPts val="0"/>
              </a:spcBef>
            </a:pPr>
            <a:r>
              <a:rPr lang="zh-CN" altLang="en-US" sz="3300" dirty="0" smtClean="0"/>
              <a:t>非静态内部类必须通过外部类对象进行构造。</a:t>
            </a:r>
            <a:endParaRPr lang="zh-CN" altLang="en-US" sz="3300" dirty="0" smtClean="0"/>
          </a:p>
          <a:p>
            <a:pPr latinLnBrk="0">
              <a:lnSpc>
                <a:spcPct val="150000"/>
              </a:lnSpc>
              <a:spcBef>
                <a:spcPts val="0"/>
              </a:spcBef>
            </a:pPr>
            <a:r>
              <a:rPr lang="zh-CN" altLang="en-US" sz="3300" dirty="0" smtClean="0"/>
              <a:t>每一个内部类对象一定默认含有一个外部类对象的引用。</a:t>
            </a:r>
            <a:endParaRPr lang="zh-CN" altLang="en-US" sz="3300" b="1" dirty="0" smtClean="0"/>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class Parcel2Test {</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public static void main(String[] </a:t>
            </a:r>
            <a:r>
              <a:rPr lang="en-US" sz="3000" b="1" dirty="0" err="1" smtClean="0">
                <a:solidFill>
                  <a:schemeClr val="tx1"/>
                </a:solidFill>
                <a:latin typeface="Courier New" panose="02070309020205020404" pitchFamily="49" charset="0"/>
                <a:ea typeface="黑体" panose="02010609060101010101" pitchFamily="49" charset="-122"/>
              </a:rPr>
              <a:t>args</a:t>
            </a:r>
            <a:r>
              <a:rPr lang="en-US" sz="3000" b="1" dirty="0" smtClean="0">
                <a:solidFill>
                  <a:schemeClr val="tx1"/>
                </a:solidFill>
                <a:latin typeface="Courier New" panose="02070309020205020404" pitchFamily="49" charset="0"/>
                <a:ea typeface="黑体" panose="02010609060101010101" pitchFamily="49" charset="-122"/>
              </a:rPr>
              <a:t>) {</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Parcel2 p1 = new Parcel2();</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p1.ship("Beijing",100);</a:t>
            </a:r>
            <a:endParaRPr lang="en-US" sz="3000" b="1" dirty="0" smtClean="0">
              <a:solidFill>
                <a:schemeClr val="tx1"/>
              </a:solidFill>
              <a:latin typeface="Courier New" panose="02070309020205020404" pitchFamily="49" charset="0"/>
              <a:ea typeface="黑体" panose="02010609060101010101" pitchFamily="49" charset="-122"/>
            </a:endParaRPr>
          </a:p>
          <a:p>
            <a:pPr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a:t>
            </a:r>
            <a:r>
              <a:rPr lang="en-US" sz="3000" b="1" dirty="0" smtClean="0">
                <a:solidFill>
                  <a:srgbClr val="FF0000"/>
                </a:solidFill>
                <a:latin typeface="Courier New" panose="02070309020205020404" pitchFamily="49" charset="0"/>
                <a:ea typeface="黑体" panose="02010609060101010101" pitchFamily="49" charset="-122"/>
              </a:rPr>
              <a:t>Parcel2.Contents</a:t>
            </a:r>
            <a:r>
              <a:rPr lang="en-US" sz="3000" b="1" dirty="0" smtClean="0">
                <a:solidFill>
                  <a:schemeClr val="tx1"/>
                </a:solidFill>
                <a:latin typeface="Courier New" panose="02070309020205020404" pitchFamily="49" charset="0"/>
                <a:ea typeface="黑体" panose="02010609060101010101" pitchFamily="49" charset="-122"/>
              </a:rPr>
              <a:t> cc     //</a:t>
            </a:r>
            <a:r>
              <a:rPr lang="zh-CN" altLang="en-US" sz="3000" b="1" dirty="0" smtClean="0">
                <a:solidFill>
                  <a:srgbClr val="00B050"/>
                </a:solidFill>
                <a:latin typeface="Courier New" panose="02070309020205020404" pitchFamily="49" charset="0"/>
                <a:ea typeface="黑体" panose="02010609060101010101" pitchFamily="49" charset="-122"/>
              </a:rPr>
              <a:t>内部类对象类型声明</a:t>
            </a:r>
            <a:br>
              <a:rPr lang="en-US" sz="3000" b="1" dirty="0" smtClean="0">
                <a:solidFill>
                  <a:srgbClr val="00B050"/>
                </a:solidFill>
                <a:latin typeface="Courier New" panose="02070309020205020404" pitchFamily="49" charset="0"/>
                <a:ea typeface="黑体" panose="02010609060101010101" pitchFamily="49" charset="-122"/>
              </a:rPr>
            </a:br>
            <a:r>
              <a:rPr lang="en-US" sz="3000" b="1" dirty="0" smtClean="0">
                <a:solidFill>
                  <a:schemeClr val="tx1"/>
                </a:solidFill>
                <a:latin typeface="Courier New" panose="02070309020205020404" pitchFamily="49" charset="0"/>
                <a:ea typeface="黑体" panose="02010609060101010101" pitchFamily="49" charset="-122"/>
              </a:rPr>
              <a:t>             = </a:t>
            </a:r>
            <a:r>
              <a:rPr lang="en-US" sz="3000" b="1" dirty="0" smtClean="0">
                <a:solidFill>
                  <a:srgbClr val="FF0000"/>
                </a:solidFill>
                <a:latin typeface="Courier New" panose="02070309020205020404" pitchFamily="49" charset="0"/>
                <a:ea typeface="黑体" panose="02010609060101010101" pitchFamily="49" charset="-122"/>
              </a:rPr>
              <a:t>p1.new</a:t>
            </a:r>
            <a:r>
              <a:rPr lang="en-US" sz="3000" b="1" dirty="0" smtClean="0">
                <a:solidFill>
                  <a:schemeClr val="tx1"/>
                </a:solidFill>
                <a:latin typeface="Courier New" panose="02070309020205020404" pitchFamily="49" charset="0"/>
                <a:ea typeface="黑体" panose="02010609060101010101" pitchFamily="49" charset="-122"/>
              </a:rPr>
              <a:t> Contents(1010);</a:t>
            </a:r>
            <a:r>
              <a:rPr lang="en-US" sz="3000" b="1" dirty="0" smtClean="0">
                <a:latin typeface="Courier New" panose="02070309020205020404" pitchFamily="49" charset="0"/>
                <a:ea typeface="黑体" panose="02010609060101010101" pitchFamily="49" charset="-122"/>
                <a:sym typeface="+mn-ea"/>
              </a:rPr>
              <a:t>//</a:t>
            </a:r>
            <a:r>
              <a:rPr lang="zh-CN" altLang="en-US" sz="3000" b="1" dirty="0" smtClean="0">
                <a:solidFill>
                  <a:srgbClr val="00B050"/>
                </a:solidFill>
                <a:latin typeface="Courier New" panose="02070309020205020404" pitchFamily="49" charset="0"/>
                <a:ea typeface="黑体" panose="02010609060101010101" pitchFamily="49" charset="-122"/>
                <a:sym typeface="+mn-ea"/>
              </a:rPr>
              <a:t>内部类对象构造需要使用外部类对象</a:t>
            </a:r>
            <a:endParaRPr lang="zh-CN" altLang="en-US" sz="3000" b="1" dirty="0" smtClean="0">
              <a:solidFill>
                <a:srgbClr val="00B050"/>
              </a:solidFill>
              <a:latin typeface="Courier New" panose="02070309020205020404" pitchFamily="49" charset="0"/>
              <a:ea typeface="黑体" panose="02010609060101010101" pitchFamily="49" charset="-122"/>
              <a:sym typeface="+mn-ea"/>
            </a:endParaRPr>
          </a:p>
          <a:p>
            <a:pPr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a:t>
            </a:r>
            <a:r>
              <a:rPr lang="en-US" sz="3000" b="1" dirty="0" err="1" smtClean="0">
                <a:solidFill>
                  <a:schemeClr val="tx1"/>
                </a:solidFill>
                <a:latin typeface="Courier New" panose="02070309020205020404" pitchFamily="49" charset="0"/>
                <a:ea typeface="黑体" panose="02010609060101010101" pitchFamily="49" charset="-122"/>
              </a:rPr>
              <a:t>System.out.println</a:t>
            </a:r>
            <a:r>
              <a:rPr lang="en-US" sz="3000" b="1" dirty="0" smtClean="0">
                <a:solidFill>
                  <a:schemeClr val="tx1"/>
                </a:solidFill>
                <a:latin typeface="Courier New" panose="02070309020205020404" pitchFamily="49" charset="0"/>
                <a:ea typeface="黑体" panose="02010609060101010101" pitchFamily="49" charset="-122"/>
              </a:rPr>
              <a:t>(</a:t>
            </a:r>
            <a:r>
              <a:rPr lang="en-US" sz="3000" b="1" dirty="0" err="1" smtClean="0">
                <a:solidFill>
                  <a:schemeClr val="tx1"/>
                </a:solidFill>
                <a:latin typeface="Courier New" panose="02070309020205020404" pitchFamily="49" charset="0"/>
                <a:ea typeface="黑体" panose="02010609060101010101" pitchFamily="49" charset="-122"/>
              </a:rPr>
              <a:t>cc.value</a:t>
            </a:r>
            <a:r>
              <a:rPr lang="en-US" sz="3000" b="1" dirty="0" smtClean="0">
                <a:solidFill>
                  <a:schemeClr val="tx1"/>
                </a:solidFill>
                <a:latin typeface="Courier New" panose="02070309020205020404" pitchFamily="49" charset="0"/>
                <a:ea typeface="黑体" panose="02010609060101010101" pitchFamily="49" charset="-122"/>
              </a:rPr>
              <a:t>());</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Parcel2 p2 = new Parcel2();</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Parcel2.Contents c = p2.cont(200); </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Parcel2.Destination d = p2.to("Shanghai"); </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a:t>
            </a:r>
            <a:r>
              <a:rPr lang="en-US" sz="3000" b="1" dirty="0" err="1" smtClean="0">
                <a:solidFill>
                  <a:schemeClr val="tx1"/>
                </a:solidFill>
                <a:latin typeface="Courier New" panose="02070309020205020404" pitchFamily="49" charset="0"/>
                <a:ea typeface="黑体" panose="02010609060101010101" pitchFamily="49" charset="-122"/>
              </a:rPr>
              <a:t>System.out.println</a:t>
            </a:r>
            <a:r>
              <a:rPr lang="en-US" sz="3000" b="1" dirty="0" smtClean="0">
                <a:solidFill>
                  <a:schemeClr val="tx1"/>
                </a:solidFill>
                <a:latin typeface="Courier New" panose="02070309020205020404" pitchFamily="49" charset="0"/>
                <a:ea typeface="黑体" panose="02010609060101010101" pitchFamily="49" charset="-122"/>
              </a:rPr>
              <a:t>(</a:t>
            </a:r>
            <a:r>
              <a:rPr lang="en-US" sz="3000" b="1" dirty="0" err="1" smtClean="0">
                <a:solidFill>
                  <a:schemeClr val="tx1"/>
                </a:solidFill>
                <a:latin typeface="Courier New" panose="02070309020205020404" pitchFamily="49" charset="0"/>
                <a:ea typeface="黑体" panose="02010609060101010101" pitchFamily="49" charset="-122"/>
              </a:rPr>
              <a:t>c.value</a:t>
            </a:r>
            <a:r>
              <a:rPr lang="en-US" sz="3000" b="1" dirty="0" smtClean="0">
                <a:solidFill>
                  <a:schemeClr val="tx1"/>
                </a:solidFill>
                <a:latin typeface="Courier New" panose="02070309020205020404" pitchFamily="49" charset="0"/>
                <a:ea typeface="黑体" panose="02010609060101010101" pitchFamily="49" charset="-122"/>
              </a:rPr>
              <a:t>());</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a:t>
            </a:r>
            <a:r>
              <a:rPr lang="en-US" sz="3000" b="1" dirty="0" err="1" smtClean="0">
                <a:solidFill>
                  <a:schemeClr val="tx1"/>
                </a:solidFill>
                <a:latin typeface="Courier New" panose="02070309020205020404" pitchFamily="49" charset="0"/>
                <a:ea typeface="黑体" panose="02010609060101010101" pitchFamily="49" charset="-122"/>
              </a:rPr>
              <a:t>System.out.println</a:t>
            </a:r>
            <a:r>
              <a:rPr lang="en-US" sz="3000" b="1" dirty="0" smtClean="0">
                <a:solidFill>
                  <a:schemeClr val="tx1"/>
                </a:solidFill>
                <a:latin typeface="Courier New" panose="02070309020205020404" pitchFamily="49" charset="0"/>
                <a:ea typeface="黑体" panose="02010609060101010101" pitchFamily="49" charset="-122"/>
              </a:rPr>
              <a:t>(</a:t>
            </a:r>
            <a:r>
              <a:rPr lang="en-US" sz="3000" b="1" dirty="0" err="1" smtClean="0">
                <a:solidFill>
                  <a:schemeClr val="tx1"/>
                </a:solidFill>
                <a:latin typeface="Courier New" panose="02070309020205020404" pitchFamily="49" charset="0"/>
                <a:ea typeface="黑体" panose="02010609060101010101" pitchFamily="49" charset="-122"/>
              </a:rPr>
              <a:t>d.readLabel</a:t>
            </a:r>
            <a:r>
              <a:rPr lang="en-US" sz="3000" b="1" dirty="0" smtClean="0">
                <a:solidFill>
                  <a:schemeClr val="tx1"/>
                </a:solidFill>
                <a:latin typeface="Courier New" panose="02070309020205020404" pitchFamily="49" charset="0"/>
                <a:ea typeface="黑体" panose="02010609060101010101" pitchFamily="49" charset="-122"/>
              </a:rPr>
              <a:t>());</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  </a:t>
            </a:r>
            <a:endParaRPr lang="en-US" sz="3000" b="1" dirty="0" smtClean="0">
              <a:solidFill>
                <a:schemeClr val="tx1"/>
              </a:solidFill>
              <a:latin typeface="Courier New" panose="02070309020205020404" pitchFamily="49" charset="0"/>
              <a:ea typeface="黑体" panose="02010609060101010101" pitchFamily="49" charset="-122"/>
            </a:endParaRPr>
          </a:p>
          <a:p>
            <a:pPr algn="just" latinLnBrk="0">
              <a:lnSpc>
                <a:spcPct val="90000"/>
              </a:lnSpc>
              <a:spcBef>
                <a:spcPts val="0"/>
              </a:spcBef>
              <a:buFont typeface="Wingdings" panose="05000000000000000000" pitchFamily="2" charset="2"/>
              <a:buNone/>
            </a:pPr>
            <a:r>
              <a:rPr lang="en-US" sz="3000" b="1" dirty="0" smtClean="0">
                <a:solidFill>
                  <a:schemeClr val="tx1"/>
                </a:solidFill>
                <a:latin typeface="Courier New" panose="02070309020205020404" pitchFamily="49" charset="0"/>
                <a:ea typeface="黑体" panose="02010609060101010101" pitchFamily="49" charset="-122"/>
              </a:rPr>
              <a:t>} </a:t>
            </a:r>
            <a:endParaRPr lang="en-US" altLang="en-US" sz="3000" b="1" dirty="0" smtClean="0">
              <a:solidFill>
                <a:schemeClr val="tx1"/>
              </a:solidFill>
              <a:latin typeface="Courier New" panose="02070309020205020404" pitchFamily="49" charset="0"/>
              <a:ea typeface="黑体" panose="02010609060101010101" pitchFamily="49" charset="-122"/>
              <a:cs typeface="Courier New" panose="02070309020205020404" pitchFamily="49" charset="0"/>
            </a:endParaRP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内部类的</a:t>
            </a:r>
            <a:r>
              <a:rPr lang="en-US" altLang="zh-CN"/>
              <a:t>this</a:t>
            </a:r>
            <a:endParaRPr lang="en-US" altLang="zh-CN"/>
          </a:p>
        </p:txBody>
      </p:sp>
      <p:sp>
        <p:nvSpPr>
          <p:cNvPr id="3" name="内容占位符 2"/>
          <p:cNvSpPr>
            <a:spLocks noGrp="1"/>
          </p:cNvSpPr>
          <p:nvPr>
            <p:ph idx="1"/>
          </p:nvPr>
        </p:nvSpPr>
        <p:spPr/>
        <p:txBody>
          <a:bodyPr/>
          <a:p>
            <a:r>
              <a:rPr lang="zh-CN" altLang="en-US"/>
              <a:t>内部类的</a:t>
            </a:r>
            <a:r>
              <a:rPr lang="en-US" altLang="zh-CN"/>
              <a:t>this</a:t>
            </a:r>
            <a:r>
              <a:rPr lang="zh-CN" altLang="en-US"/>
              <a:t>指代当前内部类对象，如果需要引用外部类对象，可以加外部类名称</a:t>
            </a:r>
            <a:r>
              <a:rPr lang="zh-CN" altLang="en-US"/>
              <a:t>限定：</a:t>
            </a:r>
            <a:endParaRPr lang="zh-CN" altLang="en-US"/>
          </a:p>
          <a:p>
            <a:pPr lvl="1"/>
            <a:r>
              <a:rPr lang="en-US" altLang="zh-CN"/>
              <a:t>[OuterClassName].this</a:t>
            </a:r>
            <a:endParaRPr lang="zh-CN" altLang="en-US"/>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内部类继承</a:t>
            </a:r>
            <a:endParaRPr lang="zh-CN" altLang="en-US"/>
          </a:p>
        </p:txBody>
      </p:sp>
      <p:sp>
        <p:nvSpPr>
          <p:cNvPr id="3" name="内容占位符 2"/>
          <p:cNvSpPr>
            <a:spLocks noGrp="1"/>
          </p:cNvSpPr>
          <p:nvPr>
            <p:ph idx="1"/>
          </p:nvPr>
        </p:nvSpPr>
        <p:spPr/>
        <p:txBody>
          <a:bodyPr/>
          <a:p>
            <a:r>
              <a:rPr lang="zh-CN" altLang="en-US" sz="2800"/>
              <a:t>内部类</a:t>
            </a:r>
            <a:r>
              <a:rPr lang="zh-CN" altLang="en-US" sz="2800"/>
              <a:t>隐含外部类的对象引用，继承时需要传递原有外部类对象</a:t>
            </a:r>
            <a:endParaRPr lang="zh-CN" altLang="en-US" sz="2800"/>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
        <p:nvSpPr>
          <p:cNvPr id="8" name="文本框 7"/>
          <p:cNvSpPr txBox="1"/>
          <p:nvPr/>
        </p:nvSpPr>
        <p:spPr>
          <a:xfrm>
            <a:off x="2588260" y="2132965"/>
            <a:ext cx="7132955" cy="4086860"/>
          </a:xfrm>
          <a:prstGeom prst="rect">
            <a:avLst/>
          </a:prstGeom>
          <a:noFill/>
          <a:ln w="9525">
            <a:noFill/>
          </a:ln>
        </p:spPr>
        <p:txBody>
          <a:bodyPr wrap="square">
            <a:noAutofit/>
          </a:bodyPr>
          <a:p>
            <a:r>
              <a:rPr lang="en-US" sz="1400" b="1">
                <a:solidFill>
                  <a:srgbClr val="7F0055"/>
                </a:solidFill>
                <a:latin typeface="Consolas" panose="020B0609020204030204" charset="0"/>
                <a:sym typeface="+mn-ea"/>
              </a:rPr>
              <a:t>public</a:t>
            </a:r>
            <a:r>
              <a:rPr lang="en-US" sz="1400">
                <a:solidFill>
                  <a:srgbClr val="000000"/>
                </a:solidFill>
                <a:latin typeface="Consolas" panose="020B0609020204030204" charset="0"/>
                <a:sym typeface="+mn-ea"/>
              </a:rPr>
              <a:t> </a:t>
            </a:r>
            <a:r>
              <a:rPr lang="en-US" sz="1400" b="1">
                <a:solidFill>
                  <a:srgbClr val="7F0055"/>
                </a:solidFill>
                <a:latin typeface="Consolas" panose="020B0609020204030204" charset="0"/>
                <a:sym typeface="+mn-ea"/>
              </a:rPr>
              <a:t>class</a:t>
            </a:r>
            <a:r>
              <a:rPr lang="en-US" sz="1400">
                <a:solidFill>
                  <a:srgbClr val="000000"/>
                </a:solidFill>
                <a:latin typeface="Consolas" panose="020B0609020204030204" charset="0"/>
                <a:sym typeface="+mn-ea"/>
              </a:rPr>
              <a:t> OuterClass {	</a:t>
            </a:r>
            <a:r>
              <a:rPr lang="en-US" sz="1400" b="1">
                <a:solidFill>
                  <a:srgbClr val="7F0055"/>
                </a:solidFill>
                <a:latin typeface="Consolas" panose="020B0609020204030204" charset="0"/>
                <a:sym typeface="+mn-ea"/>
              </a:rPr>
              <a:t>private</a:t>
            </a:r>
            <a:r>
              <a:rPr lang="en-US" sz="1400">
                <a:solidFill>
                  <a:srgbClr val="000000"/>
                </a:solidFill>
                <a:latin typeface="Consolas" panose="020B0609020204030204" charset="0"/>
                <a:sym typeface="+mn-ea"/>
              </a:rPr>
              <a:t> String </a:t>
            </a:r>
            <a:r>
              <a:rPr lang="en-US" sz="1400">
                <a:solidFill>
                  <a:srgbClr val="0000C0"/>
                </a:solidFill>
                <a:latin typeface="Consolas" panose="020B0609020204030204" charset="0"/>
                <a:sym typeface="+mn-ea"/>
              </a:rPr>
              <a:t>str</a:t>
            </a:r>
            <a:r>
              <a:rPr lang="en-US" sz="1400">
                <a:solidFill>
                  <a:srgbClr val="000000"/>
                </a:solidFill>
                <a:latin typeface="Consolas" panose="020B0609020204030204" charset="0"/>
                <a:sym typeface="+mn-ea"/>
              </a:rPr>
              <a:t>=</a:t>
            </a:r>
            <a:r>
              <a:rPr lang="en-US" sz="1400">
                <a:solidFill>
                  <a:srgbClr val="2A00FF"/>
                </a:solidFill>
                <a:latin typeface="Consolas" panose="020B0609020204030204" charset="0"/>
                <a:sym typeface="+mn-ea"/>
              </a:rPr>
              <a:t>"InnerClassExample"</a:t>
            </a:r>
            <a:r>
              <a:rPr lang="en-US" sz="1400">
                <a:solidFill>
                  <a:srgbClr val="000000"/>
                </a:solidFill>
                <a:latin typeface="Consolas" panose="020B0609020204030204" charset="0"/>
                <a:sym typeface="+mn-ea"/>
              </a:rPr>
              <a:t>;	</a:t>
            </a:r>
            <a:r>
              <a:rPr lang="en-US" sz="1400" b="1">
                <a:solidFill>
                  <a:srgbClr val="7F0055"/>
                </a:solidFill>
                <a:latin typeface="Consolas" panose="020B0609020204030204" charset="0"/>
                <a:sym typeface="+mn-ea"/>
              </a:rPr>
              <a:t>public</a:t>
            </a:r>
            <a:r>
              <a:rPr lang="en-US" sz="1400">
                <a:solidFill>
                  <a:srgbClr val="000000"/>
                </a:solidFill>
                <a:latin typeface="Consolas" panose="020B0609020204030204" charset="0"/>
                <a:sym typeface="+mn-ea"/>
              </a:rPr>
              <a:t> </a:t>
            </a:r>
            <a:r>
              <a:rPr lang="en-US" sz="1400" b="1">
                <a:solidFill>
                  <a:srgbClr val="7F0055"/>
                </a:solidFill>
                <a:latin typeface="Consolas" panose="020B0609020204030204" charset="0"/>
                <a:sym typeface="+mn-ea"/>
              </a:rPr>
              <a:t>class</a:t>
            </a:r>
            <a:r>
              <a:rPr lang="en-US" sz="1400">
                <a:solidFill>
                  <a:srgbClr val="000000"/>
                </a:solidFill>
                <a:latin typeface="Consolas" panose="020B0609020204030204" charset="0"/>
                <a:sym typeface="+mn-ea"/>
              </a:rPr>
              <a:t> InnerA </a:t>
            </a:r>
            <a:r>
              <a:rPr lang="en-US" sz="1400" b="1">
                <a:solidFill>
                  <a:srgbClr val="7F0055"/>
                </a:solidFill>
                <a:latin typeface="Consolas" panose="020B0609020204030204" charset="0"/>
                <a:sym typeface="+mn-ea"/>
              </a:rPr>
              <a:t>extends</a:t>
            </a:r>
            <a:r>
              <a:rPr lang="en-US" sz="1400">
                <a:solidFill>
                  <a:srgbClr val="000000"/>
                </a:solidFill>
                <a:latin typeface="Consolas" panose="020B0609020204030204" charset="0"/>
                <a:sym typeface="+mn-ea"/>
              </a:rPr>
              <a:t> BaseA{		InnerA(String </a:t>
            </a:r>
            <a:r>
              <a:rPr lang="en-US" sz="1400">
                <a:solidFill>
                  <a:srgbClr val="6A3E3E"/>
                </a:solidFill>
                <a:latin typeface="Consolas" panose="020B0609020204030204" charset="0"/>
                <a:sym typeface="+mn-ea"/>
              </a:rPr>
              <a:t>s</a:t>
            </a:r>
            <a:r>
              <a:rPr lang="en-US" sz="1400">
                <a:solidFill>
                  <a:srgbClr val="000000"/>
                </a:solidFill>
                <a:latin typeface="Consolas" panose="020B0609020204030204" charset="0"/>
                <a:sym typeface="+mn-ea"/>
              </a:rPr>
              <a:t>){			InnerClass.</a:t>
            </a:r>
            <a:r>
              <a:rPr lang="en-US" sz="1400" b="1">
                <a:solidFill>
                  <a:srgbClr val="7F0055"/>
                </a:solidFill>
                <a:latin typeface="Consolas" panose="020B0609020204030204" charset="0"/>
                <a:sym typeface="+mn-ea"/>
              </a:rPr>
              <a:t>this</a:t>
            </a:r>
            <a:r>
              <a:rPr lang="en-US" sz="1400">
                <a:solidFill>
                  <a:srgbClr val="000000"/>
                </a:solidFill>
                <a:latin typeface="Consolas" panose="020B0609020204030204" charset="0"/>
                <a:sym typeface="+mn-ea"/>
              </a:rPr>
              <a:t>.</a:t>
            </a:r>
            <a:r>
              <a:rPr lang="en-US" sz="1400">
                <a:solidFill>
                  <a:srgbClr val="0000C0"/>
                </a:solidFill>
                <a:latin typeface="Consolas" panose="020B0609020204030204" charset="0"/>
                <a:sym typeface="+mn-ea"/>
              </a:rPr>
              <a:t>str</a:t>
            </a:r>
            <a:r>
              <a:rPr lang="en-US" sz="1400">
                <a:solidFill>
                  <a:srgbClr val="000000"/>
                </a:solidFill>
                <a:latin typeface="Consolas" panose="020B0609020204030204" charset="0"/>
                <a:sym typeface="+mn-ea"/>
              </a:rPr>
              <a:t>=</a:t>
            </a:r>
            <a:r>
              <a:rPr lang="en-US" sz="1400">
                <a:solidFill>
                  <a:srgbClr val="6A3E3E"/>
                </a:solidFill>
                <a:latin typeface="Consolas" panose="020B0609020204030204" charset="0"/>
                <a:sym typeface="+mn-ea"/>
              </a:rPr>
              <a:t>s</a:t>
            </a:r>
            <a:r>
              <a:rPr lang="en-US" sz="1400">
                <a:solidFill>
                  <a:srgbClr val="000000"/>
                </a:solidFill>
                <a:latin typeface="Consolas" panose="020B0609020204030204" charset="0"/>
                <a:sym typeface="+mn-ea"/>
              </a:rPr>
              <a:t>;		}		</a:t>
            </a:r>
            <a:r>
              <a:rPr lang="en-US" sz="1400">
                <a:solidFill>
                  <a:srgbClr val="646464"/>
                </a:solidFill>
                <a:latin typeface="Consolas" panose="020B0609020204030204" charset="0"/>
                <a:sym typeface="+mn-ea"/>
              </a:rPr>
              <a:t>@Override</a:t>
            </a:r>
            <a:r>
              <a:rPr lang="en-US" sz="1400">
                <a:solidFill>
                  <a:srgbClr val="000000"/>
                </a:solidFill>
                <a:latin typeface="Consolas" panose="020B0609020204030204" charset="0"/>
                <a:sym typeface="+mn-ea"/>
              </a:rPr>
              <a:t>		String getName() {			</a:t>
            </a:r>
            <a:r>
              <a:rPr lang="en-US" sz="1400" b="1">
                <a:solidFill>
                  <a:srgbClr val="7F0055"/>
                </a:solidFill>
                <a:latin typeface="Consolas" panose="020B0609020204030204" charset="0"/>
                <a:sym typeface="+mn-ea"/>
              </a:rPr>
              <a:t>return</a:t>
            </a:r>
            <a:r>
              <a:rPr lang="en-US" sz="1400">
                <a:solidFill>
                  <a:srgbClr val="000000"/>
                </a:solidFill>
                <a:latin typeface="Consolas" panose="020B0609020204030204" charset="0"/>
                <a:sym typeface="+mn-ea"/>
              </a:rPr>
              <a:t> </a:t>
            </a:r>
            <a:r>
              <a:rPr lang="en-US" sz="1400">
                <a:solidFill>
                  <a:srgbClr val="0000C0"/>
                </a:solidFill>
                <a:latin typeface="Consolas" panose="020B0609020204030204" charset="0"/>
                <a:sym typeface="+mn-ea"/>
              </a:rPr>
              <a:t>str</a:t>
            </a:r>
            <a:r>
              <a:rPr lang="en-US" sz="1400">
                <a:solidFill>
                  <a:srgbClr val="000000"/>
                </a:solidFill>
                <a:latin typeface="Consolas" panose="020B0609020204030204" charset="0"/>
                <a:sym typeface="+mn-ea"/>
              </a:rPr>
              <a:t>+</a:t>
            </a:r>
            <a:r>
              <a:rPr lang="en-US" sz="1400">
                <a:solidFill>
                  <a:srgbClr val="2A00FF"/>
                </a:solidFill>
                <a:latin typeface="Consolas" panose="020B0609020204030204" charset="0"/>
                <a:sym typeface="+mn-ea"/>
              </a:rPr>
              <a:t>"InnerA"</a:t>
            </a:r>
            <a:r>
              <a:rPr lang="en-US" sz="1400">
                <a:solidFill>
                  <a:srgbClr val="000000"/>
                </a:solidFill>
                <a:latin typeface="Consolas" panose="020B0609020204030204" charset="0"/>
                <a:sym typeface="+mn-ea"/>
              </a:rPr>
              <a:t>;		}	}}</a:t>
            </a:r>
            <a:endParaRPr lang="en-US" altLang="en-US" sz="1400">
              <a:solidFill>
                <a:srgbClr val="000000"/>
              </a:solidFill>
              <a:latin typeface="Consolas" panose="020B0609020204030204" charset="0"/>
              <a:ea typeface="宋体" panose="02010600030101010101" pitchFamily="2" charset="-122"/>
            </a:endParaRPr>
          </a:p>
          <a:p>
            <a:r>
              <a:rPr lang="en-US" sz="1600" b="1">
                <a:solidFill>
                  <a:srgbClr val="7F0055"/>
                </a:solidFill>
                <a:latin typeface="Consolas" panose="020B0609020204030204" charset="0"/>
                <a:ea typeface="宋体" panose="02010600030101010101" pitchFamily="2" charset="-122"/>
              </a:rPr>
              <a:t>class</a:t>
            </a:r>
            <a:r>
              <a:rPr lang="en-US" sz="1600">
                <a:solidFill>
                  <a:srgbClr val="000000"/>
                </a:solidFill>
                <a:latin typeface="Consolas" panose="020B0609020204030204" charset="0"/>
                <a:ea typeface="宋体" panose="02010600030101010101" pitchFamily="2" charset="-122"/>
              </a:rPr>
              <a:t> InnerADer </a:t>
            </a:r>
            <a:r>
              <a:rPr lang="en-US" sz="1600" b="1">
                <a:solidFill>
                  <a:srgbClr val="7F0055"/>
                </a:solidFill>
                <a:latin typeface="Consolas" panose="020B0609020204030204" charset="0"/>
                <a:ea typeface="宋体" panose="02010600030101010101" pitchFamily="2" charset="-122"/>
              </a:rPr>
              <a:t>extends</a:t>
            </a:r>
            <a:r>
              <a:rPr lang="en-US" sz="1600">
                <a:solidFill>
                  <a:srgbClr val="000000"/>
                </a:solidFill>
                <a:latin typeface="Consolas" panose="020B0609020204030204" charset="0"/>
                <a:ea typeface="宋体" panose="02010600030101010101" pitchFamily="2" charset="-122"/>
              </a:rPr>
              <a:t> </a:t>
            </a:r>
            <a:r>
              <a:rPr lang="en-US" sz="1600">
                <a:solidFill>
                  <a:srgbClr val="000000"/>
                </a:solidFill>
                <a:latin typeface="Consolas" panose="020B0609020204030204" charset="0"/>
                <a:sym typeface="+mn-ea"/>
              </a:rPr>
              <a:t>OuterClass </a:t>
            </a:r>
            <a:r>
              <a:rPr lang="en-US" sz="1600">
                <a:solidFill>
                  <a:srgbClr val="000000"/>
                </a:solidFill>
                <a:latin typeface="Consolas" panose="020B0609020204030204" charset="0"/>
                <a:ea typeface="宋体" panose="02010600030101010101" pitchFamily="2" charset="-122"/>
              </a:rPr>
              <a:t>.InnerA{	InnerADer(</a:t>
            </a:r>
            <a:r>
              <a:rPr lang="en-US" sz="1600">
                <a:solidFill>
                  <a:srgbClr val="000000"/>
                </a:solidFill>
                <a:latin typeface="Consolas" panose="020B0609020204030204" charset="0"/>
                <a:sym typeface="+mn-ea"/>
              </a:rPr>
              <a:t>OuterClass </a:t>
            </a:r>
            <a:r>
              <a:rPr lang="en-US" sz="1600">
                <a:solidFill>
                  <a:srgbClr val="6A3E3E"/>
                </a:solidFill>
                <a:latin typeface="Consolas" panose="020B0609020204030204" charset="0"/>
                <a:ea typeface="宋体" panose="02010600030101010101" pitchFamily="2" charset="-122"/>
              </a:rPr>
              <a:t>o</a:t>
            </a:r>
            <a:r>
              <a:rPr lang="en-US" sz="1600">
                <a:solidFill>
                  <a:srgbClr val="000000"/>
                </a:solidFill>
                <a:latin typeface="Consolas" panose="020B0609020204030204" charset="0"/>
                <a:ea typeface="宋体" panose="02010600030101010101" pitchFamily="2" charset="-122"/>
              </a:rPr>
              <a:t>,String </a:t>
            </a:r>
            <a:r>
              <a:rPr lang="en-US" sz="1600">
                <a:solidFill>
                  <a:srgbClr val="6A3E3E"/>
                </a:solidFill>
                <a:latin typeface="Consolas" panose="020B0609020204030204" charset="0"/>
                <a:ea typeface="宋体" panose="02010600030101010101" pitchFamily="2" charset="-122"/>
              </a:rPr>
              <a:t>s</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o</a:t>
            </a:r>
            <a:r>
              <a:rPr lang="en-US" sz="1600">
                <a:solidFill>
                  <a:srgbClr val="000000"/>
                </a:solidFill>
                <a:latin typeface="Consolas" panose="020B0609020204030204" charset="0"/>
                <a:ea typeface="宋体" panose="02010600030101010101" pitchFamily="2" charset="-122"/>
              </a:rPr>
              <a:t>.</a:t>
            </a:r>
            <a:r>
              <a:rPr lang="en-US" sz="1600" b="1">
                <a:solidFill>
                  <a:srgbClr val="7F0055"/>
                </a:solidFill>
                <a:latin typeface="Consolas" panose="020B0609020204030204" charset="0"/>
                <a:ea typeface="宋体" panose="02010600030101010101" pitchFamily="2" charset="-122"/>
              </a:rPr>
              <a:t>super</a:t>
            </a:r>
            <a:r>
              <a:rPr lang="en-US" sz="1600">
                <a:solidFill>
                  <a:srgbClr val="000000"/>
                </a:solidFill>
                <a:latin typeface="Consolas" panose="020B0609020204030204" charset="0"/>
                <a:ea typeface="宋体" panose="02010600030101010101" pitchFamily="2" charset="-122"/>
              </a:rPr>
              <a:t>(</a:t>
            </a:r>
            <a:r>
              <a:rPr lang="en-US" sz="1600">
                <a:solidFill>
                  <a:srgbClr val="6A3E3E"/>
                </a:solidFill>
                <a:latin typeface="Consolas" panose="020B0609020204030204" charset="0"/>
                <a:ea typeface="宋体" panose="02010600030101010101" pitchFamily="2" charset="-122"/>
              </a:rPr>
              <a:t>s</a:t>
            </a:r>
            <a:r>
              <a:rPr lang="en-US" sz="1600">
                <a:solidFill>
                  <a:srgbClr val="000000"/>
                </a:solidFill>
                <a:latin typeface="Consolas" panose="020B0609020204030204" charset="0"/>
                <a:ea typeface="宋体" panose="02010600030101010101" pitchFamily="2" charset="-122"/>
              </a:rPr>
              <a:t>);</a:t>
            </a:r>
            <a:r>
              <a:rPr lang="zh-CN" sz="1600">
                <a:solidFill>
                  <a:srgbClr val="3F7F5F"/>
                </a:solidFill>
                <a:ea typeface="宋体" panose="02010600030101010101" pitchFamily="2" charset="-122"/>
              </a:rPr>
              <a:t>//调用父类构造函数</a:t>
            </a:r>
            <a:r>
              <a:rPr lang="en-US" sz="1600">
                <a:solidFill>
                  <a:srgbClr val="000000"/>
                </a:solidFill>
                <a:latin typeface="Consolas" panose="020B0609020204030204" charset="0"/>
                <a:ea typeface="宋体" panose="02010600030101010101" pitchFamily="2" charset="-122"/>
              </a:rPr>
              <a:t>	}}</a:t>
            </a:r>
            <a:endParaRPr lang="en-US" sz="1400" b="1">
              <a:solidFill>
                <a:srgbClr val="7F0055"/>
              </a:solidFill>
              <a:latin typeface="Consolas" panose="020B0609020204030204" charset="0"/>
              <a:ea typeface="宋体" panose="02010600030101010101" pitchFamily="2" charset="-122"/>
            </a:endParaRPr>
          </a:p>
          <a:p>
            <a:endParaRPr lang="en-US" altLang="en-US" sz="1400">
              <a:solidFill>
                <a:srgbClr val="000000"/>
              </a:solidFill>
              <a:latin typeface="Consolas" panose="020B0609020204030204" charset="0"/>
              <a:ea typeface="宋体" panose="02010600030101010101" pitchFamily="2" charset="-122"/>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p>
            <a:pPr>
              <a:lnSpc>
                <a:spcPct val="150000"/>
              </a:lnSpc>
            </a:pPr>
            <a:r>
              <a:rPr lang="zh-CN" altLang="en-US"/>
              <a:t>内部类还可以定义在一个方法里，其作用域仅限于该方法的范围内（进一步隐藏）,在其它方法里定义也没有名字冲突问题。</a:t>
            </a:r>
            <a:br>
              <a:rPr lang="zh-CN" altLang="en-US"/>
            </a:br>
            <a:r>
              <a:rPr lang="zh-CN" altLang="en-US"/>
              <a:t>Ps:通常会继承一个父类或者实现一个接口，保证外部能够接收该内部类的对象。</a:t>
            </a:r>
            <a:endParaRPr lang="zh-CN" altLang="en-US"/>
          </a:p>
        </p:txBody>
      </p:sp>
      <p:sp>
        <p:nvSpPr>
          <p:cNvPr id="4" name="标题 3"/>
          <p:cNvSpPr>
            <a:spLocks noGrp="1"/>
          </p:cNvSpPr>
          <p:nvPr>
            <p:ph type="title"/>
          </p:nvPr>
        </p:nvSpPr>
        <p:spPr/>
        <p:txBody>
          <a:bodyPr/>
          <a:p>
            <a:r>
              <a:rPr lang="zh-CN" altLang="en-US"/>
              <a:t>内部类（续）</a:t>
            </a:r>
            <a:endParaRPr lang="zh-CN" altLang="en-US"/>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sp>
        <p:nvSpPr>
          <p:cNvPr id="53249" name="文本占位符 50177"/>
          <p:cNvSpPr>
            <a:spLocks noGrp="1" noChangeArrowheads="1"/>
          </p:cNvSpPr>
          <p:nvPr>
            <p:ph idx="1"/>
          </p:nvPr>
        </p:nvSpPr>
        <p:spPr>
          <a:solidFill>
            <a:srgbClr val="FFFFFF"/>
          </a:solidFill>
        </p:spPr>
        <p:txBody>
          <a:bodyPr>
            <a:normAutofit fontScale="57500" lnSpcReduction="20000"/>
          </a:bodyPr>
          <a:lstStyle/>
          <a:p>
            <a:pPr>
              <a:buFont typeface="Wingdings" panose="05000000000000000000" pitchFamily="2" charset="2"/>
              <a:buNone/>
            </a:pPr>
            <a:r>
              <a:rPr lang="en-US" b="1" smtClean="0">
                <a:solidFill>
                  <a:srgbClr val="000099"/>
                </a:solidFill>
                <a:ea typeface="黑体" panose="02010609060101010101" pitchFamily="49" charset="-122"/>
              </a:rPr>
              <a:t>interface Destination {  String readLabel();} </a:t>
            </a:r>
            <a:endParaRPr lang="en-US" b="1" smtClean="0">
              <a:solidFill>
                <a:srgbClr val="000099"/>
              </a:solidFill>
              <a:ea typeface="黑体" panose="02010609060101010101" pitchFamily="49" charset="-122"/>
            </a:endParaRPr>
          </a:p>
          <a:p>
            <a:pPr>
              <a:buFont typeface="Wingdings" panose="05000000000000000000" pitchFamily="2" charset="2"/>
              <a:buNone/>
            </a:pPr>
            <a:endParaRPr lang="en-US" b="1" smtClean="0">
              <a:solidFill>
                <a:srgbClr val="000099"/>
              </a:solidFill>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public class Parcel4 {                    </a:t>
            </a:r>
            <a:endParaRPr lang="zh-CN" altLang="en-US" b="1" smtClean="0"/>
          </a:p>
          <a:p>
            <a:pPr>
              <a:buFont typeface="Wingdings" panose="05000000000000000000" pitchFamily="2" charset="2"/>
              <a:buNone/>
            </a:pPr>
            <a:r>
              <a:rPr lang="zh-CN" altLang="en-US" b="1" smtClean="0"/>
              <a:t>  </a:t>
            </a:r>
            <a:r>
              <a:rPr lang="en-US" b="1" smtClean="0">
                <a:ea typeface="黑体" panose="02010609060101010101" pitchFamily="49" charset="-122"/>
              </a:rPr>
              <a:t>public Destination dest(String s) {     // dest</a:t>
            </a:r>
            <a:r>
              <a:rPr lang="zh-CN" altLang="en-US" b="1" smtClean="0"/>
              <a:t>方法</a:t>
            </a:r>
            <a:endParaRPr lang="zh-CN" altLang="en-US" b="1" smtClean="0"/>
          </a:p>
          <a:p>
            <a:pPr>
              <a:buFont typeface="Wingdings" panose="05000000000000000000" pitchFamily="2" charset="2"/>
              <a:buNone/>
            </a:pPr>
            <a:r>
              <a:rPr lang="zh-CN" altLang="en-US" b="1" smtClean="0"/>
              <a:t>     </a:t>
            </a:r>
            <a:r>
              <a:rPr lang="en-US" b="1" smtClean="0">
                <a:ea typeface="黑体" panose="02010609060101010101" pitchFamily="49" charset="-122"/>
              </a:rPr>
              <a:t>class PDestination    implements </a:t>
            </a:r>
            <a:r>
              <a:rPr lang="en-US" b="1" smtClean="0">
                <a:solidFill>
                  <a:srgbClr val="000099"/>
                </a:solidFill>
                <a:ea typeface="黑体" panose="02010609060101010101" pitchFamily="49" charset="-122"/>
              </a:rPr>
              <a:t>Destination</a:t>
            </a:r>
            <a:r>
              <a:rPr lang="en-US" b="1" smtClean="0">
                <a:ea typeface="黑体" panose="02010609060101010101" pitchFamily="49" charset="-122"/>
              </a:rPr>
              <a:t>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private String label;</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private PDestination(String whereTo)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label = whereTo;</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public String readLabel() { return label; }  </a:t>
            </a:r>
            <a:endParaRPr lang="zh-CN" altLang="en-US" b="1" smtClean="0"/>
          </a:p>
          <a:p>
            <a:pPr>
              <a:buFont typeface="Wingdings" panose="05000000000000000000" pitchFamily="2" charset="2"/>
              <a:buNone/>
            </a:pPr>
            <a:r>
              <a:rPr lang="zh-CN" altLang="en-US" b="1" smtClean="0"/>
              <a:t>    }</a:t>
            </a:r>
            <a:endParaRPr lang="zh-CN" altLang="en-US" b="1" smtClean="0"/>
          </a:p>
          <a:p>
            <a:pPr>
              <a:buFont typeface="Wingdings" panose="05000000000000000000" pitchFamily="2" charset="2"/>
              <a:buNone/>
            </a:pPr>
            <a:r>
              <a:rPr lang="zh-CN" altLang="en-US" b="1" smtClean="0"/>
              <a:t>    </a:t>
            </a:r>
            <a:r>
              <a:rPr lang="en-US" b="1" smtClean="0">
                <a:ea typeface="黑体" panose="02010609060101010101" pitchFamily="49" charset="-122"/>
              </a:rPr>
              <a:t>return new PDestination(s);</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a:t>
            </a:r>
            <a:endParaRPr lang="zh-CN" altLang="en-US" b="1" smtClean="0"/>
          </a:p>
        </p:txBody>
      </p:sp>
      <p:sp>
        <p:nvSpPr>
          <p:cNvPr id="53250" name="矩形 50178"/>
          <p:cNvSpPr>
            <a:spLocks noChangeArrowheads="1"/>
          </p:cNvSpPr>
          <p:nvPr/>
        </p:nvSpPr>
        <p:spPr bwMode="auto">
          <a:xfrm>
            <a:off x="657860" y="2478405"/>
            <a:ext cx="7783830" cy="193929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p>
            <a:r>
              <a:rPr lang="zh-CN" altLang="en-US"/>
              <a:t>在代码段中的内部类</a:t>
            </a:r>
            <a:endParaRPr lang="zh-CN" altLang="en-US"/>
          </a:p>
          <a:p>
            <a:pPr marL="0" indent="0">
              <a:buNone/>
            </a:pPr>
            <a:r>
              <a:rPr lang="zh-CN" altLang="en-US" sz="2400"/>
              <a:t>   {  …</a:t>
            </a:r>
            <a:endParaRPr lang="zh-CN" altLang="en-US" sz="2400"/>
          </a:p>
          <a:p>
            <a:pPr marL="0" indent="0">
              <a:buNone/>
            </a:pPr>
            <a:r>
              <a:rPr lang="zh-CN" altLang="en-US" sz="2400"/>
              <a:t>       类定义 </a:t>
            </a:r>
            <a:endParaRPr lang="zh-CN" altLang="en-US" sz="2400"/>
          </a:p>
          <a:p>
            <a:pPr marL="0" indent="0">
              <a:buNone/>
            </a:pPr>
            <a:r>
              <a:rPr lang="zh-CN" altLang="en-US" sz="2400"/>
              <a:t>       …</a:t>
            </a:r>
            <a:endParaRPr lang="zh-CN" altLang="en-US" sz="2400"/>
          </a:p>
          <a:p>
            <a:pPr marL="0" indent="0">
              <a:buNone/>
            </a:pPr>
            <a:r>
              <a:rPr lang="zh-CN" altLang="en-US" sz="2400"/>
              <a:t>   }</a:t>
            </a:r>
            <a:endParaRPr lang="zh-CN" altLang="en-US"/>
          </a:p>
          <a:p>
            <a:endParaRPr lang="zh-CN" altLang="en-US"/>
          </a:p>
          <a:p>
            <a:pPr marL="0" indent="0">
              <a:buNone/>
            </a:pPr>
            <a:r>
              <a:rPr lang="zh-CN" altLang="en-US"/>
              <a:t>      ——只在代码段中有效</a:t>
            </a:r>
            <a:endParaRPr lang="zh-CN" altLang="en-US"/>
          </a:p>
          <a:p>
            <a:pPr marL="0" indent="0">
              <a:buNone/>
            </a:pPr>
            <a:r>
              <a:rPr lang="zh-CN" altLang="en-US"/>
              <a:t>  </a:t>
            </a:r>
            <a:endParaRPr lang="zh-CN" altLang="en-US"/>
          </a:p>
        </p:txBody>
      </p:sp>
      <p:sp>
        <p:nvSpPr>
          <p:cNvPr id="5" name="标题 4"/>
          <p:cNvSpPr>
            <a:spLocks noGrp="1"/>
          </p:cNvSpPr>
          <p:nvPr>
            <p:ph type="title"/>
          </p:nvPr>
        </p:nvSpPr>
        <p:spPr/>
        <p:txBody>
          <a:bodyPr/>
          <a:p>
            <a:r>
              <a:rPr lang="zh-CN" altLang="en-US"/>
              <a:t>内部类（续）</a:t>
            </a:r>
            <a:endParaRPr lang="zh-CN" altLang="en-US"/>
          </a:p>
        </p:txBody>
      </p:sp>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sp>
        <p:nvSpPr>
          <p:cNvPr id="55297" name="文本占位符 52225"/>
          <p:cNvSpPr>
            <a:spLocks noGrp="1" noChangeArrowheads="1"/>
          </p:cNvSpPr>
          <p:nvPr>
            <p:ph idx="1"/>
          </p:nvPr>
        </p:nvSpPr>
        <p:spPr>
          <a:solidFill>
            <a:srgbClr val="FFFFFF"/>
          </a:solidFill>
        </p:spPr>
        <p:txBody>
          <a:bodyPr>
            <a:normAutofit fontScale="55000" lnSpcReduction="20000"/>
          </a:bodyPr>
          <a:lstStyle/>
          <a:p>
            <a:pPr>
              <a:buFont typeface="Wingdings" panose="05000000000000000000" pitchFamily="2" charset="2"/>
              <a:buNone/>
            </a:pPr>
            <a:r>
              <a:rPr lang="en-US" b="1" smtClean="0">
                <a:ea typeface="黑体" panose="02010609060101010101" pitchFamily="49" charset="-122"/>
              </a:rPr>
              <a:t>public class Parcel5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void internalTracking(boolean b)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if(b)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a:t>
            </a:r>
            <a:r>
              <a:rPr lang="en-US" b="1" smtClean="0">
                <a:solidFill>
                  <a:srgbClr val="000099"/>
                </a:solidFill>
                <a:ea typeface="黑体" panose="02010609060101010101" pitchFamily="49" charset="-122"/>
              </a:rPr>
              <a:t>class TrackingSlip {</a:t>
            </a:r>
            <a:endParaRPr lang="en-US" b="1" smtClean="0">
              <a:solidFill>
                <a:srgbClr val="000099"/>
              </a:solidFill>
              <a:ea typeface="黑体" panose="02010609060101010101" pitchFamily="49" charset="-122"/>
            </a:endParaRPr>
          </a:p>
          <a:p>
            <a:pPr>
              <a:buFont typeface="Wingdings" panose="05000000000000000000" pitchFamily="2" charset="2"/>
              <a:buNone/>
            </a:pPr>
            <a:r>
              <a:rPr lang="en-US" b="1" smtClean="0">
                <a:solidFill>
                  <a:srgbClr val="000099"/>
                </a:solidFill>
                <a:ea typeface="黑体" panose="02010609060101010101" pitchFamily="49" charset="-122"/>
              </a:rPr>
              <a:t>        private String id;</a:t>
            </a:r>
            <a:endParaRPr lang="en-US" b="1" smtClean="0">
              <a:solidFill>
                <a:srgbClr val="000099"/>
              </a:solidFill>
              <a:ea typeface="黑体" panose="02010609060101010101" pitchFamily="49" charset="-122"/>
            </a:endParaRPr>
          </a:p>
          <a:p>
            <a:pPr>
              <a:buFont typeface="Wingdings" panose="05000000000000000000" pitchFamily="2" charset="2"/>
              <a:buNone/>
            </a:pPr>
            <a:r>
              <a:rPr lang="en-US" b="1" smtClean="0">
                <a:solidFill>
                  <a:srgbClr val="000099"/>
                </a:solidFill>
                <a:ea typeface="黑体" panose="02010609060101010101" pitchFamily="49" charset="-122"/>
              </a:rPr>
              <a:t>        TrackingSlip(String s) {  id = s;   }</a:t>
            </a:r>
            <a:endParaRPr lang="en-US" b="1" smtClean="0">
              <a:solidFill>
                <a:srgbClr val="000099"/>
              </a:solidFill>
              <a:ea typeface="黑体" panose="02010609060101010101" pitchFamily="49" charset="-122"/>
            </a:endParaRPr>
          </a:p>
          <a:p>
            <a:pPr>
              <a:buFont typeface="Wingdings" panose="05000000000000000000" pitchFamily="2" charset="2"/>
              <a:buNone/>
            </a:pPr>
            <a:r>
              <a:rPr lang="en-US" b="1" smtClean="0">
                <a:solidFill>
                  <a:srgbClr val="000099"/>
                </a:solidFill>
                <a:ea typeface="黑体" panose="02010609060101010101" pitchFamily="49" charset="-122"/>
              </a:rPr>
              <a:t>        String getSlip() { return id; }</a:t>
            </a:r>
            <a:endParaRPr lang="en-US" b="1" smtClean="0">
              <a:solidFill>
                <a:srgbClr val="000099"/>
              </a:solidFill>
              <a:ea typeface="黑体" panose="02010609060101010101" pitchFamily="49" charset="-122"/>
            </a:endParaRPr>
          </a:p>
          <a:p>
            <a:pPr>
              <a:buFont typeface="Wingdings" panose="05000000000000000000" pitchFamily="2" charset="2"/>
              <a:buNone/>
            </a:pPr>
            <a:r>
              <a:rPr lang="en-US" b="1" smtClean="0">
                <a:solidFill>
                  <a:srgbClr val="000099"/>
                </a:solidFill>
                <a:ea typeface="黑体" panose="02010609060101010101" pitchFamily="49" charset="-122"/>
              </a:rPr>
              <a:t>      }</a:t>
            </a:r>
            <a:endParaRPr lang="en-US" b="1" smtClean="0">
              <a:solidFill>
                <a:srgbClr val="000099"/>
              </a:solidFill>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TrackingSlip ts = new TrackingSlip("slip");</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String s = ts.getSlip();</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System.out.println(s);</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a:t>
            </a:r>
            <a:r>
              <a:rPr lang="en-US" b="1" smtClean="0">
                <a:solidFill>
                  <a:srgbClr val="000099"/>
                </a:solidFill>
                <a:ea typeface="黑体" panose="02010609060101010101" pitchFamily="49" charset="-122"/>
              </a:rPr>
              <a:t>// Can't use it here! Out of scope:</a:t>
            </a:r>
            <a:endParaRPr lang="en-US" b="1" smtClean="0">
              <a:solidFill>
                <a:srgbClr val="000099"/>
              </a:solidFill>
              <a:ea typeface="黑体" panose="02010609060101010101" pitchFamily="49" charset="-122"/>
            </a:endParaRPr>
          </a:p>
          <a:p>
            <a:pPr>
              <a:buFont typeface="Wingdings" panose="05000000000000000000" pitchFamily="2" charset="2"/>
              <a:buNone/>
            </a:pPr>
            <a:r>
              <a:rPr lang="en-US" b="1" smtClean="0">
                <a:solidFill>
                  <a:srgbClr val="000099"/>
                </a:solidFill>
                <a:ea typeface="黑体" panose="02010609060101010101" pitchFamily="49" charset="-122"/>
              </a:rPr>
              <a:t>    //! TrackingSlip ts = new TrackingSlip("x");</a:t>
            </a:r>
            <a:endParaRPr lang="en-US" b="1" smtClean="0">
              <a:solidFill>
                <a:srgbClr val="000099"/>
              </a:solidFill>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  }</a:t>
            </a:r>
            <a:endParaRPr lang="en-US" b="1" smtClean="0">
              <a:ea typeface="黑体" panose="02010609060101010101" pitchFamily="49" charset="-122"/>
            </a:endParaRPr>
          </a:p>
          <a:p>
            <a:pPr>
              <a:buFont typeface="Wingdings" panose="05000000000000000000" pitchFamily="2" charset="2"/>
              <a:buNone/>
            </a:pPr>
            <a:r>
              <a:rPr lang="en-US" b="1" smtClean="0">
                <a:ea typeface="黑体" panose="02010609060101010101" pitchFamily="49" charset="-122"/>
              </a:rPr>
              <a:t>}</a:t>
            </a:r>
            <a:endParaRPr lang="zh-CN" altLang="en-US" b="1" smtClean="0"/>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a:t>例：无构造函数的匿名内部类</a:t>
            </a:r>
            <a:endParaRPr lang="zh-CN" altLang="en-US"/>
          </a:p>
        </p:txBody>
      </p:sp>
      <p:sp>
        <p:nvSpPr>
          <p:cNvPr id="56321" name="文本占位符 53249"/>
          <p:cNvSpPr>
            <a:spLocks noGrp="1" noChangeArrowheads="1"/>
          </p:cNvSpPr>
          <p:nvPr>
            <p:ph idx="1"/>
          </p:nvPr>
        </p:nvSpPr>
        <p:spPr>
          <a:solidFill>
            <a:srgbClr val="FFFFFF"/>
          </a:solidFill>
        </p:spPr>
        <p:txBody>
          <a:bodyPr/>
          <a:lstStyle/>
          <a:p>
            <a:r>
              <a:rPr lang="en-US" sz="2400" b="1" smtClean="0">
                <a:solidFill>
                  <a:srgbClr val="000099"/>
                </a:solidFill>
                <a:ea typeface="黑体" panose="02010609060101010101" pitchFamily="49" charset="-122"/>
              </a:rPr>
              <a:t>interface Contents {   int value(); } </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ea typeface="黑体" panose="02010609060101010101" pitchFamily="49" charset="-122"/>
              </a:rPr>
              <a:t>public class Parcel6 {</a:t>
            </a:r>
            <a:endParaRPr lang="en-US" sz="2400" b="1" smtClean="0">
              <a:ea typeface="黑体" panose="02010609060101010101" pitchFamily="49" charset="-122"/>
            </a:endParaRPr>
          </a:p>
          <a:p>
            <a:pPr lvl="1">
              <a:buFont typeface="Arial" panose="020B0604020202020204" pitchFamily="34" charset="0"/>
              <a:buNone/>
            </a:pPr>
            <a:r>
              <a:rPr lang="en-US" sz="2400" b="1" smtClean="0">
                <a:ea typeface="黑体" panose="02010609060101010101" pitchFamily="49" charset="-122"/>
              </a:rPr>
              <a:t>  public Contents cont() {</a:t>
            </a:r>
            <a:endParaRPr lang="en-US" sz="2400" b="1" smtClean="0">
              <a:ea typeface="黑体" panose="02010609060101010101" pitchFamily="49" charset="-122"/>
            </a:endParaRPr>
          </a:p>
          <a:p>
            <a:pPr lvl="1">
              <a:buFont typeface="Arial" panose="020B0604020202020204" pitchFamily="34" charset="0"/>
              <a:buNone/>
            </a:pPr>
            <a:r>
              <a:rPr lang="en-US" sz="2400" b="1" smtClean="0">
                <a:ea typeface="黑体" panose="02010609060101010101" pitchFamily="49" charset="-122"/>
              </a:rPr>
              <a:t>    </a:t>
            </a:r>
            <a:r>
              <a:rPr lang="en-US" sz="2400" b="1" smtClean="0">
                <a:solidFill>
                  <a:srgbClr val="000099"/>
                </a:solidFill>
                <a:ea typeface="黑体" panose="02010609060101010101" pitchFamily="49" charset="-122"/>
              </a:rPr>
              <a:t>return new Contents() {</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solidFill>
                  <a:srgbClr val="FFFF66"/>
                </a:solidFill>
                <a:ea typeface="黑体" panose="02010609060101010101" pitchFamily="49" charset="-122"/>
              </a:rPr>
              <a:t>      </a:t>
            </a:r>
            <a:r>
              <a:rPr lang="en-US" sz="2400" b="1" smtClean="0">
                <a:solidFill>
                  <a:srgbClr val="000099"/>
                </a:solidFill>
                <a:ea typeface="黑体" panose="02010609060101010101" pitchFamily="49" charset="-122"/>
              </a:rPr>
              <a:t>private int i = 11;</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solidFill>
                  <a:srgbClr val="000099"/>
                </a:solidFill>
                <a:ea typeface="黑体" panose="02010609060101010101" pitchFamily="49" charset="-122"/>
              </a:rPr>
              <a:t>      public int value() { return i; }</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solidFill>
                  <a:srgbClr val="000099"/>
                </a:solidFill>
                <a:ea typeface="黑体" panose="02010609060101010101" pitchFamily="49" charset="-122"/>
              </a:rPr>
              <a:t>    };</a:t>
            </a:r>
            <a:r>
              <a:rPr lang="en-US" sz="2400" b="1" smtClean="0">
                <a:ea typeface="黑体" panose="02010609060101010101" pitchFamily="49" charset="-122"/>
              </a:rPr>
              <a:t>   // </a:t>
            </a:r>
            <a:r>
              <a:rPr lang="zh-CN" altLang="en-US" sz="2400" b="1" smtClean="0"/>
              <a:t>此处要分号，表示</a:t>
            </a:r>
            <a:r>
              <a:rPr lang="en-US" altLang="zh-CN" sz="2400" b="1" smtClean="0"/>
              <a:t>new</a:t>
            </a:r>
            <a:r>
              <a:rPr lang="zh-CN" altLang="en-US" sz="2400" b="1" smtClean="0"/>
              <a:t>表达式的结束</a:t>
            </a:r>
            <a:endParaRPr lang="zh-CN" altLang="en-US" sz="2400" b="1" smtClean="0"/>
          </a:p>
          <a:p>
            <a:pPr lvl="1">
              <a:buFont typeface="Arial" panose="020B0604020202020204" pitchFamily="34" charset="0"/>
              <a:buNone/>
            </a:pPr>
            <a:r>
              <a:rPr lang="zh-CN" altLang="en-US" sz="2400" b="1" smtClean="0"/>
              <a:t>  }</a:t>
            </a:r>
            <a:endParaRPr lang="zh-CN" altLang="en-US" sz="2400" b="1" smtClean="0"/>
          </a:p>
          <a:p>
            <a:pPr lvl="1">
              <a:buFont typeface="Arial" panose="020B0604020202020204" pitchFamily="34" charset="0"/>
              <a:buNone/>
            </a:pPr>
            <a:r>
              <a:rPr lang="zh-CN" altLang="en-US" sz="2400" b="1" smtClean="0"/>
              <a:t>}</a:t>
            </a:r>
            <a:endParaRPr lang="zh-CN" altLang="en-US" sz="2400" b="1" smtClean="0"/>
          </a:p>
        </p:txBody>
      </p:sp>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sp>
        <p:nvSpPr>
          <p:cNvPr id="57345" name="文本占位符 54273"/>
          <p:cNvSpPr>
            <a:spLocks noGrp="1" noChangeArrowheads="1"/>
          </p:cNvSpPr>
          <p:nvPr>
            <p:ph idx="1"/>
          </p:nvPr>
        </p:nvSpPr>
        <p:spPr>
          <a:solidFill>
            <a:srgbClr val="FFFFFF"/>
          </a:solidFill>
        </p:spPr>
        <p:txBody>
          <a:bodyPr/>
          <a:lstStyle/>
          <a:p>
            <a:pPr lvl="1">
              <a:buFont typeface="Arial" panose="020B0604020202020204" pitchFamily="34" charset="0"/>
              <a:buNone/>
            </a:pPr>
            <a:r>
              <a:rPr lang="en-US" sz="2400" b="1" smtClean="0">
                <a:solidFill>
                  <a:srgbClr val="000099"/>
                </a:solidFill>
                <a:ea typeface="黑体" panose="02010609060101010101" pitchFamily="49" charset="-122"/>
              </a:rPr>
              <a:t>return  new  Contents() { //</a:t>
            </a:r>
            <a:r>
              <a:rPr lang="zh-CN" altLang="en-US" sz="2400" b="1" smtClean="0">
                <a:solidFill>
                  <a:srgbClr val="000099"/>
                </a:solidFill>
              </a:rPr>
              <a:t>调用隐含构造函数</a:t>
            </a:r>
            <a:endParaRPr lang="zh-CN" altLang="en-US" sz="2400" b="1" smtClean="0">
              <a:solidFill>
                <a:srgbClr val="000099"/>
              </a:solidFill>
            </a:endParaRPr>
          </a:p>
          <a:p>
            <a:pPr lvl="1">
              <a:buFont typeface="Arial" panose="020B0604020202020204" pitchFamily="34" charset="0"/>
              <a:buNone/>
            </a:pPr>
            <a:r>
              <a:rPr lang="zh-CN" altLang="en-US" sz="2400" b="1" smtClean="0">
                <a:solidFill>
                  <a:srgbClr val="000099"/>
                </a:solidFill>
              </a:rPr>
              <a:t>    </a:t>
            </a:r>
            <a:r>
              <a:rPr lang="en-US" sz="2400" b="1" smtClean="0">
                <a:solidFill>
                  <a:srgbClr val="000099"/>
                </a:solidFill>
                <a:ea typeface="黑体" panose="02010609060101010101" pitchFamily="49" charset="-122"/>
              </a:rPr>
              <a:t>private int i = 11;  //Contents</a:t>
            </a:r>
            <a:r>
              <a:rPr lang="zh-CN" altLang="en-US" sz="2400" b="1" smtClean="0">
                <a:solidFill>
                  <a:srgbClr val="000099"/>
                </a:solidFill>
              </a:rPr>
              <a:t>是接口</a:t>
            </a:r>
            <a:endParaRPr lang="zh-CN" altLang="en-US" sz="2400" b="1" smtClean="0">
              <a:solidFill>
                <a:srgbClr val="000099"/>
              </a:solidFill>
            </a:endParaRPr>
          </a:p>
          <a:p>
            <a:pPr lvl="1">
              <a:buFont typeface="Arial" panose="020B0604020202020204" pitchFamily="34" charset="0"/>
              <a:buNone/>
            </a:pPr>
            <a:r>
              <a:rPr lang="zh-CN" altLang="en-US" sz="2400" b="1" smtClean="0">
                <a:solidFill>
                  <a:srgbClr val="000099"/>
                </a:solidFill>
              </a:rPr>
              <a:t>    </a:t>
            </a:r>
            <a:r>
              <a:rPr lang="en-US" sz="2400" b="1" smtClean="0">
                <a:solidFill>
                  <a:srgbClr val="000099"/>
                </a:solidFill>
                <a:ea typeface="黑体" panose="02010609060101010101" pitchFamily="49" charset="-122"/>
              </a:rPr>
              <a:t>public int value() { return i; } </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solidFill>
                  <a:srgbClr val="000099"/>
                </a:solidFill>
                <a:ea typeface="黑体" panose="02010609060101010101" pitchFamily="49" charset="-122"/>
              </a:rPr>
              <a:t> };</a:t>
            </a:r>
            <a:r>
              <a:rPr lang="en-US" sz="2000" smtClean="0">
                <a:ea typeface="黑体" panose="02010609060101010101" pitchFamily="49" charset="-122"/>
              </a:rPr>
              <a:t>   //</a:t>
            </a:r>
            <a:r>
              <a:rPr lang="zh-CN" altLang="en-US" sz="2000" smtClean="0"/>
              <a:t>相当于：</a:t>
            </a:r>
            <a:endParaRPr lang="zh-CN" altLang="en-US" sz="2000" smtClean="0"/>
          </a:p>
          <a:p>
            <a:pPr lvl="1">
              <a:buFont typeface="Arial" panose="020B0604020202020204" pitchFamily="34" charset="0"/>
              <a:buNone/>
            </a:pPr>
            <a:r>
              <a:rPr lang="en-US" sz="2400" b="1" smtClean="0">
                <a:solidFill>
                  <a:srgbClr val="000099"/>
                </a:solidFill>
                <a:ea typeface="黑体" panose="02010609060101010101" pitchFamily="49" charset="-122"/>
              </a:rPr>
              <a:t>class MyContents implements Contents {</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solidFill>
                  <a:srgbClr val="000099"/>
                </a:solidFill>
                <a:ea typeface="黑体" panose="02010609060101010101" pitchFamily="49" charset="-122"/>
              </a:rPr>
              <a:t> private int i = 11; </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solidFill>
                  <a:srgbClr val="000099"/>
                </a:solidFill>
                <a:ea typeface="黑体" panose="02010609060101010101" pitchFamily="49" charset="-122"/>
              </a:rPr>
              <a:t> public int value() { return i; } </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solidFill>
                  <a:srgbClr val="000099"/>
                </a:solidFill>
                <a:ea typeface="黑体" panose="02010609060101010101" pitchFamily="49" charset="-122"/>
              </a:rPr>
              <a:t>}</a:t>
            </a:r>
            <a:endParaRPr lang="en-US" sz="2400" b="1" smtClean="0">
              <a:solidFill>
                <a:srgbClr val="000099"/>
              </a:solidFill>
              <a:ea typeface="黑体" panose="02010609060101010101" pitchFamily="49" charset="-122"/>
            </a:endParaRPr>
          </a:p>
          <a:p>
            <a:pPr lvl="1">
              <a:buFont typeface="Arial" panose="020B0604020202020204" pitchFamily="34" charset="0"/>
              <a:buNone/>
            </a:pPr>
            <a:r>
              <a:rPr lang="en-US" sz="2400" b="1" smtClean="0">
                <a:solidFill>
                  <a:srgbClr val="000099"/>
                </a:solidFill>
                <a:ea typeface="黑体" panose="02010609060101010101" pitchFamily="49" charset="-122"/>
              </a:rPr>
              <a:t> return new MyContents(); </a:t>
            </a:r>
            <a:endParaRPr lang="en-US" sz="2400" b="1" smtClean="0">
              <a:solidFill>
                <a:srgbClr val="000099"/>
              </a:solidFill>
              <a:ea typeface="黑体" panose="02010609060101010101" pitchFamily="49" charset="-122"/>
            </a:endParaRPr>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55297"/>
          <p:cNvSpPr>
            <a:spLocks noGrp="1" noChangeArrowheads="1"/>
          </p:cNvSpPr>
          <p:nvPr>
            <p:ph type="title"/>
          </p:nvPr>
        </p:nvSpPr>
        <p:spPr/>
        <p:txBody>
          <a:bodyPr/>
          <a:lstStyle/>
          <a:p>
            <a:r>
              <a:rPr lang="zh-CN" altLang="en-US" sz="3255" b="1" dirty="0" smtClean="0"/>
              <a:t>例：父类</a:t>
            </a:r>
            <a:r>
              <a:rPr lang="zh-CN" altLang="en-US" sz="3255" b="1" dirty="0" smtClean="0"/>
              <a:t>有构造函数的匿名内部类</a:t>
            </a:r>
            <a:endParaRPr lang="zh-CN" altLang="en-US" sz="3255" b="1" dirty="0" smtClean="0"/>
          </a:p>
        </p:txBody>
      </p:sp>
      <p:sp>
        <p:nvSpPr>
          <p:cNvPr id="58370" name="文本占位符 55298"/>
          <p:cNvSpPr>
            <a:spLocks noGrp="1" noChangeArrowheads="1"/>
          </p:cNvSpPr>
          <p:nvPr>
            <p:ph idx="1"/>
          </p:nvPr>
        </p:nvSpPr>
        <p:spPr>
          <a:solidFill>
            <a:srgbClr val="FFFFFF"/>
          </a:solidFill>
          <a:ln>
            <a:solidFill>
              <a:schemeClr val="tx2"/>
            </a:solidFill>
            <a:miter lim="800000"/>
          </a:ln>
        </p:spPr>
        <p:txBody>
          <a:bodyPr/>
          <a:lstStyle/>
          <a:p>
            <a:pPr>
              <a:lnSpc>
                <a:spcPct val="80000"/>
              </a:lnSpc>
              <a:buFont typeface="Wingdings" panose="05000000000000000000" pitchFamily="2" charset="2"/>
              <a:buNone/>
            </a:pPr>
            <a:r>
              <a:rPr lang="en-US" sz="2000" smtClean="0">
                <a:ea typeface="黑体" panose="02010609060101010101" pitchFamily="49" charset="-122"/>
              </a:rPr>
              <a:t>public class Wrapping {</a:t>
            </a:r>
            <a:endParaRPr lang="en-US" sz="2000" smtClean="0">
              <a:ea typeface="黑体" panose="02010609060101010101" pitchFamily="49" charset="-122"/>
            </a:endParaRPr>
          </a:p>
          <a:p>
            <a:pPr>
              <a:lnSpc>
                <a:spcPct val="80000"/>
              </a:lnSpc>
              <a:buFont typeface="Wingdings" panose="05000000000000000000" pitchFamily="2" charset="2"/>
              <a:buNone/>
            </a:pPr>
            <a:r>
              <a:rPr lang="en-US" sz="2000" smtClean="0">
                <a:ea typeface="黑体" panose="02010609060101010101" pitchFamily="49" charset="-122"/>
              </a:rPr>
              <a:t>  private int i;</a:t>
            </a:r>
            <a:endParaRPr lang="en-US" sz="2000" smtClean="0">
              <a:ea typeface="黑体" panose="02010609060101010101" pitchFamily="49" charset="-122"/>
            </a:endParaRPr>
          </a:p>
          <a:p>
            <a:pPr>
              <a:lnSpc>
                <a:spcPct val="80000"/>
              </a:lnSpc>
              <a:buFont typeface="Wingdings" panose="05000000000000000000" pitchFamily="2" charset="2"/>
              <a:buNone/>
            </a:pPr>
            <a:r>
              <a:rPr lang="en-US" sz="2000" smtClean="0">
                <a:ea typeface="黑体" panose="02010609060101010101" pitchFamily="49" charset="-122"/>
              </a:rPr>
              <a:t>  public Wrapping(</a:t>
            </a:r>
            <a:r>
              <a:rPr lang="en-US" sz="2000" smtClean="0">
                <a:solidFill>
                  <a:srgbClr val="000099"/>
                </a:solidFill>
                <a:ea typeface="黑体" panose="02010609060101010101" pitchFamily="49" charset="-122"/>
              </a:rPr>
              <a:t>int x</a:t>
            </a:r>
            <a:r>
              <a:rPr lang="en-US" sz="2000" smtClean="0">
                <a:ea typeface="黑体" panose="02010609060101010101" pitchFamily="49" charset="-122"/>
              </a:rPr>
              <a:t>) {</a:t>
            </a:r>
            <a:endParaRPr lang="en-US" sz="2000" smtClean="0">
              <a:ea typeface="黑体" panose="02010609060101010101" pitchFamily="49" charset="-122"/>
            </a:endParaRPr>
          </a:p>
          <a:p>
            <a:pPr>
              <a:lnSpc>
                <a:spcPct val="80000"/>
              </a:lnSpc>
              <a:buFont typeface="Wingdings" panose="05000000000000000000" pitchFamily="2" charset="2"/>
              <a:buNone/>
            </a:pPr>
            <a:r>
              <a:rPr lang="en-US" sz="2000" smtClean="0">
                <a:ea typeface="黑体" panose="02010609060101010101" pitchFamily="49" charset="-122"/>
              </a:rPr>
              <a:t>       i = x;</a:t>
            </a:r>
            <a:endParaRPr lang="en-US" sz="2000" smtClean="0">
              <a:ea typeface="黑体" panose="02010609060101010101" pitchFamily="49" charset="-122"/>
            </a:endParaRPr>
          </a:p>
          <a:p>
            <a:pPr>
              <a:lnSpc>
                <a:spcPct val="80000"/>
              </a:lnSpc>
              <a:buFont typeface="Wingdings" panose="05000000000000000000" pitchFamily="2" charset="2"/>
              <a:buNone/>
            </a:pPr>
            <a:r>
              <a:rPr lang="en-US" sz="2000" smtClean="0">
                <a:ea typeface="黑体" panose="02010609060101010101" pitchFamily="49" charset="-122"/>
              </a:rPr>
              <a:t>   }</a:t>
            </a:r>
            <a:endParaRPr lang="en-US" sz="2000" smtClean="0">
              <a:ea typeface="黑体" panose="02010609060101010101" pitchFamily="49" charset="-122"/>
            </a:endParaRPr>
          </a:p>
          <a:p>
            <a:pPr>
              <a:lnSpc>
                <a:spcPct val="80000"/>
              </a:lnSpc>
              <a:buFont typeface="Wingdings" panose="05000000000000000000" pitchFamily="2" charset="2"/>
              <a:buNone/>
            </a:pPr>
            <a:r>
              <a:rPr lang="en-US" sz="2000" smtClean="0">
                <a:ea typeface="黑体" panose="02010609060101010101" pitchFamily="49" charset="-122"/>
              </a:rPr>
              <a:t>  public int value() {</a:t>
            </a:r>
            <a:endParaRPr lang="en-US" sz="2000" smtClean="0">
              <a:ea typeface="黑体" panose="02010609060101010101" pitchFamily="49" charset="-122"/>
            </a:endParaRPr>
          </a:p>
          <a:p>
            <a:pPr>
              <a:lnSpc>
                <a:spcPct val="80000"/>
              </a:lnSpc>
              <a:buFont typeface="Wingdings" panose="05000000000000000000" pitchFamily="2" charset="2"/>
              <a:buNone/>
            </a:pPr>
            <a:r>
              <a:rPr lang="en-US" sz="2000" smtClean="0">
                <a:ea typeface="黑体" panose="02010609060101010101" pitchFamily="49" charset="-122"/>
              </a:rPr>
              <a:t>    return i;</a:t>
            </a:r>
            <a:endParaRPr lang="en-US" sz="2000" smtClean="0">
              <a:ea typeface="黑体" panose="02010609060101010101" pitchFamily="49" charset="-122"/>
            </a:endParaRPr>
          </a:p>
          <a:p>
            <a:pPr>
              <a:lnSpc>
                <a:spcPct val="80000"/>
              </a:lnSpc>
              <a:buFont typeface="Wingdings" panose="05000000000000000000" pitchFamily="2" charset="2"/>
              <a:buNone/>
            </a:pPr>
            <a:r>
              <a:rPr lang="en-US" sz="2000" smtClean="0">
                <a:ea typeface="黑体" panose="02010609060101010101" pitchFamily="49" charset="-122"/>
              </a:rPr>
              <a:t>  }</a:t>
            </a:r>
            <a:endParaRPr lang="en-US" sz="2000" smtClean="0">
              <a:ea typeface="黑体" panose="02010609060101010101" pitchFamily="49" charset="-122"/>
            </a:endParaRPr>
          </a:p>
          <a:p>
            <a:pPr>
              <a:lnSpc>
                <a:spcPct val="80000"/>
              </a:lnSpc>
              <a:buFont typeface="Wingdings" panose="05000000000000000000" pitchFamily="2" charset="2"/>
              <a:buNone/>
            </a:pPr>
            <a:r>
              <a:rPr lang="en-US" sz="2000" smtClean="0">
                <a:ea typeface="黑体" panose="02010609060101010101" pitchFamily="49" charset="-122"/>
              </a:rPr>
              <a:t>} ///:~</a:t>
            </a:r>
            <a:endParaRPr lang="en-US" sz="2940" smtClean="0">
              <a:ea typeface="黑体" panose="02010609060101010101" pitchFamily="49" charset="-122"/>
            </a:endParaRPr>
          </a:p>
          <a:p>
            <a:pPr>
              <a:lnSpc>
                <a:spcPct val="80000"/>
              </a:lnSpc>
              <a:buFont typeface="Wingdings" panose="05000000000000000000" pitchFamily="2" charset="2"/>
              <a:buNone/>
            </a:pPr>
            <a:endParaRPr lang="en-US" sz="2940" smtClean="0">
              <a:ea typeface="黑体" panose="02010609060101010101" pitchFamily="49" charset="-122"/>
            </a:endParaRPr>
          </a:p>
        </p:txBody>
      </p:sp>
      <p:sp>
        <p:nvSpPr>
          <p:cNvPr id="55300" name="文本框 55299"/>
          <p:cNvSpPr txBox="1"/>
          <p:nvPr/>
        </p:nvSpPr>
        <p:spPr>
          <a:xfrm>
            <a:off x="5335270" y="1395889"/>
            <a:ext cx="4880610" cy="3076575"/>
          </a:xfrm>
          <a:prstGeom prst="rect">
            <a:avLst/>
          </a:prstGeom>
          <a:solidFill>
            <a:srgbClr val="FFFFFF"/>
          </a:solidFill>
          <a:ln w="12700" cap="sq" cmpd="sng">
            <a:solidFill>
              <a:schemeClr val="tx2"/>
            </a:solidFill>
            <a:prstDash val="solid"/>
            <a:miter/>
            <a:headEnd type="none" w="med" len="med"/>
            <a:tailEnd type="none" w="med" len="med"/>
          </a:ln>
        </p:spPr>
        <p:txBody>
          <a:bodyPr>
            <a:spAutoFit/>
          </a:bodyPr>
          <a:lstStyle/>
          <a:p>
            <a:pPr>
              <a:lnSpc>
                <a:spcPct val="90000"/>
              </a:lnSpc>
              <a:spcBef>
                <a:spcPct val="20000"/>
              </a:spcBef>
              <a:buClr>
                <a:schemeClr val="tx2"/>
              </a:buClr>
              <a:buSzPct val="75000"/>
              <a:buFont typeface="Wingdings" panose="05000000000000000000" pitchFamily="2" charset="2"/>
              <a:buNone/>
            </a:pPr>
            <a:r>
              <a:rPr lang="en-US" altLang="x-none" noProof="1">
                <a:effectLst/>
                <a:latin typeface="微软雅黑" panose="020B0503020204020204" pitchFamily="34" charset="-122"/>
                <a:ea typeface="微软雅黑" panose="020B0503020204020204" pitchFamily="34" charset="-122"/>
                <a:cs typeface="微软雅黑" panose="020B0503020204020204" pitchFamily="34" charset="-122"/>
              </a:rPr>
              <a:t>public class Parcel7 {</a:t>
            </a:r>
            <a:endParaRPr lang="en-US" altLang="x-none" noProof="1">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20000"/>
              </a:spcBef>
              <a:buClr>
                <a:schemeClr val="tx2"/>
              </a:buClr>
              <a:buSzPct val="75000"/>
              <a:buFont typeface="Wingdings" panose="05000000000000000000" pitchFamily="2" charset="2"/>
              <a:buNone/>
            </a:pPr>
            <a:r>
              <a:rPr lang="en-US" altLang="x-none" noProof="1">
                <a:effectLst/>
                <a:latin typeface="微软雅黑" panose="020B0503020204020204" pitchFamily="34" charset="-122"/>
                <a:ea typeface="微软雅黑" panose="020B0503020204020204" pitchFamily="34" charset="-122"/>
                <a:cs typeface="微软雅黑" panose="020B0503020204020204" pitchFamily="34" charset="-122"/>
              </a:rPr>
              <a:t>  public Wrapping wrap(int x) {</a:t>
            </a:r>
            <a:endParaRPr lang="en-US" altLang="x-none" noProof="1">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20000"/>
              </a:spcBef>
              <a:buClr>
                <a:schemeClr val="tx2"/>
              </a:buClr>
              <a:buSzPct val="75000"/>
              <a:buFont typeface="Wingdings" panose="05000000000000000000" pitchFamily="2" charset="2"/>
              <a:buNone/>
            </a:pPr>
            <a:r>
              <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rPr>
              <a:t>    return new Wrapping(x) { </a:t>
            </a:r>
            <a:endPar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20000"/>
              </a:spcBef>
              <a:buClr>
                <a:schemeClr val="tx2"/>
              </a:buClr>
              <a:buSzPct val="75000"/>
              <a:buFont typeface="Wingdings" panose="05000000000000000000" pitchFamily="2" charset="2"/>
              <a:buNone/>
            </a:pPr>
            <a:r>
              <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rPr>
              <a:t>        public int value() {</a:t>
            </a:r>
            <a:endPar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20000"/>
              </a:spcBef>
              <a:buClr>
                <a:schemeClr val="tx2"/>
              </a:buClr>
              <a:buSzPct val="75000"/>
              <a:buFont typeface="Wingdings" panose="05000000000000000000" pitchFamily="2" charset="2"/>
              <a:buNone/>
            </a:pPr>
            <a:r>
              <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rPr>
              <a:t>        return super.value() * 47;</a:t>
            </a:r>
            <a:endPar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20000"/>
              </a:spcBef>
              <a:buClr>
                <a:schemeClr val="tx2"/>
              </a:buClr>
              <a:buSzPct val="75000"/>
              <a:buFont typeface="Wingdings" panose="05000000000000000000" pitchFamily="2" charset="2"/>
              <a:buNone/>
            </a:pPr>
            <a:r>
              <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rPr>
              <a:t>      }</a:t>
            </a:r>
            <a:endPar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20000"/>
              </a:spcBef>
              <a:buClr>
                <a:schemeClr val="tx2"/>
              </a:buClr>
              <a:buSzPct val="75000"/>
              <a:buFont typeface="Wingdings" panose="05000000000000000000" pitchFamily="2" charset="2"/>
              <a:buNone/>
            </a:pPr>
            <a:r>
              <a:rPr lang="en-US" altLang="x-none"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rPr>
              <a:t>    }; // </a:t>
            </a:r>
            <a:r>
              <a:rPr lang="zh-CN" altLang="en-US"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rPr>
              <a:t>需要分号</a:t>
            </a:r>
            <a:endParaRPr lang="zh-CN" altLang="en-US" noProof="1">
              <a:solidFill>
                <a:srgbClr val="000099"/>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20000"/>
              </a:spcBef>
              <a:buClr>
                <a:schemeClr val="tx2"/>
              </a:buClr>
              <a:buSzPct val="75000"/>
              <a:buFont typeface="Wingdings" panose="05000000000000000000" pitchFamily="2" charset="2"/>
              <a:buNone/>
            </a:pPr>
            <a:r>
              <a:rPr lang="en-US" altLang="x-none" noProof="1">
                <a:effectLst/>
                <a:latin typeface="微软雅黑" panose="020B0503020204020204" pitchFamily="34" charset="-122"/>
                <a:ea typeface="微软雅黑" panose="020B0503020204020204" pitchFamily="34" charset="-122"/>
                <a:cs typeface="微软雅黑" panose="020B0503020204020204" pitchFamily="34" charset="-122"/>
              </a:rPr>
              <a:t>}</a:t>
            </a:r>
            <a:endParaRPr lang="en-US" altLang="x-none" noProof="1">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20000"/>
              </a:spcBef>
              <a:buClr>
                <a:schemeClr val="tx2"/>
              </a:buClr>
              <a:buSzPct val="75000"/>
              <a:buFont typeface="Wingdings" panose="05000000000000000000" pitchFamily="2" charset="2"/>
              <a:buNone/>
            </a:pPr>
            <a:r>
              <a:rPr lang="zh-CN" altLang="en-US" noProof="1">
                <a:effectLst/>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noProof="1">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56321"/>
          <p:cNvSpPr>
            <a:spLocks noGrp="1" noChangeArrowheads="1"/>
          </p:cNvSpPr>
          <p:nvPr>
            <p:ph type="title"/>
          </p:nvPr>
        </p:nvSpPr>
        <p:spPr/>
        <p:txBody>
          <a:bodyPr/>
          <a:lstStyle/>
          <a:p>
            <a:r>
              <a:rPr lang="zh-CN" altLang="en-US" dirty="0" smtClean="0"/>
              <a:t>内部类（续）</a:t>
            </a:r>
            <a:endParaRPr lang="zh-CN" altLang="en-US" dirty="0" smtClean="0"/>
          </a:p>
        </p:txBody>
      </p:sp>
      <p:sp>
        <p:nvSpPr>
          <p:cNvPr id="59394" name="文本占位符 56322"/>
          <p:cNvSpPr>
            <a:spLocks noGrp="1" noChangeArrowheads="1"/>
          </p:cNvSpPr>
          <p:nvPr>
            <p:ph idx="1"/>
          </p:nvPr>
        </p:nvSpPr>
        <p:spPr/>
        <p:txBody>
          <a:bodyPr/>
          <a:lstStyle/>
          <a:p>
            <a:r>
              <a:rPr lang="zh-CN" altLang="en-US" dirty="0" smtClean="0"/>
              <a:t>匿名类没有构造方法，但可以在声明成员变量时初始化和进行实例初始化</a:t>
            </a:r>
            <a:endParaRPr lang="en-US" dirty="0" smtClean="0">
              <a:ea typeface="黑体" panose="02010609060101010101" pitchFamily="49" charset="-122"/>
            </a:endParaRPr>
          </a:p>
        </p:txBody>
      </p:sp>
      <p:sp>
        <p:nvSpPr>
          <p:cNvPr id="56324" name="文本框 56323"/>
          <p:cNvSpPr txBox="1"/>
          <p:nvPr/>
        </p:nvSpPr>
        <p:spPr>
          <a:xfrm>
            <a:off x="1149509" y="2571750"/>
            <a:ext cx="7360920" cy="3254375"/>
          </a:xfrm>
          <a:prstGeom prst="rect">
            <a:avLst/>
          </a:prstGeom>
          <a:solidFill>
            <a:srgbClr val="FFFFFF"/>
          </a:solidFill>
          <a:ln w="12700" cap="sq" cmpd="sng">
            <a:solidFill>
              <a:schemeClr val="tx1"/>
            </a:solidFill>
            <a:prstDash val="solid"/>
            <a:miter/>
            <a:headEnd type="none" w="med" len="med"/>
            <a:tailEnd type="none" w="med" len="med"/>
          </a:ln>
        </p:spPr>
        <p:txBody>
          <a:bodyPr>
            <a:spAutoFit/>
          </a:bodyPr>
          <a:lstStyle/>
          <a:p>
            <a:pPr>
              <a:spcBef>
                <a:spcPct val="50000"/>
              </a:spcBef>
            </a:pPr>
            <a:r>
              <a:rPr lang="zh-CN" altLang="en-US" sz="2520" noProof="1">
                <a:effectLst/>
                <a:latin typeface="Segoe Print" panose="02000600000000000000" charset="0"/>
              </a:rPr>
              <a:t> </a:t>
            </a:r>
            <a:r>
              <a:rPr lang="en-US" altLang="x-none" sz="2940" noProof="1">
                <a:effectLst/>
                <a:latin typeface="Times New Roman" panose="02020603050405020304" pitchFamily="18" charset="0"/>
                <a:ea typeface="新宋体" panose="02010609030101010101" charset="-122"/>
              </a:rPr>
              <a:t>public Destination dest(</a:t>
            </a:r>
            <a:r>
              <a:rPr lang="en-US" altLang="x-none" sz="2940" noProof="1">
                <a:solidFill>
                  <a:srgbClr val="000099"/>
                </a:solidFill>
                <a:effectLst/>
                <a:latin typeface="Times New Roman" panose="02020603050405020304" pitchFamily="18" charset="0"/>
                <a:ea typeface="新宋体" panose="02010609030101010101" charset="-122"/>
              </a:rPr>
              <a:t>final</a:t>
            </a:r>
            <a:r>
              <a:rPr lang="en-US" altLang="x-none" sz="2940" noProof="1">
                <a:effectLst/>
                <a:latin typeface="Times New Roman" panose="02020603050405020304" pitchFamily="18" charset="0"/>
                <a:ea typeface="新宋体" panose="02010609030101010101" charset="-122"/>
              </a:rPr>
              <a:t> String dest) {</a:t>
            </a:r>
            <a:endParaRPr lang="en-US" altLang="x-none" sz="2940" noProof="1">
              <a:effectLst/>
              <a:latin typeface="Times New Roman" panose="02020603050405020304" pitchFamily="18" charset="0"/>
              <a:ea typeface="新宋体" panose="02010609030101010101" charset="-122"/>
            </a:endParaRPr>
          </a:p>
          <a:p>
            <a:pPr>
              <a:spcBef>
                <a:spcPct val="50000"/>
              </a:spcBef>
            </a:pPr>
            <a:r>
              <a:rPr lang="en-US" altLang="x-none" sz="2940" noProof="1">
                <a:effectLst/>
                <a:latin typeface="Times New Roman" panose="02020603050405020304" pitchFamily="18" charset="0"/>
                <a:ea typeface="新宋体" panose="02010609030101010101" charset="-122"/>
              </a:rPr>
              <a:t>    return new Destination() {</a:t>
            </a:r>
            <a:endParaRPr lang="en-US" altLang="x-none" sz="2940" noProof="1">
              <a:effectLst/>
              <a:latin typeface="Times New Roman" panose="02020603050405020304" pitchFamily="18" charset="0"/>
              <a:ea typeface="新宋体" panose="02010609030101010101" charset="-122"/>
            </a:endParaRPr>
          </a:p>
          <a:p>
            <a:pPr>
              <a:spcBef>
                <a:spcPct val="50000"/>
              </a:spcBef>
            </a:pPr>
            <a:r>
              <a:rPr lang="en-US" altLang="x-none" sz="2940" noProof="1">
                <a:effectLst/>
                <a:latin typeface="Times New Roman" panose="02020603050405020304" pitchFamily="18" charset="0"/>
                <a:ea typeface="新宋体" panose="02010609030101010101" charset="-122"/>
              </a:rPr>
              <a:t>     </a:t>
            </a:r>
            <a:r>
              <a:rPr lang="en-US" altLang="x-none" sz="2940" noProof="1">
                <a:solidFill>
                  <a:srgbClr val="000099"/>
                </a:solidFill>
                <a:effectLst/>
                <a:latin typeface="Times New Roman" panose="02020603050405020304" pitchFamily="18" charset="0"/>
                <a:ea typeface="新宋体" panose="02010609030101010101" charset="-122"/>
              </a:rPr>
              <a:t> private String label = dest;</a:t>
            </a:r>
            <a:endParaRPr lang="en-US" altLang="x-none" sz="2940" noProof="1">
              <a:solidFill>
                <a:srgbClr val="000099"/>
              </a:solidFill>
              <a:effectLst/>
              <a:latin typeface="Times New Roman" panose="02020603050405020304" pitchFamily="18" charset="0"/>
              <a:ea typeface="新宋体" panose="02010609030101010101" charset="-122"/>
            </a:endParaRPr>
          </a:p>
          <a:p>
            <a:pPr>
              <a:spcBef>
                <a:spcPct val="50000"/>
              </a:spcBef>
            </a:pPr>
            <a:r>
              <a:rPr lang="en-US" altLang="x-none" sz="2940" noProof="1">
                <a:effectLst/>
                <a:latin typeface="Times New Roman" panose="02020603050405020304" pitchFamily="18" charset="0"/>
                <a:ea typeface="新宋体" panose="02010609030101010101" charset="-122"/>
              </a:rPr>
              <a:t>      public String readLabel() { return label; }</a:t>
            </a:r>
            <a:endParaRPr lang="en-US" altLang="x-none" sz="2940" noProof="1">
              <a:effectLst/>
              <a:latin typeface="Times New Roman" panose="02020603050405020304" pitchFamily="18" charset="0"/>
              <a:ea typeface="新宋体" panose="02010609030101010101" charset="-122"/>
            </a:endParaRPr>
          </a:p>
          <a:p>
            <a:pPr>
              <a:spcBef>
                <a:spcPct val="50000"/>
              </a:spcBef>
            </a:pPr>
            <a:r>
              <a:rPr lang="en-US" altLang="x-none" sz="2940" noProof="1">
                <a:effectLst/>
                <a:latin typeface="Times New Roman" panose="02020603050405020304" pitchFamily="18" charset="0"/>
                <a:ea typeface="新宋体" panose="02010609030101010101" charset="-122"/>
              </a:rPr>
              <a:t>    };</a:t>
            </a:r>
            <a:endParaRPr lang="zh-CN" altLang="en-US" sz="2940" noProof="1">
              <a:effectLst/>
              <a:latin typeface="Times New Roman" panose="02020603050405020304" pitchFamily="18" charset="0"/>
              <a:ea typeface="新宋体" panose="02010609030101010101" charset="-122"/>
            </a:endParaRPr>
          </a:p>
        </p:txBody>
      </p:sp>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内部类（续）</a:t>
            </a:r>
            <a:endParaRPr lang="zh-CN" altLang="en-US"/>
          </a:p>
        </p:txBody>
      </p:sp>
      <p:sp>
        <p:nvSpPr>
          <p:cNvPr id="3" name="内容占位符 2"/>
          <p:cNvSpPr>
            <a:spLocks noGrp="1"/>
          </p:cNvSpPr>
          <p:nvPr>
            <p:ph idx="1"/>
          </p:nvPr>
        </p:nvSpPr>
        <p:spPr/>
        <p:txBody>
          <a:bodyPr/>
          <a:p>
            <a:r>
              <a:rPr lang="zh-CN" altLang="en-US" sz="2800"/>
              <a:t>函数里内部类可以访问已经声明的局部变量，但是不能修改局部变量引用（如果是原始类型则不允修修改值），也就是局部变量在内部类中为</a:t>
            </a:r>
            <a:r>
              <a:rPr lang="en-US" altLang="zh-CN" sz="2800"/>
              <a:t>final</a:t>
            </a:r>
            <a:r>
              <a:rPr lang="zh-CN" altLang="en-US" sz="2800"/>
              <a:t>类型。</a:t>
            </a:r>
            <a:endParaRPr lang="zh-CN" altLang="en-US" sz="2800"/>
          </a:p>
          <a:p>
            <a:endParaRPr lang="zh-CN" altLang="en-US" sz="2800"/>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
        <p:nvSpPr>
          <p:cNvPr id="100" name="文本框 99"/>
          <p:cNvSpPr txBox="1"/>
          <p:nvPr/>
        </p:nvSpPr>
        <p:spPr>
          <a:xfrm>
            <a:off x="817880" y="3008630"/>
            <a:ext cx="9166225" cy="3138170"/>
          </a:xfrm>
          <a:prstGeom prst="rect">
            <a:avLst/>
          </a:prstGeom>
          <a:noFill/>
          <a:ln w="9525">
            <a:noFill/>
          </a:ln>
        </p:spPr>
        <p:txBody>
          <a:bodyPr wrap="square">
            <a:spAutoFit/>
          </a:bodyPr>
          <a:p>
            <a:r>
              <a:rPr lang="en-US" sz="1800" b="1">
                <a:solidFill>
                  <a:srgbClr val="7F0055"/>
                </a:solidFill>
                <a:latin typeface="Consolas" panose="020B0609020204030204" charset="0"/>
                <a:ea typeface="宋体" panose="02010600030101010101" pitchFamily="2" charset="-122"/>
              </a:rPr>
              <a:t>		int</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j</a:t>
            </a:r>
            <a:r>
              <a:rPr lang="en-US" sz="1800">
                <a:solidFill>
                  <a:srgbClr val="000000"/>
                </a:solidFill>
                <a:latin typeface="Consolas" panose="020B0609020204030204" charset="0"/>
                <a:ea typeface="宋体" panose="02010600030101010101" pitchFamily="2" charset="-122"/>
              </a:rPr>
              <a:t> = </a:t>
            </a:r>
            <a:r>
              <a:rPr lang="en-US" sz="1800">
                <a:solidFill>
                  <a:srgbClr val="6A3E3E"/>
                </a:solidFill>
                <a:latin typeface="Consolas" panose="020B0609020204030204" charset="0"/>
                <a:ea typeface="宋体" panose="02010600030101010101" pitchFamily="2" charset="-122"/>
              </a:rPr>
              <a:t>s</a:t>
            </a:r>
            <a:r>
              <a:rPr lang="en-US" sz="1800">
                <a:solidFill>
                  <a:srgbClr val="000000"/>
                </a:solidFill>
                <a:latin typeface="Consolas" panose="020B0609020204030204" charset="0"/>
                <a:ea typeface="宋体" panose="02010600030101010101" pitchFamily="2" charset="-122"/>
              </a:rPr>
              <a:t>.nextInt();		Date </a:t>
            </a:r>
            <a:r>
              <a:rPr lang="en-US" sz="1800">
                <a:solidFill>
                  <a:srgbClr val="6A3E3E"/>
                </a:solidFill>
                <a:latin typeface="Consolas" panose="020B0609020204030204" charset="0"/>
                <a:ea typeface="宋体" panose="02010600030101010101" pitchFamily="2" charset="-122"/>
              </a:rPr>
              <a:t>d</a:t>
            </a:r>
            <a:r>
              <a:rPr lang="en-US" sz="1800">
                <a:solidFill>
                  <a:srgbClr val="000000"/>
                </a:solidFill>
                <a:latin typeface="Consolas" panose="020B0609020204030204" charset="0"/>
                <a:ea typeface="宋体" panose="02010600030101010101" pitchFamily="2" charset="-122"/>
              </a:rPr>
              <a:t> = </a:t>
            </a:r>
            <a:r>
              <a:rPr lang="en-US" sz="1800" b="1">
                <a:solidFill>
                  <a:srgbClr val="7F0055"/>
                </a:solidFill>
                <a:latin typeface="Consolas" panose="020B0609020204030204" charset="0"/>
                <a:ea typeface="宋体" panose="02010600030101010101" pitchFamily="2" charset="-122"/>
              </a:rPr>
              <a:t>new</a:t>
            </a:r>
            <a:r>
              <a:rPr lang="en-US" sz="1800">
                <a:solidFill>
                  <a:srgbClr val="000000"/>
                </a:solidFill>
                <a:latin typeface="Consolas" panose="020B0609020204030204" charset="0"/>
                <a:ea typeface="宋体" panose="02010600030101010101" pitchFamily="2" charset="-122"/>
              </a:rPr>
              <a:t> Date();		Test </a:t>
            </a:r>
            <a:r>
              <a:rPr lang="en-US" sz="1800" u="sng">
                <a:solidFill>
                  <a:srgbClr val="6A3E3E"/>
                </a:solidFill>
                <a:latin typeface="Consolas" panose="020B0609020204030204" charset="0"/>
                <a:ea typeface="宋体" panose="02010600030101010101" pitchFamily="2" charset="-122"/>
              </a:rPr>
              <a:t>t</a:t>
            </a:r>
            <a:r>
              <a:rPr lang="en-US" sz="1800">
                <a:solidFill>
                  <a:srgbClr val="000000"/>
                </a:solidFill>
                <a:latin typeface="Consolas" panose="020B0609020204030204" charset="0"/>
                <a:ea typeface="宋体" panose="02010600030101010101" pitchFamily="2" charset="-122"/>
              </a:rPr>
              <a:t> = </a:t>
            </a:r>
            <a:r>
              <a:rPr lang="en-US" sz="1800" b="1">
                <a:solidFill>
                  <a:srgbClr val="7F0055"/>
                </a:solidFill>
                <a:latin typeface="Consolas" panose="020B0609020204030204" charset="0"/>
                <a:ea typeface="宋体" panose="02010600030101010101" pitchFamily="2" charset="-122"/>
              </a:rPr>
              <a:t>new</a:t>
            </a:r>
            <a:r>
              <a:rPr lang="en-US" sz="1800">
                <a:solidFill>
                  <a:srgbClr val="000000"/>
                </a:solidFill>
                <a:latin typeface="Consolas" panose="020B0609020204030204" charset="0"/>
                <a:ea typeface="宋体" panose="02010600030101010101" pitchFamily="2" charset="-122"/>
              </a:rPr>
              <a:t> Test(</a:t>
            </a:r>
            <a:r>
              <a:rPr lang="en-US" sz="1800">
                <a:solidFill>
                  <a:srgbClr val="6A3E3E"/>
                </a:solidFill>
                <a:latin typeface="Consolas" panose="020B0609020204030204" charset="0"/>
                <a:ea typeface="宋体" panose="02010600030101010101" pitchFamily="2" charset="-122"/>
              </a:rPr>
              <a:t>j</a:t>
            </a:r>
            <a:r>
              <a:rPr lang="en-US" sz="1800">
                <a:solidFill>
                  <a:srgbClr val="000000"/>
                </a:solidFill>
                <a:latin typeface="Consolas" panose="020B0609020204030204" charset="0"/>
                <a:ea typeface="宋体" panose="02010600030101010101" pitchFamily="2" charset="-122"/>
              </a:rPr>
              <a:t>) {			</a:t>
            </a:r>
            <a:r>
              <a:rPr lang="en-US" sz="1800" b="1">
                <a:solidFill>
                  <a:srgbClr val="7F0055"/>
                </a:solidFill>
                <a:latin typeface="Consolas" panose="020B0609020204030204" charset="0"/>
                <a:ea typeface="宋体" panose="02010600030101010101" pitchFamily="2" charset="-122"/>
              </a:rPr>
              <a:t>private</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int</a:t>
            </a:r>
            <a:r>
              <a:rPr lang="en-US" sz="1800">
                <a:solidFill>
                  <a:srgbClr val="000000"/>
                </a:solidFill>
                <a:latin typeface="Consolas" panose="020B0609020204030204" charset="0"/>
                <a:ea typeface="宋体" panose="02010600030101010101" pitchFamily="2" charset="-122"/>
              </a:rPr>
              <a:t> </a:t>
            </a:r>
            <a:r>
              <a:rPr lang="en-US" sz="1800">
                <a:solidFill>
                  <a:srgbClr val="0000C0"/>
                </a:solidFill>
                <a:latin typeface="Consolas" panose="020B0609020204030204" charset="0"/>
                <a:ea typeface="宋体" panose="02010600030101010101" pitchFamily="2" charset="-122"/>
              </a:rPr>
              <a:t>m</a:t>
            </a:r>
            <a:r>
              <a:rPr lang="en-US" sz="1800">
                <a:solidFill>
                  <a:srgbClr val="000000"/>
                </a:solidFill>
                <a:latin typeface="Consolas" panose="020B0609020204030204" charset="0"/>
                <a:ea typeface="宋体" panose="02010600030101010101" pitchFamily="2" charset="-122"/>
              </a:rPr>
              <a:t> = </a:t>
            </a:r>
            <a:r>
              <a:rPr lang="en-US" sz="1800">
                <a:solidFill>
                  <a:srgbClr val="6A3E3E"/>
                </a:solidFill>
                <a:latin typeface="Consolas" panose="020B0609020204030204" charset="0"/>
                <a:ea typeface="宋体" panose="02010600030101010101" pitchFamily="2" charset="-122"/>
              </a:rPr>
              <a:t>j</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public</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int</a:t>
            </a:r>
            <a:r>
              <a:rPr lang="en-US" sz="1800">
                <a:solidFill>
                  <a:srgbClr val="000000"/>
                </a:solidFill>
                <a:latin typeface="Consolas" panose="020B0609020204030204" charset="0"/>
                <a:ea typeface="宋体" panose="02010600030101010101" pitchFamily="2" charset="-122"/>
              </a:rPr>
              <a:t> gett() {</a:t>
            </a:r>
            <a:endParaRPr lang="en-US" sz="1800">
              <a:solidFill>
                <a:srgbClr val="000000"/>
              </a:solidFill>
              <a:latin typeface="Consolas" panose="020B0609020204030204" charset="0"/>
              <a:ea typeface="宋体" panose="02010600030101010101" pitchFamily="2" charset="-122"/>
            </a:endParaRPr>
          </a:p>
          <a:p>
            <a:r>
              <a:rPr lang="en-US" sz="1800">
                <a:solidFill>
                  <a:srgbClr val="3F7F5F"/>
                </a:solidFill>
                <a:latin typeface="Courier New" panose="02070309020205020404" pitchFamily="49" charset="0"/>
                <a:ea typeface="宋体" panose="02010600030101010101" pitchFamily="2" charset="-122"/>
              </a:rPr>
              <a:t>				//j=20;  </a:t>
            </a:r>
            <a:r>
              <a:rPr lang="en-US" sz="1800">
                <a:solidFill>
                  <a:srgbClr val="3F7F5F"/>
                </a:solidFill>
                <a:latin typeface="Courier New" panose="02070309020205020404" pitchFamily="49" charset="0"/>
                <a:sym typeface="+mn-ea"/>
              </a:rPr>
              <a:t>//illegal</a:t>
            </a:r>
            <a:endParaRPr lang="en-US" sz="1800">
              <a:solidFill>
                <a:srgbClr val="3F7F5F"/>
              </a:solidFill>
              <a:latin typeface="Courier New" panose="02070309020205020404" pitchFamily="49" charset="0"/>
              <a:ea typeface="宋体" panose="02010600030101010101" pitchFamily="2" charset="-122"/>
            </a:endParaRPr>
          </a:p>
          <a:p>
            <a:r>
              <a:rPr lang="en-US" sz="1800">
                <a:solidFill>
                  <a:srgbClr val="3F7F5F"/>
                </a:solidFill>
                <a:latin typeface="Courier New" panose="02070309020205020404" pitchFamily="49" charset="0"/>
                <a:ea typeface="宋体" panose="02010600030101010101" pitchFamily="2" charset="-122"/>
              </a:rPr>
              <a:t>				//d=new Date() //illegal</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d</a:t>
            </a:r>
            <a:r>
              <a:rPr lang="en-US" sz="1800">
                <a:solidFill>
                  <a:srgbClr val="000000"/>
                </a:solidFill>
                <a:latin typeface="Consolas" panose="020B0609020204030204" charset="0"/>
                <a:ea typeface="宋体" panose="02010600030101010101" pitchFamily="2" charset="-122"/>
              </a:rPr>
              <a:t>.setTime(System.</a:t>
            </a:r>
            <a:r>
              <a:rPr lang="en-US" sz="1800" i="1">
                <a:solidFill>
                  <a:srgbClr val="000000"/>
                </a:solidFill>
                <a:latin typeface="Consolas" panose="020B0609020204030204" charset="0"/>
                <a:ea typeface="宋体" panose="02010600030101010101" pitchFamily="2" charset="-122"/>
              </a:rPr>
              <a:t>currentTimeMillis</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return</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this</a:t>
            </a:r>
            <a:r>
              <a:rPr lang="en-US" sz="1800">
                <a:solidFill>
                  <a:srgbClr val="000000"/>
                </a:solidFill>
                <a:latin typeface="Consolas" panose="020B0609020204030204" charset="0"/>
                <a:ea typeface="宋体" panose="02010600030101010101" pitchFamily="2" charset="-122"/>
              </a:rPr>
              <a:t>.</a:t>
            </a:r>
            <a:r>
              <a:rPr lang="en-US" sz="1800">
                <a:solidFill>
                  <a:srgbClr val="0000C0"/>
                </a:solidFill>
                <a:latin typeface="Consolas" panose="020B0609020204030204" charset="0"/>
                <a:ea typeface="宋体" panose="02010600030101010101" pitchFamily="2" charset="-122"/>
              </a:rPr>
              <a:t>m</a:t>
            </a:r>
            <a:r>
              <a:rPr lang="en-US" sz="1800">
                <a:solidFill>
                  <a:srgbClr val="000000"/>
                </a:solidFill>
                <a:latin typeface="Consolas" panose="020B0609020204030204" charset="0"/>
                <a:ea typeface="宋体" panose="02010600030101010101" pitchFamily="2" charset="-122"/>
              </a:rPr>
              <a:t> * </a:t>
            </a:r>
            <a:r>
              <a:rPr lang="en-US" sz="1800">
                <a:solidFill>
                  <a:srgbClr val="6A3E3E"/>
                </a:solidFill>
                <a:latin typeface="Consolas" panose="020B0609020204030204" charset="0"/>
                <a:ea typeface="宋体" panose="02010600030101010101" pitchFamily="2" charset="-122"/>
              </a:rPr>
              <a:t>j</a:t>
            </a:r>
            <a:r>
              <a:rPr lang="en-US" sz="1800">
                <a:solidFill>
                  <a:srgbClr val="000000"/>
                </a:solidFill>
                <a:latin typeface="Consolas" panose="020B0609020204030204" charset="0"/>
                <a:ea typeface="宋体" panose="02010600030101010101" pitchFamily="2" charset="-122"/>
              </a:rPr>
              <a:t>;			}		};</a:t>
            </a:r>
            <a:endParaRPr lang="zh-CN" altLang="en-US"/>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57345"/>
          <p:cNvSpPr>
            <a:spLocks noGrp="1" noChangeArrowheads="1"/>
          </p:cNvSpPr>
          <p:nvPr>
            <p:ph type="title"/>
          </p:nvPr>
        </p:nvSpPr>
        <p:spPr/>
        <p:txBody>
          <a:bodyPr/>
          <a:lstStyle/>
          <a:p>
            <a:r>
              <a:rPr lang="zh-CN" altLang="en-US" smtClean="0"/>
              <a:t>内部类（续）</a:t>
            </a:r>
            <a:endParaRPr lang="en-US" smtClean="0">
              <a:ea typeface="黑体" panose="02010609060101010101" pitchFamily="49" charset="-122"/>
            </a:endParaRPr>
          </a:p>
        </p:txBody>
      </p:sp>
      <p:sp>
        <p:nvSpPr>
          <p:cNvPr id="60418" name="文本占位符 57346"/>
          <p:cNvSpPr>
            <a:spLocks noGrp="1" noChangeArrowheads="1"/>
          </p:cNvSpPr>
          <p:nvPr>
            <p:ph idx="1"/>
          </p:nvPr>
        </p:nvSpPr>
        <p:spPr/>
        <p:txBody>
          <a:bodyPr/>
          <a:lstStyle/>
          <a:p>
            <a:r>
              <a:rPr lang="zh-CN" altLang="en-US" smtClean="0"/>
              <a:t>内部类的类文件命名方法</a:t>
            </a:r>
            <a:endParaRPr lang="zh-CN" altLang="en-US" smtClean="0"/>
          </a:p>
          <a:p>
            <a:pPr>
              <a:buFont typeface="Wingdings" panose="05000000000000000000" pitchFamily="2" charset="2"/>
              <a:buNone/>
            </a:pPr>
            <a:r>
              <a:rPr lang="zh-CN" altLang="en-US" smtClean="0"/>
              <a:t>   </a:t>
            </a:r>
            <a:endParaRPr lang="zh-CN" altLang="en-US" smtClean="0"/>
          </a:p>
          <a:p>
            <a:pPr>
              <a:buFont typeface="Wingdings" panose="05000000000000000000" pitchFamily="2" charset="2"/>
              <a:buNone/>
            </a:pPr>
            <a:endParaRPr lang="zh-CN" altLang="en-US" smtClean="0"/>
          </a:p>
          <a:p>
            <a:pPr>
              <a:buFont typeface="Wingdings" panose="05000000000000000000" pitchFamily="2" charset="2"/>
              <a:buNone/>
            </a:pPr>
            <a:endParaRPr lang="zh-CN" altLang="en-US" smtClean="0"/>
          </a:p>
          <a:p>
            <a:pPr>
              <a:buFont typeface="Wingdings" panose="05000000000000000000" pitchFamily="2" charset="2"/>
              <a:buNone/>
            </a:pPr>
            <a:endParaRPr lang="zh-CN" altLang="en-US" smtClean="0"/>
          </a:p>
          <a:p>
            <a:r>
              <a:rPr lang="zh-CN" altLang="en-US" smtClean="0"/>
              <a:t>其他类如果要使用一个类的内部类时，要使用类前缀。</a:t>
            </a:r>
            <a:endParaRPr lang="zh-CN" altLang="en-US" smtClean="0"/>
          </a:p>
          <a:p>
            <a:pPr>
              <a:buFont typeface="Wingdings" panose="05000000000000000000" pitchFamily="2" charset="2"/>
              <a:buNone/>
            </a:pPr>
            <a:r>
              <a:rPr lang="en-US" smtClean="0">
                <a:ea typeface="黑体" panose="02010609060101010101" pitchFamily="49" charset="-122"/>
              </a:rPr>
              <a:t>    </a:t>
            </a:r>
            <a:endParaRPr lang="zh-CN" altLang="en-US" smtClean="0"/>
          </a:p>
          <a:p>
            <a:pPr>
              <a:buFont typeface="Wingdings" panose="05000000000000000000" pitchFamily="2" charset="2"/>
              <a:buNone/>
            </a:pPr>
            <a:endParaRPr lang="zh-CN" altLang="en-US" smtClean="0"/>
          </a:p>
        </p:txBody>
      </p:sp>
      <p:sp>
        <p:nvSpPr>
          <p:cNvPr id="57348" name="文本框 57347"/>
          <p:cNvSpPr txBox="1"/>
          <p:nvPr/>
        </p:nvSpPr>
        <p:spPr>
          <a:xfrm>
            <a:off x="1544955" y="5539105"/>
            <a:ext cx="8001000" cy="607695"/>
          </a:xfrm>
          <a:prstGeom prst="rect">
            <a:avLst/>
          </a:prstGeom>
          <a:noFill/>
          <a:ln w="12700" cap="sq" cmpd="sng">
            <a:solidFill>
              <a:schemeClr val="tx1"/>
            </a:solidFill>
            <a:prstDash val="solid"/>
            <a:miter/>
            <a:headEnd type="none" w="med" len="med"/>
            <a:tailEnd type="none" w="med" len="med"/>
          </a:ln>
        </p:spPr>
        <p:txBody>
          <a:bodyPr>
            <a:spAutoFit/>
          </a:bodyPr>
          <a:lstStyle/>
          <a:p>
            <a:pPr>
              <a:spcBef>
                <a:spcPct val="50000"/>
              </a:spcBef>
            </a:pPr>
            <a:r>
              <a:rPr lang="en-US" altLang="x-none" sz="3360" noProof="1">
                <a:effectLst/>
                <a:latin typeface="Times New Roman" panose="02020603050405020304" pitchFamily="18" charset="0"/>
                <a:ea typeface="新宋体" panose="02010609030101010101" charset="-122"/>
              </a:rPr>
              <a:t>public class Yolk extends </a:t>
            </a:r>
            <a:r>
              <a:rPr lang="en-US" altLang="x-none" sz="3360" noProof="1">
                <a:solidFill>
                  <a:srgbClr val="000099"/>
                </a:solidFill>
                <a:effectLst/>
                <a:latin typeface="Times New Roman" panose="02020603050405020304" pitchFamily="18" charset="0"/>
                <a:ea typeface="新宋体" panose="02010609030101010101" charset="-122"/>
              </a:rPr>
              <a:t>Egg2.Yolk</a:t>
            </a:r>
            <a:endParaRPr lang="zh-CN" altLang="en-US" sz="3360" noProof="1">
              <a:solidFill>
                <a:srgbClr val="000099"/>
              </a:solidFill>
              <a:effectLst/>
              <a:latin typeface="Times New Roman" panose="02020603050405020304" pitchFamily="18" charset="0"/>
              <a:ea typeface="新宋体" panose="02010609030101010101" charset="-122"/>
            </a:endParaRPr>
          </a:p>
        </p:txBody>
      </p:sp>
      <p:sp>
        <p:nvSpPr>
          <p:cNvPr id="57349" name="文本框 57348"/>
          <p:cNvSpPr txBox="1"/>
          <p:nvPr/>
        </p:nvSpPr>
        <p:spPr>
          <a:xfrm>
            <a:off x="1544647" y="1967230"/>
            <a:ext cx="8256578" cy="2072640"/>
          </a:xfrm>
          <a:prstGeom prst="rect">
            <a:avLst/>
          </a:prstGeom>
          <a:noFill/>
          <a:ln w="12700" cap="sq" cmpd="sng">
            <a:solidFill>
              <a:schemeClr val="tx1"/>
            </a:solidFill>
            <a:prstDash val="solid"/>
            <a:miter/>
            <a:headEnd type="none" w="med" len="med"/>
            <a:tailEnd type="none" w="med" len="med"/>
          </a:ln>
        </p:spPr>
        <p:txBody>
          <a:bodyPr wrap="square">
            <a:spAutoFit/>
          </a:bodyPr>
          <a:lstStyle/>
          <a:p>
            <a:pPr>
              <a:spcBef>
                <a:spcPct val="20000"/>
              </a:spcBef>
              <a:buClr>
                <a:schemeClr val="tx2"/>
              </a:buClr>
              <a:buSzPct val="75000"/>
              <a:buFont typeface="Wingdings" panose="05000000000000000000" pitchFamily="2" charset="2"/>
              <a:buNone/>
            </a:pPr>
            <a:r>
              <a:rPr lang="zh-CN" altLang="en-US" sz="2800" noProof="1">
                <a:effectLst/>
                <a:latin typeface="Times New Roman" panose="02020603050405020304" pitchFamily="18" charset="0"/>
                <a:ea typeface="新宋体" panose="02010609030101010101" charset="-122"/>
              </a:rPr>
              <a:t>设外层类名为</a:t>
            </a:r>
            <a:r>
              <a:rPr lang="en-US" altLang="x-none" sz="2800" noProof="1">
                <a:effectLst/>
                <a:latin typeface="Times New Roman" panose="02020603050405020304" pitchFamily="18" charset="0"/>
                <a:ea typeface="新宋体" panose="02010609030101010101" charset="-122"/>
              </a:rPr>
              <a:t>Myclass，</a:t>
            </a:r>
            <a:r>
              <a:rPr lang="zh-CN" altLang="en-US" sz="2800" noProof="1">
                <a:effectLst/>
                <a:latin typeface="Times New Roman" panose="02020603050405020304" pitchFamily="18" charset="0"/>
                <a:ea typeface="新宋体" panose="02010609030101010101" charset="-122"/>
              </a:rPr>
              <a:t>则其内部类名为：</a:t>
            </a:r>
            <a:endParaRPr lang="zh-CN" altLang="en-US" sz="2800" noProof="1">
              <a:effectLst/>
              <a:latin typeface="Times New Roman" panose="02020603050405020304" pitchFamily="18" charset="0"/>
              <a:ea typeface="新宋体" panose="02010609030101010101" charset="-122"/>
            </a:endParaRPr>
          </a:p>
          <a:p>
            <a:pPr>
              <a:spcBef>
                <a:spcPct val="20000"/>
              </a:spcBef>
              <a:buClr>
                <a:schemeClr val="tx2"/>
              </a:buClr>
              <a:buSzPct val="75000"/>
              <a:buFont typeface="Wingdings" panose="05000000000000000000" pitchFamily="2" charset="2"/>
              <a:buNone/>
            </a:pPr>
            <a:r>
              <a:rPr lang="en-US" altLang="x-none" sz="2800" noProof="1">
                <a:effectLst/>
                <a:latin typeface="Times New Roman" panose="02020603050405020304" pitchFamily="18" charset="0"/>
                <a:ea typeface="新宋体" panose="02010609030101010101" charset="-122"/>
              </a:rPr>
              <a:t>Myclass</a:t>
            </a:r>
            <a:r>
              <a:rPr lang="en-US" altLang="x-none" sz="2800" noProof="1">
                <a:solidFill>
                  <a:srgbClr val="000099"/>
                </a:solidFill>
                <a:effectLst/>
                <a:latin typeface="Times New Roman" panose="02020603050405020304" pitchFamily="18" charset="0"/>
                <a:ea typeface="新宋体" panose="02010609030101010101" charset="-122"/>
              </a:rPr>
              <a:t>$</a:t>
            </a:r>
            <a:r>
              <a:rPr lang="en-US" altLang="x-none" sz="2800" noProof="1">
                <a:effectLst/>
                <a:latin typeface="Times New Roman" panose="02020603050405020304" pitchFamily="18" charset="0"/>
                <a:ea typeface="新宋体" panose="02010609030101010101" charset="-122"/>
              </a:rPr>
              <a:t>c1.class    (c1  </a:t>
            </a:r>
            <a:r>
              <a:rPr lang="zh-CN" altLang="en-US" sz="2800" noProof="1">
                <a:effectLst/>
                <a:latin typeface="Times New Roman" panose="02020603050405020304" pitchFamily="18" charset="0"/>
                <a:ea typeface="新宋体" panose="02010609030101010101" charset="-122"/>
              </a:rPr>
              <a:t>为命名内部类名）</a:t>
            </a:r>
            <a:endParaRPr lang="zh-CN" altLang="en-US" sz="2800" noProof="1">
              <a:effectLst/>
              <a:latin typeface="Times New Roman" panose="02020603050405020304" pitchFamily="18" charset="0"/>
              <a:ea typeface="新宋体" panose="02010609030101010101" charset="-122"/>
            </a:endParaRPr>
          </a:p>
          <a:p>
            <a:pPr>
              <a:spcBef>
                <a:spcPct val="20000"/>
              </a:spcBef>
              <a:buClr>
                <a:schemeClr val="tx2"/>
              </a:buClr>
              <a:buSzPct val="75000"/>
              <a:buFont typeface="Wingdings" panose="05000000000000000000" pitchFamily="2" charset="2"/>
              <a:buNone/>
            </a:pPr>
            <a:r>
              <a:rPr lang="en-US" altLang="x-none" sz="2800" noProof="1">
                <a:effectLst/>
                <a:latin typeface="Times New Roman" panose="02020603050405020304" pitchFamily="18" charset="0"/>
                <a:ea typeface="新宋体" panose="02010609030101010101" charset="-122"/>
              </a:rPr>
              <a:t>Myclass</a:t>
            </a:r>
            <a:r>
              <a:rPr lang="en-US" altLang="x-none" sz="2800" noProof="1">
                <a:solidFill>
                  <a:srgbClr val="000099"/>
                </a:solidFill>
                <a:effectLst/>
                <a:latin typeface="Times New Roman" panose="02020603050405020304" pitchFamily="18" charset="0"/>
                <a:ea typeface="新宋体" panose="02010609030101010101" charset="-122"/>
              </a:rPr>
              <a:t>$</a:t>
            </a:r>
            <a:r>
              <a:rPr lang="en-US" altLang="x-none" sz="2800" noProof="1">
                <a:effectLst/>
                <a:latin typeface="Times New Roman" panose="02020603050405020304" pitchFamily="18" charset="0"/>
                <a:ea typeface="新宋体" panose="02010609030101010101" charset="-122"/>
              </a:rPr>
              <a:t>1.class      (</a:t>
            </a:r>
            <a:r>
              <a:rPr lang="zh-CN" altLang="en-US" sz="2800" noProof="1">
                <a:effectLst/>
                <a:latin typeface="Times New Roman" panose="02020603050405020304" pitchFamily="18" charset="0"/>
                <a:ea typeface="新宋体" panose="02010609030101010101" charset="-122"/>
              </a:rPr>
              <a:t>表示类中定义的第一</a:t>
            </a:r>
            <a:endParaRPr lang="zh-CN" altLang="en-US" sz="2800" noProof="1">
              <a:effectLst/>
              <a:latin typeface="Times New Roman" panose="02020603050405020304" pitchFamily="18" charset="0"/>
              <a:ea typeface="新宋体" panose="02010609030101010101" charset="-122"/>
            </a:endParaRPr>
          </a:p>
          <a:p>
            <a:pPr>
              <a:spcBef>
                <a:spcPct val="20000"/>
              </a:spcBef>
              <a:buClr>
                <a:schemeClr val="tx2"/>
              </a:buClr>
              <a:buSzPct val="75000"/>
              <a:buFont typeface="Wingdings" panose="05000000000000000000" pitchFamily="2" charset="2"/>
              <a:buNone/>
            </a:pPr>
            <a:r>
              <a:rPr lang="zh-CN" altLang="en-US" sz="2800" noProof="1">
                <a:effectLst/>
                <a:latin typeface="Times New Roman" panose="02020603050405020304" pitchFamily="18" charset="0"/>
                <a:ea typeface="新宋体" panose="02010609030101010101" charset="-122"/>
              </a:rPr>
              <a:t>                                  个匿名内部类）</a:t>
            </a:r>
            <a:endParaRPr lang="zh-CN" altLang="en-US" sz="2800" noProof="1">
              <a:effectLst/>
              <a:latin typeface="Times New Roman" panose="02020603050405020304" pitchFamily="18" charset="0"/>
              <a:ea typeface="新宋体" panose="02010609030101010101" charset="-122"/>
            </a:endParaRPr>
          </a:p>
        </p:txBody>
      </p:sp>
    </p:spTree>
    <p:custDataLst>
      <p:tags r:id="rId1"/>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custDataLst>
              <p:tags r:id="rId1"/>
            </p:custDataLst>
          </p:nvPr>
        </p:nvSpPr>
        <p:spPr/>
        <p:txBody>
          <a:bodyPr>
            <a:normAutofit/>
          </a:bodyPr>
          <a:lstStyle/>
          <a:p>
            <a:pPr>
              <a:lnSpc>
                <a:spcPct val="130000"/>
              </a:lnSpc>
              <a:buClr>
                <a:schemeClr val="hlink"/>
              </a:buClr>
            </a:pPr>
            <a:r>
              <a:rPr lang="en-US" sz="2310" smtClean="0">
                <a:ea typeface="黑体" panose="02010609060101010101" pitchFamily="49" charset="-122"/>
              </a:rPr>
              <a:t>增加了对于</a:t>
            </a:r>
            <a:r>
              <a:rPr lang="zh-CN" altLang="en-US" sz="2310" smtClean="0">
                <a:ea typeface="黑体" panose="02010609060101010101" pitchFamily="49" charset="-122"/>
              </a:rPr>
              <a:t>内部</a:t>
            </a:r>
            <a:r>
              <a:rPr lang="en-US" sz="2310" smtClean="0">
                <a:ea typeface="黑体" panose="02010609060101010101" pitchFamily="49" charset="-122"/>
              </a:rPr>
              <a:t>类private的支持。</a:t>
            </a:r>
            <a:endParaRPr lang="en-US" sz="2310" smtClean="0">
              <a:ea typeface="黑体" panose="02010609060101010101" pitchFamily="49" charset="-122"/>
            </a:endParaRPr>
          </a:p>
          <a:p>
            <a:pPr marL="342900" indent="-342900">
              <a:lnSpc>
                <a:spcPct val="130000"/>
              </a:lnSpc>
              <a:buClr>
                <a:schemeClr val="hlink"/>
              </a:buClr>
              <a:buFont typeface="Wingdings" panose="05000000000000000000" pitchFamily="2" charset="2"/>
              <a:buChar char="l"/>
            </a:pPr>
            <a:endParaRPr lang="zh-CN" altLang="en-US" sz="1890" smtClean="0"/>
          </a:p>
        </p:txBody>
      </p:sp>
      <p:sp>
        <p:nvSpPr>
          <p:cNvPr id="62468" name="标题 2"/>
          <p:cNvSpPr>
            <a:spLocks noGrp="1" noChangeArrowheads="1"/>
          </p:cNvSpPr>
          <p:nvPr>
            <p:ph type="title"/>
            <p:custDataLst>
              <p:tags r:id="rId2"/>
            </p:custDataLst>
          </p:nvPr>
        </p:nvSpPr>
        <p:spPr/>
        <p:txBody>
          <a:bodyPr/>
          <a:lstStyle/>
          <a:p>
            <a:r>
              <a:rPr lang="zh-CN" altLang="en-US" smtClean="0"/>
              <a:t>内部类</a:t>
            </a:r>
            <a:r>
              <a:rPr lang="en-US" altLang="zh-CN" smtClean="0"/>
              <a:t>JDK</a:t>
            </a:r>
            <a:r>
              <a:rPr lang="zh-CN" altLang="en-US" smtClean="0"/>
              <a:t>新特性 </a:t>
            </a:r>
            <a:endParaRPr lang="zh-CN" altLang="en-US" smtClean="0"/>
          </a:p>
        </p:txBody>
      </p:sp>
      <p:sp>
        <p:nvSpPr>
          <p:cNvPr id="2" name="文本框 1"/>
          <p:cNvSpPr txBox="1"/>
          <p:nvPr/>
        </p:nvSpPr>
        <p:spPr>
          <a:xfrm>
            <a:off x="1198245" y="2103755"/>
            <a:ext cx="8453755" cy="4320540"/>
          </a:xfrm>
          <a:prstGeom prst="rect">
            <a:avLst/>
          </a:prstGeom>
          <a:noFill/>
          <a:ln w="9525">
            <a:noFill/>
          </a:ln>
        </p:spPr>
        <p:txBody>
          <a:bodyPr wrap="square">
            <a:spAutoFit/>
          </a:bodyPr>
          <a:p>
            <a:pPr>
              <a:lnSpc>
                <a:spcPct val="90000"/>
              </a:lnSpc>
            </a:pPr>
            <a:r>
              <a:rPr lang="en-US" sz="1800" b="1">
                <a:solidFill>
                  <a:srgbClr val="7F0055"/>
                </a:solidFill>
                <a:latin typeface="Courier New" panose="02070309020205020404" pitchFamily="49" charset="0"/>
                <a:ea typeface="宋体" panose="02010600030101010101" pitchFamily="2" charset="-122"/>
              </a:rPr>
              <a:t>public</a:t>
            </a:r>
            <a:r>
              <a:rPr lang="en-US" sz="1800">
                <a:solidFill>
                  <a:srgbClr val="000000"/>
                </a:solidFill>
                <a:latin typeface="Courier New" panose="02070309020205020404" pitchFamily="49" charset="0"/>
                <a:ea typeface="宋体" panose="02010600030101010101" pitchFamily="2" charset="-122"/>
              </a:rPr>
              <a:t> </a:t>
            </a:r>
            <a:r>
              <a:rPr lang="en-US" sz="1800" b="1">
                <a:solidFill>
                  <a:srgbClr val="7F0055"/>
                </a:solidFill>
                <a:latin typeface="Courier New" panose="02070309020205020404" pitchFamily="49" charset="0"/>
                <a:ea typeface="宋体" panose="02010600030101010101" pitchFamily="2" charset="-122"/>
              </a:rPr>
              <a:t>class</a:t>
            </a:r>
            <a:r>
              <a:rPr lang="en-US" sz="1800">
                <a:solidFill>
                  <a:srgbClr val="000000"/>
                </a:solidFill>
                <a:latin typeface="Courier New" panose="02070309020205020404" pitchFamily="49" charset="0"/>
                <a:ea typeface="宋体" panose="02010600030101010101" pitchFamily="2" charset="-122"/>
              </a:rPr>
              <a:t> Outer {	</a:t>
            </a:r>
            <a:r>
              <a:rPr lang="en-US" sz="1800" b="1">
                <a:solidFill>
                  <a:srgbClr val="7F0055"/>
                </a:solidFill>
                <a:latin typeface="Courier New" panose="02070309020205020404" pitchFamily="49" charset="0"/>
                <a:ea typeface="宋体" panose="02010600030101010101" pitchFamily="2" charset="-122"/>
              </a:rPr>
              <a:t>public</a:t>
            </a:r>
            <a:r>
              <a:rPr lang="en-US" sz="1800">
                <a:solidFill>
                  <a:srgbClr val="000000"/>
                </a:solidFill>
                <a:latin typeface="Courier New" panose="02070309020205020404" pitchFamily="49" charset="0"/>
                <a:ea typeface="宋体" panose="02010600030101010101" pitchFamily="2" charset="-122"/>
              </a:rPr>
              <a:t> </a:t>
            </a:r>
            <a:r>
              <a:rPr lang="en-US" sz="1800" b="1">
                <a:solidFill>
                  <a:srgbClr val="7F0055"/>
                </a:solidFill>
                <a:latin typeface="Courier New" panose="02070309020205020404" pitchFamily="49" charset="0"/>
                <a:ea typeface="宋体" panose="02010600030101010101" pitchFamily="2" charset="-122"/>
              </a:rPr>
              <a:t>void</a:t>
            </a:r>
            <a:r>
              <a:rPr lang="en-US" sz="1800">
                <a:solidFill>
                  <a:srgbClr val="000000"/>
                </a:solidFill>
                <a:latin typeface="Courier New" panose="02070309020205020404" pitchFamily="49" charset="0"/>
                <a:ea typeface="宋体" panose="02010600030101010101" pitchFamily="2" charset="-122"/>
              </a:rPr>
              <a:t> f1() {		Inner In = </a:t>
            </a:r>
            <a:r>
              <a:rPr lang="en-US" sz="1800" b="1">
                <a:solidFill>
                  <a:srgbClr val="7F0055"/>
                </a:solidFill>
                <a:latin typeface="Courier New" panose="02070309020205020404" pitchFamily="49" charset="0"/>
                <a:ea typeface="宋体" panose="02010600030101010101" pitchFamily="2" charset="-122"/>
              </a:rPr>
              <a:t>new</a:t>
            </a:r>
            <a:r>
              <a:rPr lang="en-US" sz="1800">
                <a:solidFill>
                  <a:srgbClr val="000000"/>
                </a:solidFill>
                <a:latin typeface="Courier New" panose="02070309020205020404" pitchFamily="49" charset="0"/>
                <a:ea typeface="宋体" panose="02010600030101010101" pitchFamily="2" charset="-122"/>
              </a:rPr>
              <a:t> Inner();</a:t>
            </a:r>
            <a:endParaRPr lang="en-US" sz="1800">
              <a:solidFill>
                <a:srgbClr val="000000"/>
              </a:solidFill>
              <a:latin typeface="Courier New" panose="02070309020205020404" pitchFamily="49" charset="0"/>
              <a:ea typeface="宋体" panose="02010600030101010101" pitchFamily="2" charset="-122"/>
            </a:endParaRPr>
          </a:p>
          <a:p>
            <a:pPr>
              <a:lnSpc>
                <a:spcPct val="90000"/>
              </a:lnSpc>
            </a:pPr>
            <a:r>
              <a:rPr lang="en-US" sz="1800">
                <a:solidFill>
                  <a:srgbClr val="3F7F5F"/>
                </a:solidFill>
                <a:latin typeface="Courier New" panose="02070309020205020404" pitchFamily="49" charset="0"/>
                <a:sym typeface="+mn-ea"/>
              </a:rPr>
              <a:t>          // System.out.println(In.s) //jdk 10</a:t>
            </a:r>
            <a:r>
              <a:rPr lang="zh-CN" sz="1800">
                <a:solidFill>
                  <a:srgbClr val="3F7F5F"/>
                </a:solidFill>
                <a:latin typeface="Courier New" panose="02070309020205020404" pitchFamily="49" charset="0"/>
                <a:sym typeface="+mn-ea"/>
              </a:rPr>
              <a:t>后不能通过编译</a:t>
            </a:r>
            <a:r>
              <a:rPr lang="en-US" sz="1800">
                <a:solidFill>
                  <a:srgbClr val="000000"/>
                </a:solidFill>
                <a:latin typeface="Courier New" panose="02070309020205020404" pitchFamily="49" charset="0"/>
                <a:sym typeface="+mn-ea"/>
              </a:rPr>
              <a:t>	</a:t>
            </a:r>
            <a:r>
              <a:rPr lang="en-US" sz="1800">
                <a:solidFill>
                  <a:srgbClr val="3F7F5F"/>
                </a:solidFill>
                <a:latin typeface="Courier New" panose="02070309020205020404" pitchFamily="49" charset="0"/>
                <a:sym typeface="+mn-ea"/>
              </a:rPr>
              <a:t>// System.out.println(In.f2()) //jdk 10</a:t>
            </a:r>
            <a:r>
              <a:rPr lang="zh-CN" sz="1800">
                <a:solidFill>
                  <a:srgbClr val="3F7F5F"/>
                </a:solidFill>
                <a:latin typeface="Courier New" panose="02070309020205020404" pitchFamily="49" charset="0"/>
                <a:sym typeface="+mn-ea"/>
              </a:rPr>
              <a:t>后不能通过编译</a:t>
            </a:r>
            <a:r>
              <a:rPr lang="en-US" sz="1800">
                <a:latin typeface="Courier New" panose="02070309020205020404" pitchFamily="49" charset="0"/>
                <a:sym typeface="+mn-ea"/>
              </a:rPr>
              <a:t> </a:t>
            </a:r>
            <a:r>
              <a:rPr lang="en-US" sz="1800">
                <a:solidFill>
                  <a:srgbClr val="000000"/>
                </a:solidFill>
                <a:latin typeface="Courier New" panose="02070309020205020404" pitchFamily="49" charset="0"/>
                <a:ea typeface="宋体" panose="02010600030101010101" pitchFamily="2" charset="-122"/>
              </a:rPr>
              <a:t>	}		</a:t>
            </a:r>
            <a:r>
              <a:rPr lang="en-US" sz="1800" b="1">
                <a:solidFill>
                  <a:srgbClr val="7F0055"/>
                </a:solidFill>
                <a:latin typeface="Courier New" panose="02070309020205020404" pitchFamily="49" charset="0"/>
                <a:ea typeface="宋体" panose="02010600030101010101" pitchFamily="2" charset="-122"/>
              </a:rPr>
              <a:t>class</a:t>
            </a:r>
            <a:r>
              <a:rPr lang="en-US" sz="1800">
                <a:solidFill>
                  <a:srgbClr val="000000"/>
                </a:solidFill>
                <a:latin typeface="Courier New" panose="02070309020205020404" pitchFamily="49" charset="0"/>
                <a:ea typeface="宋体" panose="02010600030101010101" pitchFamily="2" charset="-122"/>
              </a:rPr>
              <a:t> Inner {		</a:t>
            </a:r>
            <a:r>
              <a:rPr lang="en-US" sz="1800" b="1">
                <a:solidFill>
                  <a:srgbClr val="7F0055"/>
                </a:solidFill>
                <a:latin typeface="Courier New" panose="02070309020205020404" pitchFamily="49" charset="0"/>
                <a:ea typeface="宋体" panose="02010600030101010101" pitchFamily="2" charset="-122"/>
              </a:rPr>
              <a:t>private</a:t>
            </a:r>
            <a:r>
              <a:rPr lang="en-US" sz="1800">
                <a:solidFill>
                  <a:srgbClr val="000000"/>
                </a:solidFill>
                <a:latin typeface="Courier New" panose="02070309020205020404" pitchFamily="49" charset="0"/>
                <a:ea typeface="宋体" panose="02010600030101010101" pitchFamily="2" charset="-122"/>
              </a:rPr>
              <a:t> String </a:t>
            </a:r>
            <a:r>
              <a:rPr lang="en-US" sz="1800">
                <a:solidFill>
                  <a:srgbClr val="0000C0"/>
                </a:solidFill>
                <a:latin typeface="Courier New" panose="02070309020205020404" pitchFamily="49" charset="0"/>
                <a:ea typeface="宋体" panose="02010600030101010101" pitchFamily="2" charset="-122"/>
              </a:rPr>
              <a:t>s</a:t>
            </a:r>
            <a:r>
              <a:rPr lang="en-US" sz="1800">
                <a:solidFill>
                  <a:srgbClr val="000000"/>
                </a:solidFill>
                <a:latin typeface="Courier New" panose="02070309020205020404" pitchFamily="49" charset="0"/>
                <a:ea typeface="宋体" panose="02010600030101010101" pitchFamily="2" charset="-122"/>
              </a:rPr>
              <a:t> = </a:t>
            </a:r>
            <a:r>
              <a:rPr lang="en-US" sz="1800">
                <a:solidFill>
                  <a:srgbClr val="2A00FF"/>
                </a:solidFill>
                <a:latin typeface="Courier New" panose="02070309020205020404" pitchFamily="49" charset="0"/>
                <a:ea typeface="宋体" panose="02010600030101010101" pitchFamily="2" charset="-122"/>
              </a:rPr>
              <a:t>"inner"</a:t>
            </a:r>
            <a:r>
              <a:rPr lang="en-US" sz="1800">
                <a:solidFill>
                  <a:srgbClr val="000000"/>
                </a:solidFill>
                <a:latin typeface="Courier New" panose="02070309020205020404" pitchFamily="49" charset="0"/>
                <a:ea typeface="宋体" panose="02010600030101010101" pitchFamily="2" charset="-122"/>
              </a:rPr>
              <a:t>;</a:t>
            </a:r>
            <a:r>
              <a:rPr lang="en-US" sz="1800">
                <a:latin typeface="Courier New" panose="02070309020205020404" pitchFamily="49" charset="0"/>
                <a:ea typeface="宋体" panose="02010600030101010101" pitchFamily="2" charset="-122"/>
              </a:rPr>
              <a:t> </a:t>
            </a:r>
            <a:r>
              <a:rPr lang="en-US" sz="1800">
                <a:solidFill>
                  <a:srgbClr val="000000"/>
                </a:solidFill>
                <a:latin typeface="Courier New" panose="02070309020205020404" pitchFamily="49" charset="0"/>
                <a:ea typeface="宋体" panose="02010600030101010101" pitchFamily="2" charset="-122"/>
              </a:rPr>
              <a:t>		</a:t>
            </a:r>
            <a:r>
              <a:rPr lang="en-US" sz="1800" b="1">
                <a:solidFill>
                  <a:srgbClr val="7F0055"/>
                </a:solidFill>
                <a:latin typeface="Courier New" panose="02070309020205020404" pitchFamily="49" charset="0"/>
                <a:ea typeface="宋体" panose="02010600030101010101" pitchFamily="2" charset="-122"/>
              </a:rPr>
              <a:t>private</a:t>
            </a:r>
            <a:r>
              <a:rPr lang="en-US" sz="1800">
                <a:solidFill>
                  <a:srgbClr val="000000"/>
                </a:solidFill>
                <a:latin typeface="Courier New" panose="02070309020205020404" pitchFamily="49" charset="0"/>
                <a:ea typeface="宋体" panose="02010600030101010101" pitchFamily="2" charset="-122"/>
              </a:rPr>
              <a:t> </a:t>
            </a:r>
            <a:r>
              <a:rPr lang="en-US" sz="1800" b="1">
                <a:solidFill>
                  <a:srgbClr val="7F0055"/>
                </a:solidFill>
                <a:latin typeface="Courier New" panose="02070309020205020404" pitchFamily="49" charset="0"/>
                <a:ea typeface="宋体" panose="02010600030101010101" pitchFamily="2" charset="-122"/>
              </a:rPr>
              <a:t>void</a:t>
            </a:r>
            <a:r>
              <a:rPr lang="en-US" sz="1800">
                <a:solidFill>
                  <a:srgbClr val="000000"/>
                </a:solidFill>
                <a:latin typeface="Courier New" panose="02070309020205020404" pitchFamily="49" charset="0"/>
                <a:ea typeface="宋体" panose="02010600030101010101" pitchFamily="2" charset="-122"/>
              </a:rPr>
              <a:t> f2() {			System.</a:t>
            </a:r>
            <a:r>
              <a:rPr lang="en-US" sz="1800" i="1">
                <a:solidFill>
                  <a:srgbClr val="0000C0"/>
                </a:solidFill>
                <a:latin typeface="Courier New" panose="02070309020205020404" pitchFamily="49" charset="0"/>
                <a:ea typeface="宋体" panose="02010600030101010101" pitchFamily="2" charset="-122"/>
              </a:rPr>
              <a:t>out</a:t>
            </a:r>
            <a:r>
              <a:rPr lang="en-US" sz="1800">
                <a:solidFill>
                  <a:srgbClr val="000000"/>
                </a:solidFill>
                <a:latin typeface="Courier New" panose="02070309020205020404" pitchFamily="49" charset="0"/>
                <a:ea typeface="宋体" panose="02010600030101010101" pitchFamily="2" charset="-122"/>
              </a:rPr>
              <a:t>.println(</a:t>
            </a:r>
            <a:r>
              <a:rPr lang="en-US" sz="1800">
                <a:solidFill>
                  <a:srgbClr val="2A00FF"/>
                </a:solidFill>
                <a:latin typeface="Courier New" panose="02070309020205020404" pitchFamily="49" charset="0"/>
                <a:ea typeface="宋体" panose="02010600030101010101" pitchFamily="2" charset="-122"/>
              </a:rPr>
              <a:t>"f2"</a:t>
            </a:r>
            <a:r>
              <a:rPr lang="en-US" sz="1800">
                <a:solidFill>
                  <a:srgbClr val="000000"/>
                </a:solidFill>
                <a:latin typeface="Courier New" panose="02070309020205020404" pitchFamily="49" charset="0"/>
                <a:ea typeface="宋体" panose="02010600030101010101" pitchFamily="2" charset="-122"/>
              </a:rPr>
              <a:t>);		}	}}</a:t>
            </a:r>
            <a:r>
              <a:rPr lang="en-US" sz="1800">
                <a:latin typeface="Calibri" panose="020F0502020204030204" pitchFamily="34" charset="0"/>
                <a:ea typeface="宋体" panose="02010600030101010101" pitchFamily="2" charset="-122"/>
              </a:rPr>
              <a:t> </a:t>
            </a:r>
            <a:endParaRPr lang="en-US" altLang="en-US" sz="1800">
              <a:latin typeface="Calibri" panose="020F0502020204030204" pitchFamily="34" charset="0"/>
              <a:ea typeface="宋体" panose="02010600030101010101" pitchFamily="2" charset="-122"/>
            </a:endParaRPr>
          </a:p>
        </p:txBody>
      </p:sp>
    </p:spTree>
    <p:custDataLst>
      <p:tags r:id="rId3"/>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201168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封装</a:t>
            </a: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类</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38125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[2]</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sz="3200"/>
              <a:t>基本数据类型的包装类 </a:t>
            </a:r>
            <a:endParaRPr lang="zh-CN" altLang="en-US" sz="3200"/>
          </a:p>
        </p:txBody>
      </p:sp>
      <p:sp>
        <p:nvSpPr>
          <p:cNvPr id="3" name="内容占位符 2"/>
          <p:cNvSpPr>
            <a:spLocks noGrp="1"/>
          </p:cNvSpPr>
          <p:nvPr>
            <p:ph idx="1"/>
            <p:custDataLst>
              <p:tags r:id="rId2"/>
            </p:custDataLst>
          </p:nvPr>
        </p:nvSpPr>
        <p:spPr/>
        <p:txBody>
          <a:bodyPr>
            <a:normAutofit/>
          </a:bodyPr>
          <a:p>
            <a:pPr>
              <a:lnSpc>
                <a:spcPct val="130000"/>
              </a:lnSpc>
              <a:buClr>
                <a:srgbClr val="000000"/>
              </a:buClr>
            </a:pPr>
            <a:r>
              <a:rPr lang="zh-CN" altLang="en-US" sz="2400" smtClean="0"/>
              <a:t>基本数据类型</a:t>
            </a:r>
            <a:r>
              <a:rPr lang="en-US" sz="2400" smtClean="0"/>
              <a:t>: byte, short, int, long, float, double, boolean, char </a:t>
            </a:r>
            <a:endParaRPr lang="en-US" sz="2400" smtClean="0"/>
          </a:p>
          <a:p>
            <a:pPr>
              <a:lnSpc>
                <a:spcPct val="130000"/>
              </a:lnSpc>
              <a:buClr>
                <a:srgbClr val="000000"/>
              </a:buClr>
            </a:pPr>
            <a:r>
              <a:rPr lang="zh-CN" altLang="en-US" sz="2400" smtClean="0"/>
              <a:t>对应的包装类</a:t>
            </a:r>
            <a:r>
              <a:rPr lang="en-US" sz="2400" smtClean="0"/>
              <a:t>: Byte, Short, Integer, Long, Float, Double, Boolean, Character</a:t>
            </a:r>
            <a:endParaRPr lang="en-US" sz="2400" smtClean="0"/>
          </a:p>
          <a:p>
            <a:pPr>
              <a:lnSpc>
                <a:spcPct val="130000"/>
              </a:lnSpc>
              <a:buClr>
                <a:srgbClr val="000000"/>
              </a:buClr>
            </a:pPr>
            <a:r>
              <a:rPr lang="zh-CN" altLang="en-US" sz="2400" smtClean="0"/>
              <a:t>作用</a:t>
            </a:r>
            <a:endParaRPr lang="zh-CN" altLang="en-US" sz="1800" smtClean="0"/>
          </a:p>
          <a:p>
            <a:pPr marL="742950" lvl="1" indent="-285750">
              <a:lnSpc>
                <a:spcPct val="130000"/>
              </a:lnSpc>
            </a:pPr>
            <a:r>
              <a:rPr lang="zh-CN" altLang="en-US" sz="1800" smtClean="0"/>
              <a:t>包装类对象中包含有一个对应基本类型的值</a:t>
            </a:r>
            <a:endParaRPr lang="zh-CN" altLang="en-US" sz="1800" smtClean="0"/>
          </a:p>
          <a:p>
            <a:pPr marL="742950" lvl="1" indent="-285750">
              <a:lnSpc>
                <a:spcPct val="130000"/>
              </a:lnSpc>
            </a:pPr>
            <a:r>
              <a:rPr lang="zh-CN" altLang="en-US" sz="1800" smtClean="0"/>
              <a:t>提供有基本类型和字符串</a:t>
            </a:r>
            <a:r>
              <a:rPr lang="en-US" sz="1800" smtClean="0"/>
              <a:t>(String)</a:t>
            </a:r>
            <a:r>
              <a:rPr lang="zh-CN" altLang="en-US" sz="1800" smtClean="0"/>
              <a:t>之间的转换函数</a:t>
            </a:r>
            <a:endParaRPr lang="zh-CN" altLang="en-US" sz="1800" smtClean="0"/>
          </a:p>
          <a:p>
            <a:pPr marL="742950" lvl="1" indent="-285750">
              <a:lnSpc>
                <a:spcPct val="130000"/>
              </a:lnSpc>
            </a:pPr>
            <a:r>
              <a:rPr lang="zh-CN" altLang="en-US" sz="1800" smtClean="0"/>
              <a:t>定义有一些常数和方法</a:t>
            </a:r>
            <a:endParaRPr lang="zh-CN" altLang="en-US" sz="1800" smtClean="0"/>
          </a:p>
          <a:p>
            <a:pPr marL="742950" lvl="1" indent="-285750">
              <a:lnSpc>
                <a:spcPct val="130000"/>
              </a:lnSpc>
            </a:pPr>
            <a:r>
              <a:rPr lang="zh-CN" altLang="en-US" sz="1800" dirty="0" smtClean="0">
                <a:sym typeface="+mn-ea"/>
              </a:rPr>
              <a:t>可以使用包装类提供的</a:t>
            </a:r>
            <a:r>
              <a:rPr lang="en-US" altLang="zh-CN" sz="1800" err="1" smtClean="0">
                <a:sym typeface="+mn-ea"/>
              </a:rPr>
              <a:t>xxxValue</a:t>
            </a:r>
            <a:r>
              <a:rPr lang="en-US" altLang="zh-CN" sz="1800" dirty="0" smtClean="0">
                <a:sym typeface="+mn-ea"/>
              </a:rPr>
              <a:t>()</a:t>
            </a:r>
            <a:r>
              <a:rPr lang="zh-CN" altLang="en-US" sz="1800" dirty="0" smtClean="0">
                <a:sym typeface="+mn-ea"/>
              </a:rPr>
              <a:t>实例方法获得包装类对象中包装的基本类型变量。</a:t>
            </a:r>
            <a:endParaRPr lang="zh-CN" altLang="en-US" sz="1800" dirty="0" smtClean="0">
              <a:sym typeface="+mn-ea"/>
            </a:endParaRPr>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64513"/>
          <p:cNvSpPr>
            <a:spLocks noGrp="1" noChangeArrowheads="1"/>
          </p:cNvSpPr>
          <p:nvPr>
            <p:ph type="title"/>
          </p:nvPr>
        </p:nvSpPr>
        <p:spPr/>
        <p:txBody>
          <a:bodyPr/>
          <a:lstStyle/>
          <a:p>
            <a:r>
              <a:rPr lang="zh-CN" altLang="en-US" sz="3200" smtClean="0"/>
              <a:t>基本数据类型的包装类</a:t>
            </a:r>
            <a:endParaRPr lang="zh-CN" altLang="en-US" sz="3200" smtClean="0"/>
          </a:p>
        </p:txBody>
      </p:sp>
      <p:sp>
        <p:nvSpPr>
          <p:cNvPr id="67586" name="文本占位符 64514"/>
          <p:cNvSpPr>
            <a:spLocks noGrp="1" noChangeArrowheads="1"/>
          </p:cNvSpPr>
          <p:nvPr>
            <p:ph idx="1"/>
          </p:nvPr>
        </p:nvSpPr>
        <p:spPr/>
        <p:txBody>
          <a:bodyPr/>
          <a:lstStyle/>
          <a:p>
            <a:pPr marL="609600" indent="-609600">
              <a:buSzPct val="90000"/>
            </a:pPr>
            <a:r>
              <a:rPr lang="zh-CN" altLang="en-US" smtClean="0"/>
              <a:t>常数定义</a:t>
            </a:r>
            <a:endParaRPr lang="zh-CN" altLang="en-US" smtClean="0"/>
          </a:p>
        </p:txBody>
      </p:sp>
      <p:sp>
        <p:nvSpPr>
          <p:cNvPr id="64516" name="矩形 64515"/>
          <p:cNvSpPr>
            <a:spLocks noChangeArrowheads="1"/>
          </p:cNvSpPr>
          <p:nvPr/>
        </p:nvSpPr>
        <p:spPr bwMode="auto">
          <a:xfrm>
            <a:off x="1083310" y="1997710"/>
            <a:ext cx="8801100" cy="4400550"/>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byte	 largestByte		= Byte.MAX_VALUE;   //</a:t>
            </a:r>
            <a:r>
              <a:rPr lang="en-US" sz="2520">
                <a:solidFill>
                  <a:schemeClr val="hlink"/>
                </a:solidFill>
                <a:latin typeface="Tahoma" panose="020B0604030504040204" pitchFamily="34" charset="0"/>
                <a:ea typeface="华文中宋" panose="02010600040101010101" pitchFamily="2" charset="-122"/>
              </a:rPr>
              <a:t>127</a:t>
            </a:r>
            <a:endParaRPr lang="en-US" sz="2520">
              <a:solidFill>
                <a:schemeClr va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short	 largestShort     	= Short.MAX_VALUE;  //</a:t>
            </a:r>
            <a:r>
              <a:rPr lang="en-US" sz="2520">
                <a:solidFill>
                  <a:schemeClr val="hlink"/>
                </a:solidFill>
                <a:latin typeface="Tahoma" panose="020B0604030504040204" pitchFamily="34" charset="0"/>
                <a:ea typeface="华文中宋" panose="02010600040101010101" pitchFamily="2" charset="-122"/>
              </a:rPr>
              <a:t>32767</a:t>
            </a:r>
            <a:endParaRPr lang="en-US" sz="2520">
              <a:solidFill>
                <a:schemeClr va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 	 largestInteger      	= Integer.MAX_VALUE;</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a:t>
            </a:r>
            <a:r>
              <a:rPr lang="en-US" sz="2520">
                <a:solidFill>
                  <a:schemeClr val="hlink"/>
                </a:solidFill>
                <a:latin typeface="Tahoma" panose="020B0604030504040204" pitchFamily="34" charset="0"/>
                <a:ea typeface="华文中宋" panose="02010600040101010101" pitchFamily="2" charset="-122"/>
              </a:rPr>
              <a:t>2147483647</a:t>
            </a:r>
            <a:endParaRPr lang="en-US" sz="2520">
              <a:solidFill>
                <a:schemeClr va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long	 largestLong       	= Long.MAX_VALUE;</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a:t>
            </a:r>
            <a:r>
              <a:rPr lang="en-US" sz="2520">
                <a:solidFill>
                  <a:schemeClr val="hlink"/>
                </a:solidFill>
                <a:latin typeface="Tahoma" panose="020B0604030504040204" pitchFamily="34" charset="0"/>
                <a:ea typeface="华文中宋" panose="02010600040101010101" pitchFamily="2" charset="-122"/>
              </a:rPr>
              <a:t>9223372036854775807</a:t>
            </a:r>
            <a:endParaRPr lang="en-US" sz="2520">
              <a:solidFill>
                <a:schemeClr va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float	 largestFloat       	= Float.MAX_VALUE;</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a:t>
            </a:r>
            <a:r>
              <a:rPr lang="en-US" sz="2520">
                <a:solidFill>
                  <a:schemeClr val="hlink"/>
                </a:solidFill>
                <a:latin typeface="Tahoma" panose="020B0604030504040204" pitchFamily="34" charset="0"/>
                <a:ea typeface="华文中宋" panose="02010600040101010101" pitchFamily="2" charset="-122"/>
              </a:rPr>
              <a:t>3.40282e+38</a:t>
            </a:r>
            <a:endParaRPr lang="en-US" sz="2520">
              <a:solidFill>
                <a:schemeClr va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double largestDouble	= Double.MAX_VALUE;</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a:t>
            </a:r>
            <a:r>
              <a:rPr lang="en-US" sz="2520">
                <a:solidFill>
                  <a:schemeClr val="hlink"/>
                </a:solidFill>
                <a:latin typeface="Tahoma" panose="020B0604030504040204" pitchFamily="34" charset="0"/>
                <a:ea typeface="华文中宋" panose="02010600040101010101" pitchFamily="2" charset="-122"/>
              </a:rPr>
              <a:t>1.79769e+308</a:t>
            </a:r>
            <a:endParaRPr lang="en-US" sz="2520">
              <a:solidFill>
                <a:schemeClr val="hlink"/>
              </a:solidFill>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arn(outHorizontal)">
                                      <p:cBhvr>
                                        <p:cTn id="7"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66561"/>
          <p:cNvSpPr>
            <a:spLocks noGrp="1" noChangeArrowheads="1"/>
          </p:cNvSpPr>
          <p:nvPr>
            <p:ph type="title"/>
          </p:nvPr>
        </p:nvSpPr>
        <p:spPr/>
        <p:txBody>
          <a:bodyPr/>
          <a:lstStyle/>
          <a:p>
            <a:r>
              <a:rPr lang="zh-CN" altLang="en-US" sz="3200" smtClean="0"/>
              <a:t>基本数据类型的包装类</a:t>
            </a:r>
            <a:endParaRPr lang="zh-CN" altLang="en-US" sz="3200" smtClean="0"/>
          </a:p>
        </p:txBody>
      </p:sp>
      <p:sp>
        <p:nvSpPr>
          <p:cNvPr id="69634" name="文本占位符 66562"/>
          <p:cNvSpPr>
            <a:spLocks noGrp="1" noChangeArrowheads="1"/>
          </p:cNvSpPr>
          <p:nvPr>
            <p:ph idx="1"/>
          </p:nvPr>
        </p:nvSpPr>
        <p:spPr/>
        <p:txBody>
          <a:bodyPr>
            <a:normAutofit/>
          </a:bodyPr>
          <a:lstStyle/>
          <a:p>
            <a:pPr marL="609600" indent="-609600">
              <a:buSzPct val="90000"/>
            </a:pPr>
            <a:r>
              <a:rPr lang="zh-CN" altLang="en-US" sz="3780" smtClean="0"/>
              <a:t>基本类型和字符串</a:t>
            </a:r>
            <a:r>
              <a:rPr lang="en-US" sz="3780" smtClean="0">
                <a:ea typeface="黑体" panose="02010609060101010101" pitchFamily="49" charset="-122"/>
              </a:rPr>
              <a:t>(String)</a:t>
            </a:r>
            <a:r>
              <a:rPr lang="zh-CN" altLang="en-US" sz="3780" smtClean="0"/>
              <a:t>之间的转换</a:t>
            </a:r>
            <a:endParaRPr lang="zh-CN" altLang="en-US" sz="3780" smtClean="0"/>
          </a:p>
          <a:p>
            <a:pPr marL="990600" lvl="1" indent="-533400">
              <a:buSzPct val="90000"/>
            </a:pPr>
            <a:r>
              <a:rPr lang="en-US" smtClean="0">
                <a:ea typeface="黑体" panose="02010609060101010101" pitchFamily="49" charset="-122"/>
              </a:rPr>
              <a:t>Integer</a:t>
            </a:r>
            <a:r>
              <a:rPr lang="zh-CN" altLang="en-US" smtClean="0"/>
              <a:t>类举例</a:t>
            </a:r>
            <a:endParaRPr lang="zh-CN" altLang="en-US" smtClean="0"/>
          </a:p>
          <a:p>
            <a:pPr marL="1371600" lvl="2" indent="-457200">
              <a:buSzPct val="90000"/>
            </a:pPr>
            <a:r>
              <a:rPr lang="zh-CN" altLang="en-US" smtClean="0"/>
              <a:t>整数转换为字符串</a:t>
            </a:r>
            <a:endParaRPr lang="zh-CN" altLang="en-US" smtClean="0"/>
          </a:p>
          <a:p>
            <a:pPr marL="1371600" lvl="2" indent="-457200">
              <a:buSzPct val="90000"/>
            </a:pPr>
            <a:r>
              <a:rPr lang="en-US" smtClean="0">
                <a:latin typeface="Tahoma" panose="020B0604030504040204" pitchFamily="34" charset="0"/>
                <a:ea typeface="黑体" panose="02010609060101010101" pitchFamily="49" charset="-122"/>
              </a:rPr>
              <a:t>public static String toString(int i)</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static String toString(int i, int radix)</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static String toBinaryString(int i)</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static String toHexString(int i)</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static String toOctalString(int i)</a:t>
            </a:r>
            <a:endParaRPr lang="en-US" smtClean="0">
              <a:latin typeface="Tahoma" panose="020B0604030504040204" pitchFamily="34" charset="0"/>
              <a:ea typeface="黑体" panose="02010609060101010101" pitchFamily="49" charset="-122"/>
            </a:endParaRPr>
          </a:p>
        </p:txBody>
      </p:sp>
      <p:sp>
        <p:nvSpPr>
          <p:cNvPr id="66564" name="矩形 66563"/>
          <p:cNvSpPr>
            <a:spLocks noChangeArrowheads="1"/>
          </p:cNvSpPr>
          <p:nvPr/>
        </p:nvSpPr>
        <p:spPr bwMode="auto">
          <a:xfrm>
            <a:off x="1400175" y="2466975"/>
            <a:ext cx="5520690" cy="3920490"/>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 i = 123;</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s1 = Integer.toString(i);</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s2 = Integer.toString(i, 10);</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s3 = Integer.toString(i, 2);</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s4 = Integer.toString(i, 8);</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s5 = Integer.toString(i, 16);</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s6 = Integer.toBinaryString(i);</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s7 = Integer.toHexString(i);</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s8 = Integer.toOctalString(i);</a:t>
            </a:r>
            <a:endParaRPr lang="en-US" sz="2520">
              <a:latin typeface="Tahoma" panose="020B0604030504040204" pitchFamily="34" charset="0"/>
              <a:ea typeface="华文中宋" panose="02010600040101010101" pitchFamily="2" charset="-122"/>
            </a:endParaRPr>
          </a:p>
        </p:txBody>
      </p:sp>
      <p:sp>
        <p:nvSpPr>
          <p:cNvPr id="66565" name="矩形 66564"/>
          <p:cNvSpPr>
            <a:spLocks noChangeArrowheads="1"/>
          </p:cNvSpPr>
          <p:nvPr/>
        </p:nvSpPr>
        <p:spPr bwMode="auto">
          <a:xfrm>
            <a:off x="6920865" y="2466975"/>
            <a:ext cx="1920240" cy="392049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endParaRPr lang="zh-CN" alt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123</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123</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1111011</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173</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7b</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1111011</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7b</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173</a:t>
            </a:r>
            <a:endParaRPr lang="en-US" sz="2520">
              <a:solidFill>
                <a:schemeClr val="bg1"/>
              </a:solidFill>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barn(outHorizontal)">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6565"/>
                                        </p:tgtEl>
                                        <p:attrNameLst>
                                          <p:attrName>style.visibility</p:attrName>
                                        </p:attrNameLst>
                                      </p:cBhvr>
                                      <p:to>
                                        <p:strVal val="visible"/>
                                      </p:to>
                                    </p:set>
                                    <p:animEffect transition="in" filter="barn(outHorizontal)">
                                      <p:cBhvr>
                                        <p:cTn id="12" dur="500"/>
                                        <p:tgtEl>
                                          <p:spTgt spid="66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bldLvl="0" animBg="1"/>
      <p:bldP spid="66565"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文本框 130049"/>
          <p:cNvSpPr txBox="1"/>
          <p:nvPr/>
        </p:nvSpPr>
        <p:spPr>
          <a:xfrm>
            <a:off x="4870609" y="6784181"/>
            <a:ext cx="4915615" cy="414020"/>
          </a:xfrm>
          <a:prstGeom prst="rect">
            <a:avLst/>
          </a:prstGeom>
          <a:noFill/>
          <a:ln w="9525">
            <a:noFill/>
          </a:ln>
        </p:spPr>
        <p:txBody>
          <a:bodyPr>
            <a:spAutoFit/>
          </a:bodyPr>
          <a:p>
            <a:pPr algn="r">
              <a:spcBef>
                <a:spcPct val="50000"/>
              </a:spcBef>
              <a:buClr>
                <a:schemeClr val="bg1"/>
              </a:buClr>
            </a:pPr>
            <a:endParaRPr sz="2100" b="1" dirty="0">
              <a:solidFill>
                <a:srgbClr val="3333FF"/>
              </a:solidFill>
              <a:latin typeface="Arial Unicode MS" panose="020B0604020202020204" charset="-122"/>
              <a:ea typeface="Arial Unicode MS" panose="020B0604020202020204" charset="-122"/>
            </a:endParaRPr>
          </a:p>
        </p:txBody>
      </p:sp>
      <p:sp>
        <p:nvSpPr>
          <p:cNvPr id="130051" name="标题 130050"/>
          <p:cNvSpPr>
            <a:spLocks noGrp="1"/>
          </p:cNvSpPr>
          <p:nvPr>
            <p:ph type="title"/>
          </p:nvPr>
        </p:nvSpPr>
        <p:spPr/>
        <p:txBody>
          <a:bodyPr lIns="96678" tIns="48339" rIns="96678" bIns="48339" anchor="ctr"/>
          <a:p>
            <a:r>
              <a:rPr lang="zh-CN" altLang="en-US" sz="3200" dirty="0"/>
              <a:t>自动装箱与自动拆箱</a:t>
            </a:r>
            <a:endParaRPr lang="zh-CN" altLang="en-US" sz="3200" dirty="0"/>
          </a:p>
        </p:txBody>
      </p:sp>
      <p:sp>
        <p:nvSpPr>
          <p:cNvPr id="130052" name="内容占位符 130051"/>
          <p:cNvSpPr>
            <a:spLocks noGrp="1"/>
          </p:cNvSpPr>
          <p:nvPr>
            <p:ph idx="1"/>
          </p:nvPr>
        </p:nvSpPr>
        <p:spPr/>
        <p:txBody>
          <a:bodyPr lIns="96678" tIns="48339" rIns="96678" bIns="48339">
            <a:noAutofit/>
          </a:bodyPr>
          <a:p>
            <a:r>
              <a:rPr lang="en-US" altLang="zh-CN" sz="2000" err="1"/>
              <a:t>JDK</a:t>
            </a:r>
            <a:r>
              <a:rPr lang="zh-CN" altLang="en-US" sz="2000" dirty="0"/>
              <a:t>还提供了自动装箱和自动拆箱。自动装箱就是把一个基本类型的变量直接赋给对应的包装类变量，自动拆箱则与之相反（</a:t>
            </a:r>
            <a:r>
              <a:rPr lang="en-US" altLang="zh-CN" sz="2000" dirty="0"/>
              <a:t>JDK5.0</a:t>
            </a:r>
            <a:r>
              <a:rPr lang="zh-CN" altLang="en-US" sz="2000" dirty="0"/>
              <a:t>之后）。</a:t>
            </a:r>
            <a:endParaRPr lang="zh-CN" altLang="en-US" sz="2000" dirty="0"/>
          </a:p>
          <a:p>
            <a:pPr lvl="1"/>
            <a:r>
              <a:rPr lang="en-US" altLang="zh-CN" sz="1800" dirty="0"/>
              <a:t>Integer i=10;//</a:t>
            </a:r>
            <a:r>
              <a:rPr lang="zh-CN" altLang="en-US" sz="1800" dirty="0"/>
              <a:t>自动</a:t>
            </a:r>
            <a:r>
              <a:rPr lang="zh-CN" altLang="en-US" sz="1800" dirty="0"/>
              <a:t>装箱</a:t>
            </a:r>
            <a:endParaRPr lang="en-US" altLang="zh-CN" sz="1800" dirty="0"/>
          </a:p>
          <a:p>
            <a:pPr lvl="1"/>
            <a:r>
              <a:rPr lang="en-US" altLang="zh-CN" sz="1800" dirty="0"/>
              <a:t>int j=i;//</a:t>
            </a:r>
            <a:r>
              <a:rPr lang="zh-CN" altLang="en-US" sz="1800" dirty="0"/>
              <a:t>自动拆箱</a:t>
            </a:r>
            <a:endParaRPr lang="zh-CN" altLang="en-US" sz="1800" dirty="0"/>
          </a:p>
          <a:p>
            <a:pPr lvl="1"/>
            <a:r>
              <a:rPr lang="zh-CN" altLang="en-US" sz="1800" dirty="0"/>
              <a:t>函数调用过程中的参数传递也可以完成自动拆箱装箱</a:t>
            </a:r>
            <a:endParaRPr lang="zh-CN" altLang="en-US" sz="2055" dirty="0"/>
          </a:p>
          <a:p>
            <a:r>
              <a:rPr lang="zh-CN" altLang="en-US" sz="2000" dirty="0"/>
              <a:t>包装类还可以实现基本类型变量和字符串之间的转换，除了</a:t>
            </a:r>
            <a:r>
              <a:rPr lang="en-US" altLang="zh-CN" sz="2000" dirty="0"/>
              <a:t>Character</a:t>
            </a:r>
            <a:r>
              <a:rPr lang="zh-CN" altLang="en-US" sz="2000" dirty="0"/>
              <a:t>之外的所有包装类都提供了一个</a:t>
            </a:r>
            <a:r>
              <a:rPr lang="en-US" altLang="zh-CN" sz="2000" err="1"/>
              <a:t>parseXxx(String</a:t>
            </a:r>
            <a:r>
              <a:rPr lang="en-US" altLang="zh-CN" sz="2000" dirty="0"/>
              <a:t> s)</a:t>
            </a:r>
            <a:r>
              <a:rPr lang="zh-CN" altLang="en-US" sz="2000" dirty="0"/>
              <a:t>静态方法。</a:t>
            </a:r>
            <a:endParaRPr lang="zh-CN" altLang="en-US" sz="2000" dirty="0"/>
          </a:p>
          <a:p>
            <a:pPr lvl="1"/>
            <a:r>
              <a:rPr lang="en-US" altLang="zh-CN" sz="1800" dirty="0"/>
              <a:t>Boolean.parseBoolean(“true”);</a:t>
            </a:r>
            <a:endParaRPr lang="zh-CN" altLang="en-US" sz="1800" dirty="0"/>
          </a:p>
          <a:p>
            <a:r>
              <a:rPr lang="zh-CN" altLang="en-US" sz="2000" dirty="0"/>
              <a:t>如果将基本类型转换为字符串，只需在后面加</a:t>
            </a:r>
            <a:r>
              <a:rPr lang="en-US" altLang="zh-CN" sz="2000" dirty="0"/>
              <a:t>+ “”</a:t>
            </a:r>
            <a:r>
              <a:rPr lang="zh-CN" altLang="en-US" sz="2000" dirty="0"/>
              <a:t>进行连接运算。</a:t>
            </a:r>
            <a:endParaRPr lang="zh-CN" altLang="en-US" sz="2000" dirty="0"/>
          </a:p>
          <a:p>
            <a:r>
              <a:rPr lang="zh-CN" altLang="en-US" sz="2000" dirty="0"/>
              <a:t>封装类可以支持相应原始类能支持的运算符操作，</a:t>
            </a:r>
            <a:endParaRPr lang="zh-CN" altLang="en-US" sz="2000" dirty="0"/>
          </a:p>
          <a:p>
            <a:pPr lvl="1"/>
            <a:r>
              <a:rPr lang="zh-CN" altLang="en-US" sz="1750" dirty="0"/>
              <a:t>整数可以</a:t>
            </a:r>
            <a:r>
              <a:rPr lang="en-US" altLang="zh-CN" sz="1750" dirty="0"/>
              <a:t>++</a:t>
            </a:r>
            <a:r>
              <a:rPr lang="zh-CN" altLang="en-US" sz="1750" dirty="0"/>
              <a:t>，</a:t>
            </a:r>
            <a:r>
              <a:rPr lang="en-US" altLang="zh-CN" sz="1750" dirty="0"/>
              <a:t>--</a:t>
            </a:r>
            <a:endParaRPr lang="en-US" altLang="zh-CN" sz="1750" dirty="0"/>
          </a:p>
          <a:p>
            <a:pPr lvl="1"/>
            <a:r>
              <a:rPr lang="zh-CN" altLang="en-US" sz="1750" dirty="0"/>
              <a:t>数字支持比较，算术运算等</a:t>
            </a:r>
            <a:endParaRPr lang="zh-CN" altLang="en-US" sz="1750" dirty="0"/>
          </a:p>
          <a:p>
            <a:r>
              <a:rPr lang="zh-CN" altLang="en-US" sz="2000" dirty="0"/>
              <a:t>原始数据类型与其相应封装类比较时，会自动拆箱成原始类，然后进行比较。</a:t>
            </a:r>
            <a:endParaRPr lang="zh-CN" altLang="en-US" sz="2000" dirty="0"/>
          </a:p>
          <a:p>
            <a:endParaRPr lang="zh-CN" altLang="en-US" sz="2000" dirty="0"/>
          </a:p>
          <a:p>
            <a:pPr marL="457200" lvl="1" indent="0" algn="l">
              <a:buClrTx/>
              <a:buSzTx/>
              <a:buNone/>
            </a:pPr>
            <a:endParaRPr lang="en-US" altLang="zh-CN" sz="2000" dirty="0"/>
          </a:p>
          <a:p>
            <a:endParaRPr lang="en-US" altLang="zh-CN" sz="2000" dirty="0"/>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封装类的常量</a:t>
            </a:r>
            <a:r>
              <a:rPr lang="zh-CN" altLang="en-US"/>
              <a:t>池</a:t>
            </a:r>
            <a:endParaRPr lang="zh-CN" altLang="en-US"/>
          </a:p>
        </p:txBody>
      </p:sp>
      <p:sp>
        <p:nvSpPr>
          <p:cNvPr id="3" name="内容占位符 2"/>
          <p:cNvSpPr>
            <a:spLocks noGrp="1"/>
          </p:cNvSpPr>
          <p:nvPr>
            <p:ph idx="1"/>
          </p:nvPr>
        </p:nvSpPr>
        <p:spPr/>
        <p:txBody>
          <a:bodyPr/>
          <a:p>
            <a:r>
              <a:rPr lang="en-US" altLang="zh-CN" sz="3200" dirty="0">
                <a:sym typeface="+mn-ea"/>
              </a:rPr>
              <a:t>Character,Boolean,Integer(+-255),</a:t>
            </a:r>
            <a:r>
              <a:rPr lang="en-US" altLang="zh-CN" sz="3200" dirty="0">
                <a:sym typeface="+mn-ea"/>
              </a:rPr>
              <a:t>Long(+-255)</a:t>
            </a:r>
            <a:r>
              <a:rPr lang="zh-CN" altLang="en-US" sz="3200" dirty="0">
                <a:sym typeface="+mn-ea"/>
              </a:rPr>
              <a:t>有对象缓存，常量赋值可使用</a:t>
            </a:r>
            <a:r>
              <a:rPr lang="en-US" altLang="zh-CN" sz="3200" dirty="0">
                <a:sym typeface="+mn-ea"/>
              </a:rPr>
              <a:t>‘==’</a:t>
            </a:r>
            <a:r>
              <a:rPr lang="zh-CN" altLang="en-US" sz="3200" dirty="0">
                <a:sym typeface="+mn-ea"/>
              </a:rPr>
              <a:t>判断是否值相等。</a:t>
            </a:r>
            <a:endParaRPr lang="zh-CN" altLang="en-US" sz="3200" dirty="0">
              <a:sym typeface="+mn-ea"/>
            </a:endParaRPr>
          </a:p>
          <a:p>
            <a:r>
              <a:rPr lang="zh-CN" altLang="en-US" sz="3200" dirty="0">
                <a:sym typeface="+mn-ea"/>
              </a:rPr>
              <a:t>两个封装类对象互相</a:t>
            </a:r>
            <a:r>
              <a:rPr lang="zh-CN" altLang="en-US" sz="3200" dirty="0">
                <a:sym typeface="+mn-ea"/>
              </a:rPr>
              <a:t>比较，则</a:t>
            </a:r>
            <a:r>
              <a:rPr lang="en-US" altLang="zh-CN" sz="3200" dirty="0">
                <a:sym typeface="+mn-ea"/>
              </a:rPr>
              <a:t>==</a:t>
            </a:r>
            <a:r>
              <a:rPr lang="zh-CN" altLang="en-US" sz="3200" dirty="0">
                <a:sym typeface="+mn-ea"/>
              </a:rPr>
              <a:t>比较引用。</a:t>
            </a:r>
            <a:endParaRPr lang="zh-CN" altLang="en-US" sz="3200" dirty="0">
              <a:sym typeface="+mn-ea"/>
            </a:endParaRPr>
          </a:p>
          <a:p>
            <a:pPr marL="457200" lvl="1" indent="0">
              <a:buNone/>
            </a:pPr>
            <a:r>
              <a:rPr lang="en-US" altLang="zh-CN" dirty="0">
                <a:sym typeface="+mn-ea"/>
              </a:rPr>
              <a:t>Integer i=10;</a:t>
            </a:r>
            <a:endParaRPr lang="en-US" altLang="zh-CN" dirty="0">
              <a:sym typeface="+mn-ea"/>
            </a:endParaRPr>
          </a:p>
          <a:p>
            <a:pPr marL="457200" lvl="1" indent="0">
              <a:buNone/>
            </a:pPr>
            <a:r>
              <a:rPr lang="en-US" altLang="zh-CN" dirty="0">
                <a:sym typeface="+mn-ea"/>
              </a:rPr>
              <a:t>Integer j=10;</a:t>
            </a:r>
            <a:endParaRPr lang="en-US" altLang="zh-CN" dirty="0">
              <a:sym typeface="+mn-ea"/>
            </a:endParaRPr>
          </a:p>
          <a:p>
            <a:pPr marL="457200" lvl="1" indent="0">
              <a:buNone/>
            </a:pPr>
            <a:r>
              <a:rPr lang="en-US" altLang="zh-CN" dirty="0">
                <a:sym typeface="+mn-ea"/>
              </a:rPr>
              <a:t>i==j </a:t>
            </a:r>
            <a:r>
              <a:rPr lang="zh-CN" altLang="en-US" dirty="0">
                <a:sym typeface="+mn-ea"/>
              </a:rPr>
              <a:t>为</a:t>
            </a:r>
            <a:r>
              <a:rPr lang="en-US" altLang="zh-CN" dirty="0">
                <a:sym typeface="+mn-ea"/>
              </a:rPr>
              <a:t>true</a:t>
            </a:r>
            <a:endParaRPr lang="en-US" altLang="zh-CN" dirty="0">
              <a:sym typeface="+mn-ea"/>
            </a:endParaRPr>
          </a:p>
          <a:p>
            <a:pPr marL="457200" lvl="1" indent="0">
              <a:buNone/>
            </a:pPr>
            <a:endParaRPr lang="en-US" altLang="zh-CN" sz="3200" dirty="0">
              <a:sym typeface="+mn-ea"/>
            </a:endParaRPr>
          </a:p>
          <a:p>
            <a:endParaRPr lang="zh-CN" altLang="en-US"/>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
        <p:nvSpPr>
          <p:cNvPr id="5" name="文本框 4"/>
          <p:cNvSpPr txBox="1"/>
          <p:nvPr/>
        </p:nvSpPr>
        <p:spPr>
          <a:xfrm>
            <a:off x="6254433" y="3969607"/>
            <a:ext cx="2667000" cy="737235"/>
          </a:xfrm>
          <a:prstGeom prst="rect">
            <a:avLst/>
          </a:prstGeom>
          <a:noFill/>
        </p:spPr>
        <p:txBody>
          <a:bodyPr wrap="square" rtlCol="0" anchor="t">
            <a:spAutoFit/>
          </a:bodyPr>
          <a:p>
            <a:pPr marL="457200" lvl="1" indent="0" algn="l">
              <a:buClrTx/>
              <a:buSzTx/>
              <a:buNone/>
            </a:pPr>
            <a:r>
              <a:rPr lang="en-US" altLang="zh-CN" sz="2100" dirty="0">
                <a:sym typeface="+mn-ea"/>
              </a:rPr>
              <a:t>j=new Integer(10)</a:t>
            </a:r>
            <a:endParaRPr lang="en-US" altLang="zh-CN" sz="2100" dirty="0"/>
          </a:p>
          <a:p>
            <a:pPr marL="457200" lvl="1" indent="0" algn="l">
              <a:buClrTx/>
              <a:buSzTx/>
              <a:buNone/>
            </a:pPr>
            <a:r>
              <a:rPr lang="en-US" altLang="zh-CN" sz="2100" dirty="0">
                <a:sym typeface="+mn-ea"/>
              </a:rPr>
              <a:t>i==j 为false;</a:t>
            </a:r>
            <a:endParaRPr lang="zh-CN" altLang="en-US" sz="2100"/>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65537"/>
          <p:cNvSpPr>
            <a:spLocks noGrp="1" noChangeArrowheads="1"/>
          </p:cNvSpPr>
          <p:nvPr>
            <p:ph type="title"/>
          </p:nvPr>
        </p:nvSpPr>
        <p:spPr/>
        <p:txBody>
          <a:bodyPr/>
          <a:lstStyle/>
          <a:p>
            <a:r>
              <a:rPr lang="zh-CN" altLang="en-US" sz="3200" smtClean="0"/>
              <a:t>基本数据类型的包装类</a:t>
            </a:r>
            <a:endParaRPr lang="zh-CN" altLang="en-US" sz="3200" smtClean="0"/>
          </a:p>
        </p:txBody>
      </p:sp>
      <p:sp>
        <p:nvSpPr>
          <p:cNvPr id="68610" name="文本占位符 65538"/>
          <p:cNvSpPr>
            <a:spLocks noGrp="1" noChangeArrowheads="1"/>
          </p:cNvSpPr>
          <p:nvPr>
            <p:ph idx="1"/>
          </p:nvPr>
        </p:nvSpPr>
        <p:spPr/>
        <p:txBody>
          <a:bodyPr/>
          <a:lstStyle/>
          <a:p>
            <a:pPr marL="609600" indent="-609600">
              <a:buSzPct val="90000"/>
            </a:pPr>
            <a:r>
              <a:rPr lang="zh-CN" altLang="en-US" smtClean="0"/>
              <a:t>基本类型和字符串</a:t>
            </a:r>
            <a:r>
              <a:rPr lang="en-US" smtClean="0">
                <a:ea typeface="黑体" panose="02010609060101010101" pitchFamily="49" charset="-122"/>
              </a:rPr>
              <a:t>(String)</a:t>
            </a:r>
            <a:r>
              <a:rPr lang="zh-CN" altLang="en-US" smtClean="0"/>
              <a:t>之间的转换</a:t>
            </a:r>
            <a:endParaRPr lang="zh-CN" altLang="en-US" smtClean="0"/>
          </a:p>
          <a:p>
            <a:pPr marL="990600" lvl="1" indent="-533400">
              <a:buSzPct val="90000"/>
            </a:pPr>
            <a:r>
              <a:rPr lang="en-US" sz="2000" smtClean="0">
                <a:ea typeface="黑体" panose="02010609060101010101" pitchFamily="49" charset="-122"/>
              </a:rPr>
              <a:t>Integer</a:t>
            </a:r>
            <a:r>
              <a:rPr lang="zh-CN" altLang="en-US" sz="2000" smtClean="0"/>
              <a:t>类举例</a:t>
            </a:r>
            <a:endParaRPr lang="zh-CN" altLang="en-US" sz="2000" smtClean="0"/>
          </a:p>
          <a:p>
            <a:pPr marL="1371600" lvl="2" indent="-457200">
              <a:lnSpc>
                <a:spcPct val="90000"/>
              </a:lnSpc>
              <a:buSzPct val="90000"/>
            </a:pPr>
            <a:r>
              <a:rPr lang="zh-CN" altLang="en-US" sz="1800" smtClean="0"/>
              <a:t>字符串转换为整数</a:t>
            </a:r>
            <a:endParaRPr lang="zh-CN" altLang="en-US" sz="1800" smtClean="0"/>
          </a:p>
          <a:p>
            <a:pPr marL="1371600" lvl="2" indent="-457200">
              <a:lnSpc>
                <a:spcPct val="90000"/>
              </a:lnSpc>
              <a:buSzPct val="90000"/>
            </a:pPr>
            <a:r>
              <a:rPr lang="en-US" sz="1800" smtClean="0">
                <a:ea typeface="黑体" panose="02010609060101010101" pitchFamily="49" charset="-122"/>
              </a:rPr>
              <a:t>public static int parseInt(String s) throws NumberFormatException</a:t>
            </a:r>
            <a:endParaRPr lang="en-US" sz="1800" smtClean="0">
              <a:ea typeface="黑体" panose="02010609060101010101" pitchFamily="49" charset="-122"/>
            </a:endParaRPr>
          </a:p>
          <a:p>
            <a:pPr marL="1371600" lvl="2" indent="-457200">
              <a:lnSpc>
                <a:spcPct val="90000"/>
              </a:lnSpc>
              <a:buSzPct val="90000"/>
            </a:pPr>
            <a:r>
              <a:rPr lang="en-US" sz="1800" smtClean="0">
                <a:ea typeface="黑体" panose="02010609060101010101" pitchFamily="49" charset="-122"/>
              </a:rPr>
              <a:t>public static int parseInt(String s, int radix) throws NumberFormatException</a:t>
            </a:r>
            <a:endParaRPr lang="en-US" sz="1800" smtClean="0">
              <a:ea typeface="黑体" panose="02010609060101010101" pitchFamily="49" charset="-122"/>
            </a:endParaRPr>
          </a:p>
        </p:txBody>
      </p:sp>
      <p:sp>
        <p:nvSpPr>
          <p:cNvPr id="65540" name="矩形 65539"/>
          <p:cNvSpPr>
            <a:spLocks noChangeArrowheads="1"/>
          </p:cNvSpPr>
          <p:nvPr/>
        </p:nvSpPr>
        <p:spPr bwMode="auto">
          <a:xfrm>
            <a:off x="2360295" y="4240530"/>
            <a:ext cx="6800850" cy="88011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 = “123”;</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int i = Integer.parseInt(s);</a:t>
            </a:r>
            <a:endParaRPr lang="en-US" sz="2520">
              <a:latin typeface="Tahoma" panose="020B0604030504040204" pitchFamily="34" charset="0"/>
              <a:ea typeface="华文中宋" panose="02010600040101010101" pitchFamily="2" charset="-122"/>
            </a:endParaRPr>
          </a:p>
        </p:txBody>
      </p:sp>
      <p:sp>
        <p:nvSpPr>
          <p:cNvPr id="65541" name="矩形 65540"/>
          <p:cNvSpPr>
            <a:spLocks noChangeArrowheads="1"/>
          </p:cNvSpPr>
          <p:nvPr/>
        </p:nvSpPr>
        <p:spPr bwMode="auto">
          <a:xfrm>
            <a:off x="840105" y="1952625"/>
            <a:ext cx="4320540" cy="4608195"/>
          </a:xfrm>
          <a:prstGeom prst="rect">
            <a:avLst/>
          </a:prstGeom>
          <a:solidFill>
            <a:schemeClr val="accent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parseInt("0", 10)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parseInt("473", 10)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parseInt("-0", 10)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parseInt("-FF", 16)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parseInt("1100110", 2)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parseInt("2147483647", 10)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parseInt("-2147483648", 10)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parseInt("2147483648", 10)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parseInt("99", 8)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parseInt("Kona", 10) </a:t>
            </a:r>
            <a:endParaRPr lang="en-US" sz="24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latin typeface="Tahoma" panose="020B0604030504040204" pitchFamily="34" charset="0"/>
                <a:ea typeface="华文中宋" panose="02010600040101010101" pitchFamily="2" charset="-122"/>
              </a:rPr>
              <a:t>parseInt("Kona", 27)</a:t>
            </a:r>
            <a:endParaRPr lang="en-US" sz="2400">
              <a:latin typeface="Tahoma" panose="020B0604030504040204" pitchFamily="34" charset="0"/>
              <a:ea typeface="华文中宋" panose="02010600040101010101" pitchFamily="2" charset="-122"/>
            </a:endParaRPr>
          </a:p>
        </p:txBody>
      </p:sp>
      <p:sp>
        <p:nvSpPr>
          <p:cNvPr id="65542" name="矩形 65541"/>
          <p:cNvSpPr>
            <a:spLocks noChangeArrowheads="1"/>
          </p:cNvSpPr>
          <p:nvPr/>
        </p:nvSpPr>
        <p:spPr bwMode="auto">
          <a:xfrm>
            <a:off x="5160645" y="1952625"/>
            <a:ext cx="5040630" cy="460819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returns 0</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returns 473</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returns 0</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returns -255</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returns 102</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returns 2147483647</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returns -2147483648</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throws a NumberFormatException</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throws a NumberFormatException</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throws a NumberFormatException</a:t>
            </a:r>
            <a:endParaRPr lang="en-US" sz="24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400">
                <a:solidFill>
                  <a:schemeClr val="bg1"/>
                </a:solidFill>
                <a:latin typeface="Tahoma" panose="020B0604030504040204" pitchFamily="34" charset="0"/>
                <a:ea typeface="华文中宋" panose="02010600040101010101" pitchFamily="2" charset="-122"/>
              </a:rPr>
              <a:t>returns 411787</a:t>
            </a:r>
            <a:endParaRPr lang="en-US" sz="2400">
              <a:solidFill>
                <a:schemeClr val="bg1"/>
              </a:solidFill>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barn(outHorizontal)">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5541"/>
                                        </p:tgtEl>
                                        <p:attrNameLst>
                                          <p:attrName>style.visibility</p:attrName>
                                        </p:attrNameLst>
                                      </p:cBhvr>
                                      <p:to>
                                        <p:strVal val="visible"/>
                                      </p:to>
                                    </p:set>
                                    <p:animEffect transition="in" filter="barn(outHorizontal)">
                                      <p:cBhvr>
                                        <p:cTn id="12" dur="500"/>
                                        <p:tgtEl>
                                          <p:spTgt spid="6554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65542"/>
                                        </p:tgtEl>
                                        <p:attrNameLst>
                                          <p:attrName>style.visibility</p:attrName>
                                        </p:attrNameLst>
                                      </p:cBhvr>
                                      <p:to>
                                        <p:strVal val="visible"/>
                                      </p:to>
                                    </p:set>
                                    <p:animEffect transition="in" filter="barn(outHorizontal)">
                                      <p:cBhvr>
                                        <p:cTn id="17" dur="500"/>
                                        <p:tgtEl>
                                          <p:spTgt spid="65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bldLvl="0" animBg="1"/>
      <p:bldP spid="65541" grpId="0" bldLvl="0" animBg="1"/>
      <p:bldP spid="65542"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标题 186369"/>
          <p:cNvSpPr>
            <a:spLocks noGrp="1"/>
          </p:cNvSpPr>
          <p:nvPr>
            <p:ph type="title"/>
          </p:nvPr>
        </p:nvSpPr>
        <p:spPr/>
        <p:txBody>
          <a:bodyPr lIns="96678" tIns="48339" rIns="96678" bIns="48339" anchor="ctr"/>
          <a:p>
            <a:r>
              <a:rPr lang="en-US" altLang="zh-CN" sz="3200" dirty="0"/>
              <a:t>Java 7</a:t>
            </a:r>
            <a:r>
              <a:rPr lang="zh-CN" altLang="en-US" sz="3200" dirty="0"/>
              <a:t>对包装类的增强</a:t>
            </a:r>
            <a:endParaRPr lang="zh-CN" altLang="en-US" sz="3200" dirty="0"/>
          </a:p>
        </p:txBody>
      </p:sp>
      <p:sp>
        <p:nvSpPr>
          <p:cNvPr id="186371" name="内容占位符 186370"/>
          <p:cNvSpPr>
            <a:spLocks noGrp="1"/>
          </p:cNvSpPr>
          <p:nvPr>
            <p:ph sz="half" idx="1"/>
          </p:nvPr>
        </p:nvSpPr>
        <p:spPr/>
        <p:txBody>
          <a:bodyPr lIns="96678" tIns="48339" rIns="96678" bIns="48339">
            <a:normAutofit fontScale="70000"/>
          </a:bodyPr>
          <a:p>
            <a:r>
              <a:rPr lang="en-US" altLang="zh-CN" sz="2940" dirty="0"/>
              <a:t>Java 7</a:t>
            </a:r>
            <a:r>
              <a:rPr lang="zh-CN" altLang="en-US" sz="2940" dirty="0"/>
              <a:t>为所有包装类增加一个新方法：   </a:t>
            </a:r>
            <a:r>
              <a:rPr lang="en-US" altLang="zh-CN" sz="2940" err="1"/>
              <a:t>compare(x</a:t>
            </a:r>
            <a:r>
              <a:rPr lang="en-US" altLang="zh-CN" sz="2940" dirty="0"/>
              <a:t> , y)</a:t>
            </a:r>
            <a:r>
              <a:rPr lang="zh-CN" altLang="en-US" sz="2940" dirty="0"/>
              <a:t>的方法。该方法用于比较两个包装类实例，当</a:t>
            </a:r>
            <a:r>
              <a:rPr lang="en-US" altLang="zh-CN" sz="2940" dirty="0"/>
              <a:t>x&gt;y</a:t>
            </a:r>
            <a:r>
              <a:rPr lang="zh-CN" altLang="en-US" sz="2940" dirty="0"/>
              <a:t>，返回大于</a:t>
            </a:r>
            <a:r>
              <a:rPr lang="en-US" altLang="zh-CN" sz="2940" dirty="0"/>
              <a:t>0</a:t>
            </a:r>
            <a:r>
              <a:rPr lang="zh-CN" altLang="en-US" sz="2940" dirty="0"/>
              <a:t>的数；当</a:t>
            </a:r>
            <a:r>
              <a:rPr lang="en-US" altLang="zh-CN" sz="2940" dirty="0"/>
              <a:t>x==y</a:t>
            </a:r>
            <a:r>
              <a:rPr lang="zh-CN" altLang="en-US" sz="2940" dirty="0"/>
              <a:t>，返回</a:t>
            </a:r>
            <a:r>
              <a:rPr lang="en-US" altLang="zh-CN" sz="2940" dirty="0"/>
              <a:t>0</a:t>
            </a:r>
            <a:r>
              <a:rPr lang="zh-CN" altLang="en-US" sz="2940" dirty="0"/>
              <a:t>；否则返回小于</a:t>
            </a:r>
            <a:r>
              <a:rPr lang="en-US" altLang="zh-CN" sz="2940" dirty="0"/>
              <a:t>0</a:t>
            </a:r>
            <a:r>
              <a:rPr lang="zh-CN" altLang="en-US" sz="2940" dirty="0"/>
              <a:t>的数。</a:t>
            </a:r>
            <a:endParaRPr lang="zh-CN" altLang="en-US" sz="2940" dirty="0"/>
          </a:p>
          <a:p>
            <a:pPr lvl="1"/>
            <a:r>
              <a:rPr lang="zh-CN" altLang="en-US" sz="2100" dirty="0"/>
              <a:t>全部封装类对象均可以调用</a:t>
            </a:r>
            <a:br>
              <a:rPr lang="zh-CN" altLang="en-US" sz="2100" dirty="0"/>
            </a:br>
            <a:r>
              <a:rPr lang="en-US" altLang="zh-CN" sz="2100" dirty="0"/>
              <a:t>comparaTo(XXX o)</a:t>
            </a:r>
            <a:r>
              <a:rPr lang="zh-CN" altLang="en-US" sz="2100" dirty="0"/>
              <a:t>对象进行比较（成员方法）</a:t>
            </a:r>
            <a:endParaRPr lang="zh-CN" altLang="en-US" sz="2100" dirty="0"/>
          </a:p>
          <a:p>
            <a:pPr lvl="1"/>
            <a:endParaRPr lang="zh-CN" altLang="en-US" sz="2100" dirty="0"/>
          </a:p>
          <a:p>
            <a:pPr lvl="1"/>
            <a:r>
              <a:rPr lang="zh-CN" altLang="en-US" sz="2100" dirty="0"/>
              <a:t>封装类可以调用</a:t>
            </a:r>
            <a:r>
              <a:rPr lang="en-US" altLang="zh-CN" sz="2100" dirty="0"/>
              <a:t>compara(XXX o1,XXX o2)</a:t>
            </a:r>
            <a:r>
              <a:rPr lang="zh-CN" altLang="en-US" sz="2100" dirty="0"/>
              <a:t>进行比较（静态方法）</a:t>
            </a:r>
            <a:endParaRPr lang="zh-CN" altLang="en-US" sz="2100" dirty="0"/>
          </a:p>
          <a:p>
            <a:pPr lvl="1"/>
            <a:endParaRPr lang="zh-CN" altLang="en-US" sz="2100" dirty="0"/>
          </a:p>
          <a:p>
            <a:pPr lvl="1"/>
            <a:r>
              <a:rPr lang="en-US" altLang="zh-CN" sz="2100" dirty="0"/>
              <a:t>Boolean</a:t>
            </a:r>
            <a:r>
              <a:rPr lang="zh-CN" altLang="en-US" sz="2100" dirty="0"/>
              <a:t>封装类对象不可使用</a:t>
            </a:r>
            <a:r>
              <a:rPr lang="en-US" altLang="zh-CN" sz="2100" dirty="0"/>
              <a:t>'&lt;' ,'&gt;'</a:t>
            </a:r>
            <a:r>
              <a:rPr lang="zh-CN" altLang="en-US" sz="2100" dirty="0"/>
              <a:t>比较，不可使用</a:t>
            </a:r>
            <a:r>
              <a:rPr lang="en-US" altLang="zh-CN" sz="2100" dirty="0"/>
              <a:t>+</a:t>
            </a:r>
            <a:r>
              <a:rPr lang="zh-CN" altLang="en-US" sz="2100" dirty="0"/>
              <a:t>，</a:t>
            </a:r>
            <a:r>
              <a:rPr lang="en-US" altLang="zh-CN" sz="2100" dirty="0"/>
              <a:t>-</a:t>
            </a:r>
            <a:r>
              <a:rPr lang="zh-CN" altLang="en-US" sz="2100" dirty="0"/>
              <a:t>操作。其余封装类可以使用</a:t>
            </a:r>
            <a:r>
              <a:rPr lang="en-US" altLang="zh-CN" sz="2100" dirty="0">
                <a:sym typeface="+mn-ea"/>
              </a:rPr>
              <a:t>'&lt;' ,'&gt;'</a:t>
            </a:r>
            <a:r>
              <a:rPr lang="zh-CN" altLang="en-US" sz="2100" dirty="0">
                <a:sym typeface="+mn-ea"/>
              </a:rPr>
              <a:t>，</a:t>
            </a:r>
            <a:r>
              <a:rPr lang="en-US" altLang="zh-CN" sz="2100" dirty="0">
                <a:sym typeface="+mn-ea"/>
              </a:rPr>
              <a:t>+</a:t>
            </a:r>
            <a:r>
              <a:rPr lang="zh-CN" altLang="en-US" sz="2100" dirty="0">
                <a:sym typeface="+mn-ea"/>
              </a:rPr>
              <a:t>，</a:t>
            </a:r>
            <a:r>
              <a:rPr lang="en-US" altLang="zh-CN" sz="2100" dirty="0">
                <a:sym typeface="+mn-ea"/>
              </a:rPr>
              <a:t>-</a:t>
            </a:r>
            <a:r>
              <a:rPr lang="zh-CN" altLang="en-US" sz="2100" dirty="0">
                <a:sym typeface="+mn-ea"/>
              </a:rPr>
              <a:t>操作，均为自动拆箱，按数字进行比较和加减。</a:t>
            </a:r>
            <a:endParaRPr lang="zh-CN" altLang="en-US" sz="2100" dirty="0">
              <a:sym typeface="+mn-ea"/>
            </a:endParaRPr>
          </a:p>
          <a:p>
            <a:pPr lvl="1"/>
            <a:endParaRPr lang="zh-CN" altLang="en-US" sz="2100" dirty="0">
              <a:sym typeface="+mn-ea"/>
            </a:endParaRPr>
          </a:p>
        </p:txBody>
      </p:sp>
      <p:sp>
        <p:nvSpPr>
          <p:cNvPr id="3" name="内容占位符 2"/>
          <p:cNvSpPr>
            <a:spLocks noGrp="1"/>
          </p:cNvSpPr>
          <p:nvPr>
            <p:ph sz="half" idx="2"/>
          </p:nvPr>
        </p:nvSpPr>
        <p:spPr>
          <a:xfrm>
            <a:off x="6083935" y="1395730"/>
            <a:ext cx="4133215" cy="4751070"/>
          </a:xfrm>
        </p:spPr>
        <p:txBody>
          <a:bodyPr/>
          <a:p>
            <a:pPr marL="0" lvl="1" indent="0" algn="l">
              <a:buClrTx/>
              <a:buSzTx/>
              <a:buNone/>
            </a:pPr>
            <a:r>
              <a:rPr lang="en-US" altLang="zh-CN" sz="2000" dirty="0">
                <a:sym typeface="+mn-ea"/>
              </a:rPr>
              <a:t>Integer j=new Integer(10);</a:t>
            </a:r>
            <a:endParaRPr lang="en-US" altLang="zh-CN" sz="2000" dirty="0">
              <a:sym typeface="+mn-ea"/>
            </a:endParaRPr>
          </a:p>
          <a:p>
            <a:pPr marL="0" lvl="1" indent="0" algn="l">
              <a:buClrTx/>
              <a:buSzTx/>
              <a:buNone/>
            </a:pPr>
            <a:r>
              <a:rPr lang="en-US" altLang="zh-CN" sz="2000" dirty="0">
                <a:sym typeface="+mn-ea"/>
              </a:rPr>
              <a:t>Integer i=20;</a:t>
            </a:r>
            <a:endParaRPr lang="en-US" altLang="zh-CN" sz="2000" dirty="0">
              <a:sym typeface="+mn-ea"/>
            </a:endParaRPr>
          </a:p>
          <a:p>
            <a:pPr marL="0" lvl="1" indent="0" algn="l">
              <a:buClrTx/>
              <a:buSzTx/>
              <a:buNone/>
            </a:pPr>
            <a:r>
              <a:rPr lang="en-US" altLang="zh-CN" sz="2000">
                <a:sym typeface="+mn-ea"/>
              </a:rPr>
              <a:t>i.comparaTo(j);</a:t>
            </a:r>
            <a:r>
              <a:rPr lang="zh-CN" altLang="en-US" sz="2000">
                <a:solidFill>
                  <a:srgbClr val="FF0000"/>
                </a:solidFill>
                <a:sym typeface="+mn-ea"/>
              </a:rPr>
              <a:t>返回</a:t>
            </a:r>
            <a:r>
              <a:rPr lang="en-US" altLang="zh-CN" sz="2000">
                <a:solidFill>
                  <a:srgbClr val="FF0000"/>
                </a:solidFill>
                <a:sym typeface="+mn-ea"/>
              </a:rPr>
              <a:t>1</a:t>
            </a:r>
            <a:endParaRPr lang="en-US" altLang="zh-CN" sz="2000">
              <a:solidFill>
                <a:srgbClr val="FF0000"/>
              </a:solidFill>
            </a:endParaRPr>
          </a:p>
          <a:p>
            <a:pPr marL="0" lvl="1" indent="0" algn="l">
              <a:buClrTx/>
              <a:buSzTx/>
              <a:buNone/>
            </a:pPr>
            <a:endParaRPr lang="en-US" altLang="zh-CN" sz="2000">
              <a:solidFill>
                <a:srgbClr val="FF0000"/>
              </a:solidFill>
            </a:endParaRPr>
          </a:p>
          <a:p>
            <a:pPr marL="0" lvl="1" indent="0" algn="l">
              <a:buClrTx/>
              <a:buSzTx/>
              <a:buNone/>
            </a:pPr>
            <a:r>
              <a:rPr lang="en-US" altLang="zh-CN" sz="2000">
                <a:sym typeface="+mn-ea"/>
              </a:rPr>
              <a:t>Integer.compara(i,j);</a:t>
            </a:r>
            <a:r>
              <a:rPr lang="zh-CN" altLang="en-US" sz="2000">
                <a:solidFill>
                  <a:srgbClr val="FF0000"/>
                </a:solidFill>
                <a:sym typeface="+mn-ea"/>
              </a:rPr>
              <a:t>返回</a:t>
            </a:r>
            <a:r>
              <a:rPr lang="en-US" altLang="zh-CN" sz="2000">
                <a:solidFill>
                  <a:srgbClr val="FF0000"/>
                </a:solidFill>
                <a:sym typeface="+mn-ea"/>
              </a:rPr>
              <a:t>1</a:t>
            </a:r>
            <a:endParaRPr lang="en-US" altLang="zh-CN" sz="2000">
              <a:solidFill>
                <a:srgbClr val="FF0000"/>
              </a:solidFill>
            </a:endParaRPr>
          </a:p>
          <a:p>
            <a:pPr marL="0" lvl="1" indent="0" algn="l">
              <a:buClrTx/>
              <a:buSzTx/>
              <a:buNone/>
            </a:pPr>
            <a:endParaRPr lang="en-US" altLang="zh-CN" sz="2000">
              <a:solidFill>
                <a:srgbClr val="FF0000"/>
              </a:solidFill>
            </a:endParaRPr>
          </a:p>
          <a:p>
            <a:pPr marL="0" lvl="1" indent="0" algn="l">
              <a:buClrTx/>
              <a:buSzTx/>
              <a:buNone/>
            </a:pPr>
            <a:endParaRPr lang="en-US" altLang="zh-CN" sz="2000">
              <a:solidFill>
                <a:srgbClr val="FF0000"/>
              </a:solidFill>
            </a:endParaRPr>
          </a:p>
          <a:p>
            <a:pPr marL="0" lvl="1" indent="0" algn="l">
              <a:buClrTx/>
              <a:buSzTx/>
              <a:buNone/>
            </a:pPr>
            <a:r>
              <a:rPr lang="en-US" altLang="zh-CN" sz="2000">
                <a:sym typeface="+mn-ea"/>
              </a:rPr>
              <a:t>Character c='c';</a:t>
            </a:r>
            <a:endParaRPr lang="en-US" altLang="zh-CN" sz="2000">
              <a:solidFill>
                <a:schemeClr val="tx1"/>
              </a:solidFill>
            </a:endParaRPr>
          </a:p>
          <a:p>
            <a:pPr marL="0" lvl="1" indent="0" algn="l">
              <a:buClrTx/>
              <a:buSzTx/>
              <a:buNone/>
            </a:pPr>
            <a:r>
              <a:rPr lang="en-US" altLang="zh-CN" sz="2000">
                <a:sym typeface="+mn-ea"/>
              </a:rPr>
              <a:t>Character b='b';</a:t>
            </a:r>
            <a:endParaRPr lang="en-US" altLang="zh-CN" sz="2000">
              <a:solidFill>
                <a:schemeClr val="tx1"/>
              </a:solidFill>
            </a:endParaRPr>
          </a:p>
          <a:p>
            <a:pPr marL="0" lvl="1" indent="0" algn="l">
              <a:buClrTx/>
              <a:buSzTx/>
              <a:buNone/>
            </a:pPr>
            <a:r>
              <a:rPr lang="en-US" altLang="zh-CN" sz="2000">
                <a:sym typeface="+mn-ea"/>
              </a:rPr>
              <a:t>b.comparaTo(c);</a:t>
            </a:r>
            <a:r>
              <a:rPr lang="zh-CN" altLang="en-US" sz="2000">
                <a:solidFill>
                  <a:srgbClr val="FF0000"/>
                </a:solidFill>
                <a:sym typeface="+mn-ea"/>
              </a:rPr>
              <a:t>返回</a:t>
            </a:r>
            <a:r>
              <a:rPr lang="en-US" altLang="zh-CN" sz="2000">
                <a:solidFill>
                  <a:srgbClr val="FF0000"/>
                </a:solidFill>
                <a:sym typeface="+mn-ea"/>
              </a:rPr>
              <a:t>-1</a:t>
            </a:r>
            <a:endParaRPr lang="en-US" altLang="zh-CN" sz="2000">
              <a:solidFill>
                <a:srgbClr val="FF0000"/>
              </a:solidFill>
            </a:endParaRPr>
          </a:p>
          <a:p>
            <a:pPr marL="0" lvl="1" indent="0" algn="l">
              <a:buClrTx/>
              <a:buSzTx/>
              <a:buNone/>
            </a:pPr>
            <a:r>
              <a:rPr lang="en-US" altLang="zh-CN" sz="2000">
                <a:sym typeface="+mn-ea"/>
              </a:rPr>
              <a:t>b&gt;c;</a:t>
            </a:r>
            <a:r>
              <a:rPr lang="zh-CN" altLang="en-US" sz="2000">
                <a:solidFill>
                  <a:srgbClr val="FF0000"/>
                </a:solidFill>
                <a:sym typeface="+mn-ea"/>
              </a:rPr>
              <a:t>为假</a:t>
            </a:r>
            <a:endParaRPr lang="zh-CN" altLang="en-US" sz="2000">
              <a:solidFill>
                <a:srgbClr val="FF0000"/>
              </a:solidFill>
            </a:endParaRPr>
          </a:p>
          <a:p>
            <a:pPr marL="0" lvl="1" indent="0" algn="l">
              <a:buClrTx/>
              <a:buSzTx/>
              <a:buNone/>
            </a:pPr>
            <a:r>
              <a:rPr lang="en-US" altLang="zh-CN" sz="2000">
                <a:sym typeface="+mn-ea"/>
              </a:rPr>
              <a:t>b-c;</a:t>
            </a:r>
            <a:r>
              <a:rPr lang="zh-CN" altLang="en-US" sz="2000">
                <a:solidFill>
                  <a:srgbClr val="FF0000"/>
                </a:solidFill>
                <a:sym typeface="+mn-ea"/>
              </a:rPr>
              <a:t>值为</a:t>
            </a:r>
            <a:r>
              <a:rPr lang="en-US" altLang="zh-CN" sz="2000">
                <a:solidFill>
                  <a:srgbClr val="FF0000"/>
                </a:solidFill>
                <a:sym typeface="+mn-ea"/>
              </a:rPr>
              <a:t>-1</a:t>
            </a:r>
            <a:endParaRPr lang="en-US" altLang="zh-CN" sz="2000">
              <a:solidFill>
                <a:srgbClr val="FF0000"/>
              </a:solidFill>
              <a:sym typeface="+mn-ea"/>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3230880" cy="829945"/>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实用工具类</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p:txBody>
      </p:sp>
      <p:sp>
        <p:nvSpPr>
          <p:cNvPr id="6146" name="TextBox 4"/>
          <p:cNvSpPr/>
          <p:nvPr/>
        </p:nvSpPr>
        <p:spPr>
          <a:xfrm>
            <a:off x="1241425" y="1935163"/>
            <a:ext cx="238125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[3]</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zh-CN" altLang="en-US"/>
              <a:t>常用工具类 </a:t>
            </a:r>
            <a:endParaRPr lang="zh-CN" altLang="en-US"/>
          </a:p>
        </p:txBody>
      </p:sp>
      <p:sp>
        <p:nvSpPr>
          <p:cNvPr id="6" name="内容占位符 5"/>
          <p:cNvSpPr>
            <a:spLocks noGrp="1"/>
          </p:cNvSpPr>
          <p:nvPr>
            <p:ph idx="1"/>
          </p:nvPr>
        </p:nvSpPr>
        <p:spPr/>
        <p:txBody>
          <a:bodyPr/>
          <a:p>
            <a:r>
              <a:rPr lang="zh-CN" altLang="en-US" sz="2800"/>
              <a:t>java.lang包</a:t>
            </a:r>
            <a:endParaRPr lang="zh-CN" altLang="en-US" sz="2800"/>
          </a:p>
          <a:p>
            <a:r>
              <a:rPr lang="zh-CN" altLang="en-US" sz="2800"/>
              <a:t>Object类</a:t>
            </a:r>
            <a:endParaRPr lang="zh-CN" altLang="en-US" sz="2800"/>
          </a:p>
          <a:p>
            <a:r>
              <a:rPr lang="zh-CN" altLang="en-US" sz="2800"/>
              <a:t>System类</a:t>
            </a:r>
            <a:endParaRPr lang="zh-CN" altLang="en-US" sz="2800"/>
          </a:p>
          <a:p>
            <a:r>
              <a:rPr lang="zh-CN" altLang="en-US" sz="2800"/>
              <a:t>Math类</a:t>
            </a:r>
            <a:endParaRPr lang="zh-CN" altLang="en-US" sz="2800"/>
          </a:p>
          <a:p>
            <a:r>
              <a:rPr lang="zh-CN" altLang="en-US" sz="2800"/>
              <a:t>字符串操作类</a:t>
            </a:r>
            <a:endParaRPr lang="zh-CN" altLang="en-US" sz="2800"/>
          </a:p>
          <a:p>
            <a:pPr lvl="1"/>
            <a:r>
              <a:rPr lang="zh-CN" altLang="en-US" sz="2450"/>
              <a:t>String类</a:t>
            </a:r>
            <a:endParaRPr lang="zh-CN" altLang="en-US" sz="2450"/>
          </a:p>
          <a:p>
            <a:pPr lvl="1"/>
            <a:r>
              <a:rPr lang="zh-CN" altLang="en-US" sz="2450"/>
              <a:t>StringBuffer，</a:t>
            </a:r>
            <a:r>
              <a:rPr lang="en-US" altLang="zh-CN" sz="2450"/>
              <a:t>StringBuilder</a:t>
            </a:r>
            <a:r>
              <a:rPr lang="zh-CN" altLang="en-US" sz="2450"/>
              <a:t>类</a:t>
            </a:r>
            <a:endParaRPr lang="zh-CN" altLang="en-US" sz="2450"/>
          </a:p>
          <a:p>
            <a:pPr lvl="1"/>
            <a:r>
              <a:rPr lang="zh-CN" altLang="en-US" sz="2450"/>
              <a:t>StringTokenizer类(java.util包)</a:t>
            </a:r>
            <a:endParaRPr lang="zh-CN" altLang="en-US" sz="2450"/>
          </a:p>
          <a:p>
            <a:r>
              <a:rPr lang="zh-CN" altLang="en-US" sz="2800"/>
              <a:t>Runtime类</a:t>
            </a:r>
            <a:endParaRPr lang="zh-CN" altLang="en-US" sz="2800"/>
          </a:p>
        </p:txBody>
      </p:sp>
    </p:spTree>
    <p:custDataLst>
      <p:tags r:id="rId1"/>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en-US" sz="3200"/>
              <a:t>java.lang.System</a:t>
            </a:r>
            <a:r>
              <a:rPr lang="zh-CN" altLang="en-US" sz="3200"/>
              <a:t>类</a:t>
            </a:r>
            <a:endParaRPr lang="zh-CN" altLang="en-US" sz="3200"/>
          </a:p>
        </p:txBody>
      </p:sp>
      <p:sp>
        <p:nvSpPr>
          <p:cNvPr id="3" name="内容占位符 2"/>
          <p:cNvSpPr>
            <a:spLocks noGrp="1"/>
          </p:cNvSpPr>
          <p:nvPr>
            <p:ph idx="1"/>
            <p:custDataLst>
              <p:tags r:id="rId2"/>
            </p:custDataLst>
          </p:nvPr>
        </p:nvSpPr>
        <p:spPr/>
        <p:txBody>
          <a:bodyPr>
            <a:normAutofit lnSpcReduction="10000"/>
          </a:bodyPr>
          <a:p>
            <a:pPr marL="342900" indent="-342900">
              <a:lnSpc>
                <a:spcPct val="150000"/>
              </a:lnSpc>
              <a:buClr>
                <a:srgbClr val="000000"/>
              </a:buClr>
              <a:buFont typeface="Wingdings" panose="05000000000000000000" pitchFamily="2" charset="2"/>
              <a:buChar char="l"/>
            </a:pPr>
            <a:r>
              <a:rPr lang="zh-CN" altLang="en-US" sz="1680" smtClean="0"/>
              <a:t>静态变量</a:t>
            </a:r>
            <a:endParaRPr lang="zh-CN" altLang="en-US" sz="1680" smtClean="0"/>
          </a:p>
          <a:p>
            <a:pPr marL="742950" lvl="1" indent="-285750">
              <a:lnSpc>
                <a:spcPct val="150000"/>
              </a:lnSpc>
              <a:buFont typeface="Wingdings" panose="05000000000000000000" pitchFamily="2" charset="2"/>
              <a:buChar char="l"/>
            </a:pPr>
            <a:r>
              <a:rPr lang="en-US" sz="1680" smtClean="0"/>
              <a:t>public static final InputStream in (</a:t>
            </a:r>
            <a:r>
              <a:rPr lang="zh-CN" altLang="en-US" sz="1680" smtClean="0"/>
              <a:t>标准输入流</a:t>
            </a:r>
            <a:r>
              <a:rPr lang="en-US" sz="1680" smtClean="0"/>
              <a:t>)</a:t>
            </a:r>
            <a:endParaRPr lang="en-US" sz="1680" smtClean="0"/>
          </a:p>
          <a:p>
            <a:pPr marL="742950" lvl="1" indent="-285750">
              <a:lnSpc>
                <a:spcPct val="150000"/>
              </a:lnSpc>
              <a:buFont typeface="Wingdings" panose="05000000000000000000" pitchFamily="2" charset="2"/>
              <a:buChar char="l"/>
            </a:pPr>
            <a:r>
              <a:rPr lang="en-US" sz="1680" smtClean="0"/>
              <a:t>public static final PrintStream out (</a:t>
            </a:r>
            <a:r>
              <a:rPr lang="zh-CN" altLang="en-US" sz="1680" smtClean="0"/>
              <a:t>标准输出流</a:t>
            </a:r>
            <a:r>
              <a:rPr lang="en-US" sz="1680" smtClean="0"/>
              <a:t>)</a:t>
            </a:r>
            <a:endParaRPr lang="en-US" sz="1680" smtClean="0"/>
          </a:p>
          <a:p>
            <a:pPr marL="742950" lvl="1" indent="-285750">
              <a:lnSpc>
                <a:spcPct val="150000"/>
              </a:lnSpc>
              <a:buFont typeface="Wingdings" panose="05000000000000000000" pitchFamily="2" charset="2"/>
              <a:buChar char="l"/>
            </a:pPr>
            <a:r>
              <a:rPr lang="en-US" sz="1680" smtClean="0"/>
              <a:t>public static final PrintStream err (</a:t>
            </a:r>
            <a:r>
              <a:rPr lang="zh-CN" altLang="en-US" sz="1680" smtClean="0"/>
              <a:t>标准错误输出流</a:t>
            </a:r>
            <a:r>
              <a:rPr lang="en-US" sz="1680" smtClean="0"/>
              <a:t>)</a:t>
            </a:r>
            <a:endParaRPr lang="en-US" sz="1680" smtClean="0"/>
          </a:p>
          <a:p>
            <a:pPr marL="342900" indent="-342900" algn="l">
              <a:lnSpc>
                <a:spcPct val="120000"/>
              </a:lnSpc>
              <a:buClr>
                <a:srgbClr val="000000"/>
              </a:buClr>
              <a:buSzTx/>
              <a:buFont typeface="Wingdings" panose="05000000000000000000" pitchFamily="2" charset="2"/>
              <a:buChar char="l"/>
            </a:pPr>
            <a:r>
              <a:rPr lang="zh-CN" altLang="en-US" sz="1680" smtClean="0"/>
              <a:t>静态方法</a:t>
            </a:r>
            <a:endParaRPr lang="zh-CN" altLang="en-US" sz="1680" smtClean="0"/>
          </a:p>
          <a:p>
            <a:pPr marL="742950" lvl="1" indent="-285750">
              <a:lnSpc>
                <a:spcPct val="150000"/>
              </a:lnSpc>
              <a:buFont typeface="Wingdings" panose="05000000000000000000" pitchFamily="2" charset="2"/>
              <a:buChar char="l"/>
            </a:pPr>
            <a:r>
              <a:rPr lang="en-US" sz="1680" smtClean="0"/>
              <a:t>public static void arraycopy(Object src, int srcPos, Object dest, int destPos,int length)</a:t>
            </a:r>
            <a:endParaRPr lang="en-US" sz="1680" smtClean="0"/>
          </a:p>
          <a:p>
            <a:pPr marL="742950" lvl="1" indent="-285750">
              <a:lnSpc>
                <a:spcPct val="150000"/>
              </a:lnSpc>
              <a:buFont typeface="Wingdings" panose="05000000000000000000" pitchFamily="2" charset="2"/>
              <a:buChar char="l"/>
            </a:pPr>
            <a:r>
              <a:rPr lang="en-US" sz="1680" smtClean="0"/>
              <a:t>public static void exit(int status)</a:t>
            </a:r>
            <a:endParaRPr lang="en-US" sz="1680" smtClean="0"/>
          </a:p>
          <a:p>
            <a:pPr marL="742950" lvl="1" indent="-285750">
              <a:lnSpc>
                <a:spcPct val="150000"/>
              </a:lnSpc>
              <a:buFont typeface="Wingdings" panose="05000000000000000000" pitchFamily="2" charset="2"/>
              <a:buChar char="l"/>
            </a:pPr>
            <a:r>
              <a:rPr lang="en-US" sz="1680" smtClean="0"/>
              <a:t>public static void gc()</a:t>
            </a:r>
            <a:endParaRPr lang="en-US" sz="1680" smtClean="0"/>
          </a:p>
          <a:p>
            <a:pPr marL="742950" lvl="1" indent="-285750">
              <a:lnSpc>
                <a:spcPct val="150000"/>
              </a:lnSpc>
              <a:buFont typeface="Wingdings" panose="05000000000000000000" pitchFamily="2" charset="2"/>
              <a:buChar char="l"/>
            </a:pPr>
            <a:r>
              <a:rPr lang="en-US" sz="1680" smtClean="0"/>
              <a:t>public static long currentTimeMillis()</a:t>
            </a:r>
            <a:endParaRPr lang="en-US" sz="1680" smtClean="0"/>
          </a:p>
          <a:p>
            <a:pPr marL="742950" lvl="1" indent="-285750">
              <a:lnSpc>
                <a:spcPct val="150000"/>
              </a:lnSpc>
              <a:buFont typeface="Wingdings" panose="05000000000000000000" pitchFamily="2" charset="2"/>
              <a:buChar char="l"/>
            </a:pPr>
            <a:r>
              <a:rPr lang="en-US" sz="1680" smtClean="0"/>
              <a:t>… … … …</a:t>
            </a:r>
            <a:endParaRPr lang="en-US" sz="1680" smtClean="0"/>
          </a:p>
        </p:txBody>
      </p:sp>
    </p:spTree>
    <p:custDataLst>
      <p:tags r:id="rId3"/>
    </p:custData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61441"/>
          <p:cNvSpPr>
            <a:spLocks noGrp="1" noChangeArrowheads="1"/>
          </p:cNvSpPr>
          <p:nvPr>
            <p:ph type="title"/>
          </p:nvPr>
        </p:nvSpPr>
        <p:spPr/>
        <p:txBody>
          <a:bodyPr/>
          <a:lstStyle/>
          <a:p>
            <a:r>
              <a:rPr lang="en-US" sz="3200" smtClean="0">
                <a:ea typeface="黑体" panose="02010609060101010101" pitchFamily="49" charset="-122"/>
              </a:rPr>
              <a:t>java.lang.System</a:t>
            </a:r>
            <a:r>
              <a:rPr lang="zh-CN" altLang="en-US" sz="3200" smtClean="0"/>
              <a:t>类</a:t>
            </a:r>
            <a:endParaRPr lang="zh-CN" altLang="en-US" sz="3200" smtClean="0"/>
          </a:p>
        </p:txBody>
      </p:sp>
      <p:sp>
        <p:nvSpPr>
          <p:cNvPr id="64514" name="文本占位符 61442"/>
          <p:cNvSpPr>
            <a:spLocks noGrp="1" noChangeArrowheads="1"/>
          </p:cNvSpPr>
          <p:nvPr>
            <p:ph idx="1"/>
          </p:nvPr>
        </p:nvSpPr>
        <p:spPr/>
        <p:txBody>
          <a:bodyPr/>
          <a:lstStyle/>
          <a:p>
            <a:pPr marL="609600" indent="-609600">
              <a:buSzPct val="90000"/>
            </a:pPr>
            <a:r>
              <a:rPr lang="zh-CN" altLang="en-US" smtClean="0"/>
              <a:t>获取当前时间</a:t>
            </a:r>
            <a:endParaRPr lang="zh-CN" altLang="en-US" smtClean="0"/>
          </a:p>
          <a:p>
            <a:pPr marL="990600" lvl="1" indent="-533400">
              <a:buSzPct val="90000"/>
            </a:pPr>
            <a:r>
              <a:rPr lang="en-US" smtClean="0">
                <a:ea typeface="黑体" panose="02010609060101010101" pitchFamily="49" charset="-122"/>
              </a:rPr>
              <a:t>public static long currentTimeMillis()</a:t>
            </a:r>
            <a:endParaRPr lang="en-US" smtClean="0">
              <a:ea typeface="黑体" panose="02010609060101010101" pitchFamily="49" charset="-122"/>
            </a:endParaRPr>
          </a:p>
          <a:p>
            <a:pPr marL="1371600" lvl="2" indent="-457200">
              <a:lnSpc>
                <a:spcPct val="90000"/>
              </a:lnSpc>
              <a:buSzPct val="90000"/>
            </a:pPr>
            <a:r>
              <a:rPr lang="en-US" smtClean="0">
                <a:ea typeface="黑体" panose="02010609060101010101" pitchFamily="49" charset="-122"/>
              </a:rPr>
              <a:t>Returns: the difference, measured in milliseconds, between the current time and midnight, January 1, 1970 UTC (Universal time coordinated).</a:t>
            </a:r>
            <a:endParaRPr lang="en-US" smtClean="0">
              <a:ea typeface="黑体" panose="02010609060101010101" pitchFamily="49" charset="-122"/>
            </a:endParaRPr>
          </a:p>
        </p:txBody>
      </p:sp>
      <p:sp>
        <p:nvSpPr>
          <p:cNvPr id="61444" name="矩形 61443"/>
          <p:cNvSpPr>
            <a:spLocks noChangeArrowheads="1"/>
          </p:cNvSpPr>
          <p:nvPr/>
        </p:nvSpPr>
        <p:spPr bwMode="auto">
          <a:xfrm>
            <a:off x="1880235" y="3840480"/>
            <a:ext cx="6960870" cy="264033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	</a:t>
            </a:r>
            <a:r>
              <a:rPr lang="en-US" sz="2520">
                <a:latin typeface="Tahoma" panose="020B0604030504040204" pitchFamily="34" charset="0"/>
                <a:ea typeface="华文中宋" panose="02010600040101010101" pitchFamily="2" charset="-122"/>
              </a:rPr>
              <a:t>public static void main(String args[])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long start = System.currentTimeMillis();</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 … … …</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long end = System.currentTimeMillis();</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System.out.println(end - start);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	}</a:t>
            </a:r>
            <a:r>
              <a:rPr lang="en-US" sz="2100">
                <a:latin typeface="Tahoma" panose="020B0604030504040204" pitchFamily="34" charset="0"/>
                <a:ea typeface="华文中宋" panose="02010600040101010101" pitchFamily="2" charset="-122"/>
              </a:rPr>
              <a:t>  </a:t>
            </a:r>
            <a:endParaRPr lang="en-US" sz="210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barn(outHorizontal)">
                                      <p:cBhvr>
                                        <p:cTn id="7" dur="5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en-US" sz="3200"/>
              <a:t>java.lang.Math</a:t>
            </a:r>
            <a:r>
              <a:rPr lang="zh-CN" altLang="en-US" sz="3200"/>
              <a:t>类</a:t>
            </a:r>
            <a:endParaRPr lang="zh-CN" altLang="en-US" sz="3200"/>
          </a:p>
        </p:txBody>
      </p:sp>
      <p:sp>
        <p:nvSpPr>
          <p:cNvPr id="3" name="内容占位符 2"/>
          <p:cNvSpPr>
            <a:spLocks noGrp="1"/>
          </p:cNvSpPr>
          <p:nvPr>
            <p:ph idx="1"/>
            <p:custDataLst>
              <p:tags r:id="rId2"/>
            </p:custDataLst>
          </p:nvPr>
        </p:nvSpPr>
        <p:spPr/>
        <p:txBody>
          <a:bodyPr>
            <a:normAutofit/>
          </a:bodyPr>
          <a:p>
            <a:pPr marL="342900" indent="-342900" algn="l">
              <a:lnSpc>
                <a:spcPct val="120000"/>
              </a:lnSpc>
              <a:buClr>
                <a:srgbClr val="000000"/>
              </a:buClr>
              <a:buSzTx/>
              <a:buFont typeface="Wingdings" panose="05000000000000000000" pitchFamily="2" charset="2"/>
              <a:buChar char="l"/>
            </a:pPr>
            <a:r>
              <a:rPr lang="zh-CN" altLang="en-US" sz="2800" smtClean="0"/>
              <a:t>静态变量</a:t>
            </a:r>
            <a:endParaRPr lang="zh-CN" altLang="en-US" sz="2800" smtClean="0"/>
          </a:p>
          <a:p>
            <a:pPr marL="742950" lvl="1" indent="-285750">
              <a:lnSpc>
                <a:spcPct val="120000"/>
              </a:lnSpc>
            </a:pPr>
            <a:r>
              <a:rPr lang="en-US" sz="2000" smtClean="0"/>
              <a:t>public static final double E</a:t>
            </a:r>
            <a:endParaRPr lang="en-US" sz="2000" smtClean="0"/>
          </a:p>
          <a:p>
            <a:pPr marL="742950" lvl="1" indent="-285750">
              <a:lnSpc>
                <a:spcPct val="120000"/>
              </a:lnSpc>
            </a:pPr>
            <a:r>
              <a:rPr lang="en-US" sz="2000" smtClean="0"/>
              <a:t>public static final double PI</a:t>
            </a:r>
            <a:endParaRPr lang="en-US" sz="2000" smtClean="0"/>
          </a:p>
          <a:p>
            <a:pPr marL="342900" indent="-342900" algn="l">
              <a:lnSpc>
                <a:spcPct val="120000"/>
              </a:lnSpc>
              <a:buClr>
                <a:srgbClr val="000000"/>
              </a:buClr>
              <a:buSzTx/>
              <a:buFont typeface="Wingdings" panose="05000000000000000000" pitchFamily="2" charset="2"/>
              <a:buChar char="l"/>
            </a:pPr>
            <a:r>
              <a:rPr lang="zh-CN" altLang="en-US" sz="2800" smtClean="0"/>
              <a:t>静态方法</a:t>
            </a:r>
            <a:endParaRPr lang="zh-CN" altLang="en-US" sz="2800" smtClean="0"/>
          </a:p>
          <a:p>
            <a:pPr marL="742950" lvl="1" indent="-285750">
              <a:lnSpc>
                <a:spcPct val="120000"/>
              </a:lnSpc>
            </a:pPr>
            <a:r>
              <a:rPr lang="en-US" sz="2000" smtClean="0"/>
              <a:t>public static double abs(double a)</a:t>
            </a:r>
            <a:endParaRPr lang="en-US" sz="2000" smtClean="0"/>
          </a:p>
          <a:p>
            <a:pPr marL="742950" lvl="1" indent="-285750">
              <a:lnSpc>
                <a:spcPct val="120000"/>
              </a:lnSpc>
            </a:pPr>
            <a:r>
              <a:rPr lang="en-US" sz="2000" smtClean="0"/>
              <a:t>public static double ceil(double a)</a:t>
            </a:r>
            <a:endParaRPr lang="en-US" sz="2000" smtClean="0"/>
          </a:p>
          <a:p>
            <a:pPr marL="742950" lvl="1" indent="-285750">
              <a:lnSpc>
                <a:spcPct val="120000"/>
              </a:lnSpc>
            </a:pPr>
            <a:r>
              <a:rPr lang="en-US" sz="2000" smtClean="0"/>
              <a:t>public static double floor(double a)</a:t>
            </a:r>
            <a:endParaRPr lang="en-US" sz="2000" smtClean="0"/>
          </a:p>
          <a:p>
            <a:pPr marL="742950" lvl="1" indent="-285750">
              <a:lnSpc>
                <a:spcPct val="120000"/>
              </a:lnSpc>
            </a:pPr>
            <a:r>
              <a:rPr lang="en-US" sz="2000" smtClean="0"/>
              <a:t>public static double max(double a, double b)</a:t>
            </a:r>
            <a:endParaRPr lang="en-US" sz="2000" smtClean="0"/>
          </a:p>
          <a:p>
            <a:pPr marL="742950" lvl="1" indent="-285750">
              <a:lnSpc>
                <a:spcPct val="120000"/>
              </a:lnSpc>
            </a:pPr>
            <a:r>
              <a:rPr lang="en-US" sz="2000" smtClean="0"/>
              <a:t>… … … …</a:t>
            </a:r>
            <a:endParaRPr lang="en-US" sz="2000" smtClean="0"/>
          </a:p>
        </p:txBody>
      </p:sp>
    </p:spTree>
    <p:custDataLst>
      <p:tags r:id="rId3"/>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p>
            <a:r>
              <a:rPr lang="zh-CN" altLang="en-US" sz="3200"/>
              <a:t>字符串操作类</a:t>
            </a:r>
            <a:endParaRPr lang="zh-CN" altLang="en-US" sz="3200"/>
          </a:p>
        </p:txBody>
      </p:sp>
      <p:sp>
        <p:nvSpPr>
          <p:cNvPr id="8" name="内容占位符 7"/>
          <p:cNvSpPr>
            <a:spLocks noGrp="1"/>
          </p:cNvSpPr>
          <p:nvPr>
            <p:ph idx="1"/>
          </p:nvPr>
        </p:nvSpPr>
        <p:spPr/>
        <p:txBody>
          <a:bodyPr/>
          <a:p>
            <a:r>
              <a:rPr lang="zh-CN" altLang="en-US"/>
              <a:t>三个类</a:t>
            </a:r>
            <a:endParaRPr lang="zh-CN" altLang="en-US"/>
          </a:p>
          <a:p>
            <a:r>
              <a:rPr lang="zh-CN" altLang="en-US"/>
              <a:t>java.lang.String类</a:t>
            </a:r>
            <a:endParaRPr lang="zh-CN" altLang="en-US"/>
          </a:p>
          <a:p>
            <a:r>
              <a:rPr lang="zh-CN" altLang="en-US"/>
              <a:t>java.lang.StringBuffer</a:t>
            </a:r>
            <a:r>
              <a:rPr lang="en-US" altLang="zh-CN"/>
              <a:t>,StringBuilder</a:t>
            </a:r>
            <a:r>
              <a:rPr lang="zh-CN" altLang="en-US"/>
              <a:t>类</a:t>
            </a:r>
            <a:endParaRPr lang="zh-CN" altLang="en-US"/>
          </a:p>
          <a:p>
            <a:r>
              <a:rPr lang="zh-CN" altLang="en-US"/>
              <a:t>java.util.StringTokenizer类</a:t>
            </a:r>
            <a:endParaRPr lang="zh-CN" altLang="en-US"/>
          </a:p>
          <a:p>
            <a:r>
              <a:rPr lang="zh-CN" altLang="en-US"/>
              <a:t>不同的应用场合</a:t>
            </a:r>
            <a:endParaRPr lang="zh-CN" altLang="en-US"/>
          </a:p>
        </p:txBody>
      </p:sp>
    </p:spTree>
    <p:custDataLst>
      <p:tags r:id="rId1"/>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a:bodyPr>
          <a:p>
            <a:pPr marL="342900" indent="-342900">
              <a:lnSpc>
                <a:spcPct val="130000"/>
              </a:lnSpc>
              <a:buClr>
                <a:srgbClr val="000000"/>
              </a:buClr>
              <a:buFont typeface="Wingdings" panose="05000000000000000000" pitchFamily="2" charset="2"/>
              <a:buChar char="l"/>
            </a:pPr>
            <a:r>
              <a:rPr lang="en-US" sz="2000" smtClean="0"/>
              <a:t>java.lang.String</a:t>
            </a:r>
            <a:r>
              <a:rPr lang="zh-CN" altLang="en-US" sz="2000" smtClean="0"/>
              <a:t>类</a:t>
            </a:r>
            <a:r>
              <a:rPr lang="en-US" sz="2000" smtClean="0"/>
              <a:t>—</a:t>
            </a:r>
            <a:r>
              <a:rPr lang="zh-CN" altLang="en-US" sz="2000" smtClean="0"/>
              <a:t>字符串</a:t>
            </a:r>
            <a:r>
              <a:rPr lang="en-US" sz="2000" smtClean="0"/>
              <a:t>/</a:t>
            </a:r>
            <a:r>
              <a:rPr lang="zh-CN" altLang="en-US" sz="2000" smtClean="0"/>
              <a:t>字符序列</a:t>
            </a:r>
            <a:endParaRPr lang="zh-CN" altLang="en-US" sz="2000" smtClean="0"/>
          </a:p>
          <a:p>
            <a:pPr marL="742950" lvl="1" indent="-285750">
              <a:lnSpc>
                <a:spcPct val="130000"/>
              </a:lnSpc>
              <a:buFont typeface="Wingdings" panose="05000000000000000000" pitchFamily="2" charset="2"/>
              <a:buChar char="l"/>
            </a:pPr>
            <a:r>
              <a:rPr lang="zh-CN" altLang="en-US" sz="1680" smtClean="0"/>
              <a:t>构造方法</a:t>
            </a:r>
            <a:endParaRPr lang="zh-CN" altLang="en-US" sz="1680" smtClean="0"/>
          </a:p>
          <a:p>
            <a:pPr lvl="2">
              <a:lnSpc>
                <a:spcPct val="130000"/>
              </a:lnSpc>
              <a:buClr>
                <a:schemeClr val="bg2"/>
              </a:buClr>
              <a:buFont typeface="Wingdings" panose="05000000000000000000" pitchFamily="2" charset="2"/>
              <a:buChar char="l"/>
            </a:pPr>
            <a:r>
              <a:rPr lang="en-US" sz="1680" smtClean="0"/>
              <a:t>public String() </a:t>
            </a:r>
            <a:endParaRPr lang="en-US" sz="1680" smtClean="0"/>
          </a:p>
          <a:p>
            <a:pPr lvl="2">
              <a:lnSpc>
                <a:spcPct val="130000"/>
              </a:lnSpc>
              <a:buClr>
                <a:schemeClr val="bg2"/>
              </a:buClr>
              <a:buFont typeface="Wingdings" panose="05000000000000000000" pitchFamily="2" charset="2"/>
              <a:buChar char="l"/>
            </a:pPr>
            <a:r>
              <a:rPr lang="en-US" sz="1680" smtClean="0"/>
              <a:t>public String(byte[] bytes) </a:t>
            </a:r>
            <a:endParaRPr lang="en-US" sz="1680" smtClean="0"/>
          </a:p>
          <a:p>
            <a:pPr lvl="2">
              <a:lnSpc>
                <a:spcPct val="130000"/>
              </a:lnSpc>
              <a:buClr>
                <a:schemeClr val="bg2"/>
              </a:buClr>
              <a:buFont typeface="Wingdings" panose="05000000000000000000" pitchFamily="2" charset="2"/>
              <a:buChar char="l"/>
            </a:pPr>
            <a:r>
              <a:rPr lang="en-US" sz="1680" smtClean="0"/>
              <a:t>public String(byte[] bytes, int offset, int length)</a:t>
            </a:r>
            <a:endParaRPr lang="en-US" sz="1680" smtClean="0"/>
          </a:p>
          <a:p>
            <a:pPr lvl="2">
              <a:lnSpc>
                <a:spcPct val="130000"/>
              </a:lnSpc>
              <a:buClr>
                <a:schemeClr val="bg2"/>
              </a:buClr>
              <a:buFont typeface="Wingdings" panose="05000000000000000000" pitchFamily="2" charset="2"/>
              <a:buChar char="l"/>
            </a:pPr>
            <a:r>
              <a:rPr lang="en-US" sz="1680" smtClean="0"/>
              <a:t>public String(byte[] bytes, String charsetName) </a:t>
            </a:r>
            <a:endParaRPr lang="en-US" sz="1680" smtClean="0"/>
          </a:p>
          <a:p>
            <a:pPr lvl="2">
              <a:lnSpc>
                <a:spcPct val="130000"/>
              </a:lnSpc>
              <a:buClr>
                <a:schemeClr val="bg2"/>
              </a:buClr>
              <a:buFont typeface="Wingdings" panose="05000000000000000000" pitchFamily="2" charset="2"/>
              <a:buChar char="l"/>
            </a:pPr>
            <a:r>
              <a:rPr lang="en-US" sz="1680" smtClean="0"/>
              <a:t>public String(char[] value) </a:t>
            </a:r>
            <a:endParaRPr lang="en-US" sz="1680" smtClean="0"/>
          </a:p>
          <a:p>
            <a:pPr lvl="2">
              <a:lnSpc>
                <a:spcPct val="130000"/>
              </a:lnSpc>
              <a:buClr>
                <a:schemeClr val="bg2"/>
              </a:buClr>
              <a:buFont typeface="Wingdings" panose="05000000000000000000" pitchFamily="2" charset="2"/>
              <a:buChar char="l"/>
            </a:pPr>
            <a:r>
              <a:rPr lang="en-US" sz="1680" smtClean="0"/>
              <a:t>public String(char[] value, int offset, int count)</a:t>
            </a:r>
            <a:endParaRPr lang="en-US" sz="1680" smtClean="0"/>
          </a:p>
          <a:p>
            <a:pPr lvl="2">
              <a:lnSpc>
                <a:spcPct val="130000"/>
              </a:lnSpc>
              <a:buClr>
                <a:schemeClr val="bg2"/>
              </a:buClr>
              <a:buFont typeface="Wingdings" panose="05000000000000000000" pitchFamily="2" charset="2"/>
              <a:buChar char="l"/>
            </a:pPr>
            <a:r>
              <a:rPr lang="en-US" sz="1680" smtClean="0"/>
              <a:t>public String(String original) </a:t>
            </a:r>
            <a:endParaRPr lang="en-US" sz="1680" smtClean="0"/>
          </a:p>
        </p:txBody>
      </p:sp>
    </p:spTree>
    <p:custDataLst>
      <p:tags r:id="rId3"/>
    </p:custData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69633"/>
          <p:cNvSpPr>
            <a:spLocks noGrp="1" noChangeArrowheads="1"/>
          </p:cNvSpPr>
          <p:nvPr>
            <p:ph type="title"/>
          </p:nvPr>
        </p:nvSpPr>
        <p:spPr/>
        <p:txBody>
          <a:bodyPr/>
          <a:lstStyle/>
          <a:p>
            <a:r>
              <a:rPr lang="zh-CN" altLang="en-US" smtClean="0"/>
              <a:t>字符串操作类</a:t>
            </a:r>
            <a:endParaRPr lang="zh-CN" altLang="en-US" smtClean="0"/>
          </a:p>
        </p:txBody>
      </p:sp>
      <p:sp>
        <p:nvSpPr>
          <p:cNvPr id="72706" name="文本占位符 69634"/>
          <p:cNvSpPr>
            <a:spLocks noGrp="1" noChangeArrowheads="1"/>
          </p:cNvSpPr>
          <p:nvPr>
            <p:ph idx="1"/>
          </p:nvPr>
        </p:nvSpPr>
        <p:spPr/>
        <p:txBody>
          <a:bodyPr/>
          <a:lstStyle/>
          <a:p>
            <a:pPr marL="609600" indent="-609600">
              <a:buSzPct val="90000"/>
            </a:pPr>
            <a:r>
              <a:rPr lang="en-US" sz="2800" smtClean="0">
                <a:ea typeface="黑体" panose="02010609060101010101" pitchFamily="49" charset="-122"/>
              </a:rPr>
              <a:t>java.lang.String</a:t>
            </a:r>
            <a:r>
              <a:rPr lang="zh-CN" altLang="en-US" sz="2800" smtClean="0"/>
              <a:t>类</a:t>
            </a:r>
            <a:r>
              <a:rPr lang="en-US" sz="2800" smtClean="0">
                <a:ea typeface="黑体" panose="02010609060101010101" pitchFamily="49" charset="-122"/>
              </a:rPr>
              <a:t>—</a:t>
            </a:r>
            <a:r>
              <a:rPr lang="zh-CN" altLang="en-US" sz="2800" smtClean="0"/>
              <a:t>字符串</a:t>
            </a:r>
            <a:r>
              <a:rPr lang="en-US" sz="2800" smtClean="0">
                <a:ea typeface="黑体" panose="02010609060101010101" pitchFamily="49" charset="-122"/>
              </a:rPr>
              <a:t>/</a:t>
            </a:r>
            <a:r>
              <a:rPr lang="zh-CN" altLang="en-US" sz="2800" smtClean="0"/>
              <a:t>字符序列</a:t>
            </a:r>
            <a:endParaRPr lang="zh-CN" altLang="en-US" sz="2800" smtClean="0"/>
          </a:p>
          <a:p>
            <a:pPr marL="990600" lvl="1" indent="-533400">
              <a:buSzPct val="90000"/>
            </a:pPr>
            <a:r>
              <a:rPr lang="zh-CN" altLang="en-US" sz="2400" smtClean="0"/>
              <a:t>构造方法的使用</a:t>
            </a:r>
            <a:endParaRPr lang="zh-CN" altLang="en-US" sz="2400" smtClean="0">
              <a:latin typeface="Arial Unicode MS" panose="020B0604020202020204" charset="-122"/>
            </a:endParaRPr>
          </a:p>
        </p:txBody>
      </p:sp>
      <p:sp>
        <p:nvSpPr>
          <p:cNvPr id="69636" name="矩形 69635"/>
          <p:cNvSpPr>
            <a:spLocks noChangeArrowheads="1"/>
          </p:cNvSpPr>
          <p:nvPr/>
        </p:nvSpPr>
        <p:spPr bwMode="auto">
          <a:xfrm>
            <a:off x="1240155" y="2640330"/>
            <a:ext cx="4160520" cy="312039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 = new String();</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char c[] = {‘a’, ‘b’, ‘c’};</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 = new String(c);</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char c[] = {‘</a:t>
            </a:r>
            <a:r>
              <a:rPr lang="zh-CN" altLang="en-US" sz="2520">
                <a:latin typeface="Tahoma" panose="020B0604030504040204" pitchFamily="34" charset="0"/>
                <a:ea typeface="华文中宋" panose="02010600040101010101" pitchFamily="2" charset="-122"/>
              </a:rPr>
              <a:t>语’</a:t>
            </a:r>
            <a:r>
              <a:rPr lang="en-US" sz="2520">
                <a:latin typeface="Tahoma" panose="020B0604030504040204" pitchFamily="34" charset="0"/>
                <a:ea typeface="华文中宋" panose="02010600040101010101" pitchFamily="2" charset="-122"/>
              </a:rPr>
              <a:t>, ‘</a:t>
            </a:r>
            <a:r>
              <a:rPr lang="zh-CN" altLang="en-US" sz="2520">
                <a:latin typeface="Tahoma" panose="020B0604030504040204" pitchFamily="34" charset="0"/>
                <a:ea typeface="华文中宋" panose="02010600040101010101" pitchFamily="2" charset="-122"/>
              </a:rPr>
              <a:t>言’</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 = new String(c);</a:t>
            </a:r>
            <a:endParaRPr lang="en-US" sz="2520">
              <a:latin typeface="Tahoma" panose="020B0604030504040204" pitchFamily="34" charset="0"/>
              <a:ea typeface="华文中宋" panose="02010600040101010101" pitchFamily="2" charset="-122"/>
            </a:endParaRPr>
          </a:p>
        </p:txBody>
      </p:sp>
      <p:sp>
        <p:nvSpPr>
          <p:cNvPr id="69637" name="矩形 69636"/>
          <p:cNvSpPr>
            <a:spLocks noChangeArrowheads="1"/>
          </p:cNvSpPr>
          <p:nvPr/>
        </p:nvSpPr>
        <p:spPr bwMode="auto">
          <a:xfrm>
            <a:off x="5400675" y="2640330"/>
            <a:ext cx="4080510" cy="312039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byte b[] = {97, 98, 99};</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 = new String(b);</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 = “abc”;</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 = “</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barn(outHorizontal)">
                                      <p:cBhvr>
                                        <p:cTn id="7" dur="500"/>
                                        <p:tgtEl>
                                          <p:spTgt spid="6963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9637"/>
                                        </p:tgtEl>
                                        <p:attrNameLst>
                                          <p:attrName>style.visibility</p:attrName>
                                        </p:attrNameLst>
                                      </p:cBhvr>
                                      <p:to>
                                        <p:strVal val="visible"/>
                                      </p:to>
                                    </p:set>
                                    <p:animEffect transition="in" filter="barn(outHorizontal)">
                                      <p:cBhvr>
                                        <p:cTn id="12" dur="500"/>
                                        <p:tgtEl>
                                          <p:spTgt spid="69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bldLvl="0" animBg="1"/>
      <p:bldP spid="69637"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lnSpcReduction="10000"/>
          </a:bodyPr>
          <a:p>
            <a:pPr marL="342900" indent="-342900">
              <a:lnSpc>
                <a:spcPct val="150000"/>
              </a:lnSpc>
              <a:buClr>
                <a:srgbClr val="000000"/>
              </a:buClr>
              <a:buFont typeface="Wingdings" panose="05000000000000000000" pitchFamily="2" charset="2"/>
              <a:buChar char="l"/>
            </a:pPr>
            <a:r>
              <a:rPr lang="en-US" sz="2400" dirty="0" err="1" smtClean="0"/>
              <a:t>java.lang.String</a:t>
            </a:r>
            <a:r>
              <a:rPr lang="zh-CN" altLang="en-US" sz="2400" dirty="0" smtClean="0"/>
              <a:t>类</a:t>
            </a:r>
            <a:r>
              <a:rPr lang="en-US" sz="2400" dirty="0" smtClean="0"/>
              <a:t>—</a:t>
            </a:r>
            <a:r>
              <a:rPr lang="zh-CN" altLang="en-US" sz="2400" dirty="0" smtClean="0"/>
              <a:t>字符串</a:t>
            </a:r>
            <a:r>
              <a:rPr lang="en-US" sz="2400" dirty="0" smtClean="0"/>
              <a:t>/</a:t>
            </a:r>
            <a:r>
              <a:rPr lang="zh-CN" altLang="en-US" sz="2400" dirty="0" smtClean="0"/>
              <a:t>字符序列</a:t>
            </a:r>
            <a:endParaRPr lang="zh-CN" altLang="en-US" sz="2400" dirty="0" smtClean="0"/>
          </a:p>
          <a:p>
            <a:pPr marL="742950" lvl="1" indent="-285750">
              <a:lnSpc>
                <a:spcPct val="150000"/>
              </a:lnSpc>
              <a:buFont typeface="Wingdings" panose="05000000000000000000" pitchFamily="2" charset="2"/>
              <a:buChar char="l"/>
            </a:pPr>
            <a:r>
              <a:rPr lang="zh-CN" altLang="en-US" sz="1680" dirty="0" smtClean="0"/>
              <a:t>判断字符串相等的方法</a:t>
            </a:r>
            <a:endParaRPr lang="zh-CN" altLang="en-US" sz="1680" dirty="0" smtClean="0"/>
          </a:p>
          <a:p>
            <a:pPr lvl="2">
              <a:buClr>
                <a:schemeClr val="bg2"/>
              </a:buClr>
              <a:buFont typeface="Wingdings" panose="05000000000000000000" pitchFamily="2" charset="2"/>
              <a:buChar char="l"/>
            </a:pPr>
            <a:r>
              <a:rPr lang="en-US" sz="1680" dirty="0" smtClean="0"/>
              <a:t>public </a:t>
            </a:r>
            <a:r>
              <a:rPr lang="en-US" sz="1680" dirty="0" err="1" smtClean="0"/>
              <a:t>boolean</a:t>
            </a:r>
            <a:r>
              <a:rPr lang="en-US" sz="1680" dirty="0" smtClean="0"/>
              <a:t> equals(Object </a:t>
            </a:r>
            <a:r>
              <a:rPr lang="en-US" sz="1680" dirty="0" err="1" smtClean="0"/>
              <a:t>anObject</a:t>
            </a:r>
            <a:r>
              <a:rPr lang="en-US" sz="1680" dirty="0" smtClean="0"/>
              <a:t>)</a:t>
            </a:r>
            <a:endParaRPr lang="en-US" sz="1680" dirty="0" smtClean="0"/>
          </a:p>
          <a:p>
            <a:pPr lvl="2">
              <a:buClr>
                <a:schemeClr val="bg2"/>
              </a:buClr>
              <a:buFont typeface="Wingdings" panose="05000000000000000000" pitchFamily="2" charset="2"/>
              <a:buChar char="l"/>
            </a:pPr>
            <a:r>
              <a:rPr lang="en-US" sz="1680" dirty="0" smtClean="0"/>
              <a:t> </a:t>
            </a:r>
            <a:r>
              <a:rPr lang="zh-CN" altLang="en-US" sz="1680" dirty="0" smtClean="0"/>
              <a:t>判断是否是同一个对象，是</a:t>
            </a:r>
            <a:r>
              <a:rPr lang="zh-CN" altLang="en-US" sz="1680" dirty="0" smtClean="0">
                <a:sym typeface="Wingdings" panose="05000000000000000000" pitchFamily="2" charset="2"/>
              </a:rPr>
              <a:t></a:t>
            </a:r>
            <a:r>
              <a:rPr lang="en-US" sz="1680" dirty="0" err="1" smtClean="0">
                <a:sym typeface="Wingdings" panose="05000000000000000000" pitchFamily="2" charset="2"/>
              </a:rPr>
              <a:t>ture</a:t>
            </a:r>
            <a:r>
              <a:rPr lang="zh-CN" altLang="en-US" sz="1680" dirty="0" smtClean="0">
                <a:sym typeface="Wingdings" panose="05000000000000000000" pitchFamily="2" charset="2"/>
              </a:rPr>
              <a:t>；然后</a:t>
            </a:r>
            <a:r>
              <a:rPr lang="en-US" sz="1680" dirty="0" err="1" smtClean="0">
                <a:sym typeface="Wingdings" panose="05000000000000000000" pitchFamily="2" charset="2"/>
              </a:rPr>
              <a:t>anObject</a:t>
            </a:r>
            <a:r>
              <a:rPr lang="zh-CN" altLang="en-US" sz="1680" dirty="0" smtClean="0">
                <a:sym typeface="Wingdings" panose="05000000000000000000" pitchFamily="2" charset="2"/>
              </a:rPr>
              <a:t>是否为一个字符串对象，否</a:t>
            </a:r>
            <a:r>
              <a:rPr lang="en-US" sz="1680" dirty="0" smtClean="0">
                <a:sym typeface="Wingdings" panose="05000000000000000000" pitchFamily="2" charset="2"/>
              </a:rPr>
              <a:t>false</a:t>
            </a:r>
            <a:r>
              <a:rPr lang="zh-CN" altLang="en-US" sz="1680" dirty="0" smtClean="0">
                <a:sym typeface="Wingdings" panose="05000000000000000000" pitchFamily="2" charset="2"/>
              </a:rPr>
              <a:t>；判断是否内容相同</a:t>
            </a:r>
            <a:endParaRPr lang="zh-CN" altLang="en-US" sz="1680" dirty="0" smtClean="0">
              <a:sym typeface="Wingdings" panose="05000000000000000000" pitchFamily="2" charset="2"/>
            </a:endParaRPr>
          </a:p>
          <a:p>
            <a:pPr lvl="2">
              <a:buClr>
                <a:schemeClr val="bg2"/>
              </a:buClr>
              <a:buFont typeface="Wingdings" panose="05000000000000000000" pitchFamily="2" charset="2"/>
              <a:buChar char="l"/>
            </a:pPr>
            <a:r>
              <a:rPr lang="en-US" sz="1680" dirty="0" smtClean="0"/>
              <a:t>public </a:t>
            </a:r>
            <a:r>
              <a:rPr lang="en-US" sz="1680" dirty="0" err="1" smtClean="0"/>
              <a:t>boolean</a:t>
            </a:r>
            <a:r>
              <a:rPr lang="en-US" sz="1680" dirty="0" smtClean="0"/>
              <a:t> </a:t>
            </a:r>
            <a:r>
              <a:rPr lang="en-US" sz="1680" dirty="0" err="1" smtClean="0"/>
              <a:t>equalsIgnoreCase</a:t>
            </a:r>
            <a:r>
              <a:rPr lang="en-US" sz="1680" dirty="0" smtClean="0"/>
              <a:t>(String </a:t>
            </a:r>
            <a:r>
              <a:rPr lang="en-US" sz="1680" dirty="0" err="1" smtClean="0"/>
              <a:t>anotherString</a:t>
            </a:r>
            <a:r>
              <a:rPr lang="en-US" sz="1680" dirty="0" smtClean="0"/>
              <a:t>)  </a:t>
            </a:r>
            <a:endParaRPr lang="en-US" sz="1680" dirty="0" smtClean="0"/>
          </a:p>
          <a:p>
            <a:pPr lvl="2">
              <a:buClr>
                <a:schemeClr val="bg2"/>
              </a:buClr>
              <a:buFont typeface="Wingdings" panose="05000000000000000000" pitchFamily="2" charset="2"/>
              <a:buChar char="l"/>
            </a:pPr>
            <a:r>
              <a:rPr lang="zh-CN" altLang="en-US" sz="1680" dirty="0" smtClean="0"/>
              <a:t>判断逻辑与</a:t>
            </a:r>
            <a:r>
              <a:rPr lang="en-US" sz="1680" dirty="0" smtClean="0"/>
              <a:t>equals</a:t>
            </a:r>
            <a:r>
              <a:rPr lang="zh-CN" altLang="en-US" sz="1680" dirty="0" smtClean="0"/>
              <a:t>相同，仅仅在判断内容上不考虑大小写</a:t>
            </a:r>
            <a:endParaRPr lang="zh-CN" altLang="en-US" sz="1680" dirty="0" smtClean="0"/>
          </a:p>
          <a:p>
            <a:pPr lvl="2">
              <a:buClr>
                <a:schemeClr val="bg2"/>
              </a:buClr>
              <a:buFont typeface="Wingdings" panose="05000000000000000000" pitchFamily="2" charset="2"/>
              <a:buChar char="l"/>
            </a:pPr>
            <a:r>
              <a:rPr lang="en-US" sz="1680" dirty="0" smtClean="0"/>
              <a:t>public </a:t>
            </a:r>
            <a:r>
              <a:rPr lang="en-US" sz="1680" dirty="0" err="1" smtClean="0"/>
              <a:t>int</a:t>
            </a:r>
            <a:r>
              <a:rPr lang="en-US" sz="1680" dirty="0" smtClean="0"/>
              <a:t> </a:t>
            </a:r>
            <a:r>
              <a:rPr lang="en-US" sz="1680" dirty="0" err="1" smtClean="0"/>
              <a:t>compareTo</a:t>
            </a:r>
            <a:r>
              <a:rPr lang="en-US" sz="1680" dirty="0" smtClean="0"/>
              <a:t>(Object o)</a:t>
            </a:r>
            <a:endParaRPr lang="en-US" sz="1680" dirty="0" smtClean="0"/>
          </a:p>
          <a:p>
            <a:pPr lvl="2">
              <a:buClr>
                <a:schemeClr val="bg2"/>
              </a:buClr>
              <a:buFont typeface="Wingdings" panose="05000000000000000000" pitchFamily="2" charset="2"/>
              <a:buChar char="l"/>
            </a:pPr>
            <a:r>
              <a:rPr lang="zh-CN" altLang="en-US" sz="1680" dirty="0" smtClean="0"/>
              <a:t>若</a:t>
            </a:r>
            <a:r>
              <a:rPr lang="en-US" sz="1680" dirty="0" smtClean="0"/>
              <a:t>o</a:t>
            </a:r>
            <a:r>
              <a:rPr lang="zh-CN" altLang="en-US" sz="1680" dirty="0" smtClean="0"/>
              <a:t>不是字符串对象，则抛错；若是则调用下面的函数</a:t>
            </a:r>
            <a:endParaRPr lang="zh-CN" altLang="en-US" sz="1680" dirty="0" smtClean="0"/>
          </a:p>
          <a:p>
            <a:pPr lvl="2">
              <a:buClr>
                <a:schemeClr val="bg2"/>
              </a:buClr>
              <a:buFont typeface="Wingdings" panose="05000000000000000000" pitchFamily="2" charset="2"/>
              <a:buChar char="l"/>
            </a:pPr>
            <a:r>
              <a:rPr lang="en-US" sz="1680" dirty="0" smtClean="0"/>
              <a:t>public </a:t>
            </a:r>
            <a:r>
              <a:rPr lang="en-US" sz="1680" dirty="0" err="1" smtClean="0"/>
              <a:t>int</a:t>
            </a:r>
            <a:r>
              <a:rPr lang="en-US" sz="1680" dirty="0" smtClean="0"/>
              <a:t> </a:t>
            </a:r>
            <a:r>
              <a:rPr lang="en-US" sz="1680" dirty="0" err="1" smtClean="0"/>
              <a:t>compareTo</a:t>
            </a:r>
            <a:r>
              <a:rPr lang="en-US" sz="1680" dirty="0" smtClean="0"/>
              <a:t>(String </a:t>
            </a:r>
            <a:r>
              <a:rPr lang="en-US" sz="1680" dirty="0" err="1" smtClean="0"/>
              <a:t>anotherString</a:t>
            </a:r>
            <a:r>
              <a:rPr lang="en-US" sz="1680" dirty="0" smtClean="0"/>
              <a:t>)</a:t>
            </a:r>
            <a:endParaRPr lang="en-US" sz="1680" dirty="0" smtClean="0"/>
          </a:p>
          <a:p>
            <a:pPr lvl="2">
              <a:buClr>
                <a:schemeClr val="bg2"/>
              </a:buClr>
              <a:buFont typeface="Wingdings" panose="05000000000000000000" pitchFamily="2" charset="2"/>
              <a:buChar char="l"/>
            </a:pPr>
            <a:r>
              <a:rPr lang="zh-CN" altLang="en-US" sz="1680" dirty="0" smtClean="0"/>
              <a:t>判断两个字符串的内容是否相同，是</a:t>
            </a:r>
            <a:r>
              <a:rPr lang="zh-CN" altLang="en-US" sz="1680" dirty="0" smtClean="0">
                <a:sym typeface="Wingdings" panose="05000000000000000000" pitchFamily="2" charset="2"/>
              </a:rPr>
              <a:t></a:t>
            </a:r>
            <a:r>
              <a:rPr lang="en-US" sz="1680" dirty="0" smtClean="0">
                <a:sym typeface="Wingdings" panose="05000000000000000000" pitchFamily="2" charset="2"/>
              </a:rPr>
              <a:t>0</a:t>
            </a:r>
            <a:r>
              <a:rPr lang="zh-CN" altLang="en-US" sz="1680" dirty="0" smtClean="0">
                <a:sym typeface="Wingdings" panose="05000000000000000000" pitchFamily="2" charset="2"/>
              </a:rPr>
              <a:t>；否不等于</a:t>
            </a:r>
            <a:r>
              <a:rPr lang="en-US" sz="1680" dirty="0" smtClean="0">
                <a:sym typeface="Wingdings" panose="05000000000000000000" pitchFamily="2" charset="2"/>
              </a:rPr>
              <a:t>0</a:t>
            </a:r>
            <a:r>
              <a:rPr lang="zh-CN" altLang="en-US" sz="1680" dirty="0" smtClean="0">
                <a:sym typeface="Wingdings" panose="05000000000000000000" pitchFamily="2" charset="2"/>
              </a:rPr>
              <a:t>的整数</a:t>
            </a:r>
            <a:endParaRPr lang="zh-CN" altLang="en-US" sz="1680" dirty="0" smtClean="0">
              <a:sym typeface="Wingdings" panose="05000000000000000000" pitchFamily="2" charset="2"/>
            </a:endParaRPr>
          </a:p>
          <a:p>
            <a:pPr lvl="2">
              <a:buClr>
                <a:schemeClr val="bg2"/>
              </a:buClr>
              <a:buFont typeface="Wingdings" panose="05000000000000000000" pitchFamily="2" charset="2"/>
              <a:buChar char="l"/>
            </a:pPr>
            <a:r>
              <a:rPr lang="en-US" sz="1680" dirty="0" smtClean="0"/>
              <a:t>public </a:t>
            </a:r>
            <a:r>
              <a:rPr lang="en-US" sz="1680" dirty="0" err="1" smtClean="0"/>
              <a:t>int</a:t>
            </a:r>
            <a:r>
              <a:rPr lang="en-US" sz="1680" dirty="0" smtClean="0"/>
              <a:t> </a:t>
            </a:r>
            <a:r>
              <a:rPr lang="en-US" sz="1680" dirty="0" err="1" smtClean="0"/>
              <a:t>compareToIgnoreCase</a:t>
            </a:r>
            <a:r>
              <a:rPr lang="en-US" sz="1680" dirty="0" smtClean="0"/>
              <a:t>(String </a:t>
            </a:r>
            <a:r>
              <a:rPr lang="en-US" sz="1680" dirty="0" err="1" smtClean="0"/>
              <a:t>str</a:t>
            </a:r>
            <a:r>
              <a:rPr lang="en-US" sz="1680" dirty="0" smtClean="0"/>
              <a:t>)</a:t>
            </a:r>
            <a:endParaRPr lang="en-US" sz="1680" dirty="0" smtClean="0"/>
          </a:p>
          <a:p>
            <a:pPr lvl="2">
              <a:buClr>
                <a:schemeClr val="bg2"/>
              </a:buClr>
              <a:buFont typeface="Wingdings" panose="05000000000000000000" pitchFamily="2" charset="2"/>
              <a:buChar char="l"/>
            </a:pPr>
            <a:r>
              <a:rPr lang="zh-CN" altLang="en-US" sz="1680" dirty="0" smtClean="0"/>
              <a:t>基本功能同上，仅仅在判断时不考虑大小写</a:t>
            </a:r>
            <a:endParaRPr lang="zh-CN" altLang="en-US" sz="1680" dirty="0" smtClean="0"/>
          </a:p>
          <a:p>
            <a:pPr lvl="2">
              <a:buClr>
                <a:schemeClr val="bg2"/>
              </a:buClr>
              <a:buFont typeface="Wingdings" panose="05000000000000000000" pitchFamily="2" charset="2"/>
              <a:buChar char="l"/>
            </a:pPr>
            <a:endParaRPr lang="zh-CN" altLang="en-US" sz="1680" dirty="0" smtClean="0"/>
          </a:p>
        </p:txBody>
      </p:sp>
    </p:spTree>
    <p:custDataLst>
      <p:tags r:id="rId3"/>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71681"/>
          <p:cNvSpPr>
            <a:spLocks noGrp="1" noChangeArrowheads="1"/>
          </p:cNvSpPr>
          <p:nvPr>
            <p:ph type="title"/>
          </p:nvPr>
        </p:nvSpPr>
        <p:spPr/>
        <p:txBody>
          <a:bodyPr/>
          <a:lstStyle/>
          <a:p>
            <a:r>
              <a:rPr lang="zh-CN" altLang="en-US" smtClean="0"/>
              <a:t>字符串操作类</a:t>
            </a:r>
            <a:endParaRPr lang="zh-CN" altLang="en-US" smtClean="0"/>
          </a:p>
        </p:txBody>
      </p:sp>
      <p:sp>
        <p:nvSpPr>
          <p:cNvPr id="74754" name="文本占位符 71682"/>
          <p:cNvSpPr>
            <a:spLocks noGrp="1" noChangeArrowheads="1"/>
          </p:cNvSpPr>
          <p:nvPr>
            <p:ph idx="1"/>
          </p:nvPr>
        </p:nvSpPr>
        <p:spPr/>
        <p:txBody>
          <a:bodyPr/>
          <a:lstStyle/>
          <a:p>
            <a:pPr marL="609600" indent="-609600">
              <a:buSzPct val="90000"/>
            </a:pPr>
            <a:r>
              <a:rPr lang="en-US" smtClean="0">
                <a:ea typeface="黑体" panose="02010609060101010101" pitchFamily="49" charset="-122"/>
              </a:rPr>
              <a:t>java.lang.String</a:t>
            </a:r>
            <a:r>
              <a:rPr lang="zh-CN" altLang="en-US" smtClean="0"/>
              <a:t>类</a:t>
            </a:r>
            <a:r>
              <a:rPr lang="en-US" smtClean="0">
                <a:ea typeface="黑体" panose="02010609060101010101" pitchFamily="49" charset="-122"/>
              </a:rPr>
              <a:t>—</a:t>
            </a:r>
            <a:r>
              <a:rPr lang="zh-CN" altLang="en-US" smtClean="0"/>
              <a:t>字符串</a:t>
            </a:r>
            <a:r>
              <a:rPr lang="en-US" smtClean="0">
                <a:ea typeface="黑体" panose="02010609060101010101" pitchFamily="49" charset="-122"/>
              </a:rPr>
              <a:t>/</a:t>
            </a:r>
            <a:r>
              <a:rPr lang="zh-CN" altLang="en-US" smtClean="0"/>
              <a:t>字符序列</a:t>
            </a:r>
            <a:endParaRPr lang="zh-CN" altLang="en-US" smtClean="0"/>
          </a:p>
          <a:p>
            <a:pPr marL="990600" lvl="1" indent="-533400">
              <a:buSzPct val="90000"/>
            </a:pPr>
            <a:r>
              <a:rPr lang="zh-CN" altLang="en-US" smtClean="0">
                <a:latin typeface="Arial Unicode MS" panose="020B0604020202020204" charset="-122"/>
              </a:rPr>
              <a:t>判断字符串相等的方法</a:t>
            </a:r>
            <a:endParaRPr lang="zh-CN" altLang="en-US" sz="2520" smtClean="0">
              <a:latin typeface="Arial Unicode MS" panose="020B0604020202020204" charset="-122"/>
            </a:endParaRPr>
          </a:p>
        </p:txBody>
      </p:sp>
      <p:sp>
        <p:nvSpPr>
          <p:cNvPr id="71684" name="矩形 71683"/>
          <p:cNvSpPr>
            <a:spLocks noChangeArrowheads="1"/>
          </p:cNvSpPr>
          <p:nvPr/>
        </p:nvSpPr>
        <p:spPr bwMode="auto">
          <a:xfrm>
            <a:off x="1800225" y="2560320"/>
            <a:ext cx="7440930" cy="256032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s1 = "java</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s2 = "JavA</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System.out.println(s1.equals(s2));</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System.out.println(s1.equalsIgnoreCase(s2));</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System.out.println(s1.compareTo(s2));</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System.out.println(s1.compareToIgnoreCase(s2));</a:t>
            </a:r>
            <a:endParaRPr lang="en-US" sz="2520">
              <a:latin typeface="Tahoma" panose="020B0604030504040204" pitchFamily="34" charset="0"/>
              <a:ea typeface="华文中宋" panose="02010600040101010101" pitchFamily="2" charset="-122"/>
            </a:endParaRPr>
          </a:p>
        </p:txBody>
      </p:sp>
      <p:sp>
        <p:nvSpPr>
          <p:cNvPr id="71685" name="矩形 71684"/>
          <p:cNvSpPr>
            <a:spLocks noChangeArrowheads="1"/>
          </p:cNvSpPr>
          <p:nvPr/>
        </p:nvSpPr>
        <p:spPr bwMode="auto">
          <a:xfrm>
            <a:off x="1800225" y="5120640"/>
            <a:ext cx="7440930" cy="96012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运行结果：</a:t>
            </a: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false  true  32  0</a:t>
            </a:r>
            <a:endParaRPr lang="en-US" sz="252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1684"/>
                                        </p:tgtEl>
                                        <p:attrNameLst>
                                          <p:attrName>style.visibility</p:attrName>
                                        </p:attrNameLst>
                                      </p:cBhvr>
                                      <p:to>
                                        <p:strVal val="visible"/>
                                      </p:to>
                                    </p:set>
                                    <p:animEffect transition="in" filter="barn(outHorizontal)">
                                      <p:cBhvr>
                                        <p:cTn id="7" dur="500"/>
                                        <p:tgtEl>
                                          <p:spTgt spid="7168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1685"/>
                                        </p:tgtEl>
                                        <p:attrNameLst>
                                          <p:attrName>style.visibility</p:attrName>
                                        </p:attrNameLst>
                                      </p:cBhvr>
                                      <p:to>
                                        <p:strVal val="visible"/>
                                      </p:to>
                                    </p:set>
                                    <p:animEffect transition="in" filter="barn(outHorizontal)">
                                      <p:cBhvr>
                                        <p:cTn id="12" dur="500"/>
                                        <p:tgtEl>
                                          <p:spTgt spid="71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ldLvl="0" animBg="1"/>
      <p:bldP spid="71685"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a:bodyPr>
          <a:p>
            <a:pPr marL="342900" indent="-342900">
              <a:lnSpc>
                <a:spcPct val="120000"/>
              </a:lnSpc>
              <a:buClr>
                <a:srgbClr val="000000"/>
              </a:buClr>
              <a:buFont typeface="Wingdings" panose="05000000000000000000" pitchFamily="2" charset="2"/>
              <a:buChar char="l"/>
            </a:pPr>
            <a:r>
              <a:rPr lang="en-US" sz="2400" smtClean="0"/>
              <a:t>java.lang.String</a:t>
            </a:r>
            <a:r>
              <a:rPr lang="zh-CN" altLang="en-US" sz="2400" smtClean="0"/>
              <a:t>类</a:t>
            </a:r>
            <a:r>
              <a:rPr lang="en-US" sz="2400" smtClean="0"/>
              <a:t>—</a:t>
            </a:r>
            <a:r>
              <a:rPr lang="zh-CN" altLang="en-US" sz="2400" smtClean="0"/>
              <a:t>字符串</a:t>
            </a:r>
            <a:r>
              <a:rPr lang="en-US" sz="2400" smtClean="0"/>
              <a:t>/</a:t>
            </a:r>
            <a:r>
              <a:rPr lang="zh-CN" altLang="en-US" sz="2400" smtClean="0"/>
              <a:t>字符序列</a:t>
            </a:r>
            <a:endParaRPr lang="zh-CN" altLang="en-US" sz="2400" smtClean="0"/>
          </a:p>
          <a:p>
            <a:pPr marL="742950" lvl="1" indent="-285750">
              <a:lnSpc>
                <a:spcPct val="120000"/>
              </a:lnSpc>
              <a:buFont typeface="Wingdings" panose="05000000000000000000" pitchFamily="2" charset="2"/>
              <a:buChar char="l"/>
            </a:pPr>
            <a:r>
              <a:rPr lang="zh-CN" altLang="en-US" sz="1680" smtClean="0"/>
              <a:t>获取长度</a:t>
            </a:r>
            <a:endParaRPr lang="zh-CN" altLang="en-US" sz="1680" smtClean="0"/>
          </a:p>
          <a:p>
            <a:pPr lvl="2">
              <a:lnSpc>
                <a:spcPct val="120000"/>
              </a:lnSpc>
              <a:buClr>
                <a:schemeClr val="bg2"/>
              </a:buClr>
              <a:buFont typeface="Wingdings" panose="05000000000000000000" pitchFamily="2" charset="2"/>
              <a:buChar char="l"/>
            </a:pPr>
            <a:r>
              <a:rPr lang="en-US" sz="1680" smtClean="0"/>
              <a:t>public int length()                                                      </a:t>
            </a:r>
            <a:r>
              <a:rPr lang="zh-CN" altLang="en-US" sz="1680" smtClean="0"/>
              <a:t>字符串的长度，即包含多少个字符</a:t>
            </a:r>
            <a:endParaRPr lang="zh-CN" altLang="en-US" sz="1680" smtClean="0"/>
          </a:p>
          <a:p>
            <a:pPr marL="742950" lvl="1" indent="-285750">
              <a:lnSpc>
                <a:spcPct val="120000"/>
              </a:lnSpc>
              <a:buFont typeface="Wingdings" panose="05000000000000000000" pitchFamily="2" charset="2"/>
              <a:buChar char="l"/>
            </a:pPr>
            <a:r>
              <a:rPr lang="zh-CN" altLang="en-US" sz="1680" smtClean="0"/>
              <a:t>获取特定子串</a:t>
            </a:r>
            <a:r>
              <a:rPr lang="en-US" sz="1680" smtClean="0"/>
              <a:t>(substring)</a:t>
            </a:r>
            <a:r>
              <a:rPr lang="zh-CN" altLang="en-US" sz="1680" smtClean="0"/>
              <a:t>和字符</a:t>
            </a:r>
            <a:endParaRPr lang="zh-CN" altLang="en-US" sz="1680" smtClean="0"/>
          </a:p>
          <a:p>
            <a:pPr lvl="2">
              <a:lnSpc>
                <a:spcPct val="120000"/>
              </a:lnSpc>
              <a:buClr>
                <a:schemeClr val="bg2"/>
              </a:buClr>
              <a:buFont typeface="Wingdings" panose="05000000000000000000" pitchFamily="2" charset="2"/>
              <a:buChar char="l"/>
            </a:pPr>
            <a:r>
              <a:rPr lang="en-US" sz="1680" smtClean="0"/>
              <a:t>public String substring(int beginIndex) </a:t>
            </a:r>
            <a:endParaRPr lang="en-US" sz="1680" smtClean="0"/>
          </a:p>
          <a:p>
            <a:pPr lvl="2">
              <a:lnSpc>
                <a:spcPct val="120000"/>
              </a:lnSpc>
              <a:buClr>
                <a:schemeClr val="bg2"/>
              </a:buClr>
              <a:buFont typeface="Wingdings" panose="05000000000000000000" pitchFamily="2" charset="2"/>
              <a:buChar char="l"/>
            </a:pPr>
            <a:r>
              <a:rPr lang="en-US" sz="1680" smtClean="0"/>
              <a:t>public String substring(int beginIndex, int endIndex) </a:t>
            </a:r>
            <a:endParaRPr lang="en-US" sz="1680" smtClean="0"/>
          </a:p>
          <a:p>
            <a:pPr lvl="2">
              <a:lnSpc>
                <a:spcPct val="120000"/>
              </a:lnSpc>
              <a:buClr>
                <a:schemeClr val="bg2"/>
              </a:buClr>
              <a:buFont typeface="Wingdings" panose="05000000000000000000" pitchFamily="2" charset="2"/>
              <a:buChar char="l"/>
            </a:pPr>
            <a:r>
              <a:rPr lang="en-US" sz="1680" smtClean="0"/>
              <a:t>beginIndex: </a:t>
            </a:r>
            <a:r>
              <a:rPr lang="zh-CN" altLang="en-US" sz="1680" smtClean="0"/>
              <a:t>起始索引位置</a:t>
            </a:r>
            <a:r>
              <a:rPr lang="en-US" sz="1680" smtClean="0"/>
              <a:t>(</a:t>
            </a:r>
            <a:r>
              <a:rPr lang="zh-CN" altLang="en-US" sz="1680" smtClean="0"/>
              <a:t>包含</a:t>
            </a:r>
            <a:r>
              <a:rPr lang="en-US" sz="1680" smtClean="0"/>
              <a:t>)</a:t>
            </a:r>
            <a:endParaRPr lang="en-US" sz="1680" smtClean="0"/>
          </a:p>
          <a:p>
            <a:pPr lvl="2">
              <a:lnSpc>
                <a:spcPct val="120000"/>
              </a:lnSpc>
              <a:buClr>
                <a:schemeClr val="bg2"/>
              </a:buClr>
              <a:buFont typeface="Wingdings" panose="05000000000000000000" pitchFamily="2" charset="2"/>
              <a:buChar char="l"/>
            </a:pPr>
            <a:r>
              <a:rPr lang="en-US" sz="1680" smtClean="0"/>
              <a:t>endIndex:    </a:t>
            </a:r>
            <a:r>
              <a:rPr lang="zh-CN" altLang="en-US" sz="1680" smtClean="0"/>
              <a:t>结束索引位置</a:t>
            </a:r>
            <a:r>
              <a:rPr lang="en-US" sz="1680" smtClean="0"/>
              <a:t>(</a:t>
            </a:r>
            <a:r>
              <a:rPr lang="zh-CN" altLang="en-US" sz="1680" smtClean="0"/>
              <a:t>不包含</a:t>
            </a:r>
            <a:r>
              <a:rPr lang="en-US" sz="1680" smtClean="0"/>
              <a:t>)</a:t>
            </a:r>
            <a:endParaRPr lang="en-US" sz="1680" smtClean="0"/>
          </a:p>
          <a:p>
            <a:pPr lvl="2">
              <a:lnSpc>
                <a:spcPct val="120000"/>
              </a:lnSpc>
              <a:buClr>
                <a:schemeClr val="bg2"/>
              </a:buClr>
              <a:buFont typeface="Wingdings" panose="05000000000000000000" pitchFamily="2" charset="2"/>
              <a:buChar char="l"/>
            </a:pPr>
            <a:r>
              <a:rPr lang="en-US" sz="1680" smtClean="0"/>
              <a:t>public char charAt(int index) </a:t>
            </a:r>
            <a:endParaRPr lang="en-US" sz="1680" smtClean="0"/>
          </a:p>
        </p:txBody>
      </p:sp>
    </p:spTree>
    <p:custDataLst>
      <p:tags r:id="rId3"/>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73729"/>
          <p:cNvSpPr>
            <a:spLocks noGrp="1" noChangeArrowheads="1"/>
          </p:cNvSpPr>
          <p:nvPr>
            <p:ph type="title"/>
          </p:nvPr>
        </p:nvSpPr>
        <p:spPr/>
        <p:txBody>
          <a:bodyPr/>
          <a:lstStyle/>
          <a:p>
            <a:r>
              <a:rPr lang="zh-CN" altLang="en-US" smtClean="0"/>
              <a:t>字符串操作类</a:t>
            </a:r>
            <a:endParaRPr lang="zh-CN" altLang="en-US" smtClean="0"/>
          </a:p>
        </p:txBody>
      </p:sp>
      <p:sp>
        <p:nvSpPr>
          <p:cNvPr id="76802" name="文本占位符 73730"/>
          <p:cNvSpPr>
            <a:spLocks noGrp="1" noChangeArrowheads="1"/>
          </p:cNvSpPr>
          <p:nvPr>
            <p:ph idx="1"/>
          </p:nvPr>
        </p:nvSpPr>
        <p:spPr/>
        <p:txBody>
          <a:bodyPr/>
          <a:lstStyle/>
          <a:p>
            <a:pPr marL="609600" indent="-609600">
              <a:buSzPct val="90000"/>
            </a:pPr>
            <a:r>
              <a:rPr lang="en-US" smtClean="0">
                <a:ea typeface="黑体" panose="02010609060101010101" pitchFamily="49" charset="-122"/>
              </a:rPr>
              <a:t>java.lang.String</a:t>
            </a:r>
            <a:r>
              <a:rPr lang="zh-CN" altLang="en-US" smtClean="0"/>
              <a:t>类</a:t>
            </a:r>
            <a:r>
              <a:rPr lang="en-US" smtClean="0">
                <a:ea typeface="黑体" panose="02010609060101010101" pitchFamily="49" charset="-122"/>
              </a:rPr>
              <a:t>—</a:t>
            </a:r>
            <a:r>
              <a:rPr lang="zh-CN" altLang="en-US" smtClean="0"/>
              <a:t>字符串</a:t>
            </a:r>
            <a:r>
              <a:rPr lang="en-US" smtClean="0">
                <a:ea typeface="黑体" panose="02010609060101010101" pitchFamily="49" charset="-122"/>
              </a:rPr>
              <a:t>/</a:t>
            </a:r>
            <a:r>
              <a:rPr lang="zh-CN" altLang="en-US" smtClean="0"/>
              <a:t>字符序列</a:t>
            </a:r>
            <a:endParaRPr lang="zh-CN" altLang="en-US" smtClean="0"/>
          </a:p>
          <a:p>
            <a:pPr marL="990600" lvl="1" indent="-533400">
              <a:buSzPct val="90000"/>
            </a:pPr>
            <a:r>
              <a:rPr lang="zh-CN" altLang="en-US" smtClean="0">
                <a:latin typeface="Arial Unicode MS" panose="020B0604020202020204" charset="-122"/>
              </a:rPr>
              <a:t>方法举例</a:t>
            </a:r>
            <a:endParaRPr lang="zh-CN" altLang="en-US" smtClean="0">
              <a:latin typeface="Arial Unicode MS" panose="020B0604020202020204" charset="-122"/>
            </a:endParaRPr>
          </a:p>
        </p:txBody>
      </p:sp>
      <p:sp>
        <p:nvSpPr>
          <p:cNvPr id="73732" name="矩形 73731"/>
          <p:cNvSpPr>
            <a:spLocks noChangeArrowheads="1"/>
          </p:cNvSpPr>
          <p:nvPr/>
        </p:nvSpPr>
        <p:spPr bwMode="auto">
          <a:xfrm>
            <a:off x="1560195" y="2480310"/>
            <a:ext cx="5760720" cy="384048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s1 = "java</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s2 = "JavA</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System.out.println(s1.length());</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System.out.println(s2.length());</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System.out.println(s1.substring(0, 4));</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System.out.println(s1.substring(4));</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System.out.println(s2.substring(0, 4));</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System.out.println(s2.substring(4));</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System.out.println(s1.charAt(0));</a:t>
            </a:r>
            <a:endParaRPr lang="en-US" sz="2520">
              <a:latin typeface="Tahoma" panose="020B0604030504040204" pitchFamily="34" charset="0"/>
              <a:ea typeface="华文中宋" panose="02010600040101010101" pitchFamily="2" charset="-122"/>
            </a:endParaRPr>
          </a:p>
        </p:txBody>
      </p:sp>
      <p:sp>
        <p:nvSpPr>
          <p:cNvPr id="73733" name="矩形 73732"/>
          <p:cNvSpPr>
            <a:spLocks noChangeArrowheads="1"/>
          </p:cNvSpPr>
          <p:nvPr/>
        </p:nvSpPr>
        <p:spPr bwMode="auto">
          <a:xfrm>
            <a:off x="7320915" y="2480310"/>
            <a:ext cx="1600200" cy="384048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运行结果：</a:t>
            </a: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6</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6</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java</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语言</a:t>
            </a: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JavA</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语言</a:t>
            </a: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j</a:t>
            </a:r>
            <a:endParaRPr lang="en-US" sz="252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barn(outHorizontal)">
                                      <p:cBhvr>
                                        <p:cTn id="7" dur="500"/>
                                        <p:tgtEl>
                                          <p:spTgt spid="7373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3733"/>
                                        </p:tgtEl>
                                        <p:attrNameLst>
                                          <p:attrName>style.visibility</p:attrName>
                                        </p:attrNameLst>
                                      </p:cBhvr>
                                      <p:to>
                                        <p:strVal val="visible"/>
                                      </p:to>
                                    </p:set>
                                    <p:animEffect transition="in" filter="barn(outHorizontal)">
                                      <p:cBhvr>
                                        <p:cTn id="12" dur="500"/>
                                        <p:tgtEl>
                                          <p:spTgt spid="73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bldLvl="0" animBg="1"/>
      <p:bldP spid="73733"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74753"/>
          <p:cNvSpPr>
            <a:spLocks noGrp="1" noChangeArrowheads="1"/>
          </p:cNvSpPr>
          <p:nvPr>
            <p:ph type="title"/>
          </p:nvPr>
        </p:nvSpPr>
        <p:spPr/>
        <p:txBody>
          <a:bodyPr/>
          <a:lstStyle/>
          <a:p>
            <a:r>
              <a:rPr lang="zh-CN" altLang="en-US" smtClean="0"/>
              <a:t>字符串操作类</a:t>
            </a:r>
            <a:endParaRPr lang="zh-CN" altLang="en-US" smtClean="0"/>
          </a:p>
        </p:txBody>
      </p:sp>
      <p:sp>
        <p:nvSpPr>
          <p:cNvPr id="77826" name="文本占位符 74754"/>
          <p:cNvSpPr>
            <a:spLocks noGrp="1" noChangeArrowheads="1"/>
          </p:cNvSpPr>
          <p:nvPr>
            <p:ph idx="1"/>
          </p:nvPr>
        </p:nvSpPr>
        <p:spPr/>
        <p:txBody>
          <a:bodyPr>
            <a:normAutofit/>
          </a:bodyPr>
          <a:lstStyle/>
          <a:p>
            <a:pPr marL="609600" indent="-609600">
              <a:buSzPct val="90000"/>
            </a:pPr>
            <a:r>
              <a:rPr lang="en-US" smtClean="0">
                <a:ea typeface="黑体" panose="02010609060101010101" pitchFamily="49" charset="-122"/>
              </a:rPr>
              <a:t>java.lang.String</a:t>
            </a:r>
            <a:r>
              <a:rPr lang="zh-CN" altLang="en-US" smtClean="0"/>
              <a:t>类</a:t>
            </a:r>
            <a:r>
              <a:rPr lang="en-US" smtClean="0">
                <a:ea typeface="黑体" panose="02010609060101010101" pitchFamily="49" charset="-122"/>
              </a:rPr>
              <a:t>—</a:t>
            </a:r>
            <a:r>
              <a:rPr lang="zh-CN" altLang="en-US" smtClean="0"/>
              <a:t>字符串</a:t>
            </a:r>
            <a:r>
              <a:rPr lang="en-US" smtClean="0">
                <a:ea typeface="黑体" panose="02010609060101010101" pitchFamily="49" charset="-122"/>
              </a:rPr>
              <a:t>/</a:t>
            </a:r>
            <a:r>
              <a:rPr lang="zh-CN" altLang="en-US" smtClean="0"/>
              <a:t>字符序列</a:t>
            </a:r>
            <a:endParaRPr lang="zh-CN" altLang="en-US" smtClean="0"/>
          </a:p>
          <a:p>
            <a:pPr marL="990600" lvl="1" indent="-533400">
              <a:buSzPct val="90000"/>
            </a:pPr>
            <a:r>
              <a:rPr lang="zh-CN" altLang="en-US" smtClean="0"/>
              <a:t>字符串前缀</a:t>
            </a:r>
            <a:r>
              <a:rPr lang="en-US" smtClean="0">
                <a:ea typeface="黑体" panose="02010609060101010101" pitchFamily="49" charset="-122"/>
              </a:rPr>
              <a:t>(prefix)/</a:t>
            </a:r>
            <a:r>
              <a:rPr lang="zh-CN" altLang="en-US" smtClean="0"/>
              <a:t>后缀</a:t>
            </a:r>
            <a:r>
              <a:rPr lang="en-US" smtClean="0">
                <a:ea typeface="黑体" panose="02010609060101010101" pitchFamily="49" charset="-122"/>
              </a:rPr>
              <a:t>(suffix)</a:t>
            </a:r>
            <a:r>
              <a:rPr lang="zh-CN" altLang="en-US" smtClean="0"/>
              <a:t>的判断</a:t>
            </a:r>
            <a:endParaRPr lang="zh-CN" altLang="en-US" smtClean="0"/>
          </a:p>
          <a:p>
            <a:pPr marL="1371600" lvl="2" indent="-457200">
              <a:buSzPct val="90000"/>
            </a:pPr>
            <a:r>
              <a:rPr lang="en-US" smtClean="0">
                <a:latin typeface="Tahoma" panose="020B0604030504040204" pitchFamily="34" charset="0"/>
                <a:ea typeface="黑体" panose="02010609060101010101" pitchFamily="49" charset="-122"/>
              </a:rPr>
              <a:t>public boolean </a:t>
            </a:r>
            <a:r>
              <a:rPr lang="en-US" b="1" smtClean="0">
                <a:latin typeface="Tahoma" panose="020B0604030504040204" pitchFamily="34" charset="0"/>
                <a:ea typeface="黑体" panose="02010609060101010101" pitchFamily="49" charset="-122"/>
              </a:rPr>
              <a:t>startsWith</a:t>
            </a:r>
            <a:r>
              <a:rPr lang="en-US" smtClean="0">
                <a:latin typeface="Tahoma" panose="020B0604030504040204" pitchFamily="34" charset="0"/>
                <a:ea typeface="黑体" panose="02010609060101010101" pitchFamily="49" charset="-122"/>
              </a:rPr>
              <a:t>(String prefix)                 </a:t>
            </a:r>
            <a:r>
              <a:rPr lang="zh-CN" altLang="en-US" smtClean="0">
                <a:latin typeface="Tahoma" panose="020B0604030504040204" pitchFamily="34" charset="0"/>
              </a:rPr>
              <a:t>判断字符串是否以一特定的字符串开头</a:t>
            </a:r>
            <a:endParaRPr lang="zh-CN" altLang="en-US" smtClean="0">
              <a:latin typeface="Tahoma" panose="020B0604030504040204" pitchFamily="34" charset="0"/>
            </a:endParaRPr>
          </a:p>
          <a:p>
            <a:pPr marL="1371600" lvl="2" indent="-457200">
              <a:buSzPct val="90000"/>
            </a:pPr>
            <a:r>
              <a:rPr lang="en-US" smtClean="0">
                <a:latin typeface="Tahoma" panose="020B0604030504040204" pitchFamily="34" charset="0"/>
                <a:ea typeface="黑体" panose="02010609060101010101" pitchFamily="49" charset="-122"/>
              </a:rPr>
              <a:t>public boolean </a:t>
            </a:r>
            <a:r>
              <a:rPr lang="en-US" b="1" smtClean="0">
                <a:latin typeface="Tahoma" panose="020B0604030504040204" pitchFamily="34" charset="0"/>
                <a:ea typeface="黑体" panose="02010609060101010101" pitchFamily="49" charset="-122"/>
              </a:rPr>
              <a:t>startsWith</a:t>
            </a:r>
            <a:r>
              <a:rPr lang="en-US" smtClean="0">
                <a:latin typeface="Tahoma" panose="020B0604030504040204" pitchFamily="34" charset="0"/>
                <a:ea typeface="黑体" panose="02010609060101010101" pitchFamily="49" charset="-122"/>
              </a:rPr>
              <a:t>(String prefix, int toffset)  </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boolean </a:t>
            </a:r>
            <a:r>
              <a:rPr lang="en-US" b="1" smtClean="0">
                <a:latin typeface="Tahoma" panose="020B0604030504040204" pitchFamily="34" charset="0"/>
                <a:ea typeface="黑体" panose="02010609060101010101" pitchFamily="49" charset="-122"/>
              </a:rPr>
              <a:t>endsWith</a:t>
            </a:r>
            <a:r>
              <a:rPr lang="en-US" smtClean="0">
                <a:latin typeface="Tahoma" panose="020B0604030504040204" pitchFamily="34" charset="0"/>
                <a:ea typeface="黑体" panose="02010609060101010101" pitchFamily="49" charset="-122"/>
              </a:rPr>
              <a:t>(String suffix)                   </a:t>
            </a:r>
            <a:r>
              <a:rPr lang="zh-CN" altLang="en-US" smtClean="0">
                <a:latin typeface="Tahoma" panose="020B0604030504040204" pitchFamily="34" charset="0"/>
              </a:rPr>
              <a:t>判断字符串是否以一特定的字符串开头</a:t>
            </a:r>
            <a:endParaRPr lang="zh-CN" altLang="en-US" smtClean="0">
              <a:latin typeface="Tahoma" panose="020B0604030504040204" pitchFamily="34" charset="0"/>
            </a:endParaRPr>
          </a:p>
        </p:txBody>
      </p:sp>
      <p:sp>
        <p:nvSpPr>
          <p:cNvPr id="74756" name="矩形 74755"/>
          <p:cNvSpPr>
            <a:spLocks noChangeArrowheads="1"/>
          </p:cNvSpPr>
          <p:nvPr/>
        </p:nvSpPr>
        <p:spPr bwMode="auto">
          <a:xfrm>
            <a:off x="1800225" y="4960620"/>
            <a:ext cx="7440930" cy="136017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System.out.println("java</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".startsWith("java"));</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System.out.println("java</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".startsWith("ava", 1));</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System.out.println("java</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".endsWith("</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4756"/>
                                        </p:tgtEl>
                                        <p:attrNameLst>
                                          <p:attrName>style.visibility</p:attrName>
                                        </p:attrNameLst>
                                      </p:cBhvr>
                                      <p:to>
                                        <p:strVal val="visible"/>
                                      </p:to>
                                    </p:set>
                                    <p:animEffect transition="in" filter="barn(outHorizontal)">
                                      <p:cBhvr>
                                        <p:cTn id="7" dur="500"/>
                                        <p:tgtEl>
                                          <p:spTgt spid="74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75777"/>
          <p:cNvSpPr>
            <a:spLocks noGrp="1" noChangeArrowheads="1"/>
          </p:cNvSpPr>
          <p:nvPr>
            <p:ph type="title"/>
          </p:nvPr>
        </p:nvSpPr>
        <p:spPr/>
        <p:txBody>
          <a:bodyPr/>
          <a:lstStyle/>
          <a:p>
            <a:r>
              <a:rPr lang="zh-CN" altLang="en-US" smtClean="0"/>
              <a:t>字符串操作类</a:t>
            </a:r>
            <a:endParaRPr lang="zh-CN" altLang="en-US" smtClean="0"/>
          </a:p>
        </p:txBody>
      </p:sp>
      <p:sp>
        <p:nvSpPr>
          <p:cNvPr id="78850" name="文本占位符 75778"/>
          <p:cNvSpPr>
            <a:spLocks noGrp="1" noChangeArrowheads="1"/>
          </p:cNvSpPr>
          <p:nvPr>
            <p:ph idx="1"/>
          </p:nvPr>
        </p:nvSpPr>
        <p:spPr/>
        <p:txBody>
          <a:bodyPr>
            <a:normAutofit lnSpcReduction="10000"/>
          </a:bodyPr>
          <a:lstStyle/>
          <a:p>
            <a:pPr marL="609600" indent="-609600">
              <a:buSzPct val="90000"/>
            </a:pPr>
            <a:r>
              <a:rPr lang="en-US" smtClean="0">
                <a:ea typeface="黑体" panose="02010609060101010101" pitchFamily="49" charset="-122"/>
              </a:rPr>
              <a:t>java.lang.String</a:t>
            </a:r>
            <a:r>
              <a:rPr lang="zh-CN" altLang="en-US" smtClean="0"/>
              <a:t>类</a:t>
            </a:r>
            <a:r>
              <a:rPr lang="en-US" smtClean="0">
                <a:ea typeface="黑体" panose="02010609060101010101" pitchFamily="49" charset="-122"/>
              </a:rPr>
              <a:t>—</a:t>
            </a:r>
            <a:r>
              <a:rPr lang="zh-CN" altLang="en-US" smtClean="0"/>
              <a:t>字符串</a:t>
            </a:r>
            <a:r>
              <a:rPr lang="en-US" smtClean="0">
                <a:ea typeface="黑体" panose="02010609060101010101" pitchFamily="49" charset="-122"/>
              </a:rPr>
              <a:t>/</a:t>
            </a:r>
            <a:r>
              <a:rPr lang="zh-CN" altLang="en-US" smtClean="0"/>
              <a:t>字符序列</a:t>
            </a:r>
            <a:endParaRPr lang="zh-CN" altLang="en-US" smtClean="0"/>
          </a:p>
          <a:p>
            <a:pPr marL="990600" lvl="1" indent="-533400">
              <a:buSzPct val="90000"/>
            </a:pPr>
            <a:r>
              <a:rPr lang="zh-CN" altLang="en-US" smtClean="0"/>
              <a:t>查询特定字符</a:t>
            </a:r>
            <a:r>
              <a:rPr lang="en-US" smtClean="0">
                <a:ea typeface="黑体" panose="02010609060101010101" pitchFamily="49" charset="-122"/>
              </a:rPr>
              <a:t>/</a:t>
            </a:r>
            <a:r>
              <a:rPr lang="zh-CN" altLang="en-US" smtClean="0"/>
              <a:t>字符串的位置</a:t>
            </a:r>
            <a:endParaRPr lang="zh-CN" altLang="en-US" smtClean="0"/>
          </a:p>
          <a:p>
            <a:pPr marL="1371600" lvl="2" indent="-457200">
              <a:buSzPct val="90000"/>
            </a:pPr>
            <a:r>
              <a:rPr lang="en-US" smtClean="0">
                <a:latin typeface="Tahoma" panose="020B0604030504040204" pitchFamily="34" charset="0"/>
                <a:ea typeface="黑体" panose="02010609060101010101" pitchFamily="49" charset="-122"/>
              </a:rPr>
              <a:t>public int </a:t>
            </a:r>
            <a:r>
              <a:rPr lang="en-US" b="1" smtClean="0">
                <a:latin typeface="Tahoma" panose="020B0604030504040204" pitchFamily="34" charset="0"/>
                <a:ea typeface="黑体" panose="02010609060101010101" pitchFamily="49" charset="-122"/>
              </a:rPr>
              <a:t>indexOf</a:t>
            </a:r>
            <a:r>
              <a:rPr lang="en-US" smtClean="0">
                <a:latin typeface="Tahoma" panose="020B0604030504040204" pitchFamily="34" charset="0"/>
                <a:ea typeface="黑体" panose="02010609060101010101" pitchFamily="49" charset="-122"/>
              </a:rPr>
              <a:t>(int ch)          </a:t>
            </a:r>
            <a:r>
              <a:rPr lang="zh-CN" altLang="en-US" smtClean="0">
                <a:latin typeface="Tahoma" panose="020B0604030504040204" pitchFamily="34" charset="0"/>
              </a:rPr>
              <a:t>该字符在字符串中第一次出现位置的索引值；否则返回</a:t>
            </a:r>
            <a:r>
              <a:rPr lang="en-US" smtClean="0">
                <a:latin typeface="Tahoma" panose="020B0604030504040204" pitchFamily="34" charset="0"/>
                <a:ea typeface="黑体" panose="02010609060101010101" pitchFamily="49" charset="-122"/>
              </a:rPr>
              <a:t>-1</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int </a:t>
            </a:r>
            <a:r>
              <a:rPr lang="en-US" b="1" smtClean="0">
                <a:latin typeface="Tahoma" panose="020B0604030504040204" pitchFamily="34" charset="0"/>
                <a:ea typeface="黑体" panose="02010609060101010101" pitchFamily="49" charset="-122"/>
              </a:rPr>
              <a:t>indexOf</a:t>
            </a:r>
            <a:r>
              <a:rPr lang="en-US" smtClean="0">
                <a:latin typeface="Tahoma" panose="020B0604030504040204" pitchFamily="34" charset="0"/>
                <a:ea typeface="黑体" panose="02010609060101010101" pitchFamily="49" charset="-122"/>
              </a:rPr>
              <a:t>(int ch, int fromIndex) </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int </a:t>
            </a:r>
            <a:r>
              <a:rPr lang="en-US" b="1" smtClean="0">
                <a:latin typeface="Tahoma" panose="020B0604030504040204" pitchFamily="34" charset="0"/>
                <a:ea typeface="黑体" panose="02010609060101010101" pitchFamily="49" charset="-122"/>
              </a:rPr>
              <a:t>indexOf</a:t>
            </a:r>
            <a:r>
              <a:rPr lang="en-US" smtClean="0">
                <a:latin typeface="Tahoma" panose="020B0604030504040204" pitchFamily="34" charset="0"/>
                <a:ea typeface="黑体" panose="02010609060101010101" pitchFamily="49" charset="-122"/>
              </a:rPr>
              <a:t>(String str) </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int </a:t>
            </a:r>
            <a:r>
              <a:rPr lang="en-US" b="1" smtClean="0">
                <a:latin typeface="Tahoma" panose="020B0604030504040204" pitchFamily="34" charset="0"/>
                <a:ea typeface="黑体" panose="02010609060101010101" pitchFamily="49" charset="-122"/>
              </a:rPr>
              <a:t>indexOf</a:t>
            </a:r>
            <a:r>
              <a:rPr lang="en-US" smtClean="0">
                <a:latin typeface="Tahoma" panose="020B0604030504040204" pitchFamily="34" charset="0"/>
                <a:ea typeface="黑体" panose="02010609060101010101" pitchFamily="49" charset="-122"/>
              </a:rPr>
              <a:t>(String str, int fromIndex) </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int </a:t>
            </a:r>
            <a:r>
              <a:rPr lang="en-US" b="1" smtClean="0">
                <a:latin typeface="Tahoma" panose="020B0604030504040204" pitchFamily="34" charset="0"/>
                <a:ea typeface="黑体" panose="02010609060101010101" pitchFamily="49" charset="-122"/>
              </a:rPr>
              <a:t>lastIndexOf</a:t>
            </a:r>
            <a:r>
              <a:rPr lang="en-US" smtClean="0">
                <a:latin typeface="Tahoma" panose="020B0604030504040204" pitchFamily="34" charset="0"/>
                <a:ea typeface="黑体" panose="02010609060101010101" pitchFamily="49" charset="-122"/>
              </a:rPr>
              <a:t>(int ch) </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int </a:t>
            </a:r>
            <a:r>
              <a:rPr lang="en-US" b="1" smtClean="0">
                <a:latin typeface="Tahoma" panose="020B0604030504040204" pitchFamily="34" charset="0"/>
                <a:ea typeface="黑体" panose="02010609060101010101" pitchFamily="49" charset="-122"/>
              </a:rPr>
              <a:t>lastIndexOf</a:t>
            </a:r>
            <a:r>
              <a:rPr lang="en-US" smtClean="0">
                <a:latin typeface="Tahoma" panose="020B0604030504040204" pitchFamily="34" charset="0"/>
                <a:ea typeface="黑体" panose="02010609060101010101" pitchFamily="49" charset="-122"/>
              </a:rPr>
              <a:t>(int ch, int fromIndex) </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int </a:t>
            </a:r>
            <a:r>
              <a:rPr lang="en-US" b="1" smtClean="0">
                <a:latin typeface="Tahoma" panose="020B0604030504040204" pitchFamily="34" charset="0"/>
                <a:ea typeface="黑体" panose="02010609060101010101" pitchFamily="49" charset="-122"/>
              </a:rPr>
              <a:t>lastIndexOf</a:t>
            </a:r>
            <a:r>
              <a:rPr lang="en-US" smtClean="0">
                <a:latin typeface="Tahoma" panose="020B0604030504040204" pitchFamily="34" charset="0"/>
                <a:ea typeface="黑体" panose="02010609060101010101" pitchFamily="49" charset="-122"/>
              </a:rPr>
              <a:t>(String str) </a:t>
            </a:r>
            <a:endParaRPr lang="en-US" smtClean="0">
              <a:latin typeface="Tahoma" panose="020B0604030504040204" pitchFamily="34" charset="0"/>
              <a:ea typeface="黑体" panose="02010609060101010101" pitchFamily="49" charset="-122"/>
            </a:endParaRPr>
          </a:p>
          <a:p>
            <a:pPr marL="1371600" lvl="2" indent="-457200">
              <a:buSzPct val="90000"/>
            </a:pPr>
            <a:r>
              <a:rPr lang="en-US" smtClean="0">
                <a:latin typeface="Tahoma" panose="020B0604030504040204" pitchFamily="34" charset="0"/>
                <a:ea typeface="黑体" panose="02010609060101010101" pitchFamily="49" charset="-122"/>
              </a:rPr>
              <a:t>public int </a:t>
            </a:r>
            <a:r>
              <a:rPr lang="en-US" b="1" smtClean="0">
                <a:latin typeface="Tahoma" panose="020B0604030504040204" pitchFamily="34" charset="0"/>
                <a:ea typeface="黑体" panose="02010609060101010101" pitchFamily="49" charset="-122"/>
              </a:rPr>
              <a:t>lastIndexOf</a:t>
            </a:r>
            <a:r>
              <a:rPr lang="en-US" smtClean="0">
                <a:latin typeface="Tahoma" panose="020B0604030504040204" pitchFamily="34" charset="0"/>
                <a:ea typeface="黑体" panose="02010609060101010101" pitchFamily="49" charset="-122"/>
              </a:rPr>
              <a:t>(String str, int fromIndex) </a:t>
            </a:r>
            <a:endParaRPr lang="en-US" smtClean="0">
              <a:latin typeface="Tahoma" panose="020B0604030504040204" pitchFamily="34" charset="0"/>
              <a:ea typeface="黑体" panose="02010609060101010101" pitchFamily="49" charset="-122"/>
            </a:endParaRPr>
          </a:p>
        </p:txBody>
      </p:sp>
      <p:grpSp>
        <p:nvGrpSpPr>
          <p:cNvPr id="75780" name="组合 75779"/>
          <p:cNvGrpSpPr/>
          <p:nvPr/>
        </p:nvGrpSpPr>
        <p:grpSpPr bwMode="auto">
          <a:xfrm>
            <a:off x="389255" y="2590165"/>
            <a:ext cx="894080" cy="1661160"/>
            <a:chOff x="0" y="0"/>
            <a:chExt cx="528" cy="1056"/>
          </a:xfrm>
        </p:grpSpPr>
        <p:sp>
          <p:nvSpPr>
            <p:cNvPr id="78852" name="左大括号 75780"/>
            <p:cNvSpPr/>
            <p:nvPr/>
          </p:nvSpPr>
          <p:spPr bwMode="auto">
            <a:xfrm>
              <a:off x="336" y="0"/>
              <a:ext cx="192" cy="1056"/>
            </a:xfrm>
            <a:prstGeom prst="leftBrace">
              <a:avLst>
                <a:gd name="adj1" fmla="val 4580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78853" name="矩形 75781"/>
            <p:cNvSpPr>
              <a:spLocks noChangeArrowheads="1"/>
            </p:cNvSpPr>
            <p:nvPr/>
          </p:nvSpPr>
          <p:spPr bwMode="auto">
            <a:xfrm>
              <a:off x="0" y="48"/>
              <a:ext cx="240"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从</a:t>
              </a:r>
              <a:endParaRPr lang="zh-CN" altLang="en-US" sz="2100">
                <a:latin typeface="Tahoma" panose="020B0604030504040204" pitchFamily="34" charset="0"/>
                <a:ea typeface="华文中宋" panose="02010600040101010101" pitchFamily="2" charset="-122"/>
              </a:endParaRPr>
            </a:p>
            <a:p>
              <a:pPr algn="ct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前</a:t>
              </a:r>
              <a:endParaRPr lang="zh-CN" altLang="en-US" sz="2100">
                <a:latin typeface="Tahoma" panose="020B0604030504040204" pitchFamily="34" charset="0"/>
                <a:ea typeface="华文中宋" panose="02010600040101010101" pitchFamily="2" charset="-122"/>
              </a:endParaRPr>
            </a:p>
            <a:p>
              <a:pPr algn="ct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往</a:t>
              </a:r>
              <a:endParaRPr lang="zh-CN" altLang="en-US" sz="2100">
                <a:latin typeface="Tahoma" panose="020B0604030504040204" pitchFamily="34" charset="0"/>
                <a:ea typeface="华文中宋" panose="02010600040101010101" pitchFamily="2" charset="-122"/>
              </a:endParaRPr>
            </a:p>
            <a:p>
              <a:pPr algn="ct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后</a:t>
              </a:r>
              <a:endParaRPr lang="zh-CN" altLang="en-US" sz="2100">
                <a:latin typeface="Tahoma" panose="020B0604030504040204" pitchFamily="34" charset="0"/>
                <a:ea typeface="华文中宋" panose="02010600040101010101" pitchFamily="2" charset="-122"/>
              </a:endParaRPr>
            </a:p>
          </p:txBody>
        </p:sp>
      </p:grpSp>
      <p:grpSp>
        <p:nvGrpSpPr>
          <p:cNvPr id="75783" name="组合 75782"/>
          <p:cNvGrpSpPr/>
          <p:nvPr/>
        </p:nvGrpSpPr>
        <p:grpSpPr bwMode="auto">
          <a:xfrm>
            <a:off x="428864" y="4405471"/>
            <a:ext cx="831770" cy="1333500"/>
            <a:chOff x="0" y="0"/>
            <a:chExt cx="528" cy="960"/>
          </a:xfrm>
        </p:grpSpPr>
        <p:sp>
          <p:nvSpPr>
            <p:cNvPr id="78855" name="左大括号 75783"/>
            <p:cNvSpPr/>
            <p:nvPr/>
          </p:nvSpPr>
          <p:spPr bwMode="auto">
            <a:xfrm>
              <a:off x="336" y="0"/>
              <a:ext cx="192" cy="960"/>
            </a:xfrm>
            <a:prstGeom prst="leftBrace">
              <a:avLst>
                <a:gd name="adj1" fmla="val 4164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sz="2100"/>
            </a:p>
          </p:txBody>
        </p:sp>
        <p:sp>
          <p:nvSpPr>
            <p:cNvPr id="78856" name="矩形 75784"/>
            <p:cNvSpPr>
              <a:spLocks noChangeArrowheads="1"/>
            </p:cNvSpPr>
            <p:nvPr/>
          </p:nvSpPr>
          <p:spPr bwMode="auto">
            <a:xfrm>
              <a:off x="0" y="0"/>
              <a:ext cx="240"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从</a:t>
              </a:r>
              <a:endParaRPr lang="zh-CN" altLang="en-US" sz="2100">
                <a:latin typeface="Tahoma" panose="020B0604030504040204" pitchFamily="34" charset="0"/>
                <a:ea typeface="华文中宋" panose="02010600040101010101" pitchFamily="2" charset="-122"/>
              </a:endParaRPr>
            </a:p>
            <a:p>
              <a:pPr algn="ct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后</a:t>
              </a:r>
              <a:endParaRPr lang="zh-CN" altLang="en-US" sz="2100">
                <a:latin typeface="Tahoma" panose="020B0604030504040204" pitchFamily="34" charset="0"/>
                <a:ea typeface="华文中宋" panose="02010600040101010101" pitchFamily="2" charset="-122"/>
              </a:endParaRPr>
            </a:p>
            <a:p>
              <a:pPr algn="ct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往</a:t>
              </a:r>
              <a:endParaRPr lang="zh-CN" altLang="en-US" sz="2100">
                <a:latin typeface="Tahoma" panose="020B0604030504040204" pitchFamily="34" charset="0"/>
                <a:ea typeface="华文中宋" panose="02010600040101010101" pitchFamily="2" charset="-122"/>
              </a:endParaRPr>
            </a:p>
            <a:p>
              <a:pPr algn="ctr">
                <a:lnSpc>
                  <a:spcPct val="90000"/>
                </a:lnSpc>
                <a:spcBef>
                  <a:spcPct val="20000"/>
                </a:spcBef>
                <a:buClr>
                  <a:schemeClr val="folHlink"/>
                </a:buClr>
                <a:buSzPct val="60000"/>
                <a:buFont typeface="Wingdings" panose="05000000000000000000" pitchFamily="2" charset="2"/>
                <a:buNone/>
              </a:pPr>
              <a:r>
                <a:rPr lang="zh-CN" altLang="en-US" sz="2100">
                  <a:latin typeface="Tahoma" panose="020B0604030504040204" pitchFamily="34" charset="0"/>
                  <a:ea typeface="华文中宋" panose="02010600040101010101" pitchFamily="2" charset="-122"/>
                </a:rPr>
                <a:t>前</a:t>
              </a:r>
              <a:endParaRPr lang="zh-CN" altLang="en-US" sz="2100">
                <a:latin typeface="Tahoma" panose="020B0604030504040204" pitchFamily="34" charset="0"/>
                <a:ea typeface="华文中宋" panose="02010600040101010101" pitchFamily="2" charset="-122"/>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barn(outHorizontal)">
                                      <p:cBhvr>
                                        <p:cTn id="7" dur="500"/>
                                        <p:tgtEl>
                                          <p:spTgt spid="7578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75783"/>
                                        </p:tgtEl>
                                        <p:attrNameLst>
                                          <p:attrName>style.visibility</p:attrName>
                                        </p:attrNameLst>
                                      </p:cBhvr>
                                      <p:to>
                                        <p:strVal val="visible"/>
                                      </p:to>
                                    </p:set>
                                    <p:animEffect transition="in" filter="barn(outHorizontal)">
                                      <p:cBhvr>
                                        <p:cTn id="12" dur="500"/>
                                        <p:tgtEl>
                                          <p:spTgt spid="75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76801"/>
          <p:cNvSpPr>
            <a:spLocks noGrp="1" noChangeArrowheads="1"/>
          </p:cNvSpPr>
          <p:nvPr>
            <p:ph type="title"/>
          </p:nvPr>
        </p:nvSpPr>
        <p:spPr/>
        <p:txBody>
          <a:bodyPr/>
          <a:lstStyle/>
          <a:p>
            <a:r>
              <a:rPr lang="zh-CN" altLang="en-US" smtClean="0"/>
              <a:t>字符串操作类</a:t>
            </a:r>
            <a:endParaRPr lang="zh-CN" altLang="en-US" smtClean="0"/>
          </a:p>
        </p:txBody>
      </p:sp>
      <p:sp>
        <p:nvSpPr>
          <p:cNvPr id="79874" name="文本占位符 76802"/>
          <p:cNvSpPr>
            <a:spLocks noGrp="1" noChangeArrowheads="1"/>
          </p:cNvSpPr>
          <p:nvPr>
            <p:ph idx="1"/>
          </p:nvPr>
        </p:nvSpPr>
        <p:spPr/>
        <p:txBody>
          <a:bodyPr/>
          <a:lstStyle/>
          <a:p>
            <a:pPr marL="609600" indent="-609600">
              <a:buSzPct val="90000"/>
            </a:pPr>
            <a:r>
              <a:rPr lang="en-US" smtClean="0">
                <a:ea typeface="黑体" panose="02010609060101010101" pitchFamily="49" charset="-122"/>
              </a:rPr>
              <a:t>java.lang.String</a:t>
            </a:r>
            <a:r>
              <a:rPr lang="zh-CN" altLang="en-US" smtClean="0"/>
              <a:t>类</a:t>
            </a:r>
            <a:r>
              <a:rPr lang="en-US" smtClean="0">
                <a:ea typeface="黑体" panose="02010609060101010101" pitchFamily="49" charset="-122"/>
              </a:rPr>
              <a:t>—</a:t>
            </a:r>
            <a:r>
              <a:rPr lang="zh-CN" altLang="en-US" smtClean="0"/>
              <a:t>字符串</a:t>
            </a:r>
            <a:r>
              <a:rPr lang="en-US" smtClean="0">
                <a:ea typeface="黑体" panose="02010609060101010101" pitchFamily="49" charset="-122"/>
              </a:rPr>
              <a:t>/</a:t>
            </a:r>
            <a:r>
              <a:rPr lang="zh-CN" altLang="en-US" smtClean="0"/>
              <a:t>字符序列</a:t>
            </a:r>
            <a:endParaRPr lang="zh-CN" altLang="en-US" smtClean="0"/>
          </a:p>
          <a:p>
            <a:pPr marL="990600" lvl="1" indent="-533400">
              <a:buSzPct val="90000"/>
            </a:pPr>
            <a:r>
              <a:rPr lang="zh-CN" altLang="en-US" smtClean="0">
                <a:latin typeface="Arial Unicode MS" panose="020B0604020202020204" charset="-122"/>
              </a:rPr>
              <a:t>方法举例</a:t>
            </a:r>
            <a:endParaRPr lang="zh-CN" altLang="en-US" smtClean="0">
              <a:latin typeface="Arial Unicode MS" panose="020B0604020202020204" charset="-122"/>
            </a:endParaRPr>
          </a:p>
        </p:txBody>
      </p:sp>
      <p:sp>
        <p:nvSpPr>
          <p:cNvPr id="76804" name="矩形 76803"/>
          <p:cNvSpPr>
            <a:spLocks noChangeArrowheads="1"/>
          </p:cNvSpPr>
          <p:nvPr/>
        </p:nvSpPr>
        <p:spPr bwMode="auto">
          <a:xfrm>
            <a:off x="1320165" y="2480310"/>
            <a:ext cx="6320790" cy="3840480"/>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String s = "java语言";</a:t>
            </a:r>
            <a:endParaRPr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System.out.println(s.indexOf('a'));</a:t>
            </a:r>
            <a:endParaRPr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System.out.println(s.indexOf('a', 2));</a:t>
            </a:r>
            <a:endParaRPr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System.out.println(s.indexOf("a"));</a:t>
            </a:r>
            <a:endParaRPr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System.out.println(s.indexOf("语言"));</a:t>
            </a:r>
            <a:endParaRPr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System.out.println(s.lastIndexOf('a'));</a:t>
            </a:r>
            <a:endParaRPr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System.out.println(s.lastIndexOf('v',1));</a:t>
            </a:r>
            <a:endParaRPr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System.out.println(s.lastIndexOf("语言"));</a:t>
            </a:r>
            <a:endParaRPr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sz="2520">
                <a:latin typeface="Tahoma" panose="020B0604030504040204" pitchFamily="34" charset="0"/>
                <a:ea typeface="华文中宋" panose="02010600040101010101" pitchFamily="2" charset="-122"/>
              </a:rPr>
              <a:t>System.out.println(s.lastIndexOf("v", 4));</a:t>
            </a:r>
            <a:endParaRPr sz="2520">
              <a:latin typeface="Tahoma" panose="020B0604030504040204" pitchFamily="34" charset="0"/>
              <a:ea typeface="华文中宋" panose="02010600040101010101" pitchFamily="2" charset="-122"/>
            </a:endParaRPr>
          </a:p>
        </p:txBody>
      </p:sp>
      <p:sp>
        <p:nvSpPr>
          <p:cNvPr id="76805" name="矩形 76804"/>
          <p:cNvSpPr>
            <a:spLocks noChangeArrowheads="1"/>
          </p:cNvSpPr>
          <p:nvPr/>
        </p:nvSpPr>
        <p:spPr bwMode="auto">
          <a:xfrm>
            <a:off x="7640955" y="2480310"/>
            <a:ext cx="1600200" cy="384048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运行结果：</a:t>
            </a: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1</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3</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1</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4</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3</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-1</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4</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2</a:t>
            </a:r>
            <a:endParaRPr lang="en-US" sz="2520">
              <a:latin typeface="Tahoma" panose="020B0604030504040204" pitchFamily="34" charset="0"/>
              <a:ea typeface="华文中宋" panose="02010600040101010101" pitchFamily="2" charset="-122"/>
            </a:endParaRPr>
          </a:p>
        </p:txBody>
      </p:sp>
      <p:grpSp>
        <p:nvGrpSpPr>
          <p:cNvPr id="76806" name="组合 76805"/>
          <p:cNvGrpSpPr/>
          <p:nvPr/>
        </p:nvGrpSpPr>
        <p:grpSpPr bwMode="auto">
          <a:xfrm>
            <a:off x="4657725" y="1395730"/>
            <a:ext cx="5760720" cy="880110"/>
            <a:chOff x="0" y="0"/>
            <a:chExt cx="3456" cy="528"/>
          </a:xfrm>
        </p:grpSpPr>
        <p:sp>
          <p:nvSpPr>
            <p:cNvPr id="79878" name="矩形 76806"/>
            <p:cNvSpPr>
              <a:spLocks noChangeArrowheads="1"/>
            </p:cNvSpPr>
            <p:nvPr/>
          </p:nvSpPr>
          <p:spPr bwMode="auto">
            <a:xfrm>
              <a:off x="0" y="0"/>
              <a:ext cx="3456" cy="528"/>
            </a:xfrm>
            <a:prstGeom prst="rect">
              <a:avLst/>
            </a:prstGeom>
            <a:solidFill>
              <a:schemeClr val="bg1"/>
            </a:solidFill>
            <a:ln w="9525">
              <a:solidFill>
                <a:schemeClr val="bg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60000"/>
                <a:buFont typeface="Wingdings" panose="05000000000000000000" pitchFamily="2" charset="2"/>
                <a:buNone/>
              </a:pPr>
              <a:r>
                <a:rPr lang="en-US" sz="2940">
                  <a:latin typeface="Tahoma" panose="020B0604030504040204" pitchFamily="34" charset="0"/>
                  <a:ea typeface="华文中宋" panose="02010600040101010101" pitchFamily="2" charset="-122"/>
                </a:rPr>
                <a:t>java</a:t>
              </a:r>
              <a:r>
                <a:rPr lang="zh-CN" altLang="en-US" sz="2940">
                  <a:latin typeface="Tahoma" panose="020B0604030504040204" pitchFamily="34" charset="0"/>
                  <a:ea typeface="华文中宋" panose="02010600040101010101" pitchFamily="2" charset="-122"/>
                </a:rPr>
                <a:t>语言</a:t>
              </a:r>
              <a:endParaRPr lang="zh-CN" altLang="en-US" sz="2940">
                <a:latin typeface="Tahoma" panose="020B0604030504040204" pitchFamily="34" charset="0"/>
                <a:ea typeface="华文中宋" panose="02010600040101010101" pitchFamily="2" charset="-122"/>
              </a:endParaRPr>
            </a:p>
          </p:txBody>
        </p:sp>
        <p:grpSp>
          <p:nvGrpSpPr>
            <p:cNvPr id="79879" name="组合 76807"/>
            <p:cNvGrpSpPr/>
            <p:nvPr/>
          </p:nvGrpSpPr>
          <p:grpSpPr bwMode="auto">
            <a:xfrm>
              <a:off x="1296" y="48"/>
              <a:ext cx="768" cy="432"/>
              <a:chOff x="0" y="0"/>
              <a:chExt cx="768" cy="432"/>
            </a:xfrm>
          </p:grpSpPr>
          <p:grpSp>
            <p:nvGrpSpPr>
              <p:cNvPr id="79880" name="组合 76808"/>
              <p:cNvGrpSpPr/>
              <p:nvPr/>
            </p:nvGrpSpPr>
            <p:grpSpPr bwMode="auto">
              <a:xfrm>
                <a:off x="48" y="0"/>
                <a:ext cx="720" cy="96"/>
                <a:chOff x="0" y="0"/>
                <a:chExt cx="720" cy="96"/>
              </a:xfrm>
            </p:grpSpPr>
            <p:sp>
              <p:nvSpPr>
                <p:cNvPr id="79881" name="直接连接符 76809"/>
                <p:cNvSpPr>
                  <a:spLocks noChangeShapeType="1"/>
                </p:cNvSpPr>
                <p:nvPr/>
              </p:nvSpPr>
              <p:spPr bwMode="auto">
                <a:xfrm>
                  <a:off x="0" y="0"/>
                  <a:ext cx="0" cy="96"/>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a:lstStyle/>
                <a:p>
                  <a:endParaRPr lang="zh-CN" altLang="en-US" sz="2100"/>
                </a:p>
              </p:txBody>
            </p:sp>
            <p:sp>
              <p:nvSpPr>
                <p:cNvPr id="79882" name="直接连接符 76810"/>
                <p:cNvSpPr>
                  <a:spLocks noChangeShapeType="1"/>
                </p:cNvSpPr>
                <p:nvPr/>
              </p:nvSpPr>
              <p:spPr bwMode="auto">
                <a:xfrm>
                  <a:off x="0" y="0"/>
                  <a:ext cx="720" cy="0"/>
                </a:xfrm>
                <a:prstGeom prst="line">
                  <a:avLst/>
                </a:prstGeom>
                <a:noFill/>
                <a:ln w="9525">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sz="2100"/>
                </a:p>
              </p:txBody>
            </p:sp>
          </p:grpSp>
          <p:grpSp>
            <p:nvGrpSpPr>
              <p:cNvPr id="79883" name="组合 76811"/>
              <p:cNvGrpSpPr/>
              <p:nvPr/>
            </p:nvGrpSpPr>
            <p:grpSpPr bwMode="auto">
              <a:xfrm>
                <a:off x="0" y="336"/>
                <a:ext cx="720" cy="96"/>
                <a:chOff x="0" y="0"/>
                <a:chExt cx="720" cy="96"/>
              </a:xfrm>
            </p:grpSpPr>
            <p:sp>
              <p:nvSpPr>
                <p:cNvPr id="79884" name="直接连接符 76812"/>
                <p:cNvSpPr>
                  <a:spLocks noChangeShapeType="1"/>
                </p:cNvSpPr>
                <p:nvPr/>
              </p:nvSpPr>
              <p:spPr bwMode="auto">
                <a:xfrm>
                  <a:off x="720" y="0"/>
                  <a:ext cx="0" cy="96"/>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sz="2100"/>
                </a:p>
              </p:txBody>
            </p:sp>
            <p:sp>
              <p:nvSpPr>
                <p:cNvPr id="79885" name="直接连接符 76813"/>
                <p:cNvSpPr>
                  <a:spLocks noChangeShapeType="1"/>
                </p:cNvSpPr>
                <p:nvPr/>
              </p:nvSpPr>
              <p:spPr bwMode="auto">
                <a:xfrm>
                  <a:off x="0" y="96"/>
                  <a:ext cx="720" cy="0"/>
                </a:xfrm>
                <a:prstGeom prst="line">
                  <a:avLst/>
                </a:prstGeom>
                <a:noFill/>
                <a:ln w="9525">
                  <a:solidFill>
                    <a:srgbClr val="FF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sz="2100"/>
                </a:p>
              </p:txBody>
            </p:sp>
          </p:grpSp>
        </p:gr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barn(outHorizontal)">
                                      <p:cBhvr>
                                        <p:cTn id="7" dur="500"/>
                                        <p:tgtEl>
                                          <p:spTgt spid="7680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6805"/>
                                        </p:tgtEl>
                                        <p:attrNameLst>
                                          <p:attrName>style.visibility</p:attrName>
                                        </p:attrNameLst>
                                      </p:cBhvr>
                                      <p:to>
                                        <p:strVal val="visible"/>
                                      </p:to>
                                    </p:set>
                                    <p:animEffect transition="in" filter="barn(outHorizontal)">
                                      <p:cBhvr>
                                        <p:cTn id="12" dur="500"/>
                                        <p:tgtEl>
                                          <p:spTgt spid="7680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76806"/>
                                        </p:tgtEl>
                                        <p:attrNameLst>
                                          <p:attrName>style.visibility</p:attrName>
                                        </p:attrNameLst>
                                      </p:cBhvr>
                                      <p:to>
                                        <p:strVal val="visible"/>
                                      </p:to>
                                    </p:set>
                                    <p:animEffect transition="in" filter="barn(outHorizontal)">
                                      <p:cBhvr>
                                        <p:cTn id="17" dur="500"/>
                                        <p:tgtEl>
                                          <p:spTgt spid="76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bldLvl="0" animBg="1"/>
      <p:bldP spid="76805"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a:bodyPr>
          <a:p>
            <a:pPr marL="342900" indent="-342900">
              <a:lnSpc>
                <a:spcPct val="150000"/>
              </a:lnSpc>
              <a:buClr>
                <a:srgbClr val="000000"/>
              </a:buClr>
              <a:buFont typeface="Wingdings" panose="05000000000000000000" pitchFamily="2" charset="2"/>
              <a:buChar char="l"/>
            </a:pPr>
            <a:r>
              <a:rPr lang="en-US" sz="2400" smtClean="0"/>
              <a:t>java.lang.String</a:t>
            </a:r>
            <a:r>
              <a:rPr lang="zh-CN" altLang="en-US" sz="2400" smtClean="0"/>
              <a:t>类</a:t>
            </a:r>
            <a:r>
              <a:rPr lang="en-US" sz="2400" smtClean="0"/>
              <a:t>—</a:t>
            </a:r>
            <a:r>
              <a:rPr lang="zh-CN" altLang="en-US" sz="2400" smtClean="0"/>
              <a:t>字符串</a:t>
            </a:r>
            <a:r>
              <a:rPr lang="en-US" sz="2400" smtClean="0"/>
              <a:t>/</a:t>
            </a:r>
            <a:r>
              <a:rPr lang="zh-CN" altLang="en-US" sz="2400" smtClean="0"/>
              <a:t>字符序列</a:t>
            </a:r>
            <a:endParaRPr lang="zh-CN" altLang="en-US" sz="2400" smtClean="0"/>
          </a:p>
          <a:p>
            <a:pPr marL="742950" lvl="1" indent="-285750">
              <a:lnSpc>
                <a:spcPct val="150000"/>
              </a:lnSpc>
              <a:buFont typeface="Wingdings" panose="05000000000000000000" pitchFamily="2" charset="2"/>
              <a:buChar char="l"/>
            </a:pPr>
            <a:r>
              <a:rPr lang="zh-CN" altLang="en-US" sz="1800" smtClean="0"/>
              <a:t>字符串转变为数组</a:t>
            </a:r>
            <a:endParaRPr lang="zh-CN" altLang="en-US" sz="1800" smtClean="0"/>
          </a:p>
          <a:p>
            <a:pPr lvl="2">
              <a:buClr>
                <a:schemeClr val="bg2"/>
              </a:buClr>
              <a:buFont typeface="Wingdings" panose="05000000000000000000" pitchFamily="2" charset="2"/>
              <a:buChar char="l"/>
            </a:pPr>
            <a:r>
              <a:rPr lang="en-US" sz="1680" smtClean="0"/>
              <a:t>public byte[] getBytes()                                               </a:t>
            </a:r>
            <a:r>
              <a:rPr lang="zh-CN" altLang="en-US" sz="1680" smtClean="0"/>
              <a:t>将字符串转变为一个字节数组</a:t>
            </a:r>
            <a:endParaRPr lang="zh-CN" altLang="en-US" sz="1680" smtClean="0"/>
          </a:p>
          <a:p>
            <a:pPr lvl="2">
              <a:buClr>
                <a:schemeClr val="bg2"/>
              </a:buClr>
              <a:buFont typeface="Wingdings" panose="05000000000000000000" pitchFamily="2" charset="2"/>
              <a:buChar char="l"/>
            </a:pPr>
            <a:r>
              <a:rPr lang="en-US" sz="1680" smtClean="0"/>
              <a:t>public byte[] getBytes(String charsetName) throws UnsupportedEncodingException     </a:t>
            </a:r>
            <a:r>
              <a:rPr lang="zh-CN" altLang="en-US" sz="1680" smtClean="0"/>
              <a:t>按特定的字符编码格式将字符串转变为一个字节数组</a:t>
            </a:r>
            <a:endParaRPr lang="zh-CN" altLang="en-US" sz="1680" smtClean="0"/>
          </a:p>
          <a:p>
            <a:pPr lvl="2">
              <a:buClr>
                <a:schemeClr val="bg2"/>
              </a:buClr>
              <a:buFont typeface="Wingdings" panose="05000000000000000000" pitchFamily="2" charset="2"/>
              <a:buChar char="l"/>
            </a:pPr>
            <a:r>
              <a:rPr lang="en-US" sz="1680" smtClean="0"/>
              <a:t>public char[] toCharArray()                                       </a:t>
            </a:r>
            <a:r>
              <a:rPr lang="zh-CN" altLang="en-US" sz="1680" smtClean="0"/>
              <a:t>将字符串转变为一个字符数组</a:t>
            </a:r>
            <a:endParaRPr lang="zh-CN" altLang="en-US" sz="1680" smtClean="0"/>
          </a:p>
        </p:txBody>
      </p:sp>
    </p:spTree>
    <p:custDataLst>
      <p:tags r:id="rId3"/>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78849"/>
          <p:cNvSpPr>
            <a:spLocks noGrp="1" noChangeArrowheads="1"/>
          </p:cNvSpPr>
          <p:nvPr>
            <p:ph type="title"/>
          </p:nvPr>
        </p:nvSpPr>
        <p:spPr/>
        <p:txBody>
          <a:bodyPr/>
          <a:lstStyle/>
          <a:p>
            <a:r>
              <a:rPr lang="zh-CN" altLang="en-US" smtClean="0"/>
              <a:t>字符串操作类</a:t>
            </a:r>
            <a:endParaRPr lang="zh-CN" altLang="en-US" smtClean="0"/>
          </a:p>
        </p:txBody>
      </p:sp>
      <p:sp>
        <p:nvSpPr>
          <p:cNvPr id="81922" name="文本占位符 78850"/>
          <p:cNvSpPr>
            <a:spLocks noGrp="1" noChangeArrowheads="1"/>
          </p:cNvSpPr>
          <p:nvPr>
            <p:ph idx="1"/>
          </p:nvPr>
        </p:nvSpPr>
        <p:spPr/>
        <p:txBody>
          <a:bodyPr/>
          <a:lstStyle/>
          <a:p>
            <a:pPr marL="609600" indent="-609600">
              <a:buSzPct val="90000"/>
            </a:pPr>
            <a:r>
              <a:rPr lang="en-US" smtClean="0">
                <a:ea typeface="黑体" panose="02010609060101010101" pitchFamily="49" charset="-122"/>
              </a:rPr>
              <a:t>java.lang.String</a:t>
            </a:r>
            <a:r>
              <a:rPr lang="zh-CN" altLang="en-US" smtClean="0"/>
              <a:t>类</a:t>
            </a:r>
            <a:r>
              <a:rPr lang="en-US" smtClean="0">
                <a:ea typeface="黑体" panose="02010609060101010101" pitchFamily="49" charset="-122"/>
              </a:rPr>
              <a:t>—</a:t>
            </a:r>
            <a:r>
              <a:rPr lang="zh-CN" altLang="en-US" smtClean="0"/>
              <a:t>字符串</a:t>
            </a:r>
            <a:r>
              <a:rPr lang="en-US" smtClean="0">
                <a:ea typeface="黑体" panose="02010609060101010101" pitchFamily="49" charset="-122"/>
              </a:rPr>
              <a:t>/</a:t>
            </a:r>
            <a:r>
              <a:rPr lang="zh-CN" altLang="en-US" smtClean="0"/>
              <a:t>字符序列</a:t>
            </a:r>
            <a:endParaRPr lang="zh-CN" altLang="en-US" smtClean="0"/>
          </a:p>
          <a:p>
            <a:pPr marL="990600" lvl="1" indent="-533400">
              <a:buSzPct val="90000"/>
            </a:pPr>
            <a:r>
              <a:rPr lang="zh-CN" altLang="en-US" smtClean="0">
                <a:latin typeface="Arial Unicode MS" panose="020B0604020202020204" charset="-122"/>
              </a:rPr>
              <a:t>方法举例</a:t>
            </a:r>
            <a:endParaRPr lang="zh-CN" altLang="en-US" smtClean="0">
              <a:latin typeface="Arial Unicode MS" panose="020B0604020202020204" charset="-122"/>
            </a:endParaRPr>
          </a:p>
        </p:txBody>
      </p:sp>
      <p:sp>
        <p:nvSpPr>
          <p:cNvPr id="78852" name="矩形 78851"/>
          <p:cNvSpPr>
            <a:spLocks noChangeArrowheads="1"/>
          </p:cNvSpPr>
          <p:nvPr/>
        </p:nvSpPr>
        <p:spPr bwMode="auto">
          <a:xfrm>
            <a:off x="1640205" y="2560320"/>
            <a:ext cx="4960620" cy="312039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dirty="0">
                <a:latin typeface="Tahoma" panose="020B0604030504040204" pitchFamily="34" charset="0"/>
                <a:ea typeface="华文中宋" panose="02010600040101010101" pitchFamily="2" charset="-122"/>
              </a:rPr>
              <a:t>String s = "java</a:t>
            </a:r>
            <a:r>
              <a:rPr lang="zh-CN" altLang="en-US" sz="2520" dirty="0">
                <a:latin typeface="Tahoma" panose="020B0604030504040204" pitchFamily="34" charset="0"/>
                <a:ea typeface="华文中宋" panose="02010600040101010101" pitchFamily="2" charset="-122"/>
              </a:rPr>
              <a:t>语言</a:t>
            </a:r>
            <a:r>
              <a:rPr lang="en-US" sz="2520" dirty="0">
                <a:latin typeface="Tahoma" panose="020B0604030504040204" pitchFamily="34" charset="0"/>
                <a:ea typeface="华文中宋" panose="02010600040101010101" pitchFamily="2" charset="-122"/>
              </a:rPr>
              <a:t>";</a:t>
            </a: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latin typeface="Tahoma" panose="020B0604030504040204" pitchFamily="34" charset="0"/>
                <a:ea typeface="华文中宋" panose="02010600040101010101" pitchFamily="2" charset="-122"/>
              </a:rPr>
              <a:t>char[] c = </a:t>
            </a:r>
            <a:r>
              <a:rPr lang="en-US" sz="2520" dirty="0" err="1">
                <a:latin typeface="Tahoma" panose="020B0604030504040204" pitchFamily="34" charset="0"/>
                <a:ea typeface="华文中宋" panose="02010600040101010101" pitchFamily="2" charset="-122"/>
              </a:rPr>
              <a:t>s.toCharArray</a:t>
            </a:r>
            <a:r>
              <a:rPr lang="en-US" sz="2520" dirty="0">
                <a:latin typeface="Tahoma" panose="020B0604030504040204" pitchFamily="34" charset="0"/>
                <a:ea typeface="华文中宋" panose="02010600040101010101" pitchFamily="2" charset="-122"/>
              </a:rPr>
              <a:t>();</a:t>
            </a: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err="1">
                <a:latin typeface="Tahoma" panose="020B0604030504040204" pitchFamily="34" charset="0"/>
                <a:ea typeface="华文中宋" panose="02010600040101010101" pitchFamily="2" charset="-122"/>
              </a:rPr>
              <a:t>System.out.println</a:t>
            </a:r>
            <a:r>
              <a:rPr lang="en-US" sz="2520" dirty="0">
                <a:latin typeface="Tahoma" panose="020B0604030504040204" pitchFamily="34" charset="0"/>
                <a:ea typeface="华文中宋" panose="02010600040101010101" pitchFamily="2" charset="-122"/>
              </a:rPr>
              <a:t>(</a:t>
            </a:r>
            <a:r>
              <a:rPr lang="en-US" sz="2520" dirty="0" err="1">
                <a:latin typeface="Tahoma" panose="020B0604030504040204" pitchFamily="34" charset="0"/>
                <a:ea typeface="华文中宋" panose="02010600040101010101" pitchFamily="2" charset="-122"/>
              </a:rPr>
              <a:t>c.length</a:t>
            </a:r>
            <a:r>
              <a:rPr lang="en-US" sz="2520" dirty="0">
                <a:latin typeface="Tahoma" panose="020B0604030504040204" pitchFamily="34" charset="0"/>
                <a:ea typeface="华文中宋" panose="02010600040101010101" pitchFamily="2" charset="-122"/>
              </a:rPr>
              <a:t>);</a:t>
            </a: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latin typeface="Tahoma" panose="020B0604030504040204" pitchFamily="34" charset="0"/>
                <a:ea typeface="华文中宋" panose="02010600040101010101" pitchFamily="2" charset="-122"/>
              </a:rPr>
              <a:t>byte[] b = </a:t>
            </a:r>
            <a:r>
              <a:rPr lang="en-US" sz="2520" dirty="0" err="1">
                <a:latin typeface="Tahoma" panose="020B0604030504040204" pitchFamily="34" charset="0"/>
                <a:ea typeface="华文中宋" panose="02010600040101010101" pitchFamily="2" charset="-122"/>
              </a:rPr>
              <a:t>s.getBytes</a:t>
            </a:r>
            <a:r>
              <a:rPr lang="en-US" sz="2520" dirty="0">
                <a:latin typeface="Tahoma" panose="020B0604030504040204" pitchFamily="34" charset="0"/>
                <a:ea typeface="华文中宋" panose="02010600040101010101" pitchFamily="2" charset="-122"/>
              </a:rPr>
              <a:t>();</a:t>
            </a: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err="1">
                <a:latin typeface="Tahoma" panose="020B0604030504040204" pitchFamily="34" charset="0"/>
                <a:ea typeface="华文中宋" panose="02010600040101010101" pitchFamily="2" charset="-122"/>
              </a:rPr>
              <a:t>System.out.println</a:t>
            </a:r>
            <a:r>
              <a:rPr lang="en-US" sz="2520" dirty="0">
                <a:latin typeface="Tahoma" panose="020B0604030504040204" pitchFamily="34" charset="0"/>
                <a:ea typeface="华文中宋" panose="02010600040101010101" pitchFamily="2" charset="-122"/>
              </a:rPr>
              <a:t>(</a:t>
            </a:r>
            <a:r>
              <a:rPr lang="en-US" sz="2520" dirty="0" err="1">
                <a:latin typeface="Tahoma" panose="020B0604030504040204" pitchFamily="34" charset="0"/>
                <a:ea typeface="华文中宋" panose="02010600040101010101" pitchFamily="2" charset="-122"/>
              </a:rPr>
              <a:t>b.length</a:t>
            </a:r>
            <a:r>
              <a:rPr lang="en-US" sz="2520" dirty="0">
                <a:latin typeface="Tahoma" panose="020B0604030504040204" pitchFamily="34" charset="0"/>
                <a:ea typeface="华文中宋" panose="02010600040101010101" pitchFamily="2" charset="-122"/>
              </a:rPr>
              <a:t>);</a:t>
            </a: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latin typeface="Tahoma" panose="020B0604030504040204" pitchFamily="34" charset="0"/>
                <a:ea typeface="华文中宋" panose="02010600040101010101" pitchFamily="2" charset="-122"/>
              </a:rPr>
              <a:t>b = </a:t>
            </a:r>
            <a:r>
              <a:rPr lang="en-US" sz="2520" dirty="0" err="1">
                <a:latin typeface="Tahoma" panose="020B0604030504040204" pitchFamily="34" charset="0"/>
                <a:ea typeface="华文中宋" panose="02010600040101010101" pitchFamily="2" charset="-122"/>
              </a:rPr>
              <a:t>s.getBytes</a:t>
            </a:r>
            <a:r>
              <a:rPr lang="en-US" sz="2520" dirty="0">
                <a:latin typeface="Tahoma" panose="020B0604030504040204" pitchFamily="34" charset="0"/>
                <a:ea typeface="华文中宋" panose="02010600040101010101" pitchFamily="2" charset="-122"/>
              </a:rPr>
              <a:t>("ISO8859-1");</a:t>
            </a: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err="1">
                <a:latin typeface="Tahoma" panose="020B0604030504040204" pitchFamily="34" charset="0"/>
                <a:ea typeface="华文中宋" panose="02010600040101010101" pitchFamily="2" charset="-122"/>
              </a:rPr>
              <a:t>System.out.println</a:t>
            </a:r>
            <a:r>
              <a:rPr lang="en-US" sz="2520" dirty="0">
                <a:latin typeface="Tahoma" panose="020B0604030504040204" pitchFamily="34" charset="0"/>
                <a:ea typeface="华文中宋" panose="02010600040101010101" pitchFamily="2" charset="-122"/>
              </a:rPr>
              <a:t>(</a:t>
            </a:r>
            <a:r>
              <a:rPr lang="en-US" sz="2520" dirty="0" err="1">
                <a:latin typeface="Tahoma" panose="020B0604030504040204" pitchFamily="34" charset="0"/>
                <a:ea typeface="华文中宋" panose="02010600040101010101" pitchFamily="2" charset="-122"/>
              </a:rPr>
              <a:t>b.length</a:t>
            </a:r>
            <a:r>
              <a:rPr lang="en-US" sz="2520" dirty="0">
                <a:latin typeface="Tahoma" panose="020B0604030504040204" pitchFamily="34" charset="0"/>
                <a:ea typeface="华文中宋" panose="02010600040101010101" pitchFamily="2" charset="-122"/>
              </a:rPr>
              <a:t>);</a:t>
            </a:r>
            <a:endParaRPr lang="en-US" sz="2520" dirty="0">
              <a:latin typeface="Tahoma" panose="020B0604030504040204" pitchFamily="34" charset="0"/>
              <a:ea typeface="华文中宋" panose="02010600040101010101" pitchFamily="2" charset="-122"/>
            </a:endParaRPr>
          </a:p>
        </p:txBody>
      </p:sp>
      <p:sp>
        <p:nvSpPr>
          <p:cNvPr id="78853" name="矩形 78852"/>
          <p:cNvSpPr>
            <a:spLocks noChangeArrowheads="1"/>
          </p:cNvSpPr>
          <p:nvPr/>
        </p:nvSpPr>
        <p:spPr bwMode="auto">
          <a:xfrm>
            <a:off x="6600825" y="2560320"/>
            <a:ext cx="1975403" cy="312039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endParaRPr lang="zh-CN" alt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zh-CN" altLang="en-US" sz="2520" dirty="0">
                <a:latin typeface="Tahoma" panose="020B0604030504040204" pitchFamily="34" charset="0"/>
                <a:ea typeface="华文中宋" panose="02010600040101010101" pitchFamily="2" charset="-122"/>
              </a:rPr>
              <a:t>运行结果：</a:t>
            </a:r>
            <a:endParaRPr lang="zh-CN" alt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latin typeface="Tahoma" panose="020B0604030504040204" pitchFamily="34" charset="0"/>
                <a:ea typeface="华文中宋" panose="02010600040101010101" pitchFamily="2" charset="-122"/>
              </a:rPr>
              <a:t>6</a:t>
            </a: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latin typeface="Tahoma" panose="020B0604030504040204" pitchFamily="34" charset="0"/>
                <a:ea typeface="华文中宋" panose="02010600040101010101" pitchFamily="2" charset="-122"/>
              </a:rPr>
              <a:t>8</a:t>
            </a: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endParaRPr lang="en-US" sz="2520" dirty="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dirty="0">
                <a:latin typeface="Tahoma" panose="020B0604030504040204" pitchFamily="34" charset="0"/>
                <a:ea typeface="华文中宋" panose="02010600040101010101" pitchFamily="2" charset="-122"/>
              </a:rPr>
              <a:t>6</a:t>
            </a:r>
            <a:endParaRPr lang="en-US" sz="2520" dirty="0">
              <a:latin typeface="Tahoma" panose="020B0604030504040204" pitchFamily="34" charset="0"/>
              <a:ea typeface="华文中宋" panose="02010600040101010101" pitchFamily="2" charset="-122"/>
            </a:endParaRPr>
          </a:p>
        </p:txBody>
      </p:sp>
      <p:sp>
        <p:nvSpPr>
          <p:cNvPr id="78854" name="矩形 78853"/>
          <p:cNvSpPr>
            <a:spLocks noChangeArrowheads="1"/>
          </p:cNvSpPr>
          <p:nvPr/>
        </p:nvSpPr>
        <p:spPr bwMode="auto">
          <a:xfrm>
            <a:off x="698500" y="5842635"/>
            <a:ext cx="9696450" cy="960120"/>
          </a:xfrm>
          <a:prstGeom prst="rect">
            <a:avLst/>
          </a:prstGeom>
          <a:solidFill>
            <a:srgbClr val="CC99FF"/>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中文</a:t>
            </a:r>
            <a:r>
              <a:rPr lang="en-US" sz="2520">
                <a:latin typeface="Tahoma" panose="020B0604030504040204" pitchFamily="34" charset="0"/>
                <a:ea typeface="华文中宋" panose="02010600040101010101" pitchFamily="2" charset="-122"/>
              </a:rPr>
              <a:t>Windows</a:t>
            </a:r>
            <a:r>
              <a:rPr lang="zh-CN" altLang="en-US" sz="2520">
                <a:latin typeface="Tahoma" panose="020B0604030504040204" pitchFamily="34" charset="0"/>
                <a:ea typeface="华文中宋" panose="02010600040101010101" pitchFamily="2" charset="-122"/>
              </a:rPr>
              <a:t>操作系统</a:t>
            </a:r>
            <a:r>
              <a:rPr lang="en-US" sz="2520">
                <a:latin typeface="Tahoma" panose="020B0604030504040204" pitchFamily="34" charset="0"/>
                <a:ea typeface="华文中宋" panose="02010600040101010101" pitchFamily="2" charset="-122"/>
              </a:rPr>
              <a:t>: </a:t>
            </a:r>
            <a:r>
              <a:rPr lang="zh-CN" altLang="en-US" sz="2520">
                <a:latin typeface="Tahoma" panose="020B0604030504040204" pitchFamily="34" charset="0"/>
                <a:ea typeface="华文中宋" panose="02010600040101010101" pitchFamily="2" charset="-122"/>
              </a:rPr>
              <a:t>默认字符集 </a:t>
            </a:r>
            <a:r>
              <a:rPr lang="en-US" sz="2520">
                <a:latin typeface="Tahoma" panose="020B0604030504040204" pitchFamily="34" charset="0"/>
                <a:ea typeface="华文中宋" panose="02010600040101010101" pitchFamily="2" charset="-122"/>
              </a:rPr>
              <a:t>GB2312</a:t>
            </a:r>
            <a:r>
              <a:rPr lang="zh-CN" altLang="en-US" sz="2520">
                <a:latin typeface="Tahoma" panose="020B0604030504040204" pitchFamily="34" charset="0"/>
                <a:ea typeface="华文中宋" panose="02010600040101010101" pitchFamily="2" charset="-122"/>
              </a:rPr>
              <a:t>，</a:t>
            </a:r>
            <a:r>
              <a:rPr lang="en-US" altLang="zh-CN" sz="2520">
                <a:latin typeface="Tahoma" panose="020B0604030504040204" pitchFamily="34" charset="0"/>
                <a:ea typeface="华文中宋" panose="02010600040101010101" pitchFamily="2" charset="-122"/>
              </a:rPr>
              <a:t>JDK17</a:t>
            </a:r>
            <a:r>
              <a:rPr lang="zh-CN" altLang="en-US" sz="2520">
                <a:latin typeface="Tahoma" panose="020B0604030504040204" pitchFamily="34" charset="0"/>
                <a:ea typeface="华文中宋" panose="02010600040101010101" pitchFamily="2" charset="-122"/>
              </a:rPr>
              <a:t>以后默认</a:t>
            </a:r>
            <a:r>
              <a:rPr lang="en-US" altLang="zh-CN" sz="2520">
                <a:latin typeface="Tahoma" panose="020B0604030504040204" pitchFamily="34" charset="0"/>
                <a:ea typeface="华文中宋" panose="02010600040101010101" pitchFamily="2" charset="-122"/>
              </a:rPr>
              <a:t>UTF-8</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其他系统</a:t>
            </a:r>
            <a:r>
              <a:rPr lang="en-US" sz="2520">
                <a:latin typeface="Tahoma" panose="020B0604030504040204" pitchFamily="34" charset="0"/>
                <a:ea typeface="华文中宋" panose="02010600040101010101" pitchFamily="2" charset="-122"/>
              </a:rPr>
              <a:t>: </a:t>
            </a:r>
            <a:r>
              <a:rPr lang="zh-CN" altLang="en-US" sz="2520">
                <a:latin typeface="Tahoma" panose="020B0604030504040204" pitchFamily="34" charset="0"/>
                <a:ea typeface="华文中宋" panose="02010600040101010101" pitchFamily="2" charset="-122"/>
              </a:rPr>
              <a:t>默认字符集 </a:t>
            </a:r>
            <a:r>
              <a:rPr lang="en-US" sz="2520">
                <a:latin typeface="Tahoma" panose="020B0604030504040204" pitchFamily="34" charset="0"/>
                <a:ea typeface="华文中宋" panose="02010600040101010101" pitchFamily="2" charset="-122"/>
              </a:rPr>
              <a:t>ISO-8859-1</a:t>
            </a:r>
            <a:r>
              <a:rPr lang="zh-CN" altLang="en-US" sz="2520">
                <a:latin typeface="Tahoma" panose="020B0604030504040204" pitchFamily="34" charset="0"/>
                <a:ea typeface="华文中宋" panose="02010600040101010101" pitchFamily="2" charset="-122"/>
              </a:rPr>
              <a:t>，有些方法固定使用</a:t>
            </a:r>
            <a:r>
              <a:rPr lang="en-US" altLang="zh-CN" sz="2520">
                <a:latin typeface="Tahoma" panose="020B0604030504040204" pitchFamily="34" charset="0"/>
                <a:ea typeface="华文中宋" panose="02010600040101010101" pitchFamily="2" charset="-122"/>
              </a:rPr>
              <a:t>UTF-8</a:t>
            </a:r>
            <a:endParaRPr lang="en-US" altLang="zh-CN" sz="252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8852"/>
                                        </p:tgtEl>
                                        <p:attrNameLst>
                                          <p:attrName>style.visibility</p:attrName>
                                        </p:attrNameLst>
                                      </p:cBhvr>
                                      <p:to>
                                        <p:strVal val="visible"/>
                                      </p:to>
                                    </p:set>
                                    <p:animEffect transition="in" filter="barn(outHorizontal)">
                                      <p:cBhvr>
                                        <p:cTn id="7" dur="500"/>
                                        <p:tgtEl>
                                          <p:spTgt spid="788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8853"/>
                                        </p:tgtEl>
                                        <p:attrNameLst>
                                          <p:attrName>style.visibility</p:attrName>
                                        </p:attrNameLst>
                                      </p:cBhvr>
                                      <p:to>
                                        <p:strVal val="visible"/>
                                      </p:to>
                                    </p:set>
                                    <p:animEffect transition="in" filter="barn(outHorizontal)">
                                      <p:cBhvr>
                                        <p:cTn id="12" dur="500"/>
                                        <p:tgtEl>
                                          <p:spTgt spid="7885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78854"/>
                                        </p:tgtEl>
                                        <p:attrNameLst>
                                          <p:attrName>style.visibility</p:attrName>
                                        </p:attrNameLst>
                                      </p:cBhvr>
                                      <p:to>
                                        <p:strVal val="visible"/>
                                      </p:to>
                                    </p:set>
                                    <p:animEffect transition="in" filter="barn(outHorizontal)">
                                      <p:cBhvr>
                                        <p:cTn id="17" dur="500"/>
                                        <p:tgtEl>
                                          <p:spTgt spid="78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bldLvl="0" animBg="1"/>
      <p:bldP spid="78853" grpId="0" bldLvl="0" animBg="1"/>
      <p:bldP spid="78854"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a:t>字符串操作类</a:t>
            </a:r>
            <a:endParaRPr lang="zh-CN" altLang="en-US"/>
          </a:p>
        </p:txBody>
      </p:sp>
      <p:sp>
        <p:nvSpPr>
          <p:cNvPr id="6" name="内容占位符 5"/>
          <p:cNvSpPr>
            <a:spLocks noGrp="1"/>
          </p:cNvSpPr>
          <p:nvPr>
            <p:ph idx="1"/>
          </p:nvPr>
        </p:nvSpPr>
        <p:spPr/>
        <p:txBody>
          <a:bodyPr/>
          <a:p>
            <a:pPr marL="609600" indent="-609600" algn="l">
              <a:lnSpc>
                <a:spcPct val="100000"/>
              </a:lnSpc>
              <a:buClrTx/>
              <a:buSzPct val="90000"/>
            </a:pPr>
            <a:r>
              <a:rPr lang="en-US" sz="3200" smtClean="0">
                <a:ea typeface="黑体" panose="02010609060101010101" pitchFamily="49" charset="-122"/>
                <a:sym typeface="+mn-ea"/>
              </a:rPr>
              <a:t>java.lang.String类—字符串/字符序列</a:t>
            </a:r>
            <a:endParaRPr lang="en-US" sz="3200" smtClean="0">
              <a:ea typeface="黑体" panose="02010609060101010101" pitchFamily="49" charset="-122"/>
            </a:endParaRPr>
          </a:p>
          <a:p>
            <a:pPr marL="914400" lvl="1" indent="-457200">
              <a:lnSpc>
                <a:spcPct val="150000"/>
              </a:lnSpc>
            </a:pPr>
            <a:r>
              <a:rPr lang="zh-CN" altLang="en-US">
                <a:latin typeface="+mn-lt"/>
                <a:ea typeface="+mn-ea"/>
                <a:sym typeface="+mn-ea"/>
              </a:rPr>
              <a:t>字符串</a:t>
            </a:r>
            <a:endParaRPr lang="zh-CN" altLang="en-US">
              <a:latin typeface="+mn-lt"/>
              <a:ea typeface="+mn-ea"/>
            </a:endParaRPr>
          </a:p>
          <a:p>
            <a:pPr lvl="2">
              <a:buClr>
                <a:schemeClr val="bg2"/>
              </a:buClr>
            </a:pPr>
            <a:r>
              <a:rPr lang="en-US" sz="2800">
                <a:latin typeface="+mn-lt"/>
                <a:ea typeface="+mn-ea"/>
                <a:sym typeface="+mn-ea"/>
              </a:rPr>
              <a:t>public String[] split(String regex) </a:t>
            </a:r>
            <a:endParaRPr lang="en-US" sz="3200">
              <a:latin typeface="+mn-lt"/>
              <a:ea typeface="+mn-ea"/>
            </a:endParaRPr>
          </a:p>
          <a:p>
            <a:endParaRPr lang="zh-CN" altLang="en-US"/>
          </a:p>
        </p:txBody>
      </p:sp>
    </p:spTree>
    <p:custDataLst>
      <p:tags r:id="rId1"/>
    </p:custData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a:bodyPr>
          <a:p>
            <a:pPr marL="609600" indent="-609600" algn="l">
              <a:lnSpc>
                <a:spcPct val="100000"/>
              </a:lnSpc>
              <a:buClrTx/>
              <a:buSzPct val="90000"/>
            </a:pPr>
            <a:r>
              <a:rPr lang="en-US" sz="3200" smtClean="0">
                <a:ea typeface="黑体" panose="02010609060101010101" pitchFamily="49" charset="-122"/>
              </a:rPr>
              <a:t>java.lang.String类—字符串/字符序列</a:t>
            </a:r>
            <a:endParaRPr lang="en-US" sz="3200" smtClean="0">
              <a:ea typeface="黑体" panose="02010609060101010101" pitchFamily="49" charset="-122"/>
            </a:endParaRPr>
          </a:p>
          <a:p>
            <a:pPr marL="742950" lvl="1" indent="-285750">
              <a:lnSpc>
                <a:spcPct val="120000"/>
              </a:lnSpc>
            </a:pPr>
            <a:r>
              <a:rPr lang="zh-CN" altLang="en-US" sz="2000" smtClean="0"/>
              <a:t>其他方法</a:t>
            </a:r>
            <a:endParaRPr lang="zh-CN" altLang="en-US" sz="1680" smtClean="0"/>
          </a:p>
          <a:p>
            <a:pPr lvl="2">
              <a:lnSpc>
                <a:spcPct val="120000"/>
              </a:lnSpc>
              <a:buClr>
                <a:schemeClr val="bg2"/>
              </a:buClr>
            </a:pPr>
            <a:r>
              <a:rPr lang="en-US" sz="1680" smtClean="0"/>
              <a:t>public String concat(String str)   </a:t>
            </a:r>
            <a:r>
              <a:rPr lang="zh-CN" altLang="en-US" sz="1680" smtClean="0"/>
              <a:t>连接字符串  </a:t>
            </a:r>
            <a:r>
              <a:rPr lang="en-US" sz="1680" smtClean="0"/>
              <a:t>"cares".concat("s")  </a:t>
            </a:r>
            <a:r>
              <a:rPr lang="en-US" sz="1680" smtClean="0">
                <a:sym typeface="Wingdings" panose="05000000000000000000" pitchFamily="2" charset="2"/>
              </a:rPr>
              <a:t></a:t>
            </a:r>
            <a:r>
              <a:rPr lang="en-US" sz="1680" smtClean="0"/>
              <a:t>    returns "caress" "to".concat("get").concat("her") </a:t>
            </a:r>
            <a:r>
              <a:rPr lang="en-US" sz="1680" smtClean="0">
                <a:sym typeface="Wingdings" panose="05000000000000000000" pitchFamily="2" charset="2"/>
              </a:rPr>
              <a:t></a:t>
            </a:r>
            <a:r>
              <a:rPr lang="en-US" sz="1680" smtClean="0"/>
              <a:t>              returns "together" </a:t>
            </a:r>
            <a:endParaRPr lang="en-US" sz="1680" smtClean="0"/>
          </a:p>
          <a:p>
            <a:pPr lvl="2">
              <a:lnSpc>
                <a:spcPct val="120000"/>
              </a:lnSpc>
              <a:buClr>
                <a:schemeClr val="bg2"/>
              </a:buClr>
            </a:pPr>
            <a:r>
              <a:rPr lang="en-US" sz="1680" smtClean="0"/>
              <a:t>public String replace(char oldChar, char newChar)    </a:t>
            </a:r>
            <a:r>
              <a:rPr lang="zh-CN" altLang="en-US" sz="1680" smtClean="0"/>
              <a:t>在字符串中进行字符替换                                </a:t>
            </a:r>
            <a:r>
              <a:rPr lang="en-US" sz="1680" smtClean="0"/>
              <a:t>"mesquite in your cellar".replace('e', 'o') </a:t>
            </a:r>
            <a:r>
              <a:rPr lang="en-US" sz="1680" smtClean="0">
                <a:sym typeface="Wingdings" panose="05000000000000000000" pitchFamily="2" charset="2"/>
              </a:rPr>
              <a:t></a:t>
            </a:r>
            <a:r>
              <a:rPr lang="en-US" sz="1680" smtClean="0"/>
              <a:t>   returns "mosquito in your collar”                      "JonL".replace('q', 'x')  </a:t>
            </a:r>
            <a:r>
              <a:rPr lang="en-US" sz="1680" smtClean="0">
                <a:sym typeface="Wingdings" panose="05000000000000000000" pitchFamily="2" charset="2"/>
              </a:rPr>
              <a:t>                           </a:t>
            </a:r>
            <a:r>
              <a:rPr lang="en-US" sz="1680" smtClean="0"/>
              <a:t>returns "JonL" (no change) </a:t>
            </a:r>
            <a:endParaRPr lang="en-US" sz="1680" smtClean="0"/>
          </a:p>
        </p:txBody>
      </p:sp>
    </p:spTree>
    <p:custDataLst>
      <p:tags r:id="rId3"/>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a:bodyPr>
          <a:p>
            <a:pPr marL="609600" indent="-609600" algn="l">
              <a:lnSpc>
                <a:spcPct val="100000"/>
              </a:lnSpc>
              <a:buClrTx/>
              <a:buSzPct val="90000"/>
              <a:buChar char="•"/>
            </a:pPr>
            <a:r>
              <a:rPr lang="en-US" sz="3200" smtClean="0">
                <a:ea typeface="黑体" panose="02010609060101010101" pitchFamily="49" charset="-122"/>
              </a:rPr>
              <a:t>java.lang.String类—字符串/字符序列</a:t>
            </a:r>
            <a:endParaRPr lang="en-US" sz="3200" smtClean="0">
              <a:ea typeface="黑体" panose="02010609060101010101" pitchFamily="49" charset="-122"/>
            </a:endParaRPr>
          </a:p>
          <a:p>
            <a:pPr marL="742950" lvl="1" indent="-285750">
              <a:lnSpc>
                <a:spcPct val="150000"/>
              </a:lnSpc>
              <a:buFont typeface="Wingdings" panose="05000000000000000000" pitchFamily="2" charset="2"/>
              <a:buChar char="l"/>
            </a:pPr>
            <a:r>
              <a:rPr lang="zh-CN" altLang="en-US" sz="1680" smtClean="0"/>
              <a:t>其他方法</a:t>
            </a:r>
            <a:endParaRPr lang="zh-CN" altLang="en-US" sz="1680" smtClean="0"/>
          </a:p>
          <a:p>
            <a:pPr lvl="2">
              <a:buClr>
                <a:schemeClr val="bg2"/>
              </a:buClr>
              <a:buFont typeface="Wingdings" panose="05000000000000000000" pitchFamily="2" charset="2"/>
              <a:buChar char="l"/>
            </a:pPr>
            <a:r>
              <a:rPr lang="en-US" sz="1680" smtClean="0"/>
              <a:t>public String trim() </a:t>
            </a:r>
            <a:r>
              <a:rPr lang="zh-CN" altLang="en-US" sz="1680" smtClean="0"/>
              <a:t>将字符串头尾的空格字符删除</a:t>
            </a:r>
            <a:endParaRPr lang="zh-CN" altLang="en-US" sz="1680" smtClean="0"/>
          </a:p>
          <a:p>
            <a:pPr lvl="2">
              <a:buClr>
                <a:schemeClr val="bg2"/>
              </a:buClr>
              <a:buFont typeface="Wingdings" panose="05000000000000000000" pitchFamily="2" charset="2"/>
              <a:buChar char="l"/>
            </a:pPr>
            <a:r>
              <a:rPr lang="en-US" sz="1680" smtClean="0"/>
              <a:t>public String toLowerCase()  </a:t>
            </a:r>
            <a:r>
              <a:rPr lang="zh-CN" altLang="en-US" sz="1680" smtClean="0"/>
              <a:t>字符串中字符转为小写</a:t>
            </a:r>
            <a:endParaRPr lang="zh-CN" altLang="en-US" sz="1680" smtClean="0"/>
          </a:p>
          <a:p>
            <a:pPr lvl="2">
              <a:buClr>
                <a:schemeClr val="bg2"/>
              </a:buClr>
              <a:buFont typeface="Wingdings" panose="05000000000000000000" pitchFamily="2" charset="2"/>
              <a:buChar char="l"/>
            </a:pPr>
            <a:r>
              <a:rPr lang="en-US" sz="1680" smtClean="0"/>
              <a:t>public String toUpperCase()  </a:t>
            </a:r>
            <a:r>
              <a:rPr lang="zh-CN" altLang="en-US" sz="1680" smtClean="0"/>
              <a:t>字符串中字符转为大写</a:t>
            </a:r>
            <a:endParaRPr lang="zh-CN" altLang="en-US" sz="1680" smtClean="0"/>
          </a:p>
          <a:p>
            <a:pPr marL="742950" lvl="1" indent="-285750">
              <a:lnSpc>
                <a:spcPct val="150000"/>
              </a:lnSpc>
              <a:buFont typeface="Wingdings" panose="05000000000000000000" pitchFamily="2" charset="2"/>
              <a:buChar char="l"/>
            </a:pPr>
            <a:r>
              <a:rPr lang="zh-CN" altLang="en-US" sz="1680" smtClean="0"/>
              <a:t>一些静态方法</a:t>
            </a:r>
            <a:endParaRPr lang="zh-CN" altLang="en-US" sz="1680" smtClean="0"/>
          </a:p>
          <a:p>
            <a:pPr lvl="2">
              <a:buClr>
                <a:schemeClr val="bg2"/>
              </a:buClr>
              <a:buFont typeface="Wingdings" panose="05000000000000000000" pitchFamily="2" charset="2"/>
              <a:buChar char="l"/>
            </a:pPr>
            <a:r>
              <a:rPr lang="en-US" sz="1680" smtClean="0"/>
              <a:t>public static String valueOf(boolean b) </a:t>
            </a:r>
            <a:endParaRPr lang="en-US" sz="1680" smtClean="0"/>
          </a:p>
          <a:p>
            <a:pPr lvl="2">
              <a:buClr>
                <a:schemeClr val="bg2"/>
              </a:buClr>
              <a:buFont typeface="Wingdings" panose="05000000000000000000" pitchFamily="2" charset="2"/>
              <a:buChar char="l"/>
            </a:pPr>
            <a:r>
              <a:rPr lang="en-US" sz="1680" smtClean="0"/>
              <a:t>public static String valueOf(char c) </a:t>
            </a:r>
            <a:endParaRPr lang="en-US" sz="1680" smtClean="0"/>
          </a:p>
          <a:p>
            <a:pPr lvl="2">
              <a:buClr>
                <a:schemeClr val="bg2"/>
              </a:buClr>
              <a:buFont typeface="Wingdings" panose="05000000000000000000" pitchFamily="2" charset="2"/>
              <a:buChar char="l"/>
            </a:pPr>
            <a:r>
              <a:rPr lang="en-US" sz="1680" smtClean="0"/>
              <a:t>public static String valueOf(int i) </a:t>
            </a:r>
            <a:endParaRPr lang="en-US" sz="1680" smtClean="0"/>
          </a:p>
          <a:p>
            <a:pPr lvl="2">
              <a:buClr>
                <a:schemeClr val="bg2"/>
              </a:buClr>
              <a:buFont typeface="Wingdings" panose="05000000000000000000" pitchFamily="2" charset="2"/>
              <a:buChar char="l"/>
            </a:pPr>
            <a:r>
              <a:rPr lang="en-US" sz="1680" smtClean="0"/>
              <a:t>public static String valueOf(long l) </a:t>
            </a:r>
            <a:endParaRPr lang="en-US" sz="1680" smtClean="0"/>
          </a:p>
          <a:p>
            <a:pPr lvl="2">
              <a:buClr>
                <a:schemeClr val="bg2"/>
              </a:buClr>
              <a:buFont typeface="Wingdings" panose="05000000000000000000" pitchFamily="2" charset="2"/>
              <a:buChar char="l"/>
            </a:pPr>
            <a:r>
              <a:rPr lang="en-US" sz="1680" smtClean="0"/>
              <a:t>public static String valueOf(float f) </a:t>
            </a:r>
            <a:endParaRPr lang="en-US" sz="1680" smtClean="0"/>
          </a:p>
          <a:p>
            <a:pPr lvl="2">
              <a:buClr>
                <a:schemeClr val="bg2"/>
              </a:buClr>
              <a:buFont typeface="Wingdings" panose="05000000000000000000" pitchFamily="2" charset="2"/>
              <a:buChar char="l"/>
            </a:pPr>
            <a:r>
              <a:rPr lang="en-US" sz="1680" smtClean="0"/>
              <a:t>public static String valueOf(double d) </a:t>
            </a:r>
            <a:endParaRPr lang="en-US" sz="1680" smtClean="0"/>
          </a:p>
        </p:txBody>
      </p:sp>
    </p:spTree>
    <p:custDataLst>
      <p:tags r:id="rId3"/>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a:bodyPr>
          <a:p>
            <a:pPr marL="609600" indent="-609600" algn="l">
              <a:lnSpc>
                <a:spcPct val="100000"/>
              </a:lnSpc>
              <a:buClrTx/>
              <a:buSzPct val="90000"/>
              <a:buChar char="•"/>
            </a:pPr>
            <a:r>
              <a:rPr lang="en-US" sz="3200" smtClean="0">
                <a:ea typeface="黑体" panose="02010609060101010101" pitchFamily="49" charset="-122"/>
              </a:rPr>
              <a:t>java.lang.StringBuffer类</a:t>
            </a:r>
            <a:endParaRPr lang="en-US" sz="3200" smtClean="0">
              <a:ea typeface="黑体" panose="02010609060101010101" pitchFamily="49" charset="-122"/>
            </a:endParaRPr>
          </a:p>
          <a:p>
            <a:pPr marL="742950" lvl="1" indent="-285750">
              <a:lnSpc>
                <a:spcPct val="120000"/>
              </a:lnSpc>
              <a:buFont typeface="Wingdings" panose="05000000000000000000" pitchFamily="2" charset="2"/>
              <a:buChar char="l"/>
            </a:pPr>
            <a:r>
              <a:rPr lang="zh-CN" altLang="en-US" sz="1680" smtClean="0"/>
              <a:t>一个可变</a:t>
            </a:r>
            <a:r>
              <a:rPr lang="en-US" sz="1680" smtClean="0"/>
              <a:t>(mutable)/</a:t>
            </a:r>
            <a:r>
              <a:rPr lang="zh-CN" altLang="en-US" sz="1680" smtClean="0"/>
              <a:t>动态的字符序列</a:t>
            </a:r>
            <a:endParaRPr lang="zh-CN" altLang="en-US" sz="1680" smtClean="0"/>
          </a:p>
          <a:p>
            <a:pPr marL="742950" lvl="1" indent="-285750">
              <a:lnSpc>
                <a:spcPct val="120000"/>
              </a:lnSpc>
              <a:buFont typeface="Wingdings" panose="05000000000000000000" pitchFamily="2" charset="2"/>
              <a:buChar char="l"/>
            </a:pPr>
            <a:r>
              <a:rPr lang="zh-CN" altLang="en-US" sz="1680" smtClean="0"/>
              <a:t>构造方法</a:t>
            </a:r>
            <a:endParaRPr lang="zh-CN" altLang="en-US" sz="1680" smtClean="0"/>
          </a:p>
          <a:p>
            <a:pPr lvl="2">
              <a:lnSpc>
                <a:spcPct val="120000"/>
              </a:lnSpc>
              <a:buClr>
                <a:schemeClr val="bg2"/>
              </a:buClr>
              <a:buFont typeface="Wingdings" panose="05000000000000000000" pitchFamily="2" charset="2"/>
              <a:buChar char="l"/>
            </a:pPr>
            <a:r>
              <a:rPr lang="en-US" sz="1680" smtClean="0"/>
              <a:t>public StringBuffer() </a:t>
            </a:r>
            <a:endParaRPr lang="en-US" sz="1680" smtClean="0"/>
          </a:p>
          <a:p>
            <a:pPr lvl="2">
              <a:lnSpc>
                <a:spcPct val="120000"/>
              </a:lnSpc>
              <a:buClr>
                <a:schemeClr val="bg2"/>
              </a:buClr>
              <a:buFont typeface="Wingdings" panose="05000000000000000000" pitchFamily="2" charset="2"/>
              <a:buChar char="l"/>
            </a:pPr>
            <a:r>
              <a:rPr lang="en-US" sz="1680" smtClean="0"/>
              <a:t>public StringBuffer(String str) </a:t>
            </a:r>
            <a:endParaRPr lang="en-US" sz="1680" smtClean="0"/>
          </a:p>
          <a:p>
            <a:pPr marL="742950" lvl="1" indent="-285750">
              <a:lnSpc>
                <a:spcPct val="120000"/>
              </a:lnSpc>
              <a:buFont typeface="Wingdings" panose="05000000000000000000" pitchFamily="2" charset="2"/>
              <a:buChar char="l"/>
            </a:pPr>
            <a:r>
              <a:rPr lang="zh-CN" altLang="en-US" sz="1680" smtClean="0"/>
              <a:t>主要方法</a:t>
            </a:r>
            <a:endParaRPr lang="zh-CN" altLang="en-US" sz="1680" smtClean="0"/>
          </a:p>
          <a:p>
            <a:pPr lvl="2">
              <a:lnSpc>
                <a:spcPct val="120000"/>
              </a:lnSpc>
              <a:buClr>
                <a:schemeClr val="bg2"/>
              </a:buClr>
              <a:buFont typeface="Wingdings" panose="05000000000000000000" pitchFamily="2" charset="2"/>
              <a:buChar char="l"/>
            </a:pPr>
            <a:r>
              <a:rPr lang="zh-CN" altLang="en-US" sz="1680" smtClean="0"/>
              <a:t>添加</a:t>
            </a:r>
            <a:r>
              <a:rPr lang="en-US" sz="1680" smtClean="0"/>
              <a:t>(append)</a:t>
            </a:r>
            <a:r>
              <a:rPr lang="zh-CN" altLang="en-US" sz="1680" smtClean="0"/>
              <a:t>和插入</a:t>
            </a:r>
            <a:r>
              <a:rPr lang="en-US" sz="1680" smtClean="0"/>
              <a:t>(insert, </a:t>
            </a:r>
            <a:r>
              <a:rPr lang="zh-CN" altLang="en-US" sz="1680" smtClean="0"/>
              <a:t>指定位置</a:t>
            </a:r>
            <a:r>
              <a:rPr lang="en-US" sz="1680" smtClean="0"/>
              <a:t>)</a:t>
            </a:r>
            <a:endParaRPr lang="en-US" sz="1680" smtClean="0"/>
          </a:p>
          <a:p>
            <a:pPr lvl="3">
              <a:lnSpc>
                <a:spcPct val="120000"/>
              </a:lnSpc>
              <a:buClr>
                <a:srgbClr val="000000"/>
              </a:buClr>
              <a:buFont typeface="Arial" panose="020B0604020202020204" pitchFamily="34" charset="0"/>
              <a:buChar char="•"/>
            </a:pPr>
            <a:r>
              <a:rPr lang="en-US" sz="1680" smtClean="0"/>
              <a:t>public StringBuffer append(boolean b) </a:t>
            </a:r>
            <a:endParaRPr lang="en-US" sz="1680" smtClean="0"/>
          </a:p>
          <a:p>
            <a:pPr lvl="3">
              <a:lnSpc>
                <a:spcPct val="120000"/>
              </a:lnSpc>
              <a:buClr>
                <a:srgbClr val="000000"/>
              </a:buClr>
              <a:buFont typeface="Arial" panose="020B0604020202020204" pitchFamily="34" charset="0"/>
              <a:buChar char="•"/>
            </a:pPr>
            <a:r>
              <a:rPr lang="en-US" sz="1680" smtClean="0"/>
              <a:t>public StringBuffer insert(int offset, boolean b) </a:t>
            </a:r>
            <a:endParaRPr lang="en-US" sz="1680" smtClean="0"/>
          </a:p>
          <a:p>
            <a:pPr lvl="3">
              <a:lnSpc>
                <a:spcPct val="120000"/>
              </a:lnSpc>
              <a:buClr>
                <a:srgbClr val="000000"/>
              </a:buClr>
              <a:buFont typeface="Arial" panose="020B0604020202020204" pitchFamily="34" charset="0"/>
              <a:buChar char="•"/>
            </a:pPr>
            <a:r>
              <a:rPr lang="en-US" sz="1680" smtClean="0"/>
              <a:t>boolean, char, char[], double, float, int, long, String</a:t>
            </a:r>
            <a:endParaRPr lang="en-US" sz="1680" smtClean="0"/>
          </a:p>
          <a:p>
            <a:pPr lvl="2">
              <a:lnSpc>
                <a:spcPct val="120000"/>
              </a:lnSpc>
              <a:buClr>
                <a:schemeClr val="bg2"/>
              </a:buClr>
              <a:buFont typeface="Wingdings" panose="05000000000000000000" pitchFamily="2" charset="2"/>
              <a:buChar char="l"/>
            </a:pPr>
            <a:r>
              <a:rPr lang="zh-CN" altLang="en-US" sz="1680" smtClean="0"/>
              <a:t>转换为字符串 </a:t>
            </a:r>
            <a:r>
              <a:rPr lang="en-US" sz="1680" smtClean="0"/>
              <a:t>- public String toString() </a:t>
            </a:r>
            <a:endParaRPr lang="en-US" sz="1680" smtClean="0"/>
          </a:p>
        </p:txBody>
      </p:sp>
    </p:spTree>
    <p:custDataLst>
      <p:tags r:id="rId3"/>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83969"/>
          <p:cNvSpPr>
            <a:spLocks noGrp="1" noChangeArrowheads="1"/>
          </p:cNvSpPr>
          <p:nvPr>
            <p:ph type="title"/>
          </p:nvPr>
        </p:nvSpPr>
        <p:spPr/>
        <p:txBody>
          <a:bodyPr/>
          <a:lstStyle/>
          <a:p>
            <a:r>
              <a:rPr lang="zh-CN" altLang="en-US" smtClean="0"/>
              <a:t>字符串操作类</a:t>
            </a:r>
            <a:endParaRPr lang="zh-CN" altLang="en-US" smtClean="0"/>
          </a:p>
        </p:txBody>
      </p:sp>
      <p:sp>
        <p:nvSpPr>
          <p:cNvPr id="87042" name="文本占位符 83970"/>
          <p:cNvSpPr>
            <a:spLocks noGrp="1" noChangeArrowheads="1"/>
          </p:cNvSpPr>
          <p:nvPr>
            <p:ph idx="1"/>
          </p:nvPr>
        </p:nvSpPr>
        <p:spPr/>
        <p:txBody>
          <a:bodyPr/>
          <a:lstStyle/>
          <a:p>
            <a:pPr marL="609600" indent="-609600">
              <a:buSzPct val="90000"/>
            </a:pPr>
            <a:r>
              <a:rPr lang="en-US" smtClean="0">
                <a:ea typeface="黑体" panose="02010609060101010101" pitchFamily="49" charset="-122"/>
              </a:rPr>
              <a:t>java.lang.StringBuffer</a:t>
            </a:r>
            <a:r>
              <a:rPr lang="zh-CN" altLang="en-US" smtClean="0"/>
              <a:t>类</a:t>
            </a:r>
            <a:r>
              <a:rPr lang="en-US" smtClean="0">
                <a:ea typeface="黑体" panose="02010609060101010101" pitchFamily="49" charset="-122"/>
              </a:rPr>
              <a:t>—</a:t>
            </a:r>
            <a:r>
              <a:rPr lang="zh-CN" altLang="en-US" smtClean="0"/>
              <a:t>方法举例</a:t>
            </a:r>
            <a:endParaRPr lang="zh-CN" altLang="en-US" smtClean="0"/>
          </a:p>
        </p:txBody>
      </p:sp>
      <p:sp>
        <p:nvSpPr>
          <p:cNvPr id="83972" name="矩形 83971"/>
          <p:cNvSpPr>
            <a:spLocks noChangeArrowheads="1"/>
          </p:cNvSpPr>
          <p:nvPr/>
        </p:nvSpPr>
        <p:spPr bwMode="auto">
          <a:xfrm>
            <a:off x="1880235" y="2080260"/>
            <a:ext cx="6560820" cy="2640330"/>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 s = "java</a:t>
            </a:r>
            <a:r>
              <a:rPr lang="zh-CN" altLang="en-US" sz="2520">
                <a:latin typeface="Tahoma" panose="020B0604030504040204" pitchFamily="34" charset="0"/>
                <a:ea typeface="华文中宋" panose="02010600040101010101" pitchFamily="2" charset="-122"/>
              </a:rPr>
              <a:t>语言</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StringBuffer buffer = new StringBuffer(s);</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buffer.append(</a:t>
            </a:r>
            <a:r>
              <a:rPr lang="en-US" sz="2520">
                <a:latin typeface="Tahoma" panose="020B0604030504040204" pitchFamily="34" charset="0"/>
                <a:ea typeface="华文中宋" panose="02010600040101010101" pitchFamily="2" charset="-122"/>
                <a:sym typeface="+mn-ea"/>
              </a:rPr>
              <a:t>"</a:t>
            </a:r>
            <a:r>
              <a:rPr lang="en-US" sz="2520">
                <a:latin typeface="Tahoma" panose="020B0604030504040204" pitchFamily="34" charset="0"/>
                <a:ea typeface="华文中宋" panose="02010600040101010101" pitchFamily="2" charset="-122"/>
              </a:rPr>
              <a:t>easy</a:t>
            </a:r>
            <a:r>
              <a:rPr lang="en-US" sz="2520">
                <a:latin typeface="Tahoma" panose="020B0604030504040204" pitchFamily="34" charset="0"/>
                <a:ea typeface="华文中宋" panose="02010600040101010101" pitchFamily="2" charset="-122"/>
                <a:sym typeface="+mn-ea"/>
              </a:rPr>
              <a:t>"</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buffer.insert(6, </a:t>
            </a:r>
            <a:r>
              <a:rPr lang="en-US" sz="2520">
                <a:latin typeface="Tahoma" panose="020B0604030504040204" pitchFamily="34" charset="0"/>
                <a:ea typeface="华文中宋" panose="02010600040101010101" pitchFamily="2" charset="-122"/>
                <a:sym typeface="+mn-ea"/>
              </a:rPr>
              <a:t>"</a:t>
            </a:r>
            <a:r>
              <a:rPr lang="en-US" sz="2520">
                <a:latin typeface="Tahoma" panose="020B0604030504040204" pitchFamily="34" charset="0"/>
                <a:ea typeface="华文中宋" panose="02010600040101010101" pitchFamily="2" charset="-122"/>
              </a:rPr>
              <a:t> is </a:t>
            </a:r>
            <a:r>
              <a:rPr lang="en-US" sz="2520">
                <a:latin typeface="Tahoma" panose="020B0604030504040204" pitchFamily="34" charset="0"/>
                <a:ea typeface="华文中宋" panose="02010600040101010101" pitchFamily="2" charset="-122"/>
                <a:sym typeface="+mn-ea"/>
              </a:rPr>
              <a:t>"</a:t>
            </a:r>
            <a:r>
              <a:rPr lang="en-US" sz="2520">
                <a:latin typeface="Tahoma" panose="020B0604030504040204" pitchFamily="34" charset="0"/>
                <a:ea typeface="华文中宋" panose="02010600040101010101" pitchFamily="2" charset="-122"/>
              </a:rPr>
              <a:t>);</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 = buffer.toString();</a:t>
            </a:r>
            <a:endParaRPr 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System.out.println(s);</a:t>
            </a:r>
            <a:endParaRPr lang="en-US" sz="2520">
              <a:latin typeface="Tahoma" panose="020B0604030504040204" pitchFamily="34" charset="0"/>
              <a:ea typeface="华文中宋" panose="02010600040101010101" pitchFamily="2" charset="-122"/>
            </a:endParaRPr>
          </a:p>
        </p:txBody>
      </p:sp>
      <p:sp>
        <p:nvSpPr>
          <p:cNvPr id="83973" name="矩形 83972"/>
          <p:cNvSpPr>
            <a:spLocks noChangeArrowheads="1"/>
          </p:cNvSpPr>
          <p:nvPr/>
        </p:nvSpPr>
        <p:spPr bwMode="auto">
          <a:xfrm>
            <a:off x="1880235" y="4640580"/>
            <a:ext cx="6560820" cy="96012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520">
                <a:latin typeface="Tahoma" panose="020B0604030504040204" pitchFamily="34" charset="0"/>
                <a:ea typeface="华文中宋" panose="02010600040101010101" pitchFamily="2" charset="-122"/>
              </a:rPr>
              <a:t>运行结果：</a:t>
            </a:r>
            <a:endParaRPr lang="zh-CN" altLang="en-US" sz="252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latin typeface="Tahoma" panose="020B0604030504040204" pitchFamily="34" charset="0"/>
                <a:ea typeface="华文中宋" panose="02010600040101010101" pitchFamily="2" charset="-122"/>
              </a:rPr>
              <a:t>java</a:t>
            </a:r>
            <a:r>
              <a:rPr lang="zh-CN" altLang="en-US" sz="2520">
                <a:latin typeface="Tahoma" panose="020B0604030504040204" pitchFamily="34" charset="0"/>
                <a:ea typeface="华文中宋" panose="02010600040101010101" pitchFamily="2" charset="-122"/>
              </a:rPr>
              <a:t>语言 </a:t>
            </a:r>
            <a:r>
              <a:rPr lang="en-US" sz="2520">
                <a:latin typeface="Tahoma" panose="020B0604030504040204" pitchFamily="34" charset="0"/>
                <a:ea typeface="华文中宋" panose="02010600040101010101" pitchFamily="2" charset="-122"/>
              </a:rPr>
              <a:t>is easy.</a:t>
            </a:r>
            <a:endParaRPr lang="en-US" sz="252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83972"/>
                                        </p:tgtEl>
                                        <p:attrNameLst>
                                          <p:attrName>style.visibility</p:attrName>
                                        </p:attrNameLst>
                                      </p:cBhvr>
                                      <p:to>
                                        <p:strVal val="visible"/>
                                      </p:to>
                                    </p:set>
                                    <p:animEffect transition="in" filter="barn(outHorizontal)">
                                      <p:cBhvr>
                                        <p:cTn id="7" dur="500"/>
                                        <p:tgtEl>
                                          <p:spTgt spid="8397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83973"/>
                                        </p:tgtEl>
                                        <p:attrNameLst>
                                          <p:attrName>style.visibility</p:attrName>
                                        </p:attrNameLst>
                                      </p:cBhvr>
                                      <p:to>
                                        <p:strVal val="visible"/>
                                      </p:to>
                                    </p:set>
                                    <p:animEffect transition="in" filter="barn(outHorizontal)">
                                      <p:cBhvr>
                                        <p:cTn id="12" dur="500"/>
                                        <p:tgtEl>
                                          <p:spTgt spid="83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bldLvl="0" animBg="1"/>
      <p:bldP spid="83973"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a:bodyPr>
          <a:p>
            <a:pPr marL="609600" indent="-609600" algn="l">
              <a:lnSpc>
                <a:spcPct val="100000"/>
              </a:lnSpc>
              <a:buClrTx/>
              <a:buSzPct val="90000"/>
              <a:buChar char="•"/>
            </a:pPr>
            <a:r>
              <a:rPr lang="en-US" sz="3200" smtClean="0">
                <a:ea typeface="黑体" panose="02010609060101010101" pitchFamily="49" charset="-122"/>
              </a:rPr>
              <a:t>字符串的连接运算(Concatenation)</a:t>
            </a:r>
            <a:endParaRPr lang="en-US" sz="3200" smtClean="0">
              <a:ea typeface="黑体" panose="02010609060101010101" pitchFamily="49" charset="-122"/>
            </a:endParaRPr>
          </a:p>
          <a:p>
            <a:pPr marL="742950" lvl="1" indent="-285750">
              <a:lnSpc>
                <a:spcPct val="130000"/>
              </a:lnSpc>
            </a:pPr>
            <a:r>
              <a:rPr lang="en-US" sz="2000" smtClean="0"/>
              <a:t>“java”</a:t>
            </a:r>
            <a:r>
              <a:rPr lang="zh-CN" altLang="en-US" sz="2000" smtClean="0"/>
              <a:t>和“语言”</a:t>
            </a:r>
            <a:endParaRPr lang="zh-CN" altLang="en-US" sz="2000" smtClean="0"/>
          </a:p>
          <a:p>
            <a:pPr marL="742950" lvl="1" indent="-285750">
              <a:lnSpc>
                <a:spcPct val="130000"/>
              </a:lnSpc>
              <a:buSzPct val="90000"/>
              <a:buFont typeface="Wingdings" panose="05000000000000000000" pitchFamily="2" charset="2"/>
              <a:buNone/>
            </a:pPr>
            <a:r>
              <a:rPr lang="en-US" sz="1800" smtClean="0"/>
              <a:t>String s = “java” + “</a:t>
            </a:r>
            <a:r>
              <a:rPr lang="zh-CN" altLang="en-US" sz="1800" smtClean="0"/>
              <a:t>语言”</a:t>
            </a:r>
            <a:r>
              <a:rPr lang="en-US" sz="1800" smtClean="0"/>
              <a:t>;</a:t>
            </a:r>
            <a:endParaRPr lang="en-US" sz="1800" smtClean="0"/>
          </a:p>
          <a:p>
            <a:pPr marL="742950" lvl="1" indent="-285750">
              <a:lnSpc>
                <a:spcPct val="130000"/>
              </a:lnSpc>
              <a:buSzPct val="90000"/>
              <a:buFont typeface="Wingdings" panose="05000000000000000000" pitchFamily="2" charset="2"/>
              <a:buAutoNum type="arabicPeriod"/>
            </a:pPr>
            <a:r>
              <a:rPr lang="en-US" sz="1800" smtClean="0"/>
              <a:t>String s = “java”.concat(“</a:t>
            </a:r>
            <a:r>
              <a:rPr lang="zh-CN" altLang="en-US" sz="1800" smtClean="0"/>
              <a:t>语言”</a:t>
            </a:r>
            <a:r>
              <a:rPr lang="en-US" sz="1800" smtClean="0"/>
              <a:t>);</a:t>
            </a:r>
            <a:endParaRPr lang="en-US" sz="1800" smtClean="0"/>
          </a:p>
          <a:p>
            <a:pPr marL="742950" lvl="1" indent="-285750">
              <a:lnSpc>
                <a:spcPct val="130000"/>
              </a:lnSpc>
              <a:buSzPct val="90000"/>
              <a:buFont typeface="Wingdings" panose="05000000000000000000" pitchFamily="2" charset="2"/>
              <a:buAutoNum type="arabicPeriod"/>
            </a:pPr>
            <a:r>
              <a:rPr lang="en-US" sz="1800" smtClean="0"/>
              <a:t>StringBuffer buffer = new StringBuffer(“java”); </a:t>
            </a:r>
            <a:br>
              <a:rPr lang="en-US" sz="1800" smtClean="0"/>
            </a:br>
            <a:r>
              <a:rPr lang="en-US" sz="1800" smtClean="0"/>
              <a:t>buffer.append(“</a:t>
            </a:r>
            <a:r>
              <a:rPr lang="zh-CN" altLang="en-US" sz="1800" smtClean="0"/>
              <a:t>语言”</a:t>
            </a:r>
            <a:r>
              <a:rPr lang="en-US" sz="1800" smtClean="0"/>
              <a:t>);                                </a:t>
            </a:r>
            <a:br>
              <a:rPr lang="en-US" sz="1800" smtClean="0"/>
            </a:br>
            <a:r>
              <a:rPr lang="en-US" sz="1800" smtClean="0"/>
              <a:t>String s = buffer.toString();</a:t>
            </a:r>
            <a:endParaRPr lang="en-US" sz="1800" smtClean="0"/>
          </a:p>
          <a:p>
            <a:pPr marL="742950" lvl="1" indent="-285750">
              <a:lnSpc>
                <a:spcPct val="130000"/>
              </a:lnSpc>
              <a:buSzPct val="90000"/>
              <a:buFont typeface="Wingdings" panose="05000000000000000000" pitchFamily="2" charset="2"/>
              <a:buAutoNum type="arabicPeriod"/>
            </a:pPr>
            <a:endParaRPr lang="en-US" sz="2000" smtClean="0"/>
          </a:p>
          <a:p>
            <a:pPr marL="742950" lvl="1" indent="-285750" algn="l">
              <a:lnSpc>
                <a:spcPct val="130000"/>
              </a:lnSpc>
              <a:buClrTx/>
              <a:buSzTx/>
              <a:buChar char="–"/>
            </a:pPr>
            <a:r>
              <a:rPr lang="en-US" sz="2000" smtClean="0"/>
              <a:t>常用第1种和第3种方法</a:t>
            </a:r>
            <a:endParaRPr lang="en-US" sz="2000" smtClean="0"/>
          </a:p>
          <a:p>
            <a:pPr marL="1371600" lvl="2" indent="-457200">
              <a:lnSpc>
                <a:spcPct val="130000"/>
              </a:lnSpc>
              <a:buSzPct val="90000"/>
              <a:buFont typeface="Wingdings" panose="05000000000000000000" pitchFamily="2" charset="2"/>
              <a:buAutoNum type="arabicPeriod"/>
            </a:pPr>
            <a:endParaRPr lang="en-US" altLang="en-US" sz="2000" smtClean="0"/>
          </a:p>
        </p:txBody>
      </p:sp>
    </p:spTree>
    <p:custDataLst>
      <p:tags r:id="rId3"/>
    </p:custData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StringBuilder</a:t>
            </a:r>
            <a:endParaRPr lang="zh-CN" altLang="en-US"/>
          </a:p>
        </p:txBody>
      </p:sp>
      <p:sp>
        <p:nvSpPr>
          <p:cNvPr id="3" name="内容占位符 2"/>
          <p:cNvSpPr>
            <a:spLocks noGrp="1"/>
          </p:cNvSpPr>
          <p:nvPr>
            <p:ph idx="1"/>
          </p:nvPr>
        </p:nvSpPr>
        <p:spPr/>
        <p:txBody>
          <a:bodyPr/>
          <a:p>
            <a:r>
              <a:rPr lang="zh-CN" altLang="en-US" sz="2800"/>
              <a:t>StringBuilder 类在 Java 5 中被提出，它和 StringBuffer 之间的最大不同在于 StringBuilder 的方法不是线程安全的（不能同步访问）。</a:t>
            </a:r>
            <a:endParaRPr lang="zh-CN" altLang="en-US" sz="2800"/>
          </a:p>
          <a:p>
            <a:endParaRPr lang="zh-CN" altLang="en-US" sz="2800"/>
          </a:p>
          <a:p>
            <a:r>
              <a:rPr lang="zh-CN" altLang="en-US" sz="2800"/>
              <a:t>由于 StringBuilder 相较于 StringBuffer 有速度优势，所以多数情况下建议使用 StringBuilder 类。然而在应用程序要求线程安全的情况下，则必须使用 StringBuffer 类。</a:t>
            </a:r>
            <a:endParaRPr lang="zh-CN" altLang="en-US" sz="2800"/>
          </a:p>
        </p:txBody>
      </p:sp>
      <p:sp>
        <p:nvSpPr>
          <p:cNvPr id="4" name="灯片编号占位符 3"/>
          <p:cNvSpPr>
            <a:spLocks noGrp="1"/>
          </p:cNvSpPr>
          <p:nvPr>
            <p:ph type="sldNum" sz="quarter" idx="4"/>
          </p:nvPr>
        </p:nvSpPr>
        <p:spPr/>
        <p:txBody>
          <a:bodyPr/>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86017"/>
          <p:cNvSpPr>
            <a:spLocks noGrp="1" noChangeArrowheads="1"/>
          </p:cNvSpPr>
          <p:nvPr>
            <p:ph type="title"/>
          </p:nvPr>
        </p:nvSpPr>
        <p:spPr/>
        <p:txBody>
          <a:bodyPr/>
          <a:lstStyle/>
          <a:p>
            <a:r>
              <a:rPr lang="zh-CN" altLang="en-US" smtClean="0"/>
              <a:t>字符串操作类</a:t>
            </a:r>
            <a:endParaRPr lang="zh-CN" altLang="en-US" smtClean="0"/>
          </a:p>
        </p:txBody>
      </p:sp>
      <p:sp>
        <p:nvSpPr>
          <p:cNvPr id="89090" name="文本占位符 86018"/>
          <p:cNvSpPr>
            <a:spLocks noGrp="1" noChangeArrowheads="1"/>
          </p:cNvSpPr>
          <p:nvPr>
            <p:ph idx="1"/>
          </p:nvPr>
        </p:nvSpPr>
        <p:spPr/>
        <p:txBody>
          <a:bodyPr/>
          <a:lstStyle/>
          <a:p>
            <a:pPr marL="609600" indent="-609600">
              <a:buSzPct val="90000"/>
            </a:pPr>
            <a:r>
              <a:rPr lang="zh-CN" altLang="en-US" smtClean="0"/>
              <a:t>字符串的连接运算</a:t>
            </a:r>
            <a:r>
              <a:rPr lang="en-US" smtClean="0">
                <a:ea typeface="黑体" panose="02010609060101010101" pitchFamily="49" charset="-122"/>
              </a:rPr>
              <a:t>(</a:t>
            </a:r>
            <a:r>
              <a:rPr lang="en-US" smtClean="0">
                <a:solidFill>
                  <a:srgbClr val="000000"/>
                </a:solidFill>
                <a:ea typeface="黑体" panose="02010609060101010101" pitchFamily="49" charset="-122"/>
              </a:rPr>
              <a:t>Concatenation</a:t>
            </a:r>
            <a:r>
              <a:rPr lang="en-US" smtClean="0">
                <a:ea typeface="黑体" panose="02010609060101010101" pitchFamily="49" charset="-122"/>
              </a:rPr>
              <a:t>)</a:t>
            </a:r>
            <a:endParaRPr lang="en-US" smtClean="0">
              <a:ea typeface="黑体" panose="02010609060101010101" pitchFamily="49" charset="-122"/>
            </a:endParaRPr>
          </a:p>
          <a:p>
            <a:pPr marL="990600" lvl="1" indent="-533400">
              <a:buSzPct val="90000"/>
            </a:pPr>
            <a:r>
              <a:rPr lang="en-US" smtClean="0">
                <a:ea typeface="黑体" panose="02010609060101010101" pitchFamily="49" charset="-122"/>
              </a:rPr>
              <a:t>+</a:t>
            </a:r>
            <a:r>
              <a:rPr lang="zh-CN" altLang="en-US" smtClean="0"/>
              <a:t>与</a:t>
            </a:r>
            <a:r>
              <a:rPr lang="en-US" smtClean="0">
                <a:ea typeface="黑体" panose="02010609060101010101" pitchFamily="49" charset="-122"/>
              </a:rPr>
              <a:t>append</a:t>
            </a:r>
            <a:r>
              <a:rPr lang="zh-CN" altLang="en-US" smtClean="0"/>
              <a:t>方法比较</a:t>
            </a:r>
            <a:endParaRPr lang="zh-CN" altLang="en-US" smtClean="0"/>
          </a:p>
        </p:txBody>
      </p:sp>
      <p:sp>
        <p:nvSpPr>
          <p:cNvPr id="86020" name="矩形 86019"/>
          <p:cNvSpPr>
            <a:spLocks noChangeArrowheads="1"/>
          </p:cNvSpPr>
          <p:nvPr/>
        </p:nvSpPr>
        <p:spPr bwMode="auto">
          <a:xfrm>
            <a:off x="600075" y="0"/>
            <a:ext cx="8801100" cy="1840230"/>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class MyTimer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private final long start;</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MyTimer() {  start = System.currentTimeMillis();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long getElapsed() { return System.currentTimeMillis() - start;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86021" name="矩形 86020"/>
          <p:cNvSpPr>
            <a:spLocks noChangeArrowheads="1"/>
          </p:cNvSpPr>
          <p:nvPr/>
        </p:nvSpPr>
        <p:spPr bwMode="auto">
          <a:xfrm>
            <a:off x="1080135" y="1440180"/>
            <a:ext cx="7520940" cy="576072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public class AppDemo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static final int N = 47500;</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public static void main(String args[])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MyTimer mt = new MyTimer();</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r>
              <a:rPr lang="en-US" sz="2100">
                <a:solidFill>
                  <a:schemeClr val="hlink"/>
                </a:solidFill>
                <a:latin typeface="Tahoma" panose="020B0604030504040204" pitchFamily="34" charset="0"/>
                <a:ea typeface="华文中宋" panose="02010600040101010101" pitchFamily="2" charset="-122"/>
              </a:rPr>
              <a:t>String str1 = "";</a:t>
            </a:r>
            <a:endParaRPr lang="en-US" sz="2100">
              <a:solidFill>
                <a:schemeClr va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hlink"/>
                </a:solidFill>
                <a:latin typeface="Tahoma" panose="020B0604030504040204" pitchFamily="34" charset="0"/>
                <a:ea typeface="华文中宋" panose="02010600040101010101" pitchFamily="2" charset="-122"/>
              </a:rPr>
              <a:t>		for (int i = 1; i &lt;= N; i++) </a:t>
            </a:r>
            <a:endParaRPr lang="en-US" sz="2100">
              <a:solidFill>
                <a:schemeClr va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hlink"/>
                </a:solidFill>
                <a:latin typeface="Tahoma" panose="020B0604030504040204" pitchFamily="34" charset="0"/>
                <a:ea typeface="华文中宋" panose="02010600040101010101" pitchFamily="2" charset="-122"/>
              </a:rPr>
              <a:t>		      str1 = str1 + "*";</a:t>
            </a:r>
            <a:endParaRPr lang="en-US" sz="2100">
              <a:solidFill>
                <a:schemeClr va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System.out.println("#1’s time = " + mt.getElapsed());</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mt = new MyTimer();</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r>
              <a:rPr lang="en-US" sz="2100">
                <a:solidFill>
                  <a:schemeClr val="folHlink"/>
                </a:solidFill>
                <a:latin typeface="Tahoma" panose="020B0604030504040204" pitchFamily="34" charset="0"/>
                <a:ea typeface="华文中宋" panose="02010600040101010101" pitchFamily="2" charset="-122"/>
              </a:rPr>
              <a:t>StringBuffer sb = new StringBuffer();</a:t>
            </a:r>
            <a:endParaRPr lang="en-US" sz="2100">
              <a:solidFill>
                <a:schemeClr val="fo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folHlink"/>
                </a:solidFill>
                <a:latin typeface="Tahoma" panose="020B0604030504040204" pitchFamily="34" charset="0"/>
                <a:ea typeface="华文中宋" panose="02010600040101010101" pitchFamily="2" charset="-122"/>
              </a:rPr>
              <a:t>		for (int i = 1; i &lt;= N; i++) </a:t>
            </a:r>
            <a:endParaRPr lang="en-US" sz="2100">
              <a:solidFill>
                <a:schemeClr val="fo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folHlink"/>
                </a:solidFill>
                <a:latin typeface="Tahoma" panose="020B0604030504040204" pitchFamily="34" charset="0"/>
                <a:ea typeface="华文中宋" panose="02010600040101010101" pitchFamily="2" charset="-122"/>
              </a:rPr>
              <a:t>		      sb.append("*");</a:t>
            </a:r>
            <a:endParaRPr lang="en-US" sz="2100">
              <a:solidFill>
                <a:schemeClr val="fo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folHlink"/>
                </a:solidFill>
                <a:latin typeface="Tahoma" panose="020B0604030504040204" pitchFamily="34" charset="0"/>
                <a:ea typeface="华文中宋" panose="02010600040101010101" pitchFamily="2" charset="-122"/>
              </a:rPr>
              <a:t>		String str2 = sb.toString();</a:t>
            </a:r>
            <a:endParaRPr lang="en-US" sz="2100">
              <a:solidFill>
                <a:schemeClr val="folHlink"/>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System.out.println("#2’s time = " + mt.getElapsed());</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86022" name="矩形 86021"/>
          <p:cNvSpPr>
            <a:spLocks noChangeArrowheads="1"/>
          </p:cNvSpPr>
          <p:nvPr/>
        </p:nvSpPr>
        <p:spPr bwMode="auto">
          <a:xfrm>
            <a:off x="7000875" y="1440180"/>
            <a:ext cx="3200400" cy="136017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520">
                <a:solidFill>
                  <a:schemeClr val="bg1"/>
                </a:solidFill>
                <a:latin typeface="Tahoma" panose="020B0604030504040204" pitchFamily="34" charset="0"/>
                <a:ea typeface="华文中宋" panose="02010600040101010101" pitchFamily="2" charset="-122"/>
              </a:rPr>
              <a:t>运行结果：</a:t>
            </a:r>
            <a:endParaRPr lang="zh-CN" alt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#1’s time = 474</a:t>
            </a:r>
            <a:endParaRPr lang="en-US" sz="252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520">
                <a:solidFill>
                  <a:schemeClr val="bg1"/>
                </a:solidFill>
                <a:latin typeface="Tahoma" panose="020B0604030504040204" pitchFamily="34" charset="0"/>
                <a:ea typeface="华文中宋" panose="02010600040101010101" pitchFamily="2" charset="-122"/>
              </a:rPr>
              <a:t>#2’s time = 13</a:t>
            </a:r>
            <a:endParaRPr lang="en-US" sz="2520">
              <a:solidFill>
                <a:schemeClr val="bg1"/>
              </a:solidFill>
              <a:latin typeface="Tahoma" panose="020B0604030504040204" pitchFamily="34" charset="0"/>
              <a:ea typeface="华文中宋" panose="02010600040101010101" pitchFamily="2" charset="-122"/>
            </a:endParaRPr>
          </a:p>
        </p:txBody>
      </p:sp>
      <p:sp>
        <p:nvSpPr>
          <p:cNvPr id="86023" name="矩形 86022"/>
          <p:cNvSpPr>
            <a:spLocks noChangeArrowheads="1"/>
          </p:cNvSpPr>
          <p:nvPr/>
        </p:nvSpPr>
        <p:spPr bwMode="auto">
          <a:xfrm>
            <a:off x="7000875" y="2800350"/>
            <a:ext cx="3200400" cy="720090"/>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520">
                <a:solidFill>
                  <a:srgbClr val="FF3300"/>
                </a:solidFill>
                <a:latin typeface="Tahoma" panose="020B0604030504040204" pitchFamily="34" charset="0"/>
                <a:ea typeface="华文中宋" panose="02010600040101010101" pitchFamily="2" charset="-122"/>
              </a:rPr>
              <a:t>效率和代码优化</a:t>
            </a:r>
            <a:endParaRPr lang="zh-CN" altLang="en-US" sz="2520">
              <a:solidFill>
                <a:srgbClr val="FF3300"/>
              </a:solidFill>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86020"/>
                                        </p:tgtEl>
                                        <p:attrNameLst>
                                          <p:attrName>style.visibility</p:attrName>
                                        </p:attrNameLst>
                                      </p:cBhvr>
                                      <p:to>
                                        <p:strVal val="visible"/>
                                      </p:to>
                                    </p:set>
                                    <p:animEffect transition="in" filter="barn(outHorizontal)">
                                      <p:cBhvr>
                                        <p:cTn id="7" dur="500"/>
                                        <p:tgtEl>
                                          <p:spTgt spid="860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86021"/>
                                        </p:tgtEl>
                                        <p:attrNameLst>
                                          <p:attrName>style.visibility</p:attrName>
                                        </p:attrNameLst>
                                      </p:cBhvr>
                                      <p:to>
                                        <p:strVal val="visible"/>
                                      </p:to>
                                    </p:set>
                                    <p:animEffect transition="in" filter="barn(outHorizontal)">
                                      <p:cBhvr>
                                        <p:cTn id="12" dur="500"/>
                                        <p:tgtEl>
                                          <p:spTgt spid="8602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86022"/>
                                        </p:tgtEl>
                                        <p:attrNameLst>
                                          <p:attrName>style.visibility</p:attrName>
                                        </p:attrNameLst>
                                      </p:cBhvr>
                                      <p:to>
                                        <p:strVal val="visible"/>
                                      </p:to>
                                    </p:set>
                                    <p:animEffect transition="in" filter="barn(outHorizontal)">
                                      <p:cBhvr>
                                        <p:cTn id="17" dur="500"/>
                                        <p:tgtEl>
                                          <p:spTgt spid="8602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6023"/>
                                        </p:tgtEl>
                                        <p:attrNameLst>
                                          <p:attrName>style.visibility</p:attrName>
                                        </p:attrNameLst>
                                      </p:cBhvr>
                                      <p:to>
                                        <p:strVal val="visible"/>
                                      </p:to>
                                    </p:set>
                                    <p:animEffect transition="in" filter="checkerboard(across)">
                                      <p:cBhvr>
                                        <p:cTn id="22" dur="500"/>
                                        <p:tgtEl>
                                          <p:spTgt spid="86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bldLvl="0" animBg="1"/>
      <p:bldP spid="86021" grpId="0" bldLvl="0" animBg="1"/>
      <p:bldP spid="86022" grpId="0" bldLvl="0" animBg="1"/>
      <p:bldP spid="86023"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Autofit/>
          </a:bodyPr>
          <a:p>
            <a:pPr>
              <a:lnSpc>
                <a:spcPct val="150000"/>
              </a:lnSpc>
              <a:buClr>
                <a:srgbClr val="000000"/>
              </a:buClr>
            </a:pPr>
            <a:r>
              <a:rPr lang="zh-CN" altLang="en-US" sz="2800" smtClean="0"/>
              <a:t>字符串的连接运算</a:t>
            </a:r>
            <a:r>
              <a:rPr lang="en-US" sz="2800" smtClean="0"/>
              <a:t>(Concatenation)</a:t>
            </a:r>
            <a:endParaRPr lang="en-US" sz="2400" smtClean="0"/>
          </a:p>
          <a:p>
            <a:pPr marL="800100" lvl="1" indent="-342900">
              <a:lnSpc>
                <a:spcPct val="150000"/>
              </a:lnSpc>
              <a:buNone/>
            </a:pPr>
            <a:r>
              <a:rPr lang="en-US" sz="2000" smtClean="0"/>
              <a:t>+: </a:t>
            </a:r>
            <a:r>
              <a:rPr lang="zh-CN" altLang="en-US" sz="2000" smtClean="0"/>
              <a:t>算术运算符</a:t>
            </a:r>
            <a:endParaRPr lang="zh-CN" altLang="en-US" sz="2000" smtClean="0"/>
          </a:p>
          <a:p>
            <a:pPr marL="742950" lvl="1" indent="-285750">
              <a:lnSpc>
                <a:spcPct val="150000"/>
              </a:lnSpc>
              <a:buSzPct val="90000"/>
              <a:buFont typeface="Wingdings" panose="05000000000000000000" pitchFamily="2" charset="2"/>
              <a:buAutoNum type="arabicPeriod"/>
            </a:pPr>
            <a:r>
              <a:rPr lang="en-US" sz="2000" smtClean="0"/>
              <a:t>int a = 1, b = 2; String c = “ men”;</a:t>
            </a:r>
            <a:endParaRPr lang="en-US" sz="2000" smtClean="0"/>
          </a:p>
          <a:p>
            <a:pPr marL="742950" lvl="1" indent="-285750">
              <a:lnSpc>
                <a:spcPct val="150000"/>
              </a:lnSpc>
              <a:buSzPct val="90000"/>
              <a:buFont typeface="Wingdings" panose="05000000000000000000" pitchFamily="2" charset="2"/>
              <a:buAutoNum type="arabicPeriod"/>
            </a:pPr>
            <a:r>
              <a:rPr lang="en-US" sz="2000" smtClean="0"/>
              <a:t>String s = a + b + c;</a:t>
            </a:r>
            <a:endParaRPr lang="en-US" sz="2000" smtClean="0"/>
          </a:p>
          <a:p>
            <a:pPr marL="1200150" lvl="2" indent="-285750">
              <a:lnSpc>
                <a:spcPct val="150000"/>
              </a:lnSpc>
              <a:buFont typeface="Wingdings" panose="05000000000000000000" pitchFamily="2" charset="2"/>
              <a:buChar char="l"/>
            </a:pPr>
            <a:r>
              <a:rPr lang="en-US" sz="1710" smtClean="0"/>
              <a:t>3 men</a:t>
            </a:r>
            <a:endParaRPr lang="en-US" sz="1710" smtClean="0"/>
          </a:p>
          <a:p>
            <a:pPr marL="1200150" lvl="2" indent="-285750">
              <a:lnSpc>
                <a:spcPct val="150000"/>
              </a:lnSpc>
              <a:buFont typeface="Wingdings" panose="05000000000000000000" pitchFamily="2" charset="2"/>
              <a:buChar char="l"/>
            </a:pPr>
            <a:r>
              <a:rPr lang="zh-CN" altLang="en-US" sz="1710" smtClean="0"/>
              <a:t>隐含结合率 </a:t>
            </a:r>
            <a:r>
              <a:rPr lang="en-US" sz="1710" smtClean="0"/>
              <a:t>(a + b) + c</a:t>
            </a:r>
            <a:endParaRPr lang="en-US" sz="1710" smtClean="0"/>
          </a:p>
          <a:p>
            <a:pPr marL="742950" lvl="1" indent="-285750">
              <a:lnSpc>
                <a:spcPct val="150000"/>
              </a:lnSpc>
              <a:buSzPct val="90000"/>
              <a:buFont typeface="Wingdings" panose="05000000000000000000" pitchFamily="2" charset="2"/>
              <a:buAutoNum type="arabicPeriod"/>
            </a:pPr>
            <a:r>
              <a:rPr lang="en-US" sz="2000" smtClean="0"/>
              <a:t>String s = c + b + a;</a:t>
            </a:r>
            <a:endParaRPr lang="en-US" sz="2000" smtClean="0"/>
          </a:p>
          <a:p>
            <a:pPr marL="1200150" lvl="2" indent="-285750">
              <a:lnSpc>
                <a:spcPct val="150000"/>
              </a:lnSpc>
              <a:buFont typeface="Wingdings" panose="05000000000000000000" pitchFamily="2" charset="2"/>
              <a:buChar char="l"/>
            </a:pPr>
            <a:r>
              <a:rPr lang="en-US" sz="1710" smtClean="0"/>
              <a:t>men 21</a:t>
            </a:r>
            <a:endParaRPr lang="en-US" sz="1710" smtClean="0"/>
          </a:p>
        </p:txBody>
      </p:sp>
    </p:spTree>
    <p:custDataLst>
      <p:tags r:id="rId3"/>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字符串操作类</a:t>
            </a:r>
            <a:endParaRPr lang="zh-CN" altLang="en-US"/>
          </a:p>
        </p:txBody>
      </p:sp>
      <p:sp>
        <p:nvSpPr>
          <p:cNvPr id="3" name="内容占位符 2"/>
          <p:cNvSpPr>
            <a:spLocks noGrp="1"/>
          </p:cNvSpPr>
          <p:nvPr>
            <p:ph idx="1"/>
            <p:custDataLst>
              <p:tags r:id="rId2"/>
            </p:custDataLst>
          </p:nvPr>
        </p:nvSpPr>
        <p:spPr/>
        <p:txBody>
          <a:bodyPr>
            <a:normAutofit lnSpcReduction="10000"/>
          </a:bodyPr>
          <a:p>
            <a:pPr algn="l">
              <a:lnSpc>
                <a:spcPct val="150000"/>
              </a:lnSpc>
              <a:buClr>
                <a:srgbClr val="000000"/>
              </a:buClr>
              <a:buSzTx/>
              <a:buChar char="•"/>
            </a:pPr>
            <a:r>
              <a:rPr lang="zh-CN" altLang="en-US" sz="2800" smtClean="0"/>
              <a:t>java.util.StringTokenizer类</a:t>
            </a:r>
            <a:endParaRPr lang="zh-CN" altLang="en-US" sz="2800" smtClean="0"/>
          </a:p>
          <a:p>
            <a:pPr marL="742950" lvl="1" indent="-285750">
              <a:lnSpc>
                <a:spcPct val="150000"/>
              </a:lnSpc>
              <a:buFont typeface="Wingdings" panose="05000000000000000000" pitchFamily="2" charset="2"/>
              <a:buChar char="l"/>
            </a:pPr>
            <a:r>
              <a:rPr lang="zh-CN" altLang="en-US" sz="1680" smtClean="0"/>
              <a:t>将一个字符串按特定的要求切分开</a:t>
            </a:r>
            <a:endParaRPr lang="zh-CN" altLang="en-US" sz="1680" smtClean="0"/>
          </a:p>
          <a:p>
            <a:pPr marL="742950" lvl="1" indent="-285750">
              <a:lnSpc>
                <a:spcPct val="150000"/>
              </a:lnSpc>
              <a:buFont typeface="Wingdings" panose="05000000000000000000" pitchFamily="2" charset="2"/>
              <a:buChar char="l"/>
            </a:pPr>
            <a:r>
              <a:rPr lang="en-US" sz="1680" smtClean="0"/>
              <a:t>One String </a:t>
            </a:r>
            <a:r>
              <a:rPr lang="en-US" sz="1680" smtClean="0">
                <a:sym typeface="Wingdings" panose="05000000000000000000" pitchFamily="2" charset="2"/>
              </a:rPr>
              <a:t> more Tokens</a:t>
            </a:r>
            <a:endParaRPr lang="en-US" sz="1680" smtClean="0">
              <a:sym typeface="Wingdings" panose="05000000000000000000" pitchFamily="2" charset="2"/>
            </a:endParaRPr>
          </a:p>
          <a:p>
            <a:pPr algn="l">
              <a:lnSpc>
                <a:spcPct val="150000"/>
              </a:lnSpc>
              <a:buClr>
                <a:srgbClr val="000000"/>
              </a:buClr>
              <a:buSzTx/>
              <a:buChar char="•"/>
            </a:pPr>
            <a:r>
              <a:rPr lang="zh-CN" altLang="en-US" sz="2800" smtClean="0"/>
              <a:t>构造方法</a:t>
            </a:r>
            <a:endParaRPr lang="zh-CN" altLang="en-US" sz="2800" smtClean="0"/>
          </a:p>
          <a:p>
            <a:pPr marL="742950" lvl="1" indent="-285750">
              <a:lnSpc>
                <a:spcPct val="150000"/>
              </a:lnSpc>
              <a:buFont typeface="Wingdings" panose="05000000000000000000" pitchFamily="2" charset="2"/>
              <a:buChar char="l"/>
            </a:pPr>
            <a:r>
              <a:rPr lang="en-US" sz="1680" smtClean="0"/>
              <a:t>public StringTokenizer(String str)  </a:t>
            </a:r>
            <a:r>
              <a:rPr lang="zh-CN" altLang="en-US" sz="1680" smtClean="0"/>
              <a:t>按默认的分隔符将字符串分割</a:t>
            </a:r>
            <a:r>
              <a:rPr lang="en-US" sz="1680" smtClean="0"/>
              <a:t>– </a:t>
            </a:r>
            <a:r>
              <a:rPr lang="zh-CN" altLang="en-US" sz="1680" smtClean="0"/>
              <a:t>四个字符“ </a:t>
            </a:r>
            <a:r>
              <a:rPr lang="en-US" sz="1680" smtClean="0"/>
              <a:t>\t\n\r\f”</a:t>
            </a:r>
            <a:endParaRPr lang="en-US" sz="1680" smtClean="0"/>
          </a:p>
          <a:p>
            <a:pPr marL="742950" lvl="1" indent="-285750">
              <a:lnSpc>
                <a:spcPct val="150000"/>
              </a:lnSpc>
              <a:buFont typeface="Wingdings" panose="05000000000000000000" pitchFamily="2" charset="2"/>
              <a:buChar char="l"/>
            </a:pPr>
            <a:r>
              <a:rPr lang="en-US" sz="1680" smtClean="0"/>
              <a:t>public StringTokenizer(String str, String delim) </a:t>
            </a:r>
            <a:r>
              <a:rPr lang="zh-CN" altLang="en-US" sz="1680" smtClean="0"/>
              <a:t>按指定的分割符将字符串分割</a:t>
            </a:r>
            <a:endParaRPr lang="zh-CN" altLang="en-US" sz="1680" smtClean="0"/>
          </a:p>
          <a:p>
            <a:pPr lvl="0" algn="l">
              <a:lnSpc>
                <a:spcPct val="150000"/>
              </a:lnSpc>
              <a:buClr>
                <a:srgbClr val="000000"/>
              </a:buClr>
              <a:buSzTx/>
              <a:buChar char="•"/>
            </a:pPr>
            <a:r>
              <a:rPr lang="zh-CN" altLang="en-US" sz="2800" smtClean="0"/>
              <a:t>常用</a:t>
            </a:r>
            <a:r>
              <a:rPr lang="zh-CN" altLang="en-US" sz="2800" smtClean="0"/>
              <a:t>方法</a:t>
            </a:r>
            <a:endParaRPr lang="zh-CN" altLang="en-US" sz="2800" smtClean="0"/>
          </a:p>
          <a:p>
            <a:pPr marL="742950" lvl="1" indent="-285750">
              <a:lnSpc>
                <a:spcPct val="150000"/>
              </a:lnSpc>
              <a:buFont typeface="Wingdings" panose="05000000000000000000" pitchFamily="2" charset="2"/>
              <a:buChar char="l"/>
            </a:pPr>
            <a:r>
              <a:rPr lang="en-US" sz="1680" smtClean="0"/>
              <a:t>public boolean hasMoreTokens() </a:t>
            </a:r>
            <a:r>
              <a:rPr lang="zh-CN" altLang="en-US" sz="1680" smtClean="0"/>
              <a:t>判断是否有</a:t>
            </a:r>
            <a:r>
              <a:rPr lang="en-US" sz="1680" smtClean="0"/>
              <a:t>token</a:t>
            </a:r>
            <a:endParaRPr lang="en-US" sz="1680" smtClean="0"/>
          </a:p>
          <a:p>
            <a:pPr marL="742950" lvl="1" indent="-285750">
              <a:lnSpc>
                <a:spcPct val="150000"/>
              </a:lnSpc>
              <a:buFont typeface="Wingdings" panose="05000000000000000000" pitchFamily="2" charset="2"/>
              <a:buChar char="l"/>
            </a:pPr>
            <a:r>
              <a:rPr lang="en-US" sz="1680" smtClean="0"/>
              <a:t>public String nextToken()           </a:t>
            </a:r>
            <a:r>
              <a:rPr lang="zh-CN" altLang="en-US" sz="1680" smtClean="0"/>
              <a:t>得到下一个</a:t>
            </a:r>
            <a:r>
              <a:rPr lang="en-US" sz="1680" smtClean="0"/>
              <a:t>token</a:t>
            </a:r>
            <a:endParaRPr lang="en-US" sz="1680" smtClean="0"/>
          </a:p>
        </p:txBody>
      </p:sp>
    </p:spTree>
    <p:custDataLst>
      <p:tags r:id="rId3"/>
    </p:custData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89089"/>
          <p:cNvSpPr>
            <a:spLocks noGrp="1" noChangeArrowheads="1"/>
          </p:cNvSpPr>
          <p:nvPr>
            <p:ph type="title"/>
          </p:nvPr>
        </p:nvSpPr>
        <p:spPr/>
        <p:txBody>
          <a:bodyPr/>
          <a:lstStyle/>
          <a:p>
            <a:r>
              <a:rPr lang="zh-CN" altLang="en-US" smtClean="0"/>
              <a:t>字符串操作类</a:t>
            </a:r>
            <a:endParaRPr lang="zh-CN" altLang="en-US" smtClean="0"/>
          </a:p>
        </p:txBody>
      </p:sp>
      <p:sp>
        <p:nvSpPr>
          <p:cNvPr id="92162" name="文本占位符 89090"/>
          <p:cNvSpPr>
            <a:spLocks noGrp="1" noChangeArrowheads="1"/>
          </p:cNvSpPr>
          <p:nvPr>
            <p:ph idx="1"/>
          </p:nvPr>
        </p:nvSpPr>
        <p:spPr/>
        <p:txBody>
          <a:bodyPr/>
          <a:lstStyle/>
          <a:p>
            <a:pPr marL="609600" indent="-609600">
              <a:buSzPct val="90000"/>
            </a:pPr>
            <a:r>
              <a:rPr lang="en-US" smtClean="0">
                <a:ea typeface="黑体" panose="02010609060101010101" pitchFamily="49" charset="-122"/>
              </a:rPr>
              <a:t>java.</a:t>
            </a:r>
            <a:r>
              <a:rPr lang="en-US" smtClean="0">
                <a:solidFill>
                  <a:schemeClr val="hlink"/>
                </a:solidFill>
                <a:ea typeface="黑体" panose="02010609060101010101" pitchFamily="49" charset="-122"/>
              </a:rPr>
              <a:t>util</a:t>
            </a:r>
            <a:r>
              <a:rPr lang="en-US" smtClean="0">
                <a:ea typeface="黑体" panose="02010609060101010101" pitchFamily="49" charset="-122"/>
              </a:rPr>
              <a:t>.StringTokenizer</a:t>
            </a:r>
            <a:r>
              <a:rPr lang="zh-CN" altLang="en-US" smtClean="0"/>
              <a:t>类</a:t>
            </a:r>
            <a:endParaRPr lang="zh-CN" altLang="en-US" smtClean="0"/>
          </a:p>
          <a:p>
            <a:pPr marL="990600" lvl="1" indent="-533400">
              <a:buSzPct val="90000"/>
            </a:pPr>
            <a:r>
              <a:rPr lang="zh-CN" altLang="en-US" smtClean="0"/>
              <a:t>方法举例</a:t>
            </a:r>
            <a:endParaRPr lang="zh-CN" altLang="en-US" smtClean="0"/>
          </a:p>
        </p:txBody>
      </p:sp>
      <p:sp>
        <p:nvSpPr>
          <p:cNvPr id="89092" name="矩形 89091"/>
          <p:cNvSpPr>
            <a:spLocks noChangeArrowheads="1"/>
          </p:cNvSpPr>
          <p:nvPr/>
        </p:nvSpPr>
        <p:spPr bwMode="auto">
          <a:xfrm>
            <a:off x="1640205" y="2400300"/>
            <a:ext cx="6240780" cy="1760220"/>
          </a:xfrm>
          <a:prstGeom prst="rect">
            <a:avLst/>
          </a:prstGeom>
          <a:solidFill>
            <a:schemeClr val="accent5">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String s = "this is a test";</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StringTokenizer st = new StringTokenizer(s);</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while (st.hasMoreTokens())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System.out.println(st.nextToken());</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89093" name="矩形 89092"/>
          <p:cNvSpPr>
            <a:spLocks noChangeArrowheads="1"/>
          </p:cNvSpPr>
          <p:nvPr/>
        </p:nvSpPr>
        <p:spPr bwMode="auto">
          <a:xfrm>
            <a:off x="7880985" y="2400300"/>
            <a:ext cx="1440180" cy="176022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100">
                <a:solidFill>
                  <a:schemeClr val="bg1"/>
                </a:solidFill>
                <a:latin typeface="Tahoma" panose="020B0604030504040204" pitchFamily="34" charset="0"/>
                <a:ea typeface="华文中宋" panose="02010600040101010101" pitchFamily="2" charset="-122"/>
              </a:rPr>
              <a:t>运行结果</a:t>
            </a:r>
            <a:r>
              <a:rPr lang="en-US" sz="2100">
                <a:solidFill>
                  <a:schemeClr val="bg1"/>
                </a:solidFill>
                <a:latin typeface="Tahoma" panose="020B0604030504040204" pitchFamily="34" charset="0"/>
                <a:ea typeface="华文中宋" panose="02010600040101010101" pitchFamily="2" charset="-122"/>
              </a:rPr>
              <a:t>:</a:t>
            </a:r>
            <a:endParaRPr lang="en-US" sz="21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bg1"/>
                </a:solidFill>
                <a:latin typeface="Tahoma" panose="020B0604030504040204" pitchFamily="34" charset="0"/>
                <a:ea typeface="华文中宋" panose="02010600040101010101" pitchFamily="2" charset="-122"/>
              </a:rPr>
              <a:t>this</a:t>
            </a:r>
            <a:endParaRPr lang="en-US" sz="21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bg1"/>
                </a:solidFill>
                <a:latin typeface="Tahoma" panose="020B0604030504040204" pitchFamily="34" charset="0"/>
                <a:ea typeface="华文中宋" panose="02010600040101010101" pitchFamily="2" charset="-122"/>
              </a:rPr>
              <a:t>is </a:t>
            </a:r>
            <a:endParaRPr lang="en-US" sz="21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bg1"/>
                </a:solidFill>
                <a:latin typeface="Tahoma" panose="020B0604030504040204" pitchFamily="34" charset="0"/>
                <a:ea typeface="华文中宋" panose="02010600040101010101" pitchFamily="2" charset="-122"/>
              </a:rPr>
              <a:t>a</a:t>
            </a:r>
            <a:endParaRPr lang="en-US" sz="21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bg1"/>
                </a:solidFill>
                <a:latin typeface="Tahoma" panose="020B0604030504040204" pitchFamily="34" charset="0"/>
                <a:ea typeface="华文中宋" panose="02010600040101010101" pitchFamily="2" charset="-122"/>
              </a:rPr>
              <a:t>test</a:t>
            </a:r>
            <a:endParaRPr lang="en-US" sz="2100">
              <a:solidFill>
                <a:schemeClr val="bg1"/>
              </a:solidFill>
              <a:latin typeface="Tahoma" panose="020B0604030504040204" pitchFamily="34" charset="0"/>
              <a:ea typeface="华文中宋" panose="02010600040101010101" pitchFamily="2" charset="-122"/>
            </a:endParaRPr>
          </a:p>
        </p:txBody>
      </p:sp>
      <p:sp>
        <p:nvSpPr>
          <p:cNvPr id="89094" name="矩形 89093"/>
          <p:cNvSpPr>
            <a:spLocks noChangeArrowheads="1"/>
          </p:cNvSpPr>
          <p:nvPr/>
        </p:nvSpPr>
        <p:spPr bwMode="auto">
          <a:xfrm>
            <a:off x="1640205" y="4320540"/>
            <a:ext cx="6240780" cy="1840230"/>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String s = "this:is:a:test</a:t>
            </a:r>
            <a:r>
              <a:rPr lang="en-US" sz="2100">
                <a:latin typeface="Tahoma" panose="020B0604030504040204" pitchFamily="34" charset="0"/>
                <a:ea typeface="华文中宋" panose="02010600040101010101" pitchFamily="2" charset="-122"/>
                <a:sym typeface="+mn-ea"/>
              </a:rPr>
              <a:t>"</a:t>
            </a: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StringTokenizer st = new StringTokenizer(s, </a:t>
            </a:r>
            <a:r>
              <a:rPr lang="en-US" sz="2100">
                <a:latin typeface="Tahoma" panose="020B0604030504040204" pitchFamily="34" charset="0"/>
                <a:ea typeface="华文中宋" panose="02010600040101010101" pitchFamily="2" charset="-122"/>
                <a:sym typeface="+mn-ea"/>
              </a:rPr>
              <a:t>"</a:t>
            </a:r>
            <a:r>
              <a:rPr lang="en-US" sz="2100">
                <a:latin typeface="Tahoma" panose="020B0604030504040204" pitchFamily="34" charset="0"/>
                <a:ea typeface="华文中宋" panose="02010600040101010101" pitchFamily="2" charset="-122"/>
              </a:rPr>
              <a:t>:</a:t>
            </a:r>
            <a:r>
              <a:rPr lang="en-US" sz="2100">
                <a:latin typeface="Tahoma" panose="020B0604030504040204" pitchFamily="34" charset="0"/>
                <a:ea typeface="华文中宋" panose="02010600040101010101" pitchFamily="2" charset="-122"/>
                <a:sym typeface="+mn-ea"/>
              </a:rPr>
              <a:t>"</a:t>
            </a: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while (st.hasMoreTokens()) {</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	System.out.println(st.nextToken());</a:t>
            </a:r>
            <a:endParaRPr lang="en-US" sz="2100">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latin typeface="Tahoma" panose="020B0604030504040204" pitchFamily="34" charset="0"/>
                <a:ea typeface="华文中宋" panose="02010600040101010101" pitchFamily="2" charset="-122"/>
              </a:rPr>
              <a:t>}</a:t>
            </a:r>
            <a:endParaRPr lang="en-US" sz="2100">
              <a:latin typeface="Tahoma" panose="020B0604030504040204" pitchFamily="34" charset="0"/>
              <a:ea typeface="华文中宋" panose="02010600040101010101" pitchFamily="2" charset="-122"/>
            </a:endParaRPr>
          </a:p>
        </p:txBody>
      </p:sp>
      <p:sp>
        <p:nvSpPr>
          <p:cNvPr id="89095" name="矩形 89094"/>
          <p:cNvSpPr>
            <a:spLocks noChangeArrowheads="1"/>
          </p:cNvSpPr>
          <p:nvPr/>
        </p:nvSpPr>
        <p:spPr bwMode="auto">
          <a:xfrm>
            <a:off x="7880985" y="4320540"/>
            <a:ext cx="1440180" cy="184023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SzPct val="60000"/>
              <a:buFont typeface="Wingdings" panose="05000000000000000000" pitchFamily="2" charset="2"/>
              <a:buNone/>
            </a:pPr>
            <a:r>
              <a:rPr lang="zh-CN" altLang="en-US" sz="2100">
                <a:solidFill>
                  <a:schemeClr val="bg1"/>
                </a:solidFill>
                <a:latin typeface="Tahoma" panose="020B0604030504040204" pitchFamily="34" charset="0"/>
                <a:ea typeface="华文中宋" panose="02010600040101010101" pitchFamily="2" charset="-122"/>
              </a:rPr>
              <a:t>运行结果</a:t>
            </a:r>
            <a:r>
              <a:rPr lang="en-US" sz="2100">
                <a:solidFill>
                  <a:schemeClr val="bg1"/>
                </a:solidFill>
                <a:latin typeface="Tahoma" panose="020B0604030504040204" pitchFamily="34" charset="0"/>
                <a:ea typeface="华文中宋" panose="02010600040101010101" pitchFamily="2" charset="-122"/>
              </a:rPr>
              <a:t>:</a:t>
            </a:r>
            <a:endParaRPr lang="en-US" sz="21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bg1"/>
                </a:solidFill>
                <a:latin typeface="Tahoma" panose="020B0604030504040204" pitchFamily="34" charset="0"/>
                <a:ea typeface="华文中宋" panose="02010600040101010101" pitchFamily="2" charset="-122"/>
              </a:rPr>
              <a:t>this</a:t>
            </a:r>
            <a:endParaRPr lang="en-US" sz="21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bg1"/>
                </a:solidFill>
                <a:latin typeface="Tahoma" panose="020B0604030504040204" pitchFamily="34" charset="0"/>
                <a:ea typeface="华文中宋" panose="02010600040101010101" pitchFamily="2" charset="-122"/>
              </a:rPr>
              <a:t>is </a:t>
            </a:r>
            <a:endParaRPr lang="en-US" sz="21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bg1"/>
                </a:solidFill>
                <a:latin typeface="Tahoma" panose="020B0604030504040204" pitchFamily="34" charset="0"/>
                <a:ea typeface="华文中宋" panose="02010600040101010101" pitchFamily="2" charset="-122"/>
              </a:rPr>
              <a:t>a</a:t>
            </a:r>
            <a:endParaRPr lang="en-US" sz="2100">
              <a:solidFill>
                <a:schemeClr val="bg1"/>
              </a:solidFill>
              <a:latin typeface="Tahoma" panose="020B0604030504040204" pitchFamily="34" charset="0"/>
              <a:ea typeface="华文中宋" panose="02010600040101010101" pitchFamily="2" charset="-122"/>
            </a:endParaRPr>
          </a:p>
          <a:p>
            <a:pPr>
              <a:lnSpc>
                <a:spcPct val="90000"/>
              </a:lnSpc>
              <a:spcBef>
                <a:spcPct val="20000"/>
              </a:spcBef>
              <a:buClr>
                <a:schemeClr val="folHlink"/>
              </a:buClr>
              <a:buSzPct val="60000"/>
              <a:buFont typeface="Wingdings" panose="05000000000000000000" pitchFamily="2" charset="2"/>
              <a:buNone/>
            </a:pPr>
            <a:r>
              <a:rPr lang="en-US" sz="2100">
                <a:solidFill>
                  <a:schemeClr val="bg1"/>
                </a:solidFill>
                <a:latin typeface="Tahoma" panose="020B0604030504040204" pitchFamily="34" charset="0"/>
                <a:ea typeface="华文中宋" panose="02010600040101010101" pitchFamily="2" charset="-122"/>
              </a:rPr>
              <a:t>test</a:t>
            </a:r>
            <a:endParaRPr lang="en-US" sz="2100">
              <a:solidFill>
                <a:schemeClr val="bg1"/>
              </a:solidFill>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barn(outHorizontal)">
                                      <p:cBhvr>
                                        <p:cTn id="7" dur="500"/>
                                        <p:tgtEl>
                                          <p:spTgt spid="8909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89094"/>
                                        </p:tgtEl>
                                        <p:attrNameLst>
                                          <p:attrName>style.visibility</p:attrName>
                                        </p:attrNameLst>
                                      </p:cBhvr>
                                      <p:to>
                                        <p:strVal val="visible"/>
                                      </p:to>
                                    </p:set>
                                    <p:animEffect transition="in" filter="barn(outHorizontal)">
                                      <p:cBhvr>
                                        <p:cTn id="12" dur="500"/>
                                        <p:tgtEl>
                                          <p:spTgt spid="8909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89093"/>
                                        </p:tgtEl>
                                        <p:attrNameLst>
                                          <p:attrName>style.visibility</p:attrName>
                                        </p:attrNameLst>
                                      </p:cBhvr>
                                      <p:to>
                                        <p:strVal val="visible"/>
                                      </p:to>
                                    </p:set>
                                    <p:animEffect transition="in" filter="barn(outHorizontal)">
                                      <p:cBhvr>
                                        <p:cTn id="17" dur="500"/>
                                        <p:tgtEl>
                                          <p:spTgt spid="8909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89095"/>
                                        </p:tgtEl>
                                        <p:attrNameLst>
                                          <p:attrName>style.visibility</p:attrName>
                                        </p:attrNameLst>
                                      </p:cBhvr>
                                      <p:to>
                                        <p:strVal val="visible"/>
                                      </p:to>
                                    </p:set>
                                    <p:animEffect transition="in" filter="barn(outHorizontal)">
                                      <p:cBhvr>
                                        <p:cTn id="22" dur="500"/>
                                        <p:tgtEl>
                                          <p:spTgt spid="89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bldLvl="0" animBg="1"/>
      <p:bldP spid="89093" grpId="0" bldLvl="0" animBg="1"/>
      <p:bldP spid="89094" grpId="0" bldLvl="0" animBg="1"/>
      <p:bldP spid="89095"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执行外部程序</a:t>
            </a:r>
            <a:endParaRPr lang="zh-CN" altLang="en-US"/>
          </a:p>
        </p:txBody>
      </p:sp>
      <p:sp>
        <p:nvSpPr>
          <p:cNvPr id="3" name="内容占位符 2"/>
          <p:cNvSpPr>
            <a:spLocks noGrp="1"/>
          </p:cNvSpPr>
          <p:nvPr>
            <p:ph idx="1"/>
            <p:custDataLst>
              <p:tags r:id="rId2"/>
            </p:custDataLst>
          </p:nvPr>
        </p:nvSpPr>
        <p:spPr/>
        <p:txBody>
          <a:bodyPr>
            <a:normAutofit/>
          </a:bodyPr>
          <a:p>
            <a:pPr algn="l">
              <a:lnSpc>
                <a:spcPct val="150000"/>
              </a:lnSpc>
              <a:buClr>
                <a:srgbClr val="000000"/>
              </a:buClr>
              <a:buSzTx/>
            </a:pPr>
            <a:r>
              <a:rPr lang="zh-CN" altLang="en-US" sz="2800" smtClean="0"/>
              <a:t>java.lang.Runtime类</a:t>
            </a:r>
            <a:endParaRPr lang="zh-CN" altLang="en-US" sz="2800" smtClean="0"/>
          </a:p>
          <a:p>
            <a:pPr marL="800100" lvl="1" indent="-342900">
              <a:lnSpc>
                <a:spcPct val="150000"/>
              </a:lnSpc>
            </a:pPr>
            <a:r>
              <a:rPr lang="en-US" sz="2000" smtClean="0"/>
              <a:t>public Process exec(String command) throws IOException</a:t>
            </a:r>
            <a:endParaRPr lang="en-US" sz="2000" smtClean="0"/>
          </a:p>
          <a:p>
            <a:pPr lvl="2">
              <a:buClr>
                <a:schemeClr val="bg2"/>
              </a:buClr>
            </a:pPr>
            <a:r>
              <a:rPr lang="en-US" sz="2000" smtClean="0"/>
              <a:t>Executes the specified string command in a separate process.</a:t>
            </a:r>
            <a:endParaRPr lang="en-US" sz="2000" smtClean="0"/>
          </a:p>
          <a:p>
            <a:pPr marL="800100" lvl="1" indent="-342900">
              <a:lnSpc>
                <a:spcPct val="150000"/>
              </a:lnSpc>
            </a:pPr>
            <a:r>
              <a:rPr lang="en-US" sz="2000" smtClean="0"/>
              <a:t>public Process exec(String[] cmdarray) throws IOException</a:t>
            </a:r>
            <a:endParaRPr lang="en-US" sz="2000" smtClean="0"/>
          </a:p>
          <a:p>
            <a:pPr lvl="2">
              <a:buClr>
                <a:schemeClr val="bg2"/>
              </a:buClr>
            </a:pPr>
            <a:r>
              <a:rPr lang="en-US" sz="2000" smtClean="0"/>
              <a:t>Executes the specified command and arguments in a separate process. </a:t>
            </a:r>
            <a:endParaRPr lang="en-US" sz="2000" smtClean="0"/>
          </a:p>
          <a:p>
            <a:pPr marL="742950" lvl="1" indent="-285750">
              <a:lnSpc>
                <a:spcPct val="150000"/>
              </a:lnSpc>
              <a:buClr>
                <a:schemeClr val="hlink"/>
              </a:buClr>
            </a:pPr>
            <a:r>
              <a:rPr lang="en-US" sz="1750">
                <a:latin typeface="+mn-lt"/>
                <a:ea typeface="+mn-ea"/>
                <a:sym typeface="+mn-ea"/>
              </a:rPr>
              <a:t>Window NT/2000/XP</a:t>
            </a:r>
            <a:endParaRPr lang="en-US" sz="1750">
              <a:latin typeface="+mn-lt"/>
              <a:ea typeface="+mn-ea"/>
            </a:endParaRPr>
          </a:p>
          <a:p>
            <a:pPr lvl="2">
              <a:buClr>
                <a:schemeClr val="bg2"/>
              </a:buClr>
            </a:pPr>
            <a:r>
              <a:rPr lang="en-US" sz="2000">
                <a:latin typeface="+mn-lt"/>
                <a:ea typeface="+mn-ea"/>
                <a:sym typeface="+mn-ea"/>
              </a:rPr>
              <a:t>cmd.exe /C </a:t>
            </a:r>
            <a:r>
              <a:rPr lang="zh-CN" altLang="en-US" sz="2000">
                <a:latin typeface="+mn-lt"/>
                <a:ea typeface="+mn-ea"/>
                <a:sym typeface="+mn-ea"/>
              </a:rPr>
              <a:t>命令</a:t>
            </a:r>
            <a:endParaRPr lang="zh-CN" altLang="en-US" sz="2000">
              <a:latin typeface="+mn-lt"/>
              <a:ea typeface="+mn-ea"/>
            </a:endParaRPr>
          </a:p>
          <a:p>
            <a:pPr marL="800100" lvl="1" indent="-342900">
              <a:lnSpc>
                <a:spcPct val="150000"/>
              </a:lnSpc>
            </a:pPr>
            <a:r>
              <a:rPr lang="en-US" sz="2000">
                <a:latin typeface="+mn-lt"/>
                <a:ea typeface="+mn-ea"/>
                <a:sym typeface="+mn-ea"/>
              </a:rPr>
              <a:t>Windows 95/98</a:t>
            </a:r>
            <a:endParaRPr lang="en-US" sz="2000">
              <a:latin typeface="+mn-lt"/>
              <a:ea typeface="+mn-ea"/>
            </a:endParaRPr>
          </a:p>
          <a:p>
            <a:pPr lvl="2">
              <a:buClr>
                <a:schemeClr val="bg2"/>
              </a:buClr>
            </a:pPr>
            <a:r>
              <a:rPr lang="en-US" sz="2000">
                <a:latin typeface="+mn-lt"/>
                <a:ea typeface="+mn-ea"/>
                <a:sym typeface="+mn-ea"/>
              </a:rPr>
              <a:t>command.com /C </a:t>
            </a:r>
            <a:r>
              <a:rPr lang="zh-CN" altLang="en-US" sz="2000">
                <a:latin typeface="+mn-lt"/>
                <a:ea typeface="+mn-ea"/>
                <a:sym typeface="+mn-ea"/>
              </a:rPr>
              <a:t>命令</a:t>
            </a:r>
            <a:endParaRPr lang="zh-CN" altLang="en-US" sz="2000">
              <a:latin typeface="+mn-lt"/>
              <a:ea typeface="+mn-ea"/>
            </a:endParaRPr>
          </a:p>
          <a:p>
            <a:pPr lvl="2">
              <a:buClr>
                <a:schemeClr val="bg2"/>
              </a:buClr>
              <a:buFont typeface="Wingdings" panose="05000000000000000000" pitchFamily="2" charset="2"/>
              <a:buChar char="l"/>
            </a:pPr>
            <a:endParaRPr lang="en-US" sz="2000" smtClean="0"/>
          </a:p>
        </p:txBody>
      </p:sp>
      <p:sp>
        <p:nvSpPr>
          <p:cNvPr id="4" name="文本框 3"/>
          <p:cNvSpPr txBox="1"/>
          <p:nvPr/>
        </p:nvSpPr>
        <p:spPr>
          <a:xfrm>
            <a:off x="3762375" y="4142740"/>
            <a:ext cx="7232015" cy="1337945"/>
          </a:xfrm>
          <a:prstGeom prst="rect">
            <a:avLst/>
          </a:prstGeom>
          <a:noFill/>
        </p:spPr>
        <p:txBody>
          <a:bodyPr wrap="square" rtlCol="0" anchor="t">
            <a:spAutoFit/>
          </a:bodyPr>
          <a:p>
            <a:pPr marL="990600" lvl="1" indent="-533400" fontAlgn="auto">
              <a:lnSpc>
                <a:spcPct val="150000"/>
              </a:lnSpc>
              <a:buSzPct val="90000"/>
              <a:buFont typeface="Arial" panose="020B0604020202020204" pitchFamily="34" charset="0"/>
              <a:buNone/>
            </a:pPr>
            <a:r>
              <a:rPr lang="en-US" altLang="x-none" sz="1800" smtClean="0">
                <a:sym typeface="+mn-ea"/>
              </a:rPr>
              <a:t>	public static void main(String args[]) throws IOException {</a:t>
            </a:r>
            <a:endParaRPr lang="en-US" altLang="x-none" sz="1800" smtClean="0"/>
          </a:p>
          <a:p>
            <a:pPr marL="990600" lvl="1" indent="-533400" fontAlgn="auto">
              <a:lnSpc>
                <a:spcPct val="150000"/>
              </a:lnSpc>
              <a:buSzPct val="90000"/>
              <a:buFont typeface="Arial" panose="020B0604020202020204" pitchFamily="34" charset="0"/>
              <a:buNone/>
            </a:pPr>
            <a:r>
              <a:rPr lang="en-US" altLang="x-none" sz="1800" smtClean="0">
                <a:sym typeface="+mn-ea"/>
              </a:rPr>
              <a:t>		Runtime.getRuntime().exec("cmd.exe /C " + args[0]);</a:t>
            </a:r>
            <a:endParaRPr lang="en-US" altLang="x-none" sz="1800" smtClean="0"/>
          </a:p>
          <a:p>
            <a:pPr marL="990600" lvl="1" indent="-533400" fontAlgn="auto">
              <a:lnSpc>
                <a:spcPct val="150000"/>
              </a:lnSpc>
              <a:buSzPct val="90000"/>
              <a:buFont typeface="Arial" panose="020B0604020202020204" pitchFamily="34" charset="0"/>
              <a:buNone/>
            </a:pPr>
            <a:r>
              <a:rPr lang="en-US" altLang="x-none" sz="1800" smtClean="0">
                <a:sym typeface="+mn-ea"/>
              </a:rPr>
              <a:t>	}</a:t>
            </a:r>
            <a:endParaRPr lang="zh-CN" altLang="en-US" sz="1800"/>
          </a:p>
        </p:txBody>
      </p:sp>
    </p:spTree>
    <p:custDataLst>
      <p:tags r:id="rId3"/>
    </p:custData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r>
              <a:rPr lang="zh-CN" altLang="en-US"/>
              <a:t>执行外部程序</a:t>
            </a:r>
            <a:endParaRPr lang="zh-CN" altLang="en-US"/>
          </a:p>
        </p:txBody>
      </p:sp>
      <p:sp>
        <p:nvSpPr>
          <p:cNvPr id="3" name="内容占位符 2"/>
          <p:cNvSpPr>
            <a:spLocks noGrp="1"/>
          </p:cNvSpPr>
          <p:nvPr>
            <p:ph idx="1"/>
            <p:custDataLst>
              <p:tags r:id="rId2"/>
            </p:custDataLst>
          </p:nvPr>
        </p:nvSpPr>
        <p:spPr/>
        <p:txBody>
          <a:bodyPr>
            <a:normAutofit/>
          </a:bodyPr>
          <a:p>
            <a:pPr algn="l">
              <a:lnSpc>
                <a:spcPct val="150000"/>
              </a:lnSpc>
              <a:buClr>
                <a:srgbClr val="000000"/>
              </a:buClr>
              <a:buSzTx/>
              <a:buChar char="•"/>
            </a:pPr>
            <a:r>
              <a:rPr lang="zh-CN" altLang="en-US" sz="2800" smtClean="0"/>
              <a:t>java.lang.Runtime类</a:t>
            </a:r>
            <a:endParaRPr lang="zh-CN" altLang="en-US" sz="2800" smtClean="0"/>
          </a:p>
          <a:p>
            <a:pPr marL="342900" indent="-342900" fontAlgn="auto">
              <a:lnSpc>
                <a:spcPct val="150000"/>
              </a:lnSpc>
              <a:buClr>
                <a:schemeClr val="hlink"/>
              </a:buClr>
              <a:buFont typeface="Wingdings" panose="05000000000000000000" pitchFamily="2" charset="2"/>
              <a:buChar char="l"/>
            </a:pPr>
            <a:endParaRPr lang="zh-CN" altLang="en-US" sz="1680" smtClean="0"/>
          </a:p>
          <a:p>
            <a:pPr marL="990600" lvl="1" indent="-533400" fontAlgn="auto">
              <a:lnSpc>
                <a:spcPct val="150000"/>
              </a:lnSpc>
              <a:buSzPct val="90000"/>
              <a:buFont typeface="Arial" panose="020B0604020202020204" pitchFamily="34" charset="0"/>
              <a:buNone/>
            </a:pPr>
            <a:r>
              <a:rPr lang="en-US" altLang="x-none" sz="1680" smtClean="0"/>
              <a:t>import java.io.IOException;</a:t>
            </a:r>
            <a:endParaRPr lang="en-US" altLang="x-none" sz="1680" smtClean="0"/>
          </a:p>
          <a:p>
            <a:pPr marL="990600" lvl="1" indent="-533400" fontAlgn="auto">
              <a:lnSpc>
                <a:spcPct val="150000"/>
              </a:lnSpc>
              <a:buSzPct val="90000"/>
              <a:buFont typeface="Arial" panose="020B0604020202020204" pitchFamily="34" charset="0"/>
              <a:buNone/>
            </a:pPr>
            <a:r>
              <a:rPr lang="en-US" altLang="x-none" sz="1680" smtClean="0"/>
              <a:t>class Test {</a:t>
            </a:r>
            <a:endParaRPr lang="en-US" altLang="x-none" sz="1680" smtClean="0"/>
          </a:p>
          <a:p>
            <a:pPr marL="990600" lvl="1" indent="-533400" fontAlgn="auto">
              <a:lnSpc>
                <a:spcPct val="150000"/>
              </a:lnSpc>
              <a:buSzPct val="90000"/>
              <a:buFont typeface="Arial" panose="020B0604020202020204" pitchFamily="34" charset="0"/>
              <a:buNone/>
            </a:pPr>
            <a:endParaRPr lang="en-US" altLang="x-none" sz="1680" smtClean="0"/>
          </a:p>
          <a:p>
            <a:pPr marL="990600" lvl="1" indent="-533400" fontAlgn="auto">
              <a:lnSpc>
                <a:spcPct val="150000"/>
              </a:lnSpc>
              <a:buSzPct val="90000"/>
              <a:buFont typeface="Arial" panose="020B0604020202020204" pitchFamily="34" charset="0"/>
              <a:buNone/>
            </a:pPr>
            <a:endParaRPr lang="en-US" altLang="x-none" sz="1680" smtClean="0"/>
          </a:p>
          <a:p>
            <a:pPr marL="990600" lvl="1" indent="-533400" fontAlgn="auto">
              <a:lnSpc>
                <a:spcPct val="150000"/>
              </a:lnSpc>
              <a:buSzPct val="90000"/>
              <a:buFont typeface="Arial" panose="020B0604020202020204" pitchFamily="34" charset="0"/>
              <a:buNone/>
            </a:pPr>
            <a:r>
              <a:rPr lang="en-US" altLang="x-none" sz="1680" smtClean="0"/>
              <a:t>}</a:t>
            </a:r>
            <a:endParaRPr lang="en-US" altLang="x-none" sz="1680" smtClean="0"/>
          </a:p>
        </p:txBody>
      </p:sp>
    </p:spTree>
    <p:custDataLst>
      <p:tags r:id="rId3"/>
    </p:custData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p>
            <a:pPr algn="l">
              <a:lnSpc>
                <a:spcPct val="150000"/>
              </a:lnSpc>
            </a:pPr>
            <a:r>
              <a:rPr lang="en-US" sz="2000" smtClean="0"/>
              <a:t>java.util 包括了Java 语言中的一些低级的实用工具，比如：处理时间的Date 类、处理变长数组的 Vector 类、实现栈的 Stack 类和实现杂凑表的HashTable类等，使用它们开发者可以更方便、快捷地编程。</a:t>
            </a:r>
            <a:endParaRPr lang="en-US" sz="2000" smtClean="0"/>
          </a:p>
        </p:txBody>
      </p:sp>
      <p:sp>
        <p:nvSpPr>
          <p:cNvPr id="4" name="标题 3"/>
          <p:cNvSpPr>
            <a:spLocks noGrp="1"/>
          </p:cNvSpPr>
          <p:nvPr>
            <p:ph type="title"/>
          </p:nvPr>
        </p:nvSpPr>
        <p:spPr/>
        <p:txBody>
          <a:bodyPr/>
          <a:p>
            <a:r>
              <a:rPr lang="zh-CN" altLang="en-US"/>
              <a:t>java.util</a:t>
            </a:r>
            <a:endParaRPr lang="zh-CN" altLang="en-US"/>
          </a:p>
        </p:txBody>
      </p:sp>
    </p:spTree>
    <p:custDataLst>
      <p:tags r:id="rId1"/>
    </p:custData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pPr>
              <a:lnSpc>
                <a:spcPct val="110000"/>
              </a:lnSpc>
              <a:buClr>
                <a:srgbClr val="FF0000"/>
              </a:buClr>
            </a:pPr>
            <a:r>
              <a:rPr lang="en-US"/>
              <a:t>java.awt</a:t>
            </a:r>
            <a:endParaRPr lang="en-US"/>
          </a:p>
        </p:txBody>
      </p:sp>
      <p:sp>
        <p:nvSpPr>
          <p:cNvPr id="3" name="内容占位符 2"/>
          <p:cNvSpPr>
            <a:spLocks noGrp="1"/>
          </p:cNvSpPr>
          <p:nvPr>
            <p:ph idx="1"/>
            <p:custDataLst>
              <p:tags r:id="rId2"/>
            </p:custDataLst>
          </p:nvPr>
        </p:nvSpPr>
        <p:spPr/>
        <p:txBody>
          <a:bodyPr>
            <a:normAutofit/>
          </a:bodyPr>
          <a:p>
            <a:pPr algn="l">
              <a:lnSpc>
                <a:spcPct val="150000"/>
              </a:lnSpc>
            </a:pPr>
            <a:r>
              <a:rPr lang="en-US" sz="2400" smtClean="0"/>
              <a:t> java.awt 包是 Java 语言用来构建图形用户界面（GUI）的类库，它包括了许多界面元素和资源，主要在三个方面提供界面设计支持：低级绘图操作、图形界面组件和布局管理以及界面用户交互控制和事件响应。</a:t>
            </a:r>
            <a:endParaRPr lang="en-US" sz="2400" smtClean="0"/>
          </a:p>
          <a:p>
            <a:pPr algn="l">
              <a:lnSpc>
                <a:spcPct val="150000"/>
              </a:lnSpc>
            </a:pPr>
            <a:r>
              <a:rPr lang="en-US" sz="2400" smtClean="0"/>
              <a:t>利用 java.awt 包，开发人员可以很方便地编写出美观、方便、标准化的应用程序界面。</a:t>
            </a:r>
            <a:endParaRPr lang="en-US" sz="2400" smtClean="0"/>
          </a:p>
        </p:txBody>
      </p:sp>
    </p:spTree>
    <p:custDataLst>
      <p:tags r:id="rId3"/>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p>
            <a:pPr>
              <a:lnSpc>
                <a:spcPct val="110000"/>
              </a:lnSpc>
              <a:buClr>
                <a:srgbClr val="FF0000"/>
              </a:buClr>
            </a:pPr>
            <a:r>
              <a:rPr lang="en-US"/>
              <a:t>java.io</a:t>
            </a:r>
            <a:endParaRPr lang="en-US"/>
          </a:p>
        </p:txBody>
      </p:sp>
      <p:sp>
        <p:nvSpPr>
          <p:cNvPr id="3" name="内容占位符 2"/>
          <p:cNvSpPr>
            <a:spLocks noGrp="1"/>
          </p:cNvSpPr>
          <p:nvPr>
            <p:ph idx="1"/>
            <p:custDataLst>
              <p:tags r:id="rId2"/>
            </p:custDataLst>
          </p:nvPr>
        </p:nvSpPr>
        <p:spPr>
          <a:xfrm>
            <a:off x="495300" y="1408113"/>
            <a:ext cx="9721850" cy="4751387"/>
          </a:xfrm>
        </p:spPr>
        <p:txBody>
          <a:bodyPr>
            <a:normAutofit/>
          </a:bodyPr>
          <a:p>
            <a:pPr>
              <a:lnSpc>
                <a:spcPct val="150000"/>
              </a:lnSpc>
            </a:pPr>
            <a:r>
              <a:rPr lang="en-US" sz="2000" smtClean="0"/>
              <a:t>java.io </a:t>
            </a:r>
            <a:r>
              <a:rPr lang="zh-CN" altLang="en-US" sz="2000" smtClean="0"/>
              <a:t>包是</a:t>
            </a:r>
            <a:r>
              <a:rPr lang="en-US" sz="2000" smtClean="0"/>
              <a:t>Java</a:t>
            </a:r>
            <a:r>
              <a:rPr lang="zh-CN" altLang="en-US" sz="2000" smtClean="0"/>
              <a:t>语言的标准输入输出类库，包含了实现 </a:t>
            </a:r>
            <a:r>
              <a:rPr lang="en-US" sz="2000" smtClean="0"/>
              <a:t>Java </a:t>
            </a:r>
            <a:r>
              <a:rPr lang="zh-CN" altLang="en-US" sz="2000" smtClean="0"/>
              <a:t>程序与操作系统、用户界面以及其他 </a:t>
            </a:r>
            <a:r>
              <a:rPr lang="en-US" sz="2000" smtClean="0"/>
              <a:t>java </a:t>
            </a:r>
            <a:r>
              <a:rPr lang="zh-CN" altLang="en-US" sz="2000" smtClean="0"/>
              <a:t>程序做数据交互所使用的类，如基本输入输出流、文件输入输出流等。凡是需要完成与操作系统有关的较底层的输入输出操作的</a:t>
            </a:r>
            <a:r>
              <a:rPr lang="en-US" sz="2000" smtClean="0"/>
              <a:t>Java</a:t>
            </a:r>
            <a:r>
              <a:rPr lang="zh-CN" altLang="en-US" sz="2000" smtClean="0"/>
              <a:t>程序，都应该在程序中引入</a:t>
            </a:r>
            <a:r>
              <a:rPr lang="en-US" sz="2000" smtClean="0"/>
              <a:t>java.io</a:t>
            </a:r>
            <a:r>
              <a:rPr lang="zh-CN" altLang="en-US" sz="2000" smtClean="0"/>
              <a:t>包。</a:t>
            </a:r>
            <a:endParaRPr lang="zh-CN" altLang="en-US" sz="2000" smtClean="0"/>
          </a:p>
        </p:txBody>
      </p:sp>
    </p:spTree>
    <p:custDataLst>
      <p:tags r:id="rId3"/>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zh-CN" altLang="en-US"/>
              <a:t>java.net</a:t>
            </a:r>
            <a:endParaRPr lang="zh-CN" altLang="en-US"/>
          </a:p>
        </p:txBody>
      </p:sp>
      <p:sp>
        <p:nvSpPr>
          <p:cNvPr id="6" name="内容占位符 5"/>
          <p:cNvSpPr>
            <a:spLocks noGrp="1"/>
          </p:cNvSpPr>
          <p:nvPr>
            <p:ph idx="1"/>
          </p:nvPr>
        </p:nvSpPr>
        <p:spPr/>
        <p:txBody>
          <a:bodyPr/>
          <a:p>
            <a:pPr algn="l">
              <a:lnSpc>
                <a:spcPct val="150000"/>
              </a:lnSpc>
            </a:pPr>
            <a:r>
              <a:rPr lang="en-US" sz="2000" smtClean="0"/>
              <a:t> java.net 包是 Java 语言用来实现网络功能的类库。包含底层的网络通信；编写用户自己的Telnet、FTP、邮件服务等实现网上通信的类。</a:t>
            </a:r>
            <a:endParaRPr lang="en-US" sz="2000" smtClean="0"/>
          </a:p>
        </p:txBody>
      </p:sp>
      <p:sp>
        <p:nvSpPr>
          <p:cNvPr id="3" name="文本框 2"/>
          <p:cNvSpPr txBox="1"/>
          <p:nvPr>
            <p:custDataLst>
              <p:tags r:id="rId1"/>
            </p:custDataLst>
          </p:nvPr>
        </p:nvSpPr>
        <p:spPr>
          <a:xfrm>
            <a:off x="988622" y="3598088"/>
            <a:ext cx="8915614" cy="842468"/>
          </a:xfrm>
          <a:prstGeom prst="rect">
            <a:avLst/>
          </a:prstGeom>
        </p:spPr>
        <p:txBody>
          <a:bodyPr vert="horz" lIns="72008" tIns="36004" rIns="72008" bIns="36004" rtlCol="0">
            <a:normAutofit/>
          </a:bodyPr>
          <a:lstStyle>
            <a:defPPr>
              <a:defRPr lang="zh-CN"/>
            </a:defPPr>
            <a:lvl1pPr marR="0" lvl="0" indent="0" eaLnBrk="0" fontAlgn="base" hangingPunct="0">
              <a:lnSpc>
                <a:spcPct val="100000"/>
              </a:lnSpc>
              <a:spcBef>
                <a:spcPct val="0"/>
              </a:spcBef>
              <a:spcAft>
                <a:spcPct val="0"/>
              </a:spcAft>
              <a:buClrTx/>
              <a:buSzTx/>
              <a:buFont typeface="Arial" panose="020B0604020202020204" pitchFamily="34" charset="0"/>
              <a:buNone/>
              <a:defRPr kumimoji="0" sz="3600" b="0" i="0" u="none" strike="noStrike" cap="none" spc="0" normalizeH="0" baseline="0">
                <a:ln>
                  <a:noFill/>
                </a:ln>
                <a:effectLst/>
                <a:uLnTx/>
                <a:uFillTx/>
                <a:latin typeface="Calibri" panose="020F0502020204030204" pitchFamily="34" charset="0"/>
                <a:ea typeface="微软雅黑" panose="020B0503020204020204" pitchFamily="34" charset="-122"/>
              </a:defRPr>
            </a:lvl1pPr>
            <a:lvl2pPr marL="685800" indent="-228600">
              <a:lnSpc>
                <a:spcPct val="90000"/>
              </a:lnSpc>
              <a:spcBef>
                <a:spcPts val="500"/>
              </a:spcBef>
              <a:buFont typeface="Arial" panose="020B0604020202020204" pitchFamily="34" charset="0"/>
              <a:buChar char="•"/>
              <a:defRPr sz="2000">
                <a:solidFill>
                  <a:schemeClr val="bg1">
                    <a:lumMod val="85000"/>
                  </a:schemeClr>
                </a:solidFill>
              </a:defRPr>
            </a:lvl2pPr>
            <a:lvl3pPr marL="1143000" indent="-228600">
              <a:lnSpc>
                <a:spcPct val="90000"/>
              </a:lnSpc>
              <a:spcBef>
                <a:spcPts val="500"/>
              </a:spcBef>
              <a:buFont typeface="Arial" panose="020B0604020202020204" pitchFamily="34" charset="0"/>
              <a:buChar char="•"/>
              <a:defRPr>
                <a:solidFill>
                  <a:schemeClr val="bg1">
                    <a:lumMod val="85000"/>
                  </a:schemeClr>
                </a:solidFill>
              </a:defRPr>
            </a:lvl3pPr>
            <a:lvl4pPr marL="1600200" indent="-228600">
              <a:lnSpc>
                <a:spcPct val="90000"/>
              </a:lnSpc>
              <a:spcBef>
                <a:spcPts val="500"/>
              </a:spcBef>
              <a:buFont typeface="Arial" panose="020B0604020202020204" pitchFamily="34" charset="0"/>
              <a:buChar char="•"/>
              <a:defRPr>
                <a:solidFill>
                  <a:schemeClr val="bg1">
                    <a:lumMod val="85000"/>
                  </a:schemeClr>
                </a:solidFill>
              </a:defRPr>
            </a:lvl4pPr>
            <a:lvl5pPr marL="2057400" indent="-228600">
              <a:lnSpc>
                <a:spcPct val="90000"/>
              </a:lnSpc>
              <a:spcBef>
                <a:spcPts val="500"/>
              </a:spcBef>
              <a:buFont typeface="Arial" panose="020B0604020202020204" pitchFamily="34" charset="0"/>
              <a:buChar char="•"/>
              <a:defRPr>
                <a:solidFill>
                  <a:schemeClr val="bg1">
                    <a:lumMod val="85000"/>
                  </a:schemeClr>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50000"/>
              </a:lnSpc>
              <a:buFont typeface="Wingdings" panose="05000000000000000000" pitchFamily="2" charset="2"/>
              <a:buChar char=" "/>
            </a:pPr>
            <a:r>
              <a:rPr lang="en-US" sz="1680">
                <a:latin typeface="+mn-lt"/>
                <a:ea typeface="+mn-ea"/>
              </a:rPr>
              <a:t>       </a:t>
            </a:r>
            <a:endParaRPr lang="zh-CN" altLang="en-US" sz="1680">
              <a:latin typeface="+mn-lt"/>
              <a:ea typeface="+mn-ea"/>
            </a:endParaRPr>
          </a:p>
        </p:txBody>
      </p:sp>
    </p:spTree>
    <p:custDataLst>
      <p:tags r:id="rId2"/>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内容占位符 4"/>
          <p:cNvSpPr>
            <a:spLocks noGrp="1"/>
          </p:cNvSpPr>
          <p:nvPr>
            <p:ph idx="1"/>
            <p:custDataLst>
              <p:tags r:id="rId1"/>
            </p:custDataLst>
          </p:nvPr>
        </p:nvSpPr>
        <p:spPr/>
        <p:txBody>
          <a:bodyPr>
            <a:normAutofit/>
          </a:bodyPr>
          <a:lstStyle/>
          <a:p>
            <a:pPr algn="l">
              <a:lnSpc>
                <a:spcPct val="150000"/>
              </a:lnSpc>
              <a:buClr>
                <a:srgbClr val="000000"/>
              </a:buClr>
              <a:buSzTx/>
              <a:buChar char="•"/>
            </a:pPr>
            <a:r>
              <a:rPr lang="zh-CN" altLang="en-US" sz="2800" smtClean="0"/>
              <a:t>类的继承</a:t>
            </a:r>
            <a:endParaRPr lang="zh-CN" altLang="en-US" sz="2800" smtClean="0"/>
          </a:p>
          <a:p>
            <a:pPr marL="742950" lvl="1" indent="-285750">
              <a:lnSpc>
                <a:spcPct val="150000"/>
              </a:lnSpc>
              <a:buFont typeface="Wingdings" panose="05000000000000000000" pitchFamily="2" charset="2"/>
              <a:buChar char="l"/>
            </a:pPr>
            <a:r>
              <a:rPr lang="zh-CN" altLang="en-US" sz="1470" smtClean="0"/>
              <a:t>重写</a:t>
            </a:r>
            <a:r>
              <a:rPr lang="en-US" sz="1470" smtClean="0">
                <a:ea typeface="黑体" panose="02010609060101010101" pitchFamily="49" charset="-122"/>
              </a:rPr>
              <a:t>: </a:t>
            </a:r>
            <a:r>
              <a:rPr lang="zh-CN" altLang="en-US" sz="1470" smtClean="0"/>
              <a:t>子类和父类的方法名、返回类型和参数相同，与重载</a:t>
            </a:r>
            <a:r>
              <a:rPr lang="en-US" sz="1470" smtClean="0">
                <a:ea typeface="黑体" panose="02010609060101010101" pitchFamily="49" charset="-122"/>
              </a:rPr>
              <a:t>(overload)</a:t>
            </a:r>
            <a:r>
              <a:rPr lang="zh-CN" altLang="en-US" sz="1470" smtClean="0"/>
              <a:t>的区别</a:t>
            </a:r>
            <a:endParaRPr lang="zh-CN" altLang="en-US" sz="1470" smtClean="0"/>
          </a:p>
          <a:p>
            <a:pPr marL="742950" lvl="1" indent="-285750">
              <a:lnSpc>
                <a:spcPct val="150000"/>
              </a:lnSpc>
              <a:buFont typeface="Wingdings" panose="05000000000000000000" pitchFamily="2" charset="2"/>
              <a:buChar char="l"/>
            </a:pPr>
            <a:r>
              <a:rPr lang="zh-CN" altLang="en-US" sz="1470" smtClean="0"/>
              <a:t>如果是实例方法，则称为子类重写</a:t>
            </a:r>
            <a:r>
              <a:rPr lang="en-US" sz="1470" smtClean="0">
                <a:ea typeface="黑体" panose="02010609060101010101" pitchFamily="49" charset="-122"/>
              </a:rPr>
              <a:t>(overriding)</a:t>
            </a:r>
            <a:r>
              <a:rPr lang="zh-CN" altLang="en-US" sz="1470" smtClean="0"/>
              <a:t>父类的实例方法</a:t>
            </a:r>
            <a:endParaRPr lang="zh-CN" altLang="en-US" sz="1470" smtClean="0"/>
          </a:p>
          <a:p>
            <a:pPr marL="742950" lvl="1" indent="-285750">
              <a:lnSpc>
                <a:spcPct val="150000"/>
              </a:lnSpc>
              <a:buFont typeface="Wingdings" panose="05000000000000000000" pitchFamily="2" charset="2"/>
              <a:buChar char="l"/>
            </a:pPr>
            <a:r>
              <a:rPr lang="zh-CN" altLang="en-US" sz="1470" smtClean="0"/>
              <a:t>如果是类方法，则称为子类隐藏父类的类方法</a:t>
            </a:r>
            <a:r>
              <a:rPr lang="en-US" sz="1470" smtClean="0">
                <a:ea typeface="黑体" panose="02010609060101010101" pitchFamily="49" charset="-122"/>
              </a:rPr>
              <a:t>(static)</a:t>
            </a:r>
            <a:endParaRPr lang="en-US" sz="1470" smtClean="0">
              <a:ea typeface="黑体" panose="02010609060101010101" pitchFamily="49" charset="-122"/>
            </a:endParaRPr>
          </a:p>
          <a:p>
            <a:pPr marL="742950" lvl="1" indent="-285750">
              <a:lnSpc>
                <a:spcPct val="150000"/>
              </a:lnSpc>
              <a:buFont typeface="Wingdings" panose="05000000000000000000" pitchFamily="2" charset="2"/>
              <a:buChar char="l"/>
            </a:pPr>
            <a:r>
              <a:rPr lang="zh-CN" altLang="en-US" sz="1470" smtClean="0"/>
              <a:t>实例方法不能重写静态方法</a:t>
            </a:r>
            <a:endParaRPr lang="zh-CN" altLang="en-US" sz="1470" smtClean="0"/>
          </a:p>
          <a:p>
            <a:pPr marL="742950" lvl="1" indent="-285750">
              <a:lnSpc>
                <a:spcPct val="150000"/>
              </a:lnSpc>
              <a:buFont typeface="Wingdings" panose="05000000000000000000" pitchFamily="2" charset="2"/>
              <a:buChar char="l"/>
            </a:pPr>
            <a:r>
              <a:rPr lang="zh-CN" altLang="en-US" sz="1470" smtClean="0"/>
              <a:t>静态方法不能重写实例方法</a:t>
            </a:r>
            <a:endParaRPr lang="zh-CN" altLang="en-US" sz="1470" smtClean="0"/>
          </a:p>
          <a:p>
            <a:pPr marL="742950" lvl="1" indent="-285750">
              <a:lnSpc>
                <a:spcPct val="150000"/>
              </a:lnSpc>
              <a:buFont typeface="Wingdings" panose="05000000000000000000" pitchFamily="2" charset="2"/>
              <a:buChar char="l"/>
            </a:pPr>
            <a:r>
              <a:rPr lang="en-US" sz="1470" smtClean="0">
                <a:ea typeface="黑体" panose="02010609060101010101" pitchFamily="49" charset="-122"/>
              </a:rPr>
              <a:t>final/private</a:t>
            </a:r>
            <a:r>
              <a:rPr lang="zh-CN" altLang="en-US" sz="1470" smtClean="0"/>
              <a:t>方法不能被重写或隐藏</a:t>
            </a:r>
            <a:endParaRPr lang="zh-CN" altLang="en-US" sz="1470" smtClean="0"/>
          </a:p>
          <a:p>
            <a:pPr marL="742950" lvl="1" indent="-285750">
              <a:lnSpc>
                <a:spcPct val="150000"/>
              </a:lnSpc>
              <a:buFont typeface="Wingdings" panose="05000000000000000000" pitchFamily="2" charset="2"/>
              <a:buChar char="l"/>
            </a:pPr>
            <a:endParaRPr lang="zh-CN" altLang="en-US" sz="1470" smtClean="0"/>
          </a:p>
          <a:p>
            <a:pPr marL="742950" lvl="1" indent="-285750">
              <a:lnSpc>
                <a:spcPct val="150000"/>
              </a:lnSpc>
              <a:buSzPct val="90000"/>
              <a:buFont typeface="Arial" panose="020B0604020202020204" pitchFamily="34" charset="0"/>
              <a:buNone/>
            </a:pPr>
            <a:r>
              <a:rPr lang="zh-CN" altLang="en-US" sz="1470" smtClean="0"/>
              <a:t>注</a:t>
            </a:r>
            <a:r>
              <a:rPr lang="en-US" sz="1470" smtClean="0">
                <a:ea typeface="黑体" panose="02010609060101010101" pitchFamily="49" charset="-122"/>
              </a:rPr>
              <a:t>: </a:t>
            </a:r>
            <a:r>
              <a:rPr lang="zh-CN" altLang="en-US" sz="1470" smtClean="0"/>
              <a:t>实例变量可隐藏静态变量</a:t>
            </a:r>
            <a:endParaRPr lang="zh-CN" altLang="en-US" sz="1470" smtClean="0"/>
          </a:p>
          <a:p>
            <a:pPr marL="742950" lvl="1" indent="-285750">
              <a:lnSpc>
                <a:spcPct val="150000"/>
              </a:lnSpc>
              <a:buSzPct val="90000"/>
              <a:buFont typeface="Arial" panose="020B0604020202020204" pitchFamily="34" charset="0"/>
              <a:buNone/>
            </a:pPr>
            <a:r>
              <a:rPr lang="zh-CN" altLang="en-US" sz="1470" smtClean="0"/>
              <a:t>     静态变量可隐藏实例变量</a:t>
            </a:r>
            <a:endParaRPr lang="zh-CN" altLang="en-US" sz="1470" smtClean="0"/>
          </a:p>
        </p:txBody>
      </p:sp>
      <p:sp>
        <p:nvSpPr>
          <p:cNvPr id="4" name="灯片编号占位符 3"/>
          <p:cNvSpPr>
            <a:spLocks noGrp="1"/>
          </p:cNvSpPr>
          <p:nvPr>
            <p:ph type="sldNum" sz="quarter" idx="4"/>
          </p:nvPr>
        </p:nvSpPr>
        <p:spPr/>
        <p:txBody>
          <a:bodyPr/>
          <a:lstStyle/>
          <a:p>
            <a:fld id="{867B71AD-0BA6-46D9-B268-34BAC4FC12D3}" type="slidenum">
              <a:rPr lang="zh-CN" altLang="en-US" sz="1470" dirty="0"/>
            </a:fld>
            <a:endParaRPr lang="zh-CN" altLang="en-US" sz="1470" dirty="0"/>
          </a:p>
        </p:txBody>
      </p:sp>
      <p:sp>
        <p:nvSpPr>
          <p:cNvPr id="113668" name="标题 2"/>
          <p:cNvSpPr>
            <a:spLocks noGrp="1" noChangeArrowheads="1"/>
          </p:cNvSpPr>
          <p:nvPr>
            <p:ph type="title"/>
            <p:custDataLst>
              <p:tags r:id="rId2"/>
            </p:custDataLst>
          </p:nvPr>
        </p:nvSpPr>
        <p:spPr/>
        <p:txBody>
          <a:bodyPr/>
          <a:lstStyle/>
          <a:p>
            <a:r>
              <a:rPr lang="zh-CN" altLang="en-US" smtClean="0"/>
              <a:t>小结</a:t>
            </a:r>
            <a:r>
              <a:rPr lang="en-US" smtClean="0">
                <a:ea typeface="黑体" panose="02010609060101010101" pitchFamily="49" charset="-122"/>
              </a:rPr>
              <a:t>(1)</a:t>
            </a:r>
            <a:endParaRPr lang="en-US" smtClean="0">
              <a:ea typeface="黑体" panose="02010609060101010101" pitchFamily="49" charset="-122"/>
            </a:endParaRPr>
          </a:p>
        </p:txBody>
      </p:sp>
    </p:spTree>
    <p:custDataLst>
      <p:tags r:id="rId3"/>
    </p:custData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111617"/>
          <p:cNvSpPr>
            <a:spLocks noGrp="1" noChangeArrowheads="1"/>
          </p:cNvSpPr>
          <p:nvPr>
            <p:ph type="title"/>
          </p:nvPr>
        </p:nvSpPr>
        <p:spPr/>
        <p:txBody>
          <a:bodyPr/>
          <a:lstStyle/>
          <a:p>
            <a:r>
              <a:rPr lang="zh-CN" altLang="en-US" smtClean="0"/>
              <a:t>小结</a:t>
            </a:r>
            <a:r>
              <a:rPr lang="en-US" smtClean="0">
                <a:ea typeface="黑体" panose="02010609060101010101" pitchFamily="49" charset="-122"/>
              </a:rPr>
              <a:t>(2)</a:t>
            </a:r>
            <a:endParaRPr lang="zh-CN" altLang="en-US" smtClean="0"/>
          </a:p>
        </p:txBody>
      </p:sp>
      <p:sp>
        <p:nvSpPr>
          <p:cNvPr id="114690" name="文本占位符 111618"/>
          <p:cNvSpPr>
            <a:spLocks noGrp="1" noChangeArrowheads="1"/>
          </p:cNvSpPr>
          <p:nvPr>
            <p:ph type="body" sz="half" idx="4294967295"/>
          </p:nvPr>
        </p:nvSpPr>
        <p:spPr>
          <a:xfrm>
            <a:off x="0" y="1680210"/>
            <a:ext cx="4083685" cy="4640580"/>
          </a:xfrm>
        </p:spPr>
        <p:txBody>
          <a:bodyPr/>
          <a:lstStyle/>
          <a:p>
            <a:r>
              <a:rPr lang="zh-CN" altLang="en-US" sz="2940" smtClean="0"/>
              <a:t>高级访问控制总结</a:t>
            </a:r>
            <a:endParaRPr lang="zh-CN" altLang="en-US" sz="2940" smtClean="0"/>
          </a:p>
        </p:txBody>
      </p:sp>
      <p:graphicFrame>
        <p:nvGraphicFramePr>
          <p:cNvPr id="111620" name="内容占位符 111619"/>
          <p:cNvGraphicFramePr>
            <a:graphicFrameLocks noGrp="1"/>
          </p:cNvGraphicFramePr>
          <p:nvPr>
            <p:ph idx="1"/>
          </p:nvPr>
        </p:nvGraphicFramePr>
        <p:xfrm>
          <a:off x="495300" y="1395413"/>
          <a:ext cx="9721850" cy="3575050"/>
        </p:xfrm>
        <a:graphic>
          <a:graphicData uri="http://schemas.openxmlformats.org/drawingml/2006/table">
            <a:tbl>
              <a:tblPr/>
              <a:tblGrid>
                <a:gridCol w="2432050"/>
                <a:gridCol w="1709420"/>
                <a:gridCol w="1798955"/>
                <a:gridCol w="1980565"/>
                <a:gridCol w="1800860"/>
              </a:tblGrid>
              <a:tr h="951865">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100">
                          <a:latin typeface="宋体" panose="02010600030101010101" pitchFamily="2" charset="-122"/>
                        </a:rPr>
                        <a:t>访问控制</a:t>
                      </a:r>
                      <a:endParaRPr lang="zh-CN" altLang="en-US" sz="2100">
                        <a:latin typeface="宋体" panose="02010600030101010101" pitchFamily="2" charset="-122"/>
                      </a:endParaRPr>
                    </a:p>
                  </a:txBody>
                  <a:tcPr marL="94499" marR="94499" marT="49154" marB="49154"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CCFF">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x-none" sz="2100" dirty="0"/>
                        <a:t>private</a:t>
                      </a:r>
                      <a:r>
                        <a:rPr lang="zh-CN" altLang="en-US" sz="2100" dirty="0">
                          <a:latin typeface="宋体" panose="02010600030101010101" pitchFamily="2" charset="-122"/>
                        </a:rPr>
                        <a:t>成员</a:t>
                      </a:r>
                      <a:endParaRPr lang="zh-CN" altLang="en-US" sz="2100" dirty="0">
                        <a:latin typeface="宋体" panose="02010600030101010101" pitchFamily="2" charset="-12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CCFF">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100">
                          <a:latin typeface="宋体" panose="02010600030101010101" pitchFamily="2" charset="-122"/>
                        </a:rPr>
                        <a:t>缺省的成员</a:t>
                      </a:r>
                      <a:endParaRPr lang="zh-CN" altLang="en-US" sz="2100">
                        <a:latin typeface="宋体" panose="02010600030101010101" pitchFamily="2" charset="-12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CCFF">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x-none" sz="2100" dirty="0"/>
                        <a:t>protected</a:t>
                      </a:r>
                      <a:r>
                        <a:rPr lang="zh-CN" altLang="en-US" sz="2100" dirty="0">
                          <a:latin typeface="宋体" panose="02010600030101010101" pitchFamily="2" charset="-122"/>
                        </a:rPr>
                        <a:t>成员</a:t>
                      </a:r>
                      <a:endParaRPr lang="zh-CN" altLang="en-US" sz="2100" dirty="0">
                        <a:latin typeface="宋体" panose="02010600030101010101" pitchFamily="2" charset="-12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CCFF">
                        <a:alpha val="100000"/>
                      </a:srgbClr>
                    </a:solid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x-none" sz="2100" dirty="0"/>
                        <a:t>public</a:t>
                      </a:r>
                      <a:r>
                        <a:rPr lang="zh-CN" altLang="en-US" sz="2100" dirty="0">
                          <a:latin typeface="宋体" panose="02010600030101010101" pitchFamily="2" charset="-122"/>
                        </a:rPr>
                        <a:t>成员</a:t>
                      </a:r>
                      <a:endParaRPr lang="zh-CN" altLang="en-US" sz="2100" dirty="0">
                        <a:latin typeface="宋体" panose="02010600030101010101" pitchFamily="2" charset="-122"/>
                      </a:endParaRPr>
                    </a:p>
                  </a:txBody>
                  <a:tcPr marL="94499" marR="94499" marT="49154" marB="49154"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99CCFF">
                        <a:alpha val="100000"/>
                      </a:srgbClr>
                    </a:solidFill>
                  </a:tcPr>
                </a:tc>
              </a:tr>
              <a:tr h="621030">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100">
                          <a:latin typeface="宋体" panose="02010600030101010101" pitchFamily="2" charset="-122"/>
                        </a:rPr>
                        <a:t>同一类中成员</a:t>
                      </a:r>
                      <a:endParaRPr lang="zh-CN" altLang="en-US" sz="2100">
                        <a:latin typeface="宋体" panose="02010600030101010101" pitchFamily="2" charset="-122"/>
                      </a:endParaRPr>
                    </a:p>
                  </a:txBody>
                  <a:tcPr marL="94499" marR="94499" marT="49154" marB="49154"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55015">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100">
                          <a:latin typeface="宋体" panose="02010600030101010101" pitchFamily="2" charset="-122"/>
                        </a:rPr>
                        <a:t>同一包中其他类</a:t>
                      </a:r>
                      <a:endParaRPr lang="zh-CN" altLang="en-US" sz="2100">
                        <a:latin typeface="宋体" panose="02010600030101010101" pitchFamily="2" charset="-122"/>
                      </a:endParaRPr>
                    </a:p>
                  </a:txBody>
                  <a:tcPr marL="94499" marR="94499" marT="49154" marB="49154"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t>×</a:t>
                      </a:r>
                      <a:endParaRPr lang="zh-CN" altLang="en-US" sz="2520"/>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2125">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100">
                          <a:latin typeface="宋体" panose="02010600030101010101" pitchFamily="2" charset="-122"/>
                        </a:rPr>
                        <a:t>不同包中子类 </a:t>
                      </a:r>
                      <a:endParaRPr lang="zh-CN" altLang="en-US" sz="2100">
                        <a:latin typeface="宋体" panose="02010600030101010101" pitchFamily="2" charset="-122"/>
                      </a:endParaRPr>
                    </a:p>
                  </a:txBody>
                  <a:tcPr marL="94499" marR="94499" marT="49154" marB="49154"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t>×</a:t>
                      </a:r>
                      <a:endParaRPr lang="zh-CN" altLang="en-US" sz="2520"/>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t>×</a:t>
                      </a:r>
                      <a:endParaRPr lang="zh-CN" altLang="en-US" sz="2520"/>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55015">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100">
                          <a:latin typeface="宋体" panose="02010600030101010101" pitchFamily="2" charset="-122"/>
                        </a:rPr>
                        <a:t>不同包中非子类 </a:t>
                      </a:r>
                      <a:endParaRPr lang="zh-CN" altLang="en-US" sz="2100">
                        <a:latin typeface="宋体" panose="02010600030101010101" pitchFamily="2" charset="-122"/>
                      </a:endParaRPr>
                    </a:p>
                  </a:txBody>
                  <a:tcPr marL="94499" marR="94499" marT="49154" marB="49154"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t>×</a:t>
                      </a:r>
                      <a:endParaRPr lang="zh-CN" altLang="en-US" sz="2520"/>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t>×</a:t>
                      </a:r>
                      <a:endParaRPr lang="zh-CN" altLang="en-US" sz="2520"/>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t>×</a:t>
                      </a:r>
                      <a:endParaRPr lang="zh-CN" altLang="en-US" sz="2520"/>
                    </a:p>
                  </a:txBody>
                  <a:tcPr marL="94499" marR="94499" marT="49154" marB="49154"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520">
                          <a:sym typeface="Symbol" panose="05050102010706020507" pitchFamily="2" charset="2"/>
                        </a:rPr>
                        <a:t></a:t>
                      </a:r>
                      <a:endParaRPr lang="zh-CN" altLang="en-US" sz="2520">
                        <a:sym typeface="Symbol" panose="05050102010706020507" pitchFamily="2" charset="2"/>
                      </a:endParaRPr>
                    </a:p>
                  </a:txBody>
                  <a:tcPr marL="94499" marR="94499" marT="49154" marB="49154"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 name="灯片编号占位符 1"/>
          <p:cNvSpPr>
            <a:spLocks noGrp="1"/>
          </p:cNvSpPr>
          <p:nvPr>
            <p:ph type="sldNum" sz="quarter" idx="4"/>
          </p:nvPr>
        </p:nvSpPr>
        <p:spPr/>
        <p:txBody>
          <a:bodyPr/>
          <a:lstStyle/>
          <a:p>
            <a:fld id="{8BE01215-4828-4524-979C-D6EB67B72D37}" type="slidenum">
              <a:rPr lang="zh-CN" altLang="en-US" sz="1470" dirty="0"/>
            </a:fld>
            <a:endParaRPr lang="zh-CN" altLang="en-US" sz="1470" dirty="0"/>
          </a:p>
        </p:txBody>
      </p:sp>
    </p:spTree>
    <p:custDataLst>
      <p:tags r:id="rId1"/>
    </p:custData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custDataLst>
              <p:tags r:id="rId1"/>
            </p:custDataLst>
          </p:nvPr>
        </p:nvSpPr>
        <p:spPr/>
        <p:txBody>
          <a:bodyPr>
            <a:normAutofit/>
          </a:bodyPr>
          <a:lstStyle/>
          <a:p>
            <a:pPr algn="l">
              <a:lnSpc>
                <a:spcPct val="150000"/>
              </a:lnSpc>
              <a:spcBef>
                <a:spcPct val="20000"/>
              </a:spcBef>
              <a:buClr>
                <a:srgbClr val="000000"/>
              </a:buClr>
              <a:buSzTx/>
              <a:buChar char="•"/>
            </a:pPr>
            <a:r>
              <a:rPr lang="zh-CN" altLang="en-US" sz="2800" smtClean="0"/>
              <a:t>封装性</a:t>
            </a:r>
            <a:endParaRPr lang="zh-CN" altLang="en-US" sz="2800" smtClean="0"/>
          </a:p>
          <a:p>
            <a:pPr marL="742950" lvl="1" indent="-285750">
              <a:lnSpc>
                <a:spcPct val="150000"/>
              </a:lnSpc>
              <a:spcBef>
                <a:spcPct val="25000"/>
              </a:spcBef>
              <a:buFont typeface="Wingdings" panose="05000000000000000000" pitchFamily="2" charset="2"/>
              <a:buChar char="l"/>
            </a:pPr>
            <a:r>
              <a:rPr lang="zh-CN" altLang="en-US" sz="1470" smtClean="0"/>
              <a:t>对象就是对一组变量和相关方法的封装，其中变量表明了对象的状态，方法表明了对象具有的行为。通过对象的封装，实现了模块化和信息隐藏。通过对类的成员施以一定的访问权限，实现了类中成员的信息隐藏。</a:t>
            </a:r>
            <a:endParaRPr lang="zh-CN" altLang="en-US" sz="1470" smtClean="0"/>
          </a:p>
          <a:p>
            <a:pPr algn="l">
              <a:lnSpc>
                <a:spcPct val="150000"/>
              </a:lnSpc>
              <a:spcBef>
                <a:spcPct val="20000"/>
              </a:spcBef>
              <a:buClr>
                <a:srgbClr val="000000"/>
              </a:buClr>
              <a:buSzTx/>
              <a:buChar char="•"/>
            </a:pPr>
            <a:r>
              <a:rPr lang="zh-CN" altLang="en-US" sz="2800" smtClean="0"/>
              <a:t>继承性</a:t>
            </a:r>
            <a:endParaRPr lang="zh-CN" altLang="en-US" sz="2800" smtClean="0"/>
          </a:p>
          <a:p>
            <a:pPr marL="742950" lvl="1" indent="-285750">
              <a:lnSpc>
                <a:spcPct val="150000"/>
              </a:lnSpc>
              <a:spcBef>
                <a:spcPct val="25000"/>
              </a:spcBef>
              <a:buFont typeface="Wingdings" panose="05000000000000000000" pitchFamily="2" charset="2"/>
              <a:buChar char="l"/>
            </a:pPr>
            <a:r>
              <a:rPr lang="zh-CN" altLang="en-US" sz="1470" smtClean="0"/>
              <a:t>通过继承实现代码复用。</a:t>
            </a:r>
            <a:r>
              <a:rPr lang="en-US" sz="1470" smtClean="0">
                <a:ea typeface="黑体" panose="02010609060101010101" pitchFamily="49" charset="-122"/>
              </a:rPr>
              <a:t>Java</a:t>
            </a:r>
            <a:r>
              <a:rPr lang="zh-CN" altLang="en-US" sz="1470" smtClean="0"/>
              <a:t>中所有的类都是通过直接或间接地继承</a:t>
            </a:r>
            <a:r>
              <a:rPr lang="en-US" sz="1470" smtClean="0">
                <a:ea typeface="黑体" panose="02010609060101010101" pitchFamily="49" charset="-122"/>
              </a:rPr>
              <a:t>Object</a:t>
            </a:r>
            <a:r>
              <a:rPr lang="zh-CN" altLang="en-US" sz="1470" smtClean="0"/>
              <a:t>类得到的。</a:t>
            </a:r>
            <a:endParaRPr lang="zh-CN" altLang="en-US" sz="1470" smtClean="0"/>
          </a:p>
          <a:p>
            <a:pPr marL="742950" lvl="1" indent="-285750">
              <a:lnSpc>
                <a:spcPct val="150000"/>
              </a:lnSpc>
              <a:spcBef>
                <a:spcPct val="25000"/>
              </a:spcBef>
              <a:buFont typeface="Wingdings" panose="05000000000000000000" pitchFamily="2" charset="2"/>
              <a:buChar char="l"/>
            </a:pPr>
            <a:r>
              <a:rPr lang="zh-CN" altLang="en-US" sz="1470" smtClean="0"/>
              <a:t>继承而得到的类称为子类，被继承的类称为父类。</a:t>
            </a:r>
            <a:endParaRPr lang="zh-CN" altLang="en-US" sz="1470" smtClean="0"/>
          </a:p>
          <a:p>
            <a:pPr marL="742950" lvl="1" indent="-285750">
              <a:lnSpc>
                <a:spcPct val="150000"/>
              </a:lnSpc>
              <a:spcBef>
                <a:spcPct val="25000"/>
              </a:spcBef>
              <a:buFont typeface="Wingdings" panose="05000000000000000000" pitchFamily="2" charset="2"/>
              <a:buChar char="l"/>
            </a:pPr>
            <a:r>
              <a:rPr lang="zh-CN" altLang="en-US" sz="1470" smtClean="0"/>
              <a:t>子类可以重写父类方法及命名与父类同名的成员变量。</a:t>
            </a:r>
            <a:endParaRPr lang="zh-CN" altLang="en-US" sz="1470" smtClean="0"/>
          </a:p>
          <a:p>
            <a:pPr marL="742950" lvl="1" indent="-285750">
              <a:lnSpc>
                <a:spcPct val="150000"/>
              </a:lnSpc>
              <a:spcBef>
                <a:spcPct val="25000"/>
              </a:spcBef>
              <a:buFont typeface="Wingdings" panose="05000000000000000000" pitchFamily="2" charset="2"/>
              <a:buChar char="l"/>
            </a:pPr>
            <a:r>
              <a:rPr lang="en-US" sz="1470" smtClean="0">
                <a:ea typeface="黑体" panose="02010609060101010101" pitchFamily="49" charset="-122"/>
              </a:rPr>
              <a:t>Java</a:t>
            </a:r>
            <a:r>
              <a:rPr lang="zh-CN" altLang="en-US" sz="1470" smtClean="0"/>
              <a:t>不支持多重继承，即一个类从多个超类派生</a:t>
            </a:r>
            <a:endParaRPr lang="zh-CN" altLang="en-US" sz="1470" smtClean="0"/>
          </a:p>
        </p:txBody>
      </p:sp>
      <p:sp>
        <p:nvSpPr>
          <p:cNvPr id="4" name="灯片编号占位符 3"/>
          <p:cNvSpPr>
            <a:spLocks noGrp="1"/>
          </p:cNvSpPr>
          <p:nvPr>
            <p:ph type="sldNum" sz="quarter" idx="4"/>
          </p:nvPr>
        </p:nvSpPr>
        <p:spPr/>
        <p:txBody>
          <a:bodyPr/>
          <a:lstStyle/>
          <a:p>
            <a:fld id="{9480BDC0-5DEA-4A24-896B-0C1C0F4F9D1F}" type="slidenum">
              <a:rPr lang="zh-CN" altLang="en-US" sz="1470" dirty="0"/>
            </a:fld>
            <a:endParaRPr lang="zh-CN" altLang="en-US" sz="1470" dirty="0"/>
          </a:p>
        </p:txBody>
      </p:sp>
      <p:sp>
        <p:nvSpPr>
          <p:cNvPr id="115716" name="标题 2"/>
          <p:cNvSpPr>
            <a:spLocks noGrp="1" noChangeArrowheads="1"/>
          </p:cNvSpPr>
          <p:nvPr>
            <p:ph type="title"/>
            <p:custDataLst>
              <p:tags r:id="rId2"/>
            </p:custDataLst>
          </p:nvPr>
        </p:nvSpPr>
        <p:spPr/>
        <p:txBody>
          <a:bodyPr/>
          <a:lstStyle/>
          <a:p>
            <a:r>
              <a:rPr lang="zh-CN" altLang="en-US" smtClean="0"/>
              <a:t>小结</a:t>
            </a:r>
            <a:r>
              <a:rPr lang="en-US" smtClean="0">
                <a:ea typeface="黑体" panose="02010609060101010101" pitchFamily="49" charset="-122"/>
              </a:rPr>
              <a:t>(3)</a:t>
            </a:r>
            <a:endParaRPr lang="en-US" smtClean="0">
              <a:ea typeface="黑体" panose="02010609060101010101" pitchFamily="49" charset="-122"/>
            </a:endParaRPr>
          </a:p>
        </p:txBody>
      </p:sp>
    </p:spTree>
    <p:custDataLst>
      <p:tags r:id="rId3"/>
    </p:custData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bg>
      <p:bgPr>
        <a:solidFill>
          <a:srgbClr val="F2F2F2"/>
        </a:solidFill>
        <a:effectLst/>
      </p:bgPr>
    </p:bg>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143362" name="TextBox 3"/>
          <p:cNvSpPr/>
          <p:nvPr/>
        </p:nvSpPr>
        <p:spPr>
          <a:xfrm>
            <a:off x="3948113" y="2205038"/>
            <a:ext cx="2914650" cy="1106805"/>
          </a:xfrm>
          <a:prstGeom prst="rect">
            <a:avLst/>
          </a:prstGeom>
          <a:noFill/>
          <a:ln w="9525">
            <a:noFill/>
          </a:ln>
        </p:spPr>
        <p:txBody>
          <a:bodyPr wrap="none" anchor="t">
            <a:spAutoFit/>
          </a:bodyPr>
          <a:p>
            <a:pPr>
              <a:buFont typeface="Arial" panose="020B0604020202020204" pitchFamily="34" charset="0"/>
              <a:buNone/>
            </a:pPr>
            <a:r>
              <a:rPr lang="en-US" altLang="zh-CN" sz="6600" b="1" dirty="0">
                <a:solidFill>
                  <a:srgbClr val="00B0F0"/>
                </a:solidFill>
                <a:latin typeface="Calibri" panose="020F0502020204030204" pitchFamily="34" charset="0"/>
                <a:ea typeface="宋体" panose="02010600030101010101" pitchFamily="2" charset="-122"/>
                <a:sym typeface="Calibri" panose="020F0502020204030204" pitchFamily="34" charset="0"/>
              </a:rPr>
              <a:t>Thanks!</a:t>
            </a:r>
            <a:endParaRPr lang="zh-CN" altLang="en-US" sz="6600" b="1" dirty="0">
              <a:solidFill>
                <a:srgbClr val="00B0F0"/>
              </a:solidFill>
              <a:latin typeface="Calibri" panose="020F0502020204030204" pitchFamily="34" charset="0"/>
              <a:ea typeface="宋体" panose="02010600030101010101" pitchFamily="2" charset="-122"/>
              <a:sym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2.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3.xml><?xml version="1.0" encoding="utf-8"?>
<p:tagLst xmlns:p="http://schemas.openxmlformats.org/presentationml/2006/main">
  <p:tag name="KSO_WM_UNIT_PLACING_PICTURE_USER_VIEWPORT" val="{&quot;height&quot;:3968,&quot;width&quot;:8745}"/>
</p:tagLst>
</file>

<file path=ppt/tags/tag4.xml><?xml version="1.0" encoding="utf-8"?>
<p:tagLst xmlns:p="http://schemas.openxmlformats.org/presentationml/2006/main">
  <p:tag name="KSO_WM_BEAUTIFY_FLAG" val="#wm#"/>
  <p:tag name="KSO_WM_TEMPLATE_CATEGORY" val="custom"/>
  <p:tag name="KSO_WM_TEMPLATE_INDEX" val="20186827"/>
</p:tagLst>
</file>

<file path=ppt/tags/tag5.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6.xml><?xml version="1.0" encoding="utf-8"?>
<p:tagLst xmlns:p="http://schemas.openxmlformats.org/presentationml/2006/main">
  <p:tag name="KSO_WM_TEMPLATE_CATEGORY" val="custom"/>
  <p:tag name="KSO_WM_TEMPLATE_INDEX" val="20186827"/>
</p:tagLst>
</file>

<file path=ppt/tags/tag7.xml><?xml version="1.0" encoding="utf-8"?>
<p:tagLst xmlns:p="http://schemas.openxmlformats.org/presentationml/2006/main">
  <p:tag name="KSO_WM_TEMPLATE_CATEGORY" val="custom"/>
  <p:tag name="KSO_WM_TEMPLATE_INDEX" val="20186827"/>
</p:tagLst>
</file>

<file path=ppt/tags/tag8.xml><?xml version="1.0" encoding="utf-8"?>
<p:tagLst xmlns:p="http://schemas.openxmlformats.org/presentationml/2006/main">
  <p:tag name="KSO_WM_TEMPLATE_CATEGORY" val="custom"/>
  <p:tag name="KSO_WM_TEMPLATE_INDEX" val="20186827"/>
</p:tagLst>
</file>

<file path=ppt/tags/tag9.xml><?xml version="1.0" encoding="utf-8"?>
<p:tagLst xmlns:p="http://schemas.openxmlformats.org/presentationml/2006/main">
  <p:tag name="KSO_WM_BEAUTIFY_FLAG" val="#wm#"/>
  <p:tag name="KSO_WM_TEMPLATE_CATEGORY" val="custom"/>
  <p:tag name="KSO_WM_TEMPLATE_INDEX" val="20186827"/>
</p:tagLst>
</file>

<file path=ppt/tags/tag10.xml><?xml version="1.0" encoding="utf-8"?>
<p:tagLst xmlns:p="http://schemas.openxmlformats.org/presentationml/2006/main">
  <p:tag name="KSO_WM_BEAUTIFY_FLAG" val="#wm#"/>
  <p:tag name="KSO_WM_TEMPLATE_CATEGORY" val="custom"/>
  <p:tag name="KSO_WM_TEMPLATE_INDEX" val="20186827"/>
</p:tagLst>
</file>

<file path=ppt/tags/tag11.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12.xml><?xml version="1.0" encoding="utf-8"?>
<p:tagLst xmlns:p="http://schemas.openxmlformats.org/presentationml/2006/main">
  <p:tag name="KSO_WM_TEMPLATE_CATEGORY" val="custom"/>
  <p:tag name="KSO_WM_TEMPLATE_INDEX" val="20186827"/>
</p:tagLst>
</file>

<file path=ppt/tags/tag13.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14.xml><?xml version="1.0" encoding="utf-8"?>
<p:tagLst xmlns:p="http://schemas.openxmlformats.org/presentationml/2006/main">
  <p:tag name="KSO_WM_TEMPLATE_CATEGORY" val="custom"/>
  <p:tag name="KSO_WM_TEMPLATE_INDEX" val="20186827"/>
</p:tagLst>
</file>

<file path=ppt/tags/tag15.xml><?xml version="1.0" encoding="utf-8"?>
<p:tagLst xmlns:p="http://schemas.openxmlformats.org/presentationml/2006/main">
  <p:tag name="KSO_WM_TEMPLATE_CATEGORY" val="custom"/>
  <p:tag name="KSO_WM_TEMPLATE_INDEX" val="20186827"/>
</p:tagLst>
</file>

<file path=ppt/tags/tag16.xml><?xml version="1.0" encoding="utf-8"?>
<p:tagLst xmlns:p="http://schemas.openxmlformats.org/presentationml/2006/main">
  <p:tag name="KSO_WM_TEMPLATE_CATEGORY" val="custom"/>
  <p:tag name="KSO_WM_TEMPLATE_INDEX" val="20186827"/>
</p:tagLst>
</file>

<file path=ppt/tags/tag17.xml><?xml version="1.0" encoding="utf-8"?>
<p:tagLst xmlns:p="http://schemas.openxmlformats.org/presentationml/2006/main">
  <p:tag name="KSO_WM_TEMPLATE_CATEGORY" val="custom"/>
  <p:tag name="KSO_WM_TEMPLATE_INDEX" val="20186827"/>
</p:tagLst>
</file>

<file path=ppt/tags/tag18.xml><?xml version="1.0" encoding="utf-8"?>
<p:tagLst xmlns:p="http://schemas.openxmlformats.org/presentationml/2006/main">
  <p:tag name="KSO_WM_TEMPLATE_CATEGORY" val="custom"/>
  <p:tag name="KSO_WM_TEMPLATE_INDEX" val="20186827"/>
</p:tagLst>
</file>

<file path=ppt/tags/tag19.xml><?xml version="1.0" encoding="utf-8"?>
<p:tagLst xmlns:p="http://schemas.openxmlformats.org/presentationml/2006/main">
  <p:tag name="KSO_WM_BEAUTIFY_FLAG" val="#wm#"/>
  <p:tag name="KSO_WM_TEMPLATE_CATEGORY" val="custom"/>
  <p:tag name="KSO_WM_TEMPLATE_INDEX" val="20186827"/>
</p:tagLst>
</file>

<file path=ppt/tags/tag20.xml><?xml version="1.0" encoding="utf-8"?>
<p:tagLst xmlns:p="http://schemas.openxmlformats.org/presentationml/2006/main">
  <p:tag name="KSO_WM_TEMPLATE_CATEGORY" val="custom"/>
  <p:tag name="KSO_WM_TEMPLATE_INDEX" val="20186827"/>
</p:tagLst>
</file>

<file path=ppt/tags/tag21.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2.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3.xml><?xml version="1.0" encoding="utf-8"?>
<p:tagLst xmlns:p="http://schemas.openxmlformats.org/presentationml/2006/main">
  <p:tag name="KSO_WM_TEMPLATE_CATEGORY" val="custom"/>
  <p:tag name="KSO_WM_TEMPLATE_INDEX" val="20186827"/>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4.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25.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26.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27.xml><?xml version="1.0" encoding="utf-8"?>
<p:tagLst xmlns:p="http://schemas.openxmlformats.org/presentationml/2006/main">
  <p:tag name="KSO_WM_TEMPLATE_CATEGORY" val="custom"/>
  <p:tag name="KSO_WM_TEMPLATE_INDEX" val="20186827"/>
</p:tagLst>
</file>

<file path=ppt/tags/tag28.xml><?xml version="1.0" encoding="utf-8"?>
<p:tagLst xmlns:p="http://schemas.openxmlformats.org/presentationml/2006/main">
  <p:tag name="KSO_WM_TEMPLATE_CATEGORY" val="custom"/>
  <p:tag name="KSO_WM_TEMPLATE_INDEX" val="20186827"/>
</p:tagLst>
</file>

<file path=ppt/tags/tag29.xml><?xml version="1.0" encoding="utf-8"?>
<p:tagLst xmlns:p="http://schemas.openxmlformats.org/presentationml/2006/main">
  <p:tag name="KSO_WM_TEMPLATE_CATEGORY" val="custom"/>
  <p:tag name="KSO_WM_TEMPLATE_INDEX" val="20186827"/>
</p:tagLst>
</file>

<file path=ppt/tags/tag30.xml><?xml version="1.0" encoding="utf-8"?>
<p:tagLst xmlns:p="http://schemas.openxmlformats.org/presentationml/2006/main">
  <p:tag name="KSO_WM_BEAUTIFY_FLAG" val="#wm#"/>
  <p:tag name="KSO_WM_TEMPLATE_CATEGORY" val="custom"/>
  <p:tag name="KSO_WM_TEMPLATE_INDEX" val="20186827"/>
</p:tagLst>
</file>

<file path=ppt/tags/tag31.xml><?xml version="1.0" encoding="utf-8"?>
<p:tagLst xmlns:p="http://schemas.openxmlformats.org/presentationml/2006/main">
  <p:tag name="KSO_WM_TEMPLATE_CATEGORY" val="custom"/>
  <p:tag name="KSO_WM_TEMPLATE_INDEX" val="20186827"/>
</p:tagLst>
</file>

<file path=ppt/tags/tag32.xml><?xml version="1.0" encoding="utf-8"?>
<p:tagLst xmlns:p="http://schemas.openxmlformats.org/presentationml/2006/main">
  <p:tag name="KSO_WM_TEMPLATE_CATEGORY" val="custom"/>
  <p:tag name="KSO_WM_TEMPLATE_INDEX" val="20186827"/>
</p:tagLst>
</file>

<file path=ppt/tags/tag33.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34.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35.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36.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37.xml><?xml version="1.0" encoding="utf-8"?>
<p:tagLst xmlns:p="http://schemas.openxmlformats.org/presentationml/2006/main">
  <p:tag name="KSO_WM_TEMPLATE_CATEGORY" val="custom"/>
  <p:tag name="KSO_WM_TEMPLATE_INDEX" val="20186827"/>
</p:tagLst>
</file>

<file path=ppt/tags/tag38.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39.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40.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41.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42.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43.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44.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45.xml><?xml version="1.0" encoding="utf-8"?>
<p:tagLst xmlns:p="http://schemas.openxmlformats.org/presentationml/2006/main">
  <p:tag name="KSO_WM_TEMPLATE_CATEGORY" val="custom"/>
  <p:tag name="KSO_WM_TEMPLATE_INDEX" val="20186827"/>
</p:tagLst>
</file>

<file path=ppt/tags/tag46.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47.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48.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49.xml><?xml version="1.0" encoding="utf-8"?>
<p:tagLst xmlns:p="http://schemas.openxmlformats.org/presentationml/2006/main">
  <p:tag name="KSO_WM_TEMPLATE_CATEGORY" val="custom"/>
  <p:tag name="KSO_WM_TEMPLATE_INDEX" val="20186827"/>
</p:tagLst>
</file>

<file path=ppt/tags/tag50.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51.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52.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53.xml><?xml version="1.0" encoding="utf-8"?>
<p:tagLst xmlns:p="http://schemas.openxmlformats.org/presentationml/2006/main">
  <p:tag name="KSO_WM_TEMPLATE_CATEGORY" val="custom"/>
  <p:tag name="KSO_WM_TEMPLATE_INDEX" val="20186827"/>
</p:tagLst>
</file>

<file path=ppt/tags/tag54.xml><?xml version="1.0" encoding="utf-8"?>
<p:tagLst xmlns:p="http://schemas.openxmlformats.org/presentationml/2006/main">
  <p:tag name="KSO_WM_TEMPLATE_CATEGORY" val="custom"/>
  <p:tag name="KSO_WM_TEMPLATE_INDEX" val="20186827"/>
</p:tagLst>
</file>

<file path=ppt/tags/tag55.xml><?xml version="1.0" encoding="utf-8"?>
<p:tagLst xmlns:p="http://schemas.openxmlformats.org/presentationml/2006/main">
  <p:tag name="KSO_WM_TEMPLATE_CATEGORY" val="custom"/>
  <p:tag name="KSO_WM_TEMPLATE_INDEX" val="20186827"/>
</p:tagLst>
</file>

<file path=ppt/tags/tag56.xml><?xml version="1.0" encoding="utf-8"?>
<p:tagLst xmlns:p="http://schemas.openxmlformats.org/presentationml/2006/main">
  <p:tag name="KSO_WM_TEMPLATE_CATEGORY" val="custom"/>
  <p:tag name="KSO_WM_TEMPLATE_INDEX" val="20186827"/>
</p:tagLst>
</file>

<file path=ppt/tags/tag57.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58.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59.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60.xml><?xml version="1.0" encoding="utf-8"?>
<p:tagLst xmlns:p="http://schemas.openxmlformats.org/presentationml/2006/main">
  <p:tag name="KSO_WM_TEMPLATE_CATEGORY" val="custom"/>
  <p:tag name="KSO_WM_TEMPLATE_INDEX" val="20186827"/>
</p:tagLst>
</file>

<file path=ppt/tags/tag61.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62.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63.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64.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65.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66.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67.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68.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69.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70.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71.xml><?xml version="1.0" encoding="utf-8"?>
<p:tagLst xmlns:p="http://schemas.openxmlformats.org/presentationml/2006/main">
  <p:tag name="KSO_WM_TEMPLATE_CATEGORY" val="custom"/>
  <p:tag name="KSO_WM_TEMPLATE_INDEX" val="20186827"/>
</p:tagLst>
</file>

<file path=ppt/tags/tag72.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73.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74.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75.xml><?xml version="1.0" encoding="utf-8"?>
<p:tagLst xmlns:p="http://schemas.openxmlformats.org/presentationml/2006/main">
  <p:tag name="KSO_WM_BEAUTIFY_FLAG" val="#wm#"/>
  <p:tag name="KSO_WM_TEMPLATE_CATEGORY" val="custom"/>
  <p:tag name="KSO_WM_TEMPLATE_INDEX" val="20186827"/>
</p:tagLst>
</file>

<file path=ppt/tags/tag76.xml><?xml version="1.0" encoding="utf-8"?>
<p:tagLst xmlns:p="http://schemas.openxmlformats.org/presentationml/2006/main">
  <p:tag name="KSO_WM_TEMPLATE_CATEGORY" val="custom"/>
  <p:tag name="KSO_WM_TEMPLATE_INDEX" val="20186827"/>
</p:tagLst>
</file>

<file path=ppt/tags/tag77.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78.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79.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80.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81.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82.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83.xml><?xml version="1.0" encoding="utf-8"?>
<p:tagLst xmlns:p="http://schemas.openxmlformats.org/presentationml/2006/main">
  <p:tag name="KSO_WM_TEMPLATE_CATEGORY" val="custom"/>
  <p:tag name="KSO_WM_TEMPLATE_INDEX" val="20186827"/>
</p:tagLst>
</file>

<file path=ppt/tags/tag84.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85.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86.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87.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88.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89.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90.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91.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92.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93.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94.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17"/>
  <p:tag name="KSO_WM_UNIT_PRESET_TEXT_INDEX" val="3"/>
  <p:tag name="KSO_WM_UNIT_CLEAR" val="0"/>
  <p:tag name="KSO_WM_UNIT_COMPATIBLE" val="0"/>
  <p:tag name="KSO_WM_UNIT_HIGHLIGHT" val="0"/>
  <p:tag name="KSO_WM_UNIT_ISCONTENTSTITLE" val="0"/>
  <p:tag name="KSO_WM_UNIT_VALUE" val="42"/>
  <p:tag name="KSO_WM_UNIT_LAYERLEVEL" val="1"/>
  <p:tag name="KSO_WM_UNIT_INDEX" val="1"/>
  <p:tag name="KSO_WM_UNIT_ID" val="custom20186827_2*a*1"/>
  <p:tag name="KSO_WM_UNIT_TYPE" val="a"/>
</p:tagLst>
</file>

<file path=ppt/tags/tag95.xml><?xml version="1.0" encoding="utf-8"?>
<p:tagLst xmlns:p="http://schemas.openxmlformats.org/presentationml/2006/main">
  <p:tag name="KSO_WM_TEMPLATE_CATEGORY" val="custom"/>
  <p:tag name="KSO_WM_TEMPLATE_INDEX" val="20186827"/>
  <p:tag name="KSO_WM_TAG_VERSION" val="1.0"/>
  <p:tag name="KSO_WM_BEAUTIFY_FLAG" val="#wm#"/>
  <p:tag name="KSO_WM_UNIT_CLEAR" val="0"/>
  <p:tag name="KSO_WM_UNIT_COMPATIBLE" val="0"/>
  <p:tag name="KSO_WM_UNIT_HIGHLIGHT" val="0"/>
  <p:tag name="KSO_WM_UNIT_VALUE" val="518"/>
  <p:tag name="KSO_WM_UNIT_LAYERLEVEL" val="1"/>
  <p:tag name="KSO_WM_UNIT_INDEX" val="1"/>
  <p:tag name="KSO_WM_UNIT_ID" val="custom20186827_2*f*1"/>
  <p:tag name="KSO_WM_UNIT_TYPE" val="f"/>
  <p:tag name="KSO_WM_UNIT_PRESET_TEXT" val="Lorem ipsum dolor sit amet, consectetur adipisicing elit, sed do eiusmod tempor incididunt ut labore et dolore magna aliqua. Ut enim ad minim veniam, quis nostrud exercitation ullamco laboris nisi ut aliquip ex ea commodo consequat.&#13;Lorem ipsum dolor sit amet, consectetur adipisicing elit, sed do eiusmod tempor incididunt ut labore et dolore magna aliqua."/>
</p:tagLst>
</file>

<file path=ppt/tags/tag96.xml><?xml version="1.0" encoding="utf-8"?>
<p:tagLst xmlns:p="http://schemas.openxmlformats.org/presentationml/2006/main">
  <p:tag name="KSO_WM_TEMPLATE_CATEGORY" val="custom"/>
  <p:tag name="KSO_WM_TEMPLATE_INDEX" val="20186827"/>
  <p:tag name="KSO_WM_TAG_VERSION" val="1.0"/>
  <p:tag name="KSO_WM_SLIDE_ID" val="custom20186827_2"/>
  <p:tag name="KSO_WM_SLIDE_INDEX" val="2"/>
  <p:tag name="KSO_WM_SLIDE_ITEM_CNT" val="1"/>
  <p:tag name="KSO_WM_SLIDE_LAYOUT" val="a_f"/>
  <p:tag name="KSO_WM_SLIDE_LAYOUT_CNT" val="1_1"/>
  <p:tag name="KSO_WM_SLIDE_TYPE" val="text"/>
  <p:tag name="KSO_WM_BEAUTIFY_FLAG" val="#wm#"/>
  <p:tag name="KSO_WM_SLIDE_POSITION" val="49*143"/>
  <p:tag name="KSO_WM_SLIDE_SIZE" val="621*342"/>
  <p:tag name="KSO_WM_SLIDE_SUBTYPE" val="pureTxt"/>
</p:tagLst>
</file>

<file path=ppt/tags/tag97.xml><?xml version="1.0" encoding="utf-8"?>
<p:tagLst xmlns:p="http://schemas.openxmlformats.org/presentationml/2006/main">
  <p:tag name="KSO_WM_TEMPLATE_CATEGORY" val="custom"/>
  <p:tag name="KSO_WM_TEMPLATE_INDEX" val="20186827"/>
  <p:tag name="KSO_WM_TAG_VERSION" val="1.0"/>
  <p:tag name="KSO_WM_BEAUTIFY_FLAG" val="#wm#"/>
  <p:tag name="KSO_WM_UNIT_PRESET_TEXT_LEN" val="57"/>
  <p:tag name="KSO_WM_UNIT_PRESET_TEXT_INDEX" val="4"/>
  <p:tag name="KSO_WM_UNIT_CLEAR" val="0"/>
  <p:tag name="KSO_WM_UNIT_COMPATIBLE" val="0"/>
  <p:tag name="KSO_WM_UNIT_HIGHLIGHT" val="0"/>
  <p:tag name="KSO_WM_UNIT_VALUE" val="123"/>
  <p:tag name="KSO_WM_UNIT_LAYERLEVEL" val="1"/>
  <p:tag name="KSO_WM_UNIT_INDEX" val="1"/>
  <p:tag name="KSO_WM_UNIT_ID" val="custom20186827_23*f*1"/>
  <p:tag name="KSO_WM_UNIT_TYPE" val="f"/>
</p:tagLst>
</file>

<file path=ppt/tags/tag98.xml><?xml version="1.0" encoding="utf-8"?>
<p:tagLst xmlns:p="http://schemas.openxmlformats.org/presentationml/2006/main">
  <p:tag name="KSO_WM_TEMPLATE_CATEGORY" val="custom"/>
  <p:tag name="KSO_WM_TEMPLATE_INDEX" val="20186827"/>
  <p:tag name="KSO_WM_TAG_VERSION" val="1.0"/>
  <p:tag name="KSO_WM_SLIDE_ID" val="custom20186827_23"/>
  <p:tag name="KSO_WM_SLIDE_INDEX" val="23"/>
  <p:tag name="KSO_WM_SLIDE_ITEM_CNT" val="1"/>
  <p:tag name="KSO_WM_SLIDE_LAYOUT" val="a_f"/>
  <p:tag name="KSO_WM_SLIDE_LAYOUT_CNT" val="1_1"/>
  <p:tag name="KSO_WM_SLIDE_TYPE" val="text"/>
  <p:tag name="KSO_WM_BEAUTIFY_FLAG" val="#wm#"/>
  <p:tag name="KSO_WM_SLIDE_POSITION" val="29*269"/>
  <p:tag name="KSO_WM_SLIDE_SIZE" val="668*63"/>
  <p:tag name="KSO_WM_SLIDE_SUBTYPE" val="pureTxt"/>
</p:tagLst>
</file>

<file path=ppt/tags/tag99.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00.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01.xml><?xml version="1.0" encoding="utf-8"?>
<p:tagLst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02.xml><?xml version="1.0" encoding="utf-8"?>
<p:tagLst xmlns:p="http://schemas.openxmlformats.org/presentationml/2006/main">
  <p:tag name="KSO_WM_TEMPLATE_CATEGORY" val="custom"/>
  <p:tag name="KSO_WM_TEMPLATE_INDEX" val="286"/>
</p:tagLst>
</file>

<file path=ppt/tags/tag103.xml><?xml version="1.0" encoding="utf-8"?>
<p:tagLst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04.xml><?xml version="1.0" encoding="utf-8"?>
<p:tagLst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05.xml><?xml version="1.0" encoding="utf-8"?>
<p:tagLst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06.xml><?xml version="1.0" encoding="utf-8"?>
<p:tagLst xmlns:p="http://schemas.openxmlformats.org/presentationml/2006/main">
  <p:tag name="KSO_WPP_MARK_KEY" val="ce4c2d33-7911-46c8-87a8-0dbe60299347"/>
  <p:tag name="COMMONDATA" val="eyJoZGlkIjoiZmYwYjU2MzQxMWU3OWZjNzk4OWUyOWM0NDJmODEwZTY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19278</Words>
  <Application>WPS 演示</Application>
  <PresentationFormat/>
  <Paragraphs>1101</Paragraphs>
  <Slides>69</Slides>
  <Notes>61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69</vt:i4>
      </vt:variant>
    </vt:vector>
  </HeadingPairs>
  <TitlesOfParts>
    <vt:vector size="89" baseType="lpstr">
      <vt:lpstr>Arial</vt:lpstr>
      <vt:lpstr>宋体</vt:lpstr>
      <vt:lpstr>Wingdings</vt:lpstr>
      <vt:lpstr>Calibri</vt:lpstr>
      <vt:lpstr>Impact</vt:lpstr>
      <vt:lpstr>方正姚体</vt:lpstr>
      <vt:lpstr>微软雅黑</vt:lpstr>
      <vt:lpstr>Felix Titling</vt:lpstr>
      <vt:lpstr>Latha</vt:lpstr>
      <vt:lpstr>Consolas</vt:lpstr>
      <vt:lpstr>Times New Roman</vt:lpstr>
      <vt:lpstr>Courier New</vt:lpstr>
      <vt:lpstr>黑体</vt:lpstr>
      <vt:lpstr>Arial Unicode MS</vt:lpstr>
      <vt:lpstr>Segoe Print</vt:lpstr>
      <vt:lpstr>新宋体</vt:lpstr>
      <vt:lpstr>Tahoma</vt:lpstr>
      <vt:lpstr>华文中宋</vt:lpstr>
      <vt:lpstr>Symbol</vt:lpstr>
      <vt:lpstr>Office 主题​​</vt:lpstr>
      <vt:lpstr>PowerPoint 演示文稿</vt:lpstr>
      <vt:lpstr>主要内容</vt:lpstr>
      <vt:lpstr>PowerPoint 演示文稿</vt:lpstr>
      <vt:lpstr>内部类</vt:lpstr>
      <vt:lpstr>静态内部类</vt:lpstr>
      <vt:lpstr>静态内部类应用</vt:lpstr>
      <vt:lpstr>成员内部类</vt:lpstr>
      <vt:lpstr>内部类应用（1）</vt:lpstr>
      <vt:lpstr>内部类应用（2）</vt:lpstr>
      <vt:lpstr>外部类调用内部类</vt:lpstr>
      <vt:lpstr>内部类的this</vt:lpstr>
      <vt:lpstr>内部类继承</vt:lpstr>
      <vt:lpstr>内部类（续）</vt:lpstr>
      <vt:lpstr>PowerPoint 演示文稿</vt:lpstr>
      <vt:lpstr>内部类（续）</vt:lpstr>
      <vt:lpstr>PowerPoint 演示文稿</vt:lpstr>
      <vt:lpstr>例：无构造函数的匿名内部类</vt:lpstr>
      <vt:lpstr>PowerPoint 演示文稿</vt:lpstr>
      <vt:lpstr>例：父类有构造函数的匿名内部类</vt:lpstr>
      <vt:lpstr>内部类（续）</vt:lpstr>
      <vt:lpstr>内部类（续）</vt:lpstr>
      <vt:lpstr>内部类（续）</vt:lpstr>
      <vt:lpstr>内部类JDK新特性 </vt:lpstr>
      <vt:lpstr>PowerPoint 演示文稿</vt:lpstr>
      <vt:lpstr>基本数据类型的包装类 </vt:lpstr>
      <vt:lpstr>基本数据类型的包装类</vt:lpstr>
      <vt:lpstr>基本数据类型的包装类</vt:lpstr>
      <vt:lpstr>自动装箱与自动拆箱</vt:lpstr>
      <vt:lpstr>封装类的常量池</vt:lpstr>
      <vt:lpstr>基本数据类型的包装类</vt:lpstr>
      <vt:lpstr>Java 7对包装类的增强</vt:lpstr>
      <vt:lpstr>PowerPoint 演示文稿</vt:lpstr>
      <vt:lpstr>常用工具类 </vt:lpstr>
      <vt:lpstr>java.lang.System类</vt:lpstr>
      <vt:lpstr>java.lang.System类</vt:lpstr>
      <vt:lpstr>java.lang.Math类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字符串操作类</vt:lpstr>
      <vt:lpstr>StringBuilder</vt:lpstr>
      <vt:lpstr>字符串操作类</vt:lpstr>
      <vt:lpstr>字符串操作类</vt:lpstr>
      <vt:lpstr>字符串操作类</vt:lpstr>
      <vt:lpstr>字符串操作类</vt:lpstr>
      <vt:lpstr>执行外部程序</vt:lpstr>
      <vt:lpstr>执行外部程序</vt:lpstr>
      <vt:lpstr>java.util</vt:lpstr>
      <vt:lpstr>java.awt</vt:lpstr>
      <vt:lpstr>java.io</vt:lpstr>
      <vt:lpstr>java.net</vt:lpstr>
      <vt:lpstr>小结(1)</vt:lpstr>
      <vt:lpstr>小结(2)</vt:lpstr>
      <vt:lpstr>小结(3)</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lixzva</dc:creator>
  <cp:lastModifiedBy>刘明铭</cp:lastModifiedBy>
  <cp:revision>332</cp:revision>
  <cp:lastPrinted>2016-11-07T04:06:00Z</cp:lastPrinted>
  <dcterms:created xsi:type="dcterms:W3CDTF">2012-10-26T07:13:00Z</dcterms:created>
  <dcterms:modified xsi:type="dcterms:W3CDTF">2024-02-22T07:29:39Z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8F2FD002C78641E980733535C8720E4A_13</vt:lpwstr>
  </property>
</Properties>
</file>