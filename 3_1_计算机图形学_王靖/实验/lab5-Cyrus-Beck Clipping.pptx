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378" autoAdjust="0"/>
  </p:normalViewPr>
  <p:slideViewPr>
    <p:cSldViewPr snapToGrid="0">
      <p:cViewPr varScale="1">
        <p:scale>
          <a:sx n="89" d="100"/>
          <a:sy n="89" d="100"/>
        </p:scale>
        <p:origin x="42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0:58:16.934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0:59:59.562"/>
    </inkml:context>
    <inkml:brush xml:id="br0">
      <inkml:brushProperty name="width" value="0.35" units="cm"/>
      <inkml:brushProperty name="height" value="0.35" units="cm"/>
      <inkml:brushProperty name="color" value="#F6630D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1:00:02.552"/>
    </inkml:context>
    <inkml:brush xml:id="br0">
      <inkml:brushProperty name="width" value="0.35" units="cm"/>
      <inkml:brushProperty name="height" value="0.35" units="cm"/>
      <inkml:brushProperty name="color" value="#F6630D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1:02:06.964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1:02:06.965"/>
    </inkml:context>
    <inkml:brush xml:id="br0">
      <inkml:brushProperty name="width" value="0.35" units="cm"/>
      <inkml:brushProperty name="height" value="0.35" units="cm"/>
      <inkml:brushProperty name="color" value="#F6630D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1:02:06.966"/>
    </inkml:context>
    <inkml:brush xml:id="br0">
      <inkml:brushProperty name="width" value="0.35" units="cm"/>
      <inkml:brushProperty name="height" value="0.35" units="cm"/>
      <inkml:brushProperty name="color" value="#F6630D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1:02:22.102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D3B69-0E11-B218-2DF3-51B368E74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7177E1-C335-E0AA-EEC1-FAA9D6F12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43B617-EFC7-7CDC-8CD2-0035F51F7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72FE-D265-444C-878F-23F0CD3F75C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CE6EB9-358D-7D88-B11D-60DAD88C5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795F04-FD00-4372-F1C8-5E4441B7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3C72-08CA-4575-8216-939395C02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444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96F844-FBC2-AC9C-A108-AAC464E0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35372C-F8C6-42F5-0FA0-3A82C788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7055D8-6C65-B9F9-7848-9FAA6BF8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72FE-D265-444C-878F-23F0CD3F75C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0BB932-571C-9448-B28E-C526F5AD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46843A-34A0-54D6-0CCA-50EC96CD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3C72-08CA-4575-8216-939395C02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584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726CF-E8E6-78E5-CCB7-F0BC621C7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09AFFF-98BF-9894-1961-BB33F00EE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0FC00D-9278-5BD2-61A8-9DEB16EDA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72FE-D265-444C-878F-23F0CD3F75C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D549E2-6B11-475F-3473-4C96AE58F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94F599-55AE-4C82-C2F1-6ED5C2CD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3C72-08CA-4575-8216-939395C02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518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29348-28FB-5E5F-A07C-1D882F39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4999A8-E9F0-833B-80BD-9D9C0C4982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28CD42-3310-923A-64BE-1B83DF462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89A723-1739-A0A4-EDA1-DA9E92CFF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72FE-D265-444C-878F-23F0CD3F75C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034831-F62A-BDF7-3834-99321770A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782D73-2518-65AB-B6BE-9FA53B83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3C72-08CA-4575-8216-939395C02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02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325FC6-41CA-44F2-76D9-1D7E29BD2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51E34C-FDA0-3C2F-762C-B67DCD627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3B88A1-D352-126A-4B74-203C22263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594D07F-D1F7-78FF-41F3-503A722246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323F19-459D-679A-E8CE-C6F6FF034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D71B43-B5AF-09CE-ECAD-FB233803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72FE-D265-444C-878F-23F0CD3F75C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C13F78-B68C-6B7E-7496-73A6226E8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592F70-801E-2129-826A-B61C98A5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3C72-08CA-4575-8216-939395C02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7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7C18D-39BB-6C01-A2B1-A521EED21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8464EC0-E814-D8C0-598A-D89D7E5F5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72FE-D265-444C-878F-23F0CD3F75C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4E3F19-6871-4F2B-0335-872C5AF4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9A72B7-9DB0-8663-B978-F763FA083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3C72-08CA-4575-8216-939395C02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25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9E65B9-BBC8-6D29-9278-AC96A54B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72FE-D265-444C-878F-23F0CD3F75C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CAA432-9F86-6CB5-FC48-BB541C8C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06707F-1B9D-68C5-035B-4F3D6713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3C72-08CA-4575-8216-939395C02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380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849F3-5045-BAF8-533D-D82502941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EFDD21-6691-D58C-1990-3B5AA1345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52208A-B708-6F92-A632-2DAD02F7C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288300-ED7E-69E2-BB9E-2F3264C5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72FE-D265-444C-878F-23F0CD3F75C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DDC467-4E02-0CD6-5576-DB751F766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0B7B2A-B3D4-6964-D701-698EC4FB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3C72-08CA-4575-8216-939395C02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74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C038E-A091-4FD2-9389-ABFF906E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04D328-0FF4-0780-DFCE-5490B9BCA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73FA17-EE41-49C7-9988-4DB2021E2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1E3327-F268-30D0-B1C6-4659A2C45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72FE-D265-444C-878F-23F0CD3F75C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FC5803-9111-5D29-3605-FCC4F14E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55BEAA-6DFF-8C19-B3DC-C7A1F0879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3C72-08CA-4575-8216-939395C02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02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C2C25-599E-610E-B4C2-417D40E2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079334-C3D8-CB96-C03C-F18C8D4D2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283256-C818-10E9-422B-1DBB6F1F9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72FE-D265-444C-878F-23F0CD3F75C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98FD80-025E-8B08-51FF-E7FA51F5A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594470-AE14-6D0C-3A59-49364CB5B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3C72-08CA-4575-8216-939395C02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536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3467DC-7B42-609F-539C-80CC3CDE6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8F384D-2C87-D933-9CAA-B1CEE95AF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679C9C-3DE9-E21F-C034-5D3D9A2DF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72FE-D265-444C-878F-23F0CD3F75C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051508-A64A-83C3-D87F-08FDE7052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EAEFDC-F7BB-F3C0-7A8E-D762F206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63C72-08CA-4575-8216-939395C02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353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3BCF9D-0313-E008-5BD7-142FC015A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EF1097-414E-1B21-61AF-10FAABD37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928513-1CCA-EA1E-776F-96C6AD26C6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772FE-D265-444C-878F-23F0CD3F75C2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651DBF-0D89-81AB-5DE9-02E0EC5B7E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10BFCF-E600-7CC9-BCE8-5191295DF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63C72-08CA-4575-8216-939395C02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012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customXml" Target="../ink/ink7.xml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2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6C8E1-FC38-D614-3287-5427B40DB5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Cyrus-Beck Clipping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2489343-20C5-B8BE-BECC-8DD8602D1D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线段裁剪高级算法</a:t>
            </a:r>
          </a:p>
        </p:txBody>
      </p:sp>
    </p:spTree>
    <p:extLst>
      <p:ext uri="{BB962C8B-B14F-4D97-AF65-F5344CB8AC3E}">
        <p14:creationId xmlns:p14="http://schemas.microsoft.com/office/powerpoint/2010/main" val="130942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944D0-F5EA-E503-5D0F-A231F6836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为什么需要新的裁剪算法？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FED805-4D81-3930-278C-29CA78C9F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Cohen-Sutherland</a:t>
            </a:r>
            <a:r>
              <a:rPr lang="zh-CN" altLang="en-US" dirty="0"/>
              <a:t>算法非常高效，但主要针对矩形窗口。</a:t>
            </a:r>
          </a:p>
          <a:p>
            <a:endParaRPr lang="zh-CN" altLang="en-US" dirty="0"/>
          </a:p>
          <a:p>
            <a:r>
              <a:rPr lang="zh-CN" altLang="en-US" dirty="0"/>
              <a:t>新需求： 裁剪窗口是一个任意凸多边形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Cyrus-Beck</a:t>
            </a:r>
            <a:r>
              <a:rPr lang="zh-CN" altLang="en-US" dirty="0"/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2111319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05203-6853-58B1-ABA4-28FD35FE2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核心思想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F28A23-A011-244C-ED7B-B1688DE3B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利用法向量和参数方程，找到线段与裁剪窗口各边界的“进入点”和“离开点”：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将线段表示为参数方程形式：</a:t>
            </a:r>
            <a:r>
              <a:rPr lang="en-US" altLang="zh-CN" dirty="0"/>
              <a:t>P(t) = P</a:t>
            </a:r>
            <a:r>
              <a:rPr lang="en-US" altLang="zh-CN" sz="2000" dirty="0"/>
              <a:t>0</a:t>
            </a:r>
            <a:r>
              <a:rPr lang="en-US" altLang="zh-CN" dirty="0"/>
              <a:t> + t * (P</a:t>
            </a:r>
            <a:r>
              <a:rPr lang="en-US" altLang="zh-CN" sz="2000" dirty="0"/>
              <a:t>1</a:t>
            </a:r>
            <a:r>
              <a:rPr lang="en-US" altLang="zh-CN" dirty="0"/>
              <a:t> - P</a:t>
            </a:r>
            <a:r>
              <a:rPr lang="en-US" altLang="zh-CN" sz="2000" dirty="0"/>
              <a:t>0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0 &lt;= t &lt;= 1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对于裁剪窗口的每一条边，计算一个法向量。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通过向量运算，为每条边计算一个参数 </a:t>
            </a:r>
            <a:r>
              <a:rPr lang="en-US" altLang="zh-CN" dirty="0"/>
              <a:t>t</a:t>
            </a:r>
            <a:r>
              <a:rPr lang="zh-CN" altLang="en-US" dirty="0"/>
              <a:t>，这个 </a:t>
            </a:r>
            <a:r>
              <a:rPr lang="en-US" altLang="zh-CN" dirty="0"/>
              <a:t>t </a:t>
            </a:r>
            <a:r>
              <a:rPr lang="zh-CN" altLang="en-US" dirty="0"/>
              <a:t>代表了线段与该边所在直线的交点。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根据法向量的方向，判断该交点是“潜在进入点”还是“潜在离开点”。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3834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F53C0C-41F5-3C17-F833-8C940D954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准备工作：参数与向量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593CE9-A6C4-CB81-7879-BE8CBCE28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线段参数方程：</a:t>
            </a:r>
            <a:r>
              <a:rPr lang="en-US" altLang="zh-CN" dirty="0"/>
              <a:t>P(t) = P</a:t>
            </a:r>
            <a:r>
              <a:rPr lang="en-US" altLang="zh-CN" sz="1800" dirty="0"/>
              <a:t>0</a:t>
            </a:r>
            <a:r>
              <a:rPr lang="en-US" altLang="zh-CN" dirty="0"/>
              <a:t> + t * (P</a:t>
            </a:r>
            <a:r>
              <a:rPr lang="en-US" altLang="zh-CN" sz="1800" dirty="0"/>
              <a:t>1</a:t>
            </a:r>
            <a:r>
              <a:rPr lang="en-US" altLang="zh-CN" dirty="0"/>
              <a:t> - P</a:t>
            </a:r>
            <a:r>
              <a:rPr lang="en-US" altLang="zh-CN" sz="1800" dirty="0"/>
              <a:t>0</a:t>
            </a:r>
            <a:r>
              <a:rPr lang="en-US" altLang="zh-CN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t=0 -&gt; </a:t>
            </a:r>
            <a:r>
              <a:rPr lang="zh-CN" altLang="en-US" dirty="0"/>
              <a:t>起点 </a:t>
            </a:r>
            <a:r>
              <a:rPr lang="en-US" altLang="zh-CN" dirty="0"/>
              <a:t>P</a:t>
            </a:r>
            <a:r>
              <a:rPr lang="en-US" altLang="zh-CN" sz="1800" dirty="0"/>
              <a:t>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t=1 -&gt; </a:t>
            </a:r>
            <a:r>
              <a:rPr lang="zh-CN" altLang="en-US" dirty="0"/>
              <a:t>终点 </a:t>
            </a:r>
            <a:r>
              <a:rPr lang="en-US" altLang="zh-CN" dirty="0"/>
              <a:t>P</a:t>
            </a:r>
            <a:r>
              <a:rPr lang="en-US" altLang="zh-CN" sz="1800" dirty="0"/>
              <a:t>1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边与法向量：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对于多边形的一条边 </a:t>
            </a:r>
            <a:r>
              <a:rPr lang="en-US" altLang="zh-CN" dirty="0"/>
              <a:t>E</a:t>
            </a:r>
            <a:r>
              <a:rPr lang="en-US" altLang="zh-CN" sz="1800" dirty="0"/>
              <a:t>i</a:t>
            </a:r>
            <a:r>
              <a:rPr lang="zh-CN" altLang="en-US" dirty="0"/>
              <a:t>，我们选择一个内法向量 </a:t>
            </a:r>
            <a:r>
              <a:rPr lang="en-US" altLang="zh-CN" dirty="0"/>
              <a:t>N</a:t>
            </a:r>
            <a:r>
              <a:rPr lang="en-US" altLang="zh-CN" sz="1800" dirty="0"/>
              <a:t>i</a:t>
            </a:r>
            <a:r>
              <a:rPr lang="zh-CN" altLang="en-US" dirty="0"/>
              <a:t>（指向多边形内部）。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在边上任意取一点 </a:t>
            </a:r>
            <a:r>
              <a:rPr lang="en-US" altLang="zh-CN" dirty="0"/>
              <a:t>P</a:t>
            </a:r>
            <a:r>
              <a:rPr lang="en-US" altLang="zh-CN" sz="1800" dirty="0"/>
              <a:t>E</a:t>
            </a:r>
            <a:r>
              <a:rPr lang="en-US" altLang="zh-CN" sz="1200" dirty="0"/>
              <a:t>i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线段与边的交点为</a:t>
            </a:r>
            <a:r>
              <a:rPr lang="en-US" altLang="zh-CN" dirty="0"/>
              <a:t>P(t)</a:t>
            </a:r>
            <a:r>
              <a:rPr lang="zh-CN" altLang="en-US" dirty="0"/>
              <a:t>。</a:t>
            </a:r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59F942D3-A577-6AF8-119C-22EA330BEFCD}"/>
              </a:ext>
            </a:extLst>
          </p:cNvPr>
          <p:cNvSpPr/>
          <p:nvPr/>
        </p:nvSpPr>
        <p:spPr>
          <a:xfrm>
            <a:off x="8186569" y="833718"/>
            <a:ext cx="2275243" cy="2221454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F3B7D8B-203F-A9B3-0C7C-FAEF5315C565}"/>
              </a:ext>
            </a:extLst>
          </p:cNvPr>
          <p:cNvCxnSpPr/>
          <p:nvPr/>
        </p:nvCxnSpPr>
        <p:spPr>
          <a:xfrm flipV="1">
            <a:off x="9477487" y="720762"/>
            <a:ext cx="451821" cy="155448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611FDE2-4C7D-9548-BAE9-8705BFDF6BFF}"/>
              </a:ext>
            </a:extLst>
          </p:cNvPr>
          <p:cNvCxnSpPr>
            <a:cxnSpLocks/>
            <a:stCxn id="4" idx="5"/>
          </p:cNvCxnSpPr>
          <p:nvPr/>
        </p:nvCxnSpPr>
        <p:spPr>
          <a:xfrm flipH="1">
            <a:off x="9133242" y="1944445"/>
            <a:ext cx="759759" cy="443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20EA818-E2D7-C323-4BAD-1590F0D74F10}"/>
              </a:ext>
            </a:extLst>
          </p:cNvPr>
          <p:cNvSpPr txBox="1"/>
          <p:nvPr/>
        </p:nvSpPr>
        <p:spPr>
          <a:xfrm>
            <a:off x="8734536" y="2153803"/>
            <a:ext cx="420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N</a:t>
            </a:r>
            <a:r>
              <a:rPr lang="en-US" altLang="zh-CN" sz="1200" dirty="0"/>
              <a:t>i</a:t>
            </a:r>
            <a:endParaRPr lang="zh-CN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B7BE3241-FA8D-B38A-F96F-D233927DB360}"/>
                  </a:ext>
                </a:extLst>
              </p14:cNvPr>
              <p14:cNvContentPartPr/>
              <p14:nvPr/>
            </p14:nvContentPartPr>
            <p14:xfrm>
              <a:off x="10112188" y="2382480"/>
              <a:ext cx="360" cy="36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B7BE3241-FA8D-B38A-F96F-D233927DB3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49188" y="2319840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934FF99B-41C5-028A-78EF-9771B8C9A9A5}"/>
              </a:ext>
            </a:extLst>
          </p:cNvPr>
          <p:cNvSpPr txBox="1"/>
          <p:nvPr/>
        </p:nvSpPr>
        <p:spPr>
          <a:xfrm>
            <a:off x="10192870" y="2275242"/>
            <a:ext cx="506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</a:t>
            </a:r>
            <a:r>
              <a:rPr lang="en-US" altLang="zh-CN" sz="1200" dirty="0"/>
              <a:t>E</a:t>
            </a:r>
            <a:r>
              <a:rPr lang="en-US" altLang="zh-CN" sz="800" dirty="0"/>
              <a:t>i</a:t>
            </a:r>
            <a:endParaRPr lang="zh-CN" altLang="en-US" sz="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30CDD713-C1A0-5616-FBC6-74B916CD73F6}"/>
                  </a:ext>
                </a:extLst>
              </p14:cNvPr>
              <p14:cNvContentPartPr/>
              <p14:nvPr/>
            </p14:nvContentPartPr>
            <p14:xfrm>
              <a:off x="9939748" y="714960"/>
              <a:ext cx="360" cy="36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30CDD713-C1A0-5616-FBC6-74B916CD73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76748" y="65232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33AD8DD9-6815-48C3-CB01-64408CC0BD9A}"/>
                  </a:ext>
                </a:extLst>
              </p14:cNvPr>
              <p14:cNvContentPartPr/>
              <p14:nvPr/>
            </p14:nvContentPartPr>
            <p14:xfrm>
              <a:off x="9482548" y="2302200"/>
              <a:ext cx="360" cy="36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33AD8DD9-6815-48C3-CB01-64408CC0BD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19908" y="2239200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2DEF34C1-AB0D-38B1-11CB-2D60C6A4AAA5}"/>
              </a:ext>
            </a:extLst>
          </p:cNvPr>
          <p:cNvSpPr txBox="1"/>
          <p:nvPr/>
        </p:nvSpPr>
        <p:spPr>
          <a:xfrm>
            <a:off x="9343016" y="2352353"/>
            <a:ext cx="422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</a:t>
            </a:r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F1B88E7-B5ED-34D0-D62D-3E4BC0E2AD56}"/>
              </a:ext>
            </a:extLst>
          </p:cNvPr>
          <p:cNvSpPr txBox="1"/>
          <p:nvPr/>
        </p:nvSpPr>
        <p:spPr>
          <a:xfrm>
            <a:off x="10020430" y="465289"/>
            <a:ext cx="422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</a:t>
            </a:r>
            <a:r>
              <a:rPr lang="en-US" altLang="zh-CN" sz="1200" dirty="0"/>
              <a:t>0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82045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591A8-1FE0-DCA4-0A6D-5E8D7B1E0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交点分类：</a:t>
            </a:r>
            <a:r>
              <a:rPr lang="en-US" altLang="zh-CN" sz="3600" dirty="0" err="1"/>
              <a:t>t_E</a:t>
            </a:r>
            <a:r>
              <a:rPr lang="en-US" altLang="zh-CN" sz="3600" dirty="0"/>
              <a:t> </a:t>
            </a:r>
            <a:r>
              <a:rPr lang="zh-CN" altLang="en-US" sz="3600" dirty="0"/>
              <a:t>（初始为</a:t>
            </a:r>
            <a:r>
              <a:rPr lang="en-US" altLang="zh-CN" sz="3600" dirty="0"/>
              <a:t>0</a:t>
            </a:r>
            <a:r>
              <a:rPr lang="zh-CN" altLang="en-US" sz="3600" dirty="0"/>
              <a:t>）与 </a:t>
            </a:r>
            <a:r>
              <a:rPr lang="en-US" altLang="zh-CN" sz="3600" dirty="0" err="1"/>
              <a:t>t_L</a:t>
            </a:r>
            <a:r>
              <a:rPr lang="zh-CN" altLang="en-US" sz="3600" dirty="0"/>
              <a:t>（初始为</a:t>
            </a:r>
            <a:r>
              <a:rPr lang="en-US" altLang="zh-CN" sz="3600" dirty="0"/>
              <a:t>1</a:t>
            </a:r>
            <a:r>
              <a:rPr lang="zh-CN" altLang="en-US" sz="3600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547594-DF71-E008-2928-1C40FCD4E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N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· (P(t) - 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E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) = 0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（点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P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在边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E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所在的直线上）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代入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P(t)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：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N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· (P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0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+ t * (P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- 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0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) - 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E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) = 0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解得：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t = [ N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· (P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0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- 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E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) ] / [ -N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· (P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- 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0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) ]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，令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D = (P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- 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0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)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，则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t = [ N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· (P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0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- 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E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) ] / [ -N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· D ]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分类规则：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如果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N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· D &gt; 0 -&gt;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线段从外向内穿越，交点为 潜在进入点（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PE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）。取 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t_E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= max(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t_E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, t)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。</a:t>
            </a:r>
            <a:r>
              <a:rPr lang="zh-CN" altLang="en-US" sz="15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有</a:t>
            </a:r>
            <a:r>
              <a:rPr lang="en-US" altLang="zh-CN" sz="15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2</a:t>
            </a:r>
            <a:r>
              <a:rPr lang="zh-CN" altLang="en-US" sz="15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种特例：</a:t>
            </a: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绿色箭头情况：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Ni · D &gt; 0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，分母整体为负数，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0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– 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E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  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必定与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N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同向，点积为正数。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t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为负数，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max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函数自动舍去。</a:t>
            </a: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紫色箭头情况：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Ni · D &gt; 0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，分母整体为负数，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0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– 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E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  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必定与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N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反向，点积为负数。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0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– 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E</a:t>
            </a: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  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在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N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方向上长度必定大于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- P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0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，故 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t_E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= t &gt; 1 &gt; 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t_L</a:t>
            </a: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，最后放弃整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条线段。</a:t>
            </a: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如果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N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· D &lt; 0 -&gt;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线段从内向外穿越，交点为 潜在离开点（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PL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）。取 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t_L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= min(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t_L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, t)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。特例同理。</a:t>
            </a: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如果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N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 · D == 0 -&gt;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线段与边平行，需要检查是否在外部。</a:t>
            </a: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4AF6AB63-7EF8-35FA-9F0D-F6B68A013A87}"/>
              </a:ext>
            </a:extLst>
          </p:cNvPr>
          <p:cNvSpPr/>
          <p:nvPr/>
        </p:nvSpPr>
        <p:spPr>
          <a:xfrm>
            <a:off x="9375289" y="831644"/>
            <a:ext cx="2275243" cy="2221454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83ABA6F-7AA9-8F05-DE8D-66701B01F992}"/>
              </a:ext>
            </a:extLst>
          </p:cNvPr>
          <p:cNvCxnSpPr/>
          <p:nvPr/>
        </p:nvCxnSpPr>
        <p:spPr>
          <a:xfrm flipV="1">
            <a:off x="10666207" y="718688"/>
            <a:ext cx="451821" cy="155448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2CA8505-17EC-DFFE-F1AE-871E67E32F91}"/>
              </a:ext>
            </a:extLst>
          </p:cNvPr>
          <p:cNvCxnSpPr>
            <a:cxnSpLocks/>
            <a:stCxn id="4" idx="5"/>
          </p:cNvCxnSpPr>
          <p:nvPr/>
        </p:nvCxnSpPr>
        <p:spPr>
          <a:xfrm flipH="1">
            <a:off x="10321962" y="1942371"/>
            <a:ext cx="759759" cy="443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C7438E80-3BD5-F704-E797-3CFAFF80A870}"/>
              </a:ext>
            </a:extLst>
          </p:cNvPr>
          <p:cNvSpPr txBox="1"/>
          <p:nvPr/>
        </p:nvSpPr>
        <p:spPr>
          <a:xfrm>
            <a:off x="9923256" y="2151729"/>
            <a:ext cx="420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N</a:t>
            </a:r>
            <a:r>
              <a:rPr lang="en-US" altLang="zh-CN" sz="1200" dirty="0"/>
              <a:t>i</a:t>
            </a:r>
            <a:endParaRPr lang="zh-CN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1A395902-A3DB-22E2-C10D-446E467F6D4F}"/>
                  </a:ext>
                </a:extLst>
              </p14:cNvPr>
              <p14:cNvContentPartPr/>
              <p14:nvPr/>
            </p14:nvContentPartPr>
            <p14:xfrm>
              <a:off x="11300908" y="2380406"/>
              <a:ext cx="360" cy="36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1A395902-A3DB-22E2-C10D-446E467F6D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37908" y="2317766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4B735FC5-2788-697F-67EB-9A40D4D3557E}"/>
              </a:ext>
            </a:extLst>
          </p:cNvPr>
          <p:cNvSpPr txBox="1"/>
          <p:nvPr/>
        </p:nvSpPr>
        <p:spPr>
          <a:xfrm>
            <a:off x="11381590" y="2273168"/>
            <a:ext cx="506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</a:t>
            </a:r>
            <a:r>
              <a:rPr lang="en-US" altLang="zh-CN" sz="1200" dirty="0"/>
              <a:t>E</a:t>
            </a:r>
            <a:r>
              <a:rPr lang="en-US" altLang="zh-CN" sz="800" dirty="0"/>
              <a:t>i</a:t>
            </a:r>
            <a:endParaRPr lang="zh-CN" altLang="en-US" sz="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EFFCEE4B-49DA-874F-7D76-7D1000654C3D}"/>
                  </a:ext>
                </a:extLst>
              </p14:cNvPr>
              <p14:cNvContentPartPr/>
              <p14:nvPr/>
            </p14:nvContentPartPr>
            <p14:xfrm>
              <a:off x="11128468" y="712886"/>
              <a:ext cx="360" cy="36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EFFCEE4B-49DA-874F-7D76-7D1000654C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65468" y="65024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9A934CEB-6498-CD9C-AF26-F53F99934F6E}"/>
                  </a:ext>
                </a:extLst>
              </p14:cNvPr>
              <p14:cNvContentPartPr/>
              <p14:nvPr/>
            </p14:nvContentPartPr>
            <p14:xfrm>
              <a:off x="10671268" y="2300126"/>
              <a:ext cx="360" cy="3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9A934CEB-6498-CD9C-AF26-F53F99934F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08628" y="2237126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93C0CDA3-DBD3-1BC6-6A37-D1DAEDA7396C}"/>
              </a:ext>
            </a:extLst>
          </p:cNvPr>
          <p:cNvSpPr txBox="1"/>
          <p:nvPr/>
        </p:nvSpPr>
        <p:spPr>
          <a:xfrm>
            <a:off x="10531736" y="2350279"/>
            <a:ext cx="422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</a:t>
            </a:r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41CE2A-D618-5A0B-3D4F-27D8C829257A}"/>
              </a:ext>
            </a:extLst>
          </p:cNvPr>
          <p:cNvSpPr txBox="1"/>
          <p:nvPr/>
        </p:nvSpPr>
        <p:spPr>
          <a:xfrm>
            <a:off x="11209150" y="463215"/>
            <a:ext cx="422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</a:t>
            </a:r>
            <a:r>
              <a:rPr lang="en-US" altLang="zh-CN" sz="1200" dirty="0"/>
              <a:t>0</a:t>
            </a:r>
            <a:endParaRPr lang="zh-CN" alt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3939E652-5CDE-2A0D-23AF-A9D934B84625}"/>
                  </a:ext>
                </a:extLst>
              </p14:cNvPr>
              <p14:cNvContentPartPr/>
              <p14:nvPr/>
            </p14:nvContentPartPr>
            <p14:xfrm>
              <a:off x="10876108" y="1562846"/>
              <a:ext cx="360" cy="36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3939E652-5CDE-2A0D-23AF-A9D934B8462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813108" y="1499846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E0586E64-12C4-7731-0FDC-7F89CB4D3E82}"/>
              </a:ext>
            </a:extLst>
          </p:cNvPr>
          <p:cNvSpPr txBox="1"/>
          <p:nvPr/>
        </p:nvSpPr>
        <p:spPr>
          <a:xfrm>
            <a:off x="10939182" y="1386751"/>
            <a:ext cx="506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P(t)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D1BD095-8653-8699-268B-EA5AEA455582}"/>
              </a:ext>
            </a:extLst>
          </p:cNvPr>
          <p:cNvCxnSpPr>
            <a:cxnSpLocks/>
          </p:cNvCxnSpPr>
          <p:nvPr/>
        </p:nvCxnSpPr>
        <p:spPr>
          <a:xfrm flipH="1">
            <a:off x="11618258" y="1200976"/>
            <a:ext cx="204396" cy="563376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9B8175D-9E78-21F9-A0E7-FF244EF6A58F}"/>
              </a:ext>
            </a:extLst>
          </p:cNvPr>
          <p:cNvCxnSpPr/>
          <p:nvPr/>
        </p:nvCxnSpPr>
        <p:spPr>
          <a:xfrm flipH="1">
            <a:off x="10344149" y="1386751"/>
            <a:ext cx="187587" cy="504521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707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C41D3A-F0F8-9023-5A43-57257174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当线段与边界平行时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826C1A-1BF5-A261-516A-99AC4C255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N</a:t>
            </a:r>
            <a:r>
              <a:rPr lang="en-US" altLang="zh-CN" sz="1900" dirty="0"/>
              <a:t>i</a:t>
            </a:r>
            <a:r>
              <a:rPr lang="en-US" altLang="zh-CN" dirty="0"/>
              <a:t> · D == 0 </a:t>
            </a:r>
            <a:r>
              <a:rPr lang="zh-CN" altLang="en-US" dirty="0"/>
              <a:t>表示线段方向平行于边界线（因为</a:t>
            </a:r>
            <a:r>
              <a:rPr lang="en-US" altLang="zh-CN" dirty="0"/>
              <a:t>D</a:t>
            </a:r>
            <a:r>
              <a:rPr lang="zh-CN" altLang="en-US" dirty="0"/>
              <a:t>与法向量</a:t>
            </a:r>
            <a:r>
              <a:rPr lang="en-US" altLang="zh-CN" dirty="0"/>
              <a:t>N</a:t>
            </a:r>
            <a:r>
              <a:rPr lang="en-US" altLang="zh-CN" sz="1800" dirty="0"/>
              <a:t>i</a:t>
            </a:r>
            <a:r>
              <a:rPr lang="zh-CN" altLang="en-US" dirty="0"/>
              <a:t>垂直）此时，无法计算有意义的交点参数 </a:t>
            </a:r>
            <a:r>
              <a:rPr lang="en-US" altLang="zh-CN" dirty="0"/>
              <a:t>t</a:t>
            </a:r>
            <a:r>
              <a:rPr lang="zh-CN" altLang="en-US" dirty="0"/>
              <a:t>（分母为</a:t>
            </a:r>
            <a:r>
              <a:rPr lang="en-US" altLang="zh-CN" dirty="0"/>
              <a:t>0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判断 </a:t>
            </a:r>
            <a:r>
              <a:rPr lang="en-US" altLang="zh-CN" dirty="0"/>
              <a:t>N</a:t>
            </a:r>
            <a:r>
              <a:rPr lang="en-US" altLang="zh-CN" sz="1900" dirty="0"/>
              <a:t>i</a:t>
            </a:r>
            <a:r>
              <a:rPr lang="en-US" altLang="zh-CN" dirty="0"/>
              <a:t> · (P</a:t>
            </a:r>
            <a:r>
              <a:rPr lang="en-US" altLang="zh-CN" sz="1900" dirty="0"/>
              <a:t>0</a:t>
            </a:r>
            <a:r>
              <a:rPr lang="en-US" altLang="zh-CN" dirty="0"/>
              <a:t> - P</a:t>
            </a:r>
            <a:r>
              <a:rPr lang="en-US" altLang="zh-CN" sz="1900" dirty="0"/>
              <a:t>E</a:t>
            </a:r>
            <a:r>
              <a:rPr lang="en-US" altLang="zh-CN" sz="1300" dirty="0"/>
              <a:t>i</a:t>
            </a:r>
            <a:r>
              <a:rPr lang="en-US" altLang="zh-CN" dirty="0"/>
              <a:t>) </a:t>
            </a:r>
            <a:r>
              <a:rPr lang="zh-CN" altLang="en-US" dirty="0"/>
              <a:t>的值：</a:t>
            </a: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&lt; 0</a:t>
            </a:r>
            <a:r>
              <a:rPr lang="zh-CN" altLang="en-US" dirty="0"/>
              <a:t>：线段起点在边界外部（方向相反） → 立即拒绝整个线段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&gt;</a:t>
            </a:r>
            <a:r>
              <a:rPr lang="zh-CN" altLang="en-US" dirty="0"/>
              <a:t> </a:t>
            </a:r>
            <a:r>
              <a:rPr lang="en-US" altLang="zh-CN" dirty="0"/>
              <a:t>0</a:t>
            </a:r>
            <a:r>
              <a:rPr lang="zh-CN" altLang="en-US" dirty="0"/>
              <a:t>：线段起点在边界内部（方向相同） → 继续检查其他边界</a:t>
            </a: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(P</a:t>
            </a:r>
            <a:r>
              <a:rPr lang="en-US" altLang="zh-CN" sz="1900" dirty="0"/>
              <a:t>0</a:t>
            </a:r>
            <a:r>
              <a:rPr lang="en-US" altLang="zh-CN" dirty="0"/>
              <a:t> - P</a:t>
            </a:r>
            <a:r>
              <a:rPr lang="en-US" altLang="zh-CN" sz="1900" dirty="0"/>
              <a:t>E</a:t>
            </a:r>
            <a:r>
              <a:rPr lang="en-US" altLang="zh-CN" sz="1300" dirty="0"/>
              <a:t>i</a:t>
            </a:r>
            <a:r>
              <a:rPr lang="en-US" altLang="zh-CN" dirty="0"/>
              <a:t>)</a:t>
            </a:r>
            <a:r>
              <a:rPr lang="zh-CN" altLang="en-US" dirty="0"/>
              <a:t>：从边界起点指向线段起点的向量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N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i </a:t>
            </a:r>
            <a:r>
              <a:rPr lang="zh-CN" altLang="en-US" dirty="0"/>
              <a:t>：内法向量</a:t>
            </a:r>
          </a:p>
        </p:txBody>
      </p:sp>
    </p:spTree>
    <p:extLst>
      <p:ext uri="{BB962C8B-B14F-4D97-AF65-F5344CB8AC3E}">
        <p14:creationId xmlns:p14="http://schemas.microsoft.com/office/powerpoint/2010/main" val="2680423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36B5D-FB86-4B7B-B7A3-C417A7D8E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算法流程</a:t>
            </a:r>
          </a:p>
        </p:txBody>
      </p:sp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E0A885A1-8497-B581-5EF1-D102B26CF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094" y="0"/>
            <a:ext cx="4854967" cy="6858000"/>
          </a:xfrm>
        </p:spPr>
      </p:pic>
    </p:spTree>
    <p:extLst>
      <p:ext uri="{BB962C8B-B14F-4D97-AF65-F5344CB8AC3E}">
        <p14:creationId xmlns:p14="http://schemas.microsoft.com/office/powerpoint/2010/main" val="2362175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254DC-2CF0-5162-F198-D009B31DF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9E79FE-9B57-A015-16AA-CAF504E3E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编写并运行一段程序，实现用一个凸多边形裁剪一组线段的功能。用户用鼠标确定多边形的顶点，每增加一个顶点自动连接形成新的凸多边形。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当按下 “</a:t>
            </a:r>
            <a:r>
              <a:rPr lang="en-US" altLang="zh-CN" dirty="0"/>
              <a:t>c” </a:t>
            </a:r>
            <a:r>
              <a:rPr lang="zh-CN" altLang="en-US" dirty="0"/>
              <a:t>键终止增加顶点，然后程序会随机生成一组线段。对每一条线段，首先把它整个绘制为红色，然后将裁剪得到的多边形内部的部分绘制为蓝色。</a:t>
            </a:r>
          </a:p>
        </p:txBody>
      </p:sp>
    </p:spTree>
    <p:extLst>
      <p:ext uri="{BB962C8B-B14F-4D97-AF65-F5344CB8AC3E}">
        <p14:creationId xmlns:p14="http://schemas.microsoft.com/office/powerpoint/2010/main" val="416044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2B8E5823-0C94-D68E-EF57-1AD00B9B8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11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745</Words>
  <Application>Microsoft Office PowerPoint</Application>
  <PresentationFormat>宽屏</PresentationFormat>
  <Paragraphs>61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Cyrus-Beck Clipping</vt:lpstr>
      <vt:lpstr>为什么需要新的裁剪算法？</vt:lpstr>
      <vt:lpstr>核心思想</vt:lpstr>
      <vt:lpstr>准备工作：参数与向量</vt:lpstr>
      <vt:lpstr>交点分类：t_E （初始为0）与 t_L（初始为1）</vt:lpstr>
      <vt:lpstr>当线段与边界平行时</vt:lpstr>
      <vt:lpstr>算法流程</vt:lpstr>
      <vt:lpstr>实验要求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昊炎 刘</dc:creator>
  <cp:lastModifiedBy>昊炎 刘</cp:lastModifiedBy>
  <cp:revision>2</cp:revision>
  <dcterms:created xsi:type="dcterms:W3CDTF">2025-11-14T08:22:09Z</dcterms:created>
  <dcterms:modified xsi:type="dcterms:W3CDTF">2025-11-14T11:58:41Z</dcterms:modified>
</cp:coreProperties>
</file>