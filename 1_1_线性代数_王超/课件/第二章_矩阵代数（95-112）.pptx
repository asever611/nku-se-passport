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20"/>
  </p:handoutMasterIdLst>
  <p:sldIdLst>
    <p:sldId id="357" r:id="rId2"/>
    <p:sldId id="358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</p:sldIdLst>
  <p:sldSz cx="9144000" cy="6858000" type="screen4x3"/>
  <p:notesSz cx="9979025" cy="68341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00CC99"/>
    <a:srgbClr val="0000CC"/>
    <a:srgbClr val="000099"/>
    <a:srgbClr val="A50021"/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29" autoAdjust="0"/>
    <p:restoredTop sz="94660"/>
  </p:normalViewPr>
  <p:slideViewPr>
    <p:cSldViewPr>
      <p:cViewPr varScale="1">
        <p:scale>
          <a:sx n="88" d="100"/>
          <a:sy n="88" d="100"/>
        </p:scale>
        <p:origin x="1646" y="62"/>
      </p:cViewPr>
      <p:guideLst>
        <p:guide orient="horz" pos="384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243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53088" y="0"/>
            <a:ext cx="43243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91288"/>
            <a:ext cx="432435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53088" y="6491288"/>
            <a:ext cx="432435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ea typeface="宋体" pitchFamily="2" charset="-122"/>
              </a:defRPr>
            </a:lvl1pPr>
          </a:lstStyle>
          <a:p>
            <a:pPr>
              <a:defRPr/>
            </a:pPr>
            <a:fld id="{677C79F0-8B8F-40F4-A724-7548F3E19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007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0173970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4283894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83880476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3281762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54513468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4203826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721643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8920211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27702951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03482285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6510355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7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8" name="Rectangle 8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9" name="Rectangle 9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>
    <p:wip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685800" y="692150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1pPr>
            <a:lvl2pPr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2pPr>
            <a:lvl3pPr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3pPr>
            <a:lvl4pPr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4pPr>
            <a:lvl5pPr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</a:defRPr>
            </a:lvl9pPr>
          </a:lstStyle>
          <a:p>
            <a:pPr algn="ctr">
              <a:defRPr/>
            </a:pPr>
            <a:r>
              <a:rPr lang="zh-CN" altLang="en-US" sz="6600"/>
              <a:t>第二章 矩阵代数</a:t>
            </a:r>
          </a:p>
        </p:txBody>
      </p:sp>
      <p:sp>
        <p:nvSpPr>
          <p:cNvPr id="98307" name="Rectangle 5"/>
          <p:cNvSpPr>
            <a:spLocks noChangeArrowheads="1"/>
          </p:cNvSpPr>
          <p:nvPr/>
        </p:nvSpPr>
        <p:spPr bwMode="auto">
          <a:xfrm>
            <a:off x="1371600" y="1985963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973263" indent="-1973263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243840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2846388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3254375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3662363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4119563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4576763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5033963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5491163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4400">
                <a:solidFill>
                  <a:schemeClr val="accent2"/>
                </a:solidFill>
                <a:latin typeface="黑体" pitchFamily="49" charset="-122"/>
              </a:rPr>
              <a:t>第三节 逆矩阵与矩阵的初等变换 </a:t>
            </a:r>
          </a:p>
        </p:txBody>
      </p:sp>
      <p:sp>
        <p:nvSpPr>
          <p:cNvPr id="98308" name="Rectangle 6"/>
          <p:cNvSpPr>
            <a:spLocks noChangeArrowheads="1"/>
          </p:cNvSpPr>
          <p:nvPr/>
        </p:nvSpPr>
        <p:spPr bwMode="auto">
          <a:xfrm>
            <a:off x="755650" y="3543300"/>
            <a:ext cx="590391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chemeClr val="accent2"/>
                </a:solidFill>
              </a:rPr>
              <a:t>§2.3.2</a:t>
            </a:r>
            <a:r>
              <a:rPr lang="en-US" altLang="zh-CN" sz="3600">
                <a:solidFill>
                  <a:srgbClr val="0000FF"/>
                </a:solidFill>
              </a:rPr>
              <a:t> </a:t>
            </a:r>
            <a:r>
              <a:rPr lang="zh-CN" altLang="en-US" sz="3600">
                <a:solidFill>
                  <a:srgbClr val="0000FF"/>
                </a:solidFill>
              </a:rPr>
              <a:t>矩阵的初等变换</a:t>
            </a:r>
          </a:p>
        </p:txBody>
      </p:sp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900113" y="4551363"/>
            <a:ext cx="74882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5350" indent="-8953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latin typeface="黑体" pitchFamily="49" charset="-122"/>
              </a:rPr>
              <a:t>目的</a:t>
            </a:r>
            <a:r>
              <a:rPr lang="en-US" altLang="zh-CN" sz="2400">
                <a:solidFill>
                  <a:srgbClr val="CC0000"/>
                </a:solidFill>
                <a:latin typeface="黑体" pitchFamily="49" charset="-122"/>
              </a:rPr>
              <a:t>:</a:t>
            </a:r>
            <a:r>
              <a:rPr lang="en-US" altLang="zh-CN" sz="2400">
                <a:latin typeface="黑体" pitchFamily="49" charset="-122"/>
              </a:rPr>
              <a:t> </a:t>
            </a:r>
            <a:r>
              <a:rPr lang="zh-CN" altLang="en-US" sz="2400">
                <a:latin typeface="黑体" pitchFamily="49" charset="-122"/>
              </a:rPr>
              <a:t>解决待定系数法和伴随矩阵法求取方阵的逆矩阵计算量大的问题</a:t>
            </a:r>
            <a:r>
              <a:rPr lang="en-US" altLang="zh-CN" sz="2400">
                <a:latin typeface="黑体" pitchFamily="49" charset="-122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468313" y="876300"/>
            <a:ext cx="107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定义</a:t>
            </a:r>
            <a:r>
              <a:rPr lang="en-US" altLang="zh-CN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1476375" y="876300"/>
            <a:ext cx="7446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2"/>
                </a:solidFill>
              </a:rPr>
              <a:t>下面对矩阵的三种变换称为矩阵的</a:t>
            </a:r>
            <a:r>
              <a:rPr lang="zh-CN" altLang="en-US">
                <a:solidFill>
                  <a:srgbClr val="0000CC"/>
                </a:solidFill>
              </a:rPr>
              <a:t>初等</a:t>
            </a:r>
            <a:r>
              <a:rPr lang="zh-CN" altLang="en-US">
                <a:solidFill>
                  <a:srgbClr val="CC0000"/>
                </a:solidFill>
              </a:rPr>
              <a:t>行</a:t>
            </a:r>
            <a:r>
              <a:rPr lang="zh-CN" altLang="en-US">
                <a:solidFill>
                  <a:srgbClr val="0000CC"/>
                </a:solidFill>
              </a:rPr>
              <a:t>变换</a:t>
            </a:r>
            <a:r>
              <a:rPr lang="en-US" altLang="zh-CN">
                <a:solidFill>
                  <a:schemeClr val="bg2"/>
                </a:solidFill>
              </a:rPr>
              <a:t>:</a:t>
            </a:r>
          </a:p>
        </p:txBody>
      </p:sp>
      <p:sp>
        <p:nvSpPr>
          <p:cNvPr id="94220" name="Rectangle 12"/>
          <p:cNvSpPr>
            <a:spLocks noChangeArrowheads="1"/>
          </p:cNvSpPr>
          <p:nvPr/>
        </p:nvSpPr>
        <p:spPr bwMode="auto">
          <a:xfrm>
            <a:off x="1549400" y="1420813"/>
            <a:ext cx="4260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(1) </a:t>
            </a:r>
            <a:r>
              <a:rPr lang="zh-CN" altLang="en-US">
                <a:solidFill>
                  <a:srgbClr val="0000CC"/>
                </a:solidFill>
              </a:rPr>
              <a:t>换行</a:t>
            </a:r>
            <a:r>
              <a:rPr lang="zh-CN" altLang="en-US"/>
              <a:t>变换：互换两行；</a:t>
            </a:r>
          </a:p>
        </p:txBody>
      </p:sp>
      <p:sp>
        <p:nvSpPr>
          <p:cNvPr id="94221" name="Rectangle 13"/>
          <p:cNvSpPr>
            <a:spLocks noChangeArrowheads="1"/>
          </p:cNvSpPr>
          <p:nvPr/>
        </p:nvSpPr>
        <p:spPr bwMode="auto">
          <a:xfrm>
            <a:off x="1476375" y="1909763"/>
            <a:ext cx="6080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黑体" pitchFamily="49" charset="-122"/>
              </a:rPr>
              <a:t>(2)</a:t>
            </a:r>
            <a:r>
              <a:rPr lang="zh-CN" altLang="en-US">
                <a:solidFill>
                  <a:srgbClr val="0000CC"/>
                </a:solidFill>
                <a:latin typeface="黑体" pitchFamily="49" charset="-122"/>
              </a:rPr>
              <a:t>数乘</a:t>
            </a:r>
            <a:r>
              <a:rPr lang="zh-CN" altLang="en-US">
                <a:latin typeface="黑体" pitchFamily="49" charset="-122"/>
              </a:rPr>
              <a:t>变换：用</a:t>
            </a:r>
            <a:r>
              <a:rPr lang="zh-CN" altLang="en-US">
                <a:solidFill>
                  <a:srgbClr val="CC0000"/>
                </a:solidFill>
                <a:latin typeface="黑体" pitchFamily="49" charset="-122"/>
              </a:rPr>
              <a:t>非零</a:t>
            </a:r>
            <a:r>
              <a:rPr lang="zh-CN" altLang="en-US">
                <a:latin typeface="黑体" pitchFamily="49" charset="-122"/>
              </a:rPr>
              <a:t>常数</a:t>
            </a:r>
            <a:r>
              <a:rPr lang="en-US" altLang="zh-CN" i="1"/>
              <a:t>k</a:t>
            </a:r>
            <a:r>
              <a:rPr lang="zh-CN" altLang="en-US">
                <a:latin typeface="黑体" pitchFamily="49" charset="-122"/>
              </a:rPr>
              <a:t>乘某行； </a:t>
            </a:r>
          </a:p>
        </p:txBody>
      </p:sp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1476375" y="2357438"/>
            <a:ext cx="7240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黑体" pitchFamily="49" charset="-122"/>
              </a:rPr>
              <a:t>(3)</a:t>
            </a:r>
            <a:r>
              <a:rPr lang="zh-CN" altLang="en-US">
                <a:solidFill>
                  <a:srgbClr val="0000CC"/>
                </a:solidFill>
                <a:latin typeface="黑体" pitchFamily="49" charset="-122"/>
              </a:rPr>
              <a:t>倍加</a:t>
            </a:r>
            <a:r>
              <a:rPr lang="zh-CN" altLang="en-US">
                <a:latin typeface="黑体" pitchFamily="49" charset="-122"/>
              </a:rPr>
              <a:t>变换：将某行的</a:t>
            </a:r>
            <a:r>
              <a:rPr lang="en-US" altLang="zh-CN" i="1"/>
              <a:t>k</a:t>
            </a:r>
            <a:r>
              <a:rPr lang="zh-CN" altLang="en-US">
                <a:latin typeface="黑体" pitchFamily="49" charset="-122"/>
              </a:rPr>
              <a:t>倍加到另一行上去</a:t>
            </a:r>
            <a:r>
              <a:rPr lang="en-US" altLang="zh-CN"/>
              <a:t>.</a:t>
            </a:r>
            <a:r>
              <a:rPr lang="en-US" altLang="zh-CN">
                <a:latin typeface="黑体" pitchFamily="49" charset="-122"/>
              </a:rPr>
              <a:t> </a:t>
            </a:r>
          </a:p>
        </p:txBody>
      </p: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1403350" y="2965450"/>
            <a:ext cx="4916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2"/>
                </a:solidFill>
              </a:rPr>
              <a:t>同理可定义矩阵的</a:t>
            </a:r>
            <a:r>
              <a:rPr lang="zh-CN" altLang="en-US">
                <a:solidFill>
                  <a:srgbClr val="0000CC"/>
                </a:solidFill>
              </a:rPr>
              <a:t>初等</a:t>
            </a:r>
            <a:r>
              <a:rPr lang="zh-CN" altLang="en-US">
                <a:solidFill>
                  <a:srgbClr val="CC0000"/>
                </a:solidFill>
              </a:rPr>
              <a:t>列</a:t>
            </a:r>
            <a:r>
              <a:rPr lang="zh-CN" altLang="en-US">
                <a:solidFill>
                  <a:srgbClr val="0000CC"/>
                </a:solidFill>
              </a:rPr>
              <a:t>变换</a:t>
            </a:r>
            <a:r>
              <a:rPr lang="en-US" altLang="zh-CN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684213" y="3411538"/>
            <a:ext cx="8064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        </a:t>
            </a:r>
            <a:r>
              <a:rPr lang="zh-CN" altLang="en-US"/>
              <a:t>矩阵的初等列变换与初等行变换统称为矩阵的</a:t>
            </a:r>
            <a:r>
              <a:rPr lang="zh-CN" altLang="en-US">
                <a:solidFill>
                  <a:srgbClr val="CC0000"/>
                </a:solidFill>
              </a:rPr>
              <a:t>初等变换</a:t>
            </a:r>
            <a:r>
              <a:rPr lang="en-US" altLang="zh-CN"/>
              <a:t>. </a:t>
            </a:r>
          </a:p>
        </p:txBody>
      </p:sp>
      <p:sp>
        <p:nvSpPr>
          <p:cNvPr id="94225" name="Rectangle 17"/>
          <p:cNvSpPr>
            <a:spLocks noChangeArrowheads="1"/>
          </p:cNvSpPr>
          <p:nvPr/>
        </p:nvSpPr>
        <p:spPr bwMode="auto">
          <a:xfrm>
            <a:off x="1370013" y="4348163"/>
            <a:ext cx="6657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用记号</a:t>
            </a:r>
            <a:r>
              <a:rPr lang="en-US" altLang="zh-CN" i="1"/>
              <a:t>A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en-US" altLang="zh-CN" i="1"/>
              <a:t>B</a:t>
            </a:r>
            <a:r>
              <a:rPr lang="zh-CN" altLang="en-US">
                <a:sym typeface="Wingdings" pitchFamily="2" charset="2"/>
              </a:rPr>
              <a:t>表示</a:t>
            </a:r>
            <a:r>
              <a:rPr lang="en-US" altLang="zh-CN" i="1">
                <a:sym typeface="Wingdings" pitchFamily="2" charset="2"/>
              </a:rPr>
              <a:t>A</a:t>
            </a:r>
            <a:r>
              <a:rPr lang="zh-CN" altLang="en-US">
                <a:sym typeface="Wingdings" pitchFamily="2" charset="2"/>
              </a:rPr>
              <a:t>经初等变换得到矩阵</a:t>
            </a:r>
            <a:r>
              <a:rPr lang="en-US" altLang="zh-CN" i="1">
                <a:sym typeface="Wingdings" pitchFamily="2" charset="2"/>
              </a:rPr>
              <a:t>B</a:t>
            </a:r>
            <a:r>
              <a:rPr lang="en-US" altLang="zh-CN">
                <a:sym typeface="Wingdings" pitchFamily="2" charset="2"/>
              </a:rPr>
              <a:t>. </a:t>
            </a:r>
          </a:p>
        </p:txBody>
      </p:sp>
      <p:sp>
        <p:nvSpPr>
          <p:cNvPr id="94226" name="Rectangle 18"/>
          <p:cNvSpPr>
            <a:spLocks noChangeArrowheads="1"/>
          </p:cNvSpPr>
          <p:nvPr/>
        </p:nvSpPr>
        <p:spPr bwMode="auto">
          <a:xfrm>
            <a:off x="611188" y="4924425"/>
            <a:ext cx="8064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        </a:t>
            </a:r>
            <a:r>
              <a:rPr lang="zh-CN" altLang="en-US"/>
              <a:t>初等变换是</a:t>
            </a:r>
            <a:r>
              <a:rPr lang="zh-CN" altLang="en-US">
                <a:solidFill>
                  <a:srgbClr val="CC0000"/>
                </a:solidFill>
              </a:rPr>
              <a:t>可逆</a:t>
            </a:r>
            <a:r>
              <a:rPr lang="zh-CN" altLang="en-US"/>
              <a:t>的，且每种初等变换和它的逆变换是</a:t>
            </a:r>
            <a:r>
              <a:rPr lang="zh-CN" altLang="en-US">
                <a:solidFill>
                  <a:srgbClr val="CC0000"/>
                </a:solidFill>
              </a:rPr>
              <a:t>同一类型</a:t>
            </a:r>
            <a:r>
              <a:rPr lang="en-US" altLang="zh-CN"/>
              <a:t>.</a:t>
            </a:r>
          </a:p>
        </p:txBody>
      </p:sp>
      <p:sp>
        <p:nvSpPr>
          <p:cNvPr id="99339" name="Text Box 26"/>
          <p:cNvSpPr txBox="1">
            <a:spLocks noChangeArrowheads="1"/>
          </p:cNvSpPr>
          <p:nvPr/>
        </p:nvSpPr>
        <p:spPr bwMode="auto">
          <a:xfrm>
            <a:off x="611188" y="44450"/>
            <a:ext cx="4313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0000FF"/>
                </a:solidFill>
              </a:rPr>
              <a:t>一、矩阵的初等变换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11" grpId="0"/>
      <p:bldP spid="94220" grpId="0"/>
      <p:bldP spid="94221" grpId="0"/>
      <p:bldP spid="94222" grpId="0"/>
      <p:bldP spid="94223" grpId="0"/>
      <p:bldP spid="94224" grpId="0"/>
      <p:bldP spid="94225" grpId="0"/>
      <p:bldP spid="942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7" name="Rectangle 15"/>
          <p:cNvSpPr>
            <a:spLocks noChangeArrowheads="1"/>
          </p:cNvSpPr>
          <p:nvPr/>
        </p:nvSpPr>
        <p:spPr bwMode="auto">
          <a:xfrm>
            <a:off x="682625" y="1628775"/>
            <a:ext cx="82819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076325" indent="-107632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定义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	</a:t>
            </a:r>
            <a:r>
              <a:rPr lang="zh-CN" altLang="en-US"/>
              <a:t>如果矩阵</a:t>
            </a:r>
            <a:r>
              <a:rPr lang="en-US" altLang="zh-CN" i="1"/>
              <a:t>A</a:t>
            </a:r>
            <a:r>
              <a:rPr lang="zh-CN" altLang="en-US"/>
              <a:t>经过</a:t>
            </a:r>
            <a:r>
              <a:rPr lang="zh-CN" altLang="en-US">
                <a:solidFill>
                  <a:srgbClr val="CC0000"/>
                </a:solidFill>
              </a:rPr>
              <a:t>有限次</a:t>
            </a:r>
            <a:r>
              <a:rPr lang="zh-CN" altLang="en-US"/>
              <a:t>初等变换变成矩阵</a:t>
            </a:r>
            <a:r>
              <a:rPr lang="en-US" altLang="zh-CN" i="1"/>
              <a:t>B</a:t>
            </a:r>
            <a:r>
              <a:rPr lang="zh-CN" altLang="en-US"/>
              <a:t>，就称矩阵</a:t>
            </a:r>
            <a:r>
              <a:rPr lang="en-US" altLang="zh-CN" i="1"/>
              <a:t>A</a:t>
            </a:r>
            <a:r>
              <a:rPr lang="zh-CN" altLang="en-US"/>
              <a:t>和</a:t>
            </a:r>
            <a:r>
              <a:rPr lang="en-US" altLang="zh-CN" i="1"/>
              <a:t>B</a:t>
            </a:r>
            <a:r>
              <a:rPr lang="zh-CN" altLang="en-US">
                <a:solidFill>
                  <a:srgbClr val="0000CC"/>
                </a:solidFill>
              </a:rPr>
              <a:t>等价</a:t>
            </a:r>
            <a:r>
              <a:rPr lang="en-US" altLang="zh-CN"/>
              <a:t>. </a:t>
            </a:r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1908175" y="2636838"/>
            <a:ext cx="4392613" cy="576262"/>
          </a:xfrm>
          <a:prstGeom prst="rect">
            <a:avLst/>
          </a:prstGeom>
          <a:solidFill>
            <a:srgbClr val="66FFFF"/>
          </a:solidFill>
          <a:ln w="57150" cmpd="thinThick" algn="ctr">
            <a:solidFill>
              <a:srgbClr val="0000CC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>
                <a:ea typeface="楷体_GB2312" pitchFamily="49" charset="-122"/>
              </a:rPr>
              <a:t>等价是矩阵间的一种关系</a:t>
            </a:r>
            <a:r>
              <a:rPr lang="zh-CN" altLang="en-US"/>
              <a:t> </a:t>
            </a: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1619250" y="3270250"/>
            <a:ext cx="420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不难证明，矩阵等价具有 </a:t>
            </a:r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2035175" y="3787775"/>
            <a:ext cx="3840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(1) </a:t>
            </a:r>
            <a:r>
              <a:rPr lang="zh-CN" altLang="en-US">
                <a:solidFill>
                  <a:srgbClr val="0000CC"/>
                </a:solidFill>
              </a:rPr>
              <a:t>反身性</a:t>
            </a:r>
            <a:r>
              <a:rPr lang="zh-CN" altLang="en-US"/>
              <a:t>：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A</a:t>
            </a:r>
            <a:r>
              <a:rPr lang="zh-CN" altLang="en-US"/>
              <a:t>等价</a:t>
            </a:r>
            <a:r>
              <a:rPr lang="en-US" altLang="zh-CN"/>
              <a:t>. </a:t>
            </a:r>
          </a:p>
        </p:txBody>
      </p:sp>
      <p:sp>
        <p:nvSpPr>
          <p:cNvPr id="95251" name="Rectangle 19"/>
          <p:cNvSpPr>
            <a:spLocks noChangeArrowheads="1"/>
          </p:cNvSpPr>
          <p:nvPr/>
        </p:nvSpPr>
        <p:spPr bwMode="auto">
          <a:xfrm>
            <a:off x="2035175" y="4292600"/>
            <a:ext cx="6456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(2) </a:t>
            </a:r>
            <a:r>
              <a:rPr lang="zh-CN" altLang="en-US">
                <a:solidFill>
                  <a:srgbClr val="0000CC"/>
                </a:solidFill>
              </a:rPr>
              <a:t>对称性</a:t>
            </a:r>
            <a:r>
              <a:rPr lang="zh-CN" altLang="en-US"/>
              <a:t>：若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B</a:t>
            </a:r>
            <a:r>
              <a:rPr lang="zh-CN" altLang="en-US"/>
              <a:t>等价，则</a:t>
            </a:r>
            <a:r>
              <a:rPr lang="en-US" altLang="zh-CN" i="1"/>
              <a:t>B</a:t>
            </a:r>
            <a:r>
              <a:rPr lang="zh-CN" altLang="en-US"/>
              <a:t>与</a:t>
            </a:r>
            <a:r>
              <a:rPr lang="en-US" altLang="zh-CN" i="1"/>
              <a:t>A</a:t>
            </a:r>
            <a:r>
              <a:rPr lang="zh-CN" altLang="en-US"/>
              <a:t>等价</a:t>
            </a:r>
            <a:r>
              <a:rPr lang="en-US" altLang="zh-CN"/>
              <a:t>. </a:t>
            </a:r>
          </a:p>
        </p:txBody>
      </p:sp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2035175" y="4797425"/>
            <a:ext cx="64246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(3) </a:t>
            </a:r>
            <a:r>
              <a:rPr lang="zh-CN" altLang="en-US">
                <a:solidFill>
                  <a:srgbClr val="0000CC"/>
                </a:solidFill>
              </a:rPr>
              <a:t>传递性</a:t>
            </a:r>
            <a:r>
              <a:rPr lang="zh-CN" altLang="en-US"/>
              <a:t>：若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B</a:t>
            </a:r>
            <a:r>
              <a:rPr lang="zh-CN" altLang="en-US"/>
              <a:t>等价</a:t>
            </a:r>
            <a:r>
              <a:rPr lang="zh-CN" altLang="en-US" i="1"/>
              <a:t>，</a:t>
            </a:r>
            <a:r>
              <a:rPr lang="en-US" altLang="zh-CN" i="1"/>
              <a:t>B</a:t>
            </a:r>
            <a:r>
              <a:rPr lang="zh-CN" altLang="en-US"/>
              <a:t>与</a:t>
            </a:r>
            <a:r>
              <a:rPr lang="en-US" altLang="zh-CN" i="1"/>
              <a:t>C</a:t>
            </a:r>
            <a:r>
              <a:rPr lang="zh-CN" altLang="en-US"/>
              <a:t>等价，则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C</a:t>
            </a:r>
            <a:r>
              <a:rPr lang="en-US" altLang="zh-CN"/>
              <a:t> </a:t>
            </a:r>
            <a:r>
              <a:rPr lang="zh-CN" altLang="en-US"/>
              <a:t>等价</a:t>
            </a:r>
            <a:r>
              <a:rPr lang="en-US" altLang="zh-CN"/>
              <a:t>.</a:t>
            </a:r>
          </a:p>
        </p:txBody>
      </p:sp>
      <p:graphicFrame>
        <p:nvGraphicFramePr>
          <p:cNvPr id="95254" name="Object 22"/>
          <p:cNvGraphicFramePr>
            <a:graphicFrameLocks noChangeAspect="1"/>
          </p:cNvGraphicFramePr>
          <p:nvPr/>
        </p:nvGraphicFramePr>
        <p:xfrm>
          <a:off x="1763713" y="549275"/>
          <a:ext cx="102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7" name="Equation" r:id="rId3" imgW="1028700" imgH="469900" progId="Equation.3">
                  <p:embed/>
                </p:oleObj>
              </mc:Choice>
              <mc:Fallback>
                <p:oleObj name="Equation" r:id="rId3" imgW="1028700" imgH="469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49275"/>
                        <a:ext cx="102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5" name="Text Box 23"/>
          <p:cNvSpPr txBox="1">
            <a:spLocks noChangeArrowheads="1"/>
          </p:cNvSpPr>
          <p:nvPr/>
        </p:nvSpPr>
        <p:spPr bwMode="auto">
          <a:xfrm>
            <a:off x="2916238" y="47625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宋体" pitchFamily="2" charset="-122"/>
              </a:rPr>
              <a:t>逆变换</a:t>
            </a:r>
          </a:p>
        </p:txBody>
      </p:sp>
      <p:graphicFrame>
        <p:nvGraphicFramePr>
          <p:cNvPr id="95256" name="Object 24"/>
          <p:cNvGraphicFramePr>
            <a:graphicFrameLocks noChangeAspect="1"/>
          </p:cNvGraphicFramePr>
          <p:nvPr/>
        </p:nvGraphicFramePr>
        <p:xfrm>
          <a:off x="4284663" y="549275"/>
          <a:ext cx="1143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8" name="Equation" r:id="rId5" imgW="1143000" imgH="469900" progId="Equation.3">
                  <p:embed/>
                </p:oleObj>
              </mc:Choice>
              <mc:Fallback>
                <p:oleObj name="Equation" r:id="rId5" imgW="1143000" imgH="4699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49275"/>
                        <a:ext cx="1143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3" name="Text Box 25"/>
          <p:cNvSpPr txBox="1">
            <a:spLocks noChangeArrowheads="1"/>
          </p:cNvSpPr>
          <p:nvPr/>
        </p:nvSpPr>
        <p:spPr bwMode="auto">
          <a:xfrm>
            <a:off x="1035050" y="476250"/>
            <a:ext cx="66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如</a:t>
            </a:r>
            <a:r>
              <a:rPr lang="en-US" altLang="zh-CN"/>
              <a:t>:</a:t>
            </a:r>
          </a:p>
        </p:txBody>
      </p:sp>
      <p:graphicFrame>
        <p:nvGraphicFramePr>
          <p:cNvPr id="95258" name="Object 26"/>
          <p:cNvGraphicFramePr>
            <a:graphicFrameLocks noChangeAspect="1"/>
          </p:cNvGraphicFramePr>
          <p:nvPr/>
        </p:nvGraphicFramePr>
        <p:xfrm>
          <a:off x="1754188" y="1052513"/>
          <a:ext cx="100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29" name="Equation" r:id="rId7" imgW="1002865" imgH="469696" progId="Equation.3">
                  <p:embed/>
                </p:oleObj>
              </mc:Choice>
              <mc:Fallback>
                <p:oleObj name="Equation" r:id="rId7" imgW="1002865" imgH="46969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1052513"/>
                        <a:ext cx="100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9" name="Text Box 27"/>
          <p:cNvSpPr txBox="1">
            <a:spLocks noChangeArrowheads="1"/>
          </p:cNvSpPr>
          <p:nvPr/>
        </p:nvSpPr>
        <p:spPr bwMode="auto">
          <a:xfrm>
            <a:off x="2906713" y="981075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宋体" pitchFamily="2" charset="-122"/>
              </a:rPr>
              <a:t>逆变换</a:t>
            </a:r>
          </a:p>
        </p:txBody>
      </p:sp>
      <p:graphicFrame>
        <p:nvGraphicFramePr>
          <p:cNvPr id="95260" name="Object 28"/>
          <p:cNvGraphicFramePr>
            <a:graphicFrameLocks noChangeAspect="1"/>
          </p:cNvGraphicFramePr>
          <p:nvPr/>
        </p:nvGraphicFramePr>
        <p:xfrm>
          <a:off x="4259263" y="1052513"/>
          <a:ext cx="3111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30" name="Equation" r:id="rId9" imgW="3111500" imgH="482600" progId="Equation.3">
                  <p:embed/>
                </p:oleObj>
              </mc:Choice>
              <mc:Fallback>
                <p:oleObj name="Equation" r:id="rId9" imgW="3111500" imgH="482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9263" y="1052513"/>
                        <a:ext cx="3111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7" grpId="0"/>
      <p:bldP spid="95248" grpId="0" animBg="1"/>
      <p:bldP spid="95249" grpId="0"/>
      <p:bldP spid="95250" grpId="0"/>
      <p:bldP spid="95251" grpId="0"/>
      <p:bldP spid="95252" grpId="0"/>
      <p:bldP spid="95255" grpId="0" autoUpdateAnimBg="0"/>
      <p:bldP spid="9525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91" name="Object 11"/>
          <p:cNvGraphicFramePr>
            <a:graphicFrameLocks noChangeAspect="1"/>
          </p:cNvGraphicFramePr>
          <p:nvPr/>
        </p:nvGraphicFramePr>
        <p:xfrm>
          <a:off x="1098550" y="3860800"/>
          <a:ext cx="1692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7" name="Equation" r:id="rId3" imgW="596641" imgH="304668" progId="Equation.DSMT4">
                  <p:embed/>
                </p:oleObj>
              </mc:Choice>
              <mc:Fallback>
                <p:oleObj name="Equation" r:id="rId3" imgW="596641" imgH="3046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860800"/>
                        <a:ext cx="1692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476375" y="981075"/>
          <a:ext cx="43434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8" name="Equation" r:id="rId5" imgW="4343400" imgH="2044700" progId="Equation.3">
                  <p:embed/>
                </p:oleObj>
              </mc:Choice>
              <mc:Fallback>
                <p:oleObj name="Equation" r:id="rId5" imgW="4343400" imgH="2044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981075"/>
                        <a:ext cx="43434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2916238" y="3429000"/>
          <a:ext cx="41148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29" name="Equation" r:id="rId7" imgW="4114800" imgH="2044700" progId="Equation.3">
                  <p:embed/>
                </p:oleObj>
              </mc:Choice>
              <mc:Fallback>
                <p:oleObj name="Equation" r:id="rId7" imgW="4114800" imgH="2044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429000"/>
                        <a:ext cx="41148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1" name="Text Box 9"/>
          <p:cNvSpPr txBox="1">
            <a:spLocks noChangeArrowheads="1"/>
          </p:cNvSpPr>
          <p:nvPr/>
        </p:nvSpPr>
        <p:spPr bwMode="auto">
          <a:xfrm>
            <a:off x="1023938" y="423863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例如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3132138" y="3213100"/>
          <a:ext cx="38862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5" name="Equation" r:id="rId3" imgW="3886200" imgH="2044700" progId="Equation.3">
                  <p:embed/>
                </p:oleObj>
              </mc:Choice>
              <mc:Fallback>
                <p:oleObj name="Equation" r:id="rId3" imgW="3886200" imgH="2044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213100"/>
                        <a:ext cx="38862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1331913" y="476250"/>
          <a:ext cx="41402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6" name="Equation" r:id="rId5" imgW="4140200" imgH="2044700" progId="Equation.3">
                  <p:embed/>
                </p:oleObj>
              </mc:Choice>
              <mc:Fallback>
                <p:oleObj name="Equation" r:id="rId5" imgW="4140200" imgH="2044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6250"/>
                        <a:ext cx="41402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9" name="Object 5"/>
          <p:cNvGraphicFramePr>
            <a:graphicFrameLocks noChangeAspect="1"/>
          </p:cNvGraphicFramePr>
          <p:nvPr/>
        </p:nvGraphicFramePr>
        <p:xfrm>
          <a:off x="5938838" y="620713"/>
          <a:ext cx="8651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7" name="Equation" r:id="rId7" imgW="1016000" imgH="977900" progId="Equation.DSMT4">
                  <p:embed/>
                </p:oleObj>
              </mc:Choice>
              <mc:Fallback>
                <p:oleObj name="Equation" r:id="rId7" imgW="1016000" imgH="977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8" y="620713"/>
                        <a:ext cx="86518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0" name="Object 6"/>
          <p:cNvGraphicFramePr>
            <a:graphicFrameLocks noChangeAspect="1"/>
          </p:cNvGraphicFramePr>
          <p:nvPr/>
        </p:nvGraphicFramePr>
        <p:xfrm>
          <a:off x="5938838" y="1412875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8" name="Equation" r:id="rId9" imgW="1016000" imgH="419100" progId="Equation.3">
                  <p:embed/>
                </p:oleObj>
              </mc:Choice>
              <mc:Fallback>
                <p:oleObj name="Equation" r:id="rId9" imgW="1016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8" y="1412875"/>
                        <a:ext cx="863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3" name="Object 9"/>
          <p:cNvGraphicFramePr>
            <a:graphicFrameLocks noChangeAspect="1"/>
          </p:cNvGraphicFramePr>
          <p:nvPr/>
        </p:nvGraphicFramePr>
        <p:xfrm>
          <a:off x="3276600" y="549275"/>
          <a:ext cx="44323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9" name="Equation" r:id="rId11" imgW="4432300" imgH="2044700" progId="Equation.3">
                  <p:embed/>
                </p:oleObj>
              </mc:Choice>
              <mc:Fallback>
                <p:oleObj name="Equation" r:id="rId11" imgW="4432300" imgH="2044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9275"/>
                        <a:ext cx="44323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3" name="Line 19"/>
          <p:cNvSpPr>
            <a:spLocks noChangeShapeType="1"/>
          </p:cNvSpPr>
          <p:nvPr/>
        </p:nvSpPr>
        <p:spPr bwMode="auto">
          <a:xfrm>
            <a:off x="5940425" y="1844675"/>
            <a:ext cx="1223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8324" name="Object 20"/>
          <p:cNvGraphicFramePr>
            <a:graphicFrameLocks noChangeAspect="1"/>
          </p:cNvGraphicFramePr>
          <p:nvPr/>
        </p:nvGraphicFramePr>
        <p:xfrm>
          <a:off x="971550" y="765175"/>
          <a:ext cx="187325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0" name="Equation" r:id="rId13" imgW="583947" imgH="393529" progId="Equation.DSMT4">
                  <p:embed/>
                </p:oleObj>
              </mc:Choice>
              <mc:Fallback>
                <p:oleObj name="Equation" r:id="rId13" imgW="583947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765175"/>
                        <a:ext cx="1873250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5" name="Object 21"/>
          <p:cNvGraphicFramePr>
            <a:graphicFrameLocks noChangeAspect="1"/>
          </p:cNvGraphicFramePr>
          <p:nvPr/>
        </p:nvGraphicFramePr>
        <p:xfrm>
          <a:off x="1044575" y="3502025"/>
          <a:ext cx="1914525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1" name="Equation" r:id="rId15" imgW="596641" imgH="393529" progId="Equation.DSMT4">
                  <p:embed/>
                </p:oleObj>
              </mc:Choice>
              <mc:Fallback>
                <p:oleObj name="Equation" r:id="rId15" imgW="596641" imgH="39352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3502025"/>
                        <a:ext cx="1914525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3" grpId="0" animBg="1"/>
      <p:bldP spid="9832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2700338" y="2708275"/>
          <a:ext cx="3898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8" name="Equation" r:id="rId3" imgW="3898900" imgH="2044700" progId="Equation.3">
                  <p:embed/>
                </p:oleObj>
              </mc:Choice>
              <mc:Fallback>
                <p:oleObj name="Equation" r:id="rId3" imgW="3898900" imgH="2044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708275"/>
                        <a:ext cx="3898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51" name="Group 23"/>
          <p:cNvGrpSpPr>
            <a:grpSpLocks/>
          </p:cNvGrpSpPr>
          <p:nvPr/>
        </p:nvGrpSpPr>
        <p:grpSpPr bwMode="auto">
          <a:xfrm>
            <a:off x="1403350" y="476250"/>
            <a:ext cx="5545138" cy="2044700"/>
            <a:chOff x="884" y="300"/>
            <a:chExt cx="3493" cy="1288"/>
          </a:xfrm>
        </p:grpSpPr>
        <p:graphicFrame>
          <p:nvGraphicFramePr>
            <p:cNvPr id="103439" name="Object 4"/>
            <p:cNvGraphicFramePr>
              <a:graphicFrameLocks noChangeAspect="1"/>
            </p:cNvGraphicFramePr>
            <p:nvPr/>
          </p:nvGraphicFramePr>
          <p:xfrm>
            <a:off x="884" y="300"/>
            <a:ext cx="2464" cy="1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79" name="Equation" r:id="rId5" imgW="3911600" imgH="2044700" progId="Equation.DSMT4">
                    <p:embed/>
                  </p:oleObj>
                </mc:Choice>
                <mc:Fallback>
                  <p:oleObj name="Equation" r:id="rId5" imgW="3911600" imgH="20447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300"/>
                          <a:ext cx="2464" cy="1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0" name="Object 6"/>
            <p:cNvGraphicFramePr>
              <a:graphicFrameLocks noChangeAspect="1"/>
            </p:cNvGraphicFramePr>
            <p:nvPr/>
          </p:nvGraphicFramePr>
          <p:xfrm>
            <a:off x="3515" y="436"/>
            <a:ext cx="6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0" name="Equation" r:id="rId7" imgW="1066800" imgH="431800" progId="Equation.3">
                    <p:embed/>
                  </p:oleObj>
                </mc:Choice>
                <mc:Fallback>
                  <p:oleObj name="Equation" r:id="rId7" imgW="1066800" imgH="431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436"/>
                          <a:ext cx="6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1" name="Object 7"/>
            <p:cNvGraphicFramePr>
              <a:graphicFrameLocks noChangeAspect="1"/>
            </p:cNvGraphicFramePr>
            <p:nvPr/>
          </p:nvGraphicFramePr>
          <p:xfrm>
            <a:off x="3515" y="708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1" name="Equation" r:id="rId9" imgW="1028254" imgH="431613" progId="Equation.3">
                    <p:embed/>
                  </p:oleObj>
                </mc:Choice>
                <mc:Fallback>
                  <p:oleObj name="Equation" r:id="rId9" imgW="1028254" imgH="431613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708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42" name="Line 19"/>
            <p:cNvSpPr>
              <a:spLocks noChangeShapeType="1"/>
            </p:cNvSpPr>
            <p:nvPr/>
          </p:nvSpPr>
          <p:spPr bwMode="auto">
            <a:xfrm>
              <a:off x="3424" y="1025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9352" name="Group 24"/>
          <p:cNvGrpSpPr>
            <a:grpSpLocks/>
          </p:cNvGrpSpPr>
          <p:nvPr/>
        </p:nvGrpSpPr>
        <p:grpSpPr bwMode="auto">
          <a:xfrm>
            <a:off x="1187450" y="549275"/>
            <a:ext cx="5622925" cy="2044700"/>
            <a:chOff x="884" y="1525"/>
            <a:chExt cx="3542" cy="1288"/>
          </a:xfrm>
        </p:grpSpPr>
        <p:graphicFrame>
          <p:nvGraphicFramePr>
            <p:cNvPr id="103435" name="Object 10"/>
            <p:cNvGraphicFramePr>
              <a:graphicFrameLocks noChangeAspect="1"/>
            </p:cNvGraphicFramePr>
            <p:nvPr/>
          </p:nvGraphicFramePr>
          <p:xfrm>
            <a:off x="1954" y="1525"/>
            <a:ext cx="2472" cy="1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2" name="Equation" r:id="rId11" imgW="3924300" imgH="2044700" progId="Equation.3">
                    <p:embed/>
                  </p:oleObj>
                </mc:Choice>
                <mc:Fallback>
                  <p:oleObj name="Equation" r:id="rId11" imgW="3924300" imgH="20447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4" y="1525"/>
                          <a:ext cx="2472" cy="1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6" name="Object 20"/>
            <p:cNvGraphicFramePr>
              <a:graphicFrameLocks noChangeAspect="1"/>
            </p:cNvGraphicFramePr>
            <p:nvPr/>
          </p:nvGraphicFramePr>
          <p:xfrm>
            <a:off x="975" y="1752"/>
            <a:ext cx="6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3" name="Equation" r:id="rId13" imgW="1066800" imgH="431800" progId="Equation.3">
                    <p:embed/>
                  </p:oleObj>
                </mc:Choice>
                <mc:Fallback>
                  <p:oleObj name="Equation" r:id="rId13" imgW="1066800" imgH="4318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752"/>
                          <a:ext cx="6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7" name="Object 21"/>
            <p:cNvGraphicFramePr>
              <a:graphicFrameLocks noChangeAspect="1"/>
            </p:cNvGraphicFramePr>
            <p:nvPr/>
          </p:nvGraphicFramePr>
          <p:xfrm>
            <a:off x="975" y="2024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4" name="Equation" r:id="rId14" imgW="1028254" imgH="431613" progId="Equation.3">
                    <p:embed/>
                  </p:oleObj>
                </mc:Choice>
                <mc:Fallback>
                  <p:oleObj name="Equation" r:id="rId14" imgW="1028254" imgH="431613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024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38" name="Line 22"/>
            <p:cNvSpPr>
              <a:spLocks noChangeShapeType="1"/>
            </p:cNvSpPr>
            <p:nvPr/>
          </p:nvSpPr>
          <p:spPr bwMode="auto">
            <a:xfrm>
              <a:off x="884" y="2341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9354" name="Group 26"/>
          <p:cNvGrpSpPr>
            <a:grpSpLocks/>
          </p:cNvGrpSpPr>
          <p:nvPr/>
        </p:nvGrpSpPr>
        <p:grpSpPr bwMode="auto">
          <a:xfrm>
            <a:off x="1258888" y="3114675"/>
            <a:ext cx="1152525" cy="746125"/>
            <a:chOff x="793" y="2098"/>
            <a:chExt cx="726" cy="470"/>
          </a:xfrm>
        </p:grpSpPr>
        <p:graphicFrame>
          <p:nvGraphicFramePr>
            <p:cNvPr id="103432" name="Object 16"/>
            <p:cNvGraphicFramePr>
              <a:graphicFrameLocks noChangeAspect="1"/>
            </p:cNvGraphicFramePr>
            <p:nvPr/>
          </p:nvGraphicFramePr>
          <p:xfrm>
            <a:off x="905" y="2098"/>
            <a:ext cx="5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5" name="Equation" r:id="rId15" imgW="838200" imgH="419100" progId="Equation.3">
                    <p:embed/>
                  </p:oleObj>
                </mc:Choice>
                <mc:Fallback>
                  <p:oleObj name="Equation" r:id="rId15" imgW="838200" imgH="4191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5" y="2098"/>
                          <a:ext cx="52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3" name="Object 17"/>
            <p:cNvGraphicFramePr>
              <a:graphicFrameLocks noChangeAspect="1"/>
            </p:cNvGraphicFramePr>
            <p:nvPr/>
          </p:nvGraphicFramePr>
          <p:xfrm>
            <a:off x="884" y="2296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86" name="Equation" r:id="rId17" imgW="850531" imgH="431613" progId="Equation.3">
                    <p:embed/>
                  </p:oleObj>
                </mc:Choice>
                <mc:Fallback>
                  <p:oleObj name="Equation" r:id="rId17" imgW="850531" imgH="431613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296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34" name="Line 25"/>
            <p:cNvSpPr>
              <a:spLocks noChangeShapeType="1"/>
            </p:cNvSpPr>
            <p:nvPr/>
          </p:nvSpPr>
          <p:spPr bwMode="auto">
            <a:xfrm>
              <a:off x="793" y="2568"/>
              <a:ext cx="7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9355" name="Text Box 27"/>
          <p:cNvSpPr txBox="1">
            <a:spLocks noChangeArrowheads="1"/>
          </p:cNvSpPr>
          <p:nvPr/>
        </p:nvSpPr>
        <p:spPr bwMode="auto">
          <a:xfrm>
            <a:off x="1258888" y="486886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矩阵</a:t>
            </a:r>
            <a:r>
              <a:rPr lang="en-US" altLang="zh-CN" i="1"/>
              <a:t>B</a:t>
            </a:r>
            <a:r>
              <a:rPr lang="en-US" altLang="zh-CN" baseline="-25000"/>
              <a:t>4</a:t>
            </a:r>
            <a:r>
              <a:rPr lang="zh-CN" altLang="en-US"/>
              <a:t>和</a:t>
            </a:r>
            <a:r>
              <a:rPr lang="en-US" altLang="zh-CN" i="1"/>
              <a:t>B</a:t>
            </a:r>
            <a:r>
              <a:rPr lang="en-US" altLang="zh-CN" baseline="-25000"/>
              <a:t>5</a:t>
            </a:r>
            <a:r>
              <a:rPr lang="zh-CN" altLang="en-US"/>
              <a:t>都称为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zh-CN" altLang="en-US">
                <a:solidFill>
                  <a:srgbClr val="0000CC"/>
                </a:solidFill>
              </a:rPr>
              <a:t>行</a:t>
            </a:r>
            <a:r>
              <a:rPr lang="en-US" altLang="zh-CN">
                <a:solidFill>
                  <a:srgbClr val="0000CC"/>
                </a:solidFill>
              </a:rPr>
              <a:t>)</a:t>
            </a:r>
            <a:r>
              <a:rPr lang="zh-CN" altLang="en-US">
                <a:solidFill>
                  <a:srgbClr val="0000CC"/>
                </a:solidFill>
              </a:rPr>
              <a:t>阶梯形</a:t>
            </a:r>
            <a:r>
              <a:rPr lang="zh-CN" altLang="en-US"/>
              <a:t>矩阵</a:t>
            </a:r>
            <a:r>
              <a:rPr lang="en-US" altLang="zh-CN"/>
              <a:t>.</a:t>
            </a:r>
          </a:p>
        </p:txBody>
      </p:sp>
      <p:sp>
        <p:nvSpPr>
          <p:cNvPr id="99356" name="Text Box 28"/>
          <p:cNvSpPr txBox="1">
            <a:spLocks noChangeArrowheads="1"/>
          </p:cNvSpPr>
          <p:nvPr/>
        </p:nvSpPr>
        <p:spPr bwMode="auto">
          <a:xfrm>
            <a:off x="684213" y="5516563"/>
            <a:ext cx="8331200" cy="576262"/>
          </a:xfrm>
          <a:prstGeom prst="rect">
            <a:avLst/>
          </a:prstGeom>
          <a:solidFill>
            <a:srgbClr val="66FFFF"/>
          </a:solidFill>
          <a:ln w="57150" cmpd="thinThick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0000"/>
                </a:solidFill>
              </a:rPr>
              <a:t>特点</a:t>
            </a:r>
            <a:r>
              <a:rPr lang="zh-CN" altLang="en-US"/>
              <a:t>：每行的</a:t>
            </a:r>
            <a:r>
              <a:rPr lang="zh-CN" altLang="en-US">
                <a:solidFill>
                  <a:srgbClr val="CC0000"/>
                </a:solidFill>
              </a:rPr>
              <a:t>非零首元</a:t>
            </a:r>
            <a:r>
              <a:rPr lang="zh-CN" altLang="en-US"/>
              <a:t>必在上一行非零首元的</a:t>
            </a:r>
            <a:r>
              <a:rPr lang="zh-CN" altLang="en-US">
                <a:solidFill>
                  <a:srgbClr val="CC0000"/>
                </a:solidFill>
              </a:rPr>
              <a:t>右方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55" grpId="0"/>
      <p:bldP spid="993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3"/>
          <p:cNvSpPr txBox="1">
            <a:spLocks noChangeArrowheads="1"/>
          </p:cNvSpPr>
          <p:nvPr/>
        </p:nvSpPr>
        <p:spPr bwMode="auto">
          <a:xfrm>
            <a:off x="903288" y="115888"/>
            <a:ext cx="271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</a:rPr>
              <a:t>特点描述：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27088" y="711200"/>
            <a:ext cx="309721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（</a:t>
            </a: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1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）可划出一条阶梯线，线的下方全为零；</a:t>
            </a:r>
          </a:p>
        </p:txBody>
      </p:sp>
      <p:graphicFrame>
        <p:nvGraphicFramePr>
          <p:cNvPr id="101381" name="Object 5"/>
          <p:cNvGraphicFramePr>
            <a:graphicFrameLocks noChangeAspect="1"/>
          </p:cNvGraphicFramePr>
          <p:nvPr/>
        </p:nvGraphicFramePr>
        <p:xfrm>
          <a:off x="4211638" y="200025"/>
          <a:ext cx="3898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4" name="Equation" r:id="rId3" imgW="3898900" imgH="2044700" progId="Equation.3">
                  <p:embed/>
                </p:oleObj>
              </mc:Choice>
              <mc:Fallback>
                <p:oleObj name="Equation" r:id="rId3" imgW="3898900" imgH="2044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00025"/>
                        <a:ext cx="3898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2" name="Line 6"/>
          <p:cNvSpPr>
            <a:spLocks noChangeShapeType="1"/>
          </p:cNvSpPr>
          <p:nvPr/>
        </p:nvSpPr>
        <p:spPr bwMode="auto">
          <a:xfrm>
            <a:off x="4287838" y="63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3" name="Line 7"/>
          <p:cNvSpPr>
            <a:spLocks noChangeShapeType="1"/>
          </p:cNvSpPr>
          <p:nvPr/>
        </p:nvSpPr>
        <p:spPr bwMode="auto">
          <a:xfrm>
            <a:off x="4745038" y="638175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>
            <a:off x="4745038" y="1171575"/>
            <a:ext cx="1219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>
            <a:off x="5964238" y="1171575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>
            <a:off x="5964238" y="1704975"/>
            <a:ext cx="1295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827088" y="2360613"/>
            <a:ext cx="4681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（</a:t>
            </a: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2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）每个台阶只有一行，</a:t>
            </a:r>
          </a:p>
        </p:txBody>
      </p:sp>
      <p:sp>
        <p:nvSpPr>
          <p:cNvPr id="101388" name="Line 12"/>
          <p:cNvSpPr>
            <a:spLocks noChangeShapeType="1"/>
          </p:cNvSpPr>
          <p:nvPr/>
        </p:nvSpPr>
        <p:spPr bwMode="auto">
          <a:xfrm>
            <a:off x="4287838" y="561975"/>
            <a:ext cx="28892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9" name="Line 13"/>
          <p:cNvSpPr>
            <a:spLocks noChangeShapeType="1"/>
          </p:cNvSpPr>
          <p:nvPr/>
        </p:nvSpPr>
        <p:spPr bwMode="auto">
          <a:xfrm>
            <a:off x="4268788" y="1095375"/>
            <a:ext cx="28892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0" name="Line 14"/>
          <p:cNvSpPr>
            <a:spLocks noChangeShapeType="1"/>
          </p:cNvSpPr>
          <p:nvPr/>
        </p:nvSpPr>
        <p:spPr bwMode="auto">
          <a:xfrm>
            <a:off x="4287838" y="1628775"/>
            <a:ext cx="28892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827088" y="2790825"/>
            <a:ext cx="81375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       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阶梯线的竖线后面的第一个元素为非零元，即非零行的第一个非零元．</a:t>
            </a:r>
          </a:p>
        </p:txBody>
      </p:sp>
      <p:sp>
        <p:nvSpPr>
          <p:cNvPr id="101392" name="Oval 16"/>
          <p:cNvSpPr>
            <a:spLocks noChangeArrowheads="1"/>
          </p:cNvSpPr>
          <p:nvPr/>
        </p:nvSpPr>
        <p:spPr bwMode="auto">
          <a:xfrm>
            <a:off x="4287838" y="200025"/>
            <a:ext cx="381000" cy="381000"/>
          </a:xfrm>
          <a:prstGeom prst="ellipse">
            <a:avLst/>
          </a:prstGeom>
          <a:noFill/>
          <a:ln w="44450">
            <a:solidFill>
              <a:srgbClr val="33CC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1393" name="Oval 17"/>
          <p:cNvSpPr>
            <a:spLocks noChangeArrowheads="1"/>
          </p:cNvSpPr>
          <p:nvPr/>
        </p:nvSpPr>
        <p:spPr bwMode="auto">
          <a:xfrm>
            <a:off x="4802188" y="733425"/>
            <a:ext cx="381000" cy="381000"/>
          </a:xfrm>
          <a:prstGeom prst="ellipse">
            <a:avLst/>
          </a:prstGeom>
          <a:noFill/>
          <a:ln w="44450">
            <a:solidFill>
              <a:srgbClr val="33CC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1394" name="Oval 18"/>
          <p:cNvSpPr>
            <a:spLocks noChangeArrowheads="1"/>
          </p:cNvSpPr>
          <p:nvPr/>
        </p:nvSpPr>
        <p:spPr bwMode="auto">
          <a:xfrm>
            <a:off x="6059488" y="1247775"/>
            <a:ext cx="381000" cy="381000"/>
          </a:xfrm>
          <a:prstGeom prst="ellipse">
            <a:avLst/>
          </a:prstGeom>
          <a:noFill/>
          <a:ln w="44450">
            <a:solidFill>
              <a:srgbClr val="33CC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4466" name="Object 19"/>
          <p:cNvGraphicFramePr>
            <a:graphicFrameLocks noChangeAspect="1"/>
          </p:cNvGraphicFramePr>
          <p:nvPr/>
        </p:nvGraphicFramePr>
        <p:xfrm>
          <a:off x="4497388" y="1952625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5" name="Equation" r:id="rId5" imgW="190500" imgH="419100" progId="Equation.3">
                  <p:embed/>
                </p:oleObj>
              </mc:Choice>
              <mc:Fallback>
                <p:oleObj name="Equation" r:id="rId5" imgW="190500" imgH="4191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8" y="1952625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7" name="Rectangle 21"/>
          <p:cNvSpPr>
            <a:spLocks noChangeArrowheads="1"/>
          </p:cNvSpPr>
          <p:nvPr/>
        </p:nvSpPr>
        <p:spPr bwMode="auto">
          <a:xfrm>
            <a:off x="5003800" y="2359025"/>
            <a:ext cx="339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台阶数即是非零行的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1336675" y="3943350"/>
            <a:ext cx="589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阶梯形矩阵</a:t>
            </a:r>
            <a:r>
              <a:rPr lang="en-US" altLang="zh-CN" i="1"/>
              <a:t>B</a:t>
            </a:r>
            <a:r>
              <a:rPr lang="en-US" altLang="zh-CN" baseline="-25000"/>
              <a:t>5</a:t>
            </a:r>
            <a:r>
              <a:rPr lang="zh-CN" altLang="en-US"/>
              <a:t>还称为</a:t>
            </a:r>
            <a:r>
              <a:rPr lang="zh-CN" altLang="en-US">
                <a:solidFill>
                  <a:srgbClr val="0000CC"/>
                </a:solidFill>
              </a:rPr>
              <a:t>行最简形矩阵</a:t>
            </a:r>
            <a:r>
              <a:rPr lang="zh-CN" altLang="en-US"/>
              <a:t>，</a:t>
            </a: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6948488" y="38719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即非零行</a:t>
            </a:r>
          </a:p>
        </p:txBody>
      </p:sp>
      <p:sp>
        <p:nvSpPr>
          <p:cNvPr id="101402" name="Rectangle 26"/>
          <p:cNvSpPr>
            <a:spLocks noChangeArrowheads="1"/>
          </p:cNvSpPr>
          <p:nvPr/>
        </p:nvSpPr>
        <p:spPr bwMode="auto">
          <a:xfrm>
            <a:off x="684213" y="4519613"/>
            <a:ext cx="7058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的非零首元为</a:t>
            </a:r>
            <a:r>
              <a:rPr lang="en-US" altLang="zh-CN">
                <a:solidFill>
                  <a:srgbClr val="A50021"/>
                </a:solidFill>
              </a:rPr>
              <a:t>1</a:t>
            </a:r>
            <a:r>
              <a:rPr lang="zh-CN" altLang="en-US"/>
              <a:t>，且其所在列的其它元都为</a:t>
            </a:r>
            <a:r>
              <a:rPr lang="en-US" altLang="zh-CN"/>
              <a:t>0.</a:t>
            </a:r>
          </a:p>
        </p:txBody>
      </p:sp>
      <p:sp>
        <p:nvSpPr>
          <p:cNvPr id="101403" name="Text Box 27"/>
          <p:cNvSpPr txBox="1">
            <a:spLocks noChangeArrowheads="1"/>
          </p:cNvSpPr>
          <p:nvPr/>
        </p:nvSpPr>
        <p:spPr bwMode="auto">
          <a:xfrm>
            <a:off x="900113" y="5167313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        </a:t>
            </a:r>
            <a:r>
              <a:rPr lang="zh-CN" altLang="en-US">
                <a:solidFill>
                  <a:srgbClr val="FF0000"/>
                </a:solidFill>
              </a:rPr>
              <a:t>可得结论</a:t>
            </a:r>
            <a:r>
              <a:rPr lang="zh-CN" altLang="en-US"/>
              <a:t>：对任何矩阵</a:t>
            </a:r>
            <a:r>
              <a:rPr lang="en-US" altLang="zh-CN" i="1"/>
              <a:t>A</a:t>
            </a:r>
            <a:r>
              <a:rPr lang="en-US" altLang="zh-CN" i="1" baseline="-25000"/>
              <a:t>m</a:t>
            </a:r>
            <a:r>
              <a:rPr lang="en-US" altLang="zh-CN" baseline="-25000"/>
              <a:t>×</a:t>
            </a:r>
            <a:r>
              <a:rPr lang="en-US" altLang="zh-CN" i="1" baseline="-25000"/>
              <a:t>n</a:t>
            </a:r>
            <a:r>
              <a:rPr lang="zh-CN" altLang="en-US">
                <a:solidFill>
                  <a:srgbClr val="CC0000"/>
                </a:solidFill>
              </a:rPr>
              <a:t>总可经有限次初等</a:t>
            </a:r>
            <a:r>
              <a:rPr lang="zh-CN" altLang="en-US">
                <a:solidFill>
                  <a:srgbClr val="0000CC"/>
                </a:solidFill>
              </a:rPr>
              <a:t>行</a:t>
            </a:r>
            <a:r>
              <a:rPr lang="zh-CN" altLang="en-US">
                <a:solidFill>
                  <a:srgbClr val="CC0000"/>
                </a:solidFill>
              </a:rPr>
              <a:t>变换</a:t>
            </a:r>
            <a:r>
              <a:rPr lang="zh-CN" altLang="en-US"/>
              <a:t>化为</a:t>
            </a:r>
            <a:r>
              <a:rPr lang="en-US" altLang="zh-CN"/>
              <a:t>(</a:t>
            </a:r>
            <a:r>
              <a:rPr lang="zh-CN" altLang="en-US"/>
              <a:t>行</a:t>
            </a:r>
            <a:r>
              <a:rPr lang="en-US" altLang="zh-CN"/>
              <a:t>)</a:t>
            </a:r>
            <a:r>
              <a:rPr lang="zh-CN" altLang="en-US"/>
              <a:t>阶梯形和行最简形</a:t>
            </a:r>
            <a:r>
              <a:rPr lang="en-US" altLang="zh-CN"/>
              <a:t>.</a:t>
            </a:r>
          </a:p>
        </p:txBody>
      </p:sp>
      <p:sp>
        <p:nvSpPr>
          <p:cNvPr id="101404" name="Rectangle 28"/>
          <p:cNvSpPr>
            <a:spLocks noChangeArrowheads="1"/>
          </p:cNvSpPr>
          <p:nvPr/>
        </p:nvSpPr>
        <p:spPr bwMode="auto">
          <a:xfrm>
            <a:off x="827088" y="2790825"/>
            <a:ext cx="125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2"/>
                </a:solidFill>
              </a:rPr>
              <a:t>行数，</a:t>
            </a:r>
          </a:p>
        </p:txBody>
      </p:sp>
      <p:sp>
        <p:nvSpPr>
          <p:cNvPr id="101405" name="Line 29"/>
          <p:cNvSpPr>
            <a:spLocks noChangeShapeType="1"/>
          </p:cNvSpPr>
          <p:nvPr/>
        </p:nvSpPr>
        <p:spPr bwMode="auto">
          <a:xfrm>
            <a:off x="4284663" y="200025"/>
            <a:ext cx="0" cy="460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utoUpdateAnimBg="0"/>
      <p:bldP spid="101382" grpId="0" animBg="1"/>
      <p:bldP spid="101383" grpId="0" animBg="1"/>
      <p:bldP spid="101384" grpId="0" animBg="1"/>
      <p:bldP spid="101385" grpId="0" animBg="1"/>
      <p:bldP spid="101386" grpId="0" animBg="1"/>
      <p:bldP spid="101387" grpId="0" autoUpdateAnimBg="0"/>
      <p:bldP spid="101388" grpId="0" animBg="1"/>
      <p:bldP spid="101389" grpId="0" animBg="1"/>
      <p:bldP spid="101390" grpId="0" animBg="1"/>
      <p:bldP spid="101391" grpId="0" autoUpdateAnimBg="0"/>
      <p:bldP spid="101392" grpId="0" animBg="1"/>
      <p:bldP spid="101393" grpId="0" animBg="1"/>
      <p:bldP spid="101394" grpId="0" animBg="1"/>
      <p:bldP spid="101397" grpId="0"/>
      <p:bldP spid="101400" grpId="0"/>
      <p:bldP spid="101401" grpId="0"/>
      <p:bldP spid="101402" grpId="0"/>
      <p:bldP spid="101403" grpId="0"/>
      <p:bldP spid="101404" grpId="0"/>
      <p:bldP spid="10140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2362200" y="476250"/>
          <a:ext cx="39243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9" name="Equation" r:id="rId3" imgW="3924300" imgH="2044700" progId="Equation.3">
                  <p:embed/>
                </p:oleObj>
              </mc:Choice>
              <mc:Fallback>
                <p:oleObj name="Equation" r:id="rId3" imgW="3924300" imgH="2044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76250"/>
                        <a:ext cx="39243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1835150" y="3860800"/>
          <a:ext cx="156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0" name="Equation" r:id="rId5" imgW="1562100" imgH="419100" progId="Equation.3">
                  <p:embed/>
                </p:oleObj>
              </mc:Choice>
              <mc:Fallback>
                <p:oleObj name="Equation" r:id="rId5" imgW="15621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860800"/>
                        <a:ext cx="156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1403350" y="4149725"/>
          <a:ext cx="274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1" name="Equation" r:id="rId7" imgW="2743200" imgH="431800" progId="Equation.3">
                  <p:embed/>
                </p:oleObj>
              </mc:Choice>
              <mc:Fallback>
                <p:oleObj name="Equation" r:id="rId7" imgW="27432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149725"/>
                        <a:ext cx="274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684213" y="1163638"/>
            <a:ext cx="172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</a:rPr>
              <a:t>进一步，</a:t>
            </a:r>
          </a:p>
        </p:txBody>
      </p:sp>
      <p:graphicFrame>
        <p:nvGraphicFramePr>
          <p:cNvPr id="103430" name="Object 6"/>
          <p:cNvGraphicFramePr>
            <a:graphicFrameLocks noChangeAspect="1"/>
          </p:cNvGraphicFramePr>
          <p:nvPr/>
        </p:nvGraphicFramePr>
        <p:xfrm>
          <a:off x="4051300" y="2749550"/>
          <a:ext cx="32512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2" name="Equation" r:id="rId9" imgW="3251200" imgH="2044700" progId="Equation.3">
                  <p:embed/>
                </p:oleObj>
              </mc:Choice>
              <mc:Fallback>
                <p:oleObj name="Equation" r:id="rId9" imgW="3251200" imgH="2044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2749550"/>
                        <a:ext cx="32512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1" name="Object 7"/>
          <p:cNvGraphicFramePr>
            <a:graphicFrameLocks noChangeAspect="1"/>
          </p:cNvGraphicFramePr>
          <p:nvPr/>
        </p:nvGraphicFramePr>
        <p:xfrm>
          <a:off x="4051300" y="2749550"/>
          <a:ext cx="31115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3" name="Equation" r:id="rId11" imgW="3111500" imgH="2044700" progId="Equation.3">
                  <p:embed/>
                </p:oleObj>
              </mc:Choice>
              <mc:Fallback>
                <p:oleObj name="Equation" r:id="rId11" imgW="3111500" imgH="2044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2749550"/>
                        <a:ext cx="31115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8"/>
          <p:cNvGraphicFramePr>
            <a:graphicFrameLocks noChangeAspect="1"/>
          </p:cNvGraphicFramePr>
          <p:nvPr/>
        </p:nvGraphicFramePr>
        <p:xfrm>
          <a:off x="1941513" y="3500438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4" name="Equation" r:id="rId13" imgW="1333500" imgH="431800" progId="Equation.3">
                  <p:embed/>
                </p:oleObj>
              </mc:Choice>
              <mc:Fallback>
                <p:oleObj name="Equation" r:id="rId13" imgW="13335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3500438"/>
                        <a:ext cx="133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3" name="Object 9"/>
          <p:cNvGraphicFramePr>
            <a:graphicFrameLocks noChangeAspect="1"/>
          </p:cNvGraphicFramePr>
          <p:nvPr/>
        </p:nvGraphicFramePr>
        <p:xfrm>
          <a:off x="4051300" y="2762250"/>
          <a:ext cx="28702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5" name="Equation" r:id="rId15" imgW="2870200" imgH="2044700" progId="Equation.3">
                  <p:embed/>
                </p:oleObj>
              </mc:Choice>
              <mc:Fallback>
                <p:oleObj name="Equation" r:id="rId15" imgW="2870200" imgH="2044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2762250"/>
                        <a:ext cx="28702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1403350" y="5070475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矩阵 </a:t>
            </a:r>
            <a:r>
              <a:rPr lang="en-US" altLang="zh-CN" i="1"/>
              <a:t>F </a:t>
            </a:r>
            <a:r>
              <a:rPr lang="zh-CN" altLang="en-US"/>
              <a:t>称为矩阵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0000CC"/>
                </a:solidFill>
              </a:rPr>
              <a:t>标准形</a:t>
            </a:r>
            <a:r>
              <a:rPr lang="en-US" altLang="zh-CN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03438" name="Line 14"/>
          <p:cNvSpPr>
            <a:spLocks noChangeShapeType="1"/>
          </p:cNvSpPr>
          <p:nvPr/>
        </p:nvSpPr>
        <p:spPr bwMode="auto">
          <a:xfrm>
            <a:off x="1331913" y="3573463"/>
            <a:ext cx="2303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7" grpId="0"/>
      <p:bldP spid="1034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2057400" y="479425"/>
          <a:ext cx="6426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4" name="Equation" r:id="rId3" imgW="6426200" imgH="927100" progId="Equation.3">
                  <p:embed/>
                </p:oleObj>
              </mc:Choice>
              <mc:Fallback>
                <p:oleObj name="Equation" r:id="rId3" imgW="6426200" imgH="927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9425"/>
                        <a:ext cx="6426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1143000" y="1546225"/>
          <a:ext cx="6858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5" name="Equation" r:id="rId5" imgW="6756400" imgH="444500" progId="Equation.3">
                  <p:embed/>
                </p:oleObj>
              </mc:Choice>
              <mc:Fallback>
                <p:oleObj name="Equation" r:id="rId5" imgW="67564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46225"/>
                        <a:ext cx="6858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3333750" y="2143125"/>
          <a:ext cx="2476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6" name="Equation" r:id="rId7" imgW="2476500" imgH="1003300" progId="Equation.3">
                  <p:embed/>
                </p:oleObj>
              </mc:Choice>
              <mc:Fallback>
                <p:oleObj name="Equation" r:id="rId7" imgW="2476500" imgH="1003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143125"/>
                        <a:ext cx="24765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1016000" y="3260725"/>
          <a:ext cx="7493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67" name="Equation" r:id="rId9" imgW="7493000" imgH="939800" progId="Equation.3">
                  <p:embed/>
                </p:oleObj>
              </mc:Choice>
              <mc:Fallback>
                <p:oleObj name="Equation" r:id="rId9" imgW="7493000" imgH="93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260725"/>
                        <a:ext cx="7493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990600" y="40481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宋体" pitchFamily="2" charset="-122"/>
              </a:rPr>
              <a:t>特点：</a:t>
            </a: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914400" y="4275138"/>
            <a:ext cx="76962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ea typeface="宋体" pitchFamily="2" charset="-122"/>
              </a:rPr>
              <a:t>        </a:t>
            </a:r>
            <a:r>
              <a:rPr lang="zh-CN" altLang="en-US">
                <a:solidFill>
                  <a:schemeClr val="bg2"/>
                </a:solidFill>
                <a:ea typeface="宋体" pitchFamily="2" charset="-122"/>
              </a:rPr>
              <a:t>所有与矩阵</a:t>
            </a:r>
            <a:r>
              <a:rPr lang="en-US" altLang="zh-CN" i="1">
                <a:solidFill>
                  <a:schemeClr val="bg2"/>
                </a:solidFill>
                <a:ea typeface="宋体" pitchFamily="2" charset="-122"/>
              </a:rPr>
              <a:t>F</a:t>
            </a:r>
            <a:r>
              <a:rPr lang="en-US" altLang="zh-CN">
                <a:solidFill>
                  <a:schemeClr val="bg2"/>
                </a:solidFill>
                <a:ea typeface="宋体" pitchFamily="2" charset="-122"/>
              </a:rPr>
              <a:t> </a:t>
            </a:r>
            <a:r>
              <a:rPr lang="zh-CN" altLang="en-US">
                <a:solidFill>
                  <a:schemeClr val="bg2"/>
                </a:solidFill>
                <a:ea typeface="宋体" pitchFamily="2" charset="-122"/>
              </a:rPr>
              <a:t>等价的矩阵组成的一个集合，称为一个</a:t>
            </a:r>
            <a:r>
              <a:rPr lang="zh-CN" altLang="en-US">
                <a:solidFill>
                  <a:srgbClr val="0000CC"/>
                </a:solidFill>
              </a:rPr>
              <a:t>等价类</a:t>
            </a:r>
            <a:r>
              <a:rPr lang="zh-CN" altLang="en-US">
                <a:solidFill>
                  <a:schemeClr val="bg2"/>
                </a:solidFill>
                <a:ea typeface="宋体" pitchFamily="2" charset="-122"/>
              </a:rPr>
              <a:t>，标准形</a:t>
            </a:r>
            <a:r>
              <a:rPr lang="en-US" altLang="zh-CN" i="1">
                <a:solidFill>
                  <a:schemeClr val="bg2"/>
                </a:solidFill>
                <a:ea typeface="宋体" pitchFamily="2" charset="-122"/>
              </a:rPr>
              <a:t>F</a:t>
            </a:r>
            <a:r>
              <a:rPr lang="zh-CN" altLang="en-US">
                <a:solidFill>
                  <a:schemeClr val="bg2"/>
                </a:solidFill>
                <a:ea typeface="宋体" pitchFamily="2" charset="-122"/>
              </a:rPr>
              <a:t>是这个等价类中最简单的矩阵</a:t>
            </a:r>
            <a:r>
              <a:rPr lang="en-US" altLang="zh-CN">
                <a:solidFill>
                  <a:schemeClr val="bg2"/>
                </a:solidFill>
                <a:ea typeface="宋体" pitchFamily="2" charset="-122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57200"/>
            <a:ext cx="7543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小结</a:t>
            </a: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760413" y="2111375"/>
            <a:ext cx="352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1.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初等行</a:t>
            </a: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(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列</a:t>
            </a: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)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变换</a:t>
            </a:r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4227513" y="1343025"/>
          <a:ext cx="33845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2" name="Equation" r:id="rId3" imgW="1574117" imgH="266584" progId="Equation.DSMT4">
                  <p:embed/>
                </p:oleObj>
              </mc:Choice>
              <mc:Fallback>
                <p:oleObj name="Equation" r:id="rId3" imgW="1574117" imgH="26658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1343025"/>
                        <a:ext cx="33845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4140200" y="2089150"/>
          <a:ext cx="27971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3" name="Equation" r:id="rId5" imgW="1320227" imgH="291973" progId="Equation.DSMT4">
                  <p:embed/>
                </p:oleObj>
              </mc:Choice>
              <mc:Fallback>
                <p:oleObj name="Equation" r:id="rId5" imgW="1320227" imgH="29197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089150"/>
                        <a:ext cx="27971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4140200" y="2884488"/>
          <a:ext cx="33115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4" name="Equation" r:id="rId7" imgW="1624895" imgH="266584" progId="Equation.DSMT4">
                  <p:embed/>
                </p:oleObj>
              </mc:Choice>
              <mc:Fallback>
                <p:oleObj name="Equation" r:id="rId7" imgW="1624895" imgH="26658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884488"/>
                        <a:ext cx="3311525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3884613" y="1371600"/>
          <a:ext cx="381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5" name="Equation" r:id="rId9" imgW="381000" imgH="2044700" progId="Equation.3">
                  <p:embed/>
                </p:oleObj>
              </mc:Choice>
              <mc:Fallback>
                <p:oleObj name="Equation" r:id="rId9" imgW="381000" imgH="2044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1371600"/>
                        <a:ext cx="381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0" name="Rectangle 8"/>
          <p:cNvSpPr>
            <a:spLocks noChangeArrowheads="1"/>
          </p:cNvSpPr>
          <p:nvPr/>
        </p:nvSpPr>
        <p:spPr bwMode="auto">
          <a:xfrm>
            <a:off x="684213" y="3702050"/>
            <a:ext cx="8316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初等变换的逆变换仍为初等变换</a:t>
            </a:r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,</a:t>
            </a:r>
            <a:r>
              <a:rPr lang="zh-CN" altLang="en-US">
                <a:solidFill>
                  <a:schemeClr val="bg2"/>
                </a:solidFill>
                <a:latin typeface="黑体" pitchFamily="49" charset="-122"/>
              </a:rPr>
              <a:t>且变换类型相同．</a:t>
            </a:r>
          </a:p>
        </p:txBody>
      </p:sp>
      <p:sp>
        <p:nvSpPr>
          <p:cNvPr id="105487" name="Rectangle 15"/>
          <p:cNvSpPr>
            <a:spLocks noChangeArrowheads="1"/>
          </p:cNvSpPr>
          <p:nvPr/>
        </p:nvSpPr>
        <p:spPr bwMode="auto">
          <a:xfrm>
            <a:off x="760413" y="472122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2"/>
                </a:solidFill>
                <a:latin typeface="黑体" pitchFamily="49" charset="-122"/>
              </a:rPr>
              <a:t>2.</a:t>
            </a:r>
          </a:p>
        </p:txBody>
      </p:sp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1258888" y="4581525"/>
          <a:ext cx="34559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6" name="Equation" r:id="rId11" imgW="1218671" imgH="253890" progId="Equation.DSMT4">
                  <p:embed/>
                </p:oleObj>
              </mc:Choice>
              <mc:Fallback>
                <p:oleObj name="Equation" r:id="rId11" imgW="1218671" imgH="25389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581525"/>
                        <a:ext cx="34559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2" name="Object 20"/>
          <p:cNvGraphicFramePr>
            <a:graphicFrameLocks noChangeAspect="1"/>
          </p:cNvGraphicFramePr>
          <p:nvPr/>
        </p:nvGraphicFramePr>
        <p:xfrm>
          <a:off x="4859338" y="4724400"/>
          <a:ext cx="23923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7" name="Equation" r:id="rId13" imgW="863225" imgH="190417" progId="Equation.DSMT4">
                  <p:embed/>
                </p:oleObj>
              </mc:Choice>
              <mc:Fallback>
                <p:oleObj name="Equation" r:id="rId13" imgW="863225" imgH="19041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724400"/>
                        <a:ext cx="23923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utoUpdateAnimBg="0"/>
      <p:bldP spid="105480" grpId="0" autoUpdateAnimBg="0"/>
      <p:bldP spid="10548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695325" y="266700"/>
            <a:ext cx="3084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0000FF"/>
                </a:solidFill>
                <a:latin typeface="黑体" pitchFamily="49" charset="-122"/>
              </a:rPr>
              <a:t>二、初等矩阵</a:t>
            </a:r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695325" y="955675"/>
            <a:ext cx="81978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76325" indent="-107632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定义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 </a:t>
            </a:r>
            <a:r>
              <a:rPr lang="zh-CN" altLang="en-US"/>
              <a:t>由单位矩阵</a:t>
            </a:r>
            <a:r>
              <a:rPr lang="en-US" altLang="zh-CN" i="1"/>
              <a:t>E </a:t>
            </a:r>
            <a:r>
              <a:rPr lang="zh-CN" altLang="en-US"/>
              <a:t>经过</a:t>
            </a:r>
            <a:r>
              <a:rPr lang="zh-CN" altLang="en-US">
                <a:solidFill>
                  <a:srgbClr val="CC0000"/>
                </a:solidFill>
              </a:rPr>
              <a:t>一次</a:t>
            </a:r>
            <a:r>
              <a:rPr lang="zh-CN" altLang="en-US"/>
              <a:t>初等变换得到的矩阵称为</a:t>
            </a:r>
            <a:r>
              <a:rPr lang="zh-CN" altLang="en-US">
                <a:solidFill>
                  <a:srgbClr val="0000CC"/>
                </a:solidFill>
              </a:rPr>
              <a:t>初等矩阵</a:t>
            </a:r>
            <a:r>
              <a:rPr lang="en-US" altLang="zh-CN"/>
              <a:t>. </a:t>
            </a:r>
          </a:p>
        </p:txBody>
      </p:sp>
      <p:sp>
        <p:nvSpPr>
          <p:cNvPr id="135179" name="Rectangle 11"/>
          <p:cNvSpPr>
            <a:spLocks noChangeArrowheads="1"/>
          </p:cNvSpPr>
          <p:nvPr/>
        </p:nvSpPr>
        <p:spPr bwMode="auto">
          <a:xfrm>
            <a:off x="1763713" y="1931988"/>
            <a:ext cx="2773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有</a:t>
            </a:r>
            <a:r>
              <a:rPr lang="zh-CN" altLang="en-US">
                <a:solidFill>
                  <a:srgbClr val="CC0000"/>
                </a:solidFill>
              </a:rPr>
              <a:t>三类</a:t>
            </a:r>
            <a:r>
              <a:rPr lang="zh-CN" altLang="en-US"/>
              <a:t>初等矩阵 </a:t>
            </a:r>
          </a:p>
        </p:txBody>
      </p:sp>
      <p:sp>
        <p:nvSpPr>
          <p:cNvPr id="135180" name="Text Box 12"/>
          <p:cNvSpPr txBox="1">
            <a:spLocks noChangeArrowheads="1"/>
          </p:cNvSpPr>
          <p:nvPr/>
        </p:nvSpPr>
        <p:spPr bwMode="auto">
          <a:xfrm>
            <a:off x="755650" y="2492375"/>
            <a:ext cx="7607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(1)</a:t>
            </a:r>
            <a:r>
              <a:rPr lang="zh-CN" altLang="en-US"/>
              <a:t>互换</a:t>
            </a:r>
            <a:r>
              <a:rPr lang="en-US" altLang="zh-CN" i="1"/>
              <a:t>E</a:t>
            </a:r>
            <a:r>
              <a:rPr lang="zh-CN" altLang="en-US"/>
              <a:t>的</a:t>
            </a:r>
            <a:r>
              <a:rPr lang="en-US" altLang="zh-CN" i="1"/>
              <a:t>i, j</a:t>
            </a:r>
            <a:r>
              <a:rPr lang="zh-CN" altLang="en-US"/>
              <a:t>两行</a:t>
            </a:r>
            <a:r>
              <a:rPr lang="en-US" altLang="zh-CN"/>
              <a:t>(</a:t>
            </a:r>
            <a:r>
              <a:rPr lang="zh-CN" altLang="en-US"/>
              <a:t>列</a:t>
            </a:r>
            <a:r>
              <a:rPr lang="en-US" altLang="zh-CN"/>
              <a:t>)</a:t>
            </a:r>
            <a:r>
              <a:rPr lang="zh-CN" altLang="en-US"/>
              <a:t>所得矩阵 </a:t>
            </a:r>
            <a:r>
              <a:rPr lang="en-US" altLang="zh-CN"/>
              <a:t>(</a:t>
            </a:r>
            <a:r>
              <a:rPr lang="zh-CN" altLang="en-US"/>
              <a:t>有的记为</a:t>
            </a:r>
            <a:r>
              <a:rPr lang="en-US" altLang="zh-CN" i="1">
                <a:solidFill>
                  <a:srgbClr val="0000CC"/>
                </a:solidFill>
              </a:rPr>
              <a:t>P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i,j</a:t>
            </a:r>
            <a:r>
              <a:rPr lang="en-US" altLang="zh-CN">
                <a:solidFill>
                  <a:srgbClr val="0000CC"/>
                </a:solidFill>
              </a:rPr>
              <a:t>)</a:t>
            </a:r>
            <a:r>
              <a:rPr lang="en-US" altLang="zh-CN"/>
              <a:t>) </a:t>
            </a:r>
          </a:p>
        </p:txBody>
      </p:sp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1476375" y="3213100"/>
          <a:ext cx="4186238" cy="347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71" name="Equation" r:id="rId3" imgW="3530600" imgH="2933700" progId="Equation.DSMT4">
                  <p:embed/>
                </p:oleObj>
              </mc:Choice>
              <mc:Fallback>
                <p:oleObj name="Equation" r:id="rId3" imgW="3530600" imgH="293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13100"/>
                        <a:ext cx="4186238" cy="347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4" name="Text Box 16"/>
          <p:cNvSpPr txBox="1">
            <a:spLocks noChangeArrowheads="1"/>
          </p:cNvSpPr>
          <p:nvPr/>
        </p:nvSpPr>
        <p:spPr bwMode="auto">
          <a:xfrm>
            <a:off x="5651500" y="40767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行</a:t>
            </a:r>
          </a:p>
        </p:txBody>
      </p:sp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5724525" y="5013325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行</a:t>
            </a:r>
          </a:p>
        </p:txBody>
      </p:sp>
      <p:sp>
        <p:nvSpPr>
          <p:cNvPr id="135186" name="Text Box 18"/>
          <p:cNvSpPr txBox="1">
            <a:spLocks noChangeArrowheads="1"/>
          </p:cNvSpPr>
          <p:nvPr/>
        </p:nvSpPr>
        <p:spPr bwMode="auto">
          <a:xfrm>
            <a:off x="6443663" y="4508500"/>
            <a:ext cx="862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400"/>
              <a:t>(</a:t>
            </a:r>
            <a:r>
              <a:rPr lang="en-US" altLang="zh-CN" sz="2400" i="1"/>
              <a:t>i</a:t>
            </a:r>
            <a:r>
              <a:rPr lang="en-US" altLang="zh-CN" sz="2400"/>
              <a:t>≠</a:t>
            </a:r>
            <a:r>
              <a:rPr lang="en-US" altLang="zh-CN" sz="2400" i="1"/>
              <a:t>j</a:t>
            </a:r>
            <a:r>
              <a:rPr lang="en-US" altLang="zh-CN" sz="2400"/>
              <a:t>)</a:t>
            </a:r>
          </a:p>
        </p:txBody>
      </p:sp>
      <p:sp>
        <p:nvSpPr>
          <p:cNvPr id="135187" name="Text Box 19"/>
          <p:cNvSpPr txBox="1">
            <a:spLocks noChangeArrowheads="1"/>
          </p:cNvSpPr>
          <p:nvPr/>
        </p:nvSpPr>
        <p:spPr bwMode="auto">
          <a:xfrm>
            <a:off x="2987675" y="2997200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列</a:t>
            </a:r>
          </a:p>
        </p:txBody>
      </p: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4213225" y="2997200"/>
            <a:ext cx="935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列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autoUpdateAnimBg="0"/>
      <p:bldP spid="135179" grpId="0"/>
      <p:bldP spid="135180" grpId="0"/>
      <p:bldP spid="135184" grpId="0"/>
      <p:bldP spid="135185" grpId="0"/>
      <p:bldP spid="135186" grpId="0"/>
      <p:bldP spid="135187" grpId="0"/>
      <p:bldP spid="13518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39750" y="304800"/>
            <a:ext cx="846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(2)</a:t>
            </a:r>
            <a:r>
              <a:rPr lang="zh-CN" altLang="en-US"/>
              <a:t>用</a:t>
            </a:r>
            <a:r>
              <a:rPr lang="en-US" altLang="zh-CN" i="1"/>
              <a:t>k</a:t>
            </a:r>
            <a:r>
              <a:rPr lang="en-US" altLang="zh-CN"/>
              <a:t>(</a:t>
            </a:r>
            <a:r>
              <a:rPr lang="en-US" altLang="zh-CN" i="1"/>
              <a:t>k</a:t>
            </a:r>
            <a:r>
              <a:rPr lang="en-US" altLang="zh-CN"/>
              <a:t>≠0)</a:t>
            </a:r>
            <a:r>
              <a:rPr lang="zh-CN" altLang="en-US"/>
              <a:t>乘</a:t>
            </a:r>
            <a:r>
              <a:rPr lang="en-US" altLang="zh-CN" i="1"/>
              <a:t>E</a:t>
            </a:r>
            <a:r>
              <a:rPr lang="zh-CN" altLang="en-US"/>
              <a:t>的第</a:t>
            </a:r>
            <a:r>
              <a:rPr lang="en-US" altLang="zh-CN" i="1"/>
              <a:t>i</a:t>
            </a:r>
            <a:r>
              <a:rPr lang="zh-CN" altLang="en-US"/>
              <a:t>行</a:t>
            </a:r>
            <a:r>
              <a:rPr lang="en-US" altLang="zh-CN"/>
              <a:t>(</a:t>
            </a:r>
            <a:r>
              <a:rPr lang="zh-CN" altLang="en-US"/>
              <a:t>列</a:t>
            </a:r>
            <a:r>
              <a:rPr lang="en-US" altLang="zh-CN"/>
              <a:t>)</a:t>
            </a:r>
            <a:r>
              <a:rPr lang="zh-CN" altLang="en-US"/>
              <a:t>所得矩阵</a:t>
            </a:r>
            <a:r>
              <a:rPr lang="en-US" altLang="zh-CN"/>
              <a:t>(</a:t>
            </a:r>
            <a:r>
              <a:rPr lang="zh-CN" altLang="en-US"/>
              <a:t>有的记为</a:t>
            </a:r>
            <a:r>
              <a:rPr lang="en-US" altLang="zh-CN" i="1">
                <a:solidFill>
                  <a:srgbClr val="0000CC"/>
                </a:solidFill>
              </a:rPr>
              <a:t>P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i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k</a:t>
            </a:r>
            <a:r>
              <a:rPr lang="en-US" altLang="zh-CN">
                <a:solidFill>
                  <a:srgbClr val="0000CC"/>
                </a:solidFill>
              </a:rPr>
              <a:t>))</a:t>
            </a:r>
            <a:r>
              <a:rPr lang="en-US" altLang="zh-CN"/>
              <a:t>) </a:t>
            </a:r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1908175" y="1073150"/>
          <a:ext cx="4387850" cy="199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08" name="Equation" r:id="rId3" imgW="2108200" imgH="1143000" progId="Equation.DSMT4">
                  <p:embed/>
                </p:oleObj>
              </mc:Choice>
              <mc:Fallback>
                <p:oleObj name="Equation" r:id="rId3" imgW="2108200" imgH="1143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073150"/>
                        <a:ext cx="4387850" cy="199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539750" y="3068638"/>
            <a:ext cx="8213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(3)</a:t>
            </a:r>
            <a:r>
              <a:rPr lang="zh-CN" altLang="en-US"/>
              <a:t>将</a:t>
            </a:r>
            <a:r>
              <a:rPr lang="en-US" altLang="zh-CN" i="1"/>
              <a:t>E</a:t>
            </a:r>
            <a:r>
              <a:rPr lang="zh-CN" altLang="en-US"/>
              <a:t>的</a:t>
            </a:r>
            <a:r>
              <a:rPr lang="zh-CN" altLang="en-US">
                <a:solidFill>
                  <a:srgbClr val="CC0000"/>
                </a:solidFill>
              </a:rPr>
              <a:t>第</a:t>
            </a:r>
            <a:r>
              <a:rPr lang="en-US" altLang="zh-CN" i="1">
                <a:solidFill>
                  <a:srgbClr val="CC0000"/>
                </a:solidFill>
              </a:rPr>
              <a:t>j</a:t>
            </a:r>
            <a:r>
              <a:rPr lang="zh-CN" altLang="en-US">
                <a:solidFill>
                  <a:srgbClr val="CC0000"/>
                </a:solidFill>
              </a:rPr>
              <a:t>行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i</a:t>
            </a:r>
            <a:r>
              <a:rPr lang="zh-CN" altLang="en-US">
                <a:solidFill>
                  <a:srgbClr val="0000CC"/>
                </a:solidFill>
              </a:rPr>
              <a:t>列</a:t>
            </a:r>
            <a:r>
              <a:rPr lang="en-US" altLang="zh-CN">
                <a:solidFill>
                  <a:srgbClr val="0000CC"/>
                </a:solidFill>
              </a:rPr>
              <a:t>)</a:t>
            </a:r>
            <a:r>
              <a:rPr lang="zh-CN" altLang="en-US"/>
              <a:t>的</a:t>
            </a:r>
            <a:r>
              <a:rPr lang="en-US" altLang="zh-CN" i="1"/>
              <a:t>k</a:t>
            </a:r>
            <a:r>
              <a:rPr lang="zh-CN" altLang="en-US"/>
              <a:t>倍加到</a:t>
            </a:r>
            <a:r>
              <a:rPr lang="en-US" altLang="zh-CN" i="1">
                <a:solidFill>
                  <a:srgbClr val="CC0000"/>
                </a:solidFill>
              </a:rPr>
              <a:t>i</a:t>
            </a:r>
            <a:r>
              <a:rPr lang="zh-CN" altLang="en-US">
                <a:solidFill>
                  <a:srgbClr val="CC0000"/>
                </a:solidFill>
              </a:rPr>
              <a:t>行</a:t>
            </a:r>
            <a:r>
              <a:rPr lang="en-US" altLang="zh-CN">
                <a:solidFill>
                  <a:srgbClr val="0000CC"/>
                </a:solidFill>
              </a:rPr>
              <a:t>( </a:t>
            </a:r>
            <a:r>
              <a:rPr lang="en-US" altLang="zh-CN" i="1">
                <a:solidFill>
                  <a:srgbClr val="0000CC"/>
                </a:solidFill>
              </a:rPr>
              <a:t>j</a:t>
            </a:r>
            <a:r>
              <a:rPr lang="zh-CN" altLang="en-US">
                <a:solidFill>
                  <a:srgbClr val="0000CC"/>
                </a:solidFill>
              </a:rPr>
              <a:t>列</a:t>
            </a:r>
            <a:r>
              <a:rPr lang="en-US" altLang="zh-CN">
                <a:solidFill>
                  <a:srgbClr val="0000CC"/>
                </a:solidFill>
              </a:rPr>
              <a:t>)</a:t>
            </a:r>
            <a:r>
              <a:rPr lang="zh-CN" altLang="en-US"/>
              <a:t>上去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/>
              <a:t> ≠</a:t>
            </a:r>
            <a:r>
              <a:rPr lang="en-US" altLang="zh-CN" i="1"/>
              <a:t>j</a:t>
            </a:r>
            <a:r>
              <a:rPr lang="en-US" altLang="zh-CN"/>
              <a:t>) (</a:t>
            </a:r>
            <a:r>
              <a:rPr lang="zh-CN" altLang="en-US"/>
              <a:t>有的记为</a:t>
            </a:r>
            <a:r>
              <a:rPr lang="en-US" altLang="zh-CN" i="1">
                <a:solidFill>
                  <a:srgbClr val="0000CC"/>
                </a:solidFill>
              </a:rPr>
              <a:t>P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i</a:t>
            </a:r>
            <a:r>
              <a:rPr lang="en-US" altLang="zh-CN">
                <a:solidFill>
                  <a:srgbClr val="0000CC"/>
                </a:solidFill>
              </a:rPr>
              <a:t>, </a:t>
            </a:r>
            <a:r>
              <a:rPr lang="en-US" altLang="zh-CN" i="1">
                <a:solidFill>
                  <a:srgbClr val="0000CC"/>
                </a:solidFill>
              </a:rPr>
              <a:t>j</a:t>
            </a:r>
            <a:r>
              <a:rPr lang="en-US" altLang="zh-CN">
                <a:solidFill>
                  <a:srgbClr val="0000CC"/>
                </a:solidFill>
              </a:rPr>
              <a:t>(</a:t>
            </a:r>
            <a:r>
              <a:rPr lang="en-US" altLang="zh-CN" i="1">
                <a:solidFill>
                  <a:srgbClr val="0000CC"/>
                </a:solidFill>
              </a:rPr>
              <a:t>k</a:t>
            </a:r>
            <a:r>
              <a:rPr lang="en-US" altLang="zh-CN">
                <a:solidFill>
                  <a:srgbClr val="0000CC"/>
                </a:solidFill>
              </a:rPr>
              <a:t>))</a:t>
            </a:r>
            <a:r>
              <a:rPr lang="en-US" altLang="zh-CN"/>
              <a:t>)</a:t>
            </a:r>
          </a:p>
        </p:txBody>
      </p:sp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2484438" y="3851275"/>
          <a:ext cx="4110037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09" name="Equation" r:id="rId5" imgW="2705100" imgH="1612900" progId="Equation.DSMT4">
                  <p:embed/>
                </p:oleObj>
              </mc:Choice>
              <mc:Fallback>
                <p:oleObj name="Equation" r:id="rId5" imgW="2705100" imgH="1612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851275"/>
                        <a:ext cx="4110037" cy="232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1" name="Text Box 9"/>
          <p:cNvSpPr txBox="1">
            <a:spLocks noChangeArrowheads="1"/>
          </p:cNvSpPr>
          <p:nvPr/>
        </p:nvSpPr>
        <p:spPr bwMode="auto">
          <a:xfrm>
            <a:off x="4284663" y="90805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列</a:t>
            </a:r>
          </a:p>
        </p:txBody>
      </p:sp>
      <p:sp>
        <p:nvSpPr>
          <p:cNvPr id="136202" name="Rectangle 10"/>
          <p:cNvSpPr>
            <a:spLocks noChangeArrowheads="1"/>
          </p:cNvSpPr>
          <p:nvPr/>
        </p:nvSpPr>
        <p:spPr bwMode="auto">
          <a:xfrm>
            <a:off x="7308850" y="1819275"/>
            <a:ext cx="998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400"/>
              <a:t>(</a:t>
            </a:r>
            <a:r>
              <a:rPr lang="en-US" altLang="zh-CN" sz="2400" i="1"/>
              <a:t>k</a:t>
            </a:r>
            <a:r>
              <a:rPr lang="en-US" altLang="zh-CN" sz="2400"/>
              <a:t>≠0)</a:t>
            </a:r>
          </a:p>
        </p:txBody>
      </p:sp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4211638" y="3581400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列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5003800" y="3581400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列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8" grpId="0"/>
      <p:bldP spid="136201" grpId="0"/>
      <p:bldP spid="136202" grpId="0"/>
      <p:bldP spid="136203" grpId="0"/>
      <p:bldP spid="1362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4"/>
          <p:cNvSpPr txBox="1">
            <a:spLocks noChangeArrowheads="1"/>
          </p:cNvSpPr>
          <p:nvPr/>
        </p:nvSpPr>
        <p:spPr bwMode="auto">
          <a:xfrm>
            <a:off x="611188" y="188913"/>
            <a:ext cx="5080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黑体" pitchFamily="49" charset="-122"/>
              </a:rPr>
              <a:t>初等矩阵与初等变换的关系</a:t>
            </a:r>
          </a:p>
        </p:txBody>
      </p: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539750" y="692150"/>
            <a:ext cx="846931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5350" indent="-8953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latin typeface="黑体" pitchFamily="49" charset="-122"/>
              </a:rPr>
              <a:t>引理</a:t>
            </a:r>
            <a:r>
              <a:rPr lang="zh-CN" altLang="en-US">
                <a:latin typeface="黑体" pitchFamily="49" charset="-122"/>
              </a:rPr>
              <a:t> 对矩阵</a:t>
            </a:r>
            <a:r>
              <a:rPr lang="en-US" altLang="zh-CN" i="1"/>
              <a:t>A</a:t>
            </a:r>
            <a:r>
              <a:rPr lang="en-US" altLang="zh-CN"/>
              <a:t>=(</a:t>
            </a:r>
            <a:r>
              <a:rPr lang="en-US" altLang="zh-CN" i="1"/>
              <a:t>a</a:t>
            </a:r>
            <a:r>
              <a:rPr lang="en-US" altLang="zh-CN" i="1" baseline="-25000"/>
              <a:t>ij</a:t>
            </a:r>
            <a:r>
              <a:rPr lang="en-US" altLang="zh-CN"/>
              <a:t>)</a:t>
            </a:r>
            <a:r>
              <a:rPr lang="en-US" altLang="zh-CN" i="1" baseline="-25000"/>
              <a:t>m</a:t>
            </a:r>
            <a:r>
              <a:rPr lang="en-US" altLang="en-US" baseline="-25000"/>
              <a:t>×</a:t>
            </a:r>
            <a:r>
              <a:rPr lang="en-US" altLang="zh-CN" i="1" baseline="-25000"/>
              <a:t>n</a:t>
            </a:r>
            <a:r>
              <a:rPr lang="zh-CN" altLang="en-US">
                <a:latin typeface="黑体" pitchFamily="49" charset="-122"/>
              </a:rPr>
              <a:t>施行一次初等</a:t>
            </a:r>
            <a:r>
              <a:rPr lang="zh-CN" altLang="en-US">
                <a:solidFill>
                  <a:srgbClr val="0000CC"/>
                </a:solidFill>
                <a:latin typeface="黑体" pitchFamily="49" charset="-122"/>
              </a:rPr>
              <a:t>行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黑体" pitchFamily="49" charset="-122"/>
              </a:rPr>
              <a:t>列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)</a:t>
            </a:r>
            <a:r>
              <a:rPr lang="zh-CN" altLang="en-US">
                <a:latin typeface="黑体" pitchFamily="49" charset="-122"/>
              </a:rPr>
              <a:t>变换，</a:t>
            </a:r>
            <a:r>
              <a:rPr lang="zh-CN" altLang="en-US">
                <a:solidFill>
                  <a:srgbClr val="CC0000"/>
                </a:solidFill>
                <a:latin typeface="黑体" pitchFamily="49" charset="-122"/>
              </a:rPr>
              <a:t>其结果就等于</a:t>
            </a:r>
            <a:r>
              <a:rPr lang="zh-CN" altLang="en-US">
                <a:latin typeface="黑体" pitchFamily="49" charset="-122"/>
              </a:rPr>
              <a:t>对</a:t>
            </a:r>
            <a:r>
              <a:rPr lang="en-US" altLang="zh-CN" i="1"/>
              <a:t>A</a:t>
            </a:r>
            <a:r>
              <a:rPr lang="zh-CN" altLang="en-US">
                <a:solidFill>
                  <a:srgbClr val="0000CC"/>
                </a:solidFill>
                <a:latin typeface="黑体" pitchFamily="49" charset="-122"/>
              </a:rPr>
              <a:t>左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黑体" pitchFamily="49" charset="-122"/>
              </a:rPr>
              <a:t>右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)</a:t>
            </a:r>
            <a:r>
              <a:rPr lang="zh-CN" altLang="en-US">
                <a:latin typeface="黑体" pitchFamily="49" charset="-122"/>
              </a:rPr>
              <a:t>乘一个相应的</a:t>
            </a:r>
            <a:r>
              <a:rPr lang="en-US" altLang="zh-CN" i="1">
                <a:solidFill>
                  <a:srgbClr val="0000CC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黑体" pitchFamily="49" charset="-122"/>
              </a:rPr>
              <a:t>)</a:t>
            </a:r>
            <a:r>
              <a:rPr lang="zh-CN" altLang="en-US">
                <a:latin typeface="黑体" pitchFamily="49" charset="-122"/>
              </a:rPr>
              <a:t>阶初等矩阵</a:t>
            </a:r>
            <a:r>
              <a:rPr lang="en-US" altLang="zh-CN"/>
              <a:t>.</a:t>
            </a:r>
          </a:p>
        </p:txBody>
      </p:sp>
      <p:sp>
        <p:nvSpPr>
          <p:cNvPr id="185350" name="Text Box 6"/>
          <p:cNvSpPr txBox="1">
            <a:spLocks noChangeArrowheads="1"/>
          </p:cNvSpPr>
          <p:nvPr/>
        </p:nvSpPr>
        <p:spPr bwMode="auto">
          <a:xfrm>
            <a:off x="744538" y="2152650"/>
            <a:ext cx="125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例如：</a:t>
            </a:r>
          </a:p>
        </p:txBody>
      </p:sp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1095375" y="1773238"/>
          <a:ext cx="6823075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29" name="Equation" r:id="rId3" imgW="4165600" imgH="1828800" progId="Equation.DSMT4">
                  <p:embed/>
                </p:oleObj>
              </mc:Choice>
              <mc:Fallback>
                <p:oleObj name="Equation" r:id="rId3" imgW="4165600" imgH="1828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773238"/>
                        <a:ext cx="6823075" cy="249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9"/>
          <p:cNvGraphicFramePr>
            <a:graphicFrameLocks noChangeAspect="1"/>
          </p:cNvGraphicFramePr>
          <p:nvPr/>
        </p:nvGraphicFramePr>
        <p:xfrm>
          <a:off x="1363663" y="4213225"/>
          <a:ext cx="4908550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30" name="Equation" r:id="rId5" imgW="3136900" imgH="1816100" progId="Equation.DSMT4">
                  <p:embed/>
                </p:oleObj>
              </mc:Choice>
              <mc:Fallback>
                <p:oleObj name="Equation" r:id="rId5" imgW="3136900" imgH="1816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4213225"/>
                        <a:ext cx="4908550" cy="223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9" grpId="0"/>
      <p:bldP spid="1853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4"/>
          <p:cNvGraphicFramePr>
            <a:graphicFrameLocks noChangeAspect="1"/>
          </p:cNvGraphicFramePr>
          <p:nvPr/>
        </p:nvGraphicFramePr>
        <p:xfrm>
          <a:off x="538163" y="265113"/>
          <a:ext cx="8570912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1" name="Equation" r:id="rId3" imgW="5664200" imgH="1866900" progId="Equation.DSMT4">
                  <p:embed/>
                </p:oleObj>
              </mc:Choice>
              <mc:Fallback>
                <p:oleObj name="Equation" r:id="rId3" imgW="5664200" imgH="1866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265113"/>
                        <a:ext cx="8570912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1227138" y="2824163"/>
          <a:ext cx="5767387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2" name="Equation" r:id="rId5" imgW="3086100" imgH="1054100" progId="Equation.DSMT4">
                  <p:embed/>
                </p:oleObj>
              </mc:Choice>
              <mc:Fallback>
                <p:oleObj name="Equation" r:id="rId5" imgW="3086100" imgH="1054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2824163"/>
                        <a:ext cx="5767387" cy="186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827088" y="4759325"/>
            <a:ext cx="8066087" cy="1449388"/>
          </a:xfrm>
          <a:prstGeom prst="rect">
            <a:avLst/>
          </a:prstGeom>
          <a:noFill/>
          <a:ln w="76200" cmpd="tri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该引理的意义：</a:t>
            </a:r>
            <a:r>
              <a:rPr lang="zh-CN" altLang="en-US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把矩阵的初等变换归结为用某些初等矩阵左乘或右乘该矩阵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，这对于简化矩阵乘法运算、讨论矩阵的某些性质都很有用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760413" y="596900"/>
            <a:ext cx="706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华文楷体" pitchFamily="2" charset="-122"/>
                <a:ea typeface="华文楷体" pitchFamily="2" charset="-122"/>
              </a:rPr>
              <a:t>例</a:t>
            </a:r>
            <a:r>
              <a:rPr lang="en-US" altLang="zh-CN">
                <a:latin typeface="华文楷体" pitchFamily="2" charset="-122"/>
                <a:ea typeface="华文楷体" pitchFamily="2" charset="-122"/>
              </a:rPr>
              <a:t>1</a:t>
            </a:r>
          </a:p>
        </p:txBody>
      </p:sp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1908175" y="260350"/>
          <a:ext cx="2438400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0" name="Equation" r:id="rId3" imgW="1397000" imgH="914400" progId="Equation.3">
                  <p:embed/>
                </p:oleObj>
              </mc:Choice>
              <mc:Fallback>
                <p:oleObj name="Equation" r:id="rId3" imgW="13970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60350"/>
                        <a:ext cx="2438400" cy="15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782638" y="1844675"/>
            <a:ext cx="451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华文楷体" pitchFamily="2" charset="-122"/>
                <a:ea typeface="华文楷体" pitchFamily="2" charset="-122"/>
              </a:rPr>
              <a:t>对</a:t>
            </a:r>
            <a:r>
              <a:rPr lang="en-US" altLang="zh-CN" i="1">
                <a:ea typeface="华文楷体" pitchFamily="2" charset="-122"/>
              </a:rPr>
              <a:t>A</a:t>
            </a:r>
            <a:r>
              <a:rPr lang="zh-CN" altLang="en-US">
                <a:latin typeface="华文楷体" pitchFamily="2" charset="-122"/>
                <a:ea typeface="华文楷体" pitchFamily="2" charset="-122"/>
              </a:rPr>
              <a:t>施以第</a:t>
            </a:r>
            <a:r>
              <a:rPr lang="en-US" altLang="zh-CN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>
                <a:latin typeface="华文楷体" pitchFamily="2" charset="-122"/>
                <a:ea typeface="华文楷体" pitchFamily="2" charset="-122"/>
              </a:rPr>
              <a:t>种初等列变换：</a:t>
            </a:r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1157288" y="2368550"/>
          <a:ext cx="4062412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1" name="Equation" r:id="rId5" imgW="1727200" imgH="711200" progId="Equation.DSMT4">
                  <p:embed/>
                </p:oleObj>
              </mc:Choice>
              <mc:Fallback>
                <p:oleObj name="Equation" r:id="rId5" imgW="17272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368550"/>
                        <a:ext cx="4062412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5219700" y="2481263"/>
          <a:ext cx="19812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2" name="Equation" r:id="rId7" imgW="1041400" imgH="914400" progId="Equation.DSMT4">
                  <p:embed/>
                </p:oleObj>
              </mc:Choice>
              <mc:Fallback>
                <p:oleObj name="Equation" r:id="rId7" imgW="10414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481263"/>
                        <a:ext cx="19812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5484813" y="24479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ea typeface="华文楷体" pitchFamily="2" charset="-122"/>
              </a:rPr>
              <a:t>5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5484813" y="2981325"/>
            <a:ext cx="38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ea typeface="华文楷体" pitchFamily="2" charset="-122"/>
              </a:rPr>
              <a:t>5</a:t>
            </a:r>
          </a:p>
        </p:txBody>
      </p: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5484813" y="35909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ea typeface="华文楷体" pitchFamily="2" charset="-122"/>
              </a:rPr>
              <a:t>2</a:t>
            </a: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760413" y="4017963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华文楷体" pitchFamily="2" charset="-122"/>
                <a:ea typeface="华文楷体" pitchFamily="2" charset="-122"/>
              </a:rPr>
              <a:t>相当于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/>
        </p:nvGraphicFramePr>
        <p:xfrm>
          <a:off x="1042988" y="4903788"/>
          <a:ext cx="13192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3" name="Equation" r:id="rId9" imgW="520700" imgH="228600" progId="Equation.DSMT4">
                  <p:embed/>
                </p:oleObj>
              </mc:Choice>
              <mc:Fallback>
                <p:oleObj name="Equation" r:id="rId9" imgW="5207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903788"/>
                        <a:ext cx="13192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2411413" y="4398963"/>
          <a:ext cx="20415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4" name="Equation" r:id="rId11" imgW="1206500" imgH="914400" progId="Equation.3">
                  <p:embed/>
                </p:oleObj>
              </mc:Choice>
              <mc:Fallback>
                <p:oleObj name="Equation" r:id="rId11" imgW="1206500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398963"/>
                        <a:ext cx="2041525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3" name="Object 13"/>
          <p:cNvGraphicFramePr>
            <a:graphicFrameLocks noChangeAspect="1"/>
          </p:cNvGraphicFramePr>
          <p:nvPr/>
        </p:nvGraphicFramePr>
        <p:xfrm>
          <a:off x="4438650" y="4398963"/>
          <a:ext cx="16764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5" name="Equation" r:id="rId13" imgW="914400" imgH="914400" progId="Equation.3">
                  <p:embed/>
                </p:oleObj>
              </mc:Choice>
              <mc:Fallback>
                <p:oleObj name="Equation" r:id="rId13" imgW="914400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4398963"/>
                        <a:ext cx="16764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/>
          <p:cNvGraphicFramePr>
            <a:graphicFrameLocks noChangeAspect="1"/>
          </p:cNvGraphicFramePr>
          <p:nvPr/>
        </p:nvGraphicFramePr>
        <p:xfrm>
          <a:off x="6156325" y="4292600"/>
          <a:ext cx="223202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6" name="Equation" r:id="rId15" imgW="901309" imgH="710891" progId="Equation.DSMT4">
                  <p:embed/>
                </p:oleObj>
              </mc:Choice>
              <mc:Fallback>
                <p:oleObj name="Equation" r:id="rId15" imgW="901309" imgH="71089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292600"/>
                        <a:ext cx="2232025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utoUpdateAnimBg="0"/>
      <p:bldP spid="138247" grpId="0" autoUpdateAnimBg="0"/>
      <p:bldP spid="138248" grpId="0" autoUpdateAnimBg="0"/>
      <p:bldP spid="138249" grpId="0" autoUpdateAnimBg="0"/>
      <p:bldP spid="13825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1763713" y="836613"/>
          <a:ext cx="6792912" cy="294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0" name="Equation" r:id="rId3" imgW="3695700" imgH="1600200" progId="Equation.DSMT4">
                  <p:embed/>
                </p:oleObj>
              </mc:Choice>
              <mc:Fallback>
                <p:oleObj name="Equation" r:id="rId3" imgW="3695700" imgH="160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836613"/>
                        <a:ext cx="6792912" cy="294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7" name="Rectangle 6"/>
          <p:cNvSpPr>
            <a:spLocks noChangeArrowheads="1"/>
          </p:cNvSpPr>
          <p:nvPr/>
        </p:nvSpPr>
        <p:spPr bwMode="auto">
          <a:xfrm>
            <a:off x="684213" y="115888"/>
            <a:ext cx="822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又如：利用该引理容易求出三类初等矩阵的逆矩阵</a:t>
            </a:r>
            <a:r>
              <a:rPr lang="en-US" altLang="zh-CN"/>
              <a:t>. </a:t>
            </a:r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1038225" y="1700213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行</a:t>
            </a:r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1042988" y="2420938"/>
            <a:ext cx="50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行</a:t>
            </a:r>
          </a:p>
        </p:txBody>
      </p:sp>
      <p:sp>
        <p:nvSpPr>
          <p:cNvPr id="182281" name="Text Box 9"/>
          <p:cNvSpPr txBox="1">
            <a:spLocks noChangeArrowheads="1"/>
          </p:cNvSpPr>
          <p:nvPr/>
        </p:nvSpPr>
        <p:spPr bwMode="auto">
          <a:xfrm>
            <a:off x="2627313" y="655638"/>
            <a:ext cx="50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列</a:t>
            </a: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3562350" y="655638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列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5724525" y="655638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i</a:t>
            </a:r>
            <a:r>
              <a:rPr lang="zh-CN" altLang="en-US" sz="2000"/>
              <a:t>列</a:t>
            </a:r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6659563" y="655638"/>
            <a:ext cx="50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2000" i="1"/>
              <a:t>j</a:t>
            </a:r>
            <a:r>
              <a:rPr lang="zh-CN" altLang="en-US" sz="2000"/>
              <a:t>列</a:t>
            </a:r>
          </a:p>
        </p:txBody>
      </p:sp>
      <p:sp>
        <p:nvSpPr>
          <p:cNvPr id="182285" name="Text Box 13"/>
          <p:cNvSpPr txBox="1">
            <a:spLocks noChangeArrowheads="1"/>
          </p:cNvSpPr>
          <p:nvPr/>
        </p:nvSpPr>
        <p:spPr bwMode="auto">
          <a:xfrm>
            <a:off x="950913" y="3879850"/>
            <a:ext cx="125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因此：</a:t>
            </a:r>
          </a:p>
        </p:txBody>
      </p:sp>
      <p:graphicFrame>
        <p:nvGraphicFramePr>
          <p:cNvPr id="182286" name="Object 14"/>
          <p:cNvGraphicFramePr>
            <a:graphicFrameLocks noChangeAspect="1"/>
          </p:cNvGraphicFramePr>
          <p:nvPr/>
        </p:nvGraphicFramePr>
        <p:xfrm>
          <a:off x="2916238" y="3860800"/>
          <a:ext cx="14112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1" name="Equation" r:id="rId5" imgW="622030" imgH="291973" progId="Equation.DSMT4">
                  <p:embed/>
                </p:oleObj>
              </mc:Choice>
              <mc:Fallback>
                <p:oleObj name="Equation" r:id="rId5" imgW="622030" imgH="29197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860800"/>
                        <a:ext cx="14112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8" name="Object 16"/>
          <p:cNvGraphicFramePr>
            <a:graphicFrameLocks noChangeAspect="1"/>
          </p:cNvGraphicFramePr>
          <p:nvPr/>
        </p:nvGraphicFramePr>
        <p:xfrm>
          <a:off x="2916238" y="4508500"/>
          <a:ext cx="3671887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2" name="Equation" r:id="rId7" imgW="1841500" imgH="774700" progId="Equation.DSMT4">
                  <p:embed/>
                </p:oleObj>
              </mc:Choice>
              <mc:Fallback>
                <p:oleObj name="Equation" r:id="rId7" imgW="18415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508500"/>
                        <a:ext cx="3671887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9" name="Text Box 17"/>
          <p:cNvSpPr txBox="1">
            <a:spLocks noChangeArrowheads="1"/>
          </p:cNvSpPr>
          <p:nvPr/>
        </p:nvSpPr>
        <p:spPr bwMode="auto">
          <a:xfrm>
            <a:off x="971550" y="4724400"/>
            <a:ext cx="1731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类似可得</a:t>
            </a:r>
            <a:r>
              <a:rPr lang="en-US" altLang="zh-CN"/>
              <a:t>:</a:t>
            </a:r>
          </a:p>
        </p:txBody>
      </p:sp>
      <p:sp>
        <p:nvSpPr>
          <p:cNvPr id="182290" name="Rectangle 18"/>
          <p:cNvSpPr>
            <a:spLocks noChangeArrowheads="1"/>
          </p:cNvSpPr>
          <p:nvPr/>
        </p:nvSpPr>
        <p:spPr bwMode="auto">
          <a:xfrm>
            <a:off x="6659563" y="4251325"/>
            <a:ext cx="2266950" cy="1609725"/>
          </a:xfrm>
          <a:prstGeom prst="rect">
            <a:avLst/>
          </a:prstGeom>
          <a:solidFill>
            <a:srgbClr val="66FFFF"/>
          </a:solidFill>
          <a:ln w="57150" cmpd="thinThick" algn="ctr">
            <a:solidFill>
              <a:srgbClr val="CC00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初等矩阵是可逆矩阵，而且它们的逆矩阵也是初等矩阵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82291" name="Object 19"/>
          <p:cNvGraphicFramePr>
            <a:graphicFrameLocks noChangeAspect="1"/>
          </p:cNvGraphicFramePr>
          <p:nvPr/>
        </p:nvGraphicFramePr>
        <p:xfrm>
          <a:off x="4284663" y="3932238"/>
          <a:ext cx="49053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3" name="Equation" r:id="rId9" imgW="215619" imgH="266353" progId="Equation.DSMT4">
                  <p:embed/>
                </p:oleObj>
              </mc:Choice>
              <mc:Fallback>
                <p:oleObj name="Equation" r:id="rId9" imgW="215619" imgH="26635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932238"/>
                        <a:ext cx="49053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9" grpId="0"/>
      <p:bldP spid="182280" grpId="0"/>
      <p:bldP spid="182281" grpId="0"/>
      <p:bldP spid="182282" grpId="0"/>
      <p:bldP spid="182283" grpId="0"/>
      <p:bldP spid="182284" grpId="0"/>
      <p:bldP spid="182285" grpId="0"/>
      <p:bldP spid="182289" grpId="0"/>
      <p:bldP spid="18229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6" name="Rectangle 10"/>
          <p:cNvSpPr>
            <a:spLocks noChangeArrowheads="1"/>
          </p:cNvSpPr>
          <p:nvPr/>
        </p:nvSpPr>
        <p:spPr bwMode="auto">
          <a:xfrm>
            <a:off x="684213" y="222250"/>
            <a:ext cx="4176712" cy="717550"/>
          </a:xfrm>
          <a:prstGeom prst="rect">
            <a:avLst/>
          </a:prstGeom>
          <a:noFill/>
          <a:ln w="76200" cmpd="tri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36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几个定理性结论 </a:t>
            </a:r>
          </a:p>
        </p:txBody>
      </p:sp>
      <p:graphicFrame>
        <p:nvGraphicFramePr>
          <p:cNvPr id="183308" name="Object 12"/>
          <p:cNvGraphicFramePr>
            <a:graphicFrameLocks noChangeAspect="1"/>
          </p:cNvGraphicFramePr>
          <p:nvPr/>
        </p:nvGraphicFramePr>
        <p:xfrm>
          <a:off x="1476375" y="1628775"/>
          <a:ext cx="3835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3" name="Equation" r:id="rId3" imgW="1803400" imgH="241300" progId="Equation.DSMT4">
                  <p:embed/>
                </p:oleObj>
              </mc:Choice>
              <mc:Fallback>
                <p:oleObj name="Equation" r:id="rId3" imgW="1803400" imgH="241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628775"/>
                        <a:ext cx="3835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Object 11"/>
          <p:cNvGraphicFramePr>
            <a:graphicFrameLocks noChangeAspect="1"/>
          </p:cNvGraphicFramePr>
          <p:nvPr/>
        </p:nvGraphicFramePr>
        <p:xfrm>
          <a:off x="2370138" y="2205038"/>
          <a:ext cx="40433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4" name="Equation" r:id="rId5" imgW="1879600" imgH="241300" progId="Equation.DSMT4">
                  <p:embed/>
                </p:oleObj>
              </mc:Choice>
              <mc:Fallback>
                <p:oleObj name="Equation" r:id="rId5" imgW="18796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2205038"/>
                        <a:ext cx="404336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1" name="Rectangle 15"/>
          <p:cNvSpPr>
            <a:spLocks noChangeArrowheads="1"/>
          </p:cNvSpPr>
          <p:nvPr/>
        </p:nvSpPr>
        <p:spPr bwMode="auto">
          <a:xfrm>
            <a:off x="900113" y="1052513"/>
            <a:ext cx="7993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1.   </a:t>
            </a:r>
            <a:r>
              <a:rPr lang="zh-CN" altLang="en-US"/>
              <a:t>矩阵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B</a:t>
            </a:r>
            <a:r>
              <a:rPr lang="zh-CN" altLang="en-US"/>
              <a:t>等价               有初等矩阵</a:t>
            </a:r>
          </a:p>
        </p:txBody>
      </p:sp>
      <p:sp>
        <p:nvSpPr>
          <p:cNvPr id="183312" name="Rectangle 16"/>
          <p:cNvSpPr>
            <a:spLocks noChangeArrowheads="1"/>
          </p:cNvSpPr>
          <p:nvPr/>
        </p:nvSpPr>
        <p:spPr bwMode="auto">
          <a:xfrm>
            <a:off x="5292725" y="1557338"/>
            <a:ext cx="201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，使</a:t>
            </a:r>
          </a:p>
        </p:txBody>
      </p:sp>
      <p:sp>
        <p:nvSpPr>
          <p:cNvPr id="183313" name="Rectangle 17"/>
          <p:cNvSpPr>
            <a:spLocks noChangeArrowheads="1"/>
          </p:cNvSpPr>
          <p:nvPr/>
        </p:nvSpPr>
        <p:spPr bwMode="auto">
          <a:xfrm>
            <a:off x="827088" y="3284538"/>
            <a:ext cx="7848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542925" indent="-54292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黑体" pitchFamily="49" charset="-122"/>
              </a:rPr>
              <a:t>2. </a:t>
            </a:r>
            <a:r>
              <a:rPr lang="zh-CN" altLang="en-US">
                <a:latin typeface="黑体" pitchFamily="49" charset="-122"/>
              </a:rPr>
              <a:t>两个</a:t>
            </a:r>
            <a:r>
              <a:rPr lang="zh-CN" altLang="en-US"/>
              <a:t> </a:t>
            </a:r>
            <a:r>
              <a:rPr lang="en-US" altLang="zh-CN" i="1"/>
              <a:t>s</a:t>
            </a:r>
            <a:r>
              <a:rPr lang="en-US" altLang="zh-CN" sz="2400"/>
              <a:t>×</a:t>
            </a:r>
            <a:r>
              <a:rPr lang="en-US" altLang="zh-CN" i="1"/>
              <a:t>n</a:t>
            </a:r>
            <a:r>
              <a:rPr lang="en-US" altLang="zh-CN"/>
              <a:t> </a:t>
            </a:r>
            <a:r>
              <a:rPr lang="zh-CN" altLang="en-US"/>
              <a:t>矩阵</a:t>
            </a:r>
            <a:r>
              <a:rPr lang="en-US" altLang="zh-CN" i="1"/>
              <a:t>A, B</a:t>
            </a:r>
            <a:r>
              <a:rPr lang="en-US" altLang="zh-CN"/>
              <a:t> </a:t>
            </a:r>
            <a:r>
              <a:rPr lang="zh-CN" altLang="en-US"/>
              <a:t>等价           存在</a:t>
            </a:r>
            <a:r>
              <a:rPr lang="zh-CN" altLang="en-US">
                <a:solidFill>
                  <a:srgbClr val="CC0000"/>
                </a:solidFill>
              </a:rPr>
              <a:t>可逆的 </a:t>
            </a:r>
            <a:r>
              <a:rPr lang="en-US" altLang="zh-CN" i="1">
                <a:solidFill>
                  <a:srgbClr val="CC0000"/>
                </a:solidFill>
              </a:rPr>
              <a:t>s</a:t>
            </a:r>
            <a:r>
              <a:rPr lang="zh-CN" altLang="en-US">
                <a:solidFill>
                  <a:srgbClr val="CC0000"/>
                </a:solidFill>
              </a:rPr>
              <a:t>级</a:t>
            </a:r>
            <a:r>
              <a:rPr lang="zh-CN" altLang="en-US"/>
              <a:t>矩阵</a:t>
            </a:r>
            <a:r>
              <a:rPr lang="en-US" altLang="zh-CN" i="1"/>
              <a:t>P</a:t>
            </a:r>
            <a:r>
              <a:rPr lang="zh-CN" altLang="en-US"/>
              <a:t>与</a:t>
            </a:r>
            <a:r>
              <a:rPr lang="zh-CN" altLang="en-US">
                <a:solidFill>
                  <a:srgbClr val="CC0000"/>
                </a:solidFill>
              </a:rPr>
              <a:t>可逆的</a:t>
            </a:r>
            <a:r>
              <a:rPr lang="en-US" altLang="zh-CN" i="1">
                <a:solidFill>
                  <a:srgbClr val="CC0000"/>
                </a:solidFill>
              </a:rPr>
              <a:t>n </a:t>
            </a:r>
            <a:r>
              <a:rPr lang="zh-CN" altLang="en-US">
                <a:solidFill>
                  <a:srgbClr val="CC0000"/>
                </a:solidFill>
              </a:rPr>
              <a:t>级</a:t>
            </a:r>
            <a:r>
              <a:rPr lang="zh-CN" altLang="en-US"/>
              <a:t>矩阵</a:t>
            </a:r>
            <a:r>
              <a:rPr lang="en-US" altLang="zh-CN" i="1"/>
              <a:t>Q</a:t>
            </a:r>
            <a:r>
              <a:rPr lang="zh-CN" altLang="en-US"/>
              <a:t>使</a:t>
            </a:r>
          </a:p>
          <a:p>
            <a:pPr algn="ctr" eaLnBrk="1" hangingPunct="1"/>
            <a:r>
              <a:rPr lang="zh-CN" altLang="en-US"/>
              <a:t>  </a:t>
            </a:r>
            <a:r>
              <a:rPr lang="en-US" altLang="zh-CN" i="1"/>
              <a:t>B </a:t>
            </a:r>
            <a:r>
              <a:rPr lang="en-US" altLang="zh-CN"/>
              <a:t>=</a:t>
            </a:r>
            <a:r>
              <a:rPr lang="en-US" altLang="zh-CN" i="1"/>
              <a:t> PAQ</a:t>
            </a:r>
            <a:r>
              <a:rPr lang="en-US" altLang="zh-CN"/>
              <a:t> .</a:t>
            </a:r>
          </a:p>
        </p:txBody>
      </p:sp>
      <p:sp>
        <p:nvSpPr>
          <p:cNvPr id="183315" name="Rectangle 19"/>
          <p:cNvSpPr>
            <a:spLocks noChangeArrowheads="1"/>
          </p:cNvSpPr>
          <p:nvPr/>
        </p:nvSpPr>
        <p:spPr bwMode="auto">
          <a:xfrm>
            <a:off x="808038" y="4725988"/>
            <a:ext cx="61991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>
                <a:ea typeface="宋体" pitchFamily="2" charset="-122"/>
              </a:rPr>
              <a:t>3. </a:t>
            </a:r>
            <a:r>
              <a:rPr lang="zh-CN" altLang="en-US">
                <a:ea typeface="宋体" pitchFamily="2" charset="-122"/>
              </a:rPr>
              <a:t>任意一个 </a:t>
            </a:r>
            <a:r>
              <a:rPr lang="en-US" altLang="zh-CN" i="1">
                <a:ea typeface="宋体" pitchFamily="2" charset="-122"/>
              </a:rPr>
              <a:t>m</a:t>
            </a:r>
            <a:r>
              <a:rPr lang="en-US" altLang="zh-CN" sz="2400">
                <a:ea typeface="SymbolMT"/>
                <a:cs typeface="SymbolMT"/>
              </a:rPr>
              <a:t>×</a:t>
            </a:r>
            <a:r>
              <a:rPr lang="en-US" altLang="zh-CN" i="1">
                <a:ea typeface="宋体" pitchFamily="2" charset="-122"/>
              </a:rPr>
              <a:t>n </a:t>
            </a:r>
            <a:r>
              <a:rPr lang="zh-CN" altLang="en-US"/>
              <a:t>矩阵</a:t>
            </a:r>
            <a:r>
              <a:rPr lang="en-US" altLang="zh-CN" i="1">
                <a:ea typeface="宋体" pitchFamily="2" charset="-122"/>
              </a:rPr>
              <a:t>A </a:t>
            </a:r>
            <a:r>
              <a:rPr lang="zh-CN" altLang="en-US"/>
              <a:t>都与一形式为 </a:t>
            </a:r>
            <a:endParaRPr lang="zh-CN" altLang="en-US">
              <a:ea typeface="宋体" pitchFamily="2" charset="-122"/>
            </a:endParaRPr>
          </a:p>
        </p:txBody>
      </p:sp>
      <p:graphicFrame>
        <p:nvGraphicFramePr>
          <p:cNvPr id="183314" name="Object 18"/>
          <p:cNvGraphicFramePr>
            <a:graphicFrameLocks noChangeAspect="1"/>
          </p:cNvGraphicFramePr>
          <p:nvPr/>
        </p:nvGraphicFramePr>
        <p:xfrm>
          <a:off x="6983413" y="4422775"/>
          <a:ext cx="1909762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5" name="Equation" r:id="rId7" imgW="888614" imgH="545863" progId="Equation.DSMT4">
                  <p:embed/>
                </p:oleObj>
              </mc:Choice>
              <mc:Fallback>
                <p:oleObj name="Equation" r:id="rId7" imgW="888614" imgH="54586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3" y="4422775"/>
                        <a:ext cx="1909762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6" name="Rectangle 20"/>
          <p:cNvSpPr>
            <a:spLocks noChangeArrowheads="1"/>
          </p:cNvSpPr>
          <p:nvPr/>
        </p:nvSpPr>
        <p:spPr bwMode="auto">
          <a:xfrm>
            <a:off x="1116013" y="5157788"/>
            <a:ext cx="5956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ea typeface="宋体" pitchFamily="2" charset="-122"/>
              </a:rPr>
              <a:t>的矩阵等价，它称为矩阵</a:t>
            </a:r>
            <a:r>
              <a:rPr lang="en-US" altLang="zh-CN" i="1">
                <a:ea typeface="宋体" pitchFamily="2" charset="-122"/>
              </a:rPr>
              <a:t>A </a:t>
            </a:r>
            <a:r>
              <a:rPr lang="zh-CN" altLang="en-US">
                <a:ea typeface="宋体" pitchFamily="2" charset="-122"/>
              </a:rPr>
              <a:t>的</a:t>
            </a:r>
            <a:r>
              <a:rPr lang="zh-CN" altLang="en-US">
                <a:solidFill>
                  <a:srgbClr val="0000CC"/>
                </a:solidFill>
                <a:ea typeface="宋体" pitchFamily="2" charset="-122"/>
              </a:rPr>
              <a:t>标准形</a:t>
            </a:r>
            <a:r>
              <a:rPr lang="en-US" altLang="zh-CN">
                <a:solidFill>
                  <a:srgbClr val="0000CC"/>
                </a:solidFill>
                <a:ea typeface="宋体" pitchFamily="2" charset="-122"/>
              </a:rPr>
              <a:t>.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83317" name="Rectangle 21"/>
          <p:cNvSpPr>
            <a:spLocks noChangeArrowheads="1"/>
          </p:cNvSpPr>
          <p:nvPr/>
        </p:nvSpPr>
        <p:spPr bwMode="auto">
          <a:xfrm>
            <a:off x="1116013" y="5589588"/>
            <a:ext cx="4559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/>
              <a:t>一个矩阵的标准形是</a:t>
            </a:r>
            <a:r>
              <a:rPr lang="zh-CN" altLang="en-US">
                <a:solidFill>
                  <a:srgbClr val="CC0000"/>
                </a:solidFill>
              </a:rPr>
              <a:t>唯一</a:t>
            </a:r>
            <a:r>
              <a:rPr lang="zh-CN" altLang="en-US"/>
              <a:t>的</a:t>
            </a:r>
            <a:r>
              <a:rPr lang="en-US" altLang="zh-CN"/>
              <a:t>.</a:t>
            </a:r>
          </a:p>
        </p:txBody>
      </p:sp>
      <p:sp>
        <p:nvSpPr>
          <p:cNvPr id="183318" name="Line 22"/>
          <p:cNvSpPr>
            <a:spLocks noChangeShapeType="1"/>
          </p:cNvSpPr>
          <p:nvPr/>
        </p:nvSpPr>
        <p:spPr bwMode="auto">
          <a:xfrm>
            <a:off x="3059113" y="2708275"/>
            <a:ext cx="136842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3320" name="Line 24"/>
          <p:cNvSpPr>
            <a:spLocks noChangeShapeType="1"/>
          </p:cNvSpPr>
          <p:nvPr/>
        </p:nvSpPr>
        <p:spPr bwMode="auto">
          <a:xfrm>
            <a:off x="4859338" y="2708275"/>
            <a:ext cx="136842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83321" name="Text Box 25"/>
          <p:cNvSpPr txBox="1">
            <a:spLocks noChangeArrowheads="1"/>
          </p:cNvSpPr>
          <p:nvPr/>
        </p:nvSpPr>
        <p:spPr bwMode="auto">
          <a:xfrm>
            <a:off x="3851275" y="27813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i="1"/>
              <a:t>P</a:t>
            </a:r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5292725" y="2708275"/>
            <a:ext cx="441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i="1"/>
              <a:t>Q</a:t>
            </a:r>
          </a:p>
        </p:txBody>
      </p:sp>
      <p:sp>
        <p:nvSpPr>
          <p:cNvPr id="183323" name="AutoShape 27"/>
          <p:cNvSpPr>
            <a:spLocks noChangeArrowheads="1"/>
          </p:cNvSpPr>
          <p:nvPr/>
        </p:nvSpPr>
        <p:spPr bwMode="auto">
          <a:xfrm>
            <a:off x="3563938" y="2781300"/>
            <a:ext cx="287337" cy="360363"/>
          </a:xfrm>
          <a:prstGeom prst="curvedRightArrow">
            <a:avLst>
              <a:gd name="adj1" fmla="val 25083"/>
              <a:gd name="adj2" fmla="val 50166"/>
              <a:gd name="adj3" fmla="val 33333"/>
            </a:avLst>
          </a:prstGeom>
          <a:solidFill>
            <a:srgbClr val="66FFFF"/>
          </a:solidFill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24" name="AutoShape 28"/>
          <p:cNvSpPr>
            <a:spLocks noChangeArrowheads="1"/>
          </p:cNvSpPr>
          <p:nvPr/>
        </p:nvSpPr>
        <p:spPr bwMode="auto">
          <a:xfrm>
            <a:off x="5076825" y="2781300"/>
            <a:ext cx="287338" cy="360363"/>
          </a:xfrm>
          <a:prstGeom prst="curvedRightArrow">
            <a:avLst>
              <a:gd name="adj1" fmla="val 25083"/>
              <a:gd name="adj2" fmla="val 50166"/>
              <a:gd name="adj3" fmla="val 33333"/>
            </a:avLst>
          </a:prstGeom>
          <a:solidFill>
            <a:srgbClr val="66FFFF"/>
          </a:solidFill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25" name="AutoShape 29"/>
          <p:cNvSpPr>
            <a:spLocks noChangeArrowheads="1"/>
          </p:cNvSpPr>
          <p:nvPr/>
        </p:nvSpPr>
        <p:spPr bwMode="auto">
          <a:xfrm>
            <a:off x="4068763" y="1125538"/>
            <a:ext cx="647700" cy="360362"/>
          </a:xfrm>
          <a:prstGeom prst="leftRightArrow">
            <a:avLst>
              <a:gd name="adj1" fmla="val 50000"/>
              <a:gd name="adj2" fmla="val 35947"/>
            </a:avLst>
          </a:prstGeom>
          <a:noFill/>
          <a:ln w="2857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27" name="AutoShape 31"/>
          <p:cNvSpPr>
            <a:spLocks noChangeArrowheads="1"/>
          </p:cNvSpPr>
          <p:nvPr/>
        </p:nvSpPr>
        <p:spPr bwMode="auto">
          <a:xfrm>
            <a:off x="5364163" y="3357563"/>
            <a:ext cx="647700" cy="360362"/>
          </a:xfrm>
          <a:prstGeom prst="leftRightArrow">
            <a:avLst>
              <a:gd name="adj1" fmla="val 50000"/>
              <a:gd name="adj2" fmla="val 35947"/>
            </a:avLst>
          </a:prstGeom>
          <a:noFill/>
          <a:ln w="2857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1" grpId="0"/>
      <p:bldP spid="183312" grpId="0"/>
      <p:bldP spid="183313" grpId="0"/>
      <p:bldP spid="183315" grpId="0"/>
      <p:bldP spid="183316" grpId="0"/>
      <p:bldP spid="183317" grpId="0"/>
      <p:bldP spid="183318" grpId="0" animBg="1"/>
      <p:bldP spid="183320" grpId="0" animBg="1"/>
      <p:bldP spid="183321" grpId="0"/>
      <p:bldP spid="183322" grpId="0"/>
      <p:bldP spid="183323" grpId="0" animBg="1"/>
      <p:bldP spid="183324" grpId="0" animBg="1"/>
      <p:bldP spid="183325" grpId="0" animBg="1"/>
      <p:bldP spid="1833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9" name="Rectangle 13"/>
          <p:cNvSpPr>
            <a:spLocks noChangeArrowheads="1"/>
          </p:cNvSpPr>
          <p:nvPr/>
        </p:nvSpPr>
        <p:spPr bwMode="auto">
          <a:xfrm>
            <a:off x="684213" y="2411413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61950" indent="-3619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5. </a:t>
            </a:r>
            <a:r>
              <a:rPr lang="zh-CN" altLang="en-US"/>
              <a:t>可逆矩阵总可以经过一系列初等</a:t>
            </a:r>
            <a:r>
              <a:rPr lang="zh-CN" altLang="en-US">
                <a:solidFill>
                  <a:srgbClr val="CC0000"/>
                </a:solidFill>
              </a:rPr>
              <a:t>行</a:t>
            </a:r>
            <a:r>
              <a:rPr lang="zh-CN" altLang="en-US"/>
              <a:t>变换</a:t>
            </a:r>
            <a:r>
              <a:rPr lang="zh-CN" altLang="en-US">
                <a:solidFill>
                  <a:srgbClr val="0000CC"/>
                </a:solidFill>
              </a:rPr>
              <a:t>化成单位矩阵</a:t>
            </a:r>
            <a:r>
              <a:rPr lang="en-US" altLang="zh-CN"/>
              <a:t>.</a:t>
            </a:r>
          </a:p>
        </p:txBody>
      </p:sp>
      <p:sp>
        <p:nvSpPr>
          <p:cNvPr id="137230" name="Rectangle 14"/>
          <p:cNvSpPr>
            <a:spLocks noChangeArrowheads="1"/>
          </p:cNvSpPr>
          <p:nvPr/>
        </p:nvSpPr>
        <p:spPr bwMode="auto">
          <a:xfrm>
            <a:off x="1042988" y="3500438"/>
            <a:ext cx="75612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47675" indent="-447675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【</a:t>
            </a:r>
            <a:r>
              <a:rPr lang="zh-CN" altLang="en-US"/>
              <a:t>可逆矩阵总可以经过一系列初等</a:t>
            </a:r>
            <a:r>
              <a:rPr lang="zh-CN" altLang="en-US">
                <a:solidFill>
                  <a:srgbClr val="CC0000"/>
                </a:solidFill>
              </a:rPr>
              <a:t>列</a:t>
            </a:r>
            <a:r>
              <a:rPr lang="zh-CN" altLang="en-US"/>
              <a:t>变换</a:t>
            </a:r>
            <a:r>
              <a:rPr lang="zh-CN" altLang="en-US">
                <a:solidFill>
                  <a:srgbClr val="0000CC"/>
                </a:solidFill>
              </a:rPr>
              <a:t>化成单位矩阵</a:t>
            </a:r>
            <a:r>
              <a:rPr lang="en-US" altLang="zh-CN"/>
              <a:t>.】</a:t>
            </a:r>
          </a:p>
        </p:txBody>
      </p:sp>
      <p:graphicFrame>
        <p:nvGraphicFramePr>
          <p:cNvPr id="115716" name="Object 15"/>
          <p:cNvGraphicFramePr>
            <a:graphicFrameLocks noChangeAspect="1"/>
          </p:cNvGraphicFramePr>
          <p:nvPr/>
        </p:nvGraphicFramePr>
        <p:xfrm>
          <a:off x="2268538" y="1422400"/>
          <a:ext cx="251936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4" name="Equation" r:id="rId3" imgW="1054100" imgH="241300" progId="Equation.DSMT4">
                  <p:embed/>
                </p:oleObj>
              </mc:Choice>
              <mc:Fallback>
                <p:oleObj name="Equation" r:id="rId3" imgW="1054100" imgH="2413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22400"/>
                        <a:ext cx="251936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7" name="Rectangle 17"/>
          <p:cNvSpPr>
            <a:spLocks noChangeArrowheads="1"/>
          </p:cNvSpPr>
          <p:nvPr/>
        </p:nvSpPr>
        <p:spPr bwMode="auto">
          <a:xfrm>
            <a:off x="755650" y="485775"/>
            <a:ext cx="77771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914400" indent="-4572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371600" indent="-4572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828800" indent="-4572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286000" indent="-457200" eaLnBrk="0" hangingPunct="0"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</a:tabLs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/>
              <a:t>4.  </a:t>
            </a:r>
            <a:r>
              <a:rPr lang="en-US" altLang="zh-CN" i="1"/>
              <a:t>n</a:t>
            </a:r>
            <a:r>
              <a:rPr lang="en-US" altLang="zh-CN"/>
              <a:t> </a:t>
            </a:r>
            <a:r>
              <a:rPr lang="zh-CN" altLang="en-US"/>
              <a:t>级矩阵</a:t>
            </a:r>
            <a:r>
              <a:rPr lang="en-US" altLang="zh-CN" i="1"/>
              <a:t>A</a:t>
            </a:r>
            <a:r>
              <a:rPr lang="zh-CN" altLang="en-US"/>
              <a:t>为可逆的               它能表成一些初等矩阵的乘积</a:t>
            </a:r>
          </a:p>
        </p:txBody>
      </p:sp>
      <p:sp>
        <p:nvSpPr>
          <p:cNvPr id="115718" name="AutoShape 18"/>
          <p:cNvSpPr>
            <a:spLocks noChangeArrowheads="1"/>
          </p:cNvSpPr>
          <p:nvPr/>
        </p:nvSpPr>
        <p:spPr bwMode="auto">
          <a:xfrm>
            <a:off x="4643438" y="620713"/>
            <a:ext cx="647700" cy="360362"/>
          </a:xfrm>
          <a:prstGeom prst="leftRightArrow">
            <a:avLst>
              <a:gd name="adj1" fmla="val 50000"/>
              <a:gd name="adj2" fmla="val 35947"/>
            </a:avLst>
          </a:prstGeom>
          <a:noFill/>
          <a:ln w="2857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9" grpId="0"/>
      <p:bldP spid="137230" grpId="0"/>
    </p:bldLst>
  </p:timing>
</p:sld>
</file>

<file path=ppt/theme/theme1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模板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D:\线性代数电子教案\模板.pot</Template>
  <TotalTime>1540</TotalTime>
  <Words>868</Words>
  <Application>Microsoft Office PowerPoint</Application>
  <PresentationFormat>全屏显示(4:3)</PresentationFormat>
  <Paragraphs>92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SymbolMT</vt:lpstr>
      <vt:lpstr>黑体</vt:lpstr>
      <vt:lpstr>华文楷体</vt:lpstr>
      <vt:lpstr>楷体_GB2312</vt:lpstr>
      <vt:lpstr>宋体</vt:lpstr>
      <vt:lpstr>Times New Roman</vt:lpstr>
      <vt:lpstr>Wingdings</vt:lpstr>
      <vt:lpstr>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南开大学自动化系刘忠信</dc:creator>
  <cp:lastModifiedBy>admin</cp:lastModifiedBy>
  <cp:revision>150</cp:revision>
  <dcterms:created xsi:type="dcterms:W3CDTF">1990-03-25T13:43:48Z</dcterms:created>
  <dcterms:modified xsi:type="dcterms:W3CDTF">2023-10-19T09:44:04Z</dcterms:modified>
</cp:coreProperties>
</file>