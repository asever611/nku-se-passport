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4.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5.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6.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7.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8.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9.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10.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11.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12.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13.xml" ContentType="application/vnd.openxmlformats-officedocument.theme+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14.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15.xml" ContentType="application/vnd.openxmlformats-officedocument.theme+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16.xml" ContentType="application/vnd.openxmlformats-officedocument.theme+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theme/theme17.xml" ContentType="application/vnd.openxmlformats-officedocument.theme+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theme/theme18.xml" ContentType="application/vnd.openxmlformats-officedocument.theme+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19.xml" ContentType="application/vnd.openxmlformats-officedocument.theme+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theme/theme20.xml" ContentType="application/vnd.openxmlformats-officedocument.theme+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theme/theme21.xml" ContentType="application/vnd.openxmlformats-officedocument.theme+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theme/theme22.xml" ContentType="application/vnd.openxmlformats-officedocument.theme+xml"/>
  <Override PartName="/ppt/theme/theme23.xml" ContentType="application/vnd.openxmlformats-officedocument.theme+xml"/>
  <Override PartName="/ppt/notesSlides/notesSlide1.xml" ContentType="application/vnd.openxmlformats-officedocument.presentationml.notesSlide+xml"/>
  <Override PartName="/ppt/media/image8.jpg" ContentType="image/jpeg"/>
  <Override PartName="/ppt/notesSlides/notesSlide2.xml" ContentType="application/vnd.openxmlformats-officedocument.presentationml.notesSlide+xml"/>
  <Override PartName="/ppt/media/image9.jpg" ContentType="image/jpeg"/>
  <Override PartName="/ppt/notesSlides/notesSlide3.xml" ContentType="application/vnd.openxmlformats-officedocument.presentationml.notesSlide+xml"/>
  <Override PartName="/ppt/notesSlides/notesSlide4.xml" ContentType="application/vnd.openxmlformats-officedocument.presentationml.notesSlide+xml"/>
  <Override PartName="/ppt/media/image10.jpg" ContentType="image/jpeg"/>
  <Override PartName="/ppt/media/image11.jpg" ContentType="image/jpeg"/>
  <Override PartName="/ppt/media/image12.jpg" ContentType="image/jpeg"/>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691" r:id="rId2"/>
    <p:sldMasterId id="2147483684" r:id="rId3"/>
    <p:sldMasterId id="2147483686" r:id="rId4"/>
    <p:sldMasterId id="2147483701" r:id="rId5"/>
    <p:sldMasterId id="2147483704" r:id="rId6"/>
    <p:sldMasterId id="2147483710" r:id="rId7"/>
    <p:sldMasterId id="2147483716" r:id="rId8"/>
    <p:sldMasterId id="2147483723" r:id="rId9"/>
    <p:sldMasterId id="2147483730" r:id="rId10"/>
    <p:sldMasterId id="2147483737" r:id="rId11"/>
    <p:sldMasterId id="2147483744" r:id="rId12"/>
    <p:sldMasterId id="2147483751" r:id="rId13"/>
    <p:sldMasterId id="2147483758" r:id="rId14"/>
    <p:sldMasterId id="2147483765" r:id="rId15"/>
    <p:sldMasterId id="2147483772" r:id="rId16"/>
    <p:sldMasterId id="2147483779" r:id="rId17"/>
    <p:sldMasterId id="2147483786" r:id="rId18"/>
    <p:sldMasterId id="2147483794" r:id="rId19"/>
    <p:sldMasterId id="2147483801" r:id="rId20"/>
    <p:sldMasterId id="2147483808" r:id="rId21"/>
    <p:sldMasterId id="2147483815" r:id="rId22"/>
  </p:sldMasterIdLst>
  <p:notesMasterIdLst>
    <p:notesMasterId r:id="rId86"/>
  </p:notesMasterIdLst>
  <p:sldIdLst>
    <p:sldId id="257" r:id="rId23"/>
    <p:sldId id="258" r:id="rId24"/>
    <p:sldId id="259" r:id="rId25"/>
    <p:sldId id="260" r:id="rId26"/>
    <p:sldId id="264" r:id="rId27"/>
    <p:sldId id="272" r:id="rId28"/>
    <p:sldId id="261" r:id="rId29"/>
    <p:sldId id="262" r:id="rId30"/>
    <p:sldId id="263" r:id="rId31"/>
    <p:sldId id="273" r:id="rId32"/>
    <p:sldId id="265" r:id="rId33"/>
    <p:sldId id="324" r:id="rId34"/>
    <p:sldId id="266" r:id="rId35"/>
    <p:sldId id="268" r:id="rId36"/>
    <p:sldId id="277" r:id="rId37"/>
    <p:sldId id="285" r:id="rId38"/>
    <p:sldId id="271" r:id="rId39"/>
    <p:sldId id="321" r:id="rId40"/>
    <p:sldId id="287" r:id="rId41"/>
    <p:sldId id="288" r:id="rId42"/>
    <p:sldId id="274" r:id="rId43"/>
    <p:sldId id="319" r:id="rId44"/>
    <p:sldId id="320" r:id="rId45"/>
    <p:sldId id="278" r:id="rId46"/>
    <p:sldId id="279" r:id="rId47"/>
    <p:sldId id="284" r:id="rId48"/>
    <p:sldId id="289" r:id="rId49"/>
    <p:sldId id="290" r:id="rId50"/>
    <p:sldId id="291" r:id="rId51"/>
    <p:sldId id="267" r:id="rId52"/>
    <p:sldId id="293" r:id="rId53"/>
    <p:sldId id="292" r:id="rId54"/>
    <p:sldId id="294" r:id="rId55"/>
    <p:sldId id="295" r:id="rId56"/>
    <p:sldId id="270" r:id="rId57"/>
    <p:sldId id="296" r:id="rId58"/>
    <p:sldId id="297" r:id="rId59"/>
    <p:sldId id="298" r:id="rId60"/>
    <p:sldId id="299" r:id="rId61"/>
    <p:sldId id="300" r:id="rId62"/>
    <p:sldId id="301" r:id="rId63"/>
    <p:sldId id="269" r:id="rId64"/>
    <p:sldId id="302" r:id="rId65"/>
    <p:sldId id="303" r:id="rId66"/>
    <p:sldId id="304" r:id="rId67"/>
    <p:sldId id="305" r:id="rId68"/>
    <p:sldId id="306" r:id="rId69"/>
    <p:sldId id="307" r:id="rId70"/>
    <p:sldId id="308" r:id="rId71"/>
    <p:sldId id="309" r:id="rId72"/>
    <p:sldId id="275" r:id="rId73"/>
    <p:sldId id="310" r:id="rId74"/>
    <p:sldId id="311" r:id="rId75"/>
    <p:sldId id="312" r:id="rId76"/>
    <p:sldId id="313" r:id="rId77"/>
    <p:sldId id="314" r:id="rId78"/>
    <p:sldId id="315" r:id="rId79"/>
    <p:sldId id="316" r:id="rId80"/>
    <p:sldId id="317" r:id="rId81"/>
    <p:sldId id="318" r:id="rId82"/>
    <p:sldId id="281" r:id="rId83"/>
    <p:sldId id="322" r:id="rId84"/>
    <p:sldId id="323" r:id="rId8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5973D931-3BAC-4F30-9C16-B7461F574E40}">
          <p14:sldIdLst>
            <p14:sldId id="257"/>
            <p14:sldId id="258"/>
            <p14:sldId id="259"/>
            <p14:sldId id="260"/>
            <p14:sldId id="264"/>
            <p14:sldId id="272"/>
            <p14:sldId id="261"/>
            <p14:sldId id="262"/>
            <p14:sldId id="263"/>
            <p14:sldId id="273"/>
            <p14:sldId id="265"/>
            <p14:sldId id="324"/>
            <p14:sldId id="266"/>
            <p14:sldId id="268"/>
            <p14:sldId id="277"/>
            <p14:sldId id="285"/>
            <p14:sldId id="271"/>
            <p14:sldId id="321"/>
            <p14:sldId id="287"/>
            <p14:sldId id="288"/>
            <p14:sldId id="274"/>
            <p14:sldId id="319"/>
            <p14:sldId id="320"/>
            <p14:sldId id="278"/>
            <p14:sldId id="279"/>
            <p14:sldId id="284"/>
            <p14:sldId id="289"/>
            <p14:sldId id="290"/>
            <p14:sldId id="291"/>
            <p14:sldId id="267"/>
            <p14:sldId id="293"/>
            <p14:sldId id="292"/>
            <p14:sldId id="294"/>
            <p14:sldId id="295"/>
            <p14:sldId id="270"/>
            <p14:sldId id="296"/>
            <p14:sldId id="297"/>
            <p14:sldId id="298"/>
            <p14:sldId id="299"/>
            <p14:sldId id="300"/>
            <p14:sldId id="301"/>
            <p14:sldId id="269"/>
            <p14:sldId id="302"/>
            <p14:sldId id="303"/>
            <p14:sldId id="304"/>
            <p14:sldId id="305"/>
            <p14:sldId id="306"/>
            <p14:sldId id="307"/>
            <p14:sldId id="308"/>
            <p14:sldId id="309"/>
            <p14:sldId id="275"/>
            <p14:sldId id="310"/>
            <p14:sldId id="311"/>
            <p14:sldId id="312"/>
            <p14:sldId id="313"/>
            <p14:sldId id="314"/>
            <p14:sldId id="315"/>
            <p14:sldId id="316"/>
            <p14:sldId id="317"/>
            <p14:sldId id="318"/>
            <p14:sldId id="281"/>
            <p14:sldId id="322"/>
            <p14:sldId id="323"/>
          </p14:sldIdLst>
        </p14:section>
      </p14:sectionLst>
    </p:ext>
    <p:ext uri="{EFAFB233-063F-42B5-8137-9DF3F51BA10A}">
      <p15:sldGuideLst xmlns:p15="http://schemas.microsoft.com/office/powerpoint/2012/main">
        <p15:guide id="2" pos="3264" userDrawn="1">
          <p15:clr>
            <a:srgbClr val="A4A3A4"/>
          </p15:clr>
        </p15:guide>
        <p15:guide id="3" orient="horz" pos="2256" userDrawn="1">
          <p15:clr>
            <a:srgbClr val="A4A3A4"/>
          </p15:clr>
        </p15:guide>
        <p15:guide id="4" pos="56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cmAuthor id="2" name="Ciporen, Laura" initials="CL [2]" lastIdx="2"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43" autoAdjust="0"/>
    <p:restoredTop sz="77948" autoAdjust="0"/>
  </p:normalViewPr>
  <p:slideViewPr>
    <p:cSldViewPr snapToGrid="0" showGuides="1">
      <p:cViewPr varScale="1">
        <p:scale>
          <a:sx n="71" d="100"/>
          <a:sy n="71" d="100"/>
        </p:scale>
        <p:origin x="68" y="368"/>
      </p:cViewPr>
      <p:guideLst>
        <p:guide pos="3264"/>
        <p:guide orient="horz" pos="2256"/>
        <p:guide pos="5640"/>
      </p:guideLst>
    </p:cSldViewPr>
  </p:slideViewPr>
  <p:outlineViewPr>
    <p:cViewPr>
      <p:scale>
        <a:sx n="33" d="100"/>
        <a:sy n="33" d="100"/>
      </p:scale>
      <p:origin x="0" y="0"/>
    </p:cViewPr>
  </p:outlineViewPr>
  <p:notesTextViewPr>
    <p:cViewPr>
      <p:scale>
        <a:sx n="125" d="100"/>
        <a:sy n="125" d="100"/>
      </p:scale>
      <p:origin x="0" y="-716"/>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4.xml"/><Relationship Id="rId21" Type="http://schemas.openxmlformats.org/officeDocument/2006/relationships/slideMaster" Target="slideMasters/slideMaster21.xml"/><Relationship Id="rId42" Type="http://schemas.openxmlformats.org/officeDocument/2006/relationships/slide" Target="slides/slide20.xml"/><Relationship Id="rId47" Type="http://schemas.openxmlformats.org/officeDocument/2006/relationships/slide" Target="slides/slide25.xml"/><Relationship Id="rId63" Type="http://schemas.openxmlformats.org/officeDocument/2006/relationships/slide" Target="slides/slide41.xml"/><Relationship Id="rId68" Type="http://schemas.openxmlformats.org/officeDocument/2006/relationships/slide" Target="slides/slide46.xml"/><Relationship Id="rId84" Type="http://schemas.openxmlformats.org/officeDocument/2006/relationships/slide" Target="slides/slide62.xml"/><Relationship Id="rId89" Type="http://schemas.openxmlformats.org/officeDocument/2006/relationships/viewProps" Target="viewProps.xml"/><Relationship Id="rId16" Type="http://schemas.openxmlformats.org/officeDocument/2006/relationships/slideMaster" Target="slideMasters/slideMaster16.xml"/><Relationship Id="rId11" Type="http://schemas.openxmlformats.org/officeDocument/2006/relationships/slideMaster" Target="slideMasters/slideMaster11.xml"/><Relationship Id="rId32" Type="http://schemas.openxmlformats.org/officeDocument/2006/relationships/slide" Target="slides/slide10.xml"/><Relationship Id="rId37" Type="http://schemas.openxmlformats.org/officeDocument/2006/relationships/slide" Target="slides/slide15.xml"/><Relationship Id="rId53" Type="http://schemas.openxmlformats.org/officeDocument/2006/relationships/slide" Target="slides/slide31.xml"/><Relationship Id="rId58" Type="http://schemas.openxmlformats.org/officeDocument/2006/relationships/slide" Target="slides/slide36.xml"/><Relationship Id="rId74" Type="http://schemas.openxmlformats.org/officeDocument/2006/relationships/slide" Target="slides/slide52.xml"/><Relationship Id="rId79" Type="http://schemas.openxmlformats.org/officeDocument/2006/relationships/slide" Target="slides/slide57.xml"/><Relationship Id="rId5" Type="http://schemas.openxmlformats.org/officeDocument/2006/relationships/slideMaster" Target="slideMasters/slideMaster5.xml"/><Relationship Id="rId90" Type="http://schemas.openxmlformats.org/officeDocument/2006/relationships/theme" Target="theme/theme1.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 Target="slides/slide5.xml"/><Relationship Id="rId30" Type="http://schemas.openxmlformats.org/officeDocument/2006/relationships/slide" Target="slides/slide8.xml"/><Relationship Id="rId35" Type="http://schemas.openxmlformats.org/officeDocument/2006/relationships/slide" Target="slides/slide13.xml"/><Relationship Id="rId43" Type="http://schemas.openxmlformats.org/officeDocument/2006/relationships/slide" Target="slides/slide21.xml"/><Relationship Id="rId48" Type="http://schemas.openxmlformats.org/officeDocument/2006/relationships/slide" Target="slides/slide26.xml"/><Relationship Id="rId56" Type="http://schemas.openxmlformats.org/officeDocument/2006/relationships/slide" Target="slides/slide34.xml"/><Relationship Id="rId64" Type="http://schemas.openxmlformats.org/officeDocument/2006/relationships/slide" Target="slides/slide42.xml"/><Relationship Id="rId69" Type="http://schemas.openxmlformats.org/officeDocument/2006/relationships/slide" Target="slides/slide47.xml"/><Relationship Id="rId77" Type="http://schemas.openxmlformats.org/officeDocument/2006/relationships/slide" Target="slides/slide55.xml"/><Relationship Id="rId8" Type="http://schemas.openxmlformats.org/officeDocument/2006/relationships/slideMaster" Target="slideMasters/slideMaster8.xml"/><Relationship Id="rId51" Type="http://schemas.openxmlformats.org/officeDocument/2006/relationships/slide" Target="slides/slide29.xml"/><Relationship Id="rId72" Type="http://schemas.openxmlformats.org/officeDocument/2006/relationships/slide" Target="slides/slide50.xml"/><Relationship Id="rId80" Type="http://schemas.openxmlformats.org/officeDocument/2006/relationships/slide" Target="slides/slide58.xml"/><Relationship Id="rId85" Type="http://schemas.openxmlformats.org/officeDocument/2006/relationships/slide" Target="slides/slide63.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 Target="slides/slide3.xml"/><Relationship Id="rId33" Type="http://schemas.openxmlformats.org/officeDocument/2006/relationships/slide" Target="slides/slide11.xml"/><Relationship Id="rId38" Type="http://schemas.openxmlformats.org/officeDocument/2006/relationships/slide" Target="slides/slide16.xml"/><Relationship Id="rId46" Type="http://schemas.openxmlformats.org/officeDocument/2006/relationships/slide" Target="slides/slide24.xml"/><Relationship Id="rId59" Type="http://schemas.openxmlformats.org/officeDocument/2006/relationships/slide" Target="slides/slide37.xml"/><Relationship Id="rId67" Type="http://schemas.openxmlformats.org/officeDocument/2006/relationships/slide" Target="slides/slide45.xml"/><Relationship Id="rId20" Type="http://schemas.openxmlformats.org/officeDocument/2006/relationships/slideMaster" Target="slideMasters/slideMaster20.xml"/><Relationship Id="rId41" Type="http://schemas.openxmlformats.org/officeDocument/2006/relationships/slide" Target="slides/slide19.xml"/><Relationship Id="rId54" Type="http://schemas.openxmlformats.org/officeDocument/2006/relationships/slide" Target="slides/slide32.xml"/><Relationship Id="rId62" Type="http://schemas.openxmlformats.org/officeDocument/2006/relationships/slide" Target="slides/slide40.xml"/><Relationship Id="rId70" Type="http://schemas.openxmlformats.org/officeDocument/2006/relationships/slide" Target="slides/slide48.xml"/><Relationship Id="rId75" Type="http://schemas.openxmlformats.org/officeDocument/2006/relationships/slide" Target="slides/slide53.xml"/><Relationship Id="rId83" Type="http://schemas.openxmlformats.org/officeDocument/2006/relationships/slide" Target="slides/slide61.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 Target="slides/slide1.xml"/><Relationship Id="rId28" Type="http://schemas.openxmlformats.org/officeDocument/2006/relationships/slide" Target="slides/slide6.xml"/><Relationship Id="rId36" Type="http://schemas.openxmlformats.org/officeDocument/2006/relationships/slide" Target="slides/slide14.xml"/><Relationship Id="rId49" Type="http://schemas.openxmlformats.org/officeDocument/2006/relationships/slide" Target="slides/slide27.xml"/><Relationship Id="rId57" Type="http://schemas.openxmlformats.org/officeDocument/2006/relationships/slide" Target="slides/slide35.xml"/><Relationship Id="rId10" Type="http://schemas.openxmlformats.org/officeDocument/2006/relationships/slideMaster" Target="slideMasters/slideMaster10.xml"/><Relationship Id="rId31" Type="http://schemas.openxmlformats.org/officeDocument/2006/relationships/slide" Target="slides/slide9.xml"/><Relationship Id="rId44" Type="http://schemas.openxmlformats.org/officeDocument/2006/relationships/slide" Target="slides/slide22.xml"/><Relationship Id="rId52" Type="http://schemas.openxmlformats.org/officeDocument/2006/relationships/slide" Target="slides/slide30.xml"/><Relationship Id="rId60" Type="http://schemas.openxmlformats.org/officeDocument/2006/relationships/slide" Target="slides/slide38.xml"/><Relationship Id="rId65" Type="http://schemas.openxmlformats.org/officeDocument/2006/relationships/slide" Target="slides/slide43.xml"/><Relationship Id="rId73" Type="http://schemas.openxmlformats.org/officeDocument/2006/relationships/slide" Target="slides/slide51.xml"/><Relationship Id="rId78" Type="http://schemas.openxmlformats.org/officeDocument/2006/relationships/slide" Target="slides/slide56.xml"/><Relationship Id="rId81" Type="http://schemas.openxmlformats.org/officeDocument/2006/relationships/slide" Target="slides/slide59.xml"/><Relationship Id="rId86"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39" Type="http://schemas.openxmlformats.org/officeDocument/2006/relationships/slide" Target="slides/slide17.xml"/><Relationship Id="rId34" Type="http://schemas.openxmlformats.org/officeDocument/2006/relationships/slide" Target="slides/slide12.xml"/><Relationship Id="rId50" Type="http://schemas.openxmlformats.org/officeDocument/2006/relationships/slide" Target="slides/slide28.xml"/><Relationship Id="rId55" Type="http://schemas.openxmlformats.org/officeDocument/2006/relationships/slide" Target="slides/slide33.xml"/><Relationship Id="rId76" Type="http://schemas.openxmlformats.org/officeDocument/2006/relationships/slide" Target="slides/slide54.xml"/><Relationship Id="rId7" Type="http://schemas.openxmlformats.org/officeDocument/2006/relationships/slideMaster" Target="slideMasters/slideMaster7.xml"/><Relationship Id="rId71" Type="http://schemas.openxmlformats.org/officeDocument/2006/relationships/slide" Target="slides/slide49.xml"/><Relationship Id="rId92" Type="http://schemas.microsoft.com/office/2016/11/relationships/changesInfo" Target="changesInfos/changesInfo1.xml"/><Relationship Id="rId2" Type="http://schemas.openxmlformats.org/officeDocument/2006/relationships/slideMaster" Target="slideMasters/slideMaster2.xml"/><Relationship Id="rId29" Type="http://schemas.openxmlformats.org/officeDocument/2006/relationships/slide" Target="slides/slide7.xml"/><Relationship Id="rId24" Type="http://schemas.openxmlformats.org/officeDocument/2006/relationships/slide" Target="slides/slide2.xml"/><Relationship Id="rId40" Type="http://schemas.openxmlformats.org/officeDocument/2006/relationships/slide" Target="slides/slide18.xml"/><Relationship Id="rId45" Type="http://schemas.openxmlformats.org/officeDocument/2006/relationships/slide" Target="slides/slide23.xml"/><Relationship Id="rId66" Type="http://schemas.openxmlformats.org/officeDocument/2006/relationships/slide" Target="slides/slide44.xml"/><Relationship Id="rId87" Type="http://schemas.openxmlformats.org/officeDocument/2006/relationships/commentAuthors" Target="commentAuthors.xml"/><Relationship Id="rId61" Type="http://schemas.openxmlformats.org/officeDocument/2006/relationships/slide" Target="slides/slide39.xml"/><Relationship Id="rId82" Type="http://schemas.openxmlformats.org/officeDocument/2006/relationships/slide" Target="slides/slide60.xml"/><Relationship Id="rId19" Type="http://schemas.openxmlformats.org/officeDocument/2006/relationships/slideMaster" Target="slideMasters/slideMaster1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n Gao" userId="8b4c448f-f25d-42d5-b038-cc11c3c58695" providerId="ADAL" clId="{A365E33B-5DB9-423C-9F5D-D248846563E1}"/>
    <pc:docChg chg="modSld">
      <pc:chgData name="Nan Gao" userId="8b4c448f-f25d-42d5-b038-cc11c3c58695" providerId="ADAL" clId="{A365E33B-5DB9-423C-9F5D-D248846563E1}" dt="2025-12-17T09:40:29.325" v="10"/>
      <pc:docMkLst>
        <pc:docMk/>
      </pc:docMkLst>
      <pc:sldChg chg="modNotesTx">
        <pc:chgData name="Nan Gao" userId="8b4c448f-f25d-42d5-b038-cc11c3c58695" providerId="ADAL" clId="{A365E33B-5DB9-423C-9F5D-D248846563E1}" dt="2025-12-17T09:37:12.171" v="0"/>
        <pc:sldMkLst>
          <pc:docMk/>
          <pc:sldMk cId="3028515047" sldId="256"/>
        </pc:sldMkLst>
      </pc:sldChg>
      <pc:sldChg chg="modNotesTx">
        <pc:chgData name="Nan Gao" userId="8b4c448f-f25d-42d5-b038-cc11c3c58695" providerId="ADAL" clId="{A365E33B-5DB9-423C-9F5D-D248846563E1}" dt="2025-12-17T09:40:29.325" v="10"/>
        <pc:sldMkLst>
          <pc:docMk/>
          <pc:sldMk cId="1080484485" sldId="260"/>
        </pc:sldMkLst>
      </pc:sldChg>
      <pc:sldChg chg="modNotesTx">
        <pc:chgData name="Nan Gao" userId="8b4c448f-f25d-42d5-b038-cc11c3c58695" providerId="ADAL" clId="{A365E33B-5DB9-423C-9F5D-D248846563E1}" dt="2025-12-17T09:37:18.008" v="1"/>
        <pc:sldMkLst>
          <pc:docMk/>
          <pc:sldMk cId="1503147761" sldId="263"/>
        </pc:sldMkLst>
      </pc:sldChg>
      <pc:sldChg chg="modNotesTx">
        <pc:chgData name="Nan Gao" userId="8b4c448f-f25d-42d5-b038-cc11c3c58695" providerId="ADAL" clId="{A365E33B-5DB9-423C-9F5D-D248846563E1}" dt="2025-12-17T09:37:24.881" v="2"/>
        <pc:sldMkLst>
          <pc:docMk/>
          <pc:sldMk cId="1364377292" sldId="265"/>
        </pc:sldMkLst>
      </pc:sldChg>
      <pc:sldChg chg="modNotesTx">
        <pc:chgData name="Nan Gao" userId="8b4c448f-f25d-42d5-b038-cc11c3c58695" providerId="ADAL" clId="{A365E33B-5DB9-423C-9F5D-D248846563E1}" dt="2025-12-17T09:37:33.563" v="3"/>
        <pc:sldMkLst>
          <pc:docMk/>
          <pc:sldMk cId="1466360438" sldId="266"/>
        </pc:sldMkLst>
      </pc:sldChg>
      <pc:sldChg chg="modNotesTx">
        <pc:chgData name="Nan Gao" userId="8b4c448f-f25d-42d5-b038-cc11c3c58695" providerId="ADAL" clId="{A365E33B-5DB9-423C-9F5D-D248846563E1}" dt="2025-12-17T09:38:24.582" v="4"/>
        <pc:sldMkLst>
          <pc:docMk/>
          <pc:sldMk cId="1194062150" sldId="267"/>
        </pc:sldMkLst>
      </pc:sldChg>
      <pc:sldChg chg="modNotesTx">
        <pc:chgData name="Nan Gao" userId="8b4c448f-f25d-42d5-b038-cc11c3c58695" providerId="ADAL" clId="{A365E33B-5DB9-423C-9F5D-D248846563E1}" dt="2025-12-17T09:38:48.528" v="6"/>
        <pc:sldMkLst>
          <pc:docMk/>
          <pc:sldMk cId="1727454073" sldId="268"/>
        </pc:sldMkLst>
      </pc:sldChg>
      <pc:sldChg chg="modNotesTx">
        <pc:chgData name="Nan Gao" userId="8b4c448f-f25d-42d5-b038-cc11c3c58695" providerId="ADAL" clId="{A365E33B-5DB9-423C-9F5D-D248846563E1}" dt="2025-12-17T09:38:57.487" v="7"/>
        <pc:sldMkLst>
          <pc:docMk/>
          <pc:sldMk cId="2412167827" sldId="269"/>
        </pc:sldMkLst>
      </pc:sldChg>
      <pc:sldChg chg="modNotesTx">
        <pc:chgData name="Nan Gao" userId="8b4c448f-f25d-42d5-b038-cc11c3c58695" providerId="ADAL" clId="{A365E33B-5DB9-423C-9F5D-D248846563E1}" dt="2025-12-17T09:40:15.179" v="9"/>
        <pc:sldMkLst>
          <pc:docMk/>
          <pc:sldMk cId="3389397627" sldId="270"/>
        </pc:sldMkLst>
      </pc:sldChg>
      <pc:sldChg chg="modNotesTx">
        <pc:chgData name="Nan Gao" userId="8b4c448f-f25d-42d5-b038-cc11c3c58695" providerId="ADAL" clId="{A365E33B-5DB9-423C-9F5D-D248846563E1}" dt="2025-12-17T09:40:00.694" v="8"/>
        <pc:sldMkLst>
          <pc:docMk/>
          <pc:sldMk cId="817258856" sldId="271"/>
        </pc:sldMkLst>
      </pc:sldChg>
      <pc:sldChg chg="modNotesTx">
        <pc:chgData name="Nan Gao" userId="8b4c448f-f25d-42d5-b038-cc11c3c58695" providerId="ADAL" clId="{A365E33B-5DB9-423C-9F5D-D248846563E1}" dt="2025-12-17T09:38:36.851" v="5"/>
        <pc:sldMkLst>
          <pc:docMk/>
          <pc:sldMk cId="1508901289"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4F990A-CD83-42D5-B779-9F5F907A5FE8}" type="datetimeFigureOut">
              <a:rPr lang="zh-CN" altLang="en-US" smtClean="0"/>
              <a:t>2026/1/13</a:t>
            </a:fld>
            <a:endParaRPr lang="zh-CN" alt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EE0ED2-55D8-4E8D-93B0-EAC4D75DA4FC}" type="slidenum">
              <a:rPr lang="zh-CN" altLang="en-US" smtClean="0"/>
              <a:t>‹#›</a:t>
            </a:fld>
            <a:endParaRPr lang="zh-CN" altLang="en-US"/>
          </a:p>
        </p:txBody>
      </p:sp>
    </p:spTree>
    <p:extLst>
      <p:ext uri="{BB962C8B-B14F-4D97-AF65-F5344CB8AC3E}">
        <p14:creationId xmlns:p14="http://schemas.microsoft.com/office/powerpoint/2010/main" val="3782258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在开始讨论软件支持策略之前，我们首先要理解软件是如何从一个概念逐步演化成为最终产品并最终退役的。原型演化过程模型提供了一个清晰的框架，帮助我们理解软件从诞生到退出的全过程。</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原型演化过程模型描述了软件从概念提出到最终退役的完整生命周期，主要包括以下几个阶段：</a:t>
            </a:r>
          </a:p>
          <a:p>
            <a:pPr algn="l">
              <a:buFont typeface="Arial" panose="020B0604020202020204" pitchFamily="34" charset="0"/>
              <a:buChar char="•"/>
            </a:pPr>
            <a:r>
              <a:rPr lang="zh-CN" altLang="en-US" b="1" i="0" dirty="0">
                <a:solidFill>
                  <a:srgbClr val="0F1115"/>
                </a:solidFill>
                <a:effectLst/>
                <a:latin typeface="quote-cjk-patch"/>
              </a:rPr>
              <a:t>概念阶段</a:t>
            </a:r>
            <a:r>
              <a:rPr lang="zh-CN" altLang="en-US" b="0" i="0" dirty="0">
                <a:solidFill>
                  <a:srgbClr val="0F1115"/>
                </a:solidFill>
                <a:effectLst/>
                <a:latin typeface="quote-cjk-patch"/>
              </a:rPr>
              <a:t>：选择和确定产品方向，明确优先级。</a:t>
            </a:r>
          </a:p>
          <a:p>
            <a:pPr algn="l">
              <a:buFont typeface="Arial" panose="020B0604020202020204" pitchFamily="34" charset="0"/>
              <a:buChar char="•"/>
            </a:pPr>
            <a:r>
              <a:rPr lang="zh-CN" altLang="en-US" b="1" i="0" dirty="0">
                <a:solidFill>
                  <a:srgbClr val="0F1115"/>
                </a:solidFill>
                <a:effectLst/>
                <a:latin typeface="quote-cjk-patch"/>
              </a:rPr>
              <a:t>起始阶段</a:t>
            </a:r>
            <a:r>
              <a:rPr lang="zh-CN" altLang="en-US" b="0" i="0" dirty="0">
                <a:solidFill>
                  <a:srgbClr val="0F1115"/>
                </a:solidFill>
                <a:effectLst/>
                <a:latin typeface="quote-cjk-patch"/>
              </a:rPr>
              <a:t>：项目正式启动，明确目标和范围。</a:t>
            </a:r>
          </a:p>
          <a:p>
            <a:pPr algn="l">
              <a:buFont typeface="Arial" panose="020B0604020202020204" pitchFamily="34" charset="0"/>
              <a:buChar char="•"/>
            </a:pPr>
            <a:r>
              <a:rPr lang="zh-CN" altLang="en-US" b="1" i="0" dirty="0">
                <a:solidFill>
                  <a:srgbClr val="0F1115"/>
                </a:solidFill>
                <a:effectLst/>
                <a:latin typeface="quote-cjk-patch"/>
              </a:rPr>
              <a:t>构建</a:t>
            </a:r>
            <a:r>
              <a:rPr lang="en-US" altLang="zh-CN" b="1" i="0" dirty="0">
                <a:solidFill>
                  <a:srgbClr val="0F1115"/>
                </a:solidFill>
                <a:effectLst/>
                <a:latin typeface="quote-cjk-patch"/>
              </a:rPr>
              <a:t>/</a:t>
            </a:r>
            <a:r>
              <a:rPr lang="zh-CN" altLang="en-US" b="1" i="0" dirty="0">
                <a:solidFill>
                  <a:srgbClr val="0F1115"/>
                </a:solidFill>
                <a:effectLst/>
                <a:latin typeface="quote-cjk-patch"/>
              </a:rPr>
              <a:t>迭代阶段</a:t>
            </a:r>
            <a:r>
              <a:rPr lang="zh-CN" altLang="en-US" b="0" i="0" dirty="0">
                <a:solidFill>
                  <a:srgbClr val="0F1115"/>
                </a:solidFill>
                <a:effectLst/>
                <a:latin typeface="quote-cjk-patch"/>
              </a:rPr>
              <a:t>：通过多次迭代交付可工作的产品，逐步完善功能。</a:t>
            </a:r>
          </a:p>
          <a:p>
            <a:pPr algn="l">
              <a:buFont typeface="Arial" panose="020B0604020202020204" pitchFamily="34" charset="0"/>
              <a:buChar char="•"/>
            </a:pPr>
            <a:r>
              <a:rPr lang="zh-CN" altLang="en-US" b="1" i="0" dirty="0">
                <a:solidFill>
                  <a:srgbClr val="0F1115"/>
                </a:solidFill>
                <a:effectLst/>
                <a:latin typeface="quote-cjk-patch"/>
              </a:rPr>
              <a:t>发布阶段</a:t>
            </a:r>
            <a:r>
              <a:rPr lang="zh-CN" altLang="en-US" b="0" i="0" dirty="0">
                <a:solidFill>
                  <a:srgbClr val="0F1115"/>
                </a:solidFill>
                <a:effectLst/>
                <a:latin typeface="quote-cjk-patch"/>
              </a:rPr>
              <a:t>：对软件进行测试并部署到生产环境。</a:t>
            </a:r>
          </a:p>
          <a:p>
            <a:pPr algn="l">
              <a:buFont typeface="Arial" panose="020B0604020202020204" pitchFamily="34" charset="0"/>
              <a:buChar char="•"/>
            </a:pPr>
            <a:r>
              <a:rPr lang="zh-CN" altLang="en-US" b="1" i="0" dirty="0">
                <a:solidFill>
                  <a:srgbClr val="0F1115"/>
                </a:solidFill>
                <a:effectLst/>
                <a:latin typeface="quote-cjk-patch"/>
              </a:rPr>
              <a:t>生产阶段</a:t>
            </a:r>
            <a:r>
              <a:rPr lang="zh-CN" altLang="en-US" b="0" i="0" dirty="0">
                <a:solidFill>
                  <a:srgbClr val="0F1115"/>
                </a:solidFill>
                <a:effectLst/>
                <a:latin typeface="quote-cjk-patch"/>
              </a:rPr>
              <a:t>：系统正式运行并提供支持。</a:t>
            </a:r>
          </a:p>
          <a:p>
            <a:pPr algn="l">
              <a:buFont typeface="Arial" panose="020B0604020202020204" pitchFamily="34" charset="0"/>
              <a:buChar char="•"/>
            </a:pPr>
            <a:r>
              <a:rPr lang="zh-CN" altLang="en-US" b="1" i="0" dirty="0">
                <a:solidFill>
                  <a:srgbClr val="0F1115"/>
                </a:solidFill>
                <a:effectLst/>
                <a:latin typeface="quote-cjk-patch"/>
              </a:rPr>
              <a:t>退役阶段</a:t>
            </a:r>
            <a:r>
              <a:rPr lang="zh-CN" altLang="en-US" b="0" i="0" dirty="0">
                <a:solidFill>
                  <a:srgbClr val="0F1115"/>
                </a:solidFill>
                <a:effectLst/>
                <a:latin typeface="quote-cjk-patch"/>
              </a:rPr>
              <a:t>：系统最终停止使用并退出生产环境。</a:t>
            </a:r>
          </a:p>
          <a:p>
            <a:pPr algn="l"/>
            <a:r>
              <a:rPr lang="zh-CN" altLang="en-US" b="0" i="0" dirty="0">
                <a:solidFill>
                  <a:srgbClr val="0F1115"/>
                </a:solidFill>
                <a:effectLst/>
                <a:latin typeface="quote-cjk-patch"/>
              </a:rPr>
              <a:t>这个模型强调</a:t>
            </a:r>
            <a:r>
              <a:rPr lang="zh-CN" altLang="en-US" b="1" i="0" dirty="0">
                <a:solidFill>
                  <a:srgbClr val="0F1115"/>
                </a:solidFill>
                <a:effectLst/>
                <a:latin typeface="quote-cjk-patch"/>
              </a:rPr>
              <a:t>迭代与反馈</a:t>
            </a:r>
            <a:r>
              <a:rPr lang="zh-CN" altLang="en-US" b="0" i="0" dirty="0">
                <a:solidFill>
                  <a:srgbClr val="0F1115"/>
                </a:solidFill>
                <a:effectLst/>
                <a:latin typeface="quote-cjk-patch"/>
              </a:rPr>
              <a:t>，允许在构建过程中根据实际情况返回前一阶段进行调整。例如，在发布后发现问题，可以返回构建阶段进行修复，再重新发布。</a:t>
            </a:r>
          </a:p>
          <a:p>
            <a:endParaRPr lang="zh-CN"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2A561EA-90D4-409B-9312-74148AB9782C}"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18389633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逻辑</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为了避免传统团队容易出现的僵化和毒性问题，许多现代软件项目转向了敏捷开发模式。那么，一个敏捷团队的核心特征是什么？它与传统团队有何不同？</a:t>
            </a:r>
          </a:p>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内容解释</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敏捷团队强调适应性、协作和快速响应变化，其核心特征包括：</a:t>
            </a:r>
          </a:p>
          <a:p>
            <a:pPr algn="l">
              <a:buFont typeface="Arial" panose="020B0604020202020204" pitchFamily="34" charset="0"/>
              <a:buChar char="•"/>
            </a:pPr>
            <a:r>
              <a:rPr lang="zh-CN" altLang="en-US" b="1" i="0" dirty="0">
                <a:solidFill>
                  <a:srgbClr val="0F1115"/>
                </a:solidFill>
                <a:effectLst/>
                <a:latin typeface="quote-cjk-patch"/>
              </a:rPr>
              <a:t>成员间高度信任</a:t>
            </a:r>
            <a:r>
              <a:rPr lang="zh-CN" altLang="en-US" b="0" i="0" dirty="0">
                <a:solidFill>
                  <a:srgbClr val="0F1115"/>
                </a:solidFill>
                <a:effectLst/>
                <a:latin typeface="quote-cjk-patch"/>
              </a:rPr>
              <a:t>：这是协作的基础，信任能促进知识共享和风险共担。</a:t>
            </a:r>
          </a:p>
          <a:p>
            <a:pPr algn="l">
              <a:buFont typeface="Arial" panose="020B0604020202020204" pitchFamily="34" charset="0"/>
              <a:buChar char="•"/>
            </a:pPr>
            <a:r>
              <a:rPr lang="zh-CN" altLang="en-US" b="1" i="0" dirty="0">
                <a:solidFill>
                  <a:srgbClr val="0F1115"/>
                </a:solidFill>
                <a:effectLst/>
                <a:latin typeface="quote-cjk-patch"/>
              </a:rPr>
              <a:t>技能分布合理</a:t>
            </a:r>
            <a:r>
              <a:rPr lang="zh-CN" altLang="en-US" b="0" i="0" dirty="0">
                <a:solidFill>
                  <a:srgbClr val="0F1115"/>
                </a:solidFill>
                <a:effectLst/>
                <a:latin typeface="quote-cjk-patch"/>
              </a:rPr>
              <a:t>：团队成员技能互补，能够共同应对问题，而不是依赖个别“英雄”。</a:t>
            </a:r>
          </a:p>
          <a:p>
            <a:pPr algn="l">
              <a:buFont typeface="Arial" panose="020B0604020202020204" pitchFamily="34" charset="0"/>
              <a:buChar char="•"/>
            </a:pPr>
            <a:r>
              <a:rPr lang="zh-CN" altLang="en-US" b="1" i="0" dirty="0">
                <a:solidFill>
                  <a:srgbClr val="0F1115"/>
                </a:solidFill>
                <a:effectLst/>
                <a:latin typeface="quote-cjk-patch"/>
              </a:rPr>
              <a:t>排除不合群的成员</a:t>
            </a:r>
            <a:r>
              <a:rPr lang="zh-CN" altLang="en-US" b="0" i="0" dirty="0">
                <a:solidFill>
                  <a:srgbClr val="0F1115"/>
                </a:solidFill>
                <a:effectLst/>
                <a:latin typeface="quote-cjk-patch"/>
              </a:rPr>
              <a:t>：为了保持团队凝聚力和协作效率，有时不得不让难以协作的“独行者”离开。</a:t>
            </a:r>
          </a:p>
          <a:p>
            <a:pPr algn="l">
              <a:buFont typeface="Arial" panose="020B0604020202020204" pitchFamily="34" charset="0"/>
              <a:buChar char="•"/>
            </a:pPr>
            <a:r>
              <a:rPr lang="zh-CN" altLang="en-US" b="1" i="0" dirty="0">
                <a:solidFill>
                  <a:srgbClr val="0F1115"/>
                </a:solidFill>
                <a:effectLst/>
                <a:latin typeface="quote-cjk-patch"/>
              </a:rPr>
              <a:t>自组织性</a:t>
            </a:r>
            <a:r>
              <a:rPr lang="zh-CN" altLang="en-US" b="0" i="0" dirty="0">
                <a:solidFill>
                  <a:srgbClr val="0F1115"/>
                </a:solidFill>
                <a:effectLst/>
                <a:latin typeface="quote-cjk-patch"/>
              </a:rPr>
              <a:t>：团队不是被动接受指令，而是主动规划任务、解决问题，具有很高的自主权。</a:t>
            </a:r>
          </a:p>
          <a:p>
            <a:pPr algn="l">
              <a:buFont typeface="Arial" panose="020B0604020202020204" pitchFamily="34" charset="0"/>
              <a:buChar char="•"/>
            </a:pPr>
            <a:r>
              <a:rPr lang="zh-CN" altLang="en-US" b="1" i="0" dirty="0">
                <a:solidFill>
                  <a:srgbClr val="0F1115"/>
                </a:solidFill>
                <a:effectLst/>
                <a:latin typeface="quote-cjk-patch"/>
              </a:rPr>
              <a:t>适应性结构</a:t>
            </a:r>
            <a:r>
              <a:rPr lang="zh-CN" altLang="en-US" b="0" i="0" dirty="0">
                <a:solidFill>
                  <a:srgbClr val="0F1115"/>
                </a:solidFill>
                <a:effectLst/>
                <a:latin typeface="quote-cjk-patch"/>
              </a:rPr>
              <a:t>：团队结构能随项目需求灵活调整，而非一成不变。</a:t>
            </a:r>
          </a:p>
          <a:p>
            <a:pPr algn="l">
              <a:buFont typeface="Arial" panose="020B0604020202020204" pitchFamily="34" charset="0"/>
              <a:buChar char="•"/>
            </a:pPr>
            <a:r>
              <a:rPr lang="zh-CN" altLang="en-US" b="1" i="0" dirty="0">
                <a:solidFill>
                  <a:srgbClr val="0F1115"/>
                </a:solidFill>
                <a:effectLst/>
                <a:latin typeface="quote-cjk-patch"/>
              </a:rPr>
              <a:t>最小化计划</a:t>
            </a:r>
            <a:r>
              <a:rPr lang="zh-CN" altLang="en-US" b="0" i="0" dirty="0">
                <a:solidFill>
                  <a:srgbClr val="0F1115"/>
                </a:solidFill>
                <a:effectLst/>
                <a:latin typeface="quote-cjk-patch"/>
              </a:rPr>
              <a:t>：不做冗长的前期计划，而是通过短周期迭代来逐步明确方向。</a:t>
            </a:r>
          </a:p>
          <a:p>
            <a:pPr algn="l">
              <a:buFont typeface="Arial" panose="020B0604020202020204" pitchFamily="34" charset="0"/>
              <a:buChar char="•"/>
            </a:pPr>
            <a:r>
              <a:rPr lang="zh-CN" altLang="en-US" b="1" i="0" dirty="0">
                <a:solidFill>
                  <a:srgbClr val="0F1115"/>
                </a:solidFill>
                <a:effectLst/>
                <a:latin typeface="quote-cjk-patch"/>
              </a:rPr>
              <a:t>自主选择工作方式</a:t>
            </a:r>
            <a:r>
              <a:rPr lang="zh-CN" altLang="en-US" b="0" i="0" dirty="0">
                <a:solidFill>
                  <a:srgbClr val="0F1115"/>
                </a:solidFill>
                <a:effectLst/>
                <a:latin typeface="quote-cjk-patch"/>
              </a:rPr>
              <a:t>：在业务要求和组织标准的大框架下，团队可以选择最适合自己的具体方法和工具。</a:t>
            </a:r>
          </a:p>
          <a:p>
            <a:pPr algn="l"/>
            <a:r>
              <a:rPr lang="zh-CN" altLang="en-US" b="0" i="0" dirty="0">
                <a:solidFill>
                  <a:srgbClr val="0F1115"/>
                </a:solidFill>
                <a:effectLst/>
                <a:latin typeface="quote-cjk-patch"/>
              </a:rPr>
              <a:t>例如，在一个敏捷团队中，可能会每天进行站会同步进度和问题，并根据每轮迭代的回顾来调整下一个周期的工作方式。</a:t>
            </a:r>
          </a:p>
          <a:p>
            <a:endParaRPr lang="zh-CN"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AEF802-B16A-46F4-B044-51989B4CBA42}"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42805362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逻辑</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了解了团队领导的重要性后，我们自然会问：一个团队应该如何组建？团队的结构并不是随意决定的，而是受到多种因素影响。这一页我们就来分析这些关键因素。</a:t>
            </a:r>
          </a:p>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内容解释</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软件团队的构建需要考虑多个维度，主要包括：</a:t>
            </a:r>
          </a:p>
          <a:p>
            <a:pPr algn="l">
              <a:buFont typeface="Arial" panose="020B0604020202020204" pitchFamily="34" charset="0"/>
              <a:buChar char="•"/>
            </a:pPr>
            <a:r>
              <a:rPr lang="zh-CN" altLang="en-US" b="1" i="0" dirty="0">
                <a:solidFill>
                  <a:srgbClr val="0F1115"/>
                </a:solidFill>
                <a:effectLst/>
                <a:latin typeface="quote-cjk-patch"/>
              </a:rPr>
              <a:t>问题难度</a:t>
            </a:r>
            <a:r>
              <a:rPr lang="zh-CN" altLang="en-US" b="0" i="0" dirty="0">
                <a:solidFill>
                  <a:srgbClr val="0F1115"/>
                </a:solidFill>
                <a:effectLst/>
                <a:latin typeface="quote-cjk-patch"/>
              </a:rPr>
              <a:t>：技术挑战越大，可能需要更多资深专家或更专业的角色分工。</a:t>
            </a:r>
          </a:p>
          <a:p>
            <a:pPr algn="l">
              <a:buFont typeface="Arial" panose="020B0604020202020204" pitchFamily="34" charset="0"/>
              <a:buChar char="•"/>
            </a:pPr>
            <a:r>
              <a:rPr lang="zh-CN" altLang="en-US" b="1" i="0" dirty="0">
                <a:solidFill>
                  <a:srgbClr val="0F1115"/>
                </a:solidFill>
                <a:effectLst/>
                <a:latin typeface="quote-cjk-patch"/>
              </a:rPr>
              <a:t>项目规模</a:t>
            </a:r>
            <a:r>
              <a:rPr lang="zh-CN" altLang="en-US" b="0" i="0" dirty="0">
                <a:solidFill>
                  <a:srgbClr val="0F1115"/>
                </a:solidFill>
                <a:effectLst/>
                <a:latin typeface="quote-cjk-patch"/>
              </a:rPr>
              <a:t>：通常用代码行数或功能点来衡量。规模越大，团队可能需要更细的分工和更多的沟通机制。</a:t>
            </a:r>
          </a:p>
          <a:p>
            <a:pPr algn="l">
              <a:buFont typeface="Arial" panose="020B0604020202020204" pitchFamily="34" charset="0"/>
              <a:buChar char="•"/>
            </a:pPr>
            <a:r>
              <a:rPr lang="zh-CN" altLang="en-US" b="1" i="0" dirty="0">
                <a:solidFill>
                  <a:srgbClr val="0F1115"/>
                </a:solidFill>
                <a:effectLst/>
                <a:latin typeface="quote-cjk-patch"/>
              </a:rPr>
              <a:t>团队存续时间</a:t>
            </a:r>
            <a:r>
              <a:rPr lang="zh-CN" altLang="en-US" b="0" i="0" dirty="0">
                <a:solidFill>
                  <a:srgbClr val="0F1115"/>
                </a:solidFill>
                <a:effectLst/>
                <a:latin typeface="quote-cjk-patch"/>
              </a:rPr>
              <a:t>：短期项目可能强调快速协作，长期团队则更注重结构稳定性和知识积累。</a:t>
            </a:r>
          </a:p>
          <a:p>
            <a:pPr algn="l">
              <a:buFont typeface="Arial" panose="020B0604020202020204" pitchFamily="34" charset="0"/>
              <a:buChar char="•"/>
            </a:pPr>
            <a:r>
              <a:rPr lang="zh-CN" altLang="en-US" b="1" i="0" dirty="0">
                <a:solidFill>
                  <a:srgbClr val="0F1115"/>
                </a:solidFill>
                <a:effectLst/>
                <a:latin typeface="quote-cjk-patch"/>
              </a:rPr>
              <a:t>问题模块化程度</a:t>
            </a:r>
            <a:r>
              <a:rPr lang="zh-CN" altLang="en-US" b="0" i="0" dirty="0">
                <a:solidFill>
                  <a:srgbClr val="0F1115"/>
                </a:solidFill>
                <a:effectLst/>
                <a:latin typeface="quote-cjk-patch"/>
              </a:rPr>
              <a:t>：如果系统能高度模块化，团队可以按模块分工，并行开发。</a:t>
            </a:r>
          </a:p>
          <a:p>
            <a:pPr algn="l">
              <a:buFont typeface="Arial" panose="020B0604020202020204" pitchFamily="34" charset="0"/>
              <a:buChar char="•"/>
            </a:pPr>
            <a:r>
              <a:rPr lang="zh-CN" altLang="en-US" b="1" i="0" dirty="0">
                <a:solidFill>
                  <a:srgbClr val="0F1115"/>
                </a:solidFill>
                <a:effectLst/>
                <a:latin typeface="quote-cjk-patch"/>
              </a:rPr>
              <a:t>质量与可靠性要求</a:t>
            </a:r>
            <a:r>
              <a:rPr lang="zh-CN" altLang="en-US" b="0" i="0" dirty="0">
                <a:solidFill>
                  <a:srgbClr val="0F1115"/>
                </a:solidFill>
                <a:effectLst/>
                <a:latin typeface="quote-cjk-patch"/>
              </a:rPr>
              <a:t>：对安全性、稳定性要求高的系统，可能需要更严格的流程和更多的测试人员。</a:t>
            </a:r>
          </a:p>
          <a:p>
            <a:pPr algn="l">
              <a:buFont typeface="Arial" panose="020B0604020202020204" pitchFamily="34" charset="0"/>
              <a:buChar char="•"/>
            </a:pPr>
            <a:r>
              <a:rPr lang="zh-CN" altLang="en-US" b="1" i="0" dirty="0">
                <a:solidFill>
                  <a:srgbClr val="0F1115"/>
                </a:solidFill>
                <a:effectLst/>
                <a:latin typeface="quote-cjk-patch"/>
              </a:rPr>
              <a:t>交付期限的严格程度</a:t>
            </a:r>
            <a:r>
              <a:rPr lang="zh-CN" altLang="en-US" b="0" i="0" dirty="0">
                <a:solidFill>
                  <a:srgbClr val="0F1115"/>
                </a:solidFill>
                <a:effectLst/>
                <a:latin typeface="quote-cjk-patch"/>
              </a:rPr>
              <a:t>：时间越紧，团队可能需要更敏捷的结构和更集中的决策机制。</a:t>
            </a:r>
          </a:p>
          <a:p>
            <a:pPr algn="l">
              <a:buFont typeface="Arial" panose="020B0604020202020204" pitchFamily="34" charset="0"/>
              <a:buChar char="•"/>
            </a:pPr>
            <a:r>
              <a:rPr lang="zh-CN" altLang="en-US" b="1" i="0" dirty="0">
                <a:solidFill>
                  <a:srgbClr val="0F1115"/>
                </a:solidFill>
                <a:effectLst/>
                <a:latin typeface="quote-cjk-patch"/>
              </a:rPr>
              <a:t>沟通需求</a:t>
            </a:r>
            <a:r>
              <a:rPr lang="zh-CN" altLang="en-US" b="0" i="0" dirty="0">
                <a:solidFill>
                  <a:srgbClr val="0F1115"/>
                </a:solidFill>
                <a:effectLst/>
                <a:latin typeface="quote-cjk-patch"/>
              </a:rPr>
              <a:t>：团队是否需要高频率、高互动的沟通，也会影响是否采用集中办公或远程协作工具。</a:t>
            </a:r>
          </a:p>
          <a:p>
            <a:pPr algn="l"/>
            <a:r>
              <a:rPr lang="zh-CN" altLang="en-US" b="0" i="0" dirty="0">
                <a:solidFill>
                  <a:srgbClr val="0F1115"/>
                </a:solidFill>
                <a:effectLst/>
                <a:latin typeface="quote-cjk-patch"/>
              </a:rPr>
              <a:t>例如，一个开发高可靠性医疗软件的团队，往往会比一个开发内部工具的小团队更强调流程和角色分工。</a:t>
            </a:r>
          </a:p>
          <a:p>
            <a:endParaRPr lang="zh-CN"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AEF802-B16A-46F4-B044-51989B4CBA42}"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14495016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逻辑</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组建了团队，并不意味着就能顺利工作。在项目过程中，一些负面因素可能悄悄侵蚀团队的效率和士气。识别这些“毒性因素”是防患于未然的关键。</a:t>
            </a:r>
          </a:p>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内容解释</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这一页列出了几种对团队健康极为有害的因素：</a:t>
            </a:r>
          </a:p>
          <a:p>
            <a:pPr algn="l">
              <a:buFont typeface="Arial" panose="020B0604020202020204" pitchFamily="34" charset="0"/>
              <a:buChar char="•"/>
            </a:pPr>
            <a:r>
              <a:rPr lang="zh-CN" altLang="en-US" b="1" i="0" dirty="0">
                <a:solidFill>
                  <a:srgbClr val="0F1115"/>
                </a:solidFill>
                <a:effectLst/>
                <a:latin typeface="quote-cjk-patch"/>
              </a:rPr>
              <a:t>狂热的工作氛围</a:t>
            </a:r>
            <a:r>
              <a:rPr lang="zh-CN" altLang="en-US" b="0" i="0" dirty="0">
                <a:solidFill>
                  <a:srgbClr val="0F1115"/>
                </a:solidFill>
                <a:effectLst/>
                <a:latin typeface="quote-cjk-patch"/>
              </a:rPr>
              <a:t>：看似大家都很忙，但实际上可能忙于救火或重复劳动，失去了对核心目标的专注。</a:t>
            </a:r>
          </a:p>
          <a:p>
            <a:pPr algn="l">
              <a:buFont typeface="Arial" panose="020B0604020202020204" pitchFamily="34" charset="0"/>
              <a:buChar char="•"/>
            </a:pPr>
            <a:r>
              <a:rPr lang="zh-CN" altLang="en-US" b="1" i="0" dirty="0">
                <a:solidFill>
                  <a:srgbClr val="0F1115"/>
                </a:solidFill>
                <a:effectLst/>
                <a:latin typeface="quote-cjk-patch"/>
              </a:rPr>
              <a:t>高度挫折感</a:t>
            </a:r>
            <a:r>
              <a:rPr lang="zh-CN" altLang="en-US" b="0" i="0" dirty="0">
                <a:solidFill>
                  <a:srgbClr val="0F1115"/>
                </a:solidFill>
                <a:effectLst/>
                <a:latin typeface="quote-cjk-patch"/>
              </a:rPr>
              <a:t>：可能源于技术瓶颈、资源不足或人际冲突，导致成员相互埋怨、协作破裂。</a:t>
            </a:r>
          </a:p>
          <a:p>
            <a:pPr algn="l">
              <a:buFont typeface="Arial" panose="020B0604020202020204" pitchFamily="34" charset="0"/>
              <a:buChar char="•"/>
            </a:pPr>
            <a:r>
              <a:rPr lang="zh-CN" altLang="en-US" b="1" i="0" dirty="0">
                <a:solidFill>
                  <a:srgbClr val="0F1115"/>
                </a:solidFill>
                <a:effectLst/>
                <a:latin typeface="quote-cjk-patch"/>
              </a:rPr>
              <a:t>零散或协调不佳的流程</a:t>
            </a:r>
            <a:r>
              <a:rPr lang="zh-CN" altLang="en-US" b="0" i="0" dirty="0">
                <a:solidFill>
                  <a:srgbClr val="0F1115"/>
                </a:solidFill>
                <a:effectLst/>
                <a:latin typeface="quote-cjk-patch"/>
              </a:rPr>
              <a:t>：如果流程选择不当或定义不清，团队成员会无所适从，效率低下。</a:t>
            </a:r>
          </a:p>
          <a:p>
            <a:pPr algn="l">
              <a:buFont typeface="Arial" panose="020B0604020202020204" pitchFamily="34" charset="0"/>
              <a:buChar char="•"/>
            </a:pPr>
            <a:r>
              <a:rPr lang="zh-CN" altLang="en-US" b="1" i="0" dirty="0">
                <a:solidFill>
                  <a:srgbClr val="0F1115"/>
                </a:solidFill>
                <a:effectLst/>
                <a:latin typeface="quote-cjk-patch"/>
              </a:rPr>
              <a:t>角色定义模糊</a:t>
            </a:r>
            <a:r>
              <a:rPr lang="zh-CN" altLang="en-US" b="0" i="0" dirty="0">
                <a:solidFill>
                  <a:srgbClr val="0F1115"/>
                </a:solidFill>
                <a:effectLst/>
                <a:latin typeface="quote-cjk-patch"/>
              </a:rPr>
              <a:t>：谁该负责什么不清晰，导致出了问题互相推诿，无人负责。</a:t>
            </a:r>
          </a:p>
          <a:p>
            <a:pPr algn="l">
              <a:buFont typeface="Arial" panose="020B0604020202020204" pitchFamily="34" charset="0"/>
              <a:buChar char="•"/>
            </a:pPr>
            <a:r>
              <a:rPr lang="zh-CN" altLang="en-US" b="1" i="0" dirty="0">
                <a:solidFill>
                  <a:srgbClr val="0F1115"/>
                </a:solidFill>
                <a:effectLst/>
                <a:latin typeface="quote-cjk-patch"/>
              </a:rPr>
              <a:t>持续遭遇失败</a:t>
            </a:r>
            <a:r>
              <a:rPr lang="zh-CN" altLang="en-US" b="0" i="0" dirty="0">
                <a:solidFill>
                  <a:srgbClr val="0F1115"/>
                </a:solidFill>
                <a:effectLst/>
                <a:latin typeface="quote-cjk-patch"/>
              </a:rPr>
              <a:t>：如果项目接连受挫，团队会丧失信心，士气低迷，形成恶性循环。</a:t>
            </a:r>
          </a:p>
          <a:p>
            <a:pPr algn="l"/>
            <a:r>
              <a:rPr lang="zh-CN" altLang="en-US" b="0" i="0" dirty="0">
                <a:solidFill>
                  <a:srgbClr val="0F1115"/>
                </a:solidFill>
                <a:effectLst/>
                <a:latin typeface="quote-cjk-patch"/>
              </a:rPr>
              <a:t>例如，一个项目如果频繁变更需求且没有妥善管理，就很容易导致“持续遭遇失败”和“高度挫折感”，进而引发团队毒性。</a:t>
            </a:r>
          </a:p>
          <a:p>
            <a:endParaRPr lang="zh-CN"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AEF802-B16A-46F4-B044-51989B4CBA42}"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17169066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b="0" i="0" dirty="0">
                <a:solidFill>
                  <a:srgbClr val="0F1115"/>
                </a:solidFill>
                <a:effectLst/>
                <a:latin typeface="quote-cjk-patch"/>
              </a:rPr>
              <a:t>情境允许创建基于移动设备位置和设备功能来交付的应用。</a:t>
            </a:r>
            <a:br>
              <a:rPr lang="zh-CN" altLang="en-US" dirty="0"/>
            </a:br>
            <a:r>
              <a:rPr lang="zh-CN" altLang="en-US" b="0" i="0" dirty="0">
                <a:solidFill>
                  <a:srgbClr val="0F1115"/>
                </a:solidFill>
                <a:effectLst/>
                <a:latin typeface="quote-cjk-patch"/>
              </a:rPr>
              <a:t>情境有助于为移动设备量身定制个人计算机应用。</a:t>
            </a:r>
            <a:br>
              <a:rPr lang="zh-CN" altLang="en-US" dirty="0"/>
            </a:br>
            <a:r>
              <a:rPr lang="zh-CN" altLang="en-US" b="0" i="0" dirty="0">
                <a:solidFill>
                  <a:srgbClr val="0F1115"/>
                </a:solidFill>
                <a:effectLst/>
                <a:latin typeface="quote-cjk-patch"/>
              </a:rPr>
              <a:t>移动计算通过让设备感知其他对象及其周围环境，将现实世界和虚拟世界融合。</a:t>
            </a:r>
            <a:br>
              <a:rPr lang="zh-CN" altLang="en-US" dirty="0"/>
            </a:br>
            <a:r>
              <a:rPr lang="zh-CN" altLang="en-US" b="0" i="0" dirty="0">
                <a:solidFill>
                  <a:srgbClr val="0F1115"/>
                </a:solidFill>
                <a:effectLst/>
                <a:latin typeface="quote-cjk-patch"/>
              </a:rPr>
              <a:t>设备必须检测用户的存在和身份，以及与该用户相关的上下文属性。</a:t>
            </a:r>
            <a:br>
              <a:rPr lang="zh-CN" altLang="en-US" dirty="0"/>
            </a:br>
            <a:r>
              <a:rPr lang="zh-CN" altLang="en-US" b="0" i="0" dirty="0">
                <a:solidFill>
                  <a:srgbClr val="0F1115"/>
                </a:solidFill>
                <a:effectLst/>
                <a:latin typeface="quote-cjk-patch"/>
              </a:rPr>
              <a:t>从多个传感器中提取相关的情境信息具有挑战性（例如：噪声、校准错误、磨损、天气）。</a:t>
            </a:r>
            <a:br>
              <a:rPr lang="zh-CN" altLang="en-US" dirty="0"/>
            </a:br>
            <a:r>
              <a:rPr lang="zh-CN" altLang="en-US" b="0" i="0" dirty="0">
                <a:solidFill>
                  <a:srgbClr val="0F1115"/>
                </a:solidFill>
                <a:effectLst/>
                <a:latin typeface="quote-cjk-patch"/>
              </a:rPr>
              <a:t>在情境感知应用中，基于事件的通信优于管理连续的高抽象级别数据流。</a:t>
            </a:r>
            <a:endParaRPr lang="en-US" altLang="zh-CN" b="0" i="0" dirty="0">
              <a:solidFill>
                <a:srgbClr val="0F1115"/>
              </a:solidFill>
              <a:effectLst/>
              <a:latin typeface="quote-cjk-patch"/>
            </a:endParaRPr>
          </a:p>
          <a:p>
            <a:pPr algn="l">
              <a:buFont typeface="Arial" panose="020B0604020202020204" pitchFamily="34" charset="0"/>
              <a:buChar char="•"/>
            </a:pPr>
            <a:r>
              <a:rPr lang="zh-CN" altLang="en-US" b="1" i="0" dirty="0">
                <a:solidFill>
                  <a:srgbClr val="0F1115"/>
                </a:solidFill>
                <a:effectLst/>
                <a:latin typeface="quote-cjk-patch"/>
              </a:rPr>
              <a:t>核心主题：</a:t>
            </a:r>
            <a:r>
              <a:rPr lang="zh-CN" altLang="en-US" b="0" i="0" dirty="0">
                <a:solidFill>
                  <a:srgbClr val="0F1115"/>
                </a:solidFill>
                <a:effectLst/>
                <a:latin typeface="quote-cjk-patch"/>
              </a:rPr>
              <a:t> 深入探讨了</a:t>
            </a:r>
            <a:r>
              <a:rPr lang="zh-CN" altLang="en-US" b="1" i="0" dirty="0">
                <a:solidFill>
                  <a:srgbClr val="0F1115"/>
                </a:solidFill>
                <a:effectLst/>
                <a:latin typeface="quote-cjk-patch"/>
              </a:rPr>
              <a:t>情境感知</a:t>
            </a:r>
            <a:r>
              <a:rPr lang="zh-CN" altLang="en-US" b="0" i="0" dirty="0">
                <a:solidFill>
                  <a:srgbClr val="0F1115"/>
                </a:solidFill>
                <a:effectLst/>
                <a:latin typeface="quote-cjk-patch"/>
              </a:rPr>
              <a:t>这一移动应用的核心特性及其技术挑战。</a:t>
            </a:r>
          </a:p>
          <a:p>
            <a:pPr algn="l">
              <a:buFont typeface="Arial" panose="020B0604020202020204" pitchFamily="34" charset="0"/>
              <a:buChar char="•"/>
            </a:pPr>
            <a:r>
              <a:rPr lang="zh-CN" altLang="en-US" b="1" i="0" dirty="0">
                <a:solidFill>
                  <a:srgbClr val="0F1115"/>
                </a:solidFill>
                <a:effectLst/>
                <a:latin typeface="quote-cjk-patch"/>
              </a:rPr>
              <a:t>要点：</a:t>
            </a:r>
            <a:endParaRPr lang="zh-CN" altLang="en-US" b="0" i="0" dirty="0">
              <a:solidFill>
                <a:srgbClr val="0F1115"/>
              </a:solidFill>
              <a:effectLst/>
              <a:latin typeface="quote-cjk-patch"/>
            </a:endParaRPr>
          </a:p>
          <a:p>
            <a:pPr marL="742950" lvl="1" indent="-285750" algn="l">
              <a:buFont typeface="Arial" panose="020B0604020202020204" pitchFamily="34" charset="0"/>
              <a:buChar char="•"/>
            </a:pPr>
            <a:r>
              <a:rPr lang="zh-CN" altLang="en-US" b="1" i="0" dirty="0">
                <a:solidFill>
                  <a:srgbClr val="0F1115"/>
                </a:solidFill>
                <a:effectLst/>
                <a:latin typeface="quote-cjk-patch"/>
              </a:rPr>
              <a:t>定义与价值：</a:t>
            </a:r>
            <a:r>
              <a:rPr lang="zh-CN" altLang="en-US" b="0" i="0" dirty="0">
                <a:solidFill>
                  <a:srgbClr val="0F1115"/>
                </a:solidFill>
                <a:effectLst/>
                <a:latin typeface="quote-cjk-patch"/>
              </a:rPr>
              <a:t> 情境感知使应用能够根据</a:t>
            </a:r>
            <a:r>
              <a:rPr lang="zh-CN" altLang="en-US" b="1" i="0" dirty="0">
                <a:solidFill>
                  <a:srgbClr val="0F1115"/>
                </a:solidFill>
                <a:effectLst/>
                <a:latin typeface="quote-cjk-patch"/>
              </a:rPr>
              <a:t>环境</a:t>
            </a:r>
            <a:r>
              <a:rPr lang="zh-CN" altLang="en-US" b="0" i="0" dirty="0">
                <a:solidFill>
                  <a:srgbClr val="0F1115"/>
                </a:solidFill>
                <a:effectLst/>
                <a:latin typeface="quote-cjk-patch"/>
              </a:rPr>
              <a:t>（如位置、时间、周围设备）、</a:t>
            </a:r>
            <a:r>
              <a:rPr lang="zh-CN" altLang="en-US" b="1" i="0" dirty="0">
                <a:solidFill>
                  <a:srgbClr val="0F1115"/>
                </a:solidFill>
                <a:effectLst/>
                <a:latin typeface="quote-cjk-patch"/>
              </a:rPr>
              <a:t>用户</a:t>
            </a:r>
            <a:r>
              <a:rPr lang="zh-CN" altLang="en-US" b="0" i="0" dirty="0">
                <a:solidFill>
                  <a:srgbClr val="0F1115"/>
                </a:solidFill>
                <a:effectLst/>
                <a:latin typeface="quote-cjk-patch"/>
              </a:rPr>
              <a:t>（如身份、活动）和</a:t>
            </a:r>
            <a:r>
              <a:rPr lang="zh-CN" altLang="en-US" b="1" i="0" dirty="0">
                <a:solidFill>
                  <a:srgbClr val="0F1115"/>
                </a:solidFill>
                <a:effectLst/>
                <a:latin typeface="quote-cjk-patch"/>
              </a:rPr>
              <a:t>设备自身</a:t>
            </a:r>
            <a:r>
              <a:rPr lang="zh-CN" altLang="en-US" b="0" i="0" dirty="0">
                <a:solidFill>
                  <a:srgbClr val="0F1115"/>
                </a:solidFill>
                <a:effectLst/>
                <a:latin typeface="quote-cjk-patch"/>
              </a:rPr>
              <a:t>状态来提供动态、个性化的服务和信息。它是移动应用智能化的关键。</a:t>
            </a:r>
          </a:p>
          <a:p>
            <a:pPr marL="742950" lvl="1" indent="-285750" algn="l">
              <a:buFont typeface="Arial" panose="020B0604020202020204" pitchFamily="34" charset="0"/>
              <a:buChar char="•"/>
            </a:pPr>
            <a:r>
              <a:rPr lang="zh-CN" altLang="en-US" b="1" i="0" dirty="0">
                <a:solidFill>
                  <a:srgbClr val="0F1115"/>
                </a:solidFill>
                <a:effectLst/>
                <a:latin typeface="quote-cjk-patch"/>
              </a:rPr>
              <a:t>融合虚实：</a:t>
            </a:r>
            <a:r>
              <a:rPr lang="zh-CN" altLang="en-US" b="0" i="0" dirty="0">
                <a:solidFill>
                  <a:srgbClr val="0F1115"/>
                </a:solidFill>
                <a:effectLst/>
                <a:latin typeface="quote-cjk-patch"/>
              </a:rPr>
              <a:t> 通过感知现实世界（如通过扫描二维码连接物理物品和数字信息），移动设备成为连接物理世界和数字世界的桥梁。</a:t>
            </a:r>
          </a:p>
          <a:p>
            <a:pPr marL="742950" lvl="1" indent="-285750" algn="l">
              <a:buFont typeface="Arial" panose="020B0604020202020204" pitchFamily="34" charset="0"/>
              <a:buChar char="•"/>
            </a:pPr>
            <a:r>
              <a:rPr lang="zh-CN" altLang="en-US" b="1" i="0" dirty="0">
                <a:solidFill>
                  <a:srgbClr val="0F1115"/>
                </a:solidFill>
                <a:effectLst/>
                <a:latin typeface="quote-cjk-patch"/>
              </a:rPr>
              <a:t>技术挑战：</a:t>
            </a:r>
            <a:endParaRPr lang="zh-CN" altLang="en-US" b="0" i="0" dirty="0">
              <a:solidFill>
                <a:srgbClr val="0F1115"/>
              </a:solidFill>
              <a:effectLst/>
              <a:latin typeface="quote-cjk-patch"/>
            </a:endParaRPr>
          </a:p>
          <a:p>
            <a:pPr marL="1143000" lvl="2" indent="-228600" algn="l">
              <a:buFont typeface="Arial" panose="020B0604020202020204" pitchFamily="34" charset="0"/>
              <a:buChar char="•"/>
            </a:pPr>
            <a:r>
              <a:rPr lang="zh-CN" altLang="en-US" b="1" i="0" dirty="0">
                <a:solidFill>
                  <a:srgbClr val="0F1115"/>
                </a:solidFill>
                <a:effectLst/>
                <a:latin typeface="quote-cjk-patch"/>
              </a:rPr>
              <a:t>数据质量：</a:t>
            </a:r>
            <a:r>
              <a:rPr lang="zh-CN" altLang="en-US" b="0" i="0" dirty="0">
                <a:solidFill>
                  <a:srgbClr val="0F1115"/>
                </a:solidFill>
                <a:effectLst/>
                <a:latin typeface="quote-cjk-patch"/>
              </a:rPr>
              <a:t> 传感器数据可能不准确、不可靠或被干扰。</a:t>
            </a:r>
          </a:p>
          <a:p>
            <a:pPr marL="1143000" lvl="2" indent="-228600" algn="l">
              <a:buFont typeface="Arial" panose="020B0604020202020204" pitchFamily="34" charset="0"/>
              <a:buChar char="•"/>
            </a:pPr>
            <a:r>
              <a:rPr lang="zh-CN" altLang="en-US" b="1" i="0" dirty="0">
                <a:solidFill>
                  <a:srgbClr val="0F1115"/>
                </a:solidFill>
                <a:effectLst/>
                <a:latin typeface="quote-cjk-patch"/>
              </a:rPr>
              <a:t>信息提取：</a:t>
            </a:r>
            <a:r>
              <a:rPr lang="zh-CN" altLang="en-US" b="0" i="0" dirty="0">
                <a:solidFill>
                  <a:srgbClr val="0F1115"/>
                </a:solidFill>
                <a:effectLst/>
                <a:latin typeface="quote-cjk-patch"/>
              </a:rPr>
              <a:t> 如何从原始、嘈杂的数据中识别出有意义的“情境”是一项复杂任务。</a:t>
            </a:r>
          </a:p>
          <a:p>
            <a:pPr marL="742950" lvl="1" indent="-285750" algn="l">
              <a:buFont typeface="Arial" panose="020B0604020202020204" pitchFamily="34" charset="0"/>
              <a:buChar char="•"/>
            </a:pPr>
            <a:r>
              <a:rPr lang="zh-CN" altLang="en-US" b="1" i="0" dirty="0">
                <a:solidFill>
                  <a:srgbClr val="0F1115"/>
                </a:solidFill>
                <a:effectLst/>
                <a:latin typeface="quote-cjk-patch"/>
              </a:rPr>
              <a:t>设计建议：</a:t>
            </a:r>
            <a:r>
              <a:rPr lang="zh-CN" altLang="en-US" b="0" i="0" dirty="0">
                <a:solidFill>
                  <a:srgbClr val="0F1115"/>
                </a:solidFill>
                <a:effectLst/>
                <a:latin typeface="quote-cjk-patch"/>
              </a:rPr>
              <a:t> 采用</a:t>
            </a:r>
            <a:r>
              <a:rPr lang="zh-CN" altLang="en-US" b="1" i="0" dirty="0">
                <a:solidFill>
                  <a:srgbClr val="0F1115"/>
                </a:solidFill>
                <a:effectLst/>
                <a:latin typeface="quote-cjk-patch"/>
              </a:rPr>
              <a:t>事件驱动</a:t>
            </a:r>
            <a:r>
              <a:rPr lang="zh-CN" altLang="en-US" b="0" i="0" dirty="0">
                <a:solidFill>
                  <a:srgbClr val="0F1115"/>
                </a:solidFill>
                <a:effectLst/>
                <a:latin typeface="quote-cjk-patch"/>
              </a:rPr>
              <a:t>架构。即当特定情境事件发生时（如用户进入某个区域），才触发相应的处理，而不是持续不断地监控和传输所有传感器数据，这有助于节省设备资源和电量。</a:t>
            </a:r>
          </a:p>
          <a:p>
            <a:br>
              <a:rPr lang="zh-CN" altLang="en-US" dirty="0"/>
            </a:br>
            <a:endParaRPr lang="zh-CN"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8C3C30-EF69-47DA-B56F-479F127EB72B}"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33212798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逻辑</a:t>
            </a:r>
            <a:r>
              <a:rPr lang="en-US" altLang="zh-CN" sz="1200" b="1" i="0" kern="1200" dirty="0">
                <a:solidFill>
                  <a:schemeClr val="tx1"/>
                </a:solidFill>
                <a:effectLst/>
                <a:latin typeface="+mn-lt"/>
                <a:ea typeface="+mn-ea"/>
                <a:cs typeface="+mn-cs"/>
              </a:rPr>
              <a:t>】</a:t>
            </a:r>
            <a:br>
              <a:rPr lang="zh-CN" altLang="en-US" sz="1200" b="0" i="0" kern="1200" dirty="0">
                <a:solidFill>
                  <a:schemeClr val="tx1"/>
                </a:solidFill>
                <a:effectLst/>
                <a:latin typeface="+mn-lt"/>
                <a:ea typeface="+mn-ea"/>
                <a:cs typeface="+mn-cs"/>
              </a:rPr>
            </a:br>
            <a:r>
              <a:rPr lang="zh-CN" altLang="en-US" sz="1200" b="0" i="0" kern="1200" dirty="0">
                <a:solidFill>
                  <a:schemeClr val="tx1"/>
                </a:solidFill>
                <a:effectLst/>
                <a:latin typeface="+mn-lt"/>
                <a:ea typeface="+mn-ea"/>
                <a:cs typeface="+mn-cs"/>
              </a:rPr>
              <a:t>在开始具体内容之前，我们首先需要明确“评审”到底是什么。很多同学可能听说过评审，但容易误解它的真正目的。这一页将澄清评审的定义，区分它是什么和不是什么。</a:t>
            </a:r>
          </a:p>
          <a:p>
            <a:r>
              <a:rPr lang="en-US" altLang="zh-CN" sz="1200" b="1"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内容翻译及略微解释</a:t>
            </a:r>
            <a:r>
              <a:rPr lang="en-US" altLang="zh-CN" sz="1200" b="1" i="0" kern="1200" dirty="0">
                <a:solidFill>
                  <a:schemeClr val="tx1"/>
                </a:solidFill>
                <a:effectLst/>
                <a:latin typeface="+mn-lt"/>
                <a:ea typeface="+mn-ea"/>
                <a:cs typeface="+mn-cs"/>
              </a:rPr>
              <a:t>】</a:t>
            </a:r>
            <a:endParaRPr lang="zh-CN" altLang="en-US" sz="1200" b="0" i="0" kern="1200" dirty="0">
              <a:solidFill>
                <a:schemeClr val="tx1"/>
              </a:solidFill>
              <a:effectLst/>
              <a:latin typeface="+mn-lt"/>
              <a:ea typeface="+mn-ea"/>
              <a:cs typeface="+mn-cs"/>
            </a:endParaRPr>
          </a:p>
          <a:p>
            <a:r>
              <a:rPr lang="en-US" altLang="zh-CN" sz="1200" b="1" i="0" kern="1200" dirty="0">
                <a:solidFill>
                  <a:schemeClr val="tx1"/>
                </a:solidFill>
                <a:effectLst/>
                <a:latin typeface="+mn-lt"/>
                <a:ea typeface="+mn-ea"/>
                <a:cs typeface="+mn-cs"/>
              </a:rPr>
              <a:t>What are they?</a:t>
            </a:r>
            <a:r>
              <a:rPr lang="zh-CN" altLang="en-US" sz="1200" b="1" i="0" kern="1200" dirty="0">
                <a:solidFill>
                  <a:schemeClr val="tx1"/>
                </a:solidFill>
                <a:effectLst/>
                <a:latin typeface="+mn-lt"/>
                <a:ea typeface="+mn-ea"/>
                <a:cs typeface="+mn-cs"/>
              </a:rPr>
              <a:t>（评审是什么？）</a:t>
            </a:r>
            <a:endParaRPr lang="zh-CN" altLang="en-US" sz="1200" b="0" i="0" kern="1200" dirty="0">
              <a:solidFill>
                <a:schemeClr val="tx1"/>
              </a:solidFill>
              <a:effectLst/>
              <a:latin typeface="+mn-lt"/>
              <a:ea typeface="+mn-ea"/>
              <a:cs typeface="+mn-cs"/>
            </a:endParaRPr>
          </a:p>
          <a:p>
            <a:pPr lvl="1"/>
            <a:r>
              <a:rPr lang="zh-CN" altLang="en-US" sz="1200" b="0" i="0" kern="1200" dirty="0">
                <a:solidFill>
                  <a:schemeClr val="tx1"/>
                </a:solidFill>
                <a:effectLst/>
                <a:latin typeface="+mn-lt"/>
                <a:ea typeface="+mn-ea"/>
                <a:cs typeface="+mn-cs"/>
              </a:rPr>
              <a:t>由技术人员参与的会议。</a:t>
            </a:r>
          </a:p>
          <a:p>
            <a:pPr lvl="1"/>
            <a:r>
              <a:rPr lang="zh-CN" altLang="en-US" sz="1200" b="0" i="0" kern="1200" dirty="0">
                <a:solidFill>
                  <a:schemeClr val="tx1"/>
                </a:solidFill>
                <a:effectLst/>
                <a:latin typeface="+mn-lt"/>
                <a:ea typeface="+mn-ea"/>
                <a:cs typeface="+mn-cs"/>
              </a:rPr>
              <a:t>对软件工程过程中产生的工作产品进行技术评估。</a:t>
            </a:r>
          </a:p>
          <a:p>
            <a:pPr lvl="1"/>
            <a:r>
              <a:rPr lang="zh-CN" altLang="en-US" sz="1200" b="0" i="0" kern="1200" dirty="0">
                <a:solidFill>
                  <a:schemeClr val="tx1"/>
                </a:solidFill>
                <a:effectLst/>
                <a:latin typeface="+mn-lt"/>
                <a:ea typeface="+mn-ea"/>
                <a:cs typeface="+mn-cs"/>
              </a:rPr>
              <a:t>一种软件质量保证机制。</a:t>
            </a:r>
          </a:p>
          <a:p>
            <a:pPr lvl="1"/>
            <a:r>
              <a:rPr lang="zh-CN" altLang="en-US" sz="1200" b="0" i="0" kern="1200" dirty="0">
                <a:solidFill>
                  <a:schemeClr val="tx1"/>
                </a:solidFill>
                <a:effectLst/>
                <a:latin typeface="+mn-lt"/>
                <a:ea typeface="+mn-ea"/>
                <a:cs typeface="+mn-cs"/>
              </a:rPr>
              <a:t>一个培训平台（团队成员通过评审学习最佳实践）。</a:t>
            </a:r>
          </a:p>
          <a:p>
            <a:r>
              <a:rPr lang="en-US" altLang="zh-CN" sz="1200" b="1" i="0" kern="1200" dirty="0">
                <a:solidFill>
                  <a:schemeClr val="tx1"/>
                </a:solidFill>
                <a:effectLst/>
                <a:latin typeface="+mn-lt"/>
                <a:ea typeface="+mn-ea"/>
                <a:cs typeface="+mn-cs"/>
              </a:rPr>
              <a:t>What they are not!</a:t>
            </a:r>
            <a:r>
              <a:rPr lang="zh-CN" altLang="en-US" sz="1200" b="1" i="0" kern="1200" dirty="0">
                <a:solidFill>
                  <a:schemeClr val="tx1"/>
                </a:solidFill>
                <a:effectLst/>
                <a:latin typeface="+mn-lt"/>
                <a:ea typeface="+mn-ea"/>
                <a:cs typeface="+mn-cs"/>
              </a:rPr>
              <a:t>（评审不是什么？）</a:t>
            </a:r>
            <a:endParaRPr lang="zh-CN" altLang="en-US" sz="1200" b="0" i="0" kern="1200" dirty="0">
              <a:solidFill>
                <a:schemeClr val="tx1"/>
              </a:solidFill>
              <a:effectLst/>
              <a:latin typeface="+mn-lt"/>
              <a:ea typeface="+mn-ea"/>
              <a:cs typeface="+mn-cs"/>
            </a:endParaRPr>
          </a:p>
          <a:p>
            <a:pPr lvl="1"/>
            <a:r>
              <a:rPr lang="zh-CN" altLang="en-US" sz="1200" b="0" i="0" kern="1200" dirty="0">
                <a:solidFill>
                  <a:schemeClr val="tx1"/>
                </a:solidFill>
                <a:effectLst/>
                <a:latin typeface="+mn-lt"/>
                <a:ea typeface="+mn-ea"/>
                <a:cs typeface="+mn-cs"/>
              </a:rPr>
              <a:t>不是项目总结或进度评估会议。</a:t>
            </a:r>
          </a:p>
          <a:p>
            <a:pPr lvl="1"/>
            <a:r>
              <a:rPr lang="zh-CN" altLang="en-US" sz="1200" b="0" i="0" kern="1200" dirty="0">
                <a:solidFill>
                  <a:schemeClr val="tx1"/>
                </a:solidFill>
                <a:effectLst/>
                <a:latin typeface="+mn-lt"/>
                <a:ea typeface="+mn-ea"/>
                <a:cs typeface="+mn-cs"/>
              </a:rPr>
              <a:t>不是单纯的信息传达会议。</a:t>
            </a:r>
          </a:p>
          <a:p>
            <a:pPr lvl="1"/>
            <a:r>
              <a:rPr lang="zh-CN" altLang="en-US" sz="1200" b="0" i="0" kern="1200" dirty="0">
                <a:solidFill>
                  <a:schemeClr val="tx1"/>
                </a:solidFill>
                <a:effectLst/>
                <a:latin typeface="+mn-lt"/>
                <a:ea typeface="+mn-ea"/>
                <a:cs typeface="+mn-cs"/>
              </a:rPr>
              <a:t>不是政治或个人报复的工具！</a:t>
            </a:r>
          </a:p>
          <a:p>
            <a:r>
              <a:rPr lang="zh-CN" altLang="en-US" sz="1200" b="1" i="0" kern="1200" dirty="0">
                <a:solidFill>
                  <a:schemeClr val="tx1"/>
                </a:solidFill>
                <a:effectLst/>
                <a:latin typeface="+mn-lt"/>
                <a:ea typeface="+mn-ea"/>
                <a:cs typeface="+mn-cs"/>
              </a:rPr>
              <a:t>解释</a:t>
            </a:r>
            <a:r>
              <a:rPr lang="zh-CN" altLang="en-US" sz="1200" b="0" i="0" kern="1200" dirty="0">
                <a:solidFill>
                  <a:schemeClr val="tx1"/>
                </a:solidFill>
                <a:effectLst/>
                <a:latin typeface="+mn-lt"/>
                <a:ea typeface="+mn-ea"/>
                <a:cs typeface="+mn-cs"/>
              </a:rPr>
              <a:t>：评审是技术性的、以质量为中心的协作活动，目的是早期发现问题，而不是管理进度或解决人际问题。</a:t>
            </a:r>
          </a:p>
          <a:p>
            <a:r>
              <a:rPr lang="en-US" altLang="zh-CN" sz="1200" b="1"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本页总结</a:t>
            </a:r>
            <a:r>
              <a:rPr lang="en-US" altLang="zh-CN" sz="1200" b="1" i="0" kern="1200" dirty="0">
                <a:solidFill>
                  <a:schemeClr val="tx1"/>
                </a:solidFill>
                <a:effectLst/>
                <a:latin typeface="+mn-lt"/>
                <a:ea typeface="+mn-ea"/>
                <a:cs typeface="+mn-cs"/>
              </a:rPr>
              <a:t>】</a:t>
            </a:r>
            <a:br>
              <a:rPr lang="zh-CN" altLang="en-US" sz="1200" b="0" i="0" kern="1200" dirty="0">
                <a:solidFill>
                  <a:schemeClr val="tx1"/>
                </a:solidFill>
                <a:effectLst/>
                <a:latin typeface="+mn-lt"/>
                <a:ea typeface="+mn-ea"/>
                <a:cs typeface="+mn-cs"/>
              </a:rPr>
            </a:br>
            <a:r>
              <a:rPr lang="zh-CN" altLang="en-US" sz="1200" b="0" i="0" kern="1200" dirty="0">
                <a:solidFill>
                  <a:schemeClr val="tx1"/>
                </a:solidFill>
                <a:effectLst/>
                <a:latin typeface="+mn-lt"/>
                <a:ea typeface="+mn-ea"/>
                <a:cs typeface="+mn-cs"/>
              </a:rPr>
              <a:t>评审是一种结构化的技术评估活动，旨在提升产品质量和团队能力，而非用于项目管理或个人目的。理解这一点是有效实施评审的基础。</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E4B6AE-7098-403F-8DB1-EA205D7E25B7}"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19704064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逻辑</a:t>
            </a:r>
            <a:r>
              <a:rPr lang="en-US" altLang="zh-CN" sz="1200" b="0" i="0" kern="1200" dirty="0">
                <a:solidFill>
                  <a:schemeClr val="tx1"/>
                </a:solidFill>
                <a:effectLst/>
                <a:latin typeface="+mn-lt"/>
                <a:ea typeface="+mn-ea"/>
                <a:cs typeface="+mn-cs"/>
              </a:rPr>
              <a:t>】</a:t>
            </a:r>
            <a:br>
              <a:rPr lang="en-US" altLang="zh-CN" sz="1200" b="0" i="0" kern="1200" dirty="0">
                <a:solidFill>
                  <a:schemeClr val="tx1"/>
                </a:solidFill>
                <a:effectLst/>
                <a:latin typeface="+mn-lt"/>
                <a:ea typeface="+mn-ea"/>
                <a:cs typeface="+mn-cs"/>
              </a:rPr>
            </a:br>
            <a:r>
              <a:rPr lang="zh-CN" altLang="en-US" sz="1200" b="0" i="0" kern="1200" dirty="0">
                <a:solidFill>
                  <a:schemeClr val="tx1"/>
                </a:solidFill>
                <a:effectLst/>
                <a:latin typeface="+mn-lt"/>
                <a:ea typeface="+mn-ea"/>
                <a:cs typeface="+mn-cs"/>
              </a:rPr>
              <a:t>了解了灵活的非正式评审后，我们再把目光转向更为严格和系统的</a:t>
            </a:r>
            <a:r>
              <a:rPr lang="zh-CN" altLang="en-US" sz="1200" b="1" i="0" kern="1200" dirty="0">
                <a:solidFill>
                  <a:schemeClr val="tx1"/>
                </a:solidFill>
                <a:effectLst/>
                <a:latin typeface="+mn-lt"/>
                <a:ea typeface="+mn-ea"/>
                <a:cs typeface="+mn-cs"/>
              </a:rPr>
              <a:t>正式技术评审</a:t>
            </a:r>
            <a:r>
              <a:rPr lang="zh-CN" altLang="en-US" sz="1200" b="0" i="0" kern="1200" dirty="0">
                <a:solidFill>
                  <a:schemeClr val="tx1"/>
                </a:solidFill>
                <a:effectLst/>
                <a:latin typeface="+mn-lt"/>
                <a:ea typeface="+mn-ea"/>
                <a:cs typeface="+mn-cs"/>
              </a:rPr>
              <a:t>。当项目进入关键阶段，或者工作产品复杂度高、影响大时，就需要启动这种形式的评审。</a:t>
            </a:r>
          </a:p>
          <a:p>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内容翻译</a:t>
            </a:r>
            <a:r>
              <a:rPr lang="en-US" altLang="zh-CN" sz="1200" b="0" i="0" kern="1200" dirty="0">
                <a:solidFill>
                  <a:schemeClr val="tx1"/>
                </a:solidFill>
                <a:effectLst/>
                <a:latin typeface="+mn-lt"/>
                <a:ea typeface="+mn-ea"/>
                <a:cs typeface="+mn-cs"/>
              </a:rPr>
              <a:t>】</a:t>
            </a:r>
          </a:p>
          <a:p>
            <a:r>
              <a:rPr lang="zh-CN" altLang="en-US" sz="1200" b="0" i="0" kern="1200" dirty="0">
                <a:solidFill>
                  <a:schemeClr val="tx1"/>
                </a:solidFill>
                <a:effectLst/>
                <a:latin typeface="+mn-lt"/>
                <a:ea typeface="+mn-ea"/>
                <a:cs typeface="+mn-cs"/>
              </a:rPr>
              <a:t>正式技术评审的目标是：</a:t>
            </a:r>
          </a:p>
          <a:p>
            <a:pPr lvl="1"/>
            <a:r>
              <a:rPr lang="zh-CN" altLang="en-US" sz="1200" b="0" i="0" kern="1200" dirty="0">
                <a:solidFill>
                  <a:schemeClr val="tx1"/>
                </a:solidFill>
                <a:effectLst/>
                <a:latin typeface="+mn-lt"/>
                <a:ea typeface="+mn-ea"/>
                <a:cs typeface="+mn-cs"/>
              </a:rPr>
              <a:t>发现软件任何表现形式中的功能、逻辑或实现错误。</a:t>
            </a:r>
          </a:p>
          <a:p>
            <a:pPr lvl="1"/>
            <a:r>
              <a:rPr lang="zh-CN" altLang="en-US" sz="1200" b="0" i="0" kern="1200" dirty="0">
                <a:solidFill>
                  <a:schemeClr val="tx1"/>
                </a:solidFill>
                <a:effectLst/>
                <a:latin typeface="+mn-lt"/>
                <a:ea typeface="+mn-ea"/>
                <a:cs typeface="+mn-cs"/>
              </a:rPr>
              <a:t>验证被评审的软件是否满足其需求。</a:t>
            </a:r>
          </a:p>
          <a:p>
            <a:pPr lvl="1"/>
            <a:r>
              <a:rPr lang="zh-CN" altLang="en-US" sz="1200" b="0" i="0" kern="1200" dirty="0">
                <a:solidFill>
                  <a:schemeClr val="tx1"/>
                </a:solidFill>
                <a:effectLst/>
                <a:latin typeface="+mn-lt"/>
                <a:ea typeface="+mn-ea"/>
                <a:cs typeface="+mn-cs"/>
              </a:rPr>
              <a:t>确保软件的开发符合预定义的标准。</a:t>
            </a:r>
          </a:p>
          <a:p>
            <a:pPr lvl="1"/>
            <a:r>
              <a:rPr lang="zh-CN" altLang="en-US" sz="1200" b="0" i="0" kern="1200" dirty="0">
                <a:solidFill>
                  <a:schemeClr val="tx1"/>
                </a:solidFill>
                <a:effectLst/>
                <a:latin typeface="+mn-lt"/>
                <a:ea typeface="+mn-ea"/>
                <a:cs typeface="+mn-cs"/>
              </a:rPr>
              <a:t>以统一的方式开发软件。</a:t>
            </a:r>
          </a:p>
          <a:p>
            <a:pPr lvl="1"/>
            <a:r>
              <a:rPr lang="zh-CN" altLang="en-US" sz="1200" b="0" i="0" kern="1200" dirty="0">
                <a:solidFill>
                  <a:schemeClr val="tx1"/>
                </a:solidFill>
                <a:effectLst/>
                <a:latin typeface="+mn-lt"/>
                <a:ea typeface="+mn-ea"/>
                <a:cs typeface="+mn-cs"/>
              </a:rPr>
              <a:t>使项目更易于管理。</a:t>
            </a:r>
          </a:p>
          <a:p>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解释</a:t>
            </a:r>
            <a:r>
              <a:rPr lang="en-US" altLang="zh-CN" sz="1200" b="0" i="0" kern="1200" dirty="0">
                <a:solidFill>
                  <a:schemeClr val="tx1"/>
                </a:solidFill>
                <a:effectLst/>
                <a:latin typeface="+mn-lt"/>
                <a:ea typeface="+mn-ea"/>
                <a:cs typeface="+mn-cs"/>
              </a:rPr>
              <a:t>】</a:t>
            </a:r>
            <a:br>
              <a:rPr lang="en-US" altLang="zh-CN" sz="1200" b="0" i="0" kern="1200" dirty="0">
                <a:solidFill>
                  <a:schemeClr val="tx1"/>
                </a:solidFill>
                <a:effectLst/>
                <a:latin typeface="+mn-lt"/>
                <a:ea typeface="+mn-ea"/>
                <a:cs typeface="+mn-cs"/>
              </a:rPr>
            </a:br>
            <a:r>
              <a:rPr lang="zh-CN" altLang="en-US" sz="1200" b="0" i="0" kern="1200" dirty="0">
                <a:solidFill>
                  <a:schemeClr val="tx1"/>
                </a:solidFill>
                <a:effectLst/>
                <a:latin typeface="+mn-lt"/>
                <a:ea typeface="+mn-ea"/>
                <a:cs typeface="+mn-cs"/>
              </a:rPr>
              <a:t>正式技术评审，有时也叫“走查”或“审查”，是软件工程中的一道重质量关卡。它不仅仅是为了“找</a:t>
            </a:r>
            <a:r>
              <a:rPr lang="en-US" altLang="zh-CN" sz="1200" b="0" i="0" kern="1200" dirty="0">
                <a:solidFill>
                  <a:schemeClr val="tx1"/>
                </a:solidFill>
                <a:effectLst/>
                <a:latin typeface="+mn-lt"/>
                <a:ea typeface="+mn-ea"/>
                <a:cs typeface="+mn-cs"/>
              </a:rPr>
              <a:t>bug”</a:t>
            </a:r>
            <a:r>
              <a:rPr lang="zh-CN" altLang="en-US" sz="1200" b="0" i="0" kern="1200" dirty="0">
                <a:solidFill>
                  <a:schemeClr val="tx1"/>
                </a:solidFill>
                <a:effectLst/>
                <a:latin typeface="+mn-lt"/>
                <a:ea typeface="+mn-ea"/>
                <a:cs typeface="+mn-cs"/>
              </a:rPr>
              <a:t>，而是一个多目标的、系统性的质量保障活动。</a:t>
            </a:r>
          </a:p>
          <a:p>
            <a:r>
              <a:rPr lang="zh-CN" altLang="en-US" sz="1200" b="0" i="0" kern="1200" dirty="0">
                <a:solidFill>
                  <a:schemeClr val="tx1"/>
                </a:solidFill>
                <a:effectLst/>
                <a:latin typeface="+mn-lt"/>
                <a:ea typeface="+mn-ea"/>
                <a:cs typeface="+mn-cs"/>
              </a:rPr>
              <a:t>目标</a:t>
            </a:r>
            <a:r>
              <a:rPr lang="en-US" altLang="zh-CN" sz="1200" b="0" i="0" kern="1200" dirty="0">
                <a:solidFill>
                  <a:schemeClr val="tx1"/>
                </a:solidFill>
                <a:effectLst/>
                <a:latin typeface="+mn-lt"/>
                <a:ea typeface="+mn-ea"/>
                <a:cs typeface="+mn-cs"/>
              </a:rPr>
              <a:t>1</a:t>
            </a:r>
            <a:r>
              <a:rPr lang="zh-CN" altLang="en-US" sz="1200" b="0" i="0" kern="1200" dirty="0">
                <a:solidFill>
                  <a:schemeClr val="tx1"/>
                </a:solidFill>
                <a:effectLst/>
                <a:latin typeface="+mn-lt"/>
                <a:ea typeface="+mn-ea"/>
                <a:cs typeface="+mn-cs"/>
              </a:rPr>
              <a:t>和</a:t>
            </a:r>
            <a:r>
              <a:rPr lang="en-US" altLang="zh-CN" sz="1200" b="0" i="0" kern="1200" dirty="0">
                <a:solidFill>
                  <a:schemeClr val="tx1"/>
                </a:solidFill>
                <a:effectLst/>
                <a:latin typeface="+mn-lt"/>
                <a:ea typeface="+mn-ea"/>
                <a:cs typeface="+mn-cs"/>
              </a:rPr>
              <a:t>2</a:t>
            </a:r>
            <a:r>
              <a:rPr lang="zh-CN" altLang="en-US" sz="1200" b="0" i="0" kern="1200" dirty="0">
                <a:solidFill>
                  <a:schemeClr val="tx1"/>
                </a:solidFill>
                <a:effectLst/>
                <a:latin typeface="+mn-lt"/>
                <a:ea typeface="+mn-ea"/>
                <a:cs typeface="+mn-cs"/>
              </a:rPr>
              <a:t>是它的</a:t>
            </a:r>
            <a:r>
              <a:rPr lang="zh-CN" altLang="en-US" sz="1200" b="1" i="0" kern="1200" dirty="0">
                <a:solidFill>
                  <a:schemeClr val="tx1"/>
                </a:solidFill>
                <a:effectLst/>
                <a:latin typeface="+mn-lt"/>
                <a:ea typeface="+mn-ea"/>
                <a:cs typeface="+mn-cs"/>
              </a:rPr>
              <a:t>核心检测功能</a:t>
            </a:r>
            <a:r>
              <a:rPr lang="zh-CN" altLang="en-US" sz="1200" b="0" i="0" kern="1200" dirty="0">
                <a:solidFill>
                  <a:schemeClr val="tx1"/>
                </a:solidFill>
                <a:effectLst/>
                <a:latin typeface="+mn-lt"/>
                <a:ea typeface="+mn-ea"/>
                <a:cs typeface="+mn-cs"/>
              </a:rPr>
              <a:t>，确保软件做“对”了事。</a:t>
            </a:r>
          </a:p>
          <a:p>
            <a:r>
              <a:rPr lang="zh-CN" altLang="en-US" sz="1200" b="0" i="0" kern="1200" dirty="0">
                <a:solidFill>
                  <a:schemeClr val="tx1"/>
                </a:solidFill>
                <a:effectLst/>
                <a:latin typeface="+mn-lt"/>
                <a:ea typeface="+mn-ea"/>
                <a:cs typeface="+mn-cs"/>
              </a:rPr>
              <a:t>目标</a:t>
            </a:r>
            <a:r>
              <a:rPr lang="en-US" altLang="zh-CN" sz="1200" b="0" i="0" kern="1200" dirty="0">
                <a:solidFill>
                  <a:schemeClr val="tx1"/>
                </a:solidFill>
                <a:effectLst/>
                <a:latin typeface="+mn-lt"/>
                <a:ea typeface="+mn-ea"/>
                <a:cs typeface="+mn-cs"/>
              </a:rPr>
              <a:t>3</a:t>
            </a:r>
            <a:r>
              <a:rPr lang="zh-CN" altLang="en-US" sz="1200" b="0" i="0" kern="1200" dirty="0">
                <a:solidFill>
                  <a:schemeClr val="tx1"/>
                </a:solidFill>
                <a:effectLst/>
                <a:latin typeface="+mn-lt"/>
                <a:ea typeface="+mn-ea"/>
                <a:cs typeface="+mn-cs"/>
              </a:rPr>
              <a:t>和</a:t>
            </a:r>
            <a:r>
              <a:rPr lang="en-US" altLang="zh-CN" sz="1200" b="0" i="0" kern="1200" dirty="0">
                <a:solidFill>
                  <a:schemeClr val="tx1"/>
                </a:solidFill>
                <a:effectLst/>
                <a:latin typeface="+mn-lt"/>
                <a:ea typeface="+mn-ea"/>
                <a:cs typeface="+mn-cs"/>
              </a:rPr>
              <a:t>4</a:t>
            </a:r>
            <a:r>
              <a:rPr lang="zh-CN" altLang="en-US" sz="1200" b="0" i="0" kern="1200" dirty="0">
                <a:solidFill>
                  <a:schemeClr val="tx1"/>
                </a:solidFill>
                <a:effectLst/>
                <a:latin typeface="+mn-lt"/>
                <a:ea typeface="+mn-ea"/>
                <a:cs typeface="+mn-cs"/>
              </a:rPr>
              <a:t>是它的</a:t>
            </a:r>
            <a:r>
              <a:rPr lang="zh-CN" altLang="en-US" sz="1200" b="1" i="0" kern="1200" dirty="0">
                <a:solidFill>
                  <a:schemeClr val="tx1"/>
                </a:solidFill>
                <a:effectLst/>
                <a:latin typeface="+mn-lt"/>
                <a:ea typeface="+mn-ea"/>
                <a:cs typeface="+mn-cs"/>
              </a:rPr>
              <a:t>过程规范功能</a:t>
            </a:r>
            <a:r>
              <a:rPr lang="zh-CN" altLang="en-US" sz="1200" b="0" i="0" kern="1200" dirty="0">
                <a:solidFill>
                  <a:schemeClr val="tx1"/>
                </a:solidFill>
                <a:effectLst/>
                <a:latin typeface="+mn-lt"/>
                <a:ea typeface="+mn-ea"/>
                <a:cs typeface="+mn-cs"/>
              </a:rPr>
              <a:t>，确保大家以“正确”的方式做事，保证项目的一致性和可维护性。</a:t>
            </a:r>
          </a:p>
          <a:p>
            <a:r>
              <a:rPr lang="zh-CN" altLang="en-US" sz="1200" b="0" i="0" kern="1200" dirty="0">
                <a:solidFill>
                  <a:schemeClr val="tx1"/>
                </a:solidFill>
                <a:effectLst/>
                <a:latin typeface="+mn-lt"/>
                <a:ea typeface="+mn-ea"/>
                <a:cs typeface="+mn-cs"/>
              </a:rPr>
              <a:t>最终，所有这些都汇集成目标</a:t>
            </a:r>
            <a:r>
              <a:rPr lang="en-US" altLang="zh-CN" sz="1200" b="0" i="0" kern="1200" dirty="0">
                <a:solidFill>
                  <a:schemeClr val="tx1"/>
                </a:solidFill>
                <a:effectLst/>
                <a:latin typeface="+mn-lt"/>
                <a:ea typeface="+mn-ea"/>
                <a:cs typeface="+mn-cs"/>
              </a:rPr>
              <a:t>5</a:t>
            </a:r>
            <a:r>
              <a:rPr lang="zh-CN" altLang="en-US" sz="1200" b="0"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提升项目的可控性</a:t>
            </a:r>
            <a:r>
              <a:rPr lang="zh-CN" altLang="en-US" sz="1200" b="0" i="0" kern="1200" dirty="0">
                <a:solidFill>
                  <a:schemeClr val="tx1"/>
                </a:solidFill>
                <a:effectLst/>
                <a:latin typeface="+mn-lt"/>
                <a:ea typeface="+mn-ea"/>
                <a:cs typeface="+mn-cs"/>
              </a:rPr>
              <a:t>，通过提前暴露风险，让项目经理对项目的健康状况有更清晰的了解。</a:t>
            </a:r>
          </a:p>
          <a:p>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核心主题</a:t>
            </a:r>
            <a:r>
              <a:rPr lang="en-US" altLang="zh-CN" sz="1200" b="0" i="0" kern="1200" dirty="0">
                <a:solidFill>
                  <a:schemeClr val="tx1"/>
                </a:solidFill>
                <a:effectLst/>
                <a:latin typeface="+mn-lt"/>
                <a:ea typeface="+mn-ea"/>
                <a:cs typeface="+mn-cs"/>
              </a:rPr>
              <a:t>】</a:t>
            </a:r>
            <a:br>
              <a:rPr lang="en-US" altLang="zh-CN" sz="1200" b="0" i="0" kern="1200" dirty="0">
                <a:solidFill>
                  <a:schemeClr val="tx1"/>
                </a:solidFill>
                <a:effectLst/>
                <a:latin typeface="+mn-lt"/>
                <a:ea typeface="+mn-ea"/>
                <a:cs typeface="+mn-cs"/>
              </a:rPr>
            </a:br>
            <a:r>
              <a:rPr lang="zh-CN" altLang="en-US" sz="1200" b="0" i="0" kern="1200" dirty="0">
                <a:solidFill>
                  <a:schemeClr val="tx1"/>
                </a:solidFill>
                <a:effectLst/>
                <a:latin typeface="+mn-lt"/>
                <a:ea typeface="+mn-ea"/>
                <a:cs typeface="+mn-cs"/>
              </a:rPr>
              <a:t>阐述正式技术评审的多个核心目标，说明其超越“找错误”的更深层价值。</a:t>
            </a:r>
          </a:p>
          <a:p>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要点</a:t>
            </a:r>
            <a:r>
              <a:rPr lang="en-US" altLang="zh-CN" sz="1200" b="0" i="0" kern="1200" dirty="0">
                <a:solidFill>
                  <a:schemeClr val="tx1"/>
                </a:solidFill>
                <a:effectLst/>
                <a:latin typeface="+mn-lt"/>
                <a:ea typeface="+mn-ea"/>
                <a:cs typeface="+mn-cs"/>
              </a:rPr>
              <a:t>】</a:t>
            </a:r>
          </a:p>
          <a:p>
            <a:r>
              <a:rPr lang="en-US" altLang="zh-CN" sz="1200" b="0" i="0" kern="1200" dirty="0">
                <a:solidFill>
                  <a:schemeClr val="tx1"/>
                </a:solidFill>
                <a:effectLst/>
                <a:latin typeface="+mn-lt"/>
                <a:ea typeface="+mn-ea"/>
                <a:cs typeface="+mn-cs"/>
              </a:rPr>
              <a:t>FTR</a:t>
            </a:r>
            <a:r>
              <a:rPr lang="zh-CN" altLang="en-US" sz="1200" b="0" i="0" kern="1200" dirty="0">
                <a:solidFill>
                  <a:schemeClr val="tx1"/>
                </a:solidFill>
                <a:effectLst/>
                <a:latin typeface="+mn-lt"/>
                <a:ea typeface="+mn-ea"/>
                <a:cs typeface="+mn-cs"/>
              </a:rPr>
              <a:t>旨在发现错误、验证需求、保证符合标准。</a:t>
            </a:r>
          </a:p>
          <a:p>
            <a:r>
              <a:rPr lang="zh-CN" altLang="en-US" sz="1200" b="0" i="0" kern="1200" dirty="0">
                <a:solidFill>
                  <a:schemeClr val="tx1"/>
                </a:solidFill>
                <a:effectLst/>
                <a:latin typeface="+mn-lt"/>
                <a:ea typeface="+mn-ea"/>
                <a:cs typeface="+mn-cs"/>
              </a:rPr>
              <a:t>它促进开发的统一性，增强项目的可管理性。</a:t>
            </a:r>
          </a:p>
          <a:p>
            <a:r>
              <a:rPr lang="en-US" altLang="zh-CN" sz="1200" b="0" i="0" kern="1200" dirty="0">
                <a:solidFill>
                  <a:schemeClr val="tx1"/>
                </a:solidFill>
                <a:effectLst/>
                <a:latin typeface="+mn-lt"/>
                <a:ea typeface="+mn-ea"/>
                <a:cs typeface="+mn-cs"/>
              </a:rPr>
              <a:t>FTR</a:t>
            </a:r>
            <a:r>
              <a:rPr lang="zh-CN" altLang="en-US" sz="1200" b="0" i="0" kern="1200" dirty="0">
                <a:solidFill>
                  <a:schemeClr val="tx1"/>
                </a:solidFill>
                <a:effectLst/>
                <a:latin typeface="+mn-lt"/>
                <a:ea typeface="+mn-ea"/>
                <a:cs typeface="+mn-cs"/>
              </a:rPr>
              <a:t>是系统性的质量保障活动，而非简单的找</a:t>
            </a:r>
            <a:r>
              <a:rPr lang="en-US" altLang="zh-CN" sz="1200" b="0" i="0" kern="1200" dirty="0">
                <a:solidFill>
                  <a:schemeClr val="tx1"/>
                </a:solidFill>
                <a:effectLst/>
                <a:latin typeface="+mn-lt"/>
                <a:ea typeface="+mn-ea"/>
                <a:cs typeface="+mn-cs"/>
              </a:rPr>
              <a:t>bug</a:t>
            </a:r>
            <a:r>
              <a:rPr lang="zh-CN" altLang="en-US" sz="1200" b="0" i="0" kern="1200" dirty="0">
                <a:solidFill>
                  <a:schemeClr val="tx1"/>
                </a:solidFill>
                <a:effectLst/>
                <a:latin typeface="+mn-lt"/>
                <a:ea typeface="+mn-ea"/>
                <a:cs typeface="+mn-cs"/>
              </a:rPr>
              <a:t>。</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E4B6AE-7098-403F-8DB1-EA205D7E25B7}"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19102858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逻辑</a:t>
            </a:r>
            <a:r>
              <a:rPr lang="en-US" altLang="zh-CN" sz="1200" b="0" i="0" kern="1200" dirty="0">
                <a:solidFill>
                  <a:schemeClr val="tx1"/>
                </a:solidFill>
                <a:effectLst/>
                <a:latin typeface="+mn-lt"/>
                <a:ea typeface="+mn-ea"/>
                <a:cs typeface="+mn-cs"/>
              </a:rPr>
              <a:t>】</a:t>
            </a:r>
            <a:br>
              <a:rPr lang="en-US" altLang="zh-CN" sz="1200" b="0" i="0" kern="1200" dirty="0">
                <a:solidFill>
                  <a:schemeClr val="tx1"/>
                </a:solidFill>
                <a:effectLst/>
                <a:latin typeface="+mn-lt"/>
                <a:ea typeface="+mn-ea"/>
                <a:cs typeface="+mn-cs"/>
              </a:rPr>
            </a:br>
            <a:r>
              <a:rPr lang="zh-CN" altLang="en-US" sz="1200" b="0" i="0" kern="1200" dirty="0">
                <a:solidFill>
                  <a:schemeClr val="tx1"/>
                </a:solidFill>
                <a:effectLst/>
                <a:latin typeface="+mn-lt"/>
                <a:ea typeface="+mn-ea"/>
                <a:cs typeface="+mn-cs"/>
              </a:rPr>
              <a:t>除了流程和角色，评审要成功，所有参与者还需要遵守一些重要的行为准则。这些指南是确保评审在积极、专业、高效的氛围中进行的软性保障。</a:t>
            </a:r>
          </a:p>
          <a:p>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内容翻译</a:t>
            </a:r>
            <a:r>
              <a:rPr lang="en-US" altLang="zh-CN" sz="1200" b="0" i="0" kern="1200" dirty="0">
                <a:solidFill>
                  <a:schemeClr val="tx1"/>
                </a:solidFill>
                <a:effectLst/>
                <a:latin typeface="+mn-lt"/>
                <a:ea typeface="+mn-ea"/>
                <a:cs typeface="+mn-cs"/>
              </a:rPr>
              <a:t>】</a:t>
            </a:r>
          </a:p>
          <a:p>
            <a:r>
              <a:rPr lang="zh-CN" altLang="en-US" sz="1200" b="0" i="0" kern="1200" dirty="0">
                <a:solidFill>
                  <a:schemeClr val="tx1"/>
                </a:solidFill>
                <a:effectLst/>
                <a:latin typeface="+mn-lt"/>
                <a:ea typeface="+mn-ea"/>
                <a:cs typeface="+mn-cs"/>
              </a:rPr>
              <a:t>评审产品，而非评审生产者。</a:t>
            </a:r>
          </a:p>
          <a:p>
            <a:r>
              <a:rPr lang="zh-CN" altLang="en-US" sz="1200" b="0" i="0" kern="1200" dirty="0">
                <a:solidFill>
                  <a:schemeClr val="tx1"/>
                </a:solidFill>
                <a:effectLst/>
                <a:latin typeface="+mn-lt"/>
                <a:ea typeface="+mn-ea"/>
                <a:cs typeface="+mn-cs"/>
              </a:rPr>
              <a:t>设定议程并遵循它。</a:t>
            </a:r>
          </a:p>
          <a:p>
            <a:r>
              <a:rPr lang="zh-CN" altLang="en-US" sz="1200" b="0" i="0" kern="1200" dirty="0">
                <a:solidFill>
                  <a:schemeClr val="tx1"/>
                </a:solidFill>
                <a:effectLst/>
                <a:latin typeface="+mn-lt"/>
                <a:ea typeface="+mn-ea"/>
                <a:cs typeface="+mn-cs"/>
              </a:rPr>
              <a:t>限制争论和反驳。</a:t>
            </a:r>
          </a:p>
          <a:p>
            <a:r>
              <a:rPr lang="zh-CN" altLang="en-US" sz="1200" b="0" i="0" kern="1200" dirty="0">
                <a:solidFill>
                  <a:schemeClr val="tx1"/>
                </a:solidFill>
                <a:effectLst/>
                <a:latin typeface="+mn-lt"/>
                <a:ea typeface="+mn-ea"/>
                <a:cs typeface="+mn-cs"/>
              </a:rPr>
              <a:t>指明问题区域，但不要试图解决每一个被注意到的问题。</a:t>
            </a:r>
          </a:p>
          <a:p>
            <a:r>
              <a:rPr lang="zh-CN" altLang="en-US" sz="1200" b="0" i="0" kern="1200" dirty="0">
                <a:solidFill>
                  <a:schemeClr val="tx1"/>
                </a:solidFill>
                <a:effectLst/>
                <a:latin typeface="+mn-lt"/>
                <a:ea typeface="+mn-ea"/>
                <a:cs typeface="+mn-cs"/>
              </a:rPr>
              <a:t>做好书面记录。</a:t>
            </a:r>
          </a:p>
          <a:p>
            <a:r>
              <a:rPr lang="zh-CN" altLang="en-US" sz="1200" b="0" i="0" kern="1200" dirty="0">
                <a:solidFill>
                  <a:schemeClr val="tx1"/>
                </a:solidFill>
                <a:effectLst/>
                <a:latin typeface="+mn-lt"/>
                <a:ea typeface="+mn-ea"/>
                <a:cs typeface="+mn-cs"/>
              </a:rPr>
              <a:t>限制参与者人数并坚持会前准备。</a:t>
            </a:r>
          </a:p>
          <a:p>
            <a:r>
              <a:rPr lang="zh-CN" altLang="en-US" sz="1200" b="0" i="0" kern="1200" dirty="0">
                <a:solidFill>
                  <a:schemeClr val="tx1"/>
                </a:solidFill>
                <a:effectLst/>
                <a:latin typeface="+mn-lt"/>
                <a:ea typeface="+mn-ea"/>
                <a:cs typeface="+mn-cs"/>
              </a:rPr>
              <a:t>为每个可能被评审的产品制定检查表。</a:t>
            </a:r>
          </a:p>
          <a:p>
            <a:r>
              <a:rPr lang="zh-CN" altLang="en-US" sz="1200" b="0" i="0" kern="1200" dirty="0">
                <a:solidFill>
                  <a:schemeClr val="tx1"/>
                </a:solidFill>
                <a:effectLst/>
                <a:latin typeface="+mn-lt"/>
                <a:ea typeface="+mn-ea"/>
                <a:cs typeface="+mn-cs"/>
              </a:rPr>
              <a:t>为正式技术评审分配资源和安排时间。</a:t>
            </a:r>
          </a:p>
          <a:p>
            <a:r>
              <a:rPr lang="zh-CN" altLang="en-US" sz="1200" b="0" i="0" kern="1200" dirty="0">
                <a:solidFill>
                  <a:schemeClr val="tx1"/>
                </a:solidFill>
                <a:effectLst/>
                <a:latin typeface="+mn-lt"/>
                <a:ea typeface="+mn-ea"/>
                <a:cs typeface="+mn-cs"/>
              </a:rPr>
              <a:t>为所有评审员开展有意义的培训。</a:t>
            </a:r>
          </a:p>
          <a:p>
            <a:r>
              <a:rPr lang="zh-CN" altLang="en-US" sz="1200" b="0" i="0" kern="1200" dirty="0">
                <a:solidFill>
                  <a:schemeClr val="tx1"/>
                </a:solidFill>
                <a:effectLst/>
                <a:latin typeface="+mn-lt"/>
                <a:ea typeface="+mn-ea"/>
                <a:cs typeface="+mn-cs"/>
              </a:rPr>
              <a:t>评审你早期的评审（持续改进）。</a:t>
            </a:r>
          </a:p>
          <a:p>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解释</a:t>
            </a:r>
            <a:r>
              <a:rPr lang="en-US" altLang="zh-CN" sz="1200" b="0" i="0" kern="1200" dirty="0">
                <a:solidFill>
                  <a:schemeClr val="tx1"/>
                </a:solidFill>
                <a:effectLst/>
                <a:latin typeface="+mn-lt"/>
                <a:ea typeface="+mn-ea"/>
                <a:cs typeface="+mn-cs"/>
              </a:rPr>
              <a:t>】</a:t>
            </a:r>
            <a:br>
              <a:rPr lang="en-US" altLang="zh-CN" sz="1200" b="0" i="0" kern="1200" dirty="0">
                <a:solidFill>
                  <a:schemeClr val="tx1"/>
                </a:solidFill>
                <a:effectLst/>
                <a:latin typeface="+mn-lt"/>
                <a:ea typeface="+mn-ea"/>
                <a:cs typeface="+mn-cs"/>
              </a:rPr>
            </a:br>
            <a:r>
              <a:rPr lang="zh-CN" altLang="en-US" sz="1200" b="0" i="0" kern="1200" dirty="0">
                <a:solidFill>
                  <a:schemeClr val="tx1"/>
                </a:solidFill>
                <a:effectLst/>
                <a:latin typeface="+mn-lt"/>
                <a:ea typeface="+mn-ea"/>
                <a:cs typeface="+mn-cs"/>
              </a:rPr>
              <a:t>这些指南是评审文化的精髓。</a:t>
            </a:r>
          </a:p>
          <a:p>
            <a:r>
              <a:rPr lang="zh-CN" altLang="en-US" sz="1200" b="1" i="0" kern="1200" dirty="0">
                <a:solidFill>
                  <a:schemeClr val="tx1"/>
                </a:solidFill>
                <a:effectLst/>
                <a:latin typeface="+mn-lt"/>
                <a:ea typeface="+mn-ea"/>
                <a:cs typeface="+mn-cs"/>
              </a:rPr>
              <a:t>“评审产品，不评审人”</a:t>
            </a:r>
            <a:r>
              <a:rPr lang="zh-CN" altLang="en-US" sz="1200" b="0" i="0" kern="1200" dirty="0">
                <a:solidFill>
                  <a:schemeClr val="tx1"/>
                </a:solidFill>
                <a:effectLst/>
                <a:latin typeface="+mn-lt"/>
                <a:ea typeface="+mn-ea"/>
                <a:cs typeface="+mn-cs"/>
              </a:rPr>
              <a:t> 是最重要的原则，旨在营造安全的心理环境，让生产者不怕暴露错误。</a:t>
            </a:r>
          </a:p>
          <a:p>
            <a:r>
              <a:rPr lang="zh-CN" altLang="en-US" sz="1200" b="1" i="0" kern="1200" dirty="0">
                <a:solidFill>
                  <a:schemeClr val="tx1"/>
                </a:solidFill>
                <a:effectLst/>
                <a:latin typeface="+mn-lt"/>
                <a:ea typeface="+mn-ea"/>
                <a:cs typeface="+mn-cs"/>
              </a:rPr>
              <a:t>“限制争论和反驳”</a:t>
            </a:r>
            <a:r>
              <a:rPr lang="zh-CN" altLang="en-US" sz="1200" b="0" i="0" kern="1200" dirty="0">
                <a:solidFill>
                  <a:schemeClr val="tx1"/>
                </a:solidFill>
                <a:effectLst/>
                <a:latin typeface="+mn-lt"/>
                <a:ea typeface="+mn-ea"/>
                <a:cs typeface="+mn-cs"/>
              </a:rPr>
              <a:t> 和 </a:t>
            </a:r>
            <a:r>
              <a:rPr lang="zh-CN" altLang="en-US" sz="1200" b="1" i="0" kern="1200" dirty="0">
                <a:solidFill>
                  <a:schemeClr val="tx1"/>
                </a:solidFill>
                <a:effectLst/>
                <a:latin typeface="+mn-lt"/>
                <a:ea typeface="+mn-ea"/>
                <a:cs typeface="+mn-cs"/>
              </a:rPr>
              <a:t>“不现场解决问题”</a:t>
            </a:r>
            <a:r>
              <a:rPr lang="zh-CN" altLang="en-US" sz="1200" b="0" i="0" kern="1200" dirty="0">
                <a:solidFill>
                  <a:schemeClr val="tx1"/>
                </a:solidFill>
                <a:effectLst/>
                <a:latin typeface="+mn-lt"/>
                <a:ea typeface="+mn-ea"/>
                <a:cs typeface="+mn-cs"/>
              </a:rPr>
              <a:t> 是为了保持会议聚焦于“发现问题”，而不是陷入技术辩论或解决方案设计中，这能极大提高会议效率。</a:t>
            </a:r>
          </a:p>
          <a:p>
            <a:r>
              <a:rPr lang="zh-CN" altLang="en-US" sz="1200" b="1" i="0" kern="1200" dirty="0">
                <a:solidFill>
                  <a:schemeClr val="tx1"/>
                </a:solidFill>
                <a:effectLst/>
                <a:latin typeface="+mn-lt"/>
                <a:ea typeface="+mn-ea"/>
                <a:cs typeface="+mn-cs"/>
              </a:rPr>
              <a:t>“使用检查表”</a:t>
            </a:r>
            <a:r>
              <a:rPr lang="zh-CN" altLang="en-US" sz="1200" b="0" i="0" kern="1200" dirty="0">
                <a:solidFill>
                  <a:schemeClr val="tx1"/>
                </a:solidFill>
                <a:effectLst/>
                <a:latin typeface="+mn-lt"/>
                <a:ea typeface="+mn-ea"/>
                <a:cs typeface="+mn-cs"/>
              </a:rPr>
              <a:t> 和 </a:t>
            </a:r>
            <a:r>
              <a:rPr lang="zh-CN" altLang="en-US" sz="1200" b="1" i="0" kern="1200" dirty="0">
                <a:solidFill>
                  <a:schemeClr val="tx1"/>
                </a:solidFill>
                <a:effectLst/>
                <a:latin typeface="+mn-lt"/>
                <a:ea typeface="+mn-ea"/>
                <a:cs typeface="+mn-cs"/>
              </a:rPr>
              <a:t>“进行培训”</a:t>
            </a:r>
            <a:r>
              <a:rPr lang="zh-CN" altLang="en-US" sz="1200" b="0" i="0" kern="1200" dirty="0">
                <a:solidFill>
                  <a:schemeClr val="tx1"/>
                </a:solidFill>
                <a:effectLst/>
                <a:latin typeface="+mn-lt"/>
                <a:ea typeface="+mn-ea"/>
                <a:cs typeface="+mn-cs"/>
              </a:rPr>
              <a:t> 是提升评审效果的专业做法。</a:t>
            </a:r>
          </a:p>
          <a:p>
            <a:r>
              <a:rPr lang="zh-CN" altLang="en-US" sz="1200" b="0" i="0" kern="1200" dirty="0">
                <a:solidFill>
                  <a:schemeClr val="tx1"/>
                </a:solidFill>
                <a:effectLst/>
                <a:latin typeface="+mn-lt"/>
                <a:ea typeface="+mn-ea"/>
                <a:cs typeface="+mn-cs"/>
              </a:rPr>
              <a:t>最后，</a:t>
            </a:r>
            <a:r>
              <a:rPr lang="zh-CN" altLang="en-US" sz="1200" b="1" i="0" kern="1200" dirty="0">
                <a:solidFill>
                  <a:schemeClr val="tx1"/>
                </a:solidFill>
                <a:effectLst/>
                <a:latin typeface="+mn-lt"/>
                <a:ea typeface="+mn-ea"/>
                <a:cs typeface="+mn-cs"/>
              </a:rPr>
              <a:t>“为评审分配资源”</a:t>
            </a:r>
            <a:r>
              <a:rPr lang="zh-CN" altLang="en-US" sz="1200" b="0" i="0" kern="1200" dirty="0">
                <a:solidFill>
                  <a:schemeClr val="tx1"/>
                </a:solidFill>
                <a:effectLst/>
                <a:latin typeface="+mn-lt"/>
                <a:ea typeface="+mn-ea"/>
                <a:cs typeface="+mn-cs"/>
              </a:rPr>
              <a:t> 意味着评审不是可有可无的活动，而是项目计划中必须包含的任务。</a:t>
            </a:r>
          </a:p>
          <a:p>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核心主题</a:t>
            </a:r>
            <a:r>
              <a:rPr lang="en-US" altLang="zh-CN" sz="1200" b="0" i="0" kern="1200" dirty="0">
                <a:solidFill>
                  <a:schemeClr val="tx1"/>
                </a:solidFill>
                <a:effectLst/>
                <a:latin typeface="+mn-lt"/>
                <a:ea typeface="+mn-ea"/>
                <a:cs typeface="+mn-cs"/>
              </a:rPr>
              <a:t>】</a:t>
            </a:r>
            <a:br>
              <a:rPr lang="en-US" altLang="zh-CN" sz="1200" b="0" i="0" kern="1200" dirty="0">
                <a:solidFill>
                  <a:schemeClr val="tx1"/>
                </a:solidFill>
                <a:effectLst/>
                <a:latin typeface="+mn-lt"/>
                <a:ea typeface="+mn-ea"/>
                <a:cs typeface="+mn-cs"/>
              </a:rPr>
            </a:br>
            <a:r>
              <a:rPr lang="zh-CN" altLang="en-US" sz="1200" b="0" i="0" kern="1200" dirty="0">
                <a:solidFill>
                  <a:schemeClr val="tx1"/>
                </a:solidFill>
                <a:effectLst/>
                <a:latin typeface="+mn-lt"/>
                <a:ea typeface="+mn-ea"/>
                <a:cs typeface="+mn-cs"/>
              </a:rPr>
              <a:t>列出成功实施评审所需遵循的关键行为准则和最佳实践，强调文化和纪律的重要性。</a:t>
            </a:r>
          </a:p>
          <a:p>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要点</a:t>
            </a:r>
            <a:r>
              <a:rPr lang="en-US" altLang="zh-CN" sz="1200" b="0" i="0" kern="1200" dirty="0">
                <a:solidFill>
                  <a:schemeClr val="tx1"/>
                </a:solidFill>
                <a:effectLst/>
                <a:latin typeface="+mn-lt"/>
                <a:ea typeface="+mn-ea"/>
                <a:cs typeface="+mn-cs"/>
              </a:rPr>
              <a:t>】</a:t>
            </a:r>
          </a:p>
          <a:p>
            <a:r>
              <a:rPr lang="zh-CN" altLang="en-US" sz="1200" b="0" i="0" kern="1200" dirty="0">
                <a:solidFill>
                  <a:schemeClr val="tx1"/>
                </a:solidFill>
                <a:effectLst/>
                <a:latin typeface="+mn-lt"/>
                <a:ea typeface="+mn-ea"/>
                <a:cs typeface="+mn-cs"/>
              </a:rPr>
              <a:t>核心文化：对事不对人，保持建设性。</a:t>
            </a:r>
          </a:p>
          <a:p>
            <a:r>
              <a:rPr lang="zh-CN" altLang="en-US" sz="1200" b="0" i="0" kern="1200" dirty="0">
                <a:solidFill>
                  <a:schemeClr val="tx1"/>
                </a:solidFill>
                <a:effectLst/>
                <a:latin typeface="+mn-lt"/>
                <a:ea typeface="+mn-ea"/>
                <a:cs typeface="+mn-cs"/>
              </a:rPr>
              <a:t>效率关键：聚焦发现問題、限制争论、遵守议程。</a:t>
            </a:r>
          </a:p>
          <a:p>
            <a:r>
              <a:rPr lang="zh-CN" altLang="en-US" sz="1200" b="0" i="0" kern="1200" dirty="0">
                <a:solidFill>
                  <a:schemeClr val="tx1"/>
                </a:solidFill>
                <a:effectLst/>
                <a:latin typeface="+mn-lt"/>
                <a:ea typeface="+mn-ea"/>
                <a:cs typeface="+mn-cs"/>
              </a:rPr>
              <a:t>成功保障：做好准备、使用检查表、分配资源、持续改进。</a:t>
            </a:r>
          </a:p>
          <a:p>
            <a:br>
              <a:rPr lang="zh-CN" altLang="en-US" dirty="0"/>
            </a:b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FE4B6AE-7098-403F-8DB1-EA205D7E25B7}"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41586061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逻辑过渡</a:t>
            </a:r>
            <a:r>
              <a:rPr lang="en-US" altLang="zh-CN" sz="1200" b="1" i="0" kern="1200" dirty="0">
                <a:solidFill>
                  <a:schemeClr val="tx1"/>
                </a:solidFill>
                <a:effectLst/>
                <a:latin typeface="+mn-lt"/>
                <a:ea typeface="+mn-ea"/>
                <a:cs typeface="+mn-cs"/>
              </a:rPr>
              <a:t>】</a:t>
            </a:r>
            <a:br>
              <a:rPr lang="zh-CN" altLang="en-US" sz="1200" b="0" i="0" kern="1200" dirty="0">
                <a:solidFill>
                  <a:schemeClr val="tx1"/>
                </a:solidFill>
                <a:effectLst/>
                <a:latin typeface="+mn-lt"/>
                <a:ea typeface="+mn-ea"/>
                <a:cs typeface="+mn-cs"/>
              </a:rPr>
            </a:br>
            <a:r>
              <a:rPr lang="zh-CN" altLang="en-US" sz="1200" b="0" i="0" kern="1200" dirty="0">
                <a:solidFill>
                  <a:schemeClr val="tx1"/>
                </a:solidFill>
                <a:effectLst/>
                <a:latin typeface="+mn-lt"/>
                <a:ea typeface="+mn-ea"/>
                <a:cs typeface="+mn-cs"/>
              </a:rPr>
              <a:t>那么，如何将质量管理的理念落地呢？答案就是建立系统化的</a:t>
            </a:r>
            <a:r>
              <a:rPr lang="zh-CN" altLang="en-US" sz="1200" b="1" i="0" kern="1200" dirty="0">
                <a:solidFill>
                  <a:schemeClr val="tx1"/>
                </a:solidFill>
                <a:effectLst/>
                <a:latin typeface="+mn-lt"/>
                <a:ea typeface="+mn-ea"/>
                <a:cs typeface="+mn-cs"/>
              </a:rPr>
              <a:t>软件质量保证（</a:t>
            </a:r>
            <a:r>
              <a:rPr lang="en-US" altLang="zh-CN" sz="1200" b="1" i="0" kern="1200" dirty="0">
                <a:solidFill>
                  <a:schemeClr val="tx1"/>
                </a:solidFill>
                <a:effectLst/>
                <a:latin typeface="+mn-lt"/>
                <a:ea typeface="+mn-ea"/>
                <a:cs typeface="+mn-cs"/>
              </a:rPr>
              <a:t>SQA</a:t>
            </a:r>
            <a:r>
              <a:rPr lang="zh-CN" altLang="en-US" sz="1200" b="1"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 体系。接下来我们看看，这个体系具体由哪些核心要素构成。</a:t>
            </a:r>
          </a:p>
          <a:p>
            <a:r>
              <a:rPr lang="en-US" altLang="zh-CN" sz="1200" b="1"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内容讲解</a:t>
            </a:r>
            <a:r>
              <a:rPr lang="en-US" altLang="zh-CN" sz="1200" b="1" i="0" kern="1200" dirty="0">
                <a:solidFill>
                  <a:schemeClr val="tx1"/>
                </a:solidFill>
                <a:effectLst/>
                <a:latin typeface="+mn-lt"/>
                <a:ea typeface="+mn-ea"/>
                <a:cs typeface="+mn-cs"/>
              </a:rPr>
              <a:t>】</a:t>
            </a:r>
            <a:endParaRPr lang="zh-CN" altLang="en-US" sz="1200" b="0" i="0" kern="1200" dirty="0">
              <a:solidFill>
                <a:schemeClr val="tx1"/>
              </a:solidFill>
              <a:effectLst/>
              <a:latin typeface="+mn-lt"/>
              <a:ea typeface="+mn-ea"/>
              <a:cs typeface="+mn-cs"/>
            </a:endParaRPr>
          </a:p>
          <a:p>
            <a:r>
              <a:rPr lang="zh-CN" altLang="en-US" sz="1200" b="1" i="0" kern="1200" dirty="0">
                <a:solidFill>
                  <a:schemeClr val="tx1"/>
                </a:solidFill>
                <a:effectLst/>
                <a:latin typeface="+mn-lt"/>
                <a:ea typeface="+mn-ea"/>
                <a:cs typeface="+mn-cs"/>
              </a:rPr>
              <a:t>软件质量保证</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SQA</a:t>
            </a:r>
            <a:r>
              <a:rPr lang="zh-CN" altLang="en-US" sz="1200" b="0" i="0" kern="1200" dirty="0">
                <a:solidFill>
                  <a:schemeClr val="tx1"/>
                </a:solidFill>
                <a:effectLst/>
                <a:latin typeface="+mn-lt"/>
                <a:ea typeface="+mn-ea"/>
                <a:cs typeface="+mn-cs"/>
              </a:rPr>
              <a:t>是一套贯穿整个软件生命周期的活动体系，目的是为最终产品的质量提供</a:t>
            </a:r>
            <a:r>
              <a:rPr lang="zh-CN" altLang="en-US" sz="1200" b="1" i="0" kern="1200" dirty="0">
                <a:solidFill>
                  <a:schemeClr val="tx1"/>
                </a:solidFill>
                <a:effectLst/>
                <a:latin typeface="+mn-lt"/>
                <a:ea typeface="+mn-ea"/>
                <a:cs typeface="+mn-cs"/>
              </a:rPr>
              <a:t>过程和体系上的保障</a:t>
            </a:r>
            <a:r>
              <a:rPr lang="zh-CN" altLang="en-US" sz="1200" b="0" i="0" kern="1200" dirty="0">
                <a:solidFill>
                  <a:schemeClr val="tx1"/>
                </a:solidFill>
                <a:effectLst/>
                <a:latin typeface="+mn-lt"/>
                <a:ea typeface="+mn-ea"/>
                <a:cs typeface="+mn-cs"/>
              </a:rPr>
              <a:t>。</a:t>
            </a:r>
          </a:p>
          <a:p>
            <a:r>
              <a:rPr lang="zh-CN" altLang="en-US" sz="1200" b="1" i="0" kern="1200" dirty="0">
                <a:solidFill>
                  <a:schemeClr val="tx1"/>
                </a:solidFill>
                <a:effectLst/>
                <a:latin typeface="+mn-lt"/>
                <a:ea typeface="+mn-ea"/>
                <a:cs typeface="+mn-cs"/>
              </a:rPr>
              <a:t>标准</a:t>
            </a:r>
            <a:r>
              <a:rPr lang="zh-CN" altLang="en-US" sz="1200" b="0" i="0" kern="1200" dirty="0">
                <a:solidFill>
                  <a:schemeClr val="tx1"/>
                </a:solidFill>
                <a:effectLst/>
                <a:latin typeface="+mn-lt"/>
                <a:ea typeface="+mn-ea"/>
                <a:cs typeface="+mn-cs"/>
              </a:rPr>
              <a:t>：这是</a:t>
            </a:r>
            <a:r>
              <a:rPr lang="en-US" altLang="zh-CN" sz="1200" b="0" i="0" kern="1200" dirty="0">
                <a:solidFill>
                  <a:schemeClr val="tx1"/>
                </a:solidFill>
                <a:effectLst/>
                <a:latin typeface="+mn-lt"/>
                <a:ea typeface="+mn-ea"/>
                <a:cs typeface="+mn-cs"/>
              </a:rPr>
              <a:t>SQA</a:t>
            </a:r>
            <a:r>
              <a:rPr lang="zh-CN" altLang="en-US" sz="1200" b="0" i="0" kern="1200" dirty="0">
                <a:solidFill>
                  <a:schemeClr val="tx1"/>
                </a:solidFill>
                <a:effectLst/>
                <a:latin typeface="+mn-lt"/>
                <a:ea typeface="+mn-ea"/>
                <a:cs typeface="+mn-cs"/>
              </a:rPr>
              <a:t>的基础，它规定了开发中必须遵循的统一规范，确保工作的一致性和可衡量性。</a:t>
            </a:r>
          </a:p>
          <a:p>
            <a:r>
              <a:rPr lang="zh-CN" altLang="en-US" sz="1200" b="1" i="0" kern="1200" dirty="0">
                <a:solidFill>
                  <a:schemeClr val="tx1"/>
                </a:solidFill>
                <a:effectLst/>
                <a:latin typeface="+mn-lt"/>
                <a:ea typeface="+mn-ea"/>
                <a:cs typeface="+mn-cs"/>
              </a:rPr>
              <a:t>评审与审计</a:t>
            </a:r>
            <a:r>
              <a:rPr lang="zh-CN" altLang="en-US" sz="1200" b="0"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评审</a:t>
            </a:r>
            <a:r>
              <a:rPr lang="zh-CN" altLang="en-US" sz="1200" b="0" i="0" kern="1200" dirty="0">
                <a:solidFill>
                  <a:schemeClr val="tx1"/>
                </a:solidFill>
                <a:effectLst/>
                <a:latin typeface="+mn-lt"/>
                <a:ea typeface="+mn-ea"/>
                <a:cs typeface="+mn-cs"/>
              </a:rPr>
              <a:t>是检查工作产品（如文档、代码）的缺陷；</a:t>
            </a:r>
            <a:r>
              <a:rPr lang="zh-CN" altLang="en-US" sz="1200" b="1" i="0" kern="1200" dirty="0">
                <a:solidFill>
                  <a:schemeClr val="tx1"/>
                </a:solidFill>
                <a:effectLst/>
                <a:latin typeface="+mn-lt"/>
                <a:ea typeface="+mn-ea"/>
                <a:cs typeface="+mn-cs"/>
              </a:rPr>
              <a:t>审计</a:t>
            </a:r>
            <a:r>
              <a:rPr lang="zh-CN" altLang="en-US" sz="1200" b="0" i="0" kern="1200" dirty="0">
                <a:solidFill>
                  <a:schemeClr val="tx1"/>
                </a:solidFill>
                <a:effectLst/>
                <a:latin typeface="+mn-lt"/>
                <a:ea typeface="+mn-ea"/>
                <a:cs typeface="+mn-cs"/>
              </a:rPr>
              <a:t>是检查开发过程是否遵守了流程。它们是重要的质量检查手段。</a:t>
            </a:r>
          </a:p>
          <a:p>
            <a:r>
              <a:rPr lang="zh-CN" altLang="en-US" sz="1200" b="1" i="0" kern="1200" dirty="0">
                <a:solidFill>
                  <a:schemeClr val="tx1"/>
                </a:solidFill>
                <a:effectLst/>
                <a:latin typeface="+mn-lt"/>
                <a:ea typeface="+mn-ea"/>
                <a:cs typeface="+mn-cs"/>
              </a:rPr>
              <a:t>测试</a:t>
            </a:r>
            <a:r>
              <a:rPr lang="zh-CN" altLang="en-US" sz="1200" b="0" i="0" kern="1200" dirty="0">
                <a:solidFill>
                  <a:schemeClr val="tx1"/>
                </a:solidFill>
                <a:effectLst/>
                <a:latin typeface="+mn-lt"/>
                <a:ea typeface="+mn-ea"/>
                <a:cs typeface="+mn-cs"/>
              </a:rPr>
              <a:t>：通过执行软件来发现代码中的缺陷，是验证产品功能的直接活动。</a:t>
            </a:r>
          </a:p>
          <a:p>
            <a:r>
              <a:rPr lang="zh-CN" altLang="en-US" sz="1200" b="1" i="0" kern="1200" dirty="0">
                <a:solidFill>
                  <a:schemeClr val="tx1"/>
                </a:solidFill>
                <a:effectLst/>
                <a:latin typeface="+mn-lt"/>
                <a:ea typeface="+mn-ea"/>
                <a:cs typeface="+mn-cs"/>
              </a:rPr>
              <a:t>错误</a:t>
            </a:r>
            <a:r>
              <a:rPr lang="en-US" altLang="zh-CN" sz="1200" b="1"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缺陷收集与分析</a:t>
            </a:r>
            <a:r>
              <a:rPr lang="zh-CN" altLang="en-US" sz="1200" b="0" i="0" kern="1200" dirty="0">
                <a:solidFill>
                  <a:schemeClr val="tx1"/>
                </a:solidFill>
                <a:effectLst/>
                <a:latin typeface="+mn-lt"/>
                <a:ea typeface="+mn-ea"/>
                <a:cs typeface="+mn-cs"/>
              </a:rPr>
              <a:t>：系统性地收集、分析缺陷，找出根本原因，目的是</a:t>
            </a:r>
            <a:r>
              <a:rPr lang="zh-CN" altLang="en-US" sz="1200" b="1" i="0" kern="1200" dirty="0">
                <a:solidFill>
                  <a:schemeClr val="tx1"/>
                </a:solidFill>
                <a:effectLst/>
                <a:latin typeface="+mn-lt"/>
                <a:ea typeface="+mn-ea"/>
                <a:cs typeface="+mn-cs"/>
              </a:rPr>
              <a:t>预防</a:t>
            </a:r>
            <a:r>
              <a:rPr lang="zh-CN" altLang="en-US" sz="1200" b="0" i="0" kern="1200" dirty="0">
                <a:solidFill>
                  <a:schemeClr val="tx1"/>
                </a:solidFill>
                <a:effectLst/>
                <a:latin typeface="+mn-lt"/>
                <a:ea typeface="+mn-ea"/>
                <a:cs typeface="+mn-cs"/>
              </a:rPr>
              <a:t>其再次发生。</a:t>
            </a:r>
          </a:p>
          <a:p>
            <a:r>
              <a:rPr lang="zh-CN" altLang="en-US" sz="1200" b="1" i="0" kern="1200" dirty="0">
                <a:solidFill>
                  <a:schemeClr val="tx1"/>
                </a:solidFill>
                <a:effectLst/>
                <a:latin typeface="+mn-lt"/>
                <a:ea typeface="+mn-ea"/>
                <a:cs typeface="+mn-cs"/>
              </a:rPr>
              <a:t>变更管理</a:t>
            </a:r>
            <a:r>
              <a:rPr lang="zh-CN" altLang="en-US" sz="1200" b="0" i="0" kern="1200" dirty="0">
                <a:solidFill>
                  <a:schemeClr val="tx1"/>
                </a:solidFill>
                <a:effectLst/>
                <a:latin typeface="+mn-lt"/>
                <a:ea typeface="+mn-ea"/>
                <a:cs typeface="+mn-cs"/>
              </a:rPr>
              <a:t>：对任何修改进行严格控制、评估和记录，防止变更引入新的风险。</a:t>
            </a:r>
          </a:p>
          <a:p>
            <a:r>
              <a:rPr lang="zh-CN" altLang="en-US" sz="1200" b="1" i="0" kern="1200" dirty="0">
                <a:solidFill>
                  <a:schemeClr val="tx1"/>
                </a:solidFill>
                <a:effectLst/>
                <a:latin typeface="+mn-lt"/>
                <a:ea typeface="+mn-ea"/>
                <a:cs typeface="+mn-cs"/>
              </a:rPr>
              <a:t>教育</a:t>
            </a:r>
            <a:r>
              <a:rPr lang="zh-CN" altLang="en-US" sz="1200" b="0" i="0" kern="1200" dirty="0">
                <a:solidFill>
                  <a:schemeClr val="tx1"/>
                </a:solidFill>
                <a:effectLst/>
                <a:latin typeface="+mn-lt"/>
                <a:ea typeface="+mn-ea"/>
                <a:cs typeface="+mn-cs"/>
              </a:rPr>
              <a:t>：确保团队成员都具备必要的技能和知识，并理解质量流程。</a:t>
            </a:r>
            <a:r>
              <a:rPr lang="zh-CN" altLang="en-US" sz="1200" b="1" i="0" kern="1200" dirty="0">
                <a:solidFill>
                  <a:schemeClr val="tx1"/>
                </a:solidFill>
                <a:effectLst/>
                <a:latin typeface="+mn-lt"/>
                <a:ea typeface="+mn-ea"/>
                <a:cs typeface="+mn-cs"/>
              </a:rPr>
              <a:t>人是质量的核心</a:t>
            </a:r>
            <a:r>
              <a:rPr lang="zh-CN" altLang="en-US" sz="1200" b="0" i="0" kern="1200" dirty="0">
                <a:solidFill>
                  <a:schemeClr val="tx1"/>
                </a:solidFill>
                <a:effectLst/>
                <a:latin typeface="+mn-lt"/>
                <a:ea typeface="+mn-ea"/>
                <a:cs typeface="+mn-cs"/>
              </a:rPr>
              <a:t>。</a:t>
            </a:r>
          </a:p>
          <a:p>
            <a:r>
              <a:rPr lang="zh-CN" altLang="en-US" sz="1200" b="1" i="0" kern="1200" dirty="0">
                <a:solidFill>
                  <a:schemeClr val="tx1"/>
                </a:solidFill>
                <a:effectLst/>
                <a:latin typeface="+mn-lt"/>
                <a:ea typeface="+mn-ea"/>
                <a:cs typeface="+mn-cs"/>
              </a:rPr>
              <a:t>供应商管理</a:t>
            </a:r>
            <a:r>
              <a:rPr lang="zh-CN" altLang="en-US" sz="1200" b="0" i="0" kern="1200" dirty="0">
                <a:solidFill>
                  <a:schemeClr val="tx1"/>
                </a:solidFill>
                <a:effectLst/>
                <a:latin typeface="+mn-lt"/>
                <a:ea typeface="+mn-ea"/>
                <a:cs typeface="+mn-cs"/>
              </a:rPr>
              <a:t>：确保外部供应商提供的组件或服务也符合项目的质量要求。</a:t>
            </a:r>
          </a:p>
          <a:p>
            <a:r>
              <a:rPr lang="zh-CN" altLang="en-US" sz="1200" b="1" i="0" kern="1200" dirty="0">
                <a:solidFill>
                  <a:schemeClr val="tx1"/>
                </a:solidFill>
                <a:effectLst/>
                <a:latin typeface="+mn-lt"/>
                <a:ea typeface="+mn-ea"/>
                <a:cs typeface="+mn-cs"/>
              </a:rPr>
              <a:t>安全管理</a:t>
            </a:r>
            <a:r>
              <a:rPr lang="zh-CN" altLang="en-US" sz="1200" b="0" i="0" kern="1200" dirty="0">
                <a:solidFill>
                  <a:schemeClr val="tx1"/>
                </a:solidFill>
                <a:effectLst/>
                <a:latin typeface="+mn-lt"/>
                <a:ea typeface="+mn-ea"/>
                <a:cs typeface="+mn-cs"/>
              </a:rPr>
              <a:t>：专门关注如何保护软件免受恶意攻击，确保数据的机密性、完整性和可用性。</a:t>
            </a:r>
          </a:p>
          <a:p>
            <a:r>
              <a:rPr lang="zh-CN" altLang="en-US" sz="1200" b="1" i="0" kern="1200" dirty="0">
                <a:solidFill>
                  <a:schemeClr val="tx1"/>
                </a:solidFill>
                <a:effectLst/>
                <a:latin typeface="+mn-lt"/>
                <a:ea typeface="+mn-ea"/>
                <a:cs typeface="+mn-cs"/>
              </a:rPr>
              <a:t>安全</a:t>
            </a:r>
            <a:r>
              <a:rPr lang="zh-CN" altLang="en-US" sz="1200" b="0" i="0" kern="1200" dirty="0">
                <a:solidFill>
                  <a:schemeClr val="tx1"/>
                </a:solidFill>
                <a:effectLst/>
                <a:latin typeface="+mn-lt"/>
                <a:ea typeface="+mn-ea"/>
                <a:cs typeface="+mn-cs"/>
              </a:rPr>
              <a:t>：这里的“安全”通常指</a:t>
            </a:r>
            <a:r>
              <a:rPr lang="zh-CN" altLang="en-US" sz="1200" b="1" i="0" kern="1200" dirty="0">
                <a:solidFill>
                  <a:schemeClr val="tx1"/>
                </a:solidFill>
                <a:effectLst/>
                <a:latin typeface="+mn-lt"/>
                <a:ea typeface="+mn-ea"/>
                <a:cs typeface="+mn-cs"/>
              </a:rPr>
              <a:t>功能性安全</a:t>
            </a:r>
            <a:r>
              <a:rPr lang="zh-CN" altLang="en-US" sz="1200" b="0" i="0" kern="1200" dirty="0">
                <a:solidFill>
                  <a:schemeClr val="tx1"/>
                </a:solidFill>
                <a:effectLst/>
                <a:latin typeface="+mn-lt"/>
                <a:ea typeface="+mn-ea"/>
                <a:cs typeface="+mn-cs"/>
              </a:rPr>
              <a:t>，即防止软件故障对人员、设备或环境造成危害。</a:t>
            </a:r>
          </a:p>
          <a:p>
            <a:r>
              <a:rPr lang="zh-CN" altLang="en-US" sz="1200" b="1" i="0" kern="1200" dirty="0">
                <a:solidFill>
                  <a:schemeClr val="tx1"/>
                </a:solidFill>
                <a:effectLst/>
                <a:latin typeface="+mn-lt"/>
                <a:ea typeface="+mn-ea"/>
                <a:cs typeface="+mn-cs"/>
              </a:rPr>
              <a:t>风险管理</a:t>
            </a:r>
            <a:r>
              <a:rPr lang="zh-CN" altLang="en-US" sz="1200" b="0" i="0" kern="1200" dirty="0">
                <a:solidFill>
                  <a:schemeClr val="tx1"/>
                </a:solidFill>
                <a:effectLst/>
                <a:latin typeface="+mn-lt"/>
                <a:ea typeface="+mn-ea"/>
                <a:cs typeface="+mn-cs"/>
              </a:rPr>
              <a:t>：主动识别、评估和控制项目中可能影响质量的各种风险，做到防患于未然。</a:t>
            </a:r>
          </a:p>
          <a:p>
            <a:r>
              <a:rPr lang="en-US" altLang="zh-CN" sz="1200" b="1"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本页总结</a:t>
            </a:r>
            <a:r>
              <a:rPr lang="en-US" altLang="zh-CN" sz="1200" b="1" i="0" kern="1200" dirty="0">
                <a:solidFill>
                  <a:schemeClr val="tx1"/>
                </a:solidFill>
                <a:effectLst/>
                <a:latin typeface="+mn-lt"/>
                <a:ea typeface="+mn-ea"/>
                <a:cs typeface="+mn-cs"/>
              </a:rPr>
              <a:t>】</a:t>
            </a:r>
            <a:br>
              <a:rPr lang="zh-CN" altLang="en-US" sz="1200" b="0" i="0" kern="1200" dirty="0">
                <a:solidFill>
                  <a:schemeClr val="tx1"/>
                </a:solidFill>
                <a:effectLst/>
                <a:latin typeface="+mn-lt"/>
                <a:ea typeface="+mn-ea"/>
                <a:cs typeface="+mn-cs"/>
              </a:rPr>
            </a:br>
            <a:r>
              <a:rPr lang="zh-CN" altLang="en-US" sz="1200" b="0" i="0" kern="1200" dirty="0">
                <a:solidFill>
                  <a:schemeClr val="tx1"/>
                </a:solidFill>
                <a:effectLst/>
                <a:latin typeface="+mn-lt"/>
                <a:ea typeface="+mn-ea"/>
                <a:cs typeface="+mn-cs"/>
              </a:rPr>
              <a:t>我们可以看到，软件质量保证远不止是“测试”。它是一个</a:t>
            </a:r>
            <a:r>
              <a:rPr lang="zh-CN" altLang="en-US" sz="1200" b="1" i="0" kern="1200" dirty="0">
                <a:solidFill>
                  <a:schemeClr val="tx1"/>
                </a:solidFill>
                <a:effectLst/>
                <a:latin typeface="+mn-lt"/>
                <a:ea typeface="+mn-ea"/>
                <a:cs typeface="+mn-cs"/>
              </a:rPr>
              <a:t>多维度、全过程</a:t>
            </a:r>
            <a:r>
              <a:rPr lang="zh-CN" altLang="en-US" sz="1200" b="0" i="0" kern="1200" dirty="0">
                <a:solidFill>
                  <a:schemeClr val="tx1"/>
                </a:solidFill>
                <a:effectLst/>
                <a:latin typeface="+mn-lt"/>
                <a:ea typeface="+mn-ea"/>
                <a:cs typeface="+mn-cs"/>
              </a:rPr>
              <a:t>的防护网。从建立</a:t>
            </a:r>
            <a:r>
              <a:rPr lang="zh-CN" altLang="en-US" sz="1200" b="1" i="0" kern="1200" dirty="0">
                <a:solidFill>
                  <a:schemeClr val="tx1"/>
                </a:solidFill>
                <a:effectLst/>
                <a:latin typeface="+mn-lt"/>
                <a:ea typeface="+mn-ea"/>
                <a:cs typeface="+mn-cs"/>
              </a:rPr>
              <a:t>规则</a:t>
            </a:r>
            <a:r>
              <a:rPr lang="zh-CN" altLang="en-US" sz="1200" b="0" i="0" kern="1200" dirty="0">
                <a:solidFill>
                  <a:schemeClr val="tx1"/>
                </a:solidFill>
                <a:effectLst/>
                <a:latin typeface="+mn-lt"/>
                <a:ea typeface="+mn-ea"/>
                <a:cs typeface="+mn-cs"/>
              </a:rPr>
              <a:t>（标准），到进行检查（评审、测试），再到管理</a:t>
            </a:r>
            <a:r>
              <a:rPr lang="zh-CN" altLang="en-US" sz="1200" b="1" i="0" kern="1200" dirty="0">
                <a:solidFill>
                  <a:schemeClr val="tx1"/>
                </a:solidFill>
                <a:effectLst/>
                <a:latin typeface="+mn-lt"/>
                <a:ea typeface="+mn-ea"/>
                <a:cs typeface="+mn-cs"/>
              </a:rPr>
              <a:t>变化</a:t>
            </a:r>
            <a:r>
              <a:rPr lang="zh-CN" altLang="en-US" sz="1200" b="0" i="0" kern="1200" dirty="0">
                <a:solidFill>
                  <a:schemeClr val="tx1"/>
                </a:solidFill>
                <a:effectLst/>
                <a:latin typeface="+mn-lt"/>
                <a:ea typeface="+mn-ea"/>
                <a:cs typeface="+mn-cs"/>
              </a:rPr>
              <a:t>（变更、风险）和</a:t>
            </a:r>
            <a:r>
              <a:rPr lang="zh-CN" altLang="en-US" sz="1200" b="1" i="0" kern="1200" dirty="0">
                <a:solidFill>
                  <a:schemeClr val="tx1"/>
                </a:solidFill>
                <a:effectLst/>
                <a:latin typeface="+mn-lt"/>
                <a:ea typeface="+mn-ea"/>
                <a:cs typeface="+mn-cs"/>
              </a:rPr>
              <a:t>人员</a:t>
            </a:r>
            <a:r>
              <a:rPr lang="zh-CN" altLang="en-US" sz="1200" b="0" i="0" kern="1200" dirty="0">
                <a:solidFill>
                  <a:schemeClr val="tx1"/>
                </a:solidFill>
                <a:effectLst/>
                <a:latin typeface="+mn-lt"/>
                <a:ea typeface="+mn-ea"/>
                <a:cs typeface="+mn-cs"/>
              </a:rPr>
              <a:t>（教育、供应商），所有这些要素协同工作，系统地保障最终软件产品的质量。</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87DD37-2BBD-4AC4-8DC9-54016C8C6FCC}"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583473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逻辑过渡</a:t>
            </a:r>
            <a:r>
              <a:rPr lang="en-US" altLang="zh-CN" sz="1200" b="1" i="0" kern="1200" dirty="0">
                <a:solidFill>
                  <a:schemeClr val="tx1"/>
                </a:solidFill>
                <a:effectLst/>
                <a:latin typeface="+mn-lt"/>
                <a:ea typeface="+mn-ea"/>
                <a:cs typeface="+mn-cs"/>
              </a:rPr>
              <a:t>】</a:t>
            </a:r>
            <a:br>
              <a:rPr lang="zh-CN" altLang="en-US" sz="1200" b="0" i="0" kern="1200" dirty="0">
                <a:solidFill>
                  <a:schemeClr val="tx1"/>
                </a:solidFill>
                <a:effectLst/>
                <a:latin typeface="+mn-lt"/>
                <a:ea typeface="+mn-ea"/>
                <a:cs typeface="+mn-cs"/>
              </a:rPr>
            </a:br>
            <a:r>
              <a:rPr lang="zh-CN" altLang="en-US" sz="1200" b="0" i="0" kern="1200" dirty="0">
                <a:solidFill>
                  <a:schemeClr val="tx1"/>
                </a:solidFill>
                <a:effectLst/>
                <a:latin typeface="+mn-lt"/>
                <a:ea typeface="+mn-ea"/>
                <a:cs typeface="+mn-cs"/>
              </a:rPr>
              <a:t>体系和方法明确了，那么在一个项目中，具体由谁来推动和执行这些工作呢？答案是</a:t>
            </a:r>
            <a:r>
              <a:rPr lang="en-US" altLang="zh-CN" sz="1200" b="1" i="0" kern="1200" dirty="0">
                <a:solidFill>
                  <a:schemeClr val="tx1"/>
                </a:solidFill>
                <a:effectLst/>
                <a:latin typeface="+mn-lt"/>
                <a:ea typeface="+mn-ea"/>
                <a:cs typeface="+mn-cs"/>
              </a:rPr>
              <a:t>SQA</a:t>
            </a:r>
            <a:r>
              <a:rPr lang="zh-CN" altLang="en-US" sz="1200" b="1" i="0" kern="1200" dirty="0">
                <a:solidFill>
                  <a:schemeClr val="tx1"/>
                </a:solidFill>
                <a:effectLst/>
                <a:latin typeface="+mn-lt"/>
                <a:ea typeface="+mn-ea"/>
                <a:cs typeface="+mn-cs"/>
              </a:rPr>
              <a:t>小组</a:t>
            </a:r>
            <a:r>
              <a:rPr lang="zh-CN" altLang="en-US" sz="1200" b="0" i="0" kern="1200" dirty="0">
                <a:solidFill>
                  <a:schemeClr val="tx1"/>
                </a:solidFill>
                <a:effectLst/>
                <a:latin typeface="+mn-lt"/>
                <a:ea typeface="+mn-ea"/>
                <a:cs typeface="+mn-cs"/>
              </a:rPr>
              <a:t>。他们的职责可以分为两大块，我们先看第一块：他们在项目</a:t>
            </a:r>
            <a:r>
              <a:rPr lang="zh-CN" altLang="en-US" sz="1200" b="1" i="0" kern="1200" dirty="0">
                <a:solidFill>
                  <a:schemeClr val="tx1"/>
                </a:solidFill>
                <a:effectLst/>
                <a:latin typeface="+mn-lt"/>
                <a:ea typeface="+mn-ea"/>
                <a:cs typeface="+mn-cs"/>
              </a:rPr>
              <a:t>前期和规划期</a:t>
            </a:r>
            <a:r>
              <a:rPr lang="zh-CN" altLang="en-US" sz="1200" b="0" i="0" kern="1200" dirty="0">
                <a:solidFill>
                  <a:schemeClr val="tx1"/>
                </a:solidFill>
                <a:effectLst/>
                <a:latin typeface="+mn-lt"/>
                <a:ea typeface="+mn-ea"/>
                <a:cs typeface="+mn-cs"/>
              </a:rPr>
              <a:t>的角色。</a:t>
            </a:r>
          </a:p>
          <a:p>
            <a:r>
              <a:rPr lang="en-US" altLang="zh-CN" sz="1200" b="1"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内容讲解</a:t>
            </a:r>
            <a:r>
              <a:rPr lang="en-US" altLang="zh-CN" sz="1200" b="1" i="0" kern="1200" dirty="0">
                <a:solidFill>
                  <a:schemeClr val="tx1"/>
                </a:solidFill>
                <a:effectLst/>
                <a:latin typeface="+mn-lt"/>
                <a:ea typeface="+mn-ea"/>
                <a:cs typeface="+mn-cs"/>
              </a:rPr>
              <a:t>】</a:t>
            </a:r>
            <a:endParaRPr lang="zh-CN" altLang="en-US" sz="1200" b="0" i="0" kern="1200" dirty="0">
              <a:solidFill>
                <a:schemeClr val="tx1"/>
              </a:solidFill>
              <a:effectLst/>
              <a:latin typeface="+mn-lt"/>
              <a:ea typeface="+mn-ea"/>
              <a:cs typeface="+mn-cs"/>
            </a:endParaRPr>
          </a:p>
          <a:p>
            <a:r>
              <a:rPr lang="zh-CN" altLang="en-US" sz="1200" b="1" i="0" kern="1200" dirty="0">
                <a:solidFill>
                  <a:schemeClr val="tx1"/>
                </a:solidFill>
                <a:effectLst/>
                <a:latin typeface="+mn-lt"/>
                <a:ea typeface="+mn-ea"/>
                <a:cs typeface="+mn-cs"/>
              </a:rPr>
              <a:t>制定</a:t>
            </a:r>
            <a:r>
              <a:rPr lang="en-US" altLang="zh-CN" sz="1200" b="1" i="0" kern="1200" dirty="0">
                <a:solidFill>
                  <a:schemeClr val="tx1"/>
                </a:solidFill>
                <a:effectLst/>
                <a:latin typeface="+mn-lt"/>
                <a:ea typeface="+mn-ea"/>
                <a:cs typeface="+mn-cs"/>
              </a:rPr>
              <a:t>SQA</a:t>
            </a:r>
            <a:r>
              <a:rPr lang="zh-CN" altLang="en-US" sz="1200" b="1" i="0" kern="1200" dirty="0">
                <a:solidFill>
                  <a:schemeClr val="tx1"/>
                </a:solidFill>
                <a:effectLst/>
                <a:latin typeface="+mn-lt"/>
                <a:ea typeface="+mn-ea"/>
                <a:cs typeface="+mn-cs"/>
              </a:rPr>
              <a:t>计划</a:t>
            </a:r>
            <a:r>
              <a:rPr lang="zh-CN" altLang="en-US" sz="1200" b="0" i="0" kern="1200" dirty="0">
                <a:solidFill>
                  <a:schemeClr val="tx1"/>
                </a:solidFill>
                <a:effectLst/>
                <a:latin typeface="+mn-lt"/>
                <a:ea typeface="+mn-ea"/>
                <a:cs typeface="+mn-cs"/>
              </a:rPr>
              <a:t>：这是</a:t>
            </a:r>
            <a:r>
              <a:rPr lang="en-US" altLang="zh-CN" sz="1200" b="0" i="0" kern="1200" dirty="0">
                <a:solidFill>
                  <a:schemeClr val="tx1"/>
                </a:solidFill>
                <a:effectLst/>
                <a:latin typeface="+mn-lt"/>
                <a:ea typeface="+mn-ea"/>
                <a:cs typeface="+mn-cs"/>
              </a:rPr>
              <a:t>SQA</a:t>
            </a:r>
            <a:r>
              <a:rPr lang="zh-CN" altLang="en-US" sz="1200" b="0" i="0" kern="1200" dirty="0">
                <a:solidFill>
                  <a:schemeClr val="tx1"/>
                </a:solidFill>
                <a:effectLst/>
                <a:latin typeface="+mn-lt"/>
                <a:ea typeface="+mn-ea"/>
                <a:cs typeface="+mn-cs"/>
              </a:rPr>
              <a:t>小组的“</a:t>
            </a:r>
            <a:r>
              <a:rPr lang="zh-CN" altLang="en-US" sz="1200" b="1" i="0" kern="1200" dirty="0">
                <a:solidFill>
                  <a:schemeClr val="tx1"/>
                </a:solidFill>
                <a:effectLst/>
                <a:latin typeface="+mn-lt"/>
                <a:ea typeface="+mn-ea"/>
                <a:cs typeface="+mn-cs"/>
              </a:rPr>
              <a:t>立法</a:t>
            </a:r>
            <a:r>
              <a:rPr lang="zh-CN" altLang="en-US" sz="1200" b="0" i="0" kern="1200" dirty="0">
                <a:solidFill>
                  <a:schemeClr val="tx1"/>
                </a:solidFill>
                <a:effectLst/>
                <a:latin typeface="+mn-lt"/>
                <a:ea typeface="+mn-ea"/>
                <a:cs typeface="+mn-cs"/>
              </a:rPr>
              <a:t>”职能。他们为项目制定一份全面的质量计划，明确需要执行的评价、审计、评审、适用的标准、错误跟踪流程、产出文档及反馈机制，为整个项目的质量活动设定“游戏规则”。</a:t>
            </a:r>
          </a:p>
          <a:p>
            <a:r>
              <a:rPr lang="zh-CN" altLang="en-US" sz="1200" b="1" i="0" kern="1200" dirty="0">
                <a:solidFill>
                  <a:schemeClr val="tx1"/>
                </a:solidFill>
                <a:effectLst/>
                <a:latin typeface="+mn-lt"/>
                <a:ea typeface="+mn-ea"/>
                <a:cs typeface="+mn-cs"/>
              </a:rPr>
              <a:t>参与制定流程描述</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SQA</a:t>
            </a:r>
            <a:r>
              <a:rPr lang="zh-CN" altLang="en-US" sz="1200" b="0" i="0" kern="1200" dirty="0">
                <a:solidFill>
                  <a:schemeClr val="tx1"/>
                </a:solidFill>
                <a:effectLst/>
                <a:latin typeface="+mn-lt"/>
                <a:ea typeface="+mn-ea"/>
                <a:cs typeface="+mn-cs"/>
              </a:rPr>
              <a:t>小组需要参与到项目开发流程的制定中，确保这个流程本身是</a:t>
            </a:r>
            <a:r>
              <a:rPr lang="zh-CN" altLang="en-US" sz="1200" b="1" i="0" kern="1200" dirty="0">
                <a:solidFill>
                  <a:schemeClr val="tx1"/>
                </a:solidFill>
                <a:effectLst/>
                <a:latin typeface="+mn-lt"/>
                <a:ea typeface="+mn-ea"/>
                <a:cs typeface="+mn-cs"/>
              </a:rPr>
              <a:t>可执行、可监控</a:t>
            </a:r>
            <a:r>
              <a:rPr lang="zh-CN" altLang="en-US" sz="1200" b="0" i="0" kern="1200" dirty="0">
                <a:solidFill>
                  <a:schemeClr val="tx1"/>
                </a:solidFill>
                <a:effectLst/>
                <a:latin typeface="+mn-lt"/>
                <a:ea typeface="+mn-ea"/>
                <a:cs typeface="+mn-cs"/>
              </a:rPr>
              <a:t>的。</a:t>
            </a:r>
          </a:p>
          <a:p>
            <a:r>
              <a:rPr lang="zh-CN" altLang="en-US" sz="1200" b="1" i="0" kern="1200" dirty="0">
                <a:solidFill>
                  <a:schemeClr val="tx1"/>
                </a:solidFill>
                <a:effectLst/>
                <a:latin typeface="+mn-lt"/>
                <a:ea typeface="+mn-ea"/>
                <a:cs typeface="+mn-cs"/>
              </a:rPr>
              <a:t>评审流程合规性</a:t>
            </a:r>
            <a:r>
              <a:rPr lang="zh-CN" altLang="en-US" sz="1200" b="0" i="0" kern="1200" dirty="0">
                <a:solidFill>
                  <a:schemeClr val="tx1"/>
                </a:solidFill>
                <a:effectLst/>
                <a:latin typeface="+mn-lt"/>
                <a:ea typeface="+mn-ea"/>
                <a:cs typeface="+mn-cs"/>
              </a:rPr>
              <a:t>：他们负责评审制定好的流程，确保其符合组织政策、内外部标准（如</a:t>
            </a:r>
            <a:r>
              <a:rPr lang="en-US" altLang="zh-CN" sz="1200" b="0" i="0" kern="1200" dirty="0">
                <a:solidFill>
                  <a:schemeClr val="tx1"/>
                </a:solidFill>
                <a:effectLst/>
                <a:latin typeface="+mn-lt"/>
                <a:ea typeface="+mn-ea"/>
                <a:cs typeface="+mn-cs"/>
              </a:rPr>
              <a:t>ISO-9001</a:t>
            </a:r>
            <a:r>
              <a:rPr lang="zh-CN" altLang="en-US" sz="1200" b="0" i="0" kern="1200" dirty="0">
                <a:solidFill>
                  <a:schemeClr val="tx1"/>
                </a:solidFill>
                <a:effectLst/>
                <a:latin typeface="+mn-lt"/>
                <a:ea typeface="+mn-ea"/>
                <a:cs typeface="+mn-cs"/>
              </a:rPr>
              <a:t>）。这体现了“</a:t>
            </a:r>
            <a:r>
              <a:rPr lang="zh-CN" altLang="en-US" sz="1200" b="1" i="0" kern="1200" dirty="0">
                <a:solidFill>
                  <a:schemeClr val="tx1"/>
                </a:solidFill>
                <a:effectLst/>
                <a:latin typeface="+mn-lt"/>
                <a:ea typeface="+mn-ea"/>
                <a:cs typeface="+mn-cs"/>
              </a:rPr>
              <a:t>合规性检查</a:t>
            </a:r>
            <a:r>
              <a:rPr lang="zh-CN" altLang="en-US" sz="1200" b="0" i="0" kern="1200" dirty="0">
                <a:solidFill>
                  <a:schemeClr val="tx1"/>
                </a:solidFill>
                <a:effectLst/>
                <a:latin typeface="+mn-lt"/>
                <a:ea typeface="+mn-ea"/>
                <a:cs typeface="+mn-cs"/>
              </a:rPr>
              <a:t>”角色，从源头上保证项目的规范性。</a:t>
            </a:r>
          </a:p>
          <a:p>
            <a:r>
              <a:rPr lang="en-US" altLang="zh-CN" sz="1200" b="1"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本页总结</a:t>
            </a:r>
            <a:r>
              <a:rPr lang="en-US" altLang="zh-CN" sz="1200" b="1" i="0" kern="1200" dirty="0">
                <a:solidFill>
                  <a:schemeClr val="tx1"/>
                </a:solidFill>
                <a:effectLst/>
                <a:latin typeface="+mn-lt"/>
                <a:ea typeface="+mn-ea"/>
                <a:cs typeface="+mn-cs"/>
              </a:rPr>
              <a:t>】</a:t>
            </a:r>
            <a:br>
              <a:rPr lang="zh-CN" altLang="en-US" sz="1200" b="0" i="0" kern="1200" dirty="0">
                <a:solidFill>
                  <a:schemeClr val="tx1"/>
                </a:solidFill>
                <a:effectLst/>
                <a:latin typeface="+mn-lt"/>
                <a:ea typeface="+mn-ea"/>
                <a:cs typeface="+mn-cs"/>
              </a:rPr>
            </a:br>
            <a:r>
              <a:rPr lang="zh-CN" altLang="en-US" sz="1200" b="0" i="0" kern="1200" dirty="0">
                <a:solidFill>
                  <a:schemeClr val="tx1"/>
                </a:solidFill>
                <a:effectLst/>
                <a:latin typeface="+mn-lt"/>
                <a:ea typeface="+mn-ea"/>
                <a:cs typeface="+mn-cs"/>
              </a:rPr>
              <a:t>总结来说，</a:t>
            </a:r>
            <a:r>
              <a:rPr lang="en-US" altLang="zh-CN" sz="1200" b="0" i="0" kern="1200" dirty="0">
                <a:solidFill>
                  <a:schemeClr val="tx1"/>
                </a:solidFill>
                <a:effectLst/>
                <a:latin typeface="+mn-lt"/>
                <a:ea typeface="+mn-ea"/>
                <a:cs typeface="+mn-cs"/>
              </a:rPr>
              <a:t>SQA</a:t>
            </a:r>
            <a:r>
              <a:rPr lang="zh-CN" altLang="en-US" sz="1200" b="0" i="0" kern="1200" dirty="0">
                <a:solidFill>
                  <a:schemeClr val="tx1"/>
                </a:solidFill>
                <a:effectLst/>
                <a:latin typeface="+mn-lt"/>
                <a:ea typeface="+mn-ea"/>
                <a:cs typeface="+mn-cs"/>
              </a:rPr>
              <a:t>小组在项目前期的角色是 </a:t>
            </a:r>
            <a:r>
              <a:rPr lang="zh-CN" altLang="en-US" sz="1200" b="1" i="0" kern="1200" dirty="0">
                <a:solidFill>
                  <a:schemeClr val="tx1"/>
                </a:solidFill>
                <a:effectLst/>
                <a:latin typeface="+mn-lt"/>
                <a:ea typeface="+mn-ea"/>
                <a:cs typeface="+mn-cs"/>
              </a:rPr>
              <a:t>“规则的制定者”和“基础的奠定者”</a:t>
            </a:r>
            <a:r>
              <a:rPr lang="zh-CN" altLang="en-US" sz="1200" b="0" i="0" kern="1200" dirty="0">
                <a:solidFill>
                  <a:schemeClr val="tx1"/>
                </a:solidFill>
                <a:effectLst/>
                <a:latin typeface="+mn-lt"/>
                <a:ea typeface="+mn-ea"/>
                <a:cs typeface="+mn-cs"/>
              </a:rPr>
              <a:t> 。他们通过制定计划和评审流程，为项目“一开始就做正确的事”提供了框架和保障。</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87DD37-2BBD-4AC4-8DC9-54016C8C6FCC}"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360637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sz="1200" b="1"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逻辑过渡</a:t>
            </a:r>
            <a:r>
              <a:rPr lang="en-US" altLang="zh-CN" sz="1200" b="1" i="0" kern="1200" dirty="0">
                <a:solidFill>
                  <a:schemeClr val="tx1"/>
                </a:solidFill>
                <a:effectLst/>
                <a:latin typeface="+mn-lt"/>
                <a:ea typeface="+mn-ea"/>
                <a:cs typeface="+mn-cs"/>
              </a:rPr>
              <a:t>】</a:t>
            </a:r>
            <a:br>
              <a:rPr lang="zh-CN" altLang="en-US" sz="1200" b="0" i="0" kern="1200" dirty="0">
                <a:solidFill>
                  <a:schemeClr val="tx1"/>
                </a:solidFill>
                <a:effectLst/>
                <a:latin typeface="+mn-lt"/>
                <a:ea typeface="+mn-ea"/>
                <a:cs typeface="+mn-cs"/>
              </a:rPr>
            </a:br>
            <a:r>
              <a:rPr lang="zh-CN" altLang="en-US" sz="1200" b="0" i="0" kern="1200" dirty="0">
                <a:solidFill>
                  <a:schemeClr val="tx1"/>
                </a:solidFill>
                <a:effectLst/>
                <a:latin typeface="+mn-lt"/>
                <a:ea typeface="+mn-ea"/>
                <a:cs typeface="+mn-cs"/>
              </a:rPr>
              <a:t>规则制定好后，在执行过程中谁来监督大家是否遵守了规则呢？这就是</a:t>
            </a:r>
            <a:r>
              <a:rPr lang="en-US" altLang="zh-CN" sz="1200" b="0" i="0" kern="1200" dirty="0">
                <a:solidFill>
                  <a:schemeClr val="tx1"/>
                </a:solidFill>
                <a:effectLst/>
                <a:latin typeface="+mn-lt"/>
                <a:ea typeface="+mn-ea"/>
                <a:cs typeface="+mn-cs"/>
              </a:rPr>
              <a:t>SQA</a:t>
            </a:r>
            <a:r>
              <a:rPr lang="zh-CN" altLang="en-US" sz="1200" b="0" i="0" kern="1200" dirty="0">
                <a:solidFill>
                  <a:schemeClr val="tx1"/>
                </a:solidFill>
                <a:effectLst/>
                <a:latin typeface="+mn-lt"/>
                <a:ea typeface="+mn-ea"/>
                <a:cs typeface="+mn-cs"/>
              </a:rPr>
              <a:t>小组的第二项主要职责：在项目</a:t>
            </a:r>
            <a:r>
              <a:rPr lang="zh-CN" altLang="en-US" sz="1200" b="1" i="0" kern="1200" dirty="0">
                <a:solidFill>
                  <a:schemeClr val="tx1"/>
                </a:solidFill>
                <a:effectLst/>
                <a:latin typeface="+mn-lt"/>
                <a:ea typeface="+mn-ea"/>
                <a:cs typeface="+mn-cs"/>
              </a:rPr>
              <a:t>执行与监控阶段</a:t>
            </a:r>
            <a:r>
              <a:rPr lang="zh-CN" altLang="en-US" sz="1200" b="0" i="0" kern="1200" dirty="0">
                <a:solidFill>
                  <a:schemeClr val="tx1"/>
                </a:solidFill>
                <a:effectLst/>
                <a:latin typeface="+mn-lt"/>
                <a:ea typeface="+mn-ea"/>
                <a:cs typeface="+mn-cs"/>
              </a:rPr>
              <a:t>的角色。</a:t>
            </a:r>
          </a:p>
          <a:p>
            <a:r>
              <a:rPr lang="en-US" altLang="zh-CN" sz="1200" b="1"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内容讲解</a:t>
            </a:r>
            <a:r>
              <a:rPr lang="en-US" altLang="zh-CN" sz="1200" b="1" i="0" kern="1200" dirty="0">
                <a:solidFill>
                  <a:schemeClr val="tx1"/>
                </a:solidFill>
                <a:effectLst/>
                <a:latin typeface="+mn-lt"/>
                <a:ea typeface="+mn-ea"/>
                <a:cs typeface="+mn-cs"/>
              </a:rPr>
              <a:t>】</a:t>
            </a:r>
            <a:endParaRPr lang="zh-CN" altLang="en-US" sz="1200" b="0" i="0" kern="1200" dirty="0">
              <a:solidFill>
                <a:schemeClr val="tx1"/>
              </a:solidFill>
              <a:effectLst/>
              <a:latin typeface="+mn-lt"/>
              <a:ea typeface="+mn-ea"/>
              <a:cs typeface="+mn-cs"/>
            </a:endParaRPr>
          </a:p>
          <a:p>
            <a:r>
              <a:rPr lang="zh-CN" altLang="en-US" sz="1200" b="1" i="0" kern="1200" dirty="0">
                <a:solidFill>
                  <a:schemeClr val="tx1"/>
                </a:solidFill>
                <a:effectLst/>
                <a:latin typeface="+mn-lt"/>
                <a:ea typeface="+mn-ea"/>
                <a:cs typeface="+mn-cs"/>
              </a:rPr>
              <a:t>过程审计</a:t>
            </a:r>
            <a:r>
              <a:rPr lang="zh-CN" altLang="en-US" sz="1200" b="0" i="0" kern="1200" dirty="0">
                <a:solidFill>
                  <a:schemeClr val="tx1"/>
                </a:solidFill>
                <a:effectLst/>
                <a:latin typeface="+mn-lt"/>
                <a:ea typeface="+mn-ea"/>
                <a:cs typeface="+mn-cs"/>
              </a:rPr>
              <a:t>：他们像“监理”一样，评审软件工程活动，验证其是否遵守已定义的流程。</a:t>
            </a:r>
          </a:p>
          <a:p>
            <a:r>
              <a:rPr lang="zh-CN" altLang="en-US" sz="1200" b="1" i="0" kern="1200" dirty="0">
                <a:solidFill>
                  <a:schemeClr val="tx1"/>
                </a:solidFill>
                <a:effectLst/>
                <a:latin typeface="+mn-lt"/>
                <a:ea typeface="+mn-ea"/>
                <a:cs typeface="+mn-cs"/>
              </a:rPr>
              <a:t>跟踪与验证</a:t>
            </a:r>
            <a:r>
              <a:rPr lang="zh-CN" altLang="en-US" sz="1200" b="0" i="0" kern="1200" dirty="0">
                <a:solidFill>
                  <a:schemeClr val="tx1"/>
                </a:solidFill>
                <a:effectLst/>
                <a:latin typeface="+mn-lt"/>
                <a:ea typeface="+mn-ea"/>
                <a:cs typeface="+mn-cs"/>
              </a:rPr>
              <a:t>：对于发现的流程偏差，他们负责</a:t>
            </a:r>
            <a:r>
              <a:rPr lang="zh-CN" altLang="en-US" sz="1200" b="1" i="0" kern="1200" dirty="0">
                <a:solidFill>
                  <a:schemeClr val="tx1"/>
                </a:solidFill>
                <a:effectLst/>
                <a:latin typeface="+mn-lt"/>
                <a:ea typeface="+mn-ea"/>
                <a:cs typeface="+mn-cs"/>
              </a:rPr>
              <a:t>识别、记录、跟踪</a:t>
            </a:r>
            <a:r>
              <a:rPr lang="zh-CN" altLang="en-US" sz="1200" b="0" i="0" kern="1200" dirty="0">
                <a:solidFill>
                  <a:schemeClr val="tx1"/>
                </a:solidFill>
                <a:effectLst/>
                <a:latin typeface="+mn-lt"/>
                <a:ea typeface="+mn-ea"/>
                <a:cs typeface="+mn-cs"/>
              </a:rPr>
              <a:t>，并验证纠正措施已执行，确保问题形成闭环。</a:t>
            </a:r>
          </a:p>
          <a:p>
            <a:r>
              <a:rPr lang="zh-CN" altLang="en-US" sz="1200" b="1" i="0" kern="1200" dirty="0">
                <a:solidFill>
                  <a:schemeClr val="tx1"/>
                </a:solidFill>
                <a:effectLst/>
                <a:latin typeface="+mn-lt"/>
                <a:ea typeface="+mn-ea"/>
                <a:cs typeface="+mn-cs"/>
              </a:rPr>
              <a:t>产品审计</a:t>
            </a:r>
            <a:r>
              <a:rPr lang="zh-CN" altLang="en-US" sz="1200" b="0" i="0" kern="1200" dirty="0">
                <a:solidFill>
                  <a:schemeClr val="tx1"/>
                </a:solidFill>
                <a:effectLst/>
                <a:latin typeface="+mn-lt"/>
                <a:ea typeface="+mn-ea"/>
                <a:cs typeface="+mn-cs"/>
              </a:rPr>
              <a:t>：他们审计指定的软件工作产品（如代码、文档），验证其是否符合既定要求，关注“工作成果”本身的质量。</a:t>
            </a:r>
          </a:p>
          <a:p>
            <a:r>
              <a:rPr lang="zh-CN" altLang="en-US" sz="1200" b="1" i="0" kern="1200" dirty="0">
                <a:solidFill>
                  <a:schemeClr val="tx1"/>
                </a:solidFill>
                <a:effectLst/>
                <a:latin typeface="+mn-lt"/>
                <a:ea typeface="+mn-ea"/>
                <a:cs typeface="+mn-cs"/>
              </a:rPr>
              <a:t>报告与沟通</a:t>
            </a:r>
            <a:r>
              <a:rPr lang="zh-CN" altLang="en-US" sz="1200" b="0" i="0" kern="1200" dirty="0">
                <a:solidFill>
                  <a:schemeClr val="tx1"/>
                </a:solidFill>
                <a:effectLst/>
                <a:latin typeface="+mn-lt"/>
                <a:ea typeface="+mn-ea"/>
                <a:cs typeface="+mn-cs"/>
              </a:rPr>
              <a:t>：他们定期向项目经理汇报结果，保证质量状况的</a:t>
            </a:r>
            <a:r>
              <a:rPr lang="zh-CN" altLang="en-US" sz="1200" b="1" i="0" kern="1200" dirty="0">
                <a:solidFill>
                  <a:schemeClr val="tx1"/>
                </a:solidFill>
                <a:effectLst/>
                <a:latin typeface="+mn-lt"/>
                <a:ea typeface="+mn-ea"/>
                <a:cs typeface="+mn-cs"/>
              </a:rPr>
              <a:t>透明度</a:t>
            </a:r>
            <a:r>
              <a:rPr lang="zh-CN" altLang="en-US" sz="1200" b="0" i="0" kern="1200" dirty="0">
                <a:solidFill>
                  <a:schemeClr val="tx1"/>
                </a:solidFill>
                <a:effectLst/>
                <a:latin typeface="+mn-lt"/>
                <a:ea typeface="+mn-ea"/>
                <a:cs typeface="+mn-cs"/>
              </a:rPr>
              <a:t>；对于严重的不合规项，有权直接向高级管理层报告，这体现了其</a:t>
            </a:r>
            <a:r>
              <a:rPr lang="zh-CN" altLang="en-US" sz="1200" b="1" i="0" kern="1200" dirty="0">
                <a:solidFill>
                  <a:schemeClr val="tx1"/>
                </a:solidFill>
                <a:effectLst/>
                <a:latin typeface="+mn-lt"/>
                <a:ea typeface="+mn-ea"/>
                <a:cs typeface="+mn-cs"/>
              </a:rPr>
              <a:t>独立性和权威性</a:t>
            </a:r>
            <a:r>
              <a:rPr lang="zh-CN" altLang="en-US" sz="1200" b="0" i="0" kern="1200" dirty="0">
                <a:solidFill>
                  <a:schemeClr val="tx1"/>
                </a:solidFill>
                <a:effectLst/>
                <a:latin typeface="+mn-lt"/>
                <a:ea typeface="+mn-ea"/>
                <a:cs typeface="+mn-cs"/>
              </a:rPr>
              <a:t>。</a:t>
            </a:r>
          </a:p>
          <a:p>
            <a:r>
              <a:rPr lang="en-US" altLang="zh-CN" sz="1200" b="1" i="0" kern="1200" dirty="0">
                <a:solidFill>
                  <a:schemeClr val="tx1"/>
                </a:solidFill>
                <a:effectLst/>
                <a:latin typeface="+mn-lt"/>
                <a:ea typeface="+mn-ea"/>
                <a:cs typeface="+mn-cs"/>
              </a:rPr>
              <a:t>【</a:t>
            </a:r>
            <a:r>
              <a:rPr lang="zh-CN" altLang="en-US" sz="1200" b="1" i="0" kern="1200" dirty="0">
                <a:solidFill>
                  <a:schemeClr val="tx1"/>
                </a:solidFill>
                <a:effectLst/>
                <a:latin typeface="+mn-lt"/>
                <a:ea typeface="+mn-ea"/>
                <a:cs typeface="+mn-cs"/>
              </a:rPr>
              <a:t>本页总结</a:t>
            </a:r>
            <a:r>
              <a:rPr lang="en-US" altLang="zh-CN" sz="1200" b="1" i="0" kern="1200" dirty="0">
                <a:solidFill>
                  <a:schemeClr val="tx1"/>
                </a:solidFill>
                <a:effectLst/>
                <a:latin typeface="+mn-lt"/>
                <a:ea typeface="+mn-ea"/>
                <a:cs typeface="+mn-cs"/>
              </a:rPr>
              <a:t>】</a:t>
            </a:r>
            <a:br>
              <a:rPr lang="zh-CN" altLang="en-US" sz="1200" b="0" i="0" kern="1200" dirty="0">
                <a:solidFill>
                  <a:schemeClr val="tx1"/>
                </a:solidFill>
                <a:effectLst/>
                <a:latin typeface="+mn-lt"/>
                <a:ea typeface="+mn-ea"/>
                <a:cs typeface="+mn-cs"/>
              </a:rPr>
            </a:br>
            <a:r>
              <a:rPr lang="zh-CN" altLang="en-US" sz="1200" b="0" i="0" kern="1200" dirty="0">
                <a:solidFill>
                  <a:schemeClr val="tx1"/>
                </a:solidFill>
                <a:effectLst/>
                <a:latin typeface="+mn-lt"/>
                <a:ea typeface="+mn-ea"/>
                <a:cs typeface="+mn-cs"/>
              </a:rPr>
              <a:t>所以，</a:t>
            </a:r>
            <a:r>
              <a:rPr lang="en-US" altLang="zh-CN" sz="1200" b="0" i="0" kern="1200" dirty="0">
                <a:solidFill>
                  <a:schemeClr val="tx1"/>
                </a:solidFill>
                <a:effectLst/>
                <a:latin typeface="+mn-lt"/>
                <a:ea typeface="+mn-ea"/>
                <a:cs typeface="+mn-cs"/>
              </a:rPr>
              <a:t>SQA</a:t>
            </a:r>
            <a:r>
              <a:rPr lang="zh-CN" altLang="en-US" sz="1200" b="0" i="0" kern="1200" dirty="0">
                <a:solidFill>
                  <a:schemeClr val="tx1"/>
                </a:solidFill>
                <a:effectLst/>
                <a:latin typeface="+mn-lt"/>
                <a:ea typeface="+mn-ea"/>
                <a:cs typeface="+mn-cs"/>
              </a:rPr>
              <a:t>小组在执行阶段的角色是 </a:t>
            </a:r>
            <a:r>
              <a:rPr lang="zh-CN" altLang="en-US" sz="1200" b="1" i="0" kern="1200" dirty="0">
                <a:solidFill>
                  <a:schemeClr val="tx1"/>
                </a:solidFill>
                <a:effectLst/>
                <a:latin typeface="+mn-lt"/>
                <a:ea typeface="+mn-ea"/>
                <a:cs typeface="+mn-cs"/>
              </a:rPr>
              <a:t>“独立的监督者”和“严格的审计官”</a:t>
            </a:r>
            <a:r>
              <a:rPr lang="zh-CN" altLang="en-US" sz="1200" b="0" i="0" kern="1200" dirty="0">
                <a:solidFill>
                  <a:schemeClr val="tx1"/>
                </a:solidFill>
                <a:effectLst/>
                <a:latin typeface="+mn-lt"/>
                <a:ea typeface="+mn-ea"/>
                <a:cs typeface="+mn-cs"/>
              </a:rPr>
              <a:t> 。他们通过持续的审计、跟踪和报告，确保项目“始终正确地做事”，维护了质量体系的严肃性。</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87DD37-2BBD-4AC4-8DC9-54016C8C6FCC}"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27881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逻辑</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开始测试之前，我们首先要建立一个战略性的、系统的测试方法。不能盲目地测试，而应该有计划、有步骤地进行。</a:t>
            </a:r>
          </a:p>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内容解释</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这一页概述了一个有效的软件测试策略所应包含的几个核心原则：</a:t>
            </a:r>
          </a:p>
          <a:p>
            <a:pPr algn="l">
              <a:buFont typeface="+mj-lt"/>
              <a:buAutoNum type="arabicPeriod"/>
            </a:pPr>
            <a:r>
              <a:rPr lang="zh-CN" altLang="en-US" b="1" i="0" dirty="0">
                <a:solidFill>
                  <a:srgbClr val="0F1115"/>
                </a:solidFill>
                <a:effectLst/>
                <a:latin typeface="quote-cjk-patch"/>
              </a:rPr>
              <a:t>技术评审先行</a:t>
            </a:r>
            <a:r>
              <a:rPr lang="zh-CN" altLang="en-US" b="0" i="0" dirty="0">
                <a:solidFill>
                  <a:srgbClr val="0F1115"/>
                </a:solidFill>
                <a:effectLst/>
                <a:latin typeface="quote-cjk-patch"/>
              </a:rPr>
              <a:t>：在测试开始之前，进行有效的</a:t>
            </a:r>
            <a:r>
              <a:rPr lang="zh-CN" altLang="en-US" b="1" i="0" dirty="0">
                <a:solidFill>
                  <a:srgbClr val="0F1115"/>
                </a:solidFill>
                <a:effectLst/>
                <a:latin typeface="quote-cjk-patch"/>
              </a:rPr>
              <a:t>技术评审</a:t>
            </a:r>
            <a:r>
              <a:rPr lang="zh-CN" altLang="en-US" b="0" i="0" dirty="0">
                <a:solidFill>
                  <a:srgbClr val="0F1115"/>
                </a:solidFill>
                <a:effectLst/>
                <a:latin typeface="quote-cjk-patch"/>
              </a:rPr>
              <a:t>（如代码审查、设计评审）可以提前发现并消除大量错误，这比通过测试发现错误的成本要低得多。</a:t>
            </a:r>
          </a:p>
          <a:p>
            <a:pPr algn="l">
              <a:buFont typeface="+mj-lt"/>
              <a:buAutoNum type="arabicPeriod"/>
            </a:pPr>
            <a:r>
              <a:rPr lang="zh-CN" altLang="en-US" b="1" i="0" dirty="0">
                <a:solidFill>
                  <a:srgbClr val="0F1115"/>
                </a:solidFill>
                <a:effectLst/>
                <a:latin typeface="quote-cjk-patch"/>
              </a:rPr>
              <a:t>“由内向外”的测试进程</a:t>
            </a:r>
            <a:r>
              <a:rPr lang="zh-CN" altLang="en-US" b="0" i="0" dirty="0">
                <a:solidFill>
                  <a:srgbClr val="0F1115"/>
                </a:solidFill>
                <a:effectLst/>
                <a:latin typeface="quote-cjk-patch"/>
              </a:rPr>
              <a:t>：测试从</a:t>
            </a:r>
            <a:r>
              <a:rPr lang="zh-CN" altLang="en-US" b="1" i="0" dirty="0">
                <a:solidFill>
                  <a:srgbClr val="0F1115"/>
                </a:solidFill>
                <a:effectLst/>
                <a:latin typeface="quote-cjk-patch"/>
              </a:rPr>
              <a:t>组件级</a:t>
            </a:r>
            <a:r>
              <a:rPr lang="zh-CN" altLang="en-US" b="0" i="0" dirty="0">
                <a:solidFill>
                  <a:srgbClr val="0F1115"/>
                </a:solidFill>
                <a:effectLst/>
                <a:latin typeface="quote-cjk-patch"/>
              </a:rPr>
              <a:t>（单元测试）开始，然后逐步“向外”推进到</a:t>
            </a:r>
            <a:r>
              <a:rPr lang="zh-CN" altLang="en-US" b="1" i="0" dirty="0">
                <a:solidFill>
                  <a:srgbClr val="0F1115"/>
                </a:solidFill>
                <a:effectLst/>
                <a:latin typeface="quote-cjk-patch"/>
              </a:rPr>
              <a:t>集成测试</a:t>
            </a:r>
            <a:r>
              <a:rPr lang="zh-CN" altLang="en-US" b="0" i="0" dirty="0">
                <a:solidFill>
                  <a:srgbClr val="0F1115"/>
                </a:solidFill>
                <a:effectLst/>
                <a:latin typeface="quote-cjk-patch"/>
              </a:rPr>
              <a:t>（检验组件如何协作）和</a:t>
            </a:r>
            <a:r>
              <a:rPr lang="zh-CN" altLang="en-US" b="1" i="0" dirty="0">
                <a:solidFill>
                  <a:srgbClr val="0F1115"/>
                </a:solidFill>
                <a:effectLst/>
                <a:latin typeface="quote-cjk-patch"/>
              </a:rPr>
              <a:t>系统测试</a:t>
            </a:r>
            <a:r>
              <a:rPr lang="zh-CN" altLang="en-US" b="0" i="0" dirty="0">
                <a:solidFill>
                  <a:srgbClr val="0F1115"/>
                </a:solidFill>
                <a:effectLst/>
                <a:latin typeface="quote-cjk-patch"/>
              </a:rPr>
              <a:t>（检验整个系统）。</a:t>
            </a:r>
          </a:p>
          <a:p>
            <a:pPr algn="l">
              <a:buFont typeface="+mj-lt"/>
              <a:buAutoNum type="arabicPeriod"/>
            </a:pPr>
            <a:r>
              <a:rPr lang="zh-CN" altLang="en-US" b="1" i="0" dirty="0">
                <a:solidFill>
                  <a:srgbClr val="0F1115"/>
                </a:solidFill>
                <a:effectLst/>
                <a:latin typeface="quote-cjk-patch"/>
              </a:rPr>
              <a:t>灵活运用测试技术</a:t>
            </a:r>
            <a:r>
              <a:rPr lang="zh-CN" altLang="en-US" b="0" i="0" dirty="0">
                <a:solidFill>
                  <a:srgbClr val="0F1115"/>
                </a:solidFill>
                <a:effectLst/>
                <a:latin typeface="quote-cjk-patch"/>
              </a:rPr>
              <a:t>：不同的软件开发方法（如结构化开发、面向对象开发）和不同的时间点，需要采用不同的测试技术。</a:t>
            </a:r>
          </a:p>
          <a:p>
            <a:pPr algn="l">
              <a:buFont typeface="+mj-lt"/>
              <a:buAutoNum type="arabicPeriod"/>
            </a:pPr>
            <a:r>
              <a:rPr lang="zh-CN" altLang="en-US" b="1" i="0" dirty="0">
                <a:solidFill>
                  <a:srgbClr val="0F1115"/>
                </a:solidFill>
                <a:effectLst/>
                <a:latin typeface="quote-cjk-patch"/>
              </a:rPr>
              <a:t>测试的执行者</a:t>
            </a:r>
            <a:r>
              <a:rPr lang="zh-CN" altLang="en-US" b="0" i="0" dirty="0">
                <a:solidFill>
                  <a:srgbClr val="0F1115"/>
                </a:solidFill>
                <a:effectLst/>
                <a:latin typeface="quote-cjk-patch"/>
              </a:rPr>
              <a:t>：测试由</a:t>
            </a:r>
            <a:r>
              <a:rPr lang="zh-CN" altLang="en-US" b="1" i="0" dirty="0">
                <a:solidFill>
                  <a:srgbClr val="0F1115"/>
                </a:solidFill>
                <a:effectLst/>
                <a:latin typeface="quote-cjk-patch"/>
              </a:rPr>
              <a:t>软件开发人员</a:t>
            </a:r>
            <a:r>
              <a:rPr lang="zh-CN" altLang="en-US" b="0" i="0" dirty="0">
                <a:solidFill>
                  <a:srgbClr val="0F1115"/>
                </a:solidFill>
                <a:effectLst/>
                <a:latin typeface="quote-cjk-patch"/>
              </a:rPr>
              <a:t>和（对于大型项目）</a:t>
            </a:r>
            <a:r>
              <a:rPr lang="zh-CN" altLang="en-US" b="1" i="0" dirty="0">
                <a:solidFill>
                  <a:srgbClr val="0F1115"/>
                </a:solidFill>
                <a:effectLst/>
                <a:latin typeface="quote-cjk-patch"/>
              </a:rPr>
              <a:t>独立的测试小组</a:t>
            </a:r>
            <a:r>
              <a:rPr lang="zh-CN" altLang="en-US" b="0" i="0" dirty="0">
                <a:solidFill>
                  <a:srgbClr val="0F1115"/>
                </a:solidFill>
                <a:effectLst/>
                <a:latin typeface="quote-cjk-patch"/>
              </a:rPr>
              <a:t>共同完成。开发者最了解组件的细节，而独立测试组则能提供更客观、无偏见的视角。</a:t>
            </a:r>
          </a:p>
          <a:p>
            <a:pPr algn="l">
              <a:buFont typeface="+mj-lt"/>
              <a:buAutoNum type="arabicPeriod"/>
            </a:pPr>
            <a:r>
              <a:rPr lang="zh-CN" altLang="en-US" b="1" i="0" dirty="0">
                <a:solidFill>
                  <a:srgbClr val="0F1115"/>
                </a:solidFill>
                <a:effectLst/>
                <a:latin typeface="quote-cjk-patch"/>
              </a:rPr>
              <a:t>测试与调试的区别</a:t>
            </a:r>
            <a:r>
              <a:rPr lang="zh-CN" altLang="en-US" b="0" i="0" dirty="0">
                <a:solidFill>
                  <a:srgbClr val="0F1115"/>
                </a:solidFill>
                <a:effectLst/>
                <a:latin typeface="quote-cjk-patch"/>
              </a:rPr>
              <a:t>：</a:t>
            </a:r>
          </a:p>
          <a:p>
            <a:pPr marL="742950" lvl="1" indent="-285750" algn="l">
              <a:buFont typeface="+mj-lt"/>
              <a:buAutoNum type="arabicPeriod"/>
            </a:pPr>
            <a:r>
              <a:rPr lang="zh-CN" altLang="en-US" b="1" i="0" dirty="0">
                <a:solidFill>
                  <a:srgbClr val="0F1115"/>
                </a:solidFill>
                <a:effectLst/>
                <a:latin typeface="quote-cjk-patch"/>
              </a:rPr>
              <a:t>测试</a:t>
            </a:r>
            <a:r>
              <a:rPr lang="zh-CN" altLang="en-US" b="0" i="0" dirty="0">
                <a:solidFill>
                  <a:srgbClr val="0F1115"/>
                </a:solidFill>
                <a:effectLst/>
                <a:latin typeface="quote-cjk-patch"/>
              </a:rPr>
              <a:t>的目的是</a:t>
            </a:r>
            <a:r>
              <a:rPr lang="zh-CN" altLang="en-US" b="1" i="0" dirty="0">
                <a:solidFill>
                  <a:srgbClr val="0F1115"/>
                </a:solidFill>
                <a:effectLst/>
                <a:latin typeface="quote-cjk-patch"/>
              </a:rPr>
              <a:t>发现错误</a:t>
            </a:r>
            <a:r>
              <a:rPr lang="zh-CN" altLang="en-US" b="0" i="0" dirty="0">
                <a:solidFill>
                  <a:srgbClr val="0F1115"/>
                </a:solidFill>
                <a:effectLst/>
                <a:latin typeface="quote-cjk-patch"/>
              </a:rPr>
              <a:t>的存在。</a:t>
            </a:r>
          </a:p>
          <a:p>
            <a:pPr marL="742950" lvl="1" indent="-285750" algn="l">
              <a:buFont typeface="+mj-lt"/>
              <a:buAutoNum type="arabicPeriod"/>
            </a:pPr>
            <a:r>
              <a:rPr lang="zh-CN" altLang="en-US" b="1" i="0" dirty="0">
                <a:solidFill>
                  <a:srgbClr val="0F1115"/>
                </a:solidFill>
                <a:effectLst/>
                <a:latin typeface="quote-cjk-patch"/>
              </a:rPr>
              <a:t>调试</a:t>
            </a:r>
            <a:r>
              <a:rPr lang="zh-CN" altLang="en-US" b="0" i="0" dirty="0">
                <a:solidFill>
                  <a:srgbClr val="0F1115"/>
                </a:solidFill>
                <a:effectLst/>
                <a:latin typeface="quote-cjk-patch"/>
              </a:rPr>
              <a:t>的目的是</a:t>
            </a:r>
            <a:r>
              <a:rPr lang="zh-CN" altLang="en-US" b="1" i="0" dirty="0">
                <a:solidFill>
                  <a:srgbClr val="0F1115"/>
                </a:solidFill>
                <a:effectLst/>
                <a:latin typeface="quote-cjk-patch"/>
              </a:rPr>
              <a:t>定位并修复</a:t>
            </a:r>
            <a:r>
              <a:rPr lang="zh-CN" altLang="en-US" b="0" i="0" dirty="0">
                <a:solidFill>
                  <a:srgbClr val="0F1115"/>
                </a:solidFill>
                <a:effectLst/>
                <a:latin typeface="quote-cjk-patch"/>
              </a:rPr>
              <a:t>已发现的错误。</a:t>
            </a:r>
          </a:p>
          <a:p>
            <a:pPr marL="742950" lvl="1" indent="-285750" algn="l">
              <a:buFont typeface="+mj-lt"/>
              <a:buAutoNum type="arabicPeriod"/>
            </a:pPr>
            <a:r>
              <a:rPr lang="zh-CN" altLang="en-US" b="0" i="0" dirty="0">
                <a:solidFill>
                  <a:srgbClr val="0F1115"/>
                </a:solidFill>
                <a:effectLst/>
                <a:latin typeface="quote-cjk-patch"/>
              </a:rPr>
              <a:t>两者是不同的活动，但任何测试策略都必须为调试活动预留时间和资源。</a:t>
            </a:r>
          </a:p>
          <a:p>
            <a:endParaRPr lang="zh-CN"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85CE5E-25A1-4EDA-8764-191A8790D0A6}"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37951310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逻辑</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对应于测试策略的螺旋模型，测试的执行步骤也遵循着一个自底向上的顺序。这张图展示了测试如何从代码层一步步上升到需求层。</a:t>
            </a:r>
          </a:p>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内容解释</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这张图将软件测试步骤描绘成一个金字塔或层次结构：</a:t>
            </a:r>
          </a:p>
          <a:p>
            <a:pPr algn="l">
              <a:buFont typeface="Arial" panose="020B0604020202020204" pitchFamily="34" charset="0"/>
              <a:buChar char="•"/>
            </a:pPr>
            <a:r>
              <a:rPr lang="zh-CN" altLang="en-US" b="1" i="0" dirty="0">
                <a:solidFill>
                  <a:srgbClr val="0F1115"/>
                </a:solidFill>
                <a:effectLst/>
                <a:latin typeface="quote-cjk-patch"/>
              </a:rPr>
              <a:t>底层（基础）</a:t>
            </a:r>
            <a:r>
              <a:rPr lang="zh-CN" altLang="en-US" b="0" i="0" dirty="0">
                <a:solidFill>
                  <a:srgbClr val="0F1115"/>
                </a:solidFill>
                <a:effectLst/>
                <a:latin typeface="quote-cjk-patch"/>
              </a:rPr>
              <a:t>：</a:t>
            </a:r>
          </a:p>
          <a:p>
            <a:pPr marL="742950" lvl="1" indent="-285750" algn="l">
              <a:buFont typeface="Arial" panose="020B0604020202020204" pitchFamily="34" charset="0"/>
              <a:buChar char="•"/>
            </a:pPr>
            <a:r>
              <a:rPr lang="zh-CN" altLang="en-US" b="1" i="0" dirty="0">
                <a:solidFill>
                  <a:srgbClr val="0F1115"/>
                </a:solidFill>
                <a:effectLst/>
                <a:latin typeface="quote-cjk-patch"/>
              </a:rPr>
              <a:t>测试方向</a:t>
            </a:r>
            <a:r>
              <a:rPr lang="zh-CN" altLang="en-US" b="0" i="0" dirty="0">
                <a:solidFill>
                  <a:srgbClr val="0F1115"/>
                </a:solidFill>
                <a:effectLst/>
                <a:latin typeface="quote-cjk-patch"/>
              </a:rPr>
              <a:t>：自底向上。</a:t>
            </a:r>
          </a:p>
          <a:p>
            <a:pPr marL="742950" lvl="1" indent="-285750" algn="l">
              <a:buFont typeface="Arial" panose="020B0604020202020204" pitchFamily="34" charset="0"/>
              <a:buChar char="•"/>
            </a:pPr>
            <a:r>
              <a:rPr lang="zh-CN" altLang="en-US" b="1" i="0" dirty="0">
                <a:solidFill>
                  <a:srgbClr val="0F1115"/>
                </a:solidFill>
                <a:effectLst/>
                <a:latin typeface="quote-cjk-patch"/>
              </a:rPr>
              <a:t>对应活动</a:t>
            </a:r>
            <a:r>
              <a:rPr lang="zh-CN" altLang="en-US" b="0" i="0" dirty="0">
                <a:solidFill>
                  <a:srgbClr val="0F1115"/>
                </a:solidFill>
                <a:effectLst/>
                <a:latin typeface="quote-cjk-patch"/>
              </a:rPr>
              <a:t>：</a:t>
            </a:r>
            <a:r>
              <a:rPr lang="zh-CN" altLang="en-US" b="1" i="0" dirty="0">
                <a:solidFill>
                  <a:srgbClr val="0F1115"/>
                </a:solidFill>
                <a:effectLst/>
                <a:latin typeface="quote-cjk-patch"/>
              </a:rPr>
              <a:t>单元测试</a:t>
            </a:r>
            <a:r>
              <a:rPr lang="zh-CN" altLang="en-US" b="0" i="0" dirty="0">
                <a:solidFill>
                  <a:srgbClr val="0F1115"/>
                </a:solidFill>
                <a:effectLst/>
                <a:latin typeface="quote-cjk-patch"/>
              </a:rPr>
              <a:t>。直接针对</a:t>
            </a:r>
            <a:r>
              <a:rPr lang="zh-CN" altLang="en-US" b="1" i="0" dirty="0">
                <a:solidFill>
                  <a:srgbClr val="0F1115"/>
                </a:solidFill>
                <a:effectLst/>
                <a:latin typeface="quote-cjk-patch"/>
              </a:rPr>
              <a:t>代码</a:t>
            </a:r>
            <a:r>
              <a:rPr lang="zh-CN" altLang="en-US" b="0" i="0" dirty="0">
                <a:solidFill>
                  <a:srgbClr val="0F1115"/>
                </a:solidFill>
                <a:effectLst/>
                <a:latin typeface="quote-cjk-patch"/>
              </a:rPr>
              <a:t>进行测试，确保每个基础单元牢固。</a:t>
            </a:r>
          </a:p>
          <a:p>
            <a:pPr algn="l">
              <a:buFont typeface="Arial" panose="020B0604020202020204" pitchFamily="34" charset="0"/>
              <a:buChar char="•"/>
            </a:pPr>
            <a:r>
              <a:rPr lang="zh-CN" altLang="en-US" b="1" i="0" dirty="0">
                <a:solidFill>
                  <a:srgbClr val="0F1115"/>
                </a:solidFill>
                <a:effectLst/>
                <a:latin typeface="quote-cjk-patch"/>
              </a:rPr>
              <a:t>中间层</a:t>
            </a:r>
            <a:r>
              <a:rPr lang="zh-CN" altLang="en-US" b="0" i="0" dirty="0">
                <a:solidFill>
                  <a:srgbClr val="0F1115"/>
                </a:solidFill>
                <a:effectLst/>
                <a:latin typeface="quote-cjk-patch"/>
              </a:rPr>
              <a:t>：</a:t>
            </a:r>
          </a:p>
          <a:p>
            <a:pPr marL="742950" lvl="1" indent="-285750" algn="l">
              <a:buFont typeface="Arial" panose="020B0604020202020204" pitchFamily="34" charset="0"/>
              <a:buChar char="•"/>
            </a:pPr>
            <a:r>
              <a:rPr lang="zh-CN" altLang="en-US" b="1" i="0" dirty="0">
                <a:solidFill>
                  <a:srgbClr val="0F1115"/>
                </a:solidFill>
                <a:effectLst/>
                <a:latin typeface="quote-cjk-patch"/>
              </a:rPr>
              <a:t>对应活动</a:t>
            </a:r>
            <a:r>
              <a:rPr lang="zh-CN" altLang="en-US" b="0" i="0" dirty="0">
                <a:solidFill>
                  <a:srgbClr val="0F1115"/>
                </a:solidFill>
                <a:effectLst/>
                <a:latin typeface="quote-cjk-patch"/>
              </a:rPr>
              <a:t>：</a:t>
            </a:r>
            <a:r>
              <a:rPr lang="zh-CN" altLang="en-US" b="1" i="0" dirty="0">
                <a:solidFill>
                  <a:srgbClr val="0F1115"/>
                </a:solidFill>
                <a:effectLst/>
                <a:latin typeface="quote-cjk-patch"/>
              </a:rPr>
              <a:t>集成测试</a:t>
            </a:r>
            <a:r>
              <a:rPr lang="zh-CN" altLang="en-US" b="0" i="0" dirty="0">
                <a:solidFill>
                  <a:srgbClr val="0F1115"/>
                </a:solidFill>
                <a:effectLst/>
                <a:latin typeface="quote-cjk-patch"/>
              </a:rPr>
              <a:t>。针对</a:t>
            </a:r>
            <a:r>
              <a:rPr lang="zh-CN" altLang="en-US" b="1" i="0" dirty="0">
                <a:solidFill>
                  <a:srgbClr val="0F1115"/>
                </a:solidFill>
                <a:effectLst/>
                <a:latin typeface="quote-cjk-patch"/>
              </a:rPr>
              <a:t>设计</a:t>
            </a:r>
            <a:r>
              <a:rPr lang="zh-CN" altLang="en-US" b="0" i="0" dirty="0">
                <a:solidFill>
                  <a:srgbClr val="0F1115"/>
                </a:solidFill>
                <a:effectLst/>
                <a:latin typeface="quote-cjk-patch"/>
              </a:rPr>
              <a:t>，将测试好的单元逐步组装并测试其接口和协作。</a:t>
            </a:r>
          </a:p>
          <a:p>
            <a:pPr algn="l">
              <a:buFont typeface="Arial" panose="020B0604020202020204" pitchFamily="34" charset="0"/>
              <a:buChar char="•"/>
            </a:pPr>
            <a:r>
              <a:rPr lang="zh-CN" altLang="en-US" b="1" i="0" dirty="0">
                <a:solidFill>
                  <a:srgbClr val="0F1115"/>
                </a:solidFill>
                <a:effectLst/>
                <a:latin typeface="quote-cjk-patch"/>
              </a:rPr>
              <a:t>顶层</a:t>
            </a:r>
            <a:r>
              <a:rPr lang="zh-CN" altLang="en-US" b="0" i="0" dirty="0">
                <a:solidFill>
                  <a:srgbClr val="0F1115"/>
                </a:solidFill>
                <a:effectLst/>
                <a:latin typeface="quote-cjk-patch"/>
              </a:rPr>
              <a:t>：</a:t>
            </a:r>
          </a:p>
          <a:p>
            <a:pPr marL="742950" lvl="1" indent="-285750" algn="l">
              <a:buFont typeface="Arial" panose="020B0604020202020204" pitchFamily="34" charset="0"/>
              <a:buChar char="•"/>
            </a:pPr>
            <a:r>
              <a:rPr lang="zh-CN" altLang="en-US" b="1" i="0" dirty="0">
                <a:solidFill>
                  <a:srgbClr val="0F1115"/>
                </a:solidFill>
                <a:effectLst/>
                <a:latin typeface="quote-cjk-patch"/>
              </a:rPr>
              <a:t>对应活动</a:t>
            </a:r>
            <a:r>
              <a:rPr lang="zh-CN" altLang="en-US" b="0" i="0" dirty="0">
                <a:solidFill>
                  <a:srgbClr val="0F1115"/>
                </a:solidFill>
                <a:effectLst/>
                <a:latin typeface="quote-cjk-patch"/>
              </a:rPr>
              <a:t>：</a:t>
            </a:r>
            <a:r>
              <a:rPr lang="zh-CN" altLang="en-US" b="1" i="0" dirty="0">
                <a:solidFill>
                  <a:srgbClr val="0F1115"/>
                </a:solidFill>
                <a:effectLst/>
                <a:latin typeface="quote-cjk-patch"/>
              </a:rPr>
              <a:t>高阶测试</a:t>
            </a:r>
            <a:r>
              <a:rPr lang="zh-CN" altLang="en-US" b="0" i="0" dirty="0">
                <a:solidFill>
                  <a:srgbClr val="0F1115"/>
                </a:solidFill>
                <a:effectLst/>
                <a:latin typeface="quote-cjk-patch"/>
              </a:rPr>
              <a:t>（包括确认测试和系统测试）。针对</a:t>
            </a:r>
            <a:r>
              <a:rPr lang="zh-CN" altLang="en-US" b="1" i="0" dirty="0">
                <a:solidFill>
                  <a:srgbClr val="0F1115"/>
                </a:solidFill>
                <a:effectLst/>
                <a:latin typeface="quote-cjk-patch"/>
              </a:rPr>
              <a:t>需求</a:t>
            </a:r>
            <a:r>
              <a:rPr lang="zh-CN" altLang="en-US" b="0" i="0" dirty="0">
                <a:solidFill>
                  <a:srgbClr val="0F1115"/>
                </a:solidFill>
                <a:effectLst/>
                <a:latin typeface="quote-cjk-patch"/>
              </a:rPr>
              <a:t>，验证整个系统是否满足用户的要求和业务目标。</a:t>
            </a:r>
          </a:p>
          <a:p>
            <a:pPr algn="l"/>
            <a:r>
              <a:rPr lang="zh-CN" altLang="en-US" b="1" i="0" dirty="0">
                <a:solidFill>
                  <a:srgbClr val="0F1115"/>
                </a:solidFill>
                <a:effectLst/>
                <a:latin typeface="quote-cjk-patch"/>
              </a:rPr>
              <a:t>这个结构的寓意是</a:t>
            </a:r>
            <a:r>
              <a:rPr lang="zh-CN" altLang="en-US" b="0" i="0" dirty="0">
                <a:solidFill>
                  <a:srgbClr val="0F1115"/>
                </a:solidFill>
                <a:effectLst/>
                <a:latin typeface="quote-cjk-patch"/>
              </a:rPr>
              <a:t>：下层是上层的基础。如果单元测试不充分，集成测试就会困难重重；如果集成测试不充分，高阶测试几乎肯定会失败。它强调了打好基础的重要性。</a:t>
            </a:r>
          </a:p>
          <a:p>
            <a:endParaRPr lang="zh-CN"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85CE5E-25A1-4EDA-8764-191A8790D0A6}"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42361722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逻辑</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设计测试用例有两种基本思路：一种关注程序的内部结构，另一种关注程序的外部功能。我们先来看关注内部的“白盒测试”。</a:t>
            </a:r>
          </a:p>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内容解释</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1" i="0" dirty="0">
                <a:solidFill>
                  <a:srgbClr val="0F1115"/>
                </a:solidFill>
                <a:effectLst/>
                <a:latin typeface="quote-cjk-patch"/>
              </a:rPr>
              <a:t>白盒测试</a:t>
            </a:r>
            <a:r>
              <a:rPr lang="zh-CN" altLang="en-US" b="0" i="0" dirty="0">
                <a:solidFill>
                  <a:srgbClr val="0F1115"/>
                </a:solidFill>
                <a:effectLst/>
                <a:latin typeface="quote-cjk-patch"/>
              </a:rPr>
              <a:t>，又称结构测试或玻璃盒测试，它要求测试者清楚了解程序的内部逻辑结构。</a:t>
            </a:r>
          </a:p>
          <a:p>
            <a:pPr algn="l"/>
            <a:r>
              <a:rPr lang="zh-CN" altLang="en-US" b="0" i="0" dirty="0">
                <a:solidFill>
                  <a:srgbClr val="0F1115"/>
                </a:solidFill>
                <a:effectLst/>
                <a:latin typeface="quote-cjk-patch"/>
              </a:rPr>
              <a:t>使用白盒测试方法，可以设计出能保证测试覆盖率的测试用例，其目标主要包括：</a:t>
            </a:r>
          </a:p>
          <a:p>
            <a:pPr algn="l">
              <a:buFont typeface="Arial" panose="020B0604020202020204" pitchFamily="34" charset="0"/>
              <a:buChar char="•"/>
            </a:pPr>
            <a:r>
              <a:rPr lang="zh-CN" altLang="en-US" b="1" i="0" dirty="0">
                <a:solidFill>
                  <a:srgbClr val="0F1115"/>
                </a:solidFill>
                <a:effectLst/>
                <a:latin typeface="quote-cjk-patch"/>
              </a:rPr>
              <a:t>保证所有独立路径</a:t>
            </a:r>
            <a:r>
              <a:rPr lang="zh-CN" altLang="en-US" b="0" i="0" dirty="0">
                <a:solidFill>
                  <a:srgbClr val="0F1115"/>
                </a:solidFill>
                <a:effectLst/>
                <a:latin typeface="quote-cjk-patch"/>
              </a:rPr>
              <a:t>都至少被执行一次。</a:t>
            </a:r>
          </a:p>
          <a:p>
            <a:pPr algn="l">
              <a:buFont typeface="Arial" panose="020B0604020202020204" pitchFamily="34" charset="0"/>
              <a:buChar char="•"/>
            </a:pPr>
            <a:r>
              <a:rPr lang="zh-CN" altLang="en-US" b="1" i="0" dirty="0">
                <a:solidFill>
                  <a:srgbClr val="0F1115"/>
                </a:solidFill>
                <a:effectLst/>
                <a:latin typeface="quote-cjk-patch"/>
              </a:rPr>
              <a:t>对所有逻辑判断</a:t>
            </a:r>
            <a:r>
              <a:rPr lang="zh-CN" altLang="en-US" b="0" i="0" dirty="0">
                <a:solidFill>
                  <a:srgbClr val="0F1115"/>
                </a:solidFill>
                <a:effectLst/>
                <a:latin typeface="quote-cjk-patch"/>
              </a:rPr>
              <a:t>（真和假两个分支）都进行测试。</a:t>
            </a:r>
          </a:p>
          <a:p>
            <a:pPr algn="l">
              <a:buFont typeface="Arial" panose="020B0604020202020204" pitchFamily="34" charset="0"/>
              <a:buChar char="•"/>
            </a:pPr>
            <a:r>
              <a:rPr lang="zh-CN" altLang="en-US" b="1" i="0" dirty="0">
                <a:solidFill>
                  <a:srgbClr val="0F1115"/>
                </a:solidFill>
                <a:effectLst/>
                <a:latin typeface="quote-cjk-patch"/>
              </a:rPr>
              <a:t>在循环的边界和运行界限内</a:t>
            </a:r>
            <a:r>
              <a:rPr lang="zh-CN" altLang="en-US" b="0" i="0" dirty="0">
                <a:solidFill>
                  <a:srgbClr val="0F1115"/>
                </a:solidFill>
                <a:effectLst/>
                <a:latin typeface="quote-cjk-patch"/>
              </a:rPr>
              <a:t>执行循环体。</a:t>
            </a:r>
          </a:p>
          <a:p>
            <a:pPr algn="l">
              <a:buFont typeface="Arial" panose="020B0604020202020204" pitchFamily="34" charset="0"/>
              <a:buChar char="•"/>
            </a:pPr>
            <a:r>
              <a:rPr lang="zh-CN" altLang="en-US" b="1" i="0" dirty="0">
                <a:solidFill>
                  <a:srgbClr val="0F1115"/>
                </a:solidFill>
                <a:effectLst/>
                <a:latin typeface="quote-cjk-patch"/>
              </a:rPr>
              <a:t>测试内部数据结构</a:t>
            </a:r>
            <a:r>
              <a:rPr lang="zh-CN" altLang="en-US" b="0" i="0" dirty="0">
                <a:solidFill>
                  <a:srgbClr val="0F1115"/>
                </a:solidFill>
                <a:effectLst/>
                <a:latin typeface="quote-cjk-patch"/>
              </a:rPr>
              <a:t>以确保其有效性。</a:t>
            </a:r>
          </a:p>
          <a:p>
            <a:pPr algn="l"/>
            <a:r>
              <a:rPr lang="zh-CN" altLang="en-US" b="1" i="0" dirty="0">
                <a:solidFill>
                  <a:srgbClr val="0F1115"/>
                </a:solidFill>
                <a:effectLst/>
                <a:latin typeface="quote-cjk-patch"/>
              </a:rPr>
              <a:t>核心价值</a:t>
            </a:r>
            <a:r>
              <a:rPr lang="zh-CN" altLang="en-US" b="0" i="0" dirty="0">
                <a:solidFill>
                  <a:srgbClr val="0F1115"/>
                </a:solidFill>
                <a:effectLst/>
                <a:latin typeface="quote-cjk-patch"/>
              </a:rPr>
              <a:t>：白盒测试能发现代码层面的逻辑错误、条件判断错误、循环错误等问题，非常适合由开发者在单元测试阶段实施。</a:t>
            </a:r>
          </a:p>
          <a:p>
            <a:endParaRPr lang="zh-CN"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85CE5E-25A1-4EDA-8764-191A8790D0A6}"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24759011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逻辑</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与关注程序内部结构的白盒测试相反，现在我们转向另一种重要的测试方法</a:t>
            </a:r>
            <a:r>
              <a:rPr lang="en-US" altLang="zh-CN" b="0" i="0" dirty="0">
                <a:solidFill>
                  <a:srgbClr val="0F1115"/>
                </a:solidFill>
                <a:effectLst/>
                <a:latin typeface="quote-cjk-patch"/>
              </a:rPr>
              <a:t>——</a:t>
            </a:r>
            <a:r>
              <a:rPr lang="zh-CN" altLang="en-US" b="0" i="0" dirty="0">
                <a:solidFill>
                  <a:srgbClr val="0F1115"/>
                </a:solidFill>
                <a:effectLst/>
                <a:latin typeface="quote-cjk-patch"/>
              </a:rPr>
              <a:t>黑盒测试。它把程序看作一个打不开的黑盒子。</a:t>
            </a:r>
          </a:p>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内容解释</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这一页介绍了黑盒测试的核心概念及其目标：</a:t>
            </a:r>
          </a:p>
          <a:p>
            <a:pPr algn="l">
              <a:buFont typeface="Arial" panose="020B0604020202020204" pitchFamily="34" charset="0"/>
              <a:buChar char="•"/>
            </a:pPr>
            <a:r>
              <a:rPr lang="zh-CN" altLang="en-US" b="1" i="0" dirty="0">
                <a:solidFill>
                  <a:srgbClr val="0F1115"/>
                </a:solidFill>
                <a:effectLst/>
                <a:latin typeface="quote-cjk-patch"/>
              </a:rPr>
              <a:t>黑盒测试</a:t>
            </a:r>
            <a:r>
              <a:rPr lang="zh-CN" altLang="en-US" b="0" i="0" dirty="0">
                <a:solidFill>
                  <a:srgbClr val="0F1115"/>
                </a:solidFill>
                <a:effectLst/>
                <a:latin typeface="quote-cjk-patch"/>
              </a:rPr>
              <a:t>，也称为</a:t>
            </a:r>
            <a:r>
              <a:rPr lang="zh-CN" altLang="en-US" b="1" i="0" dirty="0">
                <a:solidFill>
                  <a:srgbClr val="0F1115"/>
                </a:solidFill>
                <a:effectLst/>
                <a:latin typeface="quote-cjk-patch"/>
              </a:rPr>
              <a:t>功能测试</a:t>
            </a:r>
            <a:r>
              <a:rPr lang="zh-CN" altLang="en-US" b="0" i="0" dirty="0">
                <a:solidFill>
                  <a:srgbClr val="0F1115"/>
                </a:solidFill>
                <a:effectLst/>
                <a:latin typeface="quote-cjk-patch"/>
              </a:rPr>
              <a:t>，它</a:t>
            </a:r>
            <a:r>
              <a:rPr lang="zh-CN" altLang="en-US" b="1" i="0" dirty="0">
                <a:solidFill>
                  <a:srgbClr val="0F1115"/>
                </a:solidFill>
                <a:effectLst/>
                <a:latin typeface="quote-cjk-patch"/>
              </a:rPr>
              <a:t>不关心程序的内部逻辑结构</a:t>
            </a:r>
            <a:r>
              <a:rPr lang="zh-CN" altLang="en-US" b="0" i="0" dirty="0">
                <a:solidFill>
                  <a:srgbClr val="0F1115"/>
                </a:solidFill>
                <a:effectLst/>
                <a:latin typeface="quote-cjk-patch"/>
              </a:rPr>
              <a:t>，只关注程序的输入和输出行为是否符合规格说明。</a:t>
            </a:r>
          </a:p>
          <a:p>
            <a:pPr algn="l">
              <a:buFont typeface="Arial" panose="020B0604020202020204" pitchFamily="34" charset="0"/>
              <a:buChar char="•"/>
            </a:pPr>
            <a:r>
              <a:rPr lang="zh-CN" altLang="en-US" b="1" i="0" dirty="0">
                <a:solidFill>
                  <a:srgbClr val="0F1115"/>
                </a:solidFill>
                <a:effectLst/>
                <a:latin typeface="quote-cjk-patch"/>
              </a:rPr>
              <a:t>黑盒测试旨在发现以下类型的错误</a:t>
            </a:r>
            <a:r>
              <a:rPr lang="zh-CN" altLang="en-US" b="0" i="0" dirty="0">
                <a:solidFill>
                  <a:srgbClr val="0F1115"/>
                </a:solidFill>
                <a:effectLst/>
                <a:latin typeface="quote-cjk-patch"/>
              </a:rPr>
              <a:t>：</a:t>
            </a:r>
          </a:p>
          <a:p>
            <a:pPr marL="742950" lvl="1" indent="-285750" algn="l">
              <a:buFont typeface="Arial" panose="020B0604020202020204" pitchFamily="34" charset="0"/>
              <a:buChar char="•"/>
            </a:pPr>
            <a:r>
              <a:rPr lang="zh-CN" altLang="en-US" b="1" i="0" dirty="0">
                <a:solidFill>
                  <a:srgbClr val="0F1115"/>
                </a:solidFill>
                <a:effectLst/>
                <a:latin typeface="quote-cjk-patch"/>
              </a:rPr>
              <a:t>不正确或缺失的功能</a:t>
            </a:r>
            <a:r>
              <a:rPr lang="zh-CN" altLang="en-US" b="0" i="0" dirty="0">
                <a:solidFill>
                  <a:srgbClr val="0F1115"/>
                </a:solidFill>
                <a:effectLst/>
                <a:latin typeface="quote-cjk-patch"/>
              </a:rPr>
              <a:t>：软件没有实现应该实现的功能，或者实现有误。</a:t>
            </a:r>
          </a:p>
          <a:p>
            <a:pPr marL="742950" lvl="1" indent="-285750" algn="l">
              <a:buFont typeface="Arial" panose="020B0604020202020204" pitchFamily="34" charset="0"/>
              <a:buChar char="•"/>
            </a:pPr>
            <a:r>
              <a:rPr lang="zh-CN" altLang="en-US" b="1" i="0" dirty="0">
                <a:solidFill>
                  <a:srgbClr val="0F1115"/>
                </a:solidFill>
                <a:effectLst/>
                <a:latin typeface="quote-cjk-patch"/>
              </a:rPr>
              <a:t>接口错误</a:t>
            </a:r>
            <a:r>
              <a:rPr lang="zh-CN" altLang="en-US" b="0" i="0" dirty="0">
                <a:solidFill>
                  <a:srgbClr val="0F1115"/>
                </a:solidFill>
                <a:effectLst/>
                <a:latin typeface="quote-cjk-patch"/>
              </a:rPr>
              <a:t>：模块之间或系统与外部环境之间交互出现问题。</a:t>
            </a:r>
          </a:p>
          <a:p>
            <a:pPr marL="742950" lvl="1" indent="-285750" algn="l">
              <a:buFont typeface="Arial" panose="020B0604020202020204" pitchFamily="34" charset="0"/>
              <a:buChar char="•"/>
            </a:pPr>
            <a:r>
              <a:rPr lang="zh-CN" altLang="en-US" b="1" i="0" dirty="0">
                <a:solidFill>
                  <a:srgbClr val="0F1115"/>
                </a:solidFill>
                <a:effectLst/>
                <a:latin typeface="quote-cjk-patch"/>
              </a:rPr>
              <a:t>数据结构或外部数据库访问错误</a:t>
            </a:r>
            <a:r>
              <a:rPr lang="zh-CN" altLang="en-US" b="0" i="0" dirty="0">
                <a:solidFill>
                  <a:srgbClr val="0F1115"/>
                </a:solidFill>
                <a:effectLst/>
                <a:latin typeface="quote-cjk-patch"/>
              </a:rPr>
              <a:t>：数据存储、读取或修改不正确。</a:t>
            </a:r>
          </a:p>
          <a:p>
            <a:pPr marL="742950" lvl="1" indent="-285750" algn="l">
              <a:buFont typeface="Arial" panose="020B0604020202020204" pitchFamily="34" charset="0"/>
              <a:buChar char="•"/>
            </a:pPr>
            <a:r>
              <a:rPr lang="zh-CN" altLang="en-US" b="1" i="0" dirty="0">
                <a:solidFill>
                  <a:srgbClr val="0F1115"/>
                </a:solidFill>
                <a:effectLst/>
                <a:latin typeface="quote-cjk-patch"/>
              </a:rPr>
              <a:t>行为或性能错误</a:t>
            </a:r>
            <a:r>
              <a:rPr lang="zh-CN" altLang="en-US" b="0" i="0" dirty="0">
                <a:solidFill>
                  <a:srgbClr val="0F1115"/>
                </a:solidFill>
                <a:effectLst/>
                <a:latin typeface="quote-cjk-patch"/>
              </a:rPr>
              <a:t>：软件未达到预期的性能指标（如速度、资源消耗）。</a:t>
            </a:r>
          </a:p>
          <a:p>
            <a:pPr marL="742950" lvl="1" indent="-285750" algn="l">
              <a:buFont typeface="Arial" panose="020B0604020202020204" pitchFamily="34" charset="0"/>
              <a:buChar char="•"/>
            </a:pPr>
            <a:r>
              <a:rPr lang="zh-CN" altLang="en-US" b="1" i="0" dirty="0">
                <a:solidFill>
                  <a:srgbClr val="0F1115"/>
                </a:solidFill>
                <a:effectLst/>
                <a:latin typeface="quote-cjk-patch"/>
              </a:rPr>
              <a:t>初始化和终止错误</a:t>
            </a:r>
            <a:r>
              <a:rPr lang="zh-CN" altLang="en-US" b="0" i="0" dirty="0">
                <a:solidFill>
                  <a:srgbClr val="0F1115"/>
                </a:solidFill>
                <a:effectLst/>
                <a:latin typeface="quote-cjk-patch"/>
              </a:rPr>
              <a:t>：程序启动或关闭时发生问题。</a:t>
            </a:r>
          </a:p>
          <a:p>
            <a:pPr algn="l">
              <a:buFont typeface="Arial" panose="020B0604020202020204" pitchFamily="34" charset="0"/>
              <a:buChar char="•"/>
            </a:pPr>
            <a:r>
              <a:rPr lang="zh-CN" altLang="en-US" b="1" i="0" dirty="0">
                <a:solidFill>
                  <a:srgbClr val="0F1115"/>
                </a:solidFill>
                <a:effectLst/>
                <a:latin typeface="quote-cjk-patch"/>
              </a:rPr>
              <a:t>测试阶段的应用</a:t>
            </a:r>
            <a:r>
              <a:rPr lang="zh-CN" altLang="en-US" b="0" i="0" dirty="0">
                <a:solidFill>
                  <a:srgbClr val="0F1115"/>
                </a:solidFill>
                <a:effectLst/>
                <a:latin typeface="quote-cjk-patch"/>
              </a:rPr>
              <a:t>：</a:t>
            </a:r>
          </a:p>
          <a:p>
            <a:pPr marL="742950" lvl="1" indent="-285750" algn="l">
              <a:buFont typeface="Arial" panose="020B0604020202020204" pitchFamily="34" charset="0"/>
              <a:buChar char="•"/>
            </a:pPr>
            <a:r>
              <a:rPr lang="zh-CN" altLang="en-US" b="0" i="0" dirty="0">
                <a:solidFill>
                  <a:srgbClr val="0F1115"/>
                </a:solidFill>
                <a:effectLst/>
                <a:latin typeface="quote-cjk-patch"/>
              </a:rPr>
              <a:t>白盒测试通常用于早期的</a:t>
            </a:r>
            <a:r>
              <a:rPr lang="zh-CN" altLang="en-US" b="1" i="0" dirty="0">
                <a:solidFill>
                  <a:srgbClr val="0F1115"/>
                </a:solidFill>
                <a:effectLst/>
                <a:latin typeface="quote-cjk-patch"/>
              </a:rPr>
              <a:t>单元测试</a:t>
            </a:r>
            <a:r>
              <a:rPr lang="zh-CN" altLang="en-US" b="0" i="0" dirty="0">
                <a:solidFill>
                  <a:srgbClr val="0F1115"/>
                </a:solidFill>
                <a:effectLst/>
                <a:latin typeface="quote-cjk-patch"/>
              </a:rPr>
              <a:t>。</a:t>
            </a:r>
          </a:p>
          <a:p>
            <a:pPr marL="742950" lvl="1" indent="-285750" algn="l">
              <a:buFont typeface="Arial" panose="020B0604020202020204" pitchFamily="34" charset="0"/>
              <a:buChar char="•"/>
            </a:pPr>
            <a:r>
              <a:rPr lang="zh-CN" altLang="en-US" b="0" i="0" dirty="0">
                <a:solidFill>
                  <a:srgbClr val="0F1115"/>
                </a:solidFill>
                <a:effectLst/>
                <a:latin typeface="quote-cjk-patch"/>
              </a:rPr>
              <a:t>黑盒测试则更常用于后期的</a:t>
            </a:r>
            <a:r>
              <a:rPr lang="zh-CN" altLang="en-US" b="1" i="0" dirty="0">
                <a:solidFill>
                  <a:srgbClr val="0F1115"/>
                </a:solidFill>
                <a:effectLst/>
                <a:latin typeface="quote-cjk-patch"/>
              </a:rPr>
              <a:t>集成测试、确认测试和系统测试</a:t>
            </a:r>
            <a:r>
              <a:rPr lang="zh-CN" altLang="en-US" b="0" i="0" dirty="0">
                <a:solidFill>
                  <a:srgbClr val="0F1115"/>
                </a:solidFill>
                <a:effectLst/>
                <a:latin typeface="quote-cjk-patch"/>
              </a:rPr>
              <a:t>，因为它需要从整体功能上来验证系统。</a:t>
            </a:r>
          </a:p>
          <a:p>
            <a:endParaRPr lang="zh-CN"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85CE5E-25A1-4EDA-8764-191A8790D0A6}"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19879704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逻辑</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那么，具体如何设计黑盒测试的用例呢？我们需要通过一系列关键问题来引导我们的思考。</a:t>
            </a:r>
          </a:p>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内容解释</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这一页通过一系列问题，引导我们设计出有效的黑盒测试用例：</a:t>
            </a:r>
          </a:p>
          <a:p>
            <a:pPr algn="l"/>
            <a:r>
              <a:rPr lang="zh-CN" altLang="en-US" b="0" i="0" dirty="0">
                <a:solidFill>
                  <a:srgbClr val="0F1115"/>
                </a:solidFill>
                <a:effectLst/>
                <a:latin typeface="quote-cjk-patch"/>
              </a:rPr>
              <a:t>设计测试用例时，应尝试回答以下问题：</a:t>
            </a:r>
          </a:p>
          <a:p>
            <a:pPr algn="l">
              <a:buFont typeface="Arial" panose="020B0604020202020204" pitchFamily="34" charset="0"/>
              <a:buChar char="•"/>
            </a:pPr>
            <a:r>
              <a:rPr lang="zh-CN" altLang="en-US" b="1" i="0" dirty="0">
                <a:solidFill>
                  <a:srgbClr val="0F1115"/>
                </a:solidFill>
                <a:effectLst/>
                <a:latin typeface="quote-cjk-patch"/>
              </a:rPr>
              <a:t>如何测试功能的正确性？</a:t>
            </a:r>
            <a:r>
              <a:rPr lang="zh-CN" altLang="en-US" b="0" i="0" dirty="0">
                <a:solidFill>
                  <a:srgbClr val="0F1115"/>
                </a:solidFill>
                <a:effectLst/>
                <a:latin typeface="quote-cjk-patch"/>
              </a:rPr>
              <a:t> （基本功能验证）</a:t>
            </a:r>
          </a:p>
          <a:p>
            <a:pPr algn="l">
              <a:buFont typeface="Arial" panose="020B0604020202020204" pitchFamily="34" charset="0"/>
              <a:buChar char="•"/>
            </a:pPr>
            <a:r>
              <a:rPr lang="zh-CN" altLang="en-US" b="1" i="0" dirty="0">
                <a:solidFill>
                  <a:srgbClr val="0F1115"/>
                </a:solidFill>
                <a:effectLst/>
                <a:latin typeface="quote-cjk-patch"/>
              </a:rPr>
              <a:t>如何测试系统的行为和性能？</a:t>
            </a:r>
            <a:r>
              <a:rPr lang="zh-CN" altLang="en-US" b="0" i="0" dirty="0">
                <a:solidFill>
                  <a:srgbClr val="0F1115"/>
                </a:solidFill>
                <a:effectLst/>
                <a:latin typeface="quote-cjk-patch"/>
              </a:rPr>
              <a:t> （非功能需求验证）</a:t>
            </a:r>
          </a:p>
          <a:p>
            <a:pPr algn="l">
              <a:buFont typeface="Arial" panose="020B0604020202020204" pitchFamily="34" charset="0"/>
              <a:buChar char="•"/>
            </a:pPr>
            <a:r>
              <a:rPr lang="zh-CN" altLang="en-US" b="1" i="0" dirty="0">
                <a:solidFill>
                  <a:srgbClr val="0F1115"/>
                </a:solidFill>
                <a:effectLst/>
                <a:latin typeface="quote-cjk-patch"/>
              </a:rPr>
              <a:t>哪些输入类可以构成好的测试用例？</a:t>
            </a:r>
            <a:r>
              <a:rPr lang="zh-CN" altLang="en-US" b="0" i="0" dirty="0">
                <a:solidFill>
                  <a:srgbClr val="0F1115"/>
                </a:solidFill>
                <a:effectLst/>
                <a:latin typeface="quote-cjk-patch"/>
              </a:rPr>
              <a:t> （等价类划分）</a:t>
            </a:r>
          </a:p>
          <a:p>
            <a:pPr algn="l">
              <a:buFont typeface="Arial" panose="020B0604020202020204" pitchFamily="34" charset="0"/>
              <a:buChar char="•"/>
            </a:pPr>
            <a:r>
              <a:rPr lang="zh-CN" altLang="en-US" b="1" i="0" dirty="0">
                <a:solidFill>
                  <a:srgbClr val="0F1115"/>
                </a:solidFill>
                <a:effectLst/>
                <a:latin typeface="quote-cjk-patch"/>
              </a:rPr>
              <a:t>系统是否对某些特定输入值特别敏感？</a:t>
            </a:r>
            <a:r>
              <a:rPr lang="zh-CN" altLang="en-US" b="0" i="0" dirty="0">
                <a:solidFill>
                  <a:srgbClr val="0F1115"/>
                </a:solidFill>
                <a:effectLst/>
                <a:latin typeface="quote-cjk-patch"/>
              </a:rPr>
              <a:t> （错误猜测和边界值分析）</a:t>
            </a:r>
          </a:p>
          <a:p>
            <a:pPr algn="l">
              <a:buFont typeface="Arial" panose="020B0604020202020204" pitchFamily="34" charset="0"/>
              <a:buChar char="•"/>
            </a:pPr>
            <a:r>
              <a:rPr lang="zh-CN" altLang="en-US" b="1" i="0" dirty="0">
                <a:solidFill>
                  <a:srgbClr val="0F1115"/>
                </a:solidFill>
                <a:effectLst/>
                <a:latin typeface="quote-cjk-patch"/>
              </a:rPr>
              <a:t>如何确定一个数据类的边界？</a:t>
            </a:r>
            <a:r>
              <a:rPr lang="zh-CN" altLang="en-US" b="0" i="0" dirty="0">
                <a:solidFill>
                  <a:srgbClr val="0F1115"/>
                </a:solidFill>
                <a:effectLst/>
                <a:latin typeface="quote-cjk-patch"/>
              </a:rPr>
              <a:t> （边界值分析）</a:t>
            </a:r>
          </a:p>
          <a:p>
            <a:pPr algn="l">
              <a:buFont typeface="Arial" panose="020B0604020202020204" pitchFamily="34" charset="0"/>
              <a:buChar char="•"/>
            </a:pPr>
            <a:r>
              <a:rPr lang="zh-CN" altLang="en-US" b="1" i="0" dirty="0">
                <a:solidFill>
                  <a:srgbClr val="0F1115"/>
                </a:solidFill>
                <a:effectLst/>
                <a:latin typeface="quote-cjk-patch"/>
              </a:rPr>
              <a:t>系统能够承受的数据速率和数据量是多少？</a:t>
            </a:r>
            <a:r>
              <a:rPr lang="zh-CN" altLang="en-US" b="0" i="0" dirty="0">
                <a:solidFill>
                  <a:srgbClr val="0F1115"/>
                </a:solidFill>
                <a:effectLst/>
                <a:latin typeface="quote-cjk-patch"/>
              </a:rPr>
              <a:t> （压力测试和容量测试）</a:t>
            </a:r>
          </a:p>
          <a:p>
            <a:pPr algn="l">
              <a:buFont typeface="Arial" panose="020B0604020202020204" pitchFamily="34" charset="0"/>
              <a:buChar char="•"/>
            </a:pPr>
            <a:r>
              <a:rPr lang="zh-CN" altLang="en-US" b="1" i="0" dirty="0">
                <a:solidFill>
                  <a:srgbClr val="0F1115"/>
                </a:solidFill>
                <a:effectLst/>
                <a:latin typeface="quote-cjk-patch"/>
              </a:rPr>
              <a:t>特定的数据组合会对系统运行产生什么影响？</a:t>
            </a:r>
            <a:r>
              <a:rPr lang="zh-CN" altLang="en-US" b="0" i="0" dirty="0">
                <a:solidFill>
                  <a:srgbClr val="0F1115"/>
                </a:solidFill>
                <a:effectLst/>
                <a:latin typeface="quote-cjk-patch"/>
              </a:rPr>
              <a:t> （组合测试）</a:t>
            </a:r>
          </a:p>
          <a:p>
            <a:pPr algn="l"/>
            <a:r>
              <a:rPr lang="zh-CN" altLang="en-US" b="1" i="0" dirty="0">
                <a:solidFill>
                  <a:srgbClr val="0F1115"/>
                </a:solidFill>
                <a:effectLst/>
                <a:latin typeface="quote-cjk-patch"/>
              </a:rPr>
              <a:t>这些问题就像一个检查清单</a:t>
            </a:r>
            <a:r>
              <a:rPr lang="zh-CN" altLang="en-US" b="0" i="0" dirty="0">
                <a:solidFill>
                  <a:srgbClr val="0F1115"/>
                </a:solidFill>
                <a:effectLst/>
                <a:latin typeface="quote-cjk-patch"/>
              </a:rPr>
              <a:t>，确保我们的测试能够覆盖功能的正确性、鲁棒性、性能以及各种输入场景，从而发现更深层次的缺陷。</a:t>
            </a:r>
          </a:p>
          <a:p>
            <a:endParaRPr lang="zh-CN"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85CE5E-25A1-4EDA-8764-191A8790D0A6}"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6459610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逻辑</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在测试单个组件时，一个常见的难题是：这个组件并不是一个能独立运行的程序。那么，我们该如何测试它呢？这就需要搭建“脚手架”。</a:t>
            </a:r>
          </a:p>
          <a:p>
            <a:pPr algn="l"/>
            <a:r>
              <a:rPr lang="en-US" altLang="zh-CN" b="0" i="0" dirty="0">
                <a:solidFill>
                  <a:srgbClr val="0F1115"/>
                </a:solidFill>
                <a:effectLst/>
                <a:latin typeface="quote-cjk-patch"/>
              </a:rPr>
              <a:t>【</a:t>
            </a:r>
            <a:r>
              <a:rPr lang="zh-CN" altLang="en-US" b="0" i="0" dirty="0">
                <a:solidFill>
                  <a:srgbClr val="0F1115"/>
                </a:solidFill>
                <a:effectLst/>
                <a:latin typeface="quote-cjk-patch"/>
              </a:rPr>
              <a:t>内容解释</a:t>
            </a:r>
            <a:r>
              <a:rPr lang="en-US" altLang="zh-CN" b="0" i="0" dirty="0">
                <a:solidFill>
                  <a:srgbClr val="0F1115"/>
                </a:solidFill>
                <a:effectLst/>
                <a:latin typeface="quote-cjk-patch"/>
              </a:rPr>
              <a:t>】</a:t>
            </a:r>
            <a:br>
              <a:rPr lang="en-US" altLang="zh-CN" b="0" i="0" dirty="0">
                <a:solidFill>
                  <a:srgbClr val="0F1115"/>
                </a:solidFill>
                <a:effectLst/>
                <a:latin typeface="quote-cjk-patch"/>
              </a:rPr>
            </a:br>
            <a:r>
              <a:rPr lang="zh-CN" altLang="en-US" b="0" i="0" dirty="0">
                <a:solidFill>
                  <a:srgbClr val="0F1115"/>
                </a:solidFill>
                <a:effectLst/>
                <a:latin typeface="quote-cjk-patch"/>
              </a:rPr>
              <a:t>这一页介绍了在单元测试中构建测试框架所需的辅助代码：</a:t>
            </a:r>
          </a:p>
          <a:p>
            <a:pPr algn="l">
              <a:buFont typeface="Arial" panose="020B0604020202020204" pitchFamily="34" charset="0"/>
              <a:buChar char="•"/>
            </a:pPr>
            <a:r>
              <a:rPr lang="zh-CN" altLang="en-US" b="1" i="0" dirty="0">
                <a:solidFill>
                  <a:srgbClr val="0F1115"/>
                </a:solidFill>
                <a:effectLst/>
                <a:latin typeface="quote-cjk-patch"/>
              </a:rPr>
              <a:t>脚手架</a:t>
            </a:r>
            <a:r>
              <a:rPr lang="zh-CN" altLang="en-US" b="0" i="0" dirty="0">
                <a:solidFill>
                  <a:srgbClr val="0F1115"/>
                </a:solidFill>
                <a:effectLst/>
                <a:latin typeface="quote-cjk-patch"/>
              </a:rPr>
              <a:t>：指的是为了测试某个组件而临时编写的支撑代码</a:t>
            </a:r>
            <a:r>
              <a:rPr lang="en-US" altLang="zh-CN" b="0" i="0" dirty="0">
                <a:solidFill>
                  <a:srgbClr val="0F1115"/>
                </a:solidFill>
                <a:effectLst/>
                <a:latin typeface="quote-cjk-patch"/>
              </a:rPr>
              <a:t>/</a:t>
            </a:r>
            <a:r>
              <a:rPr lang="zh-CN" altLang="en-US" b="0" i="0" dirty="0">
                <a:solidFill>
                  <a:srgbClr val="0F1115"/>
                </a:solidFill>
                <a:effectLst/>
                <a:latin typeface="quote-cjk-patch"/>
              </a:rPr>
              <a:t>环境。它不是一个真正的产品部件，而是测试的“道具”。</a:t>
            </a:r>
          </a:p>
          <a:p>
            <a:pPr algn="l">
              <a:buFont typeface="Arial" panose="020B0604020202020204" pitchFamily="34" charset="0"/>
              <a:buChar char="•"/>
            </a:pPr>
            <a:r>
              <a:rPr lang="zh-CN" altLang="en-US" b="1" i="0" dirty="0">
                <a:solidFill>
                  <a:srgbClr val="0F1115"/>
                </a:solidFill>
                <a:effectLst/>
                <a:latin typeface="quote-cjk-patch"/>
              </a:rPr>
              <a:t>驱动</a:t>
            </a:r>
            <a:r>
              <a:rPr lang="zh-CN" altLang="en-US" b="0" i="0" dirty="0">
                <a:solidFill>
                  <a:srgbClr val="0F1115"/>
                </a:solidFill>
                <a:effectLst/>
                <a:latin typeface="quote-cjk-patch"/>
              </a:rPr>
              <a:t>：</a:t>
            </a:r>
          </a:p>
          <a:p>
            <a:pPr marL="742950" lvl="1" indent="-285750" algn="l">
              <a:buFont typeface="Arial" panose="020B0604020202020204" pitchFamily="34" charset="0"/>
              <a:buChar char="•"/>
            </a:pPr>
            <a:r>
              <a:rPr lang="zh-CN" altLang="en-US" b="1" i="0" dirty="0">
                <a:solidFill>
                  <a:srgbClr val="0F1115"/>
                </a:solidFill>
                <a:effectLst/>
                <a:latin typeface="quote-cjk-patch"/>
              </a:rPr>
              <a:t>作用</a:t>
            </a:r>
            <a:r>
              <a:rPr lang="zh-CN" altLang="en-US" b="0" i="0" dirty="0">
                <a:solidFill>
                  <a:srgbClr val="0F1115"/>
                </a:solidFill>
                <a:effectLst/>
                <a:latin typeface="quote-cjk-patch"/>
              </a:rPr>
              <a:t>：模拟一个</a:t>
            </a:r>
            <a:r>
              <a:rPr lang="zh-CN" altLang="en-US" b="1" i="0" dirty="0">
                <a:solidFill>
                  <a:srgbClr val="0F1115"/>
                </a:solidFill>
                <a:effectLst/>
                <a:latin typeface="quote-cjk-patch"/>
              </a:rPr>
              <a:t>调用者</a:t>
            </a:r>
            <a:r>
              <a:rPr lang="zh-CN" altLang="en-US" b="0" i="0" dirty="0">
                <a:solidFill>
                  <a:srgbClr val="0F1115"/>
                </a:solidFill>
                <a:effectLst/>
                <a:latin typeface="quote-cjk-patch"/>
              </a:rPr>
              <a:t>或</a:t>
            </a:r>
            <a:r>
              <a:rPr lang="zh-CN" altLang="en-US" b="1" i="0" dirty="0">
                <a:solidFill>
                  <a:srgbClr val="0F1115"/>
                </a:solidFill>
                <a:effectLst/>
                <a:latin typeface="quote-cjk-patch"/>
              </a:rPr>
              <a:t>主程序</a:t>
            </a:r>
            <a:r>
              <a:rPr lang="zh-CN" altLang="en-US" b="0" i="0" dirty="0">
                <a:solidFill>
                  <a:srgbClr val="0F1115"/>
                </a:solidFill>
                <a:effectLst/>
                <a:latin typeface="quote-cjk-patch"/>
              </a:rPr>
              <a:t>。</a:t>
            </a:r>
          </a:p>
          <a:p>
            <a:pPr marL="742950" lvl="1" indent="-285750" algn="l">
              <a:buFont typeface="Arial" panose="020B0604020202020204" pitchFamily="34" charset="0"/>
              <a:buChar char="•"/>
            </a:pPr>
            <a:r>
              <a:rPr lang="zh-CN" altLang="en-US" b="1" i="0" dirty="0">
                <a:solidFill>
                  <a:srgbClr val="0F1115"/>
                </a:solidFill>
                <a:effectLst/>
                <a:latin typeface="quote-cjk-patch"/>
              </a:rPr>
              <a:t>功能</a:t>
            </a:r>
            <a:r>
              <a:rPr lang="zh-CN" altLang="en-US" b="0" i="0" dirty="0">
                <a:solidFill>
                  <a:srgbClr val="0F1115"/>
                </a:solidFill>
                <a:effectLst/>
                <a:latin typeface="quote-cjk-patch"/>
              </a:rPr>
              <a:t>：它接收测试用例数据，将其传递给待测试的组件，然后接收并打印或验证返回的结果。</a:t>
            </a:r>
          </a:p>
          <a:p>
            <a:pPr marL="742950" lvl="1" indent="-285750" algn="l">
              <a:buFont typeface="Arial" panose="020B0604020202020204" pitchFamily="34" charset="0"/>
              <a:buChar char="•"/>
            </a:pPr>
            <a:r>
              <a:rPr lang="zh-CN" altLang="en-US" b="1" i="0" dirty="0">
                <a:solidFill>
                  <a:srgbClr val="0F1115"/>
                </a:solidFill>
                <a:effectLst/>
                <a:latin typeface="quote-cjk-patch"/>
              </a:rPr>
              <a:t>例子</a:t>
            </a:r>
            <a:r>
              <a:rPr lang="zh-CN" altLang="en-US" b="0" i="0" dirty="0">
                <a:solidFill>
                  <a:srgbClr val="0F1115"/>
                </a:solidFill>
                <a:effectLst/>
                <a:latin typeface="quote-cjk-patch"/>
              </a:rPr>
              <a:t>：要测试一个计算器模块的加法函数，你需要一个驱动程序来调用这个函数，并传入测试参数（如</a:t>
            </a:r>
            <a:r>
              <a:rPr lang="en-US" altLang="zh-CN" b="0" i="0" dirty="0">
                <a:solidFill>
                  <a:srgbClr val="0F1115"/>
                </a:solidFill>
                <a:effectLst/>
                <a:latin typeface="quote-cjk-patch"/>
              </a:rPr>
              <a:t>2</a:t>
            </a:r>
            <a:r>
              <a:rPr lang="zh-CN" altLang="en-US" b="0" i="0" dirty="0">
                <a:solidFill>
                  <a:srgbClr val="0F1115"/>
                </a:solidFill>
                <a:effectLst/>
                <a:latin typeface="quote-cjk-patch"/>
              </a:rPr>
              <a:t>和</a:t>
            </a:r>
            <a:r>
              <a:rPr lang="en-US" altLang="zh-CN" b="0" i="0" dirty="0">
                <a:solidFill>
                  <a:srgbClr val="0F1115"/>
                </a:solidFill>
                <a:effectLst/>
                <a:latin typeface="quote-cjk-patch"/>
              </a:rPr>
              <a:t>3</a:t>
            </a:r>
            <a:r>
              <a:rPr lang="zh-CN" altLang="en-US" b="0" i="0" dirty="0">
                <a:solidFill>
                  <a:srgbClr val="0F1115"/>
                </a:solidFill>
                <a:effectLst/>
                <a:latin typeface="quote-cjk-patch"/>
              </a:rPr>
              <a:t>），然后检查返回值是否为</a:t>
            </a:r>
            <a:r>
              <a:rPr lang="en-US" altLang="zh-CN" b="0" i="0" dirty="0">
                <a:solidFill>
                  <a:srgbClr val="0F1115"/>
                </a:solidFill>
                <a:effectLst/>
                <a:latin typeface="quote-cjk-patch"/>
              </a:rPr>
              <a:t>5</a:t>
            </a:r>
            <a:r>
              <a:rPr lang="zh-CN" altLang="en-US" b="0" i="0" dirty="0">
                <a:solidFill>
                  <a:srgbClr val="0F1115"/>
                </a:solidFill>
                <a:effectLst/>
                <a:latin typeface="quote-cjk-patch"/>
              </a:rPr>
              <a:t>。</a:t>
            </a:r>
          </a:p>
          <a:p>
            <a:pPr algn="l">
              <a:buFont typeface="Arial" panose="020B0604020202020204" pitchFamily="34" charset="0"/>
              <a:buChar char="•"/>
            </a:pPr>
            <a:r>
              <a:rPr lang="zh-CN" altLang="en-US" b="1" i="0" dirty="0">
                <a:solidFill>
                  <a:srgbClr val="0F1115"/>
                </a:solidFill>
                <a:effectLst/>
                <a:latin typeface="quote-cjk-patch"/>
              </a:rPr>
              <a:t>桩</a:t>
            </a:r>
            <a:r>
              <a:rPr lang="zh-CN" altLang="en-US" b="0" i="0" dirty="0">
                <a:solidFill>
                  <a:srgbClr val="0F1115"/>
                </a:solidFill>
                <a:effectLst/>
                <a:latin typeface="quote-cjk-patch"/>
              </a:rPr>
              <a:t>：</a:t>
            </a:r>
          </a:p>
          <a:p>
            <a:pPr marL="742950" lvl="1" indent="-285750" algn="l">
              <a:buFont typeface="Arial" panose="020B0604020202020204" pitchFamily="34" charset="0"/>
              <a:buChar char="•"/>
            </a:pPr>
            <a:r>
              <a:rPr lang="zh-CN" altLang="en-US" b="1" i="0" dirty="0">
                <a:solidFill>
                  <a:srgbClr val="0F1115"/>
                </a:solidFill>
                <a:effectLst/>
                <a:latin typeface="quote-cjk-patch"/>
              </a:rPr>
              <a:t>作用</a:t>
            </a:r>
            <a:r>
              <a:rPr lang="zh-CN" altLang="en-US" b="0" i="0" dirty="0">
                <a:solidFill>
                  <a:srgbClr val="0F1115"/>
                </a:solidFill>
                <a:effectLst/>
                <a:latin typeface="quote-cjk-patch"/>
              </a:rPr>
              <a:t>：模拟待测试组件所</a:t>
            </a:r>
            <a:r>
              <a:rPr lang="zh-CN" altLang="en-US" b="1" i="0" dirty="0">
                <a:solidFill>
                  <a:srgbClr val="0F1115"/>
                </a:solidFill>
                <a:effectLst/>
                <a:latin typeface="quote-cjk-patch"/>
              </a:rPr>
              <a:t>依赖的下级模块</a:t>
            </a:r>
            <a:r>
              <a:rPr lang="zh-CN" altLang="en-US" b="0" i="0" dirty="0">
                <a:solidFill>
                  <a:srgbClr val="0F1115"/>
                </a:solidFill>
                <a:effectLst/>
                <a:latin typeface="quote-cjk-patch"/>
              </a:rPr>
              <a:t>。</a:t>
            </a:r>
          </a:p>
          <a:p>
            <a:pPr marL="742950" lvl="1" indent="-285750" algn="l">
              <a:buFont typeface="Arial" panose="020B0604020202020204" pitchFamily="34" charset="0"/>
              <a:buChar char="•"/>
            </a:pPr>
            <a:r>
              <a:rPr lang="zh-CN" altLang="en-US" b="1" i="0" dirty="0">
                <a:solidFill>
                  <a:srgbClr val="0F1115"/>
                </a:solidFill>
                <a:effectLst/>
                <a:latin typeface="quote-cjk-patch"/>
              </a:rPr>
              <a:t>功能</a:t>
            </a:r>
            <a:r>
              <a:rPr lang="zh-CN" altLang="en-US" b="0" i="0" dirty="0">
                <a:solidFill>
                  <a:srgbClr val="0F1115"/>
                </a:solidFill>
                <a:effectLst/>
                <a:latin typeface="quote-cjk-patch"/>
              </a:rPr>
              <a:t>：它实现被替代模块的接口，通常会进行最少量的数据操作，打印一条日志表明自己被调用了，然后返回一个预定义的、简单的控制权给待测试模块。</a:t>
            </a:r>
          </a:p>
          <a:p>
            <a:pPr marL="742950" lvl="1" indent="-285750" algn="l">
              <a:buFont typeface="Arial" panose="020B0604020202020204" pitchFamily="34" charset="0"/>
              <a:buChar char="•"/>
            </a:pPr>
            <a:r>
              <a:rPr lang="zh-CN" altLang="en-US" b="1" i="0" dirty="0">
                <a:solidFill>
                  <a:srgbClr val="0F1115"/>
                </a:solidFill>
                <a:effectLst/>
                <a:latin typeface="quote-cjk-patch"/>
              </a:rPr>
              <a:t>例子</a:t>
            </a:r>
            <a:r>
              <a:rPr lang="zh-CN" altLang="en-US" b="0" i="0" dirty="0">
                <a:solidFill>
                  <a:srgbClr val="0F1115"/>
                </a:solidFill>
                <a:effectLst/>
                <a:latin typeface="quote-cjk-patch"/>
              </a:rPr>
              <a:t>：测试一个“用户登录”模块，该模块需要调用一个“数据库查询”模块来验证密码。在单元测试时，我们还不关心数据库本身，就可以写一个“桩”来模拟数据库查询，直接返回“密码正确”或“密码错误”。</a:t>
            </a:r>
          </a:p>
          <a:p>
            <a:pPr algn="l"/>
            <a:r>
              <a:rPr lang="zh-CN" altLang="en-US" b="1" i="0" dirty="0">
                <a:solidFill>
                  <a:srgbClr val="0F1115"/>
                </a:solidFill>
                <a:effectLst/>
                <a:latin typeface="quote-cjk-patch"/>
              </a:rPr>
              <a:t>总结</a:t>
            </a:r>
            <a:r>
              <a:rPr lang="zh-CN" altLang="en-US" b="0" i="0" dirty="0">
                <a:solidFill>
                  <a:srgbClr val="0F1115"/>
                </a:solidFill>
                <a:effectLst/>
                <a:latin typeface="quote-cjk-patch"/>
              </a:rPr>
              <a:t>：驱动和桩让我们能够将被测组件</a:t>
            </a:r>
            <a:r>
              <a:rPr lang="zh-CN" altLang="en-US" b="1" i="0" dirty="0">
                <a:solidFill>
                  <a:srgbClr val="0F1115"/>
                </a:solidFill>
                <a:effectLst/>
                <a:latin typeface="quote-cjk-patch"/>
              </a:rPr>
              <a:t>隔离</a:t>
            </a:r>
            <a:r>
              <a:rPr lang="zh-CN" altLang="en-US" b="0" i="0" dirty="0">
                <a:solidFill>
                  <a:srgbClr val="0F1115"/>
                </a:solidFill>
                <a:effectLst/>
                <a:latin typeface="quote-cjk-patch"/>
              </a:rPr>
              <a:t>出来，在一个受控的环境中进行精确测试。</a:t>
            </a:r>
          </a:p>
          <a:p>
            <a:endParaRPr lang="zh-CN"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85CE5E-25A1-4EDA-8764-191A8790D0A6}"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15375406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同学们，在项目管理中，风险是无法完全避免的。我们首先来看一种常见的应对方式</a:t>
            </a:r>
            <a:r>
              <a:rPr lang="en-US" altLang="zh-CN" b="0" i="0" dirty="0">
                <a:solidFill>
                  <a:srgbClr val="0F1115"/>
                </a:solidFill>
                <a:effectLst/>
                <a:latin typeface="quote-cjk-patch"/>
              </a:rPr>
              <a:t>——</a:t>
            </a:r>
            <a:r>
              <a:rPr lang="zh-CN" altLang="en-US" b="0" i="0" dirty="0">
                <a:solidFill>
                  <a:srgbClr val="0F1115"/>
                </a:solidFill>
                <a:effectLst/>
                <a:latin typeface="quote-cjk-patch"/>
              </a:rPr>
              <a:t>反应式风险管理。这种方式是在风险发生后才采取行动，是一种“被动应对”的模式。</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反应式风险管理指的是项目团队在风险实际发生后才做出反应。它主要包括三种处理方式：</a:t>
            </a:r>
          </a:p>
          <a:p>
            <a:pPr algn="l">
              <a:buFont typeface="Arial" panose="020B0604020202020204" pitchFamily="34" charset="0"/>
              <a:buChar char="•"/>
            </a:pPr>
            <a:r>
              <a:rPr lang="en-US" altLang="zh-CN" b="1" i="0" dirty="0">
                <a:solidFill>
                  <a:srgbClr val="0F1115"/>
                </a:solidFill>
                <a:effectLst/>
                <a:latin typeface="quote-cjk-patch"/>
              </a:rPr>
              <a:t>Mitigation</a:t>
            </a:r>
            <a:r>
              <a:rPr lang="zh-CN" altLang="en-US" b="1" i="0" dirty="0">
                <a:solidFill>
                  <a:srgbClr val="0F1115"/>
                </a:solidFill>
                <a:effectLst/>
                <a:latin typeface="quote-cjk-patch"/>
              </a:rPr>
              <a:t>（缓解）</a:t>
            </a:r>
            <a:r>
              <a:rPr lang="zh-CN" altLang="en-US" b="0" i="0" dirty="0">
                <a:solidFill>
                  <a:srgbClr val="0F1115"/>
                </a:solidFill>
                <a:effectLst/>
                <a:latin typeface="quote-cjk-patch"/>
              </a:rPr>
              <a:t>：提前预留额外资源，为可能出现的“救火”情况做准备。比如，预见到某个模块可能延期，就提前安排更多人力和时间缓冲。</a:t>
            </a:r>
          </a:p>
          <a:p>
            <a:pPr algn="l">
              <a:buFont typeface="Arial" panose="020B0604020202020204" pitchFamily="34" charset="0"/>
              <a:buChar char="•"/>
            </a:pPr>
            <a:r>
              <a:rPr lang="en-US" altLang="zh-CN" b="1" i="0" dirty="0">
                <a:solidFill>
                  <a:srgbClr val="0F1115"/>
                </a:solidFill>
                <a:effectLst/>
                <a:latin typeface="quote-cjk-patch"/>
              </a:rPr>
              <a:t>Fix on failure</a:t>
            </a:r>
            <a:r>
              <a:rPr lang="zh-CN" altLang="en-US" b="1" i="0" dirty="0">
                <a:solidFill>
                  <a:srgbClr val="0F1115"/>
                </a:solidFill>
                <a:effectLst/>
                <a:latin typeface="quote-cjk-patch"/>
              </a:rPr>
              <a:t>（故障后修复）</a:t>
            </a:r>
            <a:r>
              <a:rPr lang="zh-CN" altLang="en-US" b="0" i="0" dirty="0">
                <a:solidFill>
                  <a:srgbClr val="0F1115"/>
                </a:solidFill>
                <a:effectLst/>
                <a:latin typeface="quote-cjk-patch"/>
              </a:rPr>
              <a:t>：风险真正发生时才调动资源应对。例如，系统上线后出现性能问题，再紧急组织优化。</a:t>
            </a:r>
          </a:p>
          <a:p>
            <a:pPr algn="l">
              <a:buFont typeface="Arial" panose="020B0604020202020204" pitchFamily="34" charset="0"/>
              <a:buChar char="•"/>
            </a:pPr>
            <a:r>
              <a:rPr lang="en-US" altLang="zh-CN" b="1" i="0" dirty="0">
                <a:solidFill>
                  <a:srgbClr val="0F1115"/>
                </a:solidFill>
                <a:effectLst/>
                <a:latin typeface="quote-cjk-patch"/>
              </a:rPr>
              <a:t>Crisis management</a:t>
            </a:r>
            <a:r>
              <a:rPr lang="zh-CN" altLang="en-US" b="1" i="0" dirty="0">
                <a:solidFill>
                  <a:srgbClr val="0F1115"/>
                </a:solidFill>
                <a:effectLst/>
                <a:latin typeface="quote-cjk-patch"/>
              </a:rPr>
              <a:t>（危机管理）</a:t>
            </a:r>
            <a:r>
              <a:rPr lang="zh-CN" altLang="en-US" b="0" i="0" dirty="0">
                <a:solidFill>
                  <a:srgbClr val="0F1115"/>
                </a:solidFill>
                <a:effectLst/>
                <a:latin typeface="quote-cjk-patch"/>
              </a:rPr>
              <a:t>：当风险严重到无法通过常规资源解决、项目面临失败危险时采取的紧急应对措施。比如关键人员突然离职且项目无人接手，可能导致项目停滞。</a:t>
            </a:r>
          </a:p>
          <a:p>
            <a:pPr algn="l"/>
            <a:r>
              <a:rPr lang="zh-CN" altLang="en-US" b="0" i="0" dirty="0">
                <a:solidFill>
                  <a:srgbClr val="0F1115"/>
                </a:solidFill>
                <a:effectLst/>
                <a:latin typeface="quote-cjk-patch"/>
              </a:rPr>
              <a:t>这种方式的缺点是“事后补救”，往往成本高、压力大，适用于无法预知或概率极低的风险。</a:t>
            </a:r>
          </a:p>
          <a:p>
            <a:br>
              <a:rPr lang="zh-CN" altLang="en-US" dirty="0"/>
            </a:br>
            <a:endParaRPr lang="zh-CN"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4CF2F01-2020-4480-82A8-9D1583784338}"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15398365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逻辑</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为了更有效地控制风险，我们更推荐另一种方式</a:t>
            </a:r>
            <a:r>
              <a:rPr lang="en-US" altLang="zh-CN" b="0" i="0" dirty="0">
                <a:solidFill>
                  <a:srgbClr val="0F1115"/>
                </a:solidFill>
                <a:effectLst/>
                <a:latin typeface="quote-cjk-patch"/>
              </a:rPr>
              <a:t>——</a:t>
            </a:r>
            <a:r>
              <a:rPr lang="zh-CN" altLang="en-US" b="0" i="0" dirty="0">
                <a:solidFill>
                  <a:srgbClr val="0F1115"/>
                </a:solidFill>
                <a:effectLst/>
                <a:latin typeface="quote-cjk-patch"/>
              </a:rPr>
              <a:t>主动式风险管理。这种方式强调“预防胜于治疗”，在风险发生前就进行识别与规划。</a:t>
            </a:r>
          </a:p>
          <a:p>
            <a:pPr algn="l"/>
            <a:r>
              <a:rPr lang="en-US" altLang="zh-CN" b="1" i="0" dirty="0">
                <a:solidFill>
                  <a:srgbClr val="0F1115"/>
                </a:solidFill>
                <a:effectLst/>
                <a:latin typeface="quote-cjk-patch"/>
              </a:rPr>
              <a:t>【</a:t>
            </a:r>
            <a:r>
              <a:rPr lang="zh-CN" altLang="en-US" b="1" i="0" dirty="0">
                <a:solidFill>
                  <a:srgbClr val="0F1115"/>
                </a:solidFill>
                <a:effectLst/>
                <a:latin typeface="quote-cjk-patch"/>
              </a:rPr>
              <a:t>内容解释</a:t>
            </a:r>
            <a:r>
              <a:rPr lang="en-US" altLang="zh-CN" b="1" i="0" dirty="0">
                <a:solidFill>
                  <a:srgbClr val="0F1115"/>
                </a:solidFill>
                <a:effectLst/>
                <a:latin typeface="quote-cjk-patch"/>
              </a:rPr>
              <a:t>】</a:t>
            </a:r>
            <a:br>
              <a:rPr lang="zh-CN" altLang="en-US" b="0" i="0" dirty="0">
                <a:solidFill>
                  <a:srgbClr val="0F1115"/>
                </a:solidFill>
                <a:effectLst/>
                <a:latin typeface="quote-cjk-patch"/>
              </a:rPr>
            </a:br>
            <a:r>
              <a:rPr lang="zh-CN" altLang="en-US" b="0" i="0" dirty="0">
                <a:solidFill>
                  <a:srgbClr val="0F1115"/>
                </a:solidFill>
                <a:effectLst/>
                <a:latin typeface="quote-cjk-patch"/>
              </a:rPr>
              <a:t>主动式风险管理是指在项目开始前或进行中，就主动识别潜在风险，评估其发生概率和影响程度，并按重要性排序。</a:t>
            </a:r>
            <a:endParaRPr lang="en-US" altLang="zh-CN" b="0" i="0" dirty="0">
              <a:solidFill>
                <a:srgbClr val="0F1115"/>
              </a:solidFill>
              <a:effectLst/>
              <a:latin typeface="quote-cjk-patch"/>
            </a:endParaRPr>
          </a:p>
          <a:p>
            <a:pPr algn="l"/>
            <a:r>
              <a:rPr lang="zh-CN" altLang="en-US" b="0" i="0" dirty="0">
                <a:solidFill>
                  <a:srgbClr val="0F1115"/>
                </a:solidFill>
                <a:effectLst/>
                <a:latin typeface="quote-cjk-patch"/>
              </a:rPr>
              <a:t>软件团队会制定明确的风险管理计划，</a:t>
            </a:r>
            <a:endParaRPr lang="en-US" altLang="zh-CN" b="0" i="0" dirty="0">
              <a:solidFill>
                <a:srgbClr val="0F1115"/>
              </a:solidFill>
              <a:effectLst/>
              <a:latin typeface="quote-cjk-patch"/>
            </a:endParaRPr>
          </a:p>
          <a:p>
            <a:pPr algn="l"/>
            <a:r>
              <a:rPr lang="zh-CN" altLang="en-US" b="0" i="0" dirty="0">
                <a:solidFill>
                  <a:srgbClr val="0F1115"/>
                </a:solidFill>
                <a:effectLst/>
                <a:latin typeface="quote-cjk-patch"/>
              </a:rPr>
              <a:t>其核心目标是尽量避免风险发生，同时也为无法避免的风险制定应急预案。</a:t>
            </a:r>
          </a:p>
          <a:p>
            <a:pPr algn="l"/>
            <a:r>
              <a:rPr lang="zh-CN" altLang="en-US" b="0" i="0" dirty="0">
                <a:solidFill>
                  <a:srgbClr val="0F1115"/>
                </a:solidFill>
                <a:effectLst/>
                <a:latin typeface="quote-cjk-patch"/>
              </a:rPr>
              <a:t>例如，在项目启动阶段，团队可以列出可能遇到的技术难题、人员变动、需求变更等风险，并为每一种风险制定应对策略。</a:t>
            </a:r>
            <a:endParaRPr lang="en-US" altLang="zh-CN" b="0" i="0" dirty="0">
              <a:solidFill>
                <a:srgbClr val="0F1115"/>
              </a:solidFill>
              <a:effectLst/>
              <a:latin typeface="quote-cjk-patch"/>
            </a:endParaRPr>
          </a:p>
          <a:p>
            <a:pPr algn="l"/>
            <a:r>
              <a:rPr lang="zh-CN" altLang="en-US" b="0" i="0" dirty="0">
                <a:solidFill>
                  <a:srgbClr val="0F1115"/>
                </a:solidFill>
                <a:effectLst/>
                <a:latin typeface="quote-cjk-patch"/>
              </a:rPr>
              <a:t>这样不仅能减少项目中断的可能性，还能控制“技术债务”的积累，提升项目整体可控性。</a:t>
            </a:r>
          </a:p>
          <a:p>
            <a:endParaRPr lang="zh-CN" alt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4CF2F01-2020-4480-82A8-9D1583784338}" type="slidenum">
              <a:rPr kumimoji="0" lang="zh-CN" altLang="en-US" sz="1200" b="0" i="0" u="none" strike="noStrike" kern="1200" cap="none" spc="0" normalizeH="0" baseline="0" noProof="0" smtClean="0">
                <a:ln>
                  <a:noFill/>
                </a:ln>
                <a:solidFill>
                  <a:prstClr val="black"/>
                </a:solidFill>
                <a:effectLst/>
                <a:uLnTx/>
                <a:uFillTx/>
                <a:latin typeface="等线" panose="0211000402020202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zh-CN" altLang="en-US" sz="1200" b="0" i="0" u="none" strike="noStrike" kern="1200" cap="none" spc="0" normalizeH="0" baseline="0" noProof="0">
              <a:ln>
                <a:noFill/>
              </a:ln>
              <a:solidFill>
                <a:prstClr val="black"/>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34412044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8.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8AC4EEC4-5547-4185-92E7-A6CAF888043F}"/>
              </a:ext>
            </a:extLst>
          </p:cNvPr>
          <p:cNvSpPr>
            <a:spLocks noGrp="1"/>
          </p:cNvSpPr>
          <p:nvPr>
            <p:ph type="ftr" sz="quarter" idx="12"/>
          </p:nvPr>
        </p:nvSpPr>
        <p:spPr>
          <a:xfrm>
            <a:off x="0" y="6478438"/>
            <a:ext cx="9144000" cy="374266"/>
          </a:xfrm>
        </p:spPr>
        <p:txBody>
          <a:bodyPr/>
          <a:lstStyle>
            <a:lvl1pPr algn="ctr">
              <a:defRPr>
                <a:solidFill>
                  <a:schemeClr val="tx1">
                    <a:lumMod val="50000"/>
                    <a:lumOff val="50000"/>
                  </a:schemeClr>
                </a:solidFill>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latin typeface="Times New Roman" panose="02020603050405020304" pitchFamily="18" charset="0"/>
                <a:cs typeface="Times New Roman" panose="02020603050405020304" pitchFamily="18" charset="0"/>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latin typeface="Times New Roman" panose="02020603050405020304" pitchFamily="18" charset="0"/>
                <a:cs typeface="Times New Roman" panose="02020603050405020304" pitchFamily="18" charset="0"/>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F4607C07-D864-4A1A-8061-D12997CC50CE}"/>
              </a:ext>
            </a:extLst>
          </p:cNvPr>
          <p:cNvSpPr>
            <a:spLocks noGrp="1"/>
          </p:cNvSpPr>
          <p:nvPr>
            <p:ph type="ftr" sz="quarter" idx="12"/>
          </p:nvPr>
        </p:nvSpPr>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latin typeface="Times New Roman" panose="02020603050405020304" pitchFamily="18" charset="0"/>
                <a:cs typeface="Times New Roman" panose="02020603050405020304" pitchFamily="18" charset="0"/>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latin typeface="Times New Roman" panose="02020603050405020304" pitchFamily="18" charset="0"/>
                <a:cs typeface="Times New Roman" panose="02020603050405020304" pitchFamily="18" charset="0"/>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02310"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latin typeface="Times New Roman" panose="02020603050405020304" pitchFamily="18" charset="0"/>
                <a:cs typeface="Times New Roman" panose="02020603050405020304" pitchFamily="18" charset="0"/>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userDrawn="1">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descr="McGraw-Hill Education Logo">
            <a:extLst>
              <a:ext uri="{FF2B5EF4-FFF2-40B4-BE49-F238E27FC236}">
                <a16:creationId xmlns:a16="http://schemas.microsoft.com/office/drawing/2014/main" id="{60DCFDF5-2A5B-440E-888A-BC0BFEF9FF5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487064"/>
            <a:ext cx="9144000" cy="370936"/>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744366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
        <p:nvSpPr>
          <p:cNvPr id="3" name="Slide Number Placeholder">
            <a:extLst>
              <a:ext uri="{FF2B5EF4-FFF2-40B4-BE49-F238E27FC236}">
                <a16:creationId xmlns:a16="http://schemas.microsoft.com/office/drawing/2014/main" id="{0B6E1DCB-9B8A-423D-B48B-2CCDE624B45C}"/>
              </a:ext>
            </a:extLst>
          </p:cNvPr>
          <p:cNvSpPr>
            <a:spLocks noGrp="1"/>
          </p:cNvSpPr>
          <p:nvPr>
            <p:ph type="sldNum" sz="quarter" idx="10"/>
          </p:nvPr>
        </p:nvSpPr>
        <p:spPr>
          <a:xfrm>
            <a:off x="8637202" y="6682314"/>
            <a:ext cx="342900" cy="143831"/>
          </a:xfr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6925710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0136BE0-3F2D-44D5-B125-B7A30D2C8896}"/>
              </a:ext>
            </a:extLst>
          </p:cNvPr>
          <p:cNvSpPr>
            <a:spLocks noGrp="1"/>
          </p:cNvSpPr>
          <p:nvPr>
            <p:ph type="title"/>
          </p:nvPr>
        </p:nvSpPr>
        <p:spPr>
          <a:xfrm>
            <a:off x="339450" y="117244"/>
            <a:ext cx="6065851" cy="730970"/>
          </a:xfrm>
          <a:prstGeom prst="rect">
            <a:avLst/>
          </a:prstGeom>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FA117DCA-6A6D-48B9-9002-DA1E4814BF99}"/>
              </a:ext>
            </a:extLst>
          </p:cNvPr>
          <p:cNvSpPr>
            <a:spLocks noGrp="1"/>
          </p:cNvSpPr>
          <p:nvPr>
            <p:ph type="sldNum" sz="quarter" idx="10"/>
          </p:nvPr>
        </p:nvSpPr>
        <p:spPr/>
        <p:txBody>
          <a:bodyPr/>
          <a:lstStyle/>
          <a:p>
            <a:fld id="{68151E55-6873-49E2-B8D5-2F265E6F1973}" type="slidenum">
              <a:rPr lang="en-US" smtClean="0"/>
              <a:pPr/>
              <a:t>‹#›</a:t>
            </a:fld>
            <a:endParaRPr lang="en-US" dirty="0"/>
          </a:p>
        </p:txBody>
      </p:sp>
      <p:sp>
        <p:nvSpPr>
          <p:cNvPr id="5" name="Content Placeholder">
            <a:extLst>
              <a:ext uri="{FF2B5EF4-FFF2-40B4-BE49-F238E27FC236}">
                <a16:creationId xmlns:a16="http://schemas.microsoft.com/office/drawing/2014/main" id="{DA8444E8-1445-4AB7-85DD-90449330C005}"/>
              </a:ext>
            </a:extLst>
          </p:cNvPr>
          <p:cNvSpPr>
            <a:spLocks noGrp="1"/>
          </p:cNvSpPr>
          <p:nvPr>
            <p:ph sz="quarter" idx="11" hasCustomPrompt="1"/>
          </p:nvPr>
        </p:nvSpPr>
        <p:spPr>
          <a:xfrm>
            <a:off x="342900" y="1973249"/>
            <a:ext cx="6477000" cy="4343400"/>
          </a:xfrm>
        </p:spPr>
        <p:txBody>
          <a:bodyPr/>
          <a:lstStyle>
            <a:lvl1pPr>
              <a:defRPr/>
            </a:lvl1pPr>
            <a:lvl2pPr marL="344488" indent="-342900">
              <a:buFont typeface="Arial" panose="020B0604020202020204" pitchFamily="34" charset="0"/>
              <a:buChar char="•"/>
              <a:defRPr/>
            </a:lvl2pPr>
            <a:lvl3pPr>
              <a:defRPr/>
            </a:lvl3pPr>
            <a:lvl4pPr>
              <a:defRPr/>
            </a:lvl4pPr>
          </a:lstStyle>
          <a:p>
            <a:pPr lvl="0"/>
            <a:r>
              <a:rPr lang="en-US" dirty="0"/>
              <a:t>Slide Content</a:t>
            </a:r>
          </a:p>
          <a:p>
            <a:pPr lvl="2"/>
            <a:r>
              <a:rPr lang="en-US" dirty="0"/>
              <a:t>Second level</a:t>
            </a:r>
          </a:p>
          <a:p>
            <a:pPr lvl="3"/>
            <a:r>
              <a:rPr lang="en-US" dirty="0"/>
              <a:t>Third level</a:t>
            </a:r>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84270286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5059332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95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585858"/>
                </a:solidFill>
                <a:latin typeface="Times New Roman"/>
                <a:cs typeface="Times New Roman"/>
              </a:defRPr>
            </a:lvl1pPr>
          </a:lstStyle>
          <a:p>
            <a:pPr marL="12700">
              <a:lnSpc>
                <a:spcPct val="100000"/>
              </a:lnSpc>
              <a:spcBef>
                <a:spcPts val="35"/>
              </a:spcBef>
            </a:pPr>
            <a:r>
              <a:rPr dirty="0"/>
              <a:t>©</a:t>
            </a:r>
            <a:r>
              <a:rPr spc="45" dirty="0"/>
              <a:t> </a:t>
            </a:r>
            <a:r>
              <a:rPr dirty="0"/>
              <a:t>McGraw</a:t>
            </a:r>
            <a:r>
              <a:rPr spc="-105" dirty="0"/>
              <a:t> </a:t>
            </a:r>
            <a:r>
              <a:rPr spc="-20" dirty="0"/>
              <a:t>Hill</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1/13/2026</a:t>
            </a:fld>
            <a:endParaRPr lang="en-US"/>
          </a:p>
        </p:txBody>
      </p:sp>
      <p:sp>
        <p:nvSpPr>
          <p:cNvPr id="6" name="Holder 6"/>
          <p:cNvSpPr>
            <a:spLocks noGrp="1"/>
          </p:cNvSpPr>
          <p:nvPr>
            <p:ph type="sldNum" sz="quarter" idx="7"/>
          </p:nvPr>
        </p:nvSpPr>
        <p:spPr/>
        <p:txBody>
          <a:bodyPr lIns="0" tIns="0" rIns="0" bIns="0"/>
          <a:lstStyle>
            <a:lvl1pPr>
              <a:defRPr sz="800" b="0" i="0">
                <a:solidFill>
                  <a:srgbClr val="585858"/>
                </a:solidFill>
                <a:latin typeface="Times New Roman"/>
                <a:cs typeface="Times New Roman"/>
              </a:defRPr>
            </a:lvl1pPr>
          </a:lstStyle>
          <a:p>
            <a:pPr marL="38100">
              <a:lnSpc>
                <a:spcPct val="100000"/>
              </a:lnSpc>
              <a:spcBef>
                <a:spcPts val="35"/>
              </a:spcBef>
            </a:pPr>
            <a:fld id="{81D60167-4931-47E6-BA6A-407CBD079E47}" type="slidenum">
              <a:rPr spc="-25" dirty="0"/>
              <a:t>‹#›</a:t>
            </a:fld>
            <a:endParaRPr spc="-25" dirty="0"/>
          </a:p>
        </p:txBody>
      </p:sp>
    </p:spTree>
    <p:extLst>
      <p:ext uri="{BB962C8B-B14F-4D97-AF65-F5344CB8AC3E}">
        <p14:creationId xmlns:p14="http://schemas.microsoft.com/office/powerpoint/2010/main" val="35219168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585858"/>
                </a:solidFill>
                <a:latin typeface="Times New Roman"/>
                <a:cs typeface="Times New Roman"/>
              </a:defRPr>
            </a:lvl1pPr>
          </a:lstStyle>
          <a:p>
            <a:pPr marL="12700">
              <a:lnSpc>
                <a:spcPct val="100000"/>
              </a:lnSpc>
              <a:spcBef>
                <a:spcPts val="35"/>
              </a:spcBef>
            </a:pPr>
            <a:r>
              <a:rPr dirty="0"/>
              <a:t>©</a:t>
            </a:r>
            <a:r>
              <a:rPr spc="45" dirty="0"/>
              <a:t> </a:t>
            </a:r>
            <a:r>
              <a:rPr dirty="0"/>
              <a:t>McGraw</a:t>
            </a:r>
            <a:r>
              <a:rPr spc="-105" dirty="0"/>
              <a:t> </a:t>
            </a:r>
            <a:r>
              <a:rPr spc="-20" dirty="0"/>
              <a:t>Hill</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1/13/2026</a:t>
            </a:fld>
            <a:endParaRPr lang="en-US"/>
          </a:p>
        </p:txBody>
      </p:sp>
      <p:sp>
        <p:nvSpPr>
          <p:cNvPr id="6" name="Holder 6"/>
          <p:cNvSpPr>
            <a:spLocks noGrp="1"/>
          </p:cNvSpPr>
          <p:nvPr>
            <p:ph type="sldNum" sz="quarter" idx="7"/>
          </p:nvPr>
        </p:nvSpPr>
        <p:spPr/>
        <p:txBody>
          <a:bodyPr lIns="0" tIns="0" rIns="0" bIns="0"/>
          <a:lstStyle>
            <a:lvl1pPr>
              <a:defRPr sz="800" b="0" i="0">
                <a:solidFill>
                  <a:srgbClr val="585858"/>
                </a:solidFill>
                <a:latin typeface="Times New Roman"/>
                <a:cs typeface="Times New Roman"/>
              </a:defRPr>
            </a:lvl1pPr>
          </a:lstStyle>
          <a:p>
            <a:pPr marL="38100">
              <a:lnSpc>
                <a:spcPct val="100000"/>
              </a:lnSpc>
              <a:spcBef>
                <a:spcPts val="35"/>
              </a:spcBef>
            </a:pPr>
            <a:fld id="{81D60167-4931-47E6-BA6A-407CBD079E47}" type="slidenum">
              <a:rPr spc="-25" dirty="0"/>
              <a:t>‹#›</a:t>
            </a:fld>
            <a:endParaRPr spc="-25" dirty="0"/>
          </a:p>
        </p:txBody>
      </p:sp>
    </p:spTree>
    <p:extLst>
      <p:ext uri="{BB962C8B-B14F-4D97-AF65-F5344CB8AC3E}">
        <p14:creationId xmlns:p14="http://schemas.microsoft.com/office/powerpoint/2010/main" val="12802669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800" b="0" i="0">
                <a:solidFill>
                  <a:srgbClr val="585858"/>
                </a:solidFill>
                <a:latin typeface="Times New Roman"/>
                <a:cs typeface="Times New Roman"/>
              </a:defRPr>
            </a:lvl1pPr>
          </a:lstStyle>
          <a:p>
            <a:pPr marL="12700">
              <a:lnSpc>
                <a:spcPct val="100000"/>
              </a:lnSpc>
              <a:spcBef>
                <a:spcPts val="35"/>
              </a:spcBef>
            </a:pPr>
            <a:r>
              <a:rPr dirty="0"/>
              <a:t>©</a:t>
            </a:r>
            <a:r>
              <a:rPr spc="45" dirty="0"/>
              <a:t> </a:t>
            </a:r>
            <a:r>
              <a:rPr dirty="0"/>
              <a:t>McGraw</a:t>
            </a:r>
            <a:r>
              <a:rPr spc="-105" dirty="0"/>
              <a:t> </a:t>
            </a:r>
            <a:r>
              <a:rPr spc="-20" dirty="0"/>
              <a:t>Hill</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1/13/2026</a:t>
            </a:fld>
            <a:endParaRPr lang="en-US"/>
          </a:p>
        </p:txBody>
      </p:sp>
      <p:sp>
        <p:nvSpPr>
          <p:cNvPr id="7" name="Holder 7"/>
          <p:cNvSpPr>
            <a:spLocks noGrp="1"/>
          </p:cNvSpPr>
          <p:nvPr>
            <p:ph type="sldNum" sz="quarter" idx="7"/>
          </p:nvPr>
        </p:nvSpPr>
        <p:spPr/>
        <p:txBody>
          <a:bodyPr lIns="0" tIns="0" rIns="0" bIns="0"/>
          <a:lstStyle>
            <a:lvl1pPr>
              <a:defRPr sz="800" b="0" i="0">
                <a:solidFill>
                  <a:srgbClr val="585858"/>
                </a:solidFill>
                <a:latin typeface="Times New Roman"/>
                <a:cs typeface="Times New Roman"/>
              </a:defRPr>
            </a:lvl1pPr>
          </a:lstStyle>
          <a:p>
            <a:pPr marL="38100">
              <a:lnSpc>
                <a:spcPct val="100000"/>
              </a:lnSpc>
              <a:spcBef>
                <a:spcPts val="35"/>
              </a:spcBef>
            </a:pPr>
            <a:fld id="{81D60167-4931-47E6-BA6A-407CBD079E47}" type="slidenum">
              <a:rPr spc="-25" dirty="0"/>
              <a:t>‹#›</a:t>
            </a:fld>
            <a:endParaRPr spc="-25" dirty="0"/>
          </a:p>
        </p:txBody>
      </p:sp>
    </p:spTree>
    <p:extLst>
      <p:ext uri="{BB962C8B-B14F-4D97-AF65-F5344CB8AC3E}">
        <p14:creationId xmlns:p14="http://schemas.microsoft.com/office/powerpoint/2010/main" val="26079633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800" b="0" i="0">
                <a:solidFill>
                  <a:srgbClr val="585858"/>
                </a:solidFill>
                <a:latin typeface="Times New Roman"/>
                <a:cs typeface="Times New Roman"/>
              </a:defRPr>
            </a:lvl1pPr>
          </a:lstStyle>
          <a:p>
            <a:pPr marL="12700">
              <a:lnSpc>
                <a:spcPct val="100000"/>
              </a:lnSpc>
              <a:spcBef>
                <a:spcPts val="35"/>
              </a:spcBef>
            </a:pPr>
            <a:r>
              <a:rPr dirty="0"/>
              <a:t>©</a:t>
            </a:r>
            <a:r>
              <a:rPr spc="45" dirty="0"/>
              <a:t> </a:t>
            </a:r>
            <a:r>
              <a:rPr dirty="0"/>
              <a:t>McGraw</a:t>
            </a:r>
            <a:r>
              <a:rPr spc="-105" dirty="0"/>
              <a:t> </a:t>
            </a:r>
            <a:r>
              <a:rPr spc="-20" dirty="0"/>
              <a:t>Hill</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1/13/2026</a:t>
            </a:fld>
            <a:endParaRPr lang="en-US"/>
          </a:p>
        </p:txBody>
      </p:sp>
      <p:sp>
        <p:nvSpPr>
          <p:cNvPr id="5" name="Holder 5"/>
          <p:cNvSpPr>
            <a:spLocks noGrp="1"/>
          </p:cNvSpPr>
          <p:nvPr>
            <p:ph type="sldNum" sz="quarter" idx="7"/>
          </p:nvPr>
        </p:nvSpPr>
        <p:spPr/>
        <p:txBody>
          <a:bodyPr lIns="0" tIns="0" rIns="0" bIns="0"/>
          <a:lstStyle>
            <a:lvl1pPr>
              <a:defRPr sz="800" b="0" i="0">
                <a:solidFill>
                  <a:srgbClr val="585858"/>
                </a:solidFill>
                <a:latin typeface="Times New Roman"/>
                <a:cs typeface="Times New Roman"/>
              </a:defRPr>
            </a:lvl1pPr>
          </a:lstStyle>
          <a:p>
            <a:pPr marL="38100">
              <a:lnSpc>
                <a:spcPct val="100000"/>
              </a:lnSpc>
              <a:spcBef>
                <a:spcPts val="35"/>
              </a:spcBef>
            </a:pPr>
            <a:fld id="{81D60167-4931-47E6-BA6A-407CBD079E47}" type="slidenum">
              <a:rPr spc="-25" dirty="0"/>
              <a:t>‹#›</a:t>
            </a:fld>
            <a:endParaRPr spc="-25" dirty="0"/>
          </a:p>
        </p:txBody>
      </p:sp>
    </p:spTree>
    <p:extLst>
      <p:ext uri="{BB962C8B-B14F-4D97-AF65-F5344CB8AC3E}">
        <p14:creationId xmlns:p14="http://schemas.microsoft.com/office/powerpoint/2010/main" val="3742717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800" b="0" i="0">
                <a:solidFill>
                  <a:srgbClr val="585858"/>
                </a:solidFill>
                <a:latin typeface="Times New Roman"/>
                <a:cs typeface="Times New Roman"/>
              </a:defRPr>
            </a:lvl1pPr>
          </a:lstStyle>
          <a:p>
            <a:pPr marL="12700">
              <a:lnSpc>
                <a:spcPct val="100000"/>
              </a:lnSpc>
              <a:spcBef>
                <a:spcPts val="35"/>
              </a:spcBef>
            </a:pPr>
            <a:r>
              <a:rPr dirty="0"/>
              <a:t>©</a:t>
            </a:r>
            <a:r>
              <a:rPr spc="45" dirty="0"/>
              <a:t> </a:t>
            </a:r>
            <a:r>
              <a:rPr dirty="0"/>
              <a:t>McGraw</a:t>
            </a:r>
            <a:r>
              <a:rPr spc="-105" dirty="0"/>
              <a:t> </a:t>
            </a:r>
            <a:r>
              <a:rPr spc="-20" dirty="0"/>
              <a:t>Hill</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1/13/2026</a:t>
            </a:fld>
            <a:endParaRPr lang="en-US"/>
          </a:p>
        </p:txBody>
      </p:sp>
      <p:sp>
        <p:nvSpPr>
          <p:cNvPr id="4" name="Holder 4"/>
          <p:cNvSpPr>
            <a:spLocks noGrp="1"/>
          </p:cNvSpPr>
          <p:nvPr>
            <p:ph type="sldNum" sz="quarter" idx="7"/>
          </p:nvPr>
        </p:nvSpPr>
        <p:spPr/>
        <p:txBody>
          <a:bodyPr lIns="0" tIns="0" rIns="0" bIns="0"/>
          <a:lstStyle>
            <a:lvl1pPr>
              <a:defRPr sz="800" b="0" i="0">
                <a:solidFill>
                  <a:srgbClr val="585858"/>
                </a:solidFill>
                <a:latin typeface="Times New Roman"/>
                <a:cs typeface="Times New Roman"/>
              </a:defRPr>
            </a:lvl1pPr>
          </a:lstStyle>
          <a:p>
            <a:pPr marL="38100">
              <a:lnSpc>
                <a:spcPct val="100000"/>
              </a:lnSpc>
              <a:spcBef>
                <a:spcPts val="35"/>
              </a:spcBef>
            </a:pPr>
            <a:fld id="{81D60167-4931-47E6-BA6A-407CBD079E47}" type="slidenum">
              <a:rPr spc="-25" dirty="0"/>
              <a:t>‹#›</a:t>
            </a:fld>
            <a:endParaRPr spc="-25" dirty="0"/>
          </a:p>
        </p:txBody>
      </p:sp>
    </p:spTree>
    <p:extLst>
      <p:ext uri="{BB962C8B-B14F-4D97-AF65-F5344CB8AC3E}">
        <p14:creationId xmlns:p14="http://schemas.microsoft.com/office/powerpoint/2010/main" val="28453261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95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18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585858"/>
                </a:solidFill>
                <a:latin typeface="Times New Roman"/>
                <a:cs typeface="Times New Roman"/>
              </a:defRPr>
            </a:lvl1pPr>
          </a:lstStyle>
          <a:p>
            <a:pPr marL="12700">
              <a:lnSpc>
                <a:spcPct val="100000"/>
              </a:lnSpc>
              <a:spcBef>
                <a:spcPts val="35"/>
              </a:spcBef>
            </a:pPr>
            <a:r>
              <a:rPr dirty="0"/>
              <a:t>©</a:t>
            </a:r>
            <a:r>
              <a:rPr spc="45" dirty="0"/>
              <a:t> </a:t>
            </a:r>
            <a:r>
              <a:rPr dirty="0"/>
              <a:t>McGraw</a:t>
            </a:r>
            <a:r>
              <a:rPr spc="-105" dirty="0"/>
              <a:t> </a:t>
            </a:r>
            <a:r>
              <a:rPr spc="-20" dirty="0"/>
              <a:t>Hill</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1/13/2026</a:t>
            </a:fld>
            <a:endParaRPr lang="en-US"/>
          </a:p>
        </p:txBody>
      </p:sp>
      <p:sp>
        <p:nvSpPr>
          <p:cNvPr id="6" name="Holder 6"/>
          <p:cNvSpPr>
            <a:spLocks noGrp="1"/>
          </p:cNvSpPr>
          <p:nvPr>
            <p:ph type="sldNum" sz="quarter" idx="7"/>
          </p:nvPr>
        </p:nvSpPr>
        <p:spPr/>
        <p:txBody>
          <a:bodyPr lIns="0" tIns="0" rIns="0" bIns="0"/>
          <a:lstStyle>
            <a:lvl1pPr>
              <a:defRPr sz="800" b="0" i="0">
                <a:solidFill>
                  <a:srgbClr val="585858"/>
                </a:solidFill>
                <a:latin typeface="Arial MT"/>
                <a:cs typeface="Arial MT"/>
              </a:defRPr>
            </a:lvl1pPr>
          </a:lstStyle>
          <a:p>
            <a:pPr marL="69850">
              <a:lnSpc>
                <a:spcPct val="100000"/>
              </a:lnSpc>
              <a:spcBef>
                <a:spcPts val="50"/>
              </a:spcBef>
            </a:pPr>
            <a:fld id="{81D60167-4931-47E6-BA6A-407CBD079E47}" type="slidenum">
              <a:rPr spc="-50" dirty="0"/>
              <a:t>‹#›</a:t>
            </a:fld>
            <a:endParaRPr spc="-50" dirty="0"/>
          </a:p>
        </p:txBody>
      </p:sp>
    </p:spTree>
    <p:extLst>
      <p:ext uri="{BB962C8B-B14F-4D97-AF65-F5344CB8AC3E}">
        <p14:creationId xmlns:p14="http://schemas.microsoft.com/office/powerpoint/2010/main" val="10374764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18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585858"/>
                </a:solidFill>
                <a:latin typeface="Times New Roman"/>
                <a:cs typeface="Times New Roman"/>
              </a:defRPr>
            </a:lvl1pPr>
          </a:lstStyle>
          <a:p>
            <a:pPr marL="12700">
              <a:lnSpc>
                <a:spcPct val="100000"/>
              </a:lnSpc>
              <a:spcBef>
                <a:spcPts val="35"/>
              </a:spcBef>
            </a:pPr>
            <a:r>
              <a:rPr dirty="0"/>
              <a:t>©</a:t>
            </a:r>
            <a:r>
              <a:rPr spc="45" dirty="0"/>
              <a:t> </a:t>
            </a:r>
            <a:r>
              <a:rPr dirty="0"/>
              <a:t>McGraw</a:t>
            </a:r>
            <a:r>
              <a:rPr spc="-105" dirty="0"/>
              <a:t> </a:t>
            </a:r>
            <a:r>
              <a:rPr spc="-20" dirty="0"/>
              <a:t>Hill</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1/13/2026</a:t>
            </a:fld>
            <a:endParaRPr lang="en-US"/>
          </a:p>
        </p:txBody>
      </p:sp>
      <p:sp>
        <p:nvSpPr>
          <p:cNvPr id="6" name="Holder 6"/>
          <p:cNvSpPr>
            <a:spLocks noGrp="1"/>
          </p:cNvSpPr>
          <p:nvPr>
            <p:ph type="sldNum" sz="quarter" idx="7"/>
          </p:nvPr>
        </p:nvSpPr>
        <p:spPr/>
        <p:txBody>
          <a:bodyPr lIns="0" tIns="0" rIns="0" bIns="0"/>
          <a:lstStyle>
            <a:lvl1pPr>
              <a:defRPr sz="800" b="0" i="0">
                <a:solidFill>
                  <a:srgbClr val="585858"/>
                </a:solidFill>
                <a:latin typeface="Arial MT"/>
                <a:cs typeface="Arial MT"/>
              </a:defRPr>
            </a:lvl1pPr>
          </a:lstStyle>
          <a:p>
            <a:pPr marL="69850">
              <a:lnSpc>
                <a:spcPct val="100000"/>
              </a:lnSpc>
              <a:spcBef>
                <a:spcPts val="50"/>
              </a:spcBef>
            </a:pPr>
            <a:fld id="{81D60167-4931-47E6-BA6A-407CBD079E47}" type="slidenum">
              <a:rPr spc="-50" dirty="0"/>
              <a:t>‹#›</a:t>
            </a:fld>
            <a:endParaRPr spc="-50" dirty="0"/>
          </a:p>
        </p:txBody>
      </p:sp>
    </p:spTree>
    <p:extLst>
      <p:ext uri="{BB962C8B-B14F-4D97-AF65-F5344CB8AC3E}">
        <p14:creationId xmlns:p14="http://schemas.microsoft.com/office/powerpoint/2010/main" val="18296041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800" b="0" i="0">
                <a:solidFill>
                  <a:srgbClr val="585858"/>
                </a:solidFill>
                <a:latin typeface="Times New Roman"/>
                <a:cs typeface="Times New Roman"/>
              </a:defRPr>
            </a:lvl1pPr>
          </a:lstStyle>
          <a:p>
            <a:pPr marL="12700">
              <a:lnSpc>
                <a:spcPct val="100000"/>
              </a:lnSpc>
              <a:spcBef>
                <a:spcPts val="35"/>
              </a:spcBef>
            </a:pPr>
            <a:r>
              <a:rPr dirty="0"/>
              <a:t>©</a:t>
            </a:r>
            <a:r>
              <a:rPr spc="45" dirty="0"/>
              <a:t> </a:t>
            </a:r>
            <a:r>
              <a:rPr dirty="0"/>
              <a:t>McGraw</a:t>
            </a:r>
            <a:r>
              <a:rPr spc="-105" dirty="0"/>
              <a:t> </a:t>
            </a:r>
            <a:r>
              <a:rPr spc="-20" dirty="0"/>
              <a:t>Hill</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1/13/2026</a:t>
            </a:fld>
            <a:endParaRPr lang="en-US"/>
          </a:p>
        </p:txBody>
      </p:sp>
      <p:sp>
        <p:nvSpPr>
          <p:cNvPr id="7" name="Holder 7"/>
          <p:cNvSpPr>
            <a:spLocks noGrp="1"/>
          </p:cNvSpPr>
          <p:nvPr>
            <p:ph type="sldNum" sz="quarter" idx="7"/>
          </p:nvPr>
        </p:nvSpPr>
        <p:spPr/>
        <p:txBody>
          <a:bodyPr lIns="0" tIns="0" rIns="0" bIns="0"/>
          <a:lstStyle>
            <a:lvl1pPr>
              <a:defRPr sz="800" b="0" i="0">
                <a:solidFill>
                  <a:srgbClr val="585858"/>
                </a:solidFill>
                <a:latin typeface="Arial MT"/>
                <a:cs typeface="Arial MT"/>
              </a:defRPr>
            </a:lvl1pPr>
          </a:lstStyle>
          <a:p>
            <a:pPr marL="69850">
              <a:lnSpc>
                <a:spcPct val="100000"/>
              </a:lnSpc>
              <a:spcBef>
                <a:spcPts val="50"/>
              </a:spcBef>
            </a:pPr>
            <a:fld id="{81D60167-4931-47E6-BA6A-407CBD079E47}" type="slidenum">
              <a:rPr spc="-50" dirty="0"/>
              <a:t>‹#›</a:t>
            </a:fld>
            <a:endParaRPr spc="-50" dirty="0"/>
          </a:p>
        </p:txBody>
      </p:sp>
    </p:spTree>
    <p:extLst>
      <p:ext uri="{BB962C8B-B14F-4D97-AF65-F5344CB8AC3E}">
        <p14:creationId xmlns:p14="http://schemas.microsoft.com/office/powerpoint/2010/main" val="249010911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defRPr sz="800" b="0" i="0">
                <a:solidFill>
                  <a:srgbClr val="585858"/>
                </a:solidFill>
                <a:latin typeface="Times New Roman"/>
                <a:cs typeface="Times New Roman"/>
              </a:defRPr>
            </a:lvl1pPr>
          </a:lstStyle>
          <a:p>
            <a:pPr marL="12700">
              <a:lnSpc>
                <a:spcPct val="100000"/>
              </a:lnSpc>
              <a:spcBef>
                <a:spcPts val="35"/>
              </a:spcBef>
            </a:pPr>
            <a:r>
              <a:rPr dirty="0"/>
              <a:t>©</a:t>
            </a:r>
            <a:r>
              <a:rPr spc="45" dirty="0"/>
              <a:t> </a:t>
            </a:r>
            <a:r>
              <a:rPr dirty="0"/>
              <a:t>McGraw</a:t>
            </a:r>
            <a:r>
              <a:rPr spc="-105" dirty="0"/>
              <a:t> </a:t>
            </a:r>
            <a:r>
              <a:rPr spc="-20" dirty="0"/>
              <a:t>Hill</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1/13/2026</a:t>
            </a:fld>
            <a:endParaRPr lang="en-US"/>
          </a:p>
        </p:txBody>
      </p:sp>
      <p:sp>
        <p:nvSpPr>
          <p:cNvPr id="5" name="Holder 5"/>
          <p:cNvSpPr>
            <a:spLocks noGrp="1"/>
          </p:cNvSpPr>
          <p:nvPr>
            <p:ph type="sldNum" sz="quarter" idx="7"/>
          </p:nvPr>
        </p:nvSpPr>
        <p:spPr/>
        <p:txBody>
          <a:bodyPr lIns="0" tIns="0" rIns="0" bIns="0"/>
          <a:lstStyle>
            <a:lvl1pPr>
              <a:defRPr sz="800" b="0" i="0">
                <a:solidFill>
                  <a:srgbClr val="585858"/>
                </a:solidFill>
                <a:latin typeface="Arial MT"/>
                <a:cs typeface="Arial MT"/>
              </a:defRPr>
            </a:lvl1pPr>
          </a:lstStyle>
          <a:p>
            <a:pPr marL="69850">
              <a:lnSpc>
                <a:spcPct val="100000"/>
              </a:lnSpc>
              <a:spcBef>
                <a:spcPts val="50"/>
              </a:spcBef>
            </a:pPr>
            <a:fld id="{81D60167-4931-47E6-BA6A-407CBD079E47}" type="slidenum">
              <a:rPr spc="-50" dirty="0"/>
              <a:t>‹#›</a:t>
            </a:fld>
            <a:endParaRPr spc="-50" dirty="0"/>
          </a:p>
        </p:txBody>
      </p:sp>
    </p:spTree>
    <p:extLst>
      <p:ext uri="{BB962C8B-B14F-4D97-AF65-F5344CB8AC3E}">
        <p14:creationId xmlns:p14="http://schemas.microsoft.com/office/powerpoint/2010/main" val="23905805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800" b="0" i="0">
                <a:solidFill>
                  <a:srgbClr val="585858"/>
                </a:solidFill>
                <a:latin typeface="Times New Roman"/>
                <a:cs typeface="Times New Roman"/>
              </a:defRPr>
            </a:lvl1pPr>
          </a:lstStyle>
          <a:p>
            <a:pPr marL="12700">
              <a:lnSpc>
                <a:spcPct val="100000"/>
              </a:lnSpc>
              <a:spcBef>
                <a:spcPts val="35"/>
              </a:spcBef>
            </a:pPr>
            <a:r>
              <a:rPr dirty="0"/>
              <a:t>©</a:t>
            </a:r>
            <a:r>
              <a:rPr spc="45" dirty="0"/>
              <a:t> </a:t>
            </a:r>
            <a:r>
              <a:rPr dirty="0"/>
              <a:t>McGraw</a:t>
            </a:r>
            <a:r>
              <a:rPr spc="-105" dirty="0"/>
              <a:t> </a:t>
            </a:r>
            <a:r>
              <a:rPr spc="-20" dirty="0"/>
              <a:t>Hill</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1/13/2026</a:t>
            </a:fld>
            <a:endParaRPr lang="en-US"/>
          </a:p>
        </p:txBody>
      </p:sp>
      <p:sp>
        <p:nvSpPr>
          <p:cNvPr id="4" name="Holder 4"/>
          <p:cNvSpPr>
            <a:spLocks noGrp="1"/>
          </p:cNvSpPr>
          <p:nvPr>
            <p:ph type="sldNum" sz="quarter" idx="7"/>
          </p:nvPr>
        </p:nvSpPr>
        <p:spPr/>
        <p:txBody>
          <a:bodyPr lIns="0" tIns="0" rIns="0" bIns="0"/>
          <a:lstStyle>
            <a:lvl1pPr>
              <a:defRPr sz="800" b="0" i="0">
                <a:solidFill>
                  <a:srgbClr val="585858"/>
                </a:solidFill>
                <a:latin typeface="Arial MT"/>
                <a:cs typeface="Arial MT"/>
              </a:defRPr>
            </a:lvl1pPr>
          </a:lstStyle>
          <a:p>
            <a:pPr marL="69850">
              <a:lnSpc>
                <a:spcPct val="100000"/>
              </a:lnSpc>
              <a:spcBef>
                <a:spcPts val="50"/>
              </a:spcBef>
            </a:pPr>
            <a:fld id="{81D60167-4931-47E6-BA6A-407CBD079E47}" type="slidenum">
              <a:rPr spc="-50" dirty="0"/>
              <a:t>‹#›</a:t>
            </a:fld>
            <a:endParaRPr spc="-50" dirty="0"/>
          </a:p>
        </p:txBody>
      </p:sp>
    </p:spTree>
    <p:extLst>
      <p:ext uri="{BB962C8B-B14F-4D97-AF65-F5344CB8AC3E}">
        <p14:creationId xmlns:p14="http://schemas.microsoft.com/office/powerpoint/2010/main" val="11329928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293261494"/>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46173501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12124101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201653493"/>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764491196"/>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902389356"/>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063834229"/>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18570651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809729354"/>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2692192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58361672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1067445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062741347"/>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563250691"/>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371685147"/>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13717722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872614626"/>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5127082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55325047"/>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atin typeface="Times New Roman" panose="02020603050405020304" pitchFamily="18" charset="0"/>
                <a:cs typeface="Times New Roman" panose="02020603050405020304" pitchFamily="18" charset="0"/>
              </a:defRPr>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9270503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atin typeface="Times New Roman" panose="02020603050405020304" pitchFamily="18" charset="0"/>
                <a:cs typeface="Times New Roman" panose="02020603050405020304" pitchFamily="18" charset="0"/>
              </a:defRPr>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778971679"/>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atin typeface="Times New Roman" panose="02020603050405020304" pitchFamily="18" charset="0"/>
                <a:cs typeface="Times New Roman" panose="02020603050405020304" pitchFamily="18" charset="0"/>
              </a:defRPr>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9351426"/>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atin typeface="Times New Roman" panose="02020603050405020304" pitchFamily="18" charset="0"/>
                <a:cs typeface="Times New Roman" panose="02020603050405020304" pitchFamily="18" charset="0"/>
              </a:defRPr>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793636757"/>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atin typeface="Times New Roman" panose="02020603050405020304" pitchFamily="18" charset="0"/>
                <a:cs typeface="Times New Roman" panose="02020603050405020304" pitchFamily="18" charset="0"/>
              </a:defRPr>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542812729"/>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atin typeface="Times New Roman" panose="02020603050405020304" pitchFamily="18" charset="0"/>
                <a:cs typeface="Times New Roman" panose="02020603050405020304" pitchFamily="18" charset="0"/>
              </a:defRPr>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lvl1pPr>
              <a:defRPr>
                <a:latin typeface="Times New Roman" panose="02020603050405020304" pitchFamily="18" charset="0"/>
                <a:cs typeface="Times New Roman" panose="02020603050405020304" pitchFamily="18"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876818813"/>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p:nvPr>
        </p:nvSpPr>
        <p:spPr>
          <a:xfrm>
            <a:off x="342900" y="304800"/>
            <a:ext cx="8458200" cy="678611"/>
          </a:xfrm>
          <a:prstGeom prst="rect">
            <a:avLst/>
          </a:prstGeom>
        </p:spPr>
        <p:txBody>
          <a:bodyPr anchor="ctr">
            <a:noAutofit/>
          </a:bodyPr>
          <a:lstStyle>
            <a:lvl1pPr>
              <a:defRPr sz="4000"/>
            </a:lvl1pPr>
          </a:lstStyle>
          <a:p>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1600" indent="-291600">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70604686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95270564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559741179"/>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70502733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no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923159219"/>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29161362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169660940"/>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25879945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914574546"/>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463188697"/>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216987774"/>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816955977"/>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66247981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10964217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4203313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716437743"/>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17915390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81666048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55125964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843181369"/>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6438832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1012880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85947651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032505777"/>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a:t>Slide Title</a:t>
            </a:r>
            <a:br>
              <a:rPr lang="en-US"/>
            </a:br>
            <a:endParaRPr lang="en-US"/>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stStyle>
          <a:p>
            <a:pPr lvl="0"/>
            <a:r>
              <a:rPr lang="en-US"/>
              <a:t>Slide Content</a:t>
            </a:r>
          </a:p>
          <a:p>
            <a:pPr lvl="1"/>
            <a:r>
              <a:rPr lang="en-US"/>
              <a:t>Second level</a:t>
            </a:r>
          </a:p>
          <a:p>
            <a:pPr lvl="2"/>
            <a:r>
              <a:rPr lang="en-US"/>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92623982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a:t>Slide Title</a:t>
            </a:r>
            <a:br>
              <a:rPr lang="en-US"/>
            </a:br>
            <a:endParaRPr lang="en-US"/>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a:t>Slide Content</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a:t>Slide Content 2</a:t>
            </a:r>
          </a:p>
          <a:p>
            <a:pPr lvl="1"/>
            <a:r>
              <a:rPr lang="en-US"/>
              <a:t>Second level</a:t>
            </a:r>
          </a:p>
          <a:p>
            <a:pPr lvl="2"/>
            <a:r>
              <a:rPr lang="en-US"/>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71030132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a:t>Slide Title</a:t>
            </a:r>
            <a:br>
              <a:rPr lang="en-US"/>
            </a:br>
            <a:endParaRPr lang="en-US"/>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a:t>Slide Content</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a:t>Slide Content 2</a:t>
            </a:r>
          </a:p>
          <a:p>
            <a:pPr lvl="1"/>
            <a:r>
              <a:rPr lang="en-US"/>
              <a:t>Second level</a:t>
            </a:r>
          </a:p>
          <a:p>
            <a:pPr lvl="2"/>
            <a:r>
              <a:rPr lang="en-US"/>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205398187"/>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a:t>Slide Title</a:t>
            </a:r>
            <a:br>
              <a:rPr lang="en-US"/>
            </a:br>
            <a:endParaRPr lang="en-US"/>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a:t>Slide Content</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stStyle>
          <a:p>
            <a:pPr lvl="0"/>
            <a:r>
              <a:rPr lang="en-US"/>
              <a:t>Slide Content 2</a:t>
            </a:r>
          </a:p>
          <a:p>
            <a:pPr lvl="1"/>
            <a:r>
              <a:rPr lang="en-US"/>
              <a:t>Second level</a:t>
            </a:r>
          </a:p>
          <a:p>
            <a:pPr lvl="2"/>
            <a:r>
              <a:rPr lang="en-US"/>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10887570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a:t>Slide Title</a:t>
            </a:r>
            <a:br>
              <a:rPr lang="en-US"/>
            </a:br>
            <a:endParaRPr lang="en-US"/>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a:t>Slide Content</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defRPr/>
            </a:lvl1pPr>
          </a:lstStyle>
          <a:p>
            <a:pPr lvl="0"/>
            <a:r>
              <a:rPr lang="en-US"/>
              <a:t>Slide Content 2</a:t>
            </a:r>
          </a:p>
          <a:p>
            <a:pPr lvl="1"/>
            <a:r>
              <a:rPr lang="en-US"/>
              <a:t>Second level</a:t>
            </a:r>
          </a:p>
          <a:p>
            <a:pPr lvl="2"/>
            <a:r>
              <a:rPr lang="en-US"/>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a:t>Slide Content 3</a:t>
            </a:r>
          </a:p>
          <a:p>
            <a:pPr lvl="1"/>
            <a:r>
              <a:rPr lang="en-US"/>
              <a:t>Second level</a:t>
            </a:r>
          </a:p>
          <a:p>
            <a:pPr lvl="2"/>
            <a:r>
              <a:rPr lang="en-US"/>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85838619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a:t>Slide Title</a:t>
            </a:r>
            <a:br>
              <a:rPr lang="en-US"/>
            </a:br>
            <a:endParaRPr lang="en-US"/>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a:t>Slide Content</a:t>
            </a:r>
          </a:p>
          <a:p>
            <a:pPr lvl="1"/>
            <a:r>
              <a:rPr lang="en-US"/>
              <a:t>Second level</a:t>
            </a:r>
          </a:p>
          <a:p>
            <a:pPr lvl="2"/>
            <a:r>
              <a:rPr lang="en-US"/>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a:t>Slide Content 2</a:t>
            </a:r>
          </a:p>
          <a:p>
            <a:pPr lvl="1"/>
            <a:r>
              <a:rPr lang="en-US"/>
              <a:t>Second level</a:t>
            </a:r>
          </a:p>
          <a:p>
            <a:pPr lvl="2"/>
            <a:r>
              <a:rPr lang="en-US"/>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a:t>Slide Content 3</a:t>
            </a:r>
          </a:p>
          <a:p>
            <a:pPr lvl="1"/>
            <a:r>
              <a:rPr lang="en-US"/>
              <a:t>Second level</a:t>
            </a:r>
          </a:p>
          <a:p>
            <a:pPr lvl="2"/>
            <a:r>
              <a:rPr lang="en-US"/>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a:t>Slide Content 4</a:t>
            </a:r>
          </a:p>
          <a:p>
            <a:pPr lvl="1"/>
            <a:r>
              <a:rPr lang="en-US"/>
              <a:t>Second level</a:t>
            </a:r>
          </a:p>
          <a:p>
            <a:pPr lvl="2"/>
            <a:r>
              <a:rPr lang="en-US"/>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a:t>Slide Content 5</a:t>
            </a:r>
          </a:p>
          <a:p>
            <a:pPr lvl="1"/>
            <a:r>
              <a:rPr lang="en-US"/>
              <a:t>Second level</a:t>
            </a:r>
          </a:p>
          <a:p>
            <a:pPr lvl="2"/>
            <a:r>
              <a:rPr lang="en-US"/>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a:t>Slide Content 6</a:t>
            </a:r>
          </a:p>
          <a:p>
            <a:pPr lvl="1"/>
            <a:r>
              <a:rPr lang="en-US"/>
              <a:t>Second level</a:t>
            </a:r>
          </a:p>
          <a:p>
            <a:pPr lvl="2"/>
            <a:r>
              <a:rPr lang="en-US"/>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294848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290867055"/>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373892307"/>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11850859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48643887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72140958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351366864"/>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456292969"/>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729137534"/>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125721884"/>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222309509"/>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015734706"/>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072578759"/>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descr="McGraw-Hill Education Logo">
            <a:extLst>
              <a:ext uri="{FF2B5EF4-FFF2-40B4-BE49-F238E27FC236}">
                <a16:creationId xmlns:a16="http://schemas.microsoft.com/office/drawing/2014/main" id="{60DCFDF5-2A5B-440E-888A-BC0BFEF9FF5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487064"/>
            <a:ext cx="9144000" cy="370936"/>
          </a:xfrm>
        </p:spPr>
        <p:txBody>
          <a:bodyPr/>
          <a:lstStyle>
            <a:lvl1pPr algn="ctr">
              <a:defRPr>
                <a:latin typeface="Times New Roman" panose="02020603050405020304" pitchFamily="18" charset="0"/>
                <a:cs typeface="Times New Roman" panose="02020603050405020304" pitchFamily="18" charset="0"/>
              </a:defRPr>
            </a:lvl1pPr>
          </a:lstStyle>
          <a:p>
            <a:pPr defTabSz="457200">
              <a:spcBef>
                <a:spcPct val="20000"/>
              </a:spcBef>
              <a:defRPr/>
            </a:pPr>
            <a:r>
              <a:rPr lang="en-US"/>
              <a:t>© &lt; add the year&gt; McGraw Hill. All rights reserved. Authorized only for instructor use in the classroom.</a:t>
            </a:r>
          </a:p>
          <a:p>
            <a:pPr defTabSz="457200">
              <a:spcBef>
                <a:spcPct val="20000"/>
              </a:spcBef>
              <a:defRPr/>
            </a:pPr>
            <a:r>
              <a:rPr lang="en-US"/>
              <a:t>No reproduction or further distribution permitted without the prior written consent of McGraw Hill.</a:t>
            </a:r>
            <a:endParaRPr lang="en-US" dirty="0"/>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3955868400"/>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769492892"/>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998490187"/>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547300237"/>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95351321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786148869"/>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686356569"/>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03756075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79424154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05943613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03537297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116385157"/>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71576799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722661985"/>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778835949"/>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844837564"/>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31511169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6453731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32203163"/>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77175691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20351532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02528989"/>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77950428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574634346"/>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120268894"/>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6.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23.xml"/><Relationship Id="rId7" Type="http://schemas.openxmlformats.org/officeDocument/2006/relationships/theme" Target="../theme/theme7.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29.xml"/><Relationship Id="rId7" Type="http://schemas.openxmlformats.org/officeDocument/2006/relationships/theme" Target="../theme/theme8.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5" Type="http://schemas.openxmlformats.org/officeDocument/2006/relationships/slideLayout" Target="../slideLayouts/slideLayout31.xml"/><Relationship Id="rId4" Type="http://schemas.openxmlformats.org/officeDocument/2006/relationships/slideLayout" Target="../slideLayouts/slideLayout30.xml"/></Relationships>
</file>

<file path=ppt/slideMasters/_rels/slideMaster9.xml.rels><?xml version="1.0" encoding="UTF-8" standalone="yes"?>
<Relationships xmlns="http://schemas.openxmlformats.org/package/2006/relationships"><Relationship Id="rId3" Type="http://schemas.openxmlformats.org/officeDocument/2006/relationships/slideLayout" Target="../slideLayouts/slideLayout35.xml"/><Relationship Id="rId7" Type="http://schemas.openxmlformats.org/officeDocument/2006/relationships/theme" Target="../theme/theme9.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5" Type="http://schemas.openxmlformats.org/officeDocument/2006/relationships/slideLayout" Target="../slideLayouts/slideLayout37.xml"/><Relationship Id="rId4" Type="http://schemas.openxmlformats.org/officeDocument/2006/relationships/slideLayout" Target="../slideLayouts/slideLayout36.xml"/></Relationships>
</file>

<file path=ppt/slideMasters/_rels/slideMaster10.xml.rels><?xml version="1.0" encoding="UTF-8" standalone="yes"?>
<Relationships xmlns="http://schemas.openxmlformats.org/package/2006/relationships"><Relationship Id="rId3" Type="http://schemas.openxmlformats.org/officeDocument/2006/relationships/slideLayout" Target="../slideLayouts/slideLayout41.xml"/><Relationship Id="rId7" Type="http://schemas.openxmlformats.org/officeDocument/2006/relationships/theme" Target="../theme/theme10.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5" Type="http://schemas.openxmlformats.org/officeDocument/2006/relationships/slideLayout" Target="../slideLayouts/slideLayout43.xml"/><Relationship Id="rId4" Type="http://schemas.openxmlformats.org/officeDocument/2006/relationships/slideLayout" Target="../slideLayouts/slideLayout42.xml"/></Relationships>
</file>

<file path=ppt/slideMasters/_rels/slideMaster11.xml.rels><?xml version="1.0" encoding="UTF-8" standalone="yes"?>
<Relationships xmlns="http://schemas.openxmlformats.org/package/2006/relationships"><Relationship Id="rId3" Type="http://schemas.openxmlformats.org/officeDocument/2006/relationships/slideLayout" Target="../slideLayouts/slideLayout47.xml"/><Relationship Id="rId7" Type="http://schemas.openxmlformats.org/officeDocument/2006/relationships/theme" Target="../theme/theme11.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s>
</file>

<file path=ppt/slideMasters/_rels/slideMaster12.xml.rels><?xml version="1.0" encoding="UTF-8" standalone="yes"?>
<Relationships xmlns="http://schemas.openxmlformats.org/package/2006/relationships"><Relationship Id="rId3" Type="http://schemas.openxmlformats.org/officeDocument/2006/relationships/slideLayout" Target="../slideLayouts/slideLayout53.xml"/><Relationship Id="rId7" Type="http://schemas.openxmlformats.org/officeDocument/2006/relationships/theme" Target="../theme/theme12.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5" Type="http://schemas.openxmlformats.org/officeDocument/2006/relationships/slideLayout" Target="../slideLayouts/slideLayout55.xml"/><Relationship Id="rId4" Type="http://schemas.openxmlformats.org/officeDocument/2006/relationships/slideLayout" Target="../slideLayouts/slideLayout54.xml"/></Relationships>
</file>

<file path=ppt/slideMasters/_rels/slideMaster13.xml.rels><?xml version="1.0" encoding="UTF-8" standalone="yes"?>
<Relationships xmlns="http://schemas.openxmlformats.org/package/2006/relationships"><Relationship Id="rId3" Type="http://schemas.openxmlformats.org/officeDocument/2006/relationships/slideLayout" Target="../slideLayouts/slideLayout59.xml"/><Relationship Id="rId7" Type="http://schemas.openxmlformats.org/officeDocument/2006/relationships/theme" Target="../theme/theme13.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5" Type="http://schemas.openxmlformats.org/officeDocument/2006/relationships/slideLayout" Target="../slideLayouts/slideLayout61.xml"/><Relationship Id="rId4" Type="http://schemas.openxmlformats.org/officeDocument/2006/relationships/slideLayout" Target="../slideLayouts/slideLayout60.xml"/></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65.xml"/><Relationship Id="rId7" Type="http://schemas.openxmlformats.org/officeDocument/2006/relationships/theme" Target="../theme/theme14.xml"/><Relationship Id="rId2" Type="http://schemas.openxmlformats.org/officeDocument/2006/relationships/slideLayout" Target="../slideLayouts/slideLayout64.xml"/><Relationship Id="rId1" Type="http://schemas.openxmlformats.org/officeDocument/2006/relationships/slideLayout" Target="../slideLayouts/slideLayout63.xml"/><Relationship Id="rId6" Type="http://schemas.openxmlformats.org/officeDocument/2006/relationships/slideLayout" Target="../slideLayouts/slideLayout68.xml"/><Relationship Id="rId5" Type="http://schemas.openxmlformats.org/officeDocument/2006/relationships/slideLayout" Target="../slideLayouts/slideLayout67.xml"/><Relationship Id="rId4" Type="http://schemas.openxmlformats.org/officeDocument/2006/relationships/slideLayout" Target="../slideLayouts/slideLayout66.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71.xml"/><Relationship Id="rId7" Type="http://schemas.openxmlformats.org/officeDocument/2006/relationships/theme" Target="../theme/theme15.xml"/><Relationship Id="rId2" Type="http://schemas.openxmlformats.org/officeDocument/2006/relationships/slideLayout" Target="../slideLayouts/slideLayout70.xml"/><Relationship Id="rId1" Type="http://schemas.openxmlformats.org/officeDocument/2006/relationships/slideLayout" Target="../slideLayouts/slideLayout69.xml"/><Relationship Id="rId6" Type="http://schemas.openxmlformats.org/officeDocument/2006/relationships/slideLayout" Target="../slideLayouts/slideLayout74.xml"/><Relationship Id="rId5" Type="http://schemas.openxmlformats.org/officeDocument/2006/relationships/slideLayout" Target="../slideLayouts/slideLayout73.xml"/><Relationship Id="rId4" Type="http://schemas.openxmlformats.org/officeDocument/2006/relationships/slideLayout" Target="../slideLayouts/slideLayout72.xml"/></Relationships>
</file>

<file path=ppt/slideMasters/_rels/slideMaster16.xml.rels><?xml version="1.0" encoding="UTF-8" standalone="yes"?>
<Relationships xmlns="http://schemas.openxmlformats.org/package/2006/relationships"><Relationship Id="rId3" Type="http://schemas.openxmlformats.org/officeDocument/2006/relationships/slideLayout" Target="../slideLayouts/slideLayout77.xml"/><Relationship Id="rId7" Type="http://schemas.openxmlformats.org/officeDocument/2006/relationships/theme" Target="../theme/theme16.xml"/><Relationship Id="rId2" Type="http://schemas.openxmlformats.org/officeDocument/2006/relationships/slideLayout" Target="../slideLayouts/slideLayout76.xml"/><Relationship Id="rId1" Type="http://schemas.openxmlformats.org/officeDocument/2006/relationships/slideLayout" Target="../slideLayouts/slideLayout75.xml"/><Relationship Id="rId6" Type="http://schemas.openxmlformats.org/officeDocument/2006/relationships/slideLayout" Target="../slideLayouts/slideLayout80.xml"/><Relationship Id="rId5" Type="http://schemas.openxmlformats.org/officeDocument/2006/relationships/slideLayout" Target="../slideLayouts/slideLayout79.xml"/><Relationship Id="rId4" Type="http://schemas.openxmlformats.org/officeDocument/2006/relationships/slideLayout" Target="../slideLayouts/slideLayout78.xml"/></Relationships>
</file>

<file path=ppt/slideMasters/_rels/slideMaster17.xml.rels><?xml version="1.0" encoding="UTF-8" standalone="yes"?>
<Relationships xmlns="http://schemas.openxmlformats.org/package/2006/relationships"><Relationship Id="rId3" Type="http://schemas.openxmlformats.org/officeDocument/2006/relationships/slideLayout" Target="../slideLayouts/slideLayout83.xml"/><Relationship Id="rId7" Type="http://schemas.openxmlformats.org/officeDocument/2006/relationships/theme" Target="../theme/theme17.xml"/><Relationship Id="rId2" Type="http://schemas.openxmlformats.org/officeDocument/2006/relationships/slideLayout" Target="../slideLayouts/slideLayout82.xml"/><Relationship Id="rId1" Type="http://schemas.openxmlformats.org/officeDocument/2006/relationships/slideLayout" Target="../slideLayouts/slideLayout81.xml"/><Relationship Id="rId6" Type="http://schemas.openxmlformats.org/officeDocument/2006/relationships/slideLayout" Target="../slideLayouts/slideLayout86.xml"/><Relationship Id="rId5" Type="http://schemas.openxmlformats.org/officeDocument/2006/relationships/slideLayout" Target="../slideLayouts/slideLayout85.xml"/><Relationship Id="rId4" Type="http://schemas.openxmlformats.org/officeDocument/2006/relationships/slideLayout" Target="../slideLayouts/slideLayout84.xml"/></Relationships>
</file>

<file path=ppt/slideMasters/_rels/slideMaster18.xml.rels><?xml version="1.0" encoding="UTF-8" standalone="yes"?>
<Relationships xmlns="http://schemas.openxmlformats.org/package/2006/relationships"><Relationship Id="rId8" Type="http://schemas.openxmlformats.org/officeDocument/2006/relationships/theme" Target="../theme/theme18.xml"/><Relationship Id="rId3" Type="http://schemas.openxmlformats.org/officeDocument/2006/relationships/slideLayout" Target="../slideLayouts/slideLayout89.xml"/><Relationship Id="rId7" Type="http://schemas.openxmlformats.org/officeDocument/2006/relationships/slideLayout" Target="../slideLayouts/slideLayout93.xml"/><Relationship Id="rId2" Type="http://schemas.openxmlformats.org/officeDocument/2006/relationships/slideLayout" Target="../slideLayouts/slideLayout88.xml"/><Relationship Id="rId1" Type="http://schemas.openxmlformats.org/officeDocument/2006/relationships/slideLayout" Target="../slideLayouts/slideLayout87.xml"/><Relationship Id="rId6" Type="http://schemas.openxmlformats.org/officeDocument/2006/relationships/slideLayout" Target="../slideLayouts/slideLayout92.xml"/><Relationship Id="rId5" Type="http://schemas.openxmlformats.org/officeDocument/2006/relationships/slideLayout" Target="../slideLayouts/slideLayout91.xml"/><Relationship Id="rId4" Type="http://schemas.openxmlformats.org/officeDocument/2006/relationships/slideLayout" Target="../slideLayouts/slideLayout90.xml"/></Relationships>
</file>

<file path=ppt/slideMasters/_rels/slideMaster19.xml.rels><?xml version="1.0" encoding="UTF-8" standalone="yes"?>
<Relationships xmlns="http://schemas.openxmlformats.org/package/2006/relationships"><Relationship Id="rId3" Type="http://schemas.openxmlformats.org/officeDocument/2006/relationships/slideLayout" Target="../slideLayouts/slideLayout96.xml"/><Relationship Id="rId7" Type="http://schemas.openxmlformats.org/officeDocument/2006/relationships/theme" Target="../theme/theme19.xml"/><Relationship Id="rId2" Type="http://schemas.openxmlformats.org/officeDocument/2006/relationships/slideLayout" Target="../slideLayouts/slideLayout95.xml"/><Relationship Id="rId1" Type="http://schemas.openxmlformats.org/officeDocument/2006/relationships/slideLayout" Target="../slideLayouts/slideLayout94.xml"/><Relationship Id="rId6" Type="http://schemas.openxmlformats.org/officeDocument/2006/relationships/slideLayout" Target="../slideLayouts/slideLayout99.xml"/><Relationship Id="rId5" Type="http://schemas.openxmlformats.org/officeDocument/2006/relationships/slideLayout" Target="../slideLayouts/slideLayout98.xml"/><Relationship Id="rId4" Type="http://schemas.openxmlformats.org/officeDocument/2006/relationships/slideLayout" Target="../slideLayouts/slideLayout97.xml"/></Relationships>
</file>

<file path=ppt/slideMasters/_rels/slideMaster20.xml.rels><?xml version="1.0" encoding="UTF-8" standalone="yes"?>
<Relationships xmlns="http://schemas.openxmlformats.org/package/2006/relationships"><Relationship Id="rId3" Type="http://schemas.openxmlformats.org/officeDocument/2006/relationships/slideLayout" Target="../slideLayouts/slideLayout102.xml"/><Relationship Id="rId7" Type="http://schemas.openxmlformats.org/officeDocument/2006/relationships/theme" Target="../theme/theme20.xml"/><Relationship Id="rId2" Type="http://schemas.openxmlformats.org/officeDocument/2006/relationships/slideLayout" Target="../slideLayouts/slideLayout101.xml"/><Relationship Id="rId1" Type="http://schemas.openxmlformats.org/officeDocument/2006/relationships/slideLayout" Target="../slideLayouts/slideLayout100.xml"/><Relationship Id="rId6" Type="http://schemas.openxmlformats.org/officeDocument/2006/relationships/slideLayout" Target="../slideLayouts/slideLayout105.xml"/><Relationship Id="rId5" Type="http://schemas.openxmlformats.org/officeDocument/2006/relationships/slideLayout" Target="../slideLayouts/slideLayout104.xml"/><Relationship Id="rId4" Type="http://schemas.openxmlformats.org/officeDocument/2006/relationships/slideLayout" Target="../slideLayouts/slideLayout103.xml"/></Relationships>
</file>

<file path=ppt/slideMasters/_rels/slideMaster21.xml.rels><?xml version="1.0" encoding="UTF-8" standalone="yes"?>
<Relationships xmlns="http://schemas.openxmlformats.org/package/2006/relationships"><Relationship Id="rId3" Type="http://schemas.openxmlformats.org/officeDocument/2006/relationships/slideLayout" Target="../slideLayouts/slideLayout108.xml"/><Relationship Id="rId7" Type="http://schemas.openxmlformats.org/officeDocument/2006/relationships/theme" Target="../theme/theme21.xml"/><Relationship Id="rId2" Type="http://schemas.openxmlformats.org/officeDocument/2006/relationships/slideLayout" Target="../slideLayouts/slideLayout107.xml"/><Relationship Id="rId1" Type="http://schemas.openxmlformats.org/officeDocument/2006/relationships/slideLayout" Target="../slideLayouts/slideLayout106.xml"/><Relationship Id="rId6" Type="http://schemas.openxmlformats.org/officeDocument/2006/relationships/slideLayout" Target="../slideLayouts/slideLayout111.xml"/><Relationship Id="rId5" Type="http://schemas.openxmlformats.org/officeDocument/2006/relationships/slideLayout" Target="../slideLayouts/slideLayout110.xml"/><Relationship Id="rId4" Type="http://schemas.openxmlformats.org/officeDocument/2006/relationships/slideLayout" Target="../slideLayouts/slideLayout109.xml"/></Relationships>
</file>

<file path=ppt/slideMasters/_rels/slideMaster22.xml.rels><?xml version="1.0" encoding="UTF-8" standalone="yes"?>
<Relationships xmlns="http://schemas.openxmlformats.org/package/2006/relationships"><Relationship Id="rId3" Type="http://schemas.openxmlformats.org/officeDocument/2006/relationships/slideLayout" Target="../slideLayouts/slideLayout114.xml"/><Relationship Id="rId7" Type="http://schemas.openxmlformats.org/officeDocument/2006/relationships/theme" Target="../theme/theme22.xml"/><Relationship Id="rId2" Type="http://schemas.openxmlformats.org/officeDocument/2006/relationships/slideLayout" Target="../slideLayouts/slideLayout113.xml"/><Relationship Id="rId1" Type="http://schemas.openxmlformats.org/officeDocument/2006/relationships/slideLayout" Target="../slideLayouts/slideLayout112.xml"/><Relationship Id="rId6" Type="http://schemas.openxmlformats.org/officeDocument/2006/relationships/slideLayout" Target="../slideLayouts/slideLayout117.xml"/><Relationship Id="rId5" Type="http://schemas.openxmlformats.org/officeDocument/2006/relationships/slideLayout" Target="../slideLayouts/slideLayout116.xml"/><Relationship Id="rId4" Type="http://schemas.openxmlformats.org/officeDocument/2006/relationships/slideLayout" Target="../slideLayouts/slideLayout11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descr="McGraw-Hill Education Logo">
            <a:extLst>
              <a:ext uri="{FF2B5EF4-FFF2-40B4-BE49-F238E27FC236}">
                <a16:creationId xmlns:a16="http://schemas.microsoft.com/office/drawing/2014/main" id="{BF372B49-B6F5-4826-B4F8-2F8A4FFF8894}"/>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9" r:id="rId3"/>
    <p:sldLayoutId id="2147483695" r:id="rId4"/>
    <p:sldLayoutId id="2147483696" r:id="rId5"/>
    <p:sldLayoutId id="2147483697" r:id="rId6"/>
  </p:sldLayoutIdLst>
  <p:hf hdr="0" dt="0"/>
  <p:txStyles>
    <p:titleStyle>
      <a:lvl1pPr algn="l" defTabSz="914400" rtl="0" eaLnBrk="1" latinLnBrk="0" hangingPunct="1">
        <a:lnSpc>
          <a:spcPct val="90000"/>
        </a:lnSpc>
        <a:spcBef>
          <a:spcPct val="0"/>
        </a:spcBef>
        <a:buNone/>
        <a:defRPr sz="2400" b="1" kern="1200">
          <a:solidFill>
            <a:schemeClr val="tx2"/>
          </a:solidFill>
          <a:latin typeface="Times New Roman" panose="02020603050405020304" pitchFamily="18" charset="0"/>
          <a:ea typeface="+mj-ea"/>
          <a:cs typeface="Times New Roman" panose="02020603050405020304" pitchFamily="18" charset="0"/>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Times New Roman" panose="02020603050405020304" pitchFamily="18" charset="0"/>
          <a:ea typeface="+mn-ea"/>
          <a:cs typeface="Times New Roman" panose="02020603050405020304" pitchFamily="18"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Times New Roman" panose="02020603050405020304" pitchFamily="18" charset="0"/>
          <a:ea typeface="+mn-ea"/>
          <a:cs typeface="Times New Roman" panose="02020603050405020304" pitchFamily="18"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Times New Roman" panose="02020603050405020304" pitchFamily="18" charset="0"/>
          <a:ea typeface="+mn-ea"/>
          <a:cs typeface="Times New Roman" panose="02020603050405020304" pitchFamily="18"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lumMod val="50000"/>
                    <a:lumOff val="50000"/>
                  </a:schemeClr>
                </a:solidFill>
                <a:latin typeface="Times New Roman" panose="02020603050405020304" pitchFamily="18" charset="0"/>
                <a:cs typeface="Times New Roman" panose="02020603050405020304" pitchFamily="18" charset="0"/>
              </a:defRPr>
            </a:lvl1pPr>
          </a:lstStyle>
          <a:p>
            <a:r>
              <a:rPr lang="en-US"/>
              <a:t>Add long copyright line here</a:t>
            </a:r>
            <a:endParaRPr lang="en-US" dirty="0"/>
          </a:p>
        </p:txBody>
      </p:sp>
      <p:sp>
        <p:nvSpPr>
          <p:cNvPr id="6" name="MGH Yellow Line">
            <a:extLst>
              <a:ext uri="{FF2B5EF4-FFF2-40B4-BE49-F238E27FC236}">
                <a16:creationId xmlns:a16="http://schemas.microsoft.com/office/drawing/2014/main" id="{F20163A4-4644-4B17-9C8A-EF42A992331B}"/>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24279" y="6660234"/>
            <a:ext cx="1285344"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37202" y="6682314"/>
            <a:ext cx="342900" cy="143831"/>
          </a:xfrm>
          <a:prstGeom prst="rect">
            <a:avLst/>
          </a:prstGeom>
        </p:spPr>
        <p:txBody>
          <a:bodyPr vert="horz" lIns="45720" tIns="45720" rIns="45720" bIns="45720" rtlCol="0" anchor="ctr"/>
          <a:lstStyle>
            <a:lvl1pPr algn="r">
              <a:defRPr lang="en-US" sz="800" smtClean="0">
                <a:solidFill>
                  <a:schemeClr val="tx1">
                    <a:lumMod val="65000"/>
                    <a:lumOff val="35000"/>
                  </a:schemeClr>
                </a:solidFill>
                <a:latin typeface="Times New Roman" panose="02020603050405020304" pitchFamily="18" charset="0"/>
                <a:cs typeface="Times New Roman" panose="02020603050405020304" pitchFamily="18" charset="0"/>
              </a:defRPr>
            </a:lvl1pPr>
          </a:lstStyle>
          <a:p>
            <a:fld id="{68151E55-6873-49E2-B8D5-2F265E6F1973}" type="slidenum">
              <a:rPr lang="en-US" smtClean="0"/>
              <a:pPr/>
              <a:t>‹#›</a:t>
            </a:fld>
            <a:endParaRPr lang="en-US" dirty="0"/>
          </a:p>
        </p:txBody>
      </p:sp>
      <p:grpSp>
        <p:nvGrpSpPr>
          <p:cNvPr id="6" name="MGH Shape">
            <a:extLst>
              <a:ext uri="{FF2B5EF4-FFF2-40B4-BE49-F238E27FC236}">
                <a16:creationId xmlns:a16="http://schemas.microsoft.com/office/drawing/2014/main" id="{B719ECBD-8119-4217-9D58-2638FA4365C1}"/>
              </a:ext>
              <a:ext uri="{C183D7F6-B498-43B3-948B-1728B52AA6E4}">
                <adec:decorative xmlns:adec="http://schemas.microsoft.com/office/drawing/2017/decorative"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latin typeface="Times New Roman" panose="02020603050405020304" pitchFamily="18" charset="0"/>
                <a:cs typeface="Times New Roman" panose="02020603050405020304" pitchFamily="18" charset="0"/>
              </a:endParaRPr>
            </a:p>
          </p:txBody>
        </p:sp>
        <p:sp>
          <p:nvSpPr>
            <p:cNvPr id="10" name="Freeform 12">
              <a:extLst>
                <a:ext uri="{FF2B5EF4-FFF2-40B4-BE49-F238E27FC236}">
                  <a16:creationId xmlns:a16="http://schemas.microsoft.com/office/drawing/2014/main"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latin typeface="Times New Roman" panose="02020603050405020304" pitchFamily="18" charset="0"/>
                <a:cs typeface="Times New Roman" panose="02020603050405020304" pitchFamily="18" charset="0"/>
              </a:endParaRPr>
            </a:p>
          </p:txBody>
        </p:sp>
        <p:sp>
          <p:nvSpPr>
            <p:cNvPr id="11" name="Freeform 13">
              <a:extLst>
                <a:ext uri="{FF2B5EF4-FFF2-40B4-BE49-F238E27FC236}">
                  <a16:creationId xmlns:a16="http://schemas.microsoft.com/office/drawing/2014/main"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latin typeface="Times New Roman" panose="02020603050405020304" pitchFamily="18" charset="0"/>
                <a:cs typeface="Times New Roman" panose="02020603050405020304" pitchFamily="18" charset="0"/>
              </a:endParaRPr>
            </a:p>
          </p:txBody>
        </p:sp>
      </p:gr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Times New Roman" panose="02020603050405020304" pitchFamily="18" charset="0"/>
          <a:ea typeface="+mj-ea"/>
          <a:cs typeface="Times New Roman" panose="02020603050405020304" pitchFamily="18" charset="0"/>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Times New Roman" panose="02020603050405020304" pitchFamily="18" charset="0"/>
          <a:ea typeface="+mn-ea"/>
          <a:cs typeface="Times New Roman" panose="02020603050405020304" pitchFamily="18" charset="0"/>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Times New Roman" panose="02020603050405020304" pitchFamily="18" charset="0"/>
          <a:ea typeface="+mn-ea"/>
          <a:cs typeface="Times New Roman" panose="02020603050405020304" pitchFamily="18" charset="0"/>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latin typeface="Times New Roman" panose="02020603050405020304" pitchFamily="18" charset="0"/>
                <a:cs typeface="Times New Roman" panose="02020603050405020304" pitchFamily="18"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2" r:id="rId1"/>
    <p:sldLayoutId id="2147483703"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Times New Roman" panose="02020603050405020304" pitchFamily="18" charset="0"/>
          <a:ea typeface="+mj-ea"/>
          <a:cs typeface="Times New Roman" panose="02020603050405020304" pitchFamily="18" charset="0"/>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Times New Roman" panose="02020603050405020304" pitchFamily="18" charset="0"/>
          <a:ea typeface="+mn-ea"/>
          <a:cs typeface="Times New Roman" panose="02020603050405020304" pitchFamily="18"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Times New Roman" panose="02020603050405020304" pitchFamily="18" charset="0"/>
          <a:ea typeface="+mn-ea"/>
          <a:cs typeface="Times New Roman" panose="02020603050405020304" pitchFamily="18"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Times New Roman" panose="02020603050405020304" pitchFamily="18" charset="0"/>
          <a:ea typeface="+mn-ea"/>
          <a:cs typeface="Times New Roman" panose="02020603050405020304" pitchFamily="18"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619875"/>
            <a:ext cx="9144000" cy="57150"/>
          </a:xfrm>
          <a:custGeom>
            <a:avLst/>
            <a:gdLst/>
            <a:ahLst/>
            <a:cxnLst/>
            <a:rect l="l" t="t" r="r" b="b"/>
            <a:pathLst>
              <a:path w="9144000" h="57150">
                <a:moveTo>
                  <a:pt x="9144000" y="0"/>
                </a:moveTo>
                <a:lnTo>
                  <a:pt x="0" y="0"/>
                </a:lnTo>
                <a:lnTo>
                  <a:pt x="0" y="57150"/>
                </a:lnTo>
                <a:lnTo>
                  <a:pt x="9144000" y="57150"/>
                </a:lnTo>
                <a:lnTo>
                  <a:pt x="9144000" y="0"/>
                </a:lnTo>
                <a:close/>
              </a:path>
            </a:pathLst>
          </a:custGeom>
          <a:solidFill>
            <a:srgbClr val="FFB600"/>
          </a:solidFill>
        </p:spPr>
        <p:txBody>
          <a:bodyPr wrap="square" lIns="0" tIns="0" rIns="0" bIns="0" rtlCol="0"/>
          <a:lstStyle/>
          <a:p>
            <a:endParaRPr/>
          </a:p>
        </p:txBody>
      </p:sp>
      <p:sp>
        <p:nvSpPr>
          <p:cNvPr id="2" name="Holder 2"/>
          <p:cNvSpPr>
            <a:spLocks noGrp="1"/>
          </p:cNvSpPr>
          <p:nvPr>
            <p:ph type="title"/>
          </p:nvPr>
        </p:nvSpPr>
        <p:spPr>
          <a:xfrm>
            <a:off x="421957" y="318388"/>
            <a:ext cx="8117205" cy="575310"/>
          </a:xfrm>
          <a:prstGeom prst="rect">
            <a:avLst/>
          </a:prstGeom>
        </p:spPr>
        <p:txBody>
          <a:bodyPr wrap="square" lIns="0" tIns="0" rIns="0" bIns="0">
            <a:spAutoFit/>
          </a:bodyPr>
          <a:lstStyle>
            <a:lvl1pPr>
              <a:defRPr sz="395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421957" y="1301749"/>
            <a:ext cx="7777480" cy="3196590"/>
          </a:xfrm>
          <a:prstGeom prst="rect">
            <a:avLst/>
          </a:prstGeom>
        </p:spPr>
        <p:txBody>
          <a:bodyPr wrap="square" lIns="0" tIns="0" rIns="0" bIns="0">
            <a:spAutoFit/>
          </a:bodyPr>
          <a:lstStyle>
            <a:lvl1pPr>
              <a:defRPr sz="24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248920" y="6709423"/>
            <a:ext cx="673100" cy="142240"/>
          </a:xfrm>
          <a:prstGeom prst="rect">
            <a:avLst/>
          </a:prstGeom>
        </p:spPr>
        <p:txBody>
          <a:bodyPr wrap="square" lIns="0" tIns="0" rIns="0" bIns="0">
            <a:spAutoFit/>
          </a:bodyPr>
          <a:lstStyle>
            <a:lvl1pPr>
              <a:defRPr sz="800" b="0" i="0">
                <a:solidFill>
                  <a:srgbClr val="585858"/>
                </a:solidFill>
                <a:latin typeface="Times New Roman"/>
                <a:cs typeface="Times New Roman"/>
              </a:defRPr>
            </a:lvl1pPr>
          </a:lstStyle>
          <a:p>
            <a:pPr marL="12700">
              <a:lnSpc>
                <a:spcPct val="100000"/>
              </a:lnSpc>
              <a:spcBef>
                <a:spcPts val="35"/>
              </a:spcBef>
            </a:pPr>
            <a:r>
              <a:rPr dirty="0"/>
              <a:t>©</a:t>
            </a:r>
            <a:r>
              <a:rPr spc="45" dirty="0"/>
              <a:t> </a:t>
            </a:r>
            <a:r>
              <a:rPr dirty="0"/>
              <a:t>McGraw</a:t>
            </a:r>
            <a:r>
              <a:rPr spc="-105" dirty="0"/>
              <a:t> </a:t>
            </a:r>
            <a:r>
              <a:rPr spc="-20" dirty="0"/>
              <a:t>Hill</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1/13/2026</a:t>
            </a:fld>
            <a:endParaRPr lang="en-US"/>
          </a:p>
        </p:txBody>
      </p:sp>
      <p:sp>
        <p:nvSpPr>
          <p:cNvPr id="6" name="Holder 6"/>
          <p:cNvSpPr>
            <a:spLocks noGrp="1"/>
          </p:cNvSpPr>
          <p:nvPr>
            <p:ph type="sldNum" sz="quarter" idx="7"/>
          </p:nvPr>
        </p:nvSpPr>
        <p:spPr>
          <a:xfrm>
            <a:off x="8795384" y="6691643"/>
            <a:ext cx="203834" cy="142240"/>
          </a:xfrm>
          <a:prstGeom prst="rect">
            <a:avLst/>
          </a:prstGeom>
        </p:spPr>
        <p:txBody>
          <a:bodyPr wrap="square" lIns="0" tIns="0" rIns="0" bIns="0">
            <a:spAutoFit/>
          </a:bodyPr>
          <a:lstStyle>
            <a:lvl1pPr>
              <a:defRPr sz="800" b="0" i="0">
                <a:solidFill>
                  <a:srgbClr val="585858"/>
                </a:solidFill>
                <a:latin typeface="Times New Roman"/>
                <a:cs typeface="Times New Roman"/>
              </a:defRPr>
            </a:lvl1pPr>
          </a:lstStyle>
          <a:p>
            <a:pPr marL="38100">
              <a:lnSpc>
                <a:spcPct val="100000"/>
              </a:lnSpc>
              <a:spcBef>
                <a:spcPts val="35"/>
              </a:spcBef>
            </a:pPr>
            <a:fld id="{81D60167-4931-47E6-BA6A-407CBD079E47}" type="slidenum">
              <a:rPr spc="-25" dirty="0"/>
              <a:t>‹#›</a:t>
            </a:fld>
            <a:endParaRPr spc="-25" dirty="0"/>
          </a:p>
        </p:txBody>
      </p:sp>
    </p:spTree>
    <p:extLst>
      <p:ext uri="{BB962C8B-B14F-4D97-AF65-F5344CB8AC3E}">
        <p14:creationId xmlns:p14="http://schemas.microsoft.com/office/powerpoint/2010/main" val="130935762"/>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619875"/>
            <a:ext cx="9144000" cy="57150"/>
          </a:xfrm>
          <a:custGeom>
            <a:avLst/>
            <a:gdLst/>
            <a:ahLst/>
            <a:cxnLst/>
            <a:rect l="l" t="t" r="r" b="b"/>
            <a:pathLst>
              <a:path w="9144000" h="57150">
                <a:moveTo>
                  <a:pt x="9144000" y="0"/>
                </a:moveTo>
                <a:lnTo>
                  <a:pt x="0" y="0"/>
                </a:lnTo>
                <a:lnTo>
                  <a:pt x="0" y="57150"/>
                </a:lnTo>
                <a:lnTo>
                  <a:pt x="9144000" y="57150"/>
                </a:lnTo>
                <a:lnTo>
                  <a:pt x="9144000" y="0"/>
                </a:lnTo>
                <a:close/>
              </a:path>
            </a:pathLst>
          </a:custGeom>
          <a:solidFill>
            <a:srgbClr val="FFB600"/>
          </a:solidFill>
        </p:spPr>
        <p:txBody>
          <a:bodyPr wrap="square" lIns="0" tIns="0" rIns="0" bIns="0" rtlCol="0"/>
          <a:lstStyle/>
          <a:p>
            <a:endParaRPr/>
          </a:p>
        </p:txBody>
      </p:sp>
      <p:sp>
        <p:nvSpPr>
          <p:cNvPr id="2" name="Holder 2"/>
          <p:cNvSpPr>
            <a:spLocks noGrp="1"/>
          </p:cNvSpPr>
          <p:nvPr>
            <p:ph type="title"/>
          </p:nvPr>
        </p:nvSpPr>
        <p:spPr>
          <a:xfrm>
            <a:off x="421957" y="281305"/>
            <a:ext cx="8224520" cy="632460"/>
          </a:xfrm>
          <a:prstGeom prst="rect">
            <a:avLst/>
          </a:prstGeom>
        </p:spPr>
        <p:txBody>
          <a:bodyPr wrap="square" lIns="0" tIns="0" rIns="0" bIns="0">
            <a:spAutoFit/>
          </a:bodyPr>
          <a:lstStyle>
            <a:lvl1pPr>
              <a:defRPr sz="395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4740909" y="1522412"/>
            <a:ext cx="3852545" cy="4564380"/>
          </a:xfrm>
          <a:prstGeom prst="rect">
            <a:avLst/>
          </a:prstGeom>
        </p:spPr>
        <p:txBody>
          <a:bodyPr wrap="square" lIns="0" tIns="0" rIns="0" bIns="0">
            <a:spAutoFit/>
          </a:bodyPr>
          <a:lstStyle>
            <a:lvl1pPr>
              <a:defRPr sz="18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248920" y="6709423"/>
            <a:ext cx="673100" cy="142240"/>
          </a:xfrm>
          <a:prstGeom prst="rect">
            <a:avLst/>
          </a:prstGeom>
        </p:spPr>
        <p:txBody>
          <a:bodyPr wrap="square" lIns="0" tIns="0" rIns="0" bIns="0">
            <a:spAutoFit/>
          </a:bodyPr>
          <a:lstStyle>
            <a:lvl1pPr>
              <a:defRPr sz="800" b="0" i="0">
                <a:solidFill>
                  <a:srgbClr val="585858"/>
                </a:solidFill>
                <a:latin typeface="Times New Roman"/>
                <a:cs typeface="Times New Roman"/>
              </a:defRPr>
            </a:lvl1pPr>
          </a:lstStyle>
          <a:p>
            <a:pPr marL="12700">
              <a:lnSpc>
                <a:spcPct val="100000"/>
              </a:lnSpc>
              <a:spcBef>
                <a:spcPts val="35"/>
              </a:spcBef>
            </a:pPr>
            <a:r>
              <a:rPr dirty="0"/>
              <a:t>©</a:t>
            </a:r>
            <a:r>
              <a:rPr spc="45" dirty="0"/>
              <a:t> </a:t>
            </a:r>
            <a:r>
              <a:rPr dirty="0"/>
              <a:t>McGraw</a:t>
            </a:r>
            <a:r>
              <a:rPr spc="-105" dirty="0"/>
              <a:t> </a:t>
            </a:r>
            <a:r>
              <a:rPr spc="-20" dirty="0"/>
              <a:t>Hill</a:t>
            </a: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1/13/2026</a:t>
            </a:fld>
            <a:endParaRPr lang="en-US"/>
          </a:p>
        </p:txBody>
      </p:sp>
      <p:sp>
        <p:nvSpPr>
          <p:cNvPr id="6" name="Holder 6"/>
          <p:cNvSpPr>
            <a:spLocks noGrp="1"/>
          </p:cNvSpPr>
          <p:nvPr>
            <p:ph type="sldNum" sz="quarter" idx="7"/>
          </p:nvPr>
        </p:nvSpPr>
        <p:spPr>
          <a:xfrm>
            <a:off x="8820784" y="6690155"/>
            <a:ext cx="177800" cy="142875"/>
          </a:xfrm>
          <a:prstGeom prst="rect">
            <a:avLst/>
          </a:prstGeom>
        </p:spPr>
        <p:txBody>
          <a:bodyPr wrap="square" lIns="0" tIns="0" rIns="0" bIns="0">
            <a:spAutoFit/>
          </a:bodyPr>
          <a:lstStyle>
            <a:lvl1pPr>
              <a:defRPr sz="800" b="0" i="0">
                <a:solidFill>
                  <a:srgbClr val="585858"/>
                </a:solidFill>
                <a:latin typeface="Arial MT"/>
                <a:cs typeface="Arial MT"/>
              </a:defRPr>
            </a:lvl1pPr>
          </a:lstStyle>
          <a:p>
            <a:pPr marL="69850">
              <a:lnSpc>
                <a:spcPct val="100000"/>
              </a:lnSpc>
              <a:spcBef>
                <a:spcPts val="50"/>
              </a:spcBef>
            </a:pPr>
            <a:fld id="{81D60167-4931-47E6-BA6A-407CBD079E47}" type="slidenum">
              <a:rPr spc="-50" dirty="0"/>
              <a:t>‹#›</a:t>
            </a:fld>
            <a:endParaRPr spc="-50" dirty="0"/>
          </a:p>
        </p:txBody>
      </p:sp>
    </p:spTree>
    <p:extLst>
      <p:ext uri="{BB962C8B-B14F-4D97-AF65-F5344CB8AC3E}">
        <p14:creationId xmlns:p14="http://schemas.microsoft.com/office/powerpoint/2010/main" val="2610564561"/>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822"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225022655"/>
      </p:ext>
    </p:extLst>
  </p:cSld>
  <p:clrMap bg1="lt1" tx1="dk1" bg2="lt2" tx2="dk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389234747"/>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643107429"/>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580603792"/>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endParaRPr lang="en-US" dirty="0"/>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latin typeface="Times New Roman" panose="02020603050405020304" pitchFamily="18" charset="0"/>
                <a:cs typeface="Times New Roman" panose="02020603050405020304" pitchFamily="18"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4025243495"/>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Lst>
  <p:hf hdr="0" dt="0"/>
  <p:txStyles>
    <p:titleStyle>
      <a:lvl1pPr algn="l" defTabSz="914400" rtl="0" eaLnBrk="1" latinLnBrk="0" hangingPunct="1">
        <a:lnSpc>
          <a:spcPct val="90000"/>
        </a:lnSpc>
        <a:spcBef>
          <a:spcPct val="0"/>
        </a:spcBef>
        <a:buNone/>
        <a:defRPr sz="4000" b="1" kern="1200">
          <a:solidFill>
            <a:schemeClr val="tx2"/>
          </a:solidFill>
          <a:latin typeface="Times New Roman" panose="02020603050405020304" pitchFamily="18" charset="0"/>
          <a:ea typeface="+mj-ea"/>
          <a:cs typeface="Times New Roman" panose="02020603050405020304" pitchFamily="18" charset="0"/>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Times New Roman" panose="02020603050405020304" pitchFamily="18" charset="0"/>
          <a:ea typeface="+mn-ea"/>
          <a:cs typeface="Times New Roman" panose="02020603050405020304" pitchFamily="18" charset="0"/>
        </a:defRPr>
      </a:lvl1pPr>
      <a:lvl2pPr marL="291600" indent="-291600" algn="l" defTabSz="914400" rtl="0" eaLnBrk="1" latinLnBrk="0" hangingPunct="1">
        <a:lnSpc>
          <a:spcPct val="100000"/>
        </a:lnSpc>
        <a:spcBef>
          <a:spcPts val="1000"/>
        </a:spcBef>
        <a:spcAft>
          <a:spcPts val="0"/>
        </a:spcAft>
        <a:buClrTx/>
        <a:buFont typeface="Arial" panose="020B0604020202020204" pitchFamily="34" charset="0"/>
        <a:buChar char="•"/>
        <a:defRPr sz="2000" kern="1200">
          <a:solidFill>
            <a:schemeClr val="tx2"/>
          </a:solidFill>
          <a:latin typeface="Times New Roman" panose="02020603050405020304" pitchFamily="18" charset="0"/>
          <a:ea typeface="+mn-ea"/>
          <a:cs typeface="Times New Roman" panose="02020603050405020304" pitchFamily="18" charset="0"/>
        </a:defRPr>
      </a:lvl2pPr>
      <a:lvl3pPr marL="622800" indent="-320400" algn="l" defTabSz="914400" rtl="0" eaLnBrk="1" latinLnBrk="0" hangingPunct="1">
        <a:lnSpc>
          <a:spcPct val="100000"/>
        </a:lnSpc>
        <a:spcBef>
          <a:spcPts val="1000"/>
        </a:spcBef>
        <a:spcAft>
          <a:spcPts val="0"/>
        </a:spcAft>
        <a:buFont typeface="Arial" panose="020B0604020202020204" pitchFamily="34" charset="0"/>
        <a:buChar char="•"/>
        <a:defRPr sz="1800" kern="1200">
          <a:solidFill>
            <a:schemeClr val="tx2"/>
          </a:solidFill>
          <a:latin typeface="Times New Roman" panose="02020603050405020304" pitchFamily="18" charset="0"/>
          <a:ea typeface="+mn-ea"/>
          <a:cs typeface="Times New Roman" panose="02020603050405020304" pitchFamily="18"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latin typeface="Times New Roman" panose="02020603050405020304" pitchFamily="18" charset="0"/>
                <a:cs typeface="Times New Roman" panose="02020603050405020304" pitchFamily="18"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079031614"/>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Lst>
  <p:hf hdr="0" dt="0"/>
  <p:txStyles>
    <p:titleStyle>
      <a:lvl1pPr algn="l" defTabSz="914400" rtl="0" eaLnBrk="1" latinLnBrk="0" hangingPunct="1">
        <a:lnSpc>
          <a:spcPct val="90000"/>
        </a:lnSpc>
        <a:spcBef>
          <a:spcPct val="0"/>
        </a:spcBef>
        <a:buNone/>
        <a:defRPr sz="2400" b="1" kern="1200">
          <a:solidFill>
            <a:schemeClr val="tx2"/>
          </a:solidFill>
          <a:latin typeface="Times New Roman" panose="02020603050405020304" pitchFamily="18" charset="0"/>
          <a:ea typeface="+mj-ea"/>
          <a:cs typeface="Times New Roman" panose="02020603050405020304" pitchFamily="18" charset="0"/>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Times New Roman" panose="02020603050405020304" pitchFamily="18" charset="0"/>
          <a:ea typeface="+mn-ea"/>
          <a:cs typeface="Times New Roman" panose="02020603050405020304" pitchFamily="18"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Times New Roman" panose="02020603050405020304" pitchFamily="18" charset="0"/>
          <a:ea typeface="+mn-ea"/>
          <a:cs typeface="Times New Roman" panose="02020603050405020304" pitchFamily="18"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Times New Roman" panose="02020603050405020304" pitchFamily="18" charset="0"/>
          <a:ea typeface="+mn-ea"/>
          <a:cs typeface="Times New Roman" panose="02020603050405020304" pitchFamily="18"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831746"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663128923"/>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698034614"/>
      </p:ext>
    </p:extLst>
  </p:cSld>
  <p:clrMap bg1="lt1" tx1="dk1" bg2="lt2" tx2="dk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latin typeface="Times New Roman" panose="02020603050405020304" pitchFamily="18" charset="0"/>
                <a:cs typeface="Times New Roman" panose="02020603050405020304" pitchFamily="18" charset="0"/>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val="780801628"/>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Lst>
  <p:hf hdr="0" dt="0"/>
  <p:txStyles>
    <p:titleStyle>
      <a:lvl1pPr algn="l" defTabSz="914400" rtl="0" eaLnBrk="1" latinLnBrk="0" hangingPunct="1">
        <a:lnSpc>
          <a:spcPct val="90000"/>
        </a:lnSpc>
        <a:spcBef>
          <a:spcPct val="0"/>
        </a:spcBef>
        <a:buNone/>
        <a:defRPr sz="2400" b="1" kern="1200">
          <a:solidFill>
            <a:schemeClr val="tx2"/>
          </a:solidFill>
          <a:latin typeface="Times New Roman" panose="02020603050405020304" pitchFamily="18" charset="0"/>
          <a:ea typeface="+mj-ea"/>
          <a:cs typeface="Times New Roman" panose="02020603050405020304" pitchFamily="18" charset="0"/>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Times New Roman" panose="02020603050405020304" pitchFamily="18" charset="0"/>
          <a:ea typeface="+mn-ea"/>
          <a:cs typeface="Times New Roman" panose="02020603050405020304" pitchFamily="18"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Times New Roman" panose="02020603050405020304" pitchFamily="18" charset="0"/>
          <a:ea typeface="+mn-ea"/>
          <a:cs typeface="Times New Roman" panose="02020603050405020304" pitchFamily="18"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Times New Roman" panose="02020603050405020304" pitchFamily="18" charset="0"/>
          <a:ea typeface="+mn-ea"/>
          <a:cs typeface="Times New Roman" panose="02020603050405020304" pitchFamily="18"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876542"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latin typeface="Times New Roman" panose="02020603050405020304" pitchFamily="18" charset="0"/>
                <a:cs typeface="Times New Roman" panose="02020603050405020304" pitchFamily="18"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122921379"/>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851142"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latin typeface="Times New Roman" panose="02020603050405020304" pitchFamily="18" charset="0"/>
                <a:cs typeface="Times New Roman" panose="02020603050405020304" pitchFamily="18"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81630957"/>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a:t>
            </a:r>
            <a:r>
              <a:rPr lang="en-US" sz="800" b="0" baseline="0" dirty="0">
                <a:solidFill>
                  <a:schemeClr val="tx1">
                    <a:lumMod val="65000"/>
                    <a:lumOff val="35000"/>
                  </a:schemeClr>
                </a:solidFill>
                <a:latin typeface="Times New Roman" panose="02020603050405020304" pitchFamily="18" charset="0"/>
                <a:cs typeface="Times New Roman" panose="02020603050405020304" pitchFamily="18" charset="0"/>
              </a:rPr>
              <a:t> </a:t>
            </a:r>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Hill </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latin typeface="Times New Roman" panose="02020603050405020304" pitchFamily="18" charset="0"/>
                <a:cs typeface="Times New Roman" panose="02020603050405020304" pitchFamily="18"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3350266491"/>
      </p:ext>
    </p:extLst>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 id="2147483798" r:id="rId4"/>
    <p:sldLayoutId id="2147483799" r:id="rId5"/>
    <p:sldLayoutId id="2147483800" r:id="rId6"/>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defRPr>
            </a:lvl1pPr>
          </a:lstStyle>
          <a:p>
            <a:fld id="{68151E55-6873-49E2-B8D5-2F265E6F1973}" type="slidenum">
              <a:rPr lang="en-US" smtClean="0"/>
              <a:pPr/>
              <a:t>‹#›</a:t>
            </a:fld>
            <a:endParaRPr lang="en-US" dirty="0"/>
          </a:p>
        </p:txBody>
      </p:sp>
      <p:sp>
        <p:nvSpPr>
          <p:cNvPr id="7" name="Short Copyright">
            <a:extLst>
              <a:ext uri="{FF2B5EF4-FFF2-40B4-BE49-F238E27FC236}">
                <a16:creationId xmlns:a16="http://schemas.microsoft.com/office/drawing/2014/main" id="{D19C7504-4635-4B52-8371-4EA698579762}"/>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Tree>
    <p:extLst>
      <p:ext uri="{BB962C8B-B14F-4D97-AF65-F5344CB8AC3E}">
        <p14:creationId xmlns:p14="http://schemas.microsoft.com/office/powerpoint/2010/main" val="2034563750"/>
      </p:ext>
    </p:extLst>
  </p:cSld>
  <p:clrMap bg1="lt1" tx1="dk1" bg2="lt2" tx2="dk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latin typeface="Times New Roman" panose="02020603050405020304" pitchFamily="18" charset="0"/>
                <a:cs typeface="Times New Roman" panose="02020603050405020304" pitchFamily="18" charset="0"/>
              </a:rPr>
              <a:t>© McGraw 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latin typeface="Times New Roman" panose="02020603050405020304" pitchFamily="18" charset="0"/>
                <a:cs typeface="Times New Roman" panose="02020603050405020304" pitchFamily="18" charset="0"/>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833980860"/>
      </p:ext>
    </p:extLst>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2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901942"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a:t>
            </a:r>
            <a:r>
              <a:rPr lang="en-US" sz="800" b="0" baseline="0" dirty="0">
                <a:solidFill>
                  <a:schemeClr val="tx1">
                    <a:lumMod val="65000"/>
                    <a:lumOff val="35000"/>
                  </a:schemeClr>
                </a:solidFill>
              </a:rPr>
              <a:t> </a:t>
            </a:r>
            <a:r>
              <a:rPr lang="en-US" sz="800" b="0" dirty="0">
                <a:solidFill>
                  <a:schemeClr val="tx1">
                    <a:lumMod val="65000"/>
                    <a:lumOff val="35000"/>
                  </a:schemeClr>
                </a:solidFill>
              </a:rPr>
              <a:t>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1812920423"/>
      </p:ext>
    </p:extLst>
  </p:cSld>
  <p:clrMap bg1="lt1" tx1="dk1" bg2="lt2" tx2="dk2" accent1="accent1" accent2="accent2" accent3="accent3" accent4="accent4" accent5="accent5" accent6="accent6" hlink="hlink" folHlink="folHlink"/>
  <p:sldLayoutIdLst>
    <p:sldLayoutId id="2147483816" r:id="rId1"/>
    <p:sldLayoutId id="2147483817" r:id="rId2"/>
    <p:sldLayoutId id="2147483818" r:id="rId3"/>
    <p:sldLayoutId id="2147483819" r:id="rId4"/>
    <p:sldLayoutId id="2147483820" r:id="rId5"/>
    <p:sldLayoutId id="2147483821" r:id="rId6"/>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26.xml"/><Relationship Id="rId4" Type="http://schemas.openxmlformats.org/officeDocument/2006/relationships/slide" Target="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3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1.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image" Target="../media/image9.jpg"/><Relationship Id="rId1" Type="http://schemas.openxmlformats.org/officeDocument/2006/relationships/slideLayout" Target="../slideLayouts/slideLayout3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4.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image" Target="../media/image10.jpg"/><Relationship Id="rId1" Type="http://schemas.openxmlformats.org/officeDocument/2006/relationships/slideLayout" Target="../slideLayouts/slideLayout5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6.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image" Target="../media/image11.jpg"/><Relationship Id="rId1" Type="http://schemas.openxmlformats.org/officeDocument/2006/relationships/slideLayout" Target="../slideLayouts/slideLayout5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4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image" Target="../media/image12.jpg"/><Relationship Id="rId1" Type="http://schemas.openxmlformats.org/officeDocument/2006/relationships/slideLayout" Target="../slideLayouts/slideLayout7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9.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9.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9.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9.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9.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9.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sz="3600" dirty="0"/>
              <a:t>Nature</a:t>
            </a:r>
            <a:r>
              <a:rPr sz="3600" spc="-50" dirty="0"/>
              <a:t> </a:t>
            </a:r>
            <a:r>
              <a:rPr sz="3600" dirty="0"/>
              <a:t>of</a:t>
            </a:r>
            <a:r>
              <a:rPr sz="3600" spc="-85" dirty="0"/>
              <a:t> </a:t>
            </a:r>
            <a:r>
              <a:rPr sz="3600" dirty="0"/>
              <a:t>Software</a:t>
            </a:r>
            <a:r>
              <a:rPr sz="3600" spc="-45" dirty="0"/>
              <a:t> </a:t>
            </a:r>
            <a:r>
              <a:rPr sz="3600" dirty="0"/>
              <a:t>–</a:t>
            </a:r>
            <a:r>
              <a:rPr sz="3600" spc="-85" dirty="0"/>
              <a:t> </a:t>
            </a:r>
            <a:r>
              <a:rPr sz="3600" dirty="0"/>
              <a:t>Defining</a:t>
            </a:r>
            <a:r>
              <a:rPr sz="3600" spc="50" dirty="0"/>
              <a:t> </a:t>
            </a:r>
            <a:r>
              <a:rPr sz="3600" spc="-10" dirty="0"/>
              <a:t>Software</a:t>
            </a:r>
            <a:endParaRPr sz="3600"/>
          </a:p>
        </p:txBody>
      </p:sp>
      <p:sp>
        <p:nvSpPr>
          <p:cNvPr id="4" name="object 4"/>
          <p:cNvSpPr txBox="1">
            <a:spLocks noGrp="1"/>
          </p:cNvSpPr>
          <p:nvPr>
            <p:ph type="sldNum" sz="quarter" idx="7"/>
          </p:nvPr>
        </p:nvSpPr>
        <p:spPr>
          <a:prstGeom prst="rect">
            <a:avLst/>
          </a:prstGeom>
        </p:spPr>
        <p:txBody>
          <a:bodyPr vert="horz" wrap="square" lIns="0" tIns="4445" rIns="0" bIns="0" rtlCol="0">
            <a:spAutoFit/>
          </a:bodyPr>
          <a:lstStyle/>
          <a:p>
            <a:pPr marL="38100" marR="0" lvl="0" indent="0" defTabSz="914400" eaLnBrk="1" fontAlgn="auto" latinLnBrk="0" hangingPunct="1">
              <a:lnSpc>
                <a:spcPct val="100000"/>
              </a:lnSpc>
              <a:spcBef>
                <a:spcPts val="35"/>
              </a:spcBef>
              <a:spcAft>
                <a:spcPts val="0"/>
              </a:spcAft>
              <a:buClrTx/>
              <a:buSzTx/>
              <a:buFontTx/>
              <a:buNone/>
              <a:tabLst/>
              <a:defRPr/>
            </a:pPr>
            <a:fld id="{81D60167-4931-47E6-BA6A-407CBD079E47}" type="slidenum">
              <a:rPr kumimoji="0" sz="800" b="0" i="0" u="none" strike="noStrike" kern="0" cap="none" spc="-25" normalizeH="0" baseline="0" noProof="0" dirty="0">
                <a:ln>
                  <a:noFill/>
                </a:ln>
                <a:solidFill>
                  <a:srgbClr val="585858"/>
                </a:solidFill>
                <a:effectLst/>
                <a:uLnTx/>
                <a:uFillTx/>
                <a:latin typeface="Times New Roman"/>
                <a:cs typeface="Times New Roman"/>
              </a:rPr>
              <a:pPr marL="38100" marR="0" lvl="0" indent="0" defTabSz="914400" eaLnBrk="1" fontAlgn="auto" latinLnBrk="0" hangingPunct="1">
                <a:lnSpc>
                  <a:spcPct val="100000"/>
                </a:lnSpc>
                <a:spcBef>
                  <a:spcPts val="35"/>
                </a:spcBef>
                <a:spcAft>
                  <a:spcPts val="0"/>
                </a:spcAft>
                <a:buClrTx/>
                <a:buSzTx/>
                <a:buFontTx/>
                <a:buNone/>
                <a:tabLst/>
                <a:defRPr/>
              </a:pPr>
              <a:t>1</a:t>
            </a:fld>
            <a:endParaRPr kumimoji="0" sz="800" b="0" i="0" u="none" strike="noStrike" kern="0" cap="none" spc="-25" normalizeH="0" baseline="0" noProof="0" dirty="0">
              <a:ln>
                <a:noFill/>
              </a:ln>
              <a:solidFill>
                <a:srgbClr val="585858"/>
              </a:solidFill>
              <a:effectLst/>
              <a:uLnTx/>
              <a:uFillTx/>
              <a:latin typeface="Times New Roman"/>
              <a:cs typeface="Times New Roman"/>
            </a:endParaRPr>
          </a:p>
        </p:txBody>
      </p:sp>
      <p:sp>
        <p:nvSpPr>
          <p:cNvPr id="5" name="object 5"/>
          <p:cNvSpPr txBox="1">
            <a:spLocks noGrp="1"/>
          </p:cNvSpPr>
          <p:nvPr>
            <p:ph type="ftr" sz="quarter" idx="5"/>
          </p:nvPr>
        </p:nvSpPr>
        <p:spPr>
          <a:prstGeom prst="rect">
            <a:avLst/>
          </a:prstGeom>
        </p:spPr>
        <p:txBody>
          <a:bodyPr vert="horz" wrap="square" lIns="0" tIns="4445" rIns="0" bIns="0" rtlCol="0">
            <a:spAutoFit/>
          </a:bodyPr>
          <a:lstStyle/>
          <a:p>
            <a:pPr marL="12700" marR="0" lvl="0" indent="0" defTabSz="914400" eaLnBrk="1" fontAlgn="auto" latinLnBrk="0" hangingPunct="1">
              <a:lnSpc>
                <a:spcPct val="100000"/>
              </a:lnSpc>
              <a:spcBef>
                <a:spcPts val="35"/>
              </a:spcBef>
              <a:spcAft>
                <a:spcPts val="0"/>
              </a:spcAft>
              <a:buClrTx/>
              <a:buSzTx/>
              <a:buFontTx/>
              <a:buNone/>
              <a:tabLst/>
              <a:defRPr/>
            </a:pPr>
            <a:r>
              <a:rPr kumimoji="0" sz="800" b="0" i="0" u="none" strike="noStrike" kern="0" cap="none" spc="0" normalizeH="0" baseline="0" noProof="0" dirty="0">
                <a:ln>
                  <a:noFill/>
                </a:ln>
                <a:solidFill>
                  <a:srgbClr val="585858"/>
                </a:solidFill>
                <a:effectLst/>
                <a:uLnTx/>
                <a:uFillTx/>
                <a:latin typeface="Times New Roman"/>
                <a:cs typeface="Times New Roman"/>
              </a:rPr>
              <a:t>©</a:t>
            </a:r>
            <a:r>
              <a:rPr kumimoji="0" sz="800" b="0" i="0" u="none" strike="noStrike" kern="0" cap="none" spc="45" normalizeH="0" baseline="0" noProof="0" dirty="0">
                <a:ln>
                  <a:noFill/>
                </a:ln>
                <a:solidFill>
                  <a:srgbClr val="585858"/>
                </a:solidFill>
                <a:effectLst/>
                <a:uLnTx/>
                <a:uFillTx/>
                <a:latin typeface="Times New Roman"/>
                <a:cs typeface="Times New Roman"/>
              </a:rPr>
              <a:t> </a:t>
            </a:r>
            <a:r>
              <a:rPr kumimoji="0" sz="800" b="0" i="0" u="none" strike="noStrike" kern="0" cap="none" spc="0" normalizeH="0" baseline="0" noProof="0" dirty="0">
                <a:ln>
                  <a:noFill/>
                </a:ln>
                <a:solidFill>
                  <a:srgbClr val="585858"/>
                </a:solidFill>
                <a:effectLst/>
                <a:uLnTx/>
                <a:uFillTx/>
                <a:latin typeface="Times New Roman"/>
                <a:cs typeface="Times New Roman"/>
              </a:rPr>
              <a:t>McGraw</a:t>
            </a:r>
            <a:r>
              <a:rPr kumimoji="0" sz="800" b="0" i="0" u="none" strike="noStrike" kern="0" cap="none" spc="-105" normalizeH="0" baseline="0" noProof="0" dirty="0">
                <a:ln>
                  <a:noFill/>
                </a:ln>
                <a:solidFill>
                  <a:srgbClr val="585858"/>
                </a:solidFill>
                <a:effectLst/>
                <a:uLnTx/>
                <a:uFillTx/>
                <a:latin typeface="Times New Roman"/>
                <a:cs typeface="Times New Roman"/>
              </a:rPr>
              <a:t> </a:t>
            </a:r>
            <a:r>
              <a:rPr kumimoji="0" sz="800" b="0" i="0" u="none" strike="noStrike" kern="0" cap="none" spc="-20" normalizeH="0" baseline="0" noProof="0" dirty="0">
                <a:ln>
                  <a:noFill/>
                </a:ln>
                <a:solidFill>
                  <a:srgbClr val="585858"/>
                </a:solidFill>
                <a:effectLst/>
                <a:uLnTx/>
                <a:uFillTx/>
                <a:latin typeface="Times New Roman"/>
                <a:cs typeface="Times New Roman"/>
              </a:rPr>
              <a:t>Hill</a:t>
            </a:r>
          </a:p>
        </p:txBody>
      </p:sp>
      <p:sp>
        <p:nvSpPr>
          <p:cNvPr id="3" name="object 3"/>
          <p:cNvSpPr txBox="1"/>
          <p:nvPr/>
        </p:nvSpPr>
        <p:spPr>
          <a:xfrm>
            <a:off x="421957" y="1301749"/>
            <a:ext cx="7959725" cy="3072765"/>
          </a:xfrm>
          <a:prstGeom prst="rect">
            <a:avLst/>
          </a:prstGeom>
        </p:spPr>
        <p:txBody>
          <a:bodyPr vert="horz" wrap="square" lIns="0" tIns="13335" rIns="0" bIns="0" rtlCol="0">
            <a:spAutoFit/>
          </a:bodyPr>
          <a:lstStyle/>
          <a:p>
            <a:pPr marL="12700" marR="0" lvl="0" indent="0" defTabSz="914400" eaLnBrk="1" fontAlgn="auto" latinLnBrk="0" hangingPunct="1">
              <a:lnSpc>
                <a:spcPct val="100000"/>
              </a:lnSpc>
              <a:spcBef>
                <a:spcPts val="105"/>
              </a:spcBef>
              <a:spcAft>
                <a:spcPts val="0"/>
              </a:spcAft>
              <a:buClrTx/>
              <a:buSzTx/>
              <a:buFontTx/>
              <a:buNone/>
              <a:tabLst/>
              <a:defRPr/>
            </a:pPr>
            <a:r>
              <a:rPr kumimoji="0" sz="2400" b="0" i="1" u="none" strike="noStrike" kern="0" cap="none" spc="-10" normalizeH="0" baseline="0" noProof="0" dirty="0">
                <a:ln>
                  <a:noFill/>
                </a:ln>
                <a:solidFill>
                  <a:sysClr val="windowText" lastClr="000000"/>
                </a:solidFill>
                <a:effectLst/>
                <a:uLnTx/>
                <a:uFillTx/>
                <a:latin typeface="Times New Roman"/>
                <a:cs typeface="Times New Roman"/>
              </a:rPr>
              <a:t>Software</a:t>
            </a:r>
            <a:r>
              <a:rPr kumimoji="0" sz="2400" b="0" i="1" u="none" strike="noStrike" kern="0" cap="none" spc="-7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25" normalizeH="0" baseline="0" noProof="0" dirty="0">
                <a:ln>
                  <a:noFill/>
                </a:ln>
                <a:solidFill>
                  <a:sysClr val="windowText" lastClr="000000"/>
                </a:solidFill>
                <a:effectLst/>
                <a:uLnTx/>
                <a:uFillTx/>
                <a:latin typeface="Times New Roman"/>
                <a:cs typeface="Times New Roman"/>
              </a:rPr>
              <a:t>is: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413384" marR="5080" lvl="0" indent="-400685" defTabSz="914400" eaLnBrk="1" fontAlgn="auto" latinLnBrk="0" hangingPunct="1">
              <a:lnSpc>
                <a:spcPct val="101699"/>
              </a:lnSpc>
              <a:spcBef>
                <a:spcPts val="1725"/>
              </a:spcBef>
              <a:spcAft>
                <a:spcPts val="0"/>
              </a:spcAft>
              <a:buClrTx/>
              <a:buSzTx/>
              <a:buFontTx/>
              <a:buAutoNum type="arabicParenR"/>
              <a:tabLst>
                <a:tab pos="413384" algn="l"/>
              </a:tabLst>
              <a:defRPr/>
            </a:pPr>
            <a:r>
              <a:rPr kumimoji="0" sz="2400" b="0" i="1" u="none" strike="noStrike" kern="0" cap="none" spc="0" normalizeH="0" baseline="0" noProof="0" dirty="0">
                <a:ln>
                  <a:noFill/>
                </a:ln>
                <a:solidFill>
                  <a:sysClr val="windowText" lastClr="000000"/>
                </a:solidFill>
                <a:effectLst/>
                <a:uLnTx/>
                <a:uFillTx/>
                <a:latin typeface="Times New Roman"/>
                <a:cs typeface="Times New Roman"/>
              </a:rPr>
              <a:t>Instructions</a:t>
            </a:r>
            <a:r>
              <a:rPr kumimoji="0" sz="2400" b="0" i="1" u="none" strike="noStrike" kern="0" cap="none" spc="-8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(computer</a:t>
            </a:r>
            <a:r>
              <a:rPr kumimoji="0" sz="2400" b="0" i="1" u="none" strike="noStrike" kern="0" cap="none" spc="-7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10" normalizeH="0" baseline="0" noProof="0" dirty="0">
                <a:ln>
                  <a:noFill/>
                </a:ln>
                <a:solidFill>
                  <a:sysClr val="windowText" lastClr="000000"/>
                </a:solidFill>
                <a:effectLst/>
                <a:uLnTx/>
                <a:uFillTx/>
                <a:latin typeface="Times New Roman"/>
                <a:cs typeface="Times New Roman"/>
              </a:rPr>
              <a:t>programs)</a:t>
            </a:r>
            <a:r>
              <a:rPr kumimoji="0" sz="2400" b="0" i="1"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that</a:t>
            </a:r>
            <a:r>
              <a:rPr kumimoji="0" sz="2400" b="0" i="1" u="none" strike="noStrike" kern="0" cap="none" spc="-9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when</a:t>
            </a:r>
            <a:r>
              <a:rPr kumimoji="0" sz="2400" b="0" i="1"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executed</a:t>
            </a:r>
            <a:r>
              <a:rPr kumimoji="0" sz="2400" b="0" i="1" u="none" strike="noStrike" kern="0" cap="none" spc="-10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10" normalizeH="0" baseline="0" noProof="0" dirty="0">
                <a:ln>
                  <a:noFill/>
                </a:ln>
                <a:solidFill>
                  <a:sysClr val="windowText" lastClr="000000"/>
                </a:solidFill>
                <a:effectLst/>
                <a:uLnTx/>
                <a:uFillTx/>
                <a:latin typeface="Times New Roman"/>
                <a:cs typeface="Times New Roman"/>
              </a:rPr>
              <a:t>provide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desired</a:t>
            </a:r>
            <a:r>
              <a:rPr kumimoji="0" sz="2400" b="0" i="1"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features,</a:t>
            </a:r>
            <a:r>
              <a:rPr kumimoji="0" sz="2400" b="0" i="1"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function,</a:t>
            </a:r>
            <a:r>
              <a:rPr kumimoji="0" sz="2400" b="0" i="1" u="none" strike="noStrike" kern="0" cap="none" spc="-15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and</a:t>
            </a:r>
            <a:r>
              <a:rPr kumimoji="0" sz="2400" b="0" i="1" u="none" strike="noStrike" kern="0" cap="none" spc="-9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10" normalizeH="0" baseline="0" noProof="0" dirty="0">
                <a:ln>
                  <a:noFill/>
                </a:ln>
                <a:solidFill>
                  <a:sysClr val="windowText" lastClr="000000"/>
                </a:solidFill>
                <a:effectLst/>
                <a:uLnTx/>
                <a:uFillTx/>
                <a:latin typeface="Times New Roman"/>
                <a:cs typeface="Times New Roman"/>
              </a:rPr>
              <a:t>performance;</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412750" marR="0" lvl="0" indent="-400050" defTabSz="914400" eaLnBrk="1" fontAlgn="auto" latinLnBrk="0" hangingPunct="1">
              <a:lnSpc>
                <a:spcPct val="100000"/>
              </a:lnSpc>
              <a:spcBef>
                <a:spcPts val="955"/>
              </a:spcBef>
              <a:spcAft>
                <a:spcPts val="0"/>
              </a:spcAft>
              <a:buClrTx/>
              <a:buSzTx/>
              <a:buFontTx/>
              <a:buAutoNum type="arabicParenR"/>
              <a:tabLst>
                <a:tab pos="412750" algn="l"/>
              </a:tabLst>
              <a:defRPr/>
            </a:pPr>
            <a:r>
              <a:rPr kumimoji="0" sz="2400" b="0" i="1" u="none" strike="noStrike" kern="0" cap="none" spc="0" normalizeH="0" baseline="0" noProof="0" dirty="0">
                <a:ln>
                  <a:noFill/>
                </a:ln>
                <a:solidFill>
                  <a:sysClr val="windowText" lastClr="000000"/>
                </a:solidFill>
                <a:effectLst/>
                <a:uLnTx/>
                <a:uFillTx/>
                <a:latin typeface="Times New Roman"/>
                <a:cs typeface="Times New Roman"/>
              </a:rPr>
              <a:t>Data</a:t>
            </a:r>
            <a:r>
              <a:rPr kumimoji="0" sz="2400" b="0" i="1"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structures</a:t>
            </a:r>
            <a:r>
              <a:rPr kumimoji="0" sz="2400" b="0" i="1"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that</a:t>
            </a:r>
            <a:r>
              <a:rPr kumimoji="0" sz="2400" b="0" i="1" u="none" strike="noStrike" kern="0" cap="none" spc="-12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enable</a:t>
            </a:r>
            <a:r>
              <a:rPr kumimoji="0" sz="2400" b="0" i="1"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1" u="none" strike="noStrike" kern="0" cap="none" spc="-7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10" normalizeH="0" baseline="0" noProof="0" dirty="0">
                <a:ln>
                  <a:noFill/>
                </a:ln>
                <a:solidFill>
                  <a:sysClr val="windowText" lastClr="000000"/>
                </a:solidFill>
                <a:effectLst/>
                <a:uLnTx/>
                <a:uFillTx/>
                <a:latin typeface="Times New Roman"/>
                <a:cs typeface="Times New Roman"/>
              </a:rPr>
              <a:t>programs</a:t>
            </a:r>
            <a:r>
              <a:rPr kumimoji="0" sz="2400" b="0" i="1"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1"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10" normalizeH="0" baseline="0" noProof="0" dirty="0">
                <a:ln>
                  <a:noFill/>
                </a:ln>
                <a:solidFill>
                  <a:sysClr val="windowText" lastClr="000000"/>
                </a:solidFill>
                <a:effectLst/>
                <a:uLnTx/>
                <a:uFillTx/>
                <a:latin typeface="Times New Roman"/>
                <a:cs typeface="Times New Roman"/>
              </a:rPr>
              <a:t>adequately</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413384" marR="0" lvl="0" indent="0" defTabSz="914400" eaLnBrk="1" fontAlgn="auto" latinLnBrk="0" hangingPunct="1">
              <a:lnSpc>
                <a:spcPct val="100000"/>
              </a:lnSpc>
              <a:spcBef>
                <a:spcPts val="45"/>
              </a:spcBef>
              <a:spcAft>
                <a:spcPts val="0"/>
              </a:spcAft>
              <a:buClrTx/>
              <a:buSzTx/>
              <a:buFontTx/>
              <a:buNone/>
              <a:tabLst/>
              <a:defRPr/>
            </a:pPr>
            <a:r>
              <a:rPr kumimoji="0" sz="2400" b="0" i="1" u="none" strike="noStrike" kern="0" cap="none" spc="0" normalizeH="0" baseline="0" noProof="0" dirty="0">
                <a:ln>
                  <a:noFill/>
                </a:ln>
                <a:solidFill>
                  <a:sysClr val="windowText" lastClr="000000"/>
                </a:solidFill>
                <a:effectLst/>
                <a:uLnTx/>
                <a:uFillTx/>
                <a:latin typeface="Times New Roman"/>
                <a:cs typeface="Times New Roman"/>
              </a:rPr>
              <a:t>manipulate</a:t>
            </a:r>
            <a:r>
              <a:rPr kumimoji="0" sz="2400" b="0" i="1"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10" normalizeH="0" baseline="0" noProof="0" dirty="0">
                <a:ln>
                  <a:noFill/>
                </a:ln>
                <a:solidFill>
                  <a:sysClr val="windowText" lastClr="000000"/>
                </a:solidFill>
                <a:effectLst/>
                <a:uLnTx/>
                <a:uFillTx/>
                <a:latin typeface="Times New Roman"/>
                <a:cs typeface="Times New Roman"/>
              </a:rPr>
              <a:t>information.</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412750" marR="0" lvl="0" indent="-400050" defTabSz="914400" eaLnBrk="1" fontAlgn="auto" latinLnBrk="0" hangingPunct="1">
              <a:lnSpc>
                <a:spcPts val="2865"/>
              </a:lnSpc>
              <a:spcBef>
                <a:spcPts val="1030"/>
              </a:spcBef>
              <a:spcAft>
                <a:spcPts val="0"/>
              </a:spcAft>
              <a:buClrTx/>
              <a:buSzTx/>
              <a:buFontTx/>
              <a:buAutoNum type="arabicParenR" startAt="3"/>
              <a:tabLst>
                <a:tab pos="412750" algn="l"/>
              </a:tabLst>
              <a:defRPr/>
            </a:pPr>
            <a:r>
              <a:rPr kumimoji="0" sz="2400" b="0" i="1" u="none" strike="noStrike" kern="0" cap="none" spc="0" normalizeH="0" baseline="0" noProof="0" dirty="0">
                <a:ln>
                  <a:noFill/>
                </a:ln>
                <a:solidFill>
                  <a:sysClr val="windowText" lastClr="000000"/>
                </a:solidFill>
                <a:effectLst/>
                <a:uLnTx/>
                <a:uFillTx/>
                <a:latin typeface="Times New Roman"/>
                <a:cs typeface="Times New Roman"/>
              </a:rPr>
              <a:t>Documentation</a:t>
            </a:r>
            <a:r>
              <a:rPr kumimoji="0" sz="2400" b="0" i="1"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that</a:t>
            </a:r>
            <a:r>
              <a:rPr kumimoji="0" sz="2400" b="0" i="1"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describes</a:t>
            </a:r>
            <a:r>
              <a:rPr kumimoji="0" sz="2400" b="0" i="1"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1"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operation</a:t>
            </a:r>
            <a:r>
              <a:rPr kumimoji="0" sz="2400" b="0" i="1"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and</a:t>
            </a:r>
            <a:r>
              <a:rPr kumimoji="0" sz="2400" b="0" i="1"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use</a:t>
            </a:r>
            <a:r>
              <a:rPr kumimoji="0" sz="2400" b="0" i="1"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1" u="none" strike="noStrike" kern="0" cap="none" spc="-10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25" normalizeH="0" baseline="0" noProof="0" dirty="0">
                <a:ln>
                  <a:noFill/>
                </a:ln>
                <a:solidFill>
                  <a:sysClr val="windowText" lastClr="000000"/>
                </a:solidFill>
                <a:effectLst/>
                <a:uLnTx/>
                <a:uFillTx/>
                <a:latin typeface="Times New Roman"/>
                <a:cs typeface="Times New Roman"/>
              </a:rPr>
              <a:t>the</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413384" marR="0" lvl="0" indent="0" defTabSz="914400" eaLnBrk="1" fontAlgn="auto" latinLnBrk="0" hangingPunct="1">
              <a:lnSpc>
                <a:spcPts val="2865"/>
              </a:lnSpc>
              <a:spcBef>
                <a:spcPts val="0"/>
              </a:spcBef>
              <a:spcAft>
                <a:spcPts val="0"/>
              </a:spcAft>
              <a:buClrTx/>
              <a:buSzTx/>
              <a:buFontTx/>
              <a:buNone/>
              <a:tabLst/>
              <a:defRPr/>
            </a:pPr>
            <a:r>
              <a:rPr kumimoji="0" sz="2400" b="0" i="1" u="none" strike="noStrike" kern="0" cap="none" spc="-10" normalizeH="0" baseline="0" noProof="0" dirty="0">
                <a:ln>
                  <a:noFill/>
                </a:ln>
                <a:solidFill>
                  <a:sysClr val="windowText" lastClr="000000"/>
                </a:solidFill>
                <a:effectLst/>
                <a:uLnTx/>
                <a:uFillTx/>
                <a:latin typeface="Times New Roman"/>
                <a:cs typeface="Times New Roman"/>
              </a:rPr>
              <a:t>programs.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dirty="0"/>
              <a:t>What</a:t>
            </a:r>
            <a:r>
              <a:rPr spc="120" dirty="0"/>
              <a:t> </a:t>
            </a:r>
            <a:r>
              <a:rPr dirty="0"/>
              <a:t>is</a:t>
            </a:r>
            <a:r>
              <a:rPr spc="-20" dirty="0"/>
              <a:t> </a:t>
            </a:r>
            <a:r>
              <a:rPr spc="-10" dirty="0"/>
              <a:t>Software?</a:t>
            </a:r>
          </a:p>
        </p:txBody>
      </p:sp>
      <p:sp>
        <p:nvSpPr>
          <p:cNvPr id="4" name="object 4"/>
          <p:cNvSpPr txBox="1">
            <a:spLocks noGrp="1"/>
          </p:cNvSpPr>
          <p:nvPr>
            <p:ph type="sldNum" sz="quarter" idx="7"/>
          </p:nvPr>
        </p:nvSpPr>
        <p:spPr>
          <a:prstGeom prst="rect">
            <a:avLst/>
          </a:prstGeom>
        </p:spPr>
        <p:txBody>
          <a:bodyPr vert="horz" wrap="square" lIns="0" tIns="4445" rIns="0" bIns="0" rtlCol="0">
            <a:spAutoFit/>
          </a:bodyPr>
          <a:lstStyle/>
          <a:p>
            <a:pPr marL="38100" marR="0" lvl="0" indent="0" defTabSz="914400" eaLnBrk="1" fontAlgn="auto" latinLnBrk="0" hangingPunct="1">
              <a:lnSpc>
                <a:spcPct val="100000"/>
              </a:lnSpc>
              <a:spcBef>
                <a:spcPts val="35"/>
              </a:spcBef>
              <a:spcAft>
                <a:spcPts val="0"/>
              </a:spcAft>
              <a:buClrTx/>
              <a:buSzTx/>
              <a:buFontTx/>
              <a:buNone/>
              <a:tabLst/>
              <a:defRPr/>
            </a:pPr>
            <a:fld id="{81D60167-4931-47E6-BA6A-407CBD079E47}" type="slidenum">
              <a:rPr kumimoji="0" sz="800" b="0" i="0" u="none" strike="noStrike" kern="0" cap="none" spc="-25" normalizeH="0" baseline="0" noProof="0" dirty="0">
                <a:ln>
                  <a:noFill/>
                </a:ln>
                <a:solidFill>
                  <a:srgbClr val="585858"/>
                </a:solidFill>
                <a:effectLst/>
                <a:uLnTx/>
                <a:uFillTx/>
                <a:latin typeface="Times New Roman"/>
                <a:cs typeface="Times New Roman"/>
              </a:rPr>
              <a:pPr marL="38100" marR="0" lvl="0" indent="0" defTabSz="914400" eaLnBrk="1" fontAlgn="auto" latinLnBrk="0" hangingPunct="1">
                <a:lnSpc>
                  <a:spcPct val="100000"/>
                </a:lnSpc>
                <a:spcBef>
                  <a:spcPts val="35"/>
                </a:spcBef>
                <a:spcAft>
                  <a:spcPts val="0"/>
                </a:spcAft>
                <a:buClrTx/>
                <a:buSzTx/>
                <a:buFontTx/>
                <a:buNone/>
                <a:tabLst/>
                <a:defRPr/>
              </a:pPr>
              <a:t>2</a:t>
            </a:fld>
            <a:endParaRPr kumimoji="0" sz="800" b="0" i="0" u="none" strike="noStrike" kern="0" cap="none" spc="-25" normalizeH="0" baseline="0" noProof="0" dirty="0">
              <a:ln>
                <a:noFill/>
              </a:ln>
              <a:solidFill>
                <a:srgbClr val="585858"/>
              </a:solidFill>
              <a:effectLst/>
              <a:uLnTx/>
              <a:uFillTx/>
              <a:latin typeface="Times New Roman"/>
              <a:cs typeface="Times New Roman"/>
            </a:endParaRPr>
          </a:p>
        </p:txBody>
      </p:sp>
      <p:sp>
        <p:nvSpPr>
          <p:cNvPr id="5" name="object 5"/>
          <p:cNvSpPr txBox="1">
            <a:spLocks noGrp="1"/>
          </p:cNvSpPr>
          <p:nvPr>
            <p:ph type="ftr" sz="quarter" idx="5"/>
          </p:nvPr>
        </p:nvSpPr>
        <p:spPr>
          <a:prstGeom prst="rect">
            <a:avLst/>
          </a:prstGeom>
        </p:spPr>
        <p:txBody>
          <a:bodyPr vert="horz" wrap="square" lIns="0" tIns="4445" rIns="0" bIns="0" rtlCol="0">
            <a:spAutoFit/>
          </a:bodyPr>
          <a:lstStyle/>
          <a:p>
            <a:pPr marL="12700" marR="0" lvl="0" indent="0" defTabSz="914400" eaLnBrk="1" fontAlgn="auto" latinLnBrk="0" hangingPunct="1">
              <a:lnSpc>
                <a:spcPct val="100000"/>
              </a:lnSpc>
              <a:spcBef>
                <a:spcPts val="35"/>
              </a:spcBef>
              <a:spcAft>
                <a:spcPts val="0"/>
              </a:spcAft>
              <a:buClrTx/>
              <a:buSzTx/>
              <a:buFontTx/>
              <a:buNone/>
              <a:tabLst/>
              <a:defRPr/>
            </a:pPr>
            <a:r>
              <a:rPr kumimoji="0" sz="800" b="0" i="0" u="none" strike="noStrike" kern="0" cap="none" spc="0" normalizeH="0" baseline="0" noProof="0" dirty="0">
                <a:ln>
                  <a:noFill/>
                </a:ln>
                <a:solidFill>
                  <a:srgbClr val="585858"/>
                </a:solidFill>
                <a:effectLst/>
                <a:uLnTx/>
                <a:uFillTx/>
                <a:latin typeface="Times New Roman"/>
                <a:cs typeface="Times New Roman"/>
              </a:rPr>
              <a:t>©</a:t>
            </a:r>
            <a:r>
              <a:rPr kumimoji="0" sz="800" b="0" i="0" u="none" strike="noStrike" kern="0" cap="none" spc="45" normalizeH="0" baseline="0" noProof="0" dirty="0">
                <a:ln>
                  <a:noFill/>
                </a:ln>
                <a:solidFill>
                  <a:srgbClr val="585858"/>
                </a:solidFill>
                <a:effectLst/>
                <a:uLnTx/>
                <a:uFillTx/>
                <a:latin typeface="Times New Roman"/>
                <a:cs typeface="Times New Roman"/>
              </a:rPr>
              <a:t> </a:t>
            </a:r>
            <a:r>
              <a:rPr kumimoji="0" sz="800" b="0" i="0" u="none" strike="noStrike" kern="0" cap="none" spc="0" normalizeH="0" baseline="0" noProof="0" dirty="0">
                <a:ln>
                  <a:noFill/>
                </a:ln>
                <a:solidFill>
                  <a:srgbClr val="585858"/>
                </a:solidFill>
                <a:effectLst/>
                <a:uLnTx/>
                <a:uFillTx/>
                <a:latin typeface="Times New Roman"/>
                <a:cs typeface="Times New Roman"/>
              </a:rPr>
              <a:t>McGraw</a:t>
            </a:r>
            <a:r>
              <a:rPr kumimoji="0" sz="800" b="0" i="0" u="none" strike="noStrike" kern="0" cap="none" spc="-105" normalizeH="0" baseline="0" noProof="0" dirty="0">
                <a:ln>
                  <a:noFill/>
                </a:ln>
                <a:solidFill>
                  <a:srgbClr val="585858"/>
                </a:solidFill>
                <a:effectLst/>
                <a:uLnTx/>
                <a:uFillTx/>
                <a:latin typeface="Times New Roman"/>
                <a:cs typeface="Times New Roman"/>
              </a:rPr>
              <a:t> </a:t>
            </a:r>
            <a:r>
              <a:rPr kumimoji="0" sz="800" b="0" i="0" u="none" strike="noStrike" kern="0" cap="none" spc="-20" normalizeH="0" baseline="0" noProof="0" dirty="0">
                <a:ln>
                  <a:noFill/>
                </a:ln>
                <a:solidFill>
                  <a:srgbClr val="585858"/>
                </a:solidFill>
                <a:effectLst/>
                <a:uLnTx/>
                <a:uFillTx/>
                <a:latin typeface="Times New Roman"/>
                <a:cs typeface="Times New Roman"/>
              </a:rPr>
              <a:t>Hill</a:t>
            </a:r>
          </a:p>
        </p:txBody>
      </p:sp>
      <p:sp>
        <p:nvSpPr>
          <p:cNvPr id="3" name="object 3"/>
          <p:cNvSpPr txBox="1"/>
          <p:nvPr/>
        </p:nvSpPr>
        <p:spPr>
          <a:xfrm>
            <a:off x="421957" y="1301749"/>
            <a:ext cx="8274050" cy="2109470"/>
          </a:xfrm>
          <a:prstGeom prst="rect">
            <a:avLst/>
          </a:prstGeom>
        </p:spPr>
        <p:txBody>
          <a:bodyPr vert="horz" wrap="square" lIns="0" tIns="13335" rIns="0" bIns="0" rtlCol="0">
            <a:spAutoFit/>
          </a:bodyPr>
          <a:lstStyle/>
          <a:p>
            <a:pPr marL="307975" marR="0" lvl="0" indent="-295275" defTabSz="914400" eaLnBrk="1" fontAlgn="auto" latinLnBrk="0" hangingPunct="1">
              <a:lnSpc>
                <a:spcPts val="2870"/>
              </a:lnSpc>
              <a:spcBef>
                <a:spcPts val="105"/>
              </a:spcBef>
              <a:spcAft>
                <a:spcPts val="0"/>
              </a:spcAft>
              <a:buClrTx/>
              <a:buSzTx/>
              <a:buFont typeface="Arial MT"/>
              <a:buChar char="•"/>
              <a:tabLst>
                <a:tab pos="307975" algn="l"/>
              </a:tabLst>
              <a:defRPr/>
            </a:pPr>
            <a:r>
              <a:rPr kumimoji="0" sz="2400" b="0" i="1" u="none" strike="noStrike" kern="0" cap="none" spc="-10" normalizeH="0" baseline="0" noProof="0" dirty="0">
                <a:ln>
                  <a:noFill/>
                </a:ln>
                <a:solidFill>
                  <a:sysClr val="windowText" lastClr="000000"/>
                </a:solidFill>
                <a:effectLst/>
                <a:uLnTx/>
                <a:uFillTx/>
                <a:latin typeface="Times New Roman"/>
                <a:cs typeface="Times New Roman"/>
              </a:rPr>
              <a:t>Software</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 is</a:t>
            </a:r>
            <a:r>
              <a:rPr kumimoji="0" sz="2400" b="0" i="1"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developed</a:t>
            </a:r>
            <a:r>
              <a:rPr kumimoji="0" sz="2400" b="0" i="1"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or</a:t>
            </a:r>
            <a:r>
              <a:rPr kumimoji="0" sz="2400" b="0" i="1"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engineered</a:t>
            </a:r>
            <a:r>
              <a:rPr kumimoji="0" sz="2400" b="0" i="1"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it</a:t>
            </a:r>
            <a:r>
              <a:rPr kumimoji="0" sz="2400" b="0" i="1" u="none" strike="noStrike" kern="0" cap="none" spc="-12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1"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not</a:t>
            </a:r>
            <a:r>
              <a:rPr kumimoji="0" sz="2400" b="0" i="1" u="none" strike="noStrike" kern="0" cap="none" spc="-12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manufactured</a:t>
            </a:r>
            <a:r>
              <a:rPr kumimoji="0" sz="2400" b="0" i="1"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in</a:t>
            </a:r>
            <a:r>
              <a:rPr kumimoji="0" sz="2400" b="0" i="1"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25" normalizeH="0" baseline="0" noProof="0" dirty="0">
                <a:ln>
                  <a:noFill/>
                </a:ln>
                <a:solidFill>
                  <a:sysClr val="windowText" lastClr="000000"/>
                </a:solidFill>
                <a:effectLst/>
                <a:uLnTx/>
                <a:uFillTx/>
                <a:latin typeface="Times New Roman"/>
                <a:cs typeface="Times New Roman"/>
              </a:rPr>
              <a:t>the</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07975" marR="0" lvl="0" indent="0" defTabSz="914400" eaLnBrk="1" fontAlgn="auto" latinLnBrk="0" hangingPunct="1">
              <a:lnSpc>
                <a:spcPts val="2870"/>
              </a:lnSpc>
              <a:spcBef>
                <a:spcPts val="0"/>
              </a:spcBef>
              <a:spcAft>
                <a:spcPts val="0"/>
              </a:spcAft>
              <a:buClrTx/>
              <a:buSzTx/>
              <a:buFontTx/>
              <a:buNone/>
              <a:tabLst/>
              <a:defRPr/>
            </a:pPr>
            <a:r>
              <a:rPr kumimoji="0" sz="2400" b="0" i="1" u="none" strike="noStrike" kern="0" cap="none" spc="0" normalizeH="0" baseline="0" noProof="0" dirty="0">
                <a:ln>
                  <a:noFill/>
                </a:ln>
                <a:solidFill>
                  <a:sysClr val="windowText" lastClr="000000"/>
                </a:solidFill>
                <a:effectLst/>
                <a:uLnTx/>
                <a:uFillTx/>
                <a:latin typeface="Times New Roman"/>
                <a:cs typeface="Times New Roman"/>
              </a:rPr>
              <a:t>classical</a:t>
            </a:r>
            <a:r>
              <a:rPr kumimoji="0" sz="2400" b="0" i="1"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10" normalizeH="0" baseline="0" noProof="0" dirty="0">
                <a:ln>
                  <a:noFill/>
                </a:ln>
                <a:solidFill>
                  <a:sysClr val="windowText" lastClr="000000"/>
                </a:solidFill>
                <a:effectLst/>
                <a:uLnTx/>
                <a:uFillTx/>
                <a:latin typeface="Times New Roman"/>
                <a:cs typeface="Times New Roman"/>
              </a:rPr>
              <a:t>sense.</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07975" marR="0" lvl="0" indent="-295275" defTabSz="914400" eaLnBrk="1" fontAlgn="auto" latinLnBrk="0" hangingPunct="1">
              <a:lnSpc>
                <a:spcPct val="100000"/>
              </a:lnSpc>
              <a:spcBef>
                <a:spcPts val="1025"/>
              </a:spcBef>
              <a:spcAft>
                <a:spcPts val="0"/>
              </a:spcAft>
              <a:buClrTx/>
              <a:buSzTx/>
              <a:buFont typeface="Arial MT"/>
              <a:buChar char="•"/>
              <a:tabLst>
                <a:tab pos="307975" algn="l"/>
              </a:tabLst>
              <a:defRPr/>
            </a:pPr>
            <a:r>
              <a:rPr kumimoji="0" sz="2400" b="0" i="1" u="none" strike="noStrike" kern="0" cap="none" spc="-10" normalizeH="0" baseline="0" noProof="0" dirty="0">
                <a:ln>
                  <a:noFill/>
                </a:ln>
                <a:solidFill>
                  <a:sysClr val="windowText" lastClr="000000"/>
                </a:solidFill>
                <a:effectLst/>
                <a:uLnTx/>
                <a:uFillTx/>
                <a:latin typeface="Times New Roman"/>
                <a:cs typeface="Times New Roman"/>
              </a:rPr>
              <a:t>Software</a:t>
            </a:r>
            <a:r>
              <a:rPr kumimoji="0" sz="2400" b="0" i="1"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doesn't</a:t>
            </a:r>
            <a:r>
              <a:rPr kumimoji="0" sz="2400" b="0" i="1"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"wear</a:t>
            </a:r>
            <a:r>
              <a:rPr kumimoji="0" sz="2400" b="0" i="1"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out“</a:t>
            </a:r>
            <a:r>
              <a:rPr kumimoji="0" sz="2400" b="0" i="1"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but</a:t>
            </a:r>
            <a:r>
              <a:rPr kumimoji="0" sz="2400" b="0" i="1"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1" u="none" strike="noStrike" kern="0" cap="none" spc="-8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does</a:t>
            </a:r>
            <a:r>
              <a:rPr kumimoji="0" sz="2400" b="0" i="1"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10" normalizeH="0" baseline="0" noProof="0" dirty="0">
                <a:ln>
                  <a:noFill/>
                </a:ln>
                <a:solidFill>
                  <a:sysClr val="windowText" lastClr="000000"/>
                </a:solidFill>
                <a:effectLst/>
                <a:uLnTx/>
                <a:uFillTx/>
                <a:latin typeface="Times New Roman"/>
                <a:cs typeface="Times New Roman"/>
              </a:rPr>
              <a:t>deteriorate.</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07975" marR="0" lvl="0" indent="-295275" defTabSz="914400" eaLnBrk="1" fontAlgn="auto" latinLnBrk="0" hangingPunct="1">
              <a:lnSpc>
                <a:spcPts val="2865"/>
              </a:lnSpc>
              <a:spcBef>
                <a:spcPts val="1025"/>
              </a:spcBef>
              <a:spcAft>
                <a:spcPts val="0"/>
              </a:spcAft>
              <a:buClrTx/>
              <a:buSzTx/>
              <a:buFont typeface="Arial MT"/>
              <a:buChar char="•"/>
              <a:tabLst>
                <a:tab pos="307975" algn="l"/>
              </a:tabLst>
              <a:defRPr/>
            </a:pPr>
            <a:r>
              <a:rPr kumimoji="0" sz="2400" b="0" i="1" u="none" strike="noStrike" kern="0" cap="none" spc="0" normalizeH="0" baseline="0" noProof="0" dirty="0">
                <a:ln>
                  <a:noFill/>
                </a:ln>
                <a:solidFill>
                  <a:sysClr val="windowText" lastClr="000000"/>
                </a:solidFill>
                <a:effectLst/>
                <a:uLnTx/>
                <a:uFillTx/>
                <a:latin typeface="Times New Roman"/>
                <a:cs typeface="Times New Roman"/>
              </a:rPr>
              <a:t>Although</a:t>
            </a:r>
            <a:r>
              <a:rPr kumimoji="0" sz="2400" b="0" i="1" u="none" strike="noStrike" kern="0" cap="none" spc="-11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1"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industry</a:t>
            </a:r>
            <a:r>
              <a:rPr kumimoji="0" sz="2400" b="0" i="1"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1" u="none" strike="noStrike" kern="0" cap="none" spc="-7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moving</a:t>
            </a:r>
            <a:r>
              <a:rPr kumimoji="0" sz="2400" b="0" i="1"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toward</a:t>
            </a:r>
            <a:r>
              <a:rPr kumimoji="0" sz="2400" b="0" i="1" u="none" strike="noStrike" kern="0" cap="none" spc="10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10" normalizeH="0" baseline="0" noProof="0" dirty="0">
                <a:ln>
                  <a:noFill/>
                </a:ln>
                <a:solidFill>
                  <a:sysClr val="windowText" lastClr="000000"/>
                </a:solidFill>
                <a:effectLst/>
                <a:uLnTx/>
                <a:uFillTx/>
                <a:latin typeface="Times New Roman"/>
                <a:cs typeface="Times New Roman"/>
              </a:rPr>
              <a:t>component-based</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07975" marR="0" lvl="0" indent="0" defTabSz="914400" eaLnBrk="1" fontAlgn="auto" latinLnBrk="0" hangingPunct="1">
              <a:lnSpc>
                <a:spcPts val="2865"/>
              </a:lnSpc>
              <a:spcBef>
                <a:spcPts val="0"/>
              </a:spcBef>
              <a:spcAft>
                <a:spcPts val="0"/>
              </a:spcAft>
              <a:buClrTx/>
              <a:buSzTx/>
              <a:buFontTx/>
              <a:buNone/>
              <a:tabLst/>
              <a:defRPr/>
            </a:pPr>
            <a:r>
              <a:rPr kumimoji="0" sz="2400" b="0" i="1" u="none" strike="noStrike" kern="0" cap="none" spc="0" normalizeH="0" baseline="0" noProof="0" dirty="0">
                <a:ln>
                  <a:noFill/>
                </a:ln>
                <a:solidFill>
                  <a:sysClr val="windowText" lastClr="000000"/>
                </a:solidFill>
                <a:effectLst/>
                <a:uLnTx/>
                <a:uFillTx/>
                <a:latin typeface="Times New Roman"/>
                <a:cs typeface="Times New Roman"/>
              </a:rPr>
              <a:t>construction,</a:t>
            </a:r>
            <a:r>
              <a:rPr kumimoji="0" sz="2400" b="0" i="1"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most</a:t>
            </a:r>
            <a:r>
              <a:rPr kumimoji="0" sz="2400" b="0" i="1"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10" normalizeH="0" baseline="0" noProof="0" dirty="0">
                <a:ln>
                  <a:noFill/>
                </a:ln>
                <a:solidFill>
                  <a:sysClr val="windowText" lastClr="000000"/>
                </a:solidFill>
                <a:effectLst/>
                <a:uLnTx/>
                <a:uFillTx/>
                <a:latin typeface="Times New Roman"/>
                <a:cs typeface="Times New Roman"/>
              </a:rPr>
              <a:t>software</a:t>
            </a:r>
            <a:r>
              <a:rPr kumimoji="0" sz="2400" b="0" i="1" u="none" strike="noStrike" kern="0" cap="none" spc="7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continues</a:t>
            </a:r>
            <a:r>
              <a:rPr kumimoji="0" sz="2400" b="0" i="1"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1"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be</a:t>
            </a:r>
            <a:r>
              <a:rPr kumimoji="0" sz="2400" b="0" i="1"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25" normalizeH="0" baseline="0" noProof="0" dirty="0">
                <a:ln>
                  <a:noFill/>
                </a:ln>
                <a:solidFill>
                  <a:sysClr val="windowText" lastClr="000000"/>
                </a:solidFill>
                <a:effectLst/>
                <a:uLnTx/>
                <a:uFillTx/>
                <a:latin typeface="Times New Roman"/>
                <a:cs typeface="Times New Roman"/>
              </a:rPr>
              <a:t>custom-</a:t>
            </a:r>
            <a:r>
              <a:rPr kumimoji="0" sz="2400" b="0" i="1" u="none" strike="noStrike" kern="0" cap="none" spc="-10" normalizeH="0" baseline="0" noProof="0" dirty="0">
                <a:ln>
                  <a:noFill/>
                </a:ln>
                <a:solidFill>
                  <a:sysClr val="windowText" lastClr="000000"/>
                </a:solidFill>
                <a:effectLst/>
                <a:uLnTx/>
                <a:uFillTx/>
                <a:latin typeface="Times New Roman"/>
                <a:cs typeface="Times New Roman"/>
              </a:rPr>
              <a:t>built.</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dirty="0"/>
              <a:t>Software</a:t>
            </a:r>
            <a:r>
              <a:rPr spc="-180" dirty="0"/>
              <a:t> </a:t>
            </a:r>
            <a:r>
              <a:rPr dirty="0"/>
              <a:t>Application</a:t>
            </a:r>
            <a:r>
              <a:rPr spc="50" dirty="0"/>
              <a:t> </a:t>
            </a:r>
            <a:r>
              <a:rPr spc="-10" dirty="0"/>
              <a:t>Domains</a:t>
            </a:r>
          </a:p>
        </p:txBody>
      </p:sp>
      <p:sp>
        <p:nvSpPr>
          <p:cNvPr id="4" name="object 4"/>
          <p:cNvSpPr txBox="1">
            <a:spLocks noGrp="1"/>
          </p:cNvSpPr>
          <p:nvPr>
            <p:ph type="sldNum" sz="quarter" idx="7"/>
          </p:nvPr>
        </p:nvSpPr>
        <p:spPr>
          <a:prstGeom prst="rect">
            <a:avLst/>
          </a:prstGeom>
        </p:spPr>
        <p:txBody>
          <a:bodyPr vert="horz" wrap="square" lIns="0" tIns="4445" rIns="0" bIns="0" rtlCol="0">
            <a:spAutoFit/>
          </a:bodyPr>
          <a:lstStyle/>
          <a:p>
            <a:pPr marL="38100" marR="0" lvl="0" indent="0" defTabSz="914400" eaLnBrk="1" fontAlgn="auto" latinLnBrk="0" hangingPunct="1">
              <a:lnSpc>
                <a:spcPct val="100000"/>
              </a:lnSpc>
              <a:spcBef>
                <a:spcPts val="35"/>
              </a:spcBef>
              <a:spcAft>
                <a:spcPts val="0"/>
              </a:spcAft>
              <a:buClrTx/>
              <a:buSzTx/>
              <a:buFontTx/>
              <a:buNone/>
              <a:tabLst/>
              <a:defRPr/>
            </a:pPr>
            <a:fld id="{81D60167-4931-47E6-BA6A-407CBD079E47}" type="slidenum">
              <a:rPr kumimoji="0" sz="800" b="0" i="0" u="none" strike="noStrike" kern="0" cap="none" spc="-25" normalizeH="0" baseline="0" noProof="0" dirty="0">
                <a:ln>
                  <a:noFill/>
                </a:ln>
                <a:solidFill>
                  <a:srgbClr val="585858"/>
                </a:solidFill>
                <a:effectLst/>
                <a:uLnTx/>
                <a:uFillTx/>
                <a:latin typeface="Times New Roman"/>
                <a:cs typeface="Times New Roman"/>
              </a:rPr>
              <a:pPr marL="38100" marR="0" lvl="0" indent="0" defTabSz="914400" eaLnBrk="1" fontAlgn="auto" latinLnBrk="0" hangingPunct="1">
                <a:lnSpc>
                  <a:spcPct val="100000"/>
                </a:lnSpc>
                <a:spcBef>
                  <a:spcPts val="35"/>
                </a:spcBef>
                <a:spcAft>
                  <a:spcPts val="0"/>
                </a:spcAft>
                <a:buClrTx/>
                <a:buSzTx/>
                <a:buFontTx/>
                <a:buNone/>
                <a:tabLst/>
                <a:defRPr/>
              </a:pPr>
              <a:t>3</a:t>
            </a:fld>
            <a:endParaRPr kumimoji="0" sz="800" b="0" i="0" u="none" strike="noStrike" kern="0" cap="none" spc="-25" normalizeH="0" baseline="0" noProof="0" dirty="0">
              <a:ln>
                <a:noFill/>
              </a:ln>
              <a:solidFill>
                <a:srgbClr val="585858"/>
              </a:solidFill>
              <a:effectLst/>
              <a:uLnTx/>
              <a:uFillTx/>
              <a:latin typeface="Times New Roman"/>
              <a:cs typeface="Times New Roman"/>
            </a:endParaRPr>
          </a:p>
        </p:txBody>
      </p:sp>
      <p:sp>
        <p:nvSpPr>
          <p:cNvPr id="5" name="object 5"/>
          <p:cNvSpPr txBox="1">
            <a:spLocks noGrp="1"/>
          </p:cNvSpPr>
          <p:nvPr>
            <p:ph type="ftr" sz="quarter" idx="5"/>
          </p:nvPr>
        </p:nvSpPr>
        <p:spPr>
          <a:prstGeom prst="rect">
            <a:avLst/>
          </a:prstGeom>
        </p:spPr>
        <p:txBody>
          <a:bodyPr vert="horz" wrap="square" lIns="0" tIns="4445" rIns="0" bIns="0" rtlCol="0">
            <a:spAutoFit/>
          </a:bodyPr>
          <a:lstStyle/>
          <a:p>
            <a:pPr marL="12700" marR="0" lvl="0" indent="0" defTabSz="914400" eaLnBrk="1" fontAlgn="auto" latinLnBrk="0" hangingPunct="1">
              <a:lnSpc>
                <a:spcPct val="100000"/>
              </a:lnSpc>
              <a:spcBef>
                <a:spcPts val="35"/>
              </a:spcBef>
              <a:spcAft>
                <a:spcPts val="0"/>
              </a:spcAft>
              <a:buClrTx/>
              <a:buSzTx/>
              <a:buFontTx/>
              <a:buNone/>
              <a:tabLst/>
              <a:defRPr/>
            </a:pPr>
            <a:r>
              <a:rPr kumimoji="0" sz="800" b="0" i="0" u="none" strike="noStrike" kern="0" cap="none" spc="0" normalizeH="0" baseline="0" noProof="0" dirty="0">
                <a:ln>
                  <a:noFill/>
                </a:ln>
                <a:solidFill>
                  <a:srgbClr val="585858"/>
                </a:solidFill>
                <a:effectLst/>
                <a:uLnTx/>
                <a:uFillTx/>
                <a:latin typeface="Times New Roman"/>
                <a:cs typeface="Times New Roman"/>
              </a:rPr>
              <a:t>©</a:t>
            </a:r>
            <a:r>
              <a:rPr kumimoji="0" sz="800" b="0" i="0" u="none" strike="noStrike" kern="0" cap="none" spc="45" normalizeH="0" baseline="0" noProof="0" dirty="0">
                <a:ln>
                  <a:noFill/>
                </a:ln>
                <a:solidFill>
                  <a:srgbClr val="585858"/>
                </a:solidFill>
                <a:effectLst/>
                <a:uLnTx/>
                <a:uFillTx/>
                <a:latin typeface="Times New Roman"/>
                <a:cs typeface="Times New Roman"/>
              </a:rPr>
              <a:t> </a:t>
            </a:r>
            <a:r>
              <a:rPr kumimoji="0" sz="800" b="0" i="0" u="none" strike="noStrike" kern="0" cap="none" spc="0" normalizeH="0" baseline="0" noProof="0" dirty="0">
                <a:ln>
                  <a:noFill/>
                </a:ln>
                <a:solidFill>
                  <a:srgbClr val="585858"/>
                </a:solidFill>
                <a:effectLst/>
                <a:uLnTx/>
                <a:uFillTx/>
                <a:latin typeface="Times New Roman"/>
                <a:cs typeface="Times New Roman"/>
              </a:rPr>
              <a:t>McGraw</a:t>
            </a:r>
            <a:r>
              <a:rPr kumimoji="0" sz="800" b="0" i="0" u="none" strike="noStrike" kern="0" cap="none" spc="-105" normalizeH="0" baseline="0" noProof="0" dirty="0">
                <a:ln>
                  <a:noFill/>
                </a:ln>
                <a:solidFill>
                  <a:srgbClr val="585858"/>
                </a:solidFill>
                <a:effectLst/>
                <a:uLnTx/>
                <a:uFillTx/>
                <a:latin typeface="Times New Roman"/>
                <a:cs typeface="Times New Roman"/>
              </a:rPr>
              <a:t> </a:t>
            </a:r>
            <a:r>
              <a:rPr kumimoji="0" sz="800" b="0" i="0" u="none" strike="noStrike" kern="0" cap="none" spc="-20" normalizeH="0" baseline="0" noProof="0" dirty="0">
                <a:ln>
                  <a:noFill/>
                </a:ln>
                <a:solidFill>
                  <a:srgbClr val="585858"/>
                </a:solidFill>
                <a:effectLst/>
                <a:uLnTx/>
                <a:uFillTx/>
                <a:latin typeface="Times New Roman"/>
                <a:cs typeface="Times New Roman"/>
              </a:rPr>
              <a:t>Hill</a:t>
            </a:r>
          </a:p>
        </p:txBody>
      </p:sp>
      <p:sp>
        <p:nvSpPr>
          <p:cNvPr id="3" name="object 3"/>
          <p:cNvSpPr txBox="1"/>
          <p:nvPr/>
        </p:nvSpPr>
        <p:spPr>
          <a:xfrm>
            <a:off x="421957" y="1171630"/>
            <a:ext cx="6371590" cy="3479165"/>
          </a:xfrm>
          <a:prstGeom prst="rect">
            <a:avLst/>
          </a:prstGeom>
        </p:spPr>
        <p:txBody>
          <a:bodyPr vert="horz" wrap="square" lIns="0" tIns="143510" rIns="0" bIns="0" rtlCol="0">
            <a:spAutoFit/>
          </a:bodyPr>
          <a:lstStyle/>
          <a:p>
            <a:pPr marL="307975" marR="0" lvl="0" indent="-295275" defTabSz="914400" eaLnBrk="1" fontAlgn="auto" latinLnBrk="0" hangingPunct="1">
              <a:lnSpc>
                <a:spcPct val="100000"/>
              </a:lnSpc>
              <a:spcBef>
                <a:spcPts val="1130"/>
              </a:spcBef>
              <a:spcAft>
                <a:spcPts val="0"/>
              </a:spcAft>
              <a:buClrTx/>
              <a:buSzTx/>
              <a:buFont typeface="Arial MT"/>
              <a:buChar char="•"/>
              <a:tabLst>
                <a:tab pos="307975"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System</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software.</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07975" marR="0" lvl="0" indent="-295275" defTabSz="914400" eaLnBrk="1" fontAlgn="auto" latinLnBrk="0" hangingPunct="1">
              <a:lnSpc>
                <a:spcPct val="100000"/>
              </a:lnSpc>
              <a:spcBef>
                <a:spcPts val="1025"/>
              </a:spcBef>
              <a:spcAft>
                <a:spcPts val="0"/>
              </a:spcAft>
              <a:buClrTx/>
              <a:buSzTx/>
              <a:buFont typeface="Arial MT"/>
              <a:buChar char="•"/>
              <a:tabLst>
                <a:tab pos="307975"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Application</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software.</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07975" marR="0" lvl="0" indent="-295275" defTabSz="914400" eaLnBrk="1" fontAlgn="auto" latinLnBrk="0" hangingPunct="1">
              <a:lnSpc>
                <a:spcPct val="100000"/>
              </a:lnSpc>
              <a:spcBef>
                <a:spcPts val="950"/>
              </a:spcBef>
              <a:spcAft>
                <a:spcPts val="0"/>
              </a:spcAft>
              <a:buClrTx/>
              <a:buSzTx/>
              <a:buFont typeface="Arial MT"/>
              <a:buChar char="•"/>
              <a:tabLst>
                <a:tab pos="307975" algn="l"/>
              </a:tabLst>
              <a:defRPr/>
            </a:pPr>
            <a:r>
              <a:rPr kumimoji="0" sz="2400" b="0" i="0" u="none" strike="noStrike" kern="0" cap="none" spc="-10" normalizeH="0" baseline="0" noProof="0" dirty="0">
                <a:ln>
                  <a:noFill/>
                </a:ln>
                <a:solidFill>
                  <a:sysClr val="windowText" lastClr="000000"/>
                </a:solidFill>
                <a:effectLst/>
                <a:uLnTx/>
                <a:uFillTx/>
                <a:latin typeface="Times New Roman"/>
                <a:cs typeface="Times New Roman"/>
              </a:rPr>
              <a:t>Engineering/Scientific</a:t>
            </a:r>
            <a:r>
              <a:rPr kumimoji="0" sz="2400" b="0" i="0" u="none" strike="noStrike" kern="0" cap="none" spc="10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software.</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07975" marR="0" lvl="0" indent="-295275" defTabSz="914400" eaLnBrk="1" fontAlgn="auto" latinLnBrk="0" hangingPunct="1">
              <a:lnSpc>
                <a:spcPct val="100000"/>
              </a:lnSpc>
              <a:spcBef>
                <a:spcPts val="1025"/>
              </a:spcBef>
              <a:spcAft>
                <a:spcPts val="0"/>
              </a:spcAft>
              <a:buClrTx/>
              <a:buSzTx/>
              <a:buFont typeface="Arial MT"/>
              <a:buChar char="•"/>
              <a:tabLst>
                <a:tab pos="307975"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Embedded</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software.</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07975" marR="0" lvl="0" indent="-295275" defTabSz="914400" eaLnBrk="1" fontAlgn="auto" latinLnBrk="0" hangingPunct="1">
              <a:lnSpc>
                <a:spcPct val="100000"/>
              </a:lnSpc>
              <a:spcBef>
                <a:spcPts val="1025"/>
              </a:spcBef>
              <a:spcAft>
                <a:spcPts val="0"/>
              </a:spcAft>
              <a:buClrTx/>
              <a:buSzTx/>
              <a:buFont typeface="Arial MT"/>
              <a:buChar char="•"/>
              <a:tabLst>
                <a:tab pos="307975" algn="l"/>
              </a:tabLst>
              <a:defRPr/>
            </a:pPr>
            <a:r>
              <a:rPr kumimoji="0" sz="2400" b="0" i="0" u="none" strike="noStrike" kern="0" cap="none" spc="-20" normalizeH="0" baseline="0" noProof="0" dirty="0">
                <a:ln>
                  <a:noFill/>
                </a:ln>
                <a:solidFill>
                  <a:sysClr val="windowText" lastClr="000000"/>
                </a:solidFill>
                <a:effectLst/>
                <a:uLnTx/>
                <a:uFillTx/>
                <a:latin typeface="Times New Roman"/>
                <a:cs typeface="Times New Roman"/>
              </a:rPr>
              <a:t>Product-</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line</a:t>
            </a:r>
            <a:r>
              <a:rPr kumimoji="0" sz="2400" b="0" i="0" u="none" strike="noStrike" kern="0" cap="none" spc="10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software.</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07975" marR="0" lvl="0" indent="-295275" defTabSz="914400" eaLnBrk="1" fontAlgn="auto" latinLnBrk="0" hangingPunct="1">
              <a:lnSpc>
                <a:spcPct val="100000"/>
              </a:lnSpc>
              <a:spcBef>
                <a:spcPts val="1025"/>
              </a:spcBef>
              <a:spcAft>
                <a:spcPts val="0"/>
              </a:spcAft>
              <a:buClrTx/>
              <a:buSzTx/>
              <a:buFont typeface="Arial MT"/>
              <a:buChar char="•"/>
              <a:tabLst>
                <a:tab pos="307975" algn="l"/>
              </a:tabLst>
              <a:defRPr/>
            </a:pPr>
            <a:r>
              <a:rPr kumimoji="0" sz="2400" b="0" i="0" u="none" strike="noStrike" kern="0" cap="none" spc="-20" normalizeH="0" baseline="0" noProof="0" dirty="0">
                <a:ln>
                  <a:noFill/>
                </a:ln>
                <a:solidFill>
                  <a:sysClr val="windowText" lastClr="000000"/>
                </a:solidFill>
                <a:effectLst/>
                <a:uLnTx/>
                <a:uFillTx/>
                <a:latin typeface="Times New Roman"/>
                <a:cs typeface="Times New Roman"/>
              </a:rPr>
              <a:t>Web/Mobile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applications.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07975" marR="0" lvl="0" indent="-295275" defTabSz="914400" eaLnBrk="1" fontAlgn="auto" latinLnBrk="0" hangingPunct="1">
              <a:lnSpc>
                <a:spcPct val="100000"/>
              </a:lnSpc>
              <a:spcBef>
                <a:spcPts val="950"/>
              </a:spcBef>
              <a:spcAft>
                <a:spcPts val="0"/>
              </a:spcAft>
              <a:buClrTx/>
              <a:buSzTx/>
              <a:buFont typeface="Arial MT"/>
              <a:buChar char="•"/>
              <a:tabLst>
                <a:tab pos="307975" algn="l"/>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AI</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software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(robotics,</a:t>
            </a:r>
            <a:r>
              <a:rPr kumimoji="0" sz="2400" b="0" i="0" u="none" strike="noStrike" kern="0" cap="none" spc="-7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neural</a:t>
            </a:r>
            <a:r>
              <a:rPr kumimoji="0" sz="2400" b="0" i="0" u="none" strike="noStrike" kern="0" cap="none" spc="-7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nets,</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game</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playing).</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dirty="0"/>
              <a:t>Wear</a:t>
            </a:r>
            <a:r>
              <a:rPr spc="-145" dirty="0"/>
              <a:t> </a:t>
            </a:r>
            <a:r>
              <a:rPr dirty="0"/>
              <a:t>versus</a:t>
            </a:r>
            <a:r>
              <a:rPr spc="-75" dirty="0"/>
              <a:t> </a:t>
            </a:r>
            <a:r>
              <a:rPr spc="-10" dirty="0"/>
              <a:t>Deterioration</a:t>
            </a:r>
          </a:p>
        </p:txBody>
      </p:sp>
      <p:pic>
        <p:nvPicPr>
          <p:cNvPr id="3" name="object 3"/>
          <p:cNvPicPr/>
          <p:nvPr/>
        </p:nvPicPr>
        <p:blipFill>
          <a:blip r:embed="rId2" cstate="print"/>
          <a:stretch>
            <a:fillRect/>
          </a:stretch>
        </p:blipFill>
        <p:spPr>
          <a:xfrm>
            <a:off x="1533525" y="1447800"/>
            <a:ext cx="5895975" cy="4552950"/>
          </a:xfrm>
          <a:prstGeom prst="rect">
            <a:avLst/>
          </a:prstGeom>
        </p:spPr>
      </p:pic>
      <p:sp>
        <p:nvSpPr>
          <p:cNvPr id="4" name="object 4"/>
          <p:cNvSpPr txBox="1"/>
          <p:nvPr/>
        </p:nvSpPr>
        <p:spPr>
          <a:xfrm>
            <a:off x="3503676" y="6272847"/>
            <a:ext cx="2644140" cy="20891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200" b="0" i="0" u="sng" strike="noStrike" kern="0" cap="none" spc="0" normalizeH="0" baseline="0" noProof="0" dirty="0">
                <a:ln>
                  <a:noFill/>
                </a:ln>
                <a:solidFill>
                  <a:srgbClr val="615D9C"/>
                </a:solidFill>
                <a:effectLst/>
                <a:uLnTx/>
                <a:uFill>
                  <a:solidFill>
                    <a:srgbClr val="615D9C"/>
                  </a:solidFill>
                </a:uFill>
                <a:latin typeface="Times New Roman"/>
                <a:cs typeface="Times New Roman"/>
              </a:rPr>
              <a:t>Access</a:t>
            </a:r>
            <a:r>
              <a:rPr kumimoji="0" sz="1200" b="0" i="0" u="sng" strike="noStrike" kern="0" cap="none" spc="-35" normalizeH="0" baseline="0" noProof="0" dirty="0">
                <a:ln>
                  <a:noFill/>
                </a:ln>
                <a:solidFill>
                  <a:srgbClr val="615D9C"/>
                </a:solidFill>
                <a:effectLst/>
                <a:uLnTx/>
                <a:uFill>
                  <a:solidFill>
                    <a:srgbClr val="615D9C"/>
                  </a:solidFill>
                </a:uFill>
                <a:latin typeface="Times New Roman"/>
                <a:cs typeface="Times New Roman"/>
              </a:rPr>
              <a:t> </a:t>
            </a:r>
            <a:r>
              <a:rPr kumimoji="0" sz="1200" b="0" i="0" u="sng" strike="noStrike" kern="0" cap="none" spc="0" normalizeH="0" baseline="0" noProof="0" dirty="0">
                <a:ln>
                  <a:noFill/>
                </a:ln>
                <a:solidFill>
                  <a:srgbClr val="615D9C"/>
                </a:solidFill>
                <a:effectLst/>
                <a:uLnTx/>
                <a:uFill>
                  <a:solidFill>
                    <a:srgbClr val="615D9C"/>
                  </a:solidFill>
                </a:uFill>
                <a:latin typeface="Times New Roman"/>
                <a:cs typeface="Times New Roman"/>
              </a:rPr>
              <a:t>the</a:t>
            </a:r>
            <a:r>
              <a:rPr kumimoji="0" sz="1200" b="0" i="0" u="sng" strike="noStrike" kern="0" cap="none" spc="25" normalizeH="0" baseline="0" noProof="0" dirty="0">
                <a:ln>
                  <a:noFill/>
                </a:ln>
                <a:solidFill>
                  <a:srgbClr val="615D9C"/>
                </a:solidFill>
                <a:effectLst/>
                <a:uLnTx/>
                <a:uFill>
                  <a:solidFill>
                    <a:srgbClr val="615D9C"/>
                  </a:solidFill>
                </a:uFill>
                <a:latin typeface="Times New Roman"/>
                <a:cs typeface="Times New Roman"/>
              </a:rPr>
              <a:t> </a:t>
            </a:r>
            <a:r>
              <a:rPr kumimoji="0" sz="1200" b="0" i="0" u="sng" strike="noStrike" kern="0" cap="none" spc="-10" normalizeH="0" baseline="0" noProof="0" dirty="0">
                <a:ln>
                  <a:noFill/>
                </a:ln>
                <a:solidFill>
                  <a:srgbClr val="615D9C"/>
                </a:solidFill>
                <a:effectLst/>
                <a:uLnTx/>
                <a:uFill>
                  <a:solidFill>
                    <a:srgbClr val="615D9C"/>
                  </a:solidFill>
                </a:uFill>
                <a:latin typeface="Times New Roman"/>
                <a:cs typeface="Times New Roman"/>
              </a:rPr>
              <a:t>text</a:t>
            </a:r>
            <a:r>
              <a:rPr kumimoji="0" sz="1200" b="0" i="0" u="sng" strike="noStrike" kern="0" cap="none" spc="10" normalizeH="0" baseline="0" noProof="0" dirty="0">
                <a:ln>
                  <a:noFill/>
                </a:ln>
                <a:solidFill>
                  <a:srgbClr val="615D9C"/>
                </a:solidFill>
                <a:effectLst/>
                <a:uLnTx/>
                <a:uFill>
                  <a:solidFill>
                    <a:srgbClr val="615D9C"/>
                  </a:solidFill>
                </a:uFill>
                <a:latin typeface="Times New Roman"/>
                <a:cs typeface="Times New Roman"/>
              </a:rPr>
              <a:t> </a:t>
            </a:r>
            <a:r>
              <a:rPr kumimoji="0" sz="1200" b="0" i="0" u="sng" strike="noStrike" kern="0" cap="none" spc="-25" normalizeH="0" baseline="0" noProof="0" dirty="0">
                <a:ln>
                  <a:noFill/>
                </a:ln>
                <a:solidFill>
                  <a:srgbClr val="615D9C"/>
                </a:solidFill>
                <a:effectLst/>
                <a:uLnTx/>
                <a:uFill>
                  <a:solidFill>
                    <a:srgbClr val="615D9C"/>
                  </a:solidFill>
                </a:uFill>
                <a:latin typeface="Times New Roman"/>
                <a:cs typeface="Times New Roman"/>
              </a:rPr>
              <a:t>alternative</a:t>
            </a:r>
            <a:r>
              <a:rPr kumimoji="0" sz="1200" b="0" i="0" u="sng" strike="noStrike" kern="0" cap="none" spc="195" normalizeH="0" baseline="0" noProof="0" dirty="0">
                <a:ln>
                  <a:noFill/>
                </a:ln>
                <a:solidFill>
                  <a:srgbClr val="615D9C"/>
                </a:solidFill>
                <a:effectLst/>
                <a:uLnTx/>
                <a:uFill>
                  <a:solidFill>
                    <a:srgbClr val="615D9C"/>
                  </a:solidFill>
                </a:uFill>
                <a:latin typeface="Times New Roman"/>
                <a:cs typeface="Times New Roman"/>
              </a:rPr>
              <a:t> </a:t>
            </a:r>
            <a:r>
              <a:rPr kumimoji="0" sz="1200" b="0" i="0" u="sng" strike="noStrike" kern="0" cap="none" spc="0" normalizeH="0" baseline="0" noProof="0" dirty="0">
                <a:ln>
                  <a:noFill/>
                </a:ln>
                <a:solidFill>
                  <a:srgbClr val="615D9C"/>
                </a:solidFill>
                <a:effectLst/>
                <a:uLnTx/>
                <a:uFill>
                  <a:solidFill>
                    <a:srgbClr val="615D9C"/>
                  </a:solidFill>
                </a:uFill>
                <a:latin typeface="Times New Roman"/>
                <a:cs typeface="Times New Roman"/>
              </a:rPr>
              <a:t>for</a:t>
            </a:r>
            <a:r>
              <a:rPr kumimoji="0" sz="1200" b="0" i="0" u="sng" strike="noStrike" kern="0" cap="none" spc="15" normalizeH="0" baseline="0" noProof="0" dirty="0">
                <a:ln>
                  <a:noFill/>
                </a:ln>
                <a:solidFill>
                  <a:srgbClr val="615D9C"/>
                </a:solidFill>
                <a:effectLst/>
                <a:uLnTx/>
                <a:uFill>
                  <a:solidFill>
                    <a:srgbClr val="615D9C"/>
                  </a:solidFill>
                </a:uFill>
                <a:latin typeface="Times New Roman"/>
                <a:cs typeface="Times New Roman"/>
              </a:rPr>
              <a:t> </a:t>
            </a:r>
            <a:r>
              <a:rPr kumimoji="0" sz="1200" b="0" i="0" u="sng" strike="noStrike" kern="0" cap="none" spc="-25" normalizeH="0" baseline="0" noProof="0" dirty="0">
                <a:ln>
                  <a:noFill/>
                </a:ln>
                <a:solidFill>
                  <a:srgbClr val="615D9C"/>
                </a:solidFill>
                <a:effectLst/>
                <a:uLnTx/>
                <a:uFill>
                  <a:solidFill>
                    <a:srgbClr val="615D9C"/>
                  </a:solidFill>
                </a:uFill>
                <a:latin typeface="Times New Roman"/>
                <a:cs typeface="Times New Roman"/>
              </a:rPr>
              <a:t>slide</a:t>
            </a:r>
            <a:r>
              <a:rPr kumimoji="0" sz="1200" b="0" i="0" u="sng" strike="noStrike" kern="0" cap="none" spc="80" normalizeH="0" baseline="0" noProof="0" dirty="0">
                <a:ln>
                  <a:noFill/>
                </a:ln>
                <a:solidFill>
                  <a:srgbClr val="615D9C"/>
                </a:solidFill>
                <a:effectLst/>
                <a:uLnTx/>
                <a:uFill>
                  <a:solidFill>
                    <a:srgbClr val="615D9C"/>
                  </a:solidFill>
                </a:uFill>
                <a:latin typeface="Times New Roman"/>
                <a:cs typeface="Times New Roman"/>
              </a:rPr>
              <a:t> </a:t>
            </a:r>
            <a:r>
              <a:rPr kumimoji="0" sz="1200" b="0" i="0" u="sng" strike="noStrike" kern="0" cap="none" spc="-30" normalizeH="0" baseline="0" noProof="0" dirty="0">
                <a:ln>
                  <a:noFill/>
                </a:ln>
                <a:solidFill>
                  <a:srgbClr val="615D9C"/>
                </a:solidFill>
                <a:effectLst/>
                <a:uLnTx/>
                <a:uFill>
                  <a:solidFill>
                    <a:srgbClr val="615D9C"/>
                  </a:solidFill>
                </a:uFill>
                <a:latin typeface="Times New Roman"/>
                <a:cs typeface="Times New Roman"/>
              </a:rPr>
              <a:t>images.</a:t>
            </a:r>
            <a:endParaRPr kumimoji="0" sz="12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4445" rIns="0" bIns="0" rtlCol="0">
            <a:spAutoFit/>
          </a:bodyPr>
          <a:lstStyle/>
          <a:p>
            <a:pPr marL="38100" marR="0" lvl="0" indent="0" defTabSz="914400" eaLnBrk="1" fontAlgn="auto" latinLnBrk="0" hangingPunct="1">
              <a:lnSpc>
                <a:spcPct val="100000"/>
              </a:lnSpc>
              <a:spcBef>
                <a:spcPts val="35"/>
              </a:spcBef>
              <a:spcAft>
                <a:spcPts val="0"/>
              </a:spcAft>
              <a:buClrTx/>
              <a:buSzTx/>
              <a:buFontTx/>
              <a:buNone/>
              <a:tabLst/>
              <a:defRPr/>
            </a:pPr>
            <a:fld id="{81D60167-4931-47E6-BA6A-407CBD079E47}" type="slidenum">
              <a:rPr kumimoji="0" sz="800" b="0" i="0" u="none" strike="noStrike" kern="0" cap="none" spc="-25" normalizeH="0" baseline="0" noProof="0" dirty="0">
                <a:ln>
                  <a:noFill/>
                </a:ln>
                <a:solidFill>
                  <a:srgbClr val="585858"/>
                </a:solidFill>
                <a:effectLst/>
                <a:uLnTx/>
                <a:uFillTx/>
                <a:latin typeface="Times New Roman"/>
                <a:cs typeface="Times New Roman"/>
              </a:rPr>
              <a:pPr marL="38100" marR="0" lvl="0" indent="0" defTabSz="914400" eaLnBrk="1" fontAlgn="auto" latinLnBrk="0" hangingPunct="1">
                <a:lnSpc>
                  <a:spcPct val="100000"/>
                </a:lnSpc>
                <a:spcBef>
                  <a:spcPts val="35"/>
                </a:spcBef>
                <a:spcAft>
                  <a:spcPts val="0"/>
                </a:spcAft>
                <a:buClrTx/>
                <a:buSzTx/>
                <a:buFontTx/>
                <a:buNone/>
                <a:tabLst/>
                <a:defRPr/>
              </a:pPr>
              <a:t>4</a:t>
            </a:fld>
            <a:endParaRPr kumimoji="0" sz="800" b="0" i="0" u="none" strike="noStrike" kern="0" cap="none" spc="-25" normalizeH="0" baseline="0" noProof="0" dirty="0">
              <a:ln>
                <a:noFill/>
              </a:ln>
              <a:solidFill>
                <a:srgbClr val="585858"/>
              </a:solidFill>
              <a:effectLst/>
              <a:uLnTx/>
              <a:uFillTx/>
              <a:latin typeface="Times New Roman"/>
              <a:cs typeface="Times New Roman"/>
            </a:endParaRPr>
          </a:p>
        </p:txBody>
      </p:sp>
      <p:sp>
        <p:nvSpPr>
          <p:cNvPr id="6" name="object 6"/>
          <p:cNvSpPr txBox="1">
            <a:spLocks noGrp="1"/>
          </p:cNvSpPr>
          <p:nvPr>
            <p:ph type="ftr" sz="quarter" idx="5"/>
          </p:nvPr>
        </p:nvSpPr>
        <p:spPr>
          <a:prstGeom prst="rect">
            <a:avLst/>
          </a:prstGeom>
        </p:spPr>
        <p:txBody>
          <a:bodyPr vert="horz" wrap="square" lIns="0" tIns="4445" rIns="0" bIns="0" rtlCol="0">
            <a:spAutoFit/>
          </a:bodyPr>
          <a:lstStyle/>
          <a:p>
            <a:pPr marL="12700" marR="0" lvl="0" indent="0" defTabSz="914400" eaLnBrk="1" fontAlgn="auto" latinLnBrk="0" hangingPunct="1">
              <a:lnSpc>
                <a:spcPct val="100000"/>
              </a:lnSpc>
              <a:spcBef>
                <a:spcPts val="35"/>
              </a:spcBef>
              <a:spcAft>
                <a:spcPts val="0"/>
              </a:spcAft>
              <a:buClrTx/>
              <a:buSzTx/>
              <a:buFontTx/>
              <a:buNone/>
              <a:tabLst/>
              <a:defRPr/>
            </a:pPr>
            <a:r>
              <a:rPr kumimoji="0" sz="800" b="0" i="0" u="none" strike="noStrike" kern="0" cap="none" spc="0" normalizeH="0" baseline="0" noProof="0" dirty="0">
                <a:ln>
                  <a:noFill/>
                </a:ln>
                <a:solidFill>
                  <a:srgbClr val="585858"/>
                </a:solidFill>
                <a:effectLst/>
                <a:uLnTx/>
                <a:uFillTx/>
                <a:latin typeface="Times New Roman"/>
                <a:cs typeface="Times New Roman"/>
              </a:rPr>
              <a:t>©</a:t>
            </a:r>
            <a:r>
              <a:rPr kumimoji="0" sz="800" b="0" i="0" u="none" strike="noStrike" kern="0" cap="none" spc="45" normalizeH="0" baseline="0" noProof="0" dirty="0">
                <a:ln>
                  <a:noFill/>
                </a:ln>
                <a:solidFill>
                  <a:srgbClr val="585858"/>
                </a:solidFill>
                <a:effectLst/>
                <a:uLnTx/>
                <a:uFillTx/>
                <a:latin typeface="Times New Roman"/>
                <a:cs typeface="Times New Roman"/>
              </a:rPr>
              <a:t> </a:t>
            </a:r>
            <a:r>
              <a:rPr kumimoji="0" sz="800" b="0" i="0" u="none" strike="noStrike" kern="0" cap="none" spc="0" normalizeH="0" baseline="0" noProof="0" dirty="0">
                <a:ln>
                  <a:noFill/>
                </a:ln>
                <a:solidFill>
                  <a:srgbClr val="585858"/>
                </a:solidFill>
                <a:effectLst/>
                <a:uLnTx/>
                <a:uFillTx/>
                <a:latin typeface="Times New Roman"/>
                <a:cs typeface="Times New Roman"/>
              </a:rPr>
              <a:t>McGraw</a:t>
            </a:r>
            <a:r>
              <a:rPr kumimoji="0" sz="800" b="0" i="0" u="none" strike="noStrike" kern="0" cap="none" spc="-105" normalizeH="0" baseline="0" noProof="0" dirty="0">
                <a:ln>
                  <a:noFill/>
                </a:ln>
                <a:solidFill>
                  <a:srgbClr val="585858"/>
                </a:solidFill>
                <a:effectLst/>
                <a:uLnTx/>
                <a:uFillTx/>
                <a:latin typeface="Times New Roman"/>
                <a:cs typeface="Times New Roman"/>
              </a:rPr>
              <a:t> </a:t>
            </a:r>
            <a:r>
              <a:rPr kumimoji="0" sz="800" b="0" i="0" u="none" strike="noStrike" kern="0" cap="none" spc="-20" normalizeH="0" baseline="0" noProof="0" dirty="0">
                <a:ln>
                  <a:noFill/>
                </a:ln>
                <a:solidFill>
                  <a:srgbClr val="585858"/>
                </a:solidFill>
                <a:effectLst/>
                <a:uLnTx/>
                <a:uFillTx/>
                <a:latin typeface="Times New Roman"/>
                <a:cs typeface="Times New Roman"/>
              </a:rPr>
              <a:t>Hill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dirty="0"/>
              <a:t>Process</a:t>
            </a:r>
            <a:r>
              <a:rPr spc="-130" dirty="0"/>
              <a:t> </a:t>
            </a:r>
            <a:r>
              <a:rPr dirty="0"/>
              <a:t>Framework</a:t>
            </a:r>
            <a:r>
              <a:rPr spc="-30" dirty="0"/>
              <a:t> </a:t>
            </a:r>
            <a:r>
              <a:rPr spc="-10" dirty="0"/>
              <a:t>Activities</a:t>
            </a:r>
          </a:p>
        </p:txBody>
      </p:sp>
      <p:sp>
        <p:nvSpPr>
          <p:cNvPr id="4" name="object 4"/>
          <p:cNvSpPr txBox="1">
            <a:spLocks noGrp="1"/>
          </p:cNvSpPr>
          <p:nvPr>
            <p:ph type="sldNum" sz="quarter" idx="7"/>
          </p:nvPr>
        </p:nvSpPr>
        <p:spPr>
          <a:prstGeom prst="rect">
            <a:avLst/>
          </a:prstGeom>
        </p:spPr>
        <p:txBody>
          <a:bodyPr vert="horz" wrap="square" lIns="0" tIns="4445" rIns="0" bIns="0" rtlCol="0">
            <a:spAutoFit/>
          </a:bodyPr>
          <a:lstStyle/>
          <a:p>
            <a:pPr marL="38100" marR="0" lvl="0" indent="0" defTabSz="914400" eaLnBrk="1" fontAlgn="auto" latinLnBrk="0" hangingPunct="1">
              <a:lnSpc>
                <a:spcPct val="100000"/>
              </a:lnSpc>
              <a:spcBef>
                <a:spcPts val="35"/>
              </a:spcBef>
              <a:spcAft>
                <a:spcPts val="0"/>
              </a:spcAft>
              <a:buClrTx/>
              <a:buSzTx/>
              <a:buFontTx/>
              <a:buNone/>
              <a:tabLst/>
              <a:defRPr/>
            </a:pPr>
            <a:fld id="{81D60167-4931-47E6-BA6A-407CBD079E47}" type="slidenum">
              <a:rPr kumimoji="0" sz="800" b="0" i="0" u="none" strike="noStrike" kern="0" cap="none" spc="-25" normalizeH="0" baseline="0" noProof="0" dirty="0">
                <a:ln>
                  <a:noFill/>
                </a:ln>
                <a:solidFill>
                  <a:srgbClr val="585858"/>
                </a:solidFill>
                <a:effectLst/>
                <a:uLnTx/>
                <a:uFillTx/>
                <a:latin typeface="Times New Roman"/>
                <a:cs typeface="Times New Roman"/>
              </a:rPr>
              <a:pPr marL="38100" marR="0" lvl="0" indent="0" defTabSz="914400" eaLnBrk="1" fontAlgn="auto" latinLnBrk="0" hangingPunct="1">
                <a:lnSpc>
                  <a:spcPct val="100000"/>
                </a:lnSpc>
                <a:spcBef>
                  <a:spcPts val="35"/>
                </a:spcBef>
                <a:spcAft>
                  <a:spcPts val="0"/>
                </a:spcAft>
                <a:buClrTx/>
                <a:buSzTx/>
                <a:buFontTx/>
                <a:buNone/>
                <a:tabLst/>
                <a:defRPr/>
              </a:pPr>
              <a:t>5</a:t>
            </a:fld>
            <a:endParaRPr kumimoji="0" sz="800" b="0" i="0" u="none" strike="noStrike" kern="0" cap="none" spc="-25" normalizeH="0" baseline="0" noProof="0" dirty="0">
              <a:ln>
                <a:noFill/>
              </a:ln>
              <a:solidFill>
                <a:srgbClr val="585858"/>
              </a:solidFill>
              <a:effectLst/>
              <a:uLnTx/>
              <a:uFillTx/>
              <a:latin typeface="Times New Roman"/>
              <a:cs typeface="Times New Roman"/>
            </a:endParaRPr>
          </a:p>
        </p:txBody>
      </p:sp>
      <p:sp>
        <p:nvSpPr>
          <p:cNvPr id="5" name="object 5"/>
          <p:cNvSpPr txBox="1">
            <a:spLocks noGrp="1"/>
          </p:cNvSpPr>
          <p:nvPr>
            <p:ph type="ftr" sz="quarter" idx="5"/>
          </p:nvPr>
        </p:nvSpPr>
        <p:spPr>
          <a:prstGeom prst="rect">
            <a:avLst/>
          </a:prstGeom>
        </p:spPr>
        <p:txBody>
          <a:bodyPr vert="horz" wrap="square" lIns="0" tIns="4445" rIns="0" bIns="0" rtlCol="0">
            <a:spAutoFit/>
          </a:bodyPr>
          <a:lstStyle/>
          <a:p>
            <a:pPr marL="12700" marR="0" lvl="0" indent="0" defTabSz="914400" eaLnBrk="1" fontAlgn="auto" latinLnBrk="0" hangingPunct="1">
              <a:lnSpc>
                <a:spcPct val="100000"/>
              </a:lnSpc>
              <a:spcBef>
                <a:spcPts val="35"/>
              </a:spcBef>
              <a:spcAft>
                <a:spcPts val="0"/>
              </a:spcAft>
              <a:buClrTx/>
              <a:buSzTx/>
              <a:buFontTx/>
              <a:buNone/>
              <a:tabLst/>
              <a:defRPr/>
            </a:pPr>
            <a:r>
              <a:rPr kumimoji="0" sz="800" b="0" i="0" u="none" strike="noStrike" kern="0" cap="none" spc="0" normalizeH="0" baseline="0" noProof="0" dirty="0">
                <a:ln>
                  <a:noFill/>
                </a:ln>
                <a:solidFill>
                  <a:srgbClr val="585858"/>
                </a:solidFill>
                <a:effectLst/>
                <a:uLnTx/>
                <a:uFillTx/>
                <a:latin typeface="Times New Roman"/>
                <a:cs typeface="Times New Roman"/>
              </a:rPr>
              <a:t>©</a:t>
            </a:r>
            <a:r>
              <a:rPr kumimoji="0" sz="800" b="0" i="0" u="none" strike="noStrike" kern="0" cap="none" spc="45" normalizeH="0" baseline="0" noProof="0" dirty="0">
                <a:ln>
                  <a:noFill/>
                </a:ln>
                <a:solidFill>
                  <a:srgbClr val="585858"/>
                </a:solidFill>
                <a:effectLst/>
                <a:uLnTx/>
                <a:uFillTx/>
                <a:latin typeface="Times New Roman"/>
                <a:cs typeface="Times New Roman"/>
              </a:rPr>
              <a:t> </a:t>
            </a:r>
            <a:r>
              <a:rPr kumimoji="0" sz="800" b="0" i="0" u="none" strike="noStrike" kern="0" cap="none" spc="0" normalizeH="0" baseline="0" noProof="0" dirty="0">
                <a:ln>
                  <a:noFill/>
                </a:ln>
                <a:solidFill>
                  <a:srgbClr val="585858"/>
                </a:solidFill>
                <a:effectLst/>
                <a:uLnTx/>
                <a:uFillTx/>
                <a:latin typeface="Times New Roman"/>
                <a:cs typeface="Times New Roman"/>
              </a:rPr>
              <a:t>McGraw</a:t>
            </a:r>
            <a:r>
              <a:rPr kumimoji="0" sz="800" b="0" i="0" u="none" strike="noStrike" kern="0" cap="none" spc="-105" normalizeH="0" baseline="0" noProof="0" dirty="0">
                <a:ln>
                  <a:noFill/>
                </a:ln>
                <a:solidFill>
                  <a:srgbClr val="585858"/>
                </a:solidFill>
                <a:effectLst/>
                <a:uLnTx/>
                <a:uFillTx/>
                <a:latin typeface="Times New Roman"/>
                <a:cs typeface="Times New Roman"/>
              </a:rPr>
              <a:t> </a:t>
            </a:r>
            <a:r>
              <a:rPr kumimoji="0" sz="800" b="0" i="0" u="none" strike="noStrike" kern="0" cap="none" spc="-20" normalizeH="0" baseline="0" noProof="0" dirty="0">
                <a:ln>
                  <a:noFill/>
                </a:ln>
                <a:solidFill>
                  <a:srgbClr val="585858"/>
                </a:solidFill>
                <a:effectLst/>
                <a:uLnTx/>
                <a:uFillTx/>
                <a:latin typeface="Times New Roman"/>
                <a:cs typeface="Times New Roman"/>
              </a:rPr>
              <a:t>Hill</a:t>
            </a:r>
          </a:p>
        </p:txBody>
      </p:sp>
      <p:sp>
        <p:nvSpPr>
          <p:cNvPr id="3" name="object 3"/>
          <p:cNvSpPr txBox="1"/>
          <p:nvPr/>
        </p:nvSpPr>
        <p:spPr>
          <a:xfrm>
            <a:off x="421957" y="1171630"/>
            <a:ext cx="3158490" cy="4735830"/>
          </a:xfrm>
          <a:prstGeom prst="rect">
            <a:avLst/>
          </a:prstGeom>
        </p:spPr>
        <p:txBody>
          <a:bodyPr vert="horz" wrap="square" lIns="0" tIns="143510" rIns="0" bIns="0" rtlCol="0">
            <a:spAutoFit/>
          </a:bodyPr>
          <a:lstStyle/>
          <a:p>
            <a:pPr marL="12700" marR="0" lvl="0" indent="0" defTabSz="914400" eaLnBrk="1" fontAlgn="auto" latinLnBrk="0" hangingPunct="1">
              <a:lnSpc>
                <a:spcPct val="100000"/>
              </a:lnSpc>
              <a:spcBef>
                <a:spcPts val="1130"/>
              </a:spcBef>
              <a:spcAft>
                <a:spcPts val="0"/>
              </a:spcAft>
              <a:buClrTx/>
              <a:buSzTx/>
              <a:buFontTx/>
              <a:buNone/>
              <a:tabLst/>
              <a:defRPr/>
            </a:pP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Communication.</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12700" marR="1897380" lvl="0" indent="0" defTabSz="914400" eaLnBrk="1" fontAlgn="auto" latinLnBrk="0" hangingPunct="1">
              <a:lnSpc>
                <a:spcPct val="133000"/>
              </a:lnSpc>
              <a:spcBef>
                <a:spcPts val="75"/>
              </a:spcBef>
              <a:spcAft>
                <a:spcPts val="0"/>
              </a:spcAft>
              <a:buClrTx/>
              <a:buSzTx/>
              <a:buFontTx/>
              <a:buNone/>
              <a:tabLst/>
              <a:defRPr/>
            </a:pPr>
            <a:r>
              <a:rPr kumimoji="0" sz="2400" b="0" i="0" u="none" strike="noStrike" kern="0" cap="none" spc="-10" normalizeH="0" baseline="0" noProof="0" dirty="0">
                <a:ln>
                  <a:noFill/>
                </a:ln>
                <a:solidFill>
                  <a:sysClr val="windowText" lastClr="000000"/>
                </a:solidFill>
                <a:effectLst/>
                <a:uLnTx/>
                <a:uFillTx/>
                <a:latin typeface="Times New Roman"/>
                <a:cs typeface="Times New Roman"/>
              </a:rPr>
              <a:t>Planning. </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Modeling.</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07975" marR="0" lvl="0" indent="-295275" defTabSz="914400" eaLnBrk="1" fontAlgn="auto" latinLnBrk="0" hangingPunct="1">
              <a:lnSpc>
                <a:spcPct val="100000"/>
              </a:lnSpc>
              <a:spcBef>
                <a:spcPts val="1125"/>
              </a:spcBef>
              <a:spcAft>
                <a:spcPts val="0"/>
              </a:spcAft>
              <a:buClrTx/>
              <a:buSzTx/>
              <a:buFont typeface="Arial MT"/>
              <a:buChar char="•"/>
              <a:tabLst>
                <a:tab pos="307975" algn="l"/>
              </a:tabLst>
              <a:defRPr/>
            </a:pPr>
            <a:r>
              <a:rPr kumimoji="0" sz="2150" b="0" i="0" u="none" strike="noStrike" kern="0" cap="none" spc="0" normalizeH="0" baseline="0" noProof="0" dirty="0">
                <a:ln>
                  <a:noFill/>
                </a:ln>
                <a:solidFill>
                  <a:sysClr val="windowText" lastClr="000000"/>
                </a:solidFill>
                <a:effectLst/>
                <a:uLnTx/>
                <a:uFillTx/>
                <a:latin typeface="Times New Roman"/>
                <a:cs typeface="Times New Roman"/>
              </a:rPr>
              <a:t>Analysis</a:t>
            </a:r>
            <a:r>
              <a:rPr kumimoji="0" sz="2150" b="0" i="0" u="none" strike="noStrike" kern="0" cap="none" spc="250" normalizeH="0" baseline="0" noProof="0" dirty="0">
                <a:ln>
                  <a:noFill/>
                </a:ln>
                <a:solidFill>
                  <a:sysClr val="windowText" lastClr="000000"/>
                </a:solidFill>
                <a:effectLst/>
                <a:uLnTx/>
                <a:uFillTx/>
                <a:latin typeface="Times New Roman"/>
                <a:cs typeface="Times New Roman"/>
              </a:rPr>
              <a:t> </a:t>
            </a:r>
            <a:r>
              <a:rPr kumimoji="0" sz="215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15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150" b="0" i="0" u="none" strike="noStrike" kern="0" cap="none" spc="-10" normalizeH="0" baseline="0" noProof="0" dirty="0">
                <a:ln>
                  <a:noFill/>
                </a:ln>
                <a:solidFill>
                  <a:sysClr val="windowText" lastClr="000000"/>
                </a:solidFill>
                <a:effectLst/>
                <a:uLnTx/>
                <a:uFillTx/>
                <a:latin typeface="Times New Roman"/>
                <a:cs typeface="Times New Roman"/>
              </a:rPr>
              <a:t>requirements.</a:t>
            </a:r>
            <a:endParaRPr kumimoji="0" sz="2150" b="0" i="0" u="none" strike="noStrike" kern="0" cap="none" spc="0" normalizeH="0" baseline="0" noProof="0">
              <a:ln>
                <a:noFill/>
              </a:ln>
              <a:solidFill>
                <a:sysClr val="windowText" lastClr="000000"/>
              </a:solidFill>
              <a:effectLst/>
              <a:uLnTx/>
              <a:uFillTx/>
              <a:latin typeface="Times New Roman"/>
              <a:cs typeface="Times New Roman"/>
            </a:endParaRPr>
          </a:p>
          <a:p>
            <a:pPr marL="307975" marR="0" lvl="0" indent="-295275" defTabSz="914400" eaLnBrk="1" fontAlgn="auto" latinLnBrk="0" hangingPunct="1">
              <a:lnSpc>
                <a:spcPct val="100000"/>
              </a:lnSpc>
              <a:spcBef>
                <a:spcPts val="1025"/>
              </a:spcBef>
              <a:spcAft>
                <a:spcPts val="0"/>
              </a:spcAft>
              <a:buClrTx/>
              <a:buSzTx/>
              <a:buFont typeface="Arial MT"/>
              <a:buChar char="•"/>
              <a:tabLst>
                <a:tab pos="307975" algn="l"/>
              </a:tabLst>
              <a:defRPr/>
            </a:pPr>
            <a:r>
              <a:rPr kumimoji="0" sz="2150" b="0" i="0" u="none" strike="noStrike" kern="0" cap="none" spc="-10" normalizeH="0" baseline="0" noProof="0" dirty="0">
                <a:ln>
                  <a:noFill/>
                </a:ln>
                <a:solidFill>
                  <a:sysClr val="windowText" lastClr="000000"/>
                </a:solidFill>
                <a:effectLst/>
                <a:uLnTx/>
                <a:uFillTx/>
                <a:latin typeface="Times New Roman"/>
                <a:cs typeface="Times New Roman"/>
              </a:rPr>
              <a:t>Design.</a:t>
            </a:r>
            <a:endParaRPr kumimoji="0" sz="2150" b="0" i="0" u="none" strike="noStrike" kern="0" cap="none" spc="0" normalizeH="0" baseline="0" noProof="0">
              <a:ln>
                <a:noFill/>
              </a:ln>
              <a:solidFill>
                <a:sysClr val="windowText" lastClr="000000"/>
              </a:solidFill>
              <a:effectLst/>
              <a:uLnTx/>
              <a:uFillTx/>
              <a:latin typeface="Times New Roman"/>
              <a:cs typeface="Times New Roman"/>
            </a:endParaRPr>
          </a:p>
          <a:p>
            <a:pPr marL="12700" marR="0" lvl="0" indent="0" defTabSz="914400" eaLnBrk="1" fontAlgn="auto" latinLnBrk="0" hangingPunct="1">
              <a:lnSpc>
                <a:spcPct val="100000"/>
              </a:lnSpc>
              <a:spcBef>
                <a:spcPts val="2425"/>
              </a:spcBef>
              <a:spcAft>
                <a:spcPts val="0"/>
              </a:spcAft>
              <a:buClrTx/>
              <a:buSzTx/>
              <a:buFontTx/>
              <a:buNone/>
              <a:tabLst/>
              <a:defRPr/>
            </a:pP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Construction:</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07975" marR="0" lvl="0" indent="-295275" defTabSz="914400" eaLnBrk="1" fontAlgn="auto" latinLnBrk="0" hangingPunct="1">
              <a:lnSpc>
                <a:spcPct val="100000"/>
              </a:lnSpc>
              <a:spcBef>
                <a:spcPts val="1050"/>
              </a:spcBef>
              <a:spcAft>
                <a:spcPts val="0"/>
              </a:spcAft>
              <a:buClrTx/>
              <a:buSzTx/>
              <a:buFont typeface="Arial MT"/>
              <a:buChar char="•"/>
              <a:tabLst>
                <a:tab pos="307975" algn="l"/>
              </a:tabLst>
              <a:defRPr/>
            </a:pPr>
            <a:r>
              <a:rPr kumimoji="0" sz="2150" b="0" i="0" u="none" strike="noStrike" kern="0" cap="none" spc="0" normalizeH="0" baseline="0" noProof="0" dirty="0">
                <a:ln>
                  <a:noFill/>
                </a:ln>
                <a:solidFill>
                  <a:sysClr val="windowText" lastClr="000000"/>
                </a:solidFill>
                <a:effectLst/>
                <a:uLnTx/>
                <a:uFillTx/>
                <a:latin typeface="Times New Roman"/>
                <a:cs typeface="Times New Roman"/>
              </a:rPr>
              <a:t>Code</a:t>
            </a:r>
            <a:r>
              <a:rPr kumimoji="0" sz="2150" b="0" i="0" u="none" strike="noStrike" kern="0" cap="none" spc="85" normalizeH="0" baseline="0" noProof="0" dirty="0">
                <a:ln>
                  <a:noFill/>
                </a:ln>
                <a:solidFill>
                  <a:sysClr val="windowText" lastClr="000000"/>
                </a:solidFill>
                <a:effectLst/>
                <a:uLnTx/>
                <a:uFillTx/>
                <a:latin typeface="Times New Roman"/>
                <a:cs typeface="Times New Roman"/>
              </a:rPr>
              <a:t> </a:t>
            </a:r>
            <a:r>
              <a:rPr kumimoji="0" sz="2150" b="0" i="0" u="none" strike="noStrike" kern="0" cap="none" spc="-10" normalizeH="0" baseline="0" noProof="0" dirty="0">
                <a:ln>
                  <a:noFill/>
                </a:ln>
                <a:solidFill>
                  <a:sysClr val="windowText" lastClr="000000"/>
                </a:solidFill>
                <a:effectLst/>
                <a:uLnTx/>
                <a:uFillTx/>
                <a:latin typeface="Times New Roman"/>
                <a:cs typeface="Times New Roman"/>
              </a:rPr>
              <a:t>generation.</a:t>
            </a:r>
            <a:endParaRPr kumimoji="0" sz="2150" b="0" i="0" u="none" strike="noStrike" kern="0" cap="none" spc="0" normalizeH="0" baseline="0" noProof="0">
              <a:ln>
                <a:noFill/>
              </a:ln>
              <a:solidFill>
                <a:sysClr val="windowText" lastClr="000000"/>
              </a:solidFill>
              <a:effectLst/>
              <a:uLnTx/>
              <a:uFillTx/>
              <a:latin typeface="Times New Roman"/>
              <a:cs typeface="Times New Roman"/>
            </a:endParaRPr>
          </a:p>
          <a:p>
            <a:pPr marL="307975" marR="0" lvl="0" indent="-295275" defTabSz="914400" eaLnBrk="1" fontAlgn="auto" latinLnBrk="0" hangingPunct="1">
              <a:lnSpc>
                <a:spcPct val="100000"/>
              </a:lnSpc>
              <a:spcBef>
                <a:spcPts val="1100"/>
              </a:spcBef>
              <a:spcAft>
                <a:spcPts val="0"/>
              </a:spcAft>
              <a:buClrTx/>
              <a:buSzTx/>
              <a:buFont typeface="Arial MT"/>
              <a:buChar char="•"/>
              <a:tabLst>
                <a:tab pos="307975" algn="l"/>
              </a:tabLst>
              <a:defRPr/>
            </a:pPr>
            <a:r>
              <a:rPr kumimoji="0" sz="2150" b="0" i="0" u="none" strike="noStrike" kern="0" cap="none" spc="-10" normalizeH="0" baseline="0" noProof="0" dirty="0">
                <a:ln>
                  <a:noFill/>
                </a:ln>
                <a:solidFill>
                  <a:sysClr val="windowText" lastClr="000000"/>
                </a:solidFill>
                <a:effectLst/>
                <a:uLnTx/>
                <a:uFillTx/>
                <a:latin typeface="Times New Roman"/>
                <a:cs typeface="Times New Roman"/>
              </a:rPr>
              <a:t>Testing.</a:t>
            </a:r>
            <a:endParaRPr kumimoji="0" sz="2150" b="0" i="0" u="none" strike="noStrike" kern="0" cap="none" spc="0" normalizeH="0" baseline="0" noProof="0">
              <a:ln>
                <a:noFill/>
              </a:ln>
              <a:solidFill>
                <a:sysClr val="windowText" lastClr="000000"/>
              </a:solidFill>
              <a:effectLst/>
              <a:uLnTx/>
              <a:uFillTx/>
              <a:latin typeface="Times New Roman"/>
              <a:cs typeface="Times New Roman"/>
            </a:endParaRPr>
          </a:p>
          <a:p>
            <a:pPr marL="0" marR="0" lvl="0" indent="0" defTabSz="914400" eaLnBrk="1" fontAlgn="auto" latinLnBrk="0" hangingPunct="1">
              <a:lnSpc>
                <a:spcPct val="100000"/>
              </a:lnSpc>
              <a:spcBef>
                <a:spcPts val="160"/>
              </a:spcBef>
              <a:spcAft>
                <a:spcPts val="0"/>
              </a:spcAft>
              <a:buClrTx/>
              <a:buSzTx/>
              <a:buFontTx/>
              <a:buNone/>
              <a:tabLst/>
              <a:defRPr/>
            </a:pPr>
            <a:endParaRPr kumimoji="0" sz="2150" b="0" i="0" u="none" strike="noStrike" kern="0" cap="none" spc="0" normalizeH="0" baseline="0" noProof="0">
              <a:ln>
                <a:noFill/>
              </a:ln>
              <a:solidFill>
                <a:sysClr val="windowText" lastClr="000000"/>
              </a:solidFill>
              <a:effectLst/>
              <a:uLnTx/>
              <a:uFillTx/>
              <a:latin typeface="Times New Roman"/>
              <a:cs typeface="Times New Roman"/>
            </a:endParaRPr>
          </a:p>
          <a:p>
            <a:pPr marL="12700" marR="0" lvl="0" indent="0" defTabSz="914400" eaLnBrk="1" fontAlgn="auto" latinLnBrk="0" hangingPunct="1">
              <a:lnSpc>
                <a:spcPct val="100000"/>
              </a:lnSpc>
              <a:spcBef>
                <a:spcPts val="5"/>
              </a:spcBef>
              <a:spcAft>
                <a:spcPts val="0"/>
              </a:spcAft>
              <a:buClrTx/>
              <a:buSzTx/>
              <a:buFontTx/>
              <a:buNone/>
              <a:tabLst/>
              <a:defRPr/>
            </a:pPr>
            <a:r>
              <a:rPr kumimoji="0" sz="2400" b="0" i="0" u="none" strike="noStrike" kern="0" cap="none" spc="-10" normalizeH="0" baseline="0" noProof="0" dirty="0">
                <a:ln>
                  <a:noFill/>
                </a:ln>
                <a:solidFill>
                  <a:sysClr val="windowText" lastClr="000000"/>
                </a:solidFill>
                <a:effectLst/>
                <a:uLnTx/>
                <a:uFillTx/>
                <a:latin typeface="Times New Roman"/>
                <a:cs typeface="Times New Roman"/>
              </a:rPr>
              <a:t>Deployment.</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21957" y="180974"/>
            <a:ext cx="5561965" cy="849630"/>
          </a:xfrm>
          <a:prstGeom prst="rect">
            <a:avLst/>
          </a:prstGeom>
        </p:spPr>
        <p:txBody>
          <a:bodyPr vert="horz" wrap="square" lIns="0" tIns="13335" rIns="0" bIns="0" rtlCol="0">
            <a:spAutoFit/>
          </a:bodyPr>
          <a:lstStyle/>
          <a:p>
            <a:pPr marL="12700">
              <a:lnSpc>
                <a:spcPts val="4200"/>
              </a:lnSpc>
              <a:spcBef>
                <a:spcPts val="105"/>
              </a:spcBef>
            </a:pPr>
            <a:r>
              <a:rPr sz="3600" dirty="0"/>
              <a:t>Hooker’s</a:t>
            </a:r>
            <a:r>
              <a:rPr sz="3600" spc="-140" dirty="0"/>
              <a:t> </a:t>
            </a:r>
            <a:r>
              <a:rPr sz="3600" dirty="0"/>
              <a:t>General</a:t>
            </a:r>
            <a:r>
              <a:rPr sz="3600" spc="40" dirty="0"/>
              <a:t> </a:t>
            </a:r>
            <a:r>
              <a:rPr sz="3600" spc="-10" dirty="0"/>
              <a:t>Principles</a:t>
            </a:r>
            <a:endParaRPr sz="3600"/>
          </a:p>
          <a:p>
            <a:pPr marL="12700">
              <a:lnSpc>
                <a:spcPts val="2280"/>
              </a:lnSpc>
            </a:pPr>
            <a:r>
              <a:rPr sz="2000" dirty="0"/>
              <a:t>for</a:t>
            </a:r>
            <a:r>
              <a:rPr sz="2000" spc="-5" dirty="0"/>
              <a:t> </a:t>
            </a:r>
            <a:r>
              <a:rPr sz="2000" dirty="0"/>
              <a:t>software</a:t>
            </a:r>
            <a:r>
              <a:rPr sz="2000" spc="-100" dirty="0"/>
              <a:t> </a:t>
            </a:r>
            <a:r>
              <a:rPr sz="2000" dirty="0"/>
              <a:t>engineering</a:t>
            </a:r>
            <a:r>
              <a:rPr sz="2000" spc="-60" dirty="0"/>
              <a:t> </a:t>
            </a:r>
            <a:r>
              <a:rPr sz="2000" spc="-10" dirty="0"/>
              <a:t>practice</a:t>
            </a:r>
            <a:endParaRPr sz="2000"/>
          </a:p>
        </p:txBody>
      </p:sp>
      <p:sp>
        <p:nvSpPr>
          <p:cNvPr id="4" name="object 4"/>
          <p:cNvSpPr txBox="1">
            <a:spLocks noGrp="1"/>
          </p:cNvSpPr>
          <p:nvPr>
            <p:ph type="sldNum" sz="quarter" idx="7"/>
          </p:nvPr>
        </p:nvSpPr>
        <p:spPr>
          <a:prstGeom prst="rect">
            <a:avLst/>
          </a:prstGeom>
        </p:spPr>
        <p:txBody>
          <a:bodyPr vert="horz" wrap="square" lIns="0" tIns="4445" rIns="0" bIns="0" rtlCol="0">
            <a:spAutoFit/>
          </a:bodyPr>
          <a:lstStyle/>
          <a:p>
            <a:pPr marL="38100" marR="0" lvl="0" indent="0" defTabSz="914400" eaLnBrk="1" fontAlgn="auto" latinLnBrk="0" hangingPunct="1">
              <a:lnSpc>
                <a:spcPct val="100000"/>
              </a:lnSpc>
              <a:spcBef>
                <a:spcPts val="35"/>
              </a:spcBef>
              <a:spcAft>
                <a:spcPts val="0"/>
              </a:spcAft>
              <a:buClrTx/>
              <a:buSzTx/>
              <a:buFontTx/>
              <a:buNone/>
              <a:tabLst/>
              <a:defRPr/>
            </a:pPr>
            <a:fld id="{81D60167-4931-47E6-BA6A-407CBD079E47}" type="slidenum">
              <a:rPr kumimoji="0" sz="800" b="0" i="0" u="none" strike="noStrike" kern="0" cap="none" spc="-25" normalizeH="0" baseline="0" noProof="0" dirty="0">
                <a:ln>
                  <a:noFill/>
                </a:ln>
                <a:solidFill>
                  <a:srgbClr val="585858"/>
                </a:solidFill>
                <a:effectLst/>
                <a:uLnTx/>
                <a:uFillTx/>
                <a:latin typeface="Times New Roman"/>
                <a:cs typeface="Times New Roman"/>
              </a:rPr>
              <a:pPr marL="38100" marR="0" lvl="0" indent="0" defTabSz="914400" eaLnBrk="1" fontAlgn="auto" latinLnBrk="0" hangingPunct="1">
                <a:lnSpc>
                  <a:spcPct val="100000"/>
                </a:lnSpc>
                <a:spcBef>
                  <a:spcPts val="35"/>
                </a:spcBef>
                <a:spcAft>
                  <a:spcPts val="0"/>
                </a:spcAft>
                <a:buClrTx/>
                <a:buSzTx/>
                <a:buFontTx/>
                <a:buNone/>
                <a:tabLst/>
                <a:defRPr/>
              </a:pPr>
              <a:t>6</a:t>
            </a:fld>
            <a:endParaRPr kumimoji="0" sz="800" b="0" i="0" u="none" strike="noStrike" kern="0" cap="none" spc="-25" normalizeH="0" baseline="0" noProof="0" dirty="0">
              <a:ln>
                <a:noFill/>
              </a:ln>
              <a:solidFill>
                <a:srgbClr val="585858"/>
              </a:solidFill>
              <a:effectLst/>
              <a:uLnTx/>
              <a:uFillTx/>
              <a:latin typeface="Times New Roman"/>
              <a:cs typeface="Times New Roman"/>
            </a:endParaRPr>
          </a:p>
        </p:txBody>
      </p:sp>
      <p:sp>
        <p:nvSpPr>
          <p:cNvPr id="5" name="object 5"/>
          <p:cNvSpPr txBox="1">
            <a:spLocks noGrp="1"/>
          </p:cNvSpPr>
          <p:nvPr>
            <p:ph type="ftr" sz="quarter" idx="5"/>
          </p:nvPr>
        </p:nvSpPr>
        <p:spPr>
          <a:prstGeom prst="rect">
            <a:avLst/>
          </a:prstGeom>
        </p:spPr>
        <p:txBody>
          <a:bodyPr vert="horz" wrap="square" lIns="0" tIns="4445" rIns="0" bIns="0" rtlCol="0">
            <a:spAutoFit/>
          </a:bodyPr>
          <a:lstStyle/>
          <a:p>
            <a:pPr marL="12700" marR="0" lvl="0" indent="0" defTabSz="914400" eaLnBrk="1" fontAlgn="auto" latinLnBrk="0" hangingPunct="1">
              <a:lnSpc>
                <a:spcPct val="100000"/>
              </a:lnSpc>
              <a:spcBef>
                <a:spcPts val="35"/>
              </a:spcBef>
              <a:spcAft>
                <a:spcPts val="0"/>
              </a:spcAft>
              <a:buClrTx/>
              <a:buSzTx/>
              <a:buFontTx/>
              <a:buNone/>
              <a:tabLst/>
              <a:defRPr/>
            </a:pPr>
            <a:r>
              <a:rPr kumimoji="0" sz="800" b="0" i="0" u="none" strike="noStrike" kern="0" cap="none" spc="0" normalizeH="0" baseline="0" noProof="0" dirty="0">
                <a:ln>
                  <a:noFill/>
                </a:ln>
                <a:solidFill>
                  <a:srgbClr val="585858"/>
                </a:solidFill>
                <a:effectLst/>
                <a:uLnTx/>
                <a:uFillTx/>
                <a:latin typeface="Times New Roman"/>
                <a:cs typeface="Times New Roman"/>
              </a:rPr>
              <a:t>©</a:t>
            </a:r>
            <a:r>
              <a:rPr kumimoji="0" sz="800" b="0" i="0" u="none" strike="noStrike" kern="0" cap="none" spc="45" normalizeH="0" baseline="0" noProof="0" dirty="0">
                <a:ln>
                  <a:noFill/>
                </a:ln>
                <a:solidFill>
                  <a:srgbClr val="585858"/>
                </a:solidFill>
                <a:effectLst/>
                <a:uLnTx/>
                <a:uFillTx/>
                <a:latin typeface="Times New Roman"/>
                <a:cs typeface="Times New Roman"/>
              </a:rPr>
              <a:t> </a:t>
            </a:r>
            <a:r>
              <a:rPr kumimoji="0" sz="800" b="0" i="0" u="none" strike="noStrike" kern="0" cap="none" spc="0" normalizeH="0" baseline="0" noProof="0" dirty="0">
                <a:ln>
                  <a:noFill/>
                </a:ln>
                <a:solidFill>
                  <a:srgbClr val="585858"/>
                </a:solidFill>
                <a:effectLst/>
                <a:uLnTx/>
                <a:uFillTx/>
                <a:latin typeface="Times New Roman"/>
                <a:cs typeface="Times New Roman"/>
              </a:rPr>
              <a:t>McGraw</a:t>
            </a:r>
            <a:r>
              <a:rPr kumimoji="0" sz="800" b="0" i="0" u="none" strike="noStrike" kern="0" cap="none" spc="-105" normalizeH="0" baseline="0" noProof="0" dirty="0">
                <a:ln>
                  <a:noFill/>
                </a:ln>
                <a:solidFill>
                  <a:srgbClr val="585858"/>
                </a:solidFill>
                <a:effectLst/>
                <a:uLnTx/>
                <a:uFillTx/>
                <a:latin typeface="Times New Roman"/>
                <a:cs typeface="Times New Roman"/>
              </a:rPr>
              <a:t> </a:t>
            </a:r>
            <a:r>
              <a:rPr kumimoji="0" sz="800" b="0" i="0" u="none" strike="noStrike" kern="0" cap="none" spc="-20" normalizeH="0" baseline="0" noProof="0" dirty="0">
                <a:ln>
                  <a:noFill/>
                </a:ln>
                <a:solidFill>
                  <a:srgbClr val="585858"/>
                </a:solidFill>
                <a:effectLst/>
                <a:uLnTx/>
                <a:uFillTx/>
                <a:latin typeface="Times New Roman"/>
                <a:cs typeface="Times New Roman"/>
              </a:rPr>
              <a:t>Hill</a:t>
            </a:r>
          </a:p>
        </p:txBody>
      </p:sp>
      <p:sp>
        <p:nvSpPr>
          <p:cNvPr id="3" name="object 3"/>
          <p:cNvSpPr txBox="1"/>
          <p:nvPr/>
        </p:nvSpPr>
        <p:spPr>
          <a:xfrm>
            <a:off x="421957" y="1171630"/>
            <a:ext cx="7780020" cy="3479165"/>
          </a:xfrm>
          <a:prstGeom prst="rect">
            <a:avLst/>
          </a:prstGeom>
        </p:spPr>
        <p:txBody>
          <a:bodyPr vert="horz" wrap="square" lIns="0" tIns="143510" rIns="0" bIns="0" rtlCol="0">
            <a:spAutoFit/>
          </a:bodyPr>
          <a:lstStyle/>
          <a:p>
            <a:pPr marL="412750" marR="0" lvl="0" indent="-400050" defTabSz="914400" eaLnBrk="1" fontAlgn="auto" latinLnBrk="0" hangingPunct="1">
              <a:lnSpc>
                <a:spcPct val="100000"/>
              </a:lnSpc>
              <a:spcBef>
                <a:spcPts val="1130"/>
              </a:spcBef>
              <a:spcAft>
                <a:spcPts val="0"/>
              </a:spcAft>
              <a:buClrTx/>
              <a:buSzTx/>
              <a:buFontTx/>
              <a:buAutoNum type="arabicPeriod"/>
              <a:tabLst>
                <a:tab pos="412750" algn="l"/>
              </a:tabLst>
              <a:defRPr/>
            </a:pPr>
            <a:r>
              <a:rPr kumimoji="0" sz="2400" b="0" i="1"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1"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Reason</a:t>
            </a:r>
            <a:r>
              <a:rPr kumimoji="0" sz="2400" b="0" i="1"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It</a:t>
            </a:r>
            <a:r>
              <a:rPr kumimoji="0" sz="2400" b="0" i="1" u="none" strike="noStrike" kern="0" cap="none" spc="-9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All</a:t>
            </a:r>
            <a:r>
              <a:rPr kumimoji="0" sz="2400" b="0" i="1" u="none" strike="noStrike" kern="0" cap="none" spc="-9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Exists</a:t>
            </a:r>
            <a:r>
              <a:rPr kumimoji="0" sz="2400" b="0" i="1"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1"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provide</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value</a:t>
            </a:r>
            <a:r>
              <a:rPr kumimoji="0" sz="2400" b="0" i="0" u="none" strike="noStrike" kern="0" cap="none" spc="10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users.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412750" marR="0" lvl="0" indent="-400050" defTabSz="914400" eaLnBrk="1" fontAlgn="auto" latinLnBrk="0" hangingPunct="1">
              <a:lnSpc>
                <a:spcPct val="100000"/>
              </a:lnSpc>
              <a:spcBef>
                <a:spcPts val="1025"/>
              </a:spcBef>
              <a:spcAft>
                <a:spcPts val="0"/>
              </a:spcAft>
              <a:buClrTx/>
              <a:buSzTx/>
              <a:buFontTx/>
              <a:buAutoNum type="arabicPeriod"/>
              <a:tabLst>
                <a:tab pos="412750" algn="l"/>
              </a:tabLst>
              <a:defRPr/>
            </a:pPr>
            <a:r>
              <a:rPr kumimoji="0" sz="2400" b="0" i="1" u="none" strike="noStrike" kern="0" cap="none" spc="50" normalizeH="0" baseline="0" noProof="0" dirty="0">
                <a:ln>
                  <a:noFill/>
                </a:ln>
                <a:solidFill>
                  <a:sysClr val="windowText" lastClr="000000"/>
                </a:solidFill>
                <a:effectLst/>
                <a:uLnTx/>
                <a:uFillTx/>
                <a:latin typeface="Times New Roman"/>
                <a:cs typeface="Times New Roman"/>
              </a:rPr>
              <a:t>KISS</a:t>
            </a:r>
            <a:r>
              <a:rPr kumimoji="0" sz="2400" b="0" i="1" u="none" strike="noStrike" kern="0" cap="none" spc="-15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(Keep</a:t>
            </a:r>
            <a:r>
              <a:rPr kumimoji="0" sz="2400" b="0" i="1"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It</a:t>
            </a:r>
            <a:r>
              <a:rPr kumimoji="0" sz="2400" b="0" i="1" u="none" strike="noStrike" kern="0" cap="none" spc="-7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Simple,</a:t>
            </a:r>
            <a:r>
              <a:rPr kumimoji="0" sz="2400" b="0" i="1"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Stupid!)</a:t>
            </a:r>
            <a:r>
              <a:rPr kumimoji="0" sz="2400" b="0" i="1"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design</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simple</a:t>
            </a:r>
            <a:r>
              <a:rPr kumimoji="0" sz="2400" b="0" i="0" u="none" strike="noStrike" kern="0" cap="none" spc="1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as</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it</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can</a:t>
            </a:r>
            <a:r>
              <a:rPr kumimoji="0" sz="2400" b="0" i="0" u="none" strike="noStrike" kern="0" cap="none" spc="-7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be.</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412750" marR="0" lvl="0" indent="-400050" defTabSz="914400" eaLnBrk="1" fontAlgn="auto" latinLnBrk="0" hangingPunct="1">
              <a:lnSpc>
                <a:spcPct val="100000"/>
              </a:lnSpc>
              <a:spcBef>
                <a:spcPts val="950"/>
              </a:spcBef>
              <a:spcAft>
                <a:spcPts val="0"/>
              </a:spcAft>
              <a:buClrTx/>
              <a:buSzTx/>
              <a:buFontTx/>
              <a:buAutoNum type="arabicPeriod"/>
              <a:tabLst>
                <a:tab pos="412750" algn="l"/>
              </a:tabLst>
              <a:defRPr/>
            </a:pPr>
            <a:r>
              <a:rPr kumimoji="0" sz="2400" b="0" i="1" u="none" strike="noStrike" kern="0" cap="none" spc="0" normalizeH="0" baseline="0" noProof="0" dirty="0">
                <a:ln>
                  <a:noFill/>
                </a:ln>
                <a:solidFill>
                  <a:sysClr val="windowText" lastClr="000000"/>
                </a:solidFill>
                <a:effectLst/>
                <a:uLnTx/>
                <a:uFillTx/>
                <a:latin typeface="Times New Roman"/>
                <a:cs typeface="Times New Roman"/>
              </a:rPr>
              <a:t>Maintain</a:t>
            </a:r>
            <a:r>
              <a:rPr kumimoji="0" sz="2400" b="0" i="1" u="none" strike="noStrike" kern="0" cap="none" spc="-114"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1"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20" normalizeH="0" baseline="0" noProof="0" dirty="0">
                <a:ln>
                  <a:noFill/>
                </a:ln>
                <a:solidFill>
                  <a:sysClr val="windowText" lastClr="000000"/>
                </a:solidFill>
                <a:effectLst/>
                <a:uLnTx/>
                <a:uFillTx/>
                <a:latin typeface="Times New Roman"/>
                <a:cs typeface="Times New Roman"/>
              </a:rPr>
              <a:t>Vision</a:t>
            </a:r>
            <a:r>
              <a:rPr kumimoji="0" sz="2400" b="0" i="1"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clear</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vision</a:t>
            </a:r>
            <a:r>
              <a:rPr kumimoji="0" sz="2400" b="0" i="0" u="none" strike="noStrike" kern="0" cap="none" spc="1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7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essential.</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412750" marR="0" lvl="0" indent="-400050" defTabSz="914400" eaLnBrk="1" fontAlgn="auto" latinLnBrk="0" hangingPunct="1">
              <a:lnSpc>
                <a:spcPct val="100000"/>
              </a:lnSpc>
              <a:spcBef>
                <a:spcPts val="1025"/>
              </a:spcBef>
              <a:spcAft>
                <a:spcPts val="0"/>
              </a:spcAft>
              <a:buClrTx/>
              <a:buSzTx/>
              <a:buFontTx/>
              <a:buAutoNum type="arabicPeriod"/>
              <a:tabLst>
                <a:tab pos="412750" algn="l"/>
              </a:tabLst>
              <a:defRPr/>
            </a:pPr>
            <a:r>
              <a:rPr kumimoji="0" sz="2400" b="0" i="1" u="none" strike="noStrike" kern="0" cap="none" spc="0" normalizeH="0" baseline="0" noProof="0" dirty="0">
                <a:ln>
                  <a:noFill/>
                </a:ln>
                <a:solidFill>
                  <a:sysClr val="windowText" lastClr="000000"/>
                </a:solidFill>
                <a:effectLst/>
                <a:uLnTx/>
                <a:uFillTx/>
                <a:latin typeface="Times New Roman"/>
                <a:cs typeface="Times New Roman"/>
              </a:rPr>
              <a:t>What</a:t>
            </a:r>
            <a:r>
              <a:rPr kumimoji="0" sz="2400" b="0" i="1" u="none" strike="noStrike" kern="0" cap="none" spc="-85"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45" normalizeH="0" baseline="0" noProof="0" dirty="0">
                <a:ln>
                  <a:noFill/>
                </a:ln>
                <a:solidFill>
                  <a:sysClr val="windowText" lastClr="000000"/>
                </a:solidFill>
                <a:effectLst/>
                <a:uLnTx/>
                <a:uFillTx/>
                <a:latin typeface="Times New Roman"/>
                <a:cs typeface="Times New Roman"/>
              </a:rPr>
              <a:t>You</a:t>
            </a:r>
            <a:r>
              <a:rPr kumimoji="0" sz="2400" b="0" i="1" u="none" strike="noStrike" kern="0" cap="none" spc="-9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Produce,</a:t>
            </a:r>
            <a:r>
              <a:rPr kumimoji="0" sz="2400" b="0" i="1"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Others</a:t>
            </a:r>
            <a:r>
              <a:rPr kumimoji="0" sz="2400" b="0" i="1" u="none" strike="noStrike" kern="0" cap="none" spc="-114"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20" normalizeH="0" baseline="0" noProof="0" dirty="0">
                <a:ln>
                  <a:noFill/>
                </a:ln>
                <a:solidFill>
                  <a:sysClr val="windowText" lastClr="000000"/>
                </a:solidFill>
                <a:effectLst/>
                <a:uLnTx/>
                <a:uFillTx/>
                <a:latin typeface="Times New Roman"/>
                <a:cs typeface="Times New Roman"/>
              </a:rPr>
              <a:t>Will</a:t>
            </a:r>
            <a:r>
              <a:rPr kumimoji="0" sz="2400" b="0" i="1" u="none" strike="noStrike" kern="0" cap="none" spc="-8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10" normalizeH="0" baseline="0" noProof="0" dirty="0">
                <a:ln>
                  <a:noFill/>
                </a:ln>
                <a:solidFill>
                  <a:sysClr val="windowText" lastClr="000000"/>
                </a:solidFill>
                <a:effectLst/>
                <a:uLnTx/>
                <a:uFillTx/>
                <a:latin typeface="Times New Roman"/>
                <a:cs typeface="Times New Roman"/>
              </a:rPr>
              <a:t>Consume.</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412750" marR="0" lvl="0" indent="-400050" defTabSz="914400" eaLnBrk="1" fontAlgn="auto" latinLnBrk="0" hangingPunct="1">
              <a:lnSpc>
                <a:spcPct val="100000"/>
              </a:lnSpc>
              <a:spcBef>
                <a:spcPts val="1025"/>
              </a:spcBef>
              <a:spcAft>
                <a:spcPts val="0"/>
              </a:spcAft>
              <a:buClrTx/>
              <a:buSzTx/>
              <a:buFontTx/>
              <a:buAutoNum type="arabicPeriod"/>
              <a:tabLst>
                <a:tab pos="412750" algn="l"/>
              </a:tabLst>
              <a:defRPr/>
            </a:pPr>
            <a:r>
              <a:rPr kumimoji="0" sz="2400" b="0" i="1" u="none" strike="noStrike" kern="0" cap="none" spc="0" normalizeH="0" baseline="0" noProof="0" dirty="0">
                <a:ln>
                  <a:noFill/>
                </a:ln>
                <a:solidFill>
                  <a:sysClr val="windowText" lastClr="000000"/>
                </a:solidFill>
                <a:effectLst/>
                <a:uLnTx/>
                <a:uFillTx/>
                <a:latin typeface="Times New Roman"/>
                <a:cs typeface="Times New Roman"/>
              </a:rPr>
              <a:t>Be</a:t>
            </a:r>
            <a:r>
              <a:rPr kumimoji="0" sz="2400" b="0" i="1" u="none" strike="noStrike" kern="0" cap="none" spc="-8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Open</a:t>
            </a:r>
            <a:r>
              <a:rPr kumimoji="0" sz="2400" b="0" i="1"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1"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1" u="none" strike="noStrike" kern="0" cap="none" spc="-8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Future</a:t>
            </a:r>
            <a:r>
              <a:rPr kumimoji="0" sz="2400" b="0" i="1"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1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do</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not</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design</a:t>
            </a:r>
            <a:r>
              <a:rPr kumimoji="0" sz="2400" b="0" i="0" u="none" strike="noStrike" kern="0" cap="none" spc="1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yourself</a:t>
            </a:r>
            <a:r>
              <a:rPr kumimoji="0" sz="2400" b="0" i="0" u="none" strike="noStrike" kern="0" cap="none" spc="9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into</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7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corner.</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412750" marR="0" lvl="0" indent="-400050" defTabSz="914400" eaLnBrk="1" fontAlgn="auto" latinLnBrk="0" hangingPunct="1">
              <a:lnSpc>
                <a:spcPct val="100000"/>
              </a:lnSpc>
              <a:spcBef>
                <a:spcPts val="1025"/>
              </a:spcBef>
              <a:spcAft>
                <a:spcPts val="0"/>
              </a:spcAft>
              <a:buClrTx/>
              <a:buSzTx/>
              <a:buFontTx/>
              <a:buAutoNum type="arabicPeriod"/>
              <a:tabLst>
                <a:tab pos="412750" algn="l"/>
              </a:tabLst>
              <a:defRPr/>
            </a:pPr>
            <a:r>
              <a:rPr kumimoji="0" sz="2400" b="0" i="1" u="none" strike="noStrike" kern="0" cap="none" spc="0" normalizeH="0" baseline="0" noProof="0" dirty="0">
                <a:ln>
                  <a:noFill/>
                </a:ln>
                <a:solidFill>
                  <a:sysClr val="windowText" lastClr="000000"/>
                </a:solidFill>
                <a:effectLst/>
                <a:uLnTx/>
                <a:uFillTx/>
                <a:latin typeface="Times New Roman"/>
                <a:cs typeface="Times New Roman"/>
              </a:rPr>
              <a:t>Plan</a:t>
            </a:r>
            <a:r>
              <a:rPr kumimoji="0" sz="2400" b="0" i="1" u="none" strike="noStrike" kern="0" cap="none" spc="-7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Ahead</a:t>
            </a:r>
            <a:r>
              <a:rPr kumimoji="0" sz="2400" b="0" i="1" u="none" strike="noStrike" kern="0" cap="none" spc="-14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for</a:t>
            </a:r>
            <a:r>
              <a:rPr kumimoji="0" sz="2400" b="0" i="1"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1" u="none" strike="noStrike" kern="0" cap="none" spc="0" normalizeH="0" baseline="0" noProof="0" dirty="0">
                <a:ln>
                  <a:noFill/>
                </a:ln>
                <a:solidFill>
                  <a:sysClr val="windowText" lastClr="000000"/>
                </a:solidFill>
                <a:effectLst/>
                <a:uLnTx/>
                <a:uFillTx/>
                <a:latin typeface="Times New Roman"/>
                <a:cs typeface="Times New Roman"/>
              </a:rPr>
              <a:t>Reuse</a:t>
            </a:r>
            <a:r>
              <a:rPr kumimoji="0" sz="2400" b="0" i="1"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7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reduces</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cost</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and increases</a:t>
            </a:r>
            <a:r>
              <a:rPr kumimoji="0" sz="2400" b="0" i="0" u="none" strike="noStrike" kern="0" cap="none" spc="17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value.</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412750" marR="0" lvl="0" indent="-400050" defTabSz="914400" eaLnBrk="1" fontAlgn="auto" latinLnBrk="0" hangingPunct="1">
              <a:lnSpc>
                <a:spcPct val="100000"/>
              </a:lnSpc>
              <a:spcBef>
                <a:spcPts val="950"/>
              </a:spcBef>
              <a:spcAft>
                <a:spcPts val="0"/>
              </a:spcAft>
              <a:buClrTx/>
              <a:buSzTx/>
              <a:buFontTx/>
              <a:buAutoNum type="arabicPeriod"/>
              <a:tabLst>
                <a:tab pos="412750" algn="l"/>
              </a:tabLst>
              <a:defRPr/>
            </a:pPr>
            <a:r>
              <a:rPr kumimoji="0" sz="2400" b="0" i="1" u="none" strike="noStrike" kern="0" cap="none" spc="0" normalizeH="0" baseline="0" noProof="0" dirty="0">
                <a:ln>
                  <a:noFill/>
                </a:ln>
                <a:solidFill>
                  <a:sysClr val="windowText" lastClr="000000"/>
                </a:solidFill>
                <a:effectLst/>
                <a:uLnTx/>
                <a:uFillTx/>
                <a:latin typeface="Times New Roman"/>
                <a:cs typeface="Times New Roman"/>
              </a:rPr>
              <a:t>Think!</a:t>
            </a:r>
            <a:r>
              <a:rPr kumimoji="0" sz="2400" b="0" i="1" u="none" strike="noStrike" kern="0" cap="none" spc="-1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t>
            </a:r>
            <a:r>
              <a:rPr kumimoji="0" sz="2400" b="0" i="0" u="none" strike="noStrike" kern="0" cap="none" spc="-7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placing thought</a:t>
            </a:r>
            <a:r>
              <a:rPr kumimoji="0" sz="2400" b="0" i="0" u="none" strike="noStrike" kern="0" cap="none" spc="19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before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action</a:t>
            </a:r>
            <a:r>
              <a:rPr kumimoji="0" sz="2400" b="0" i="0" u="none" strike="noStrike" kern="0" cap="none" spc="-7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produce</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results.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dirty="0"/>
              <a:t>Identifying</a:t>
            </a:r>
            <a:r>
              <a:rPr spc="25" dirty="0"/>
              <a:t> </a:t>
            </a:r>
            <a:r>
              <a:rPr dirty="0"/>
              <a:t>a</a:t>
            </a:r>
            <a:r>
              <a:rPr spc="-95" dirty="0"/>
              <a:t> </a:t>
            </a:r>
            <a:r>
              <a:rPr spc="-30" dirty="0"/>
              <a:t>Task</a:t>
            </a:r>
            <a:r>
              <a:rPr spc="-90" dirty="0"/>
              <a:t> </a:t>
            </a:r>
            <a:r>
              <a:rPr spc="-25" dirty="0"/>
              <a:t>Set</a:t>
            </a:r>
          </a:p>
        </p:txBody>
      </p:sp>
      <p:sp>
        <p:nvSpPr>
          <p:cNvPr id="4" name="object 4"/>
          <p:cNvSpPr txBox="1">
            <a:spLocks noGrp="1"/>
          </p:cNvSpPr>
          <p:nvPr>
            <p:ph type="sldNum" sz="quarter" idx="7"/>
          </p:nvPr>
        </p:nvSpPr>
        <p:spPr>
          <a:prstGeom prst="rect">
            <a:avLst/>
          </a:prstGeom>
        </p:spPr>
        <p:txBody>
          <a:bodyPr vert="horz" wrap="square" lIns="0" tIns="4445" rIns="0" bIns="0" rtlCol="0">
            <a:spAutoFit/>
          </a:bodyPr>
          <a:lstStyle/>
          <a:p>
            <a:pPr marL="69850" marR="0" lvl="0" indent="0" defTabSz="914400" eaLnBrk="1" fontAlgn="auto" latinLnBrk="0" hangingPunct="1">
              <a:lnSpc>
                <a:spcPct val="100000"/>
              </a:lnSpc>
              <a:spcBef>
                <a:spcPts val="35"/>
              </a:spcBef>
              <a:spcAft>
                <a:spcPts val="0"/>
              </a:spcAft>
              <a:buClrTx/>
              <a:buSzTx/>
              <a:buFontTx/>
              <a:buNone/>
              <a:tabLst/>
              <a:defRPr/>
            </a:pPr>
            <a:fld id="{81D60167-4931-47E6-BA6A-407CBD079E47}" type="slidenum">
              <a:rPr kumimoji="0" sz="800" b="0" i="0" u="none" strike="noStrike" kern="0" cap="none" spc="-50" normalizeH="0" baseline="0" noProof="0" dirty="0">
                <a:ln>
                  <a:noFill/>
                </a:ln>
                <a:solidFill>
                  <a:srgbClr val="585858"/>
                </a:solidFill>
                <a:effectLst/>
                <a:uLnTx/>
                <a:uFillTx/>
                <a:latin typeface="Times New Roman"/>
                <a:cs typeface="Times New Roman"/>
              </a:rPr>
              <a:pPr marL="69850" marR="0" lvl="0" indent="0" defTabSz="914400" eaLnBrk="1" fontAlgn="auto" latinLnBrk="0" hangingPunct="1">
                <a:lnSpc>
                  <a:spcPct val="100000"/>
                </a:lnSpc>
                <a:spcBef>
                  <a:spcPts val="35"/>
                </a:spcBef>
                <a:spcAft>
                  <a:spcPts val="0"/>
                </a:spcAft>
                <a:buClrTx/>
                <a:buSzTx/>
                <a:buFontTx/>
                <a:buNone/>
                <a:tabLst/>
                <a:defRPr/>
              </a:pPr>
              <a:t>7</a:t>
            </a:fld>
            <a:endParaRPr kumimoji="0" sz="800" b="0" i="0" u="none" strike="noStrike" kern="0" cap="none" spc="-50" normalizeH="0" baseline="0" noProof="0" dirty="0">
              <a:ln>
                <a:noFill/>
              </a:ln>
              <a:solidFill>
                <a:srgbClr val="585858"/>
              </a:solidFill>
              <a:effectLst/>
              <a:uLnTx/>
              <a:uFillTx/>
              <a:latin typeface="Times New Roman"/>
              <a:cs typeface="Times New Roman"/>
            </a:endParaRPr>
          </a:p>
        </p:txBody>
      </p:sp>
      <p:sp>
        <p:nvSpPr>
          <p:cNvPr id="5" name="object 5"/>
          <p:cNvSpPr txBox="1">
            <a:spLocks noGrp="1"/>
          </p:cNvSpPr>
          <p:nvPr>
            <p:ph type="ftr" sz="quarter" idx="5"/>
          </p:nvPr>
        </p:nvSpPr>
        <p:spPr>
          <a:prstGeom prst="rect">
            <a:avLst/>
          </a:prstGeom>
        </p:spPr>
        <p:txBody>
          <a:bodyPr vert="horz" wrap="square" lIns="0" tIns="4445" rIns="0" bIns="0" rtlCol="0">
            <a:spAutoFit/>
          </a:bodyPr>
          <a:lstStyle/>
          <a:p>
            <a:pPr marL="12700" marR="0" lvl="0" indent="0" defTabSz="914400" eaLnBrk="1" fontAlgn="auto" latinLnBrk="0" hangingPunct="1">
              <a:lnSpc>
                <a:spcPct val="100000"/>
              </a:lnSpc>
              <a:spcBef>
                <a:spcPts val="35"/>
              </a:spcBef>
              <a:spcAft>
                <a:spcPts val="0"/>
              </a:spcAft>
              <a:buClrTx/>
              <a:buSzTx/>
              <a:buFontTx/>
              <a:buNone/>
              <a:tabLst/>
              <a:defRPr/>
            </a:pPr>
            <a:r>
              <a:rPr kumimoji="0" sz="800" b="0" i="0" u="none" strike="noStrike" kern="0" cap="none" spc="0" normalizeH="0" baseline="0" noProof="0" dirty="0">
                <a:ln>
                  <a:noFill/>
                </a:ln>
                <a:solidFill>
                  <a:srgbClr val="585858"/>
                </a:solidFill>
                <a:effectLst/>
                <a:uLnTx/>
                <a:uFillTx/>
                <a:latin typeface="Times New Roman"/>
                <a:cs typeface="Times New Roman"/>
              </a:rPr>
              <a:t>©</a:t>
            </a:r>
            <a:r>
              <a:rPr kumimoji="0" sz="800" b="0" i="0" u="none" strike="noStrike" kern="0" cap="none" spc="45" normalizeH="0" baseline="0" noProof="0" dirty="0">
                <a:ln>
                  <a:noFill/>
                </a:ln>
                <a:solidFill>
                  <a:srgbClr val="585858"/>
                </a:solidFill>
                <a:effectLst/>
                <a:uLnTx/>
                <a:uFillTx/>
                <a:latin typeface="Times New Roman"/>
                <a:cs typeface="Times New Roman"/>
              </a:rPr>
              <a:t> </a:t>
            </a:r>
            <a:r>
              <a:rPr kumimoji="0" sz="800" b="0" i="0" u="none" strike="noStrike" kern="0" cap="none" spc="0" normalizeH="0" baseline="0" noProof="0" dirty="0">
                <a:ln>
                  <a:noFill/>
                </a:ln>
                <a:solidFill>
                  <a:srgbClr val="585858"/>
                </a:solidFill>
                <a:effectLst/>
                <a:uLnTx/>
                <a:uFillTx/>
                <a:latin typeface="Times New Roman"/>
                <a:cs typeface="Times New Roman"/>
              </a:rPr>
              <a:t>McGraw</a:t>
            </a:r>
            <a:r>
              <a:rPr kumimoji="0" sz="800" b="0" i="0" u="none" strike="noStrike" kern="0" cap="none" spc="-105" normalizeH="0" baseline="0" noProof="0" dirty="0">
                <a:ln>
                  <a:noFill/>
                </a:ln>
                <a:solidFill>
                  <a:srgbClr val="585858"/>
                </a:solidFill>
                <a:effectLst/>
                <a:uLnTx/>
                <a:uFillTx/>
                <a:latin typeface="Times New Roman"/>
                <a:cs typeface="Times New Roman"/>
              </a:rPr>
              <a:t> </a:t>
            </a:r>
            <a:r>
              <a:rPr kumimoji="0" sz="800" b="0" i="0" u="none" strike="noStrike" kern="0" cap="none" spc="-20" normalizeH="0" baseline="0" noProof="0" dirty="0">
                <a:ln>
                  <a:noFill/>
                </a:ln>
                <a:solidFill>
                  <a:srgbClr val="585858"/>
                </a:solidFill>
                <a:effectLst/>
                <a:uLnTx/>
                <a:uFillTx/>
                <a:latin typeface="Times New Roman"/>
                <a:cs typeface="Times New Roman"/>
              </a:rPr>
              <a:t>Hill</a:t>
            </a:r>
          </a:p>
        </p:txBody>
      </p:sp>
      <p:sp>
        <p:nvSpPr>
          <p:cNvPr id="3" name="object 3"/>
          <p:cNvSpPr txBox="1"/>
          <p:nvPr/>
        </p:nvSpPr>
        <p:spPr>
          <a:xfrm>
            <a:off x="421957" y="1293812"/>
            <a:ext cx="7687945" cy="3272154"/>
          </a:xfrm>
          <a:prstGeom prst="rect">
            <a:avLst/>
          </a:prstGeom>
        </p:spPr>
        <p:txBody>
          <a:bodyPr vert="horz" wrap="square" lIns="0" tIns="12700" rIns="0" bIns="0" rtlCol="0">
            <a:spAutoFit/>
          </a:bodyPr>
          <a:lstStyle/>
          <a:p>
            <a:pPr marL="12700" marR="0" lvl="0" indent="0" defTabSz="914400" eaLnBrk="1" fontAlgn="auto" latinLnBrk="0" hangingPunct="1">
              <a:lnSpc>
                <a:spcPts val="2865"/>
              </a:lnSpc>
              <a:spcBef>
                <a:spcPts val="100"/>
              </a:spcBef>
              <a:spcAft>
                <a:spcPts val="0"/>
              </a:spcAft>
              <a:buClrTx/>
              <a:buSzTx/>
              <a:buFontTx/>
              <a:buNone/>
              <a:tabLst/>
              <a:defRPr/>
            </a:pPr>
            <a:r>
              <a:rPr kumimoji="0" sz="2400" b="0" i="0" u="none" strike="noStrike" kern="0" cap="none" spc="-25"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1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task</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set</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defines</a:t>
            </a:r>
            <a:r>
              <a:rPr kumimoji="0" sz="2400" b="0" i="0" u="none" strike="noStrike" kern="0" cap="none" spc="10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actual work</a:t>
            </a:r>
            <a:r>
              <a:rPr kumimoji="0" sz="24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be</a:t>
            </a:r>
            <a:r>
              <a:rPr kumimoji="0" sz="2400" b="0" i="0" u="none" strike="noStrike" kern="0" cap="none" spc="-7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done</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7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accomplish</a:t>
            </a:r>
            <a:r>
              <a:rPr kumimoji="0" sz="2400" b="0" i="0" u="none" strike="noStrike" kern="0" cap="none" spc="1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the</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12700" marR="0" lvl="0" indent="0" defTabSz="914400" eaLnBrk="1" fontAlgn="auto" latinLnBrk="0" hangingPunct="1">
              <a:lnSpc>
                <a:spcPts val="2865"/>
              </a:lnSpc>
              <a:spcBef>
                <a:spcPts val="0"/>
              </a:spcBef>
              <a:spcAft>
                <a:spcPts val="0"/>
              </a:spcAft>
              <a:buClrTx/>
              <a:buSzTx/>
              <a:buFontTx/>
              <a:buNone/>
              <a:tabLst/>
              <a:defRPr/>
            </a:pPr>
            <a:r>
              <a:rPr kumimoji="0" sz="2400" b="0" i="0" u="none" strike="noStrike" kern="0" cap="none" spc="0" normalizeH="0" baseline="0" noProof="0" dirty="0">
                <a:ln>
                  <a:noFill/>
                </a:ln>
                <a:solidFill>
                  <a:sysClr val="windowText" lastClr="000000"/>
                </a:solidFill>
                <a:effectLst/>
                <a:uLnTx/>
                <a:uFillTx/>
                <a:latin typeface="Times New Roman"/>
                <a:cs typeface="Times New Roman"/>
              </a:rPr>
              <a:t>objectives</a:t>
            </a:r>
            <a:r>
              <a:rPr kumimoji="0" sz="24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10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software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engineering</a:t>
            </a:r>
            <a:r>
              <a:rPr kumimoji="0" sz="2400" b="0" i="0" u="none" strike="noStrike" kern="0" cap="none" spc="1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action.</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0" marR="0" lvl="0" indent="0" defTabSz="914400" eaLnBrk="1" fontAlgn="auto" latinLnBrk="0" hangingPunct="1">
              <a:lnSpc>
                <a:spcPct val="100000"/>
              </a:lnSpc>
              <a:spcBef>
                <a:spcPts val="1725"/>
              </a:spcBef>
              <a:spcAft>
                <a:spcPts val="0"/>
              </a:spcAft>
              <a:buClrTx/>
              <a:buSzTx/>
              <a:buFontTx/>
              <a:buNone/>
              <a:tabLst/>
              <a:defRPr/>
            </a:pP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12700" marR="0" lvl="0" indent="0" defTabSz="914400" eaLnBrk="1" fontAlgn="auto" latinLnBrk="0" hangingPunct="1">
              <a:lnSpc>
                <a:spcPct val="100000"/>
              </a:lnSpc>
              <a:spcBef>
                <a:spcPts val="0"/>
              </a:spcBef>
              <a:spcAft>
                <a:spcPts val="0"/>
              </a:spcAft>
              <a:buClrTx/>
              <a:buSzTx/>
              <a:buFontTx/>
              <a:buNone/>
              <a:tabLst/>
              <a:defRPr/>
            </a:pPr>
            <a:r>
              <a:rPr kumimoji="0" sz="2400" b="0" i="0" u="none" strike="noStrike" kern="0" cap="none" spc="-25"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1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task</a:t>
            </a:r>
            <a:r>
              <a:rPr kumimoji="0" sz="24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set</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defined</a:t>
            </a:r>
            <a:r>
              <a:rPr kumimoji="0" sz="24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by</a:t>
            </a:r>
            <a:r>
              <a:rPr kumimoji="0" sz="2400" b="0" i="0" u="none" strike="noStrike" kern="0" cap="none" spc="-8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creating</a:t>
            </a:r>
            <a:r>
              <a:rPr kumimoji="0" sz="2400" b="0" i="0" u="none" strike="noStrike" kern="0" cap="none" spc="-8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several</a:t>
            </a:r>
            <a:r>
              <a:rPr kumimoji="0" sz="2400" b="0" i="0" u="none" strike="noStrike" kern="0" cap="none" spc="1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lists:</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07975" marR="0" lvl="0" indent="-295275" defTabSz="914400" eaLnBrk="1" fontAlgn="auto" latinLnBrk="0" hangingPunct="1">
              <a:lnSpc>
                <a:spcPct val="100000"/>
              </a:lnSpc>
              <a:spcBef>
                <a:spcPts val="1850"/>
              </a:spcBef>
              <a:spcAft>
                <a:spcPts val="0"/>
              </a:spcAft>
              <a:buClrTx/>
              <a:buSzTx/>
              <a:buFont typeface="Arial MT"/>
              <a:buChar char="•"/>
              <a:tabLst>
                <a:tab pos="307975" algn="l"/>
              </a:tabLst>
              <a:defRPr/>
            </a:pPr>
            <a:r>
              <a:rPr kumimoji="0" sz="2400" b="0" i="0" u="none" strike="noStrike" kern="0" cap="none" spc="-25"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1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list of</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tasks</a:t>
            </a:r>
            <a:r>
              <a:rPr kumimoji="0" sz="24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be</a:t>
            </a:r>
            <a:r>
              <a:rPr kumimoji="0" sz="24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accomplished.</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07975" marR="0" lvl="0" indent="-295275" defTabSz="914400" eaLnBrk="1" fontAlgn="auto" latinLnBrk="0" hangingPunct="1">
              <a:lnSpc>
                <a:spcPct val="100000"/>
              </a:lnSpc>
              <a:spcBef>
                <a:spcPts val="1025"/>
              </a:spcBef>
              <a:spcAft>
                <a:spcPts val="0"/>
              </a:spcAft>
              <a:buClrTx/>
              <a:buSzTx/>
              <a:buFont typeface="Arial MT"/>
              <a:buChar char="•"/>
              <a:tabLst>
                <a:tab pos="307975" algn="l"/>
              </a:tabLst>
              <a:defRPr/>
            </a:pPr>
            <a:r>
              <a:rPr kumimoji="0" sz="2400" b="0" i="0" u="none" strike="noStrike" kern="0" cap="none" spc="-25"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1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list</a:t>
            </a:r>
            <a:r>
              <a:rPr kumimoji="0" sz="24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work</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products</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be</a:t>
            </a:r>
            <a:r>
              <a:rPr kumimoji="0" sz="24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produced.</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a:p>
            <a:pPr marL="307975" marR="0" lvl="0" indent="-295275" defTabSz="914400" eaLnBrk="1" fontAlgn="auto" latinLnBrk="0" hangingPunct="1">
              <a:lnSpc>
                <a:spcPct val="100000"/>
              </a:lnSpc>
              <a:spcBef>
                <a:spcPts val="950"/>
              </a:spcBef>
              <a:spcAft>
                <a:spcPts val="0"/>
              </a:spcAft>
              <a:buClrTx/>
              <a:buSzTx/>
              <a:buFont typeface="Arial MT"/>
              <a:buChar char="•"/>
              <a:tabLst>
                <a:tab pos="307975" algn="l"/>
              </a:tabLst>
              <a:defRPr/>
            </a:pPr>
            <a:r>
              <a:rPr kumimoji="0" sz="2400" b="0" i="0" u="none" strike="noStrike" kern="0" cap="none" spc="-25" normalizeH="0" baseline="0" noProof="0" dirty="0">
                <a:ln>
                  <a:noFill/>
                </a:ln>
                <a:solidFill>
                  <a:sysClr val="windowText" lastClr="000000"/>
                </a:solidFill>
                <a:effectLst/>
                <a:uLnTx/>
                <a:uFillTx/>
                <a:latin typeface="Times New Roman"/>
                <a:cs typeface="Times New Roman"/>
              </a:rPr>
              <a:t>A</a:t>
            </a:r>
            <a:r>
              <a:rPr kumimoji="0" sz="2400" b="0" i="0" u="none" strike="noStrike" kern="0" cap="none" spc="-1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list</a:t>
            </a:r>
            <a:r>
              <a:rPr kumimoji="0" sz="24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24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quality</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assurance</a:t>
            </a:r>
            <a:r>
              <a:rPr kumimoji="0" sz="2400" b="0" i="0" u="none" strike="noStrike" kern="0" cap="none" spc="26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filters</a:t>
            </a:r>
            <a:r>
              <a:rPr kumimoji="0" sz="24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2400" b="0" i="0" u="none" strike="noStrike" kern="0" cap="none" spc="-130"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0" normalizeH="0" baseline="0" noProof="0" dirty="0">
                <a:ln>
                  <a:noFill/>
                </a:ln>
                <a:solidFill>
                  <a:sysClr val="windowText" lastClr="000000"/>
                </a:solidFill>
                <a:effectLst/>
                <a:uLnTx/>
                <a:uFillTx/>
                <a:latin typeface="Times New Roman"/>
                <a:cs typeface="Times New Roman"/>
              </a:rPr>
              <a:t>be</a:t>
            </a:r>
            <a:r>
              <a:rPr kumimoji="0" sz="24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2400" b="0" i="0" u="none" strike="noStrike" kern="0" cap="none" spc="-10" normalizeH="0" baseline="0" noProof="0" dirty="0">
                <a:ln>
                  <a:noFill/>
                </a:ln>
                <a:solidFill>
                  <a:sysClr val="windowText" lastClr="000000"/>
                </a:solidFill>
                <a:effectLst/>
                <a:uLnTx/>
                <a:uFillTx/>
                <a:latin typeface="Times New Roman"/>
                <a:cs typeface="Times New Roman"/>
              </a:rPr>
              <a:t>applied.</a:t>
            </a:r>
            <a:endParaRPr kumimoji="0" sz="2400" b="0" i="0" u="none" strike="noStrike" kern="0" cap="none" spc="0" normalizeH="0" baseline="0" noProof="0">
              <a:ln>
                <a:noFill/>
              </a:ln>
              <a:solidFill>
                <a:sysClr val="windowText" lastClr="000000"/>
              </a:solidFill>
              <a:effectLst/>
              <a:uLnTx/>
              <a:uFillTx/>
              <a:latin typeface="Times New Roman"/>
              <a:cs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dirty="0"/>
              <a:t>Waterfall</a:t>
            </a:r>
            <a:r>
              <a:rPr spc="-90" dirty="0"/>
              <a:t> </a:t>
            </a:r>
            <a:r>
              <a:rPr dirty="0"/>
              <a:t>Process</a:t>
            </a:r>
            <a:r>
              <a:rPr spc="-75" dirty="0"/>
              <a:t> </a:t>
            </a:r>
            <a:r>
              <a:rPr spc="-10" dirty="0"/>
              <a:t>Model</a:t>
            </a:r>
          </a:p>
        </p:txBody>
      </p:sp>
      <p:pic>
        <p:nvPicPr>
          <p:cNvPr id="3" name="object 3"/>
          <p:cNvPicPr/>
          <p:nvPr/>
        </p:nvPicPr>
        <p:blipFill>
          <a:blip r:embed="rId2" cstate="print"/>
          <a:stretch>
            <a:fillRect/>
          </a:stretch>
        </p:blipFill>
        <p:spPr>
          <a:xfrm>
            <a:off x="485775" y="1143000"/>
            <a:ext cx="8153400" cy="1914525"/>
          </a:xfrm>
          <a:prstGeom prst="rect">
            <a:avLst/>
          </a:prstGeom>
        </p:spPr>
      </p:pic>
      <p:sp>
        <p:nvSpPr>
          <p:cNvPr id="4" name="object 4"/>
          <p:cNvSpPr txBox="1"/>
          <p:nvPr/>
        </p:nvSpPr>
        <p:spPr>
          <a:xfrm>
            <a:off x="2491104" y="3189922"/>
            <a:ext cx="4347845" cy="2934970"/>
          </a:xfrm>
          <a:prstGeom prst="rect">
            <a:avLst/>
          </a:prstGeom>
        </p:spPr>
        <p:txBody>
          <a:bodyPr vert="horz" wrap="square" lIns="0" tIns="12700" rIns="0" bIns="0" rtlCol="0">
            <a:spAutoFit/>
          </a:bodyPr>
          <a:lstStyle/>
          <a:p>
            <a:pPr marL="20955" marR="0" lvl="0" indent="0" defTabSz="914400" eaLnBrk="1" fontAlgn="auto" latinLnBrk="0" hangingPunct="1">
              <a:lnSpc>
                <a:spcPct val="100000"/>
              </a:lnSpc>
              <a:spcBef>
                <a:spcPts val="100"/>
              </a:spcBef>
              <a:spcAft>
                <a:spcPts val="0"/>
              </a:spcAft>
              <a:buClrTx/>
              <a:buSzTx/>
              <a:buFontTx/>
              <a:buNone/>
              <a:tabLst/>
              <a:defRPr/>
            </a:pPr>
            <a:r>
              <a:rPr kumimoji="0" sz="1800" b="1" i="0" u="none" strike="noStrike" kern="0" cap="none" spc="-20" normalizeH="0" baseline="0" noProof="0" dirty="0">
                <a:ln>
                  <a:noFill/>
                </a:ln>
                <a:solidFill>
                  <a:sysClr val="windowText" lastClr="000000"/>
                </a:solidFill>
                <a:effectLst/>
                <a:uLnTx/>
                <a:uFillTx/>
                <a:latin typeface="Times New Roman"/>
                <a:cs typeface="Times New Roman"/>
              </a:rPr>
              <a:t>Pros</a:t>
            </a:r>
            <a:endParaRPr kumimoji="0" sz="1800" b="0" i="0" u="none" strike="noStrike" kern="0" cap="none" spc="0" normalizeH="0" baseline="0" noProof="0">
              <a:ln>
                <a:noFill/>
              </a:ln>
              <a:solidFill>
                <a:sysClr val="windowText" lastClr="000000"/>
              </a:solidFill>
              <a:effectLst/>
              <a:uLnTx/>
              <a:uFillTx/>
              <a:latin typeface="Times New Roman"/>
              <a:cs typeface="Times New Roman"/>
            </a:endParaRPr>
          </a:p>
          <a:p>
            <a:pPr marL="316230" marR="0" lvl="0" indent="-295275" defTabSz="914400" eaLnBrk="1" fontAlgn="auto" latinLnBrk="0" hangingPunct="1">
              <a:lnSpc>
                <a:spcPct val="100000"/>
              </a:lnSpc>
              <a:spcBef>
                <a:spcPts val="1295"/>
              </a:spcBef>
              <a:spcAft>
                <a:spcPts val="0"/>
              </a:spcAft>
              <a:buClrTx/>
              <a:buSzTx/>
              <a:buFont typeface="Arial MT"/>
              <a:buChar char="•"/>
              <a:tabLst>
                <a:tab pos="316230" algn="l"/>
              </a:tabLst>
              <a:defRPr/>
            </a:pPr>
            <a:r>
              <a:rPr kumimoji="0" sz="1800" b="0" i="0" u="none" strike="noStrike" kern="0" cap="none" spc="0" normalizeH="0" baseline="0" noProof="0" dirty="0">
                <a:ln>
                  <a:noFill/>
                </a:ln>
                <a:solidFill>
                  <a:sysClr val="windowText" lastClr="000000"/>
                </a:solidFill>
                <a:effectLst/>
                <a:uLnTx/>
                <a:uFillTx/>
                <a:latin typeface="Times New Roman"/>
                <a:cs typeface="Times New Roman"/>
              </a:rPr>
              <a:t>It</a:t>
            </a:r>
            <a:r>
              <a:rPr kumimoji="0" sz="18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18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easy</a:t>
            </a:r>
            <a:r>
              <a:rPr kumimoji="0" sz="18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18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understand</a:t>
            </a:r>
            <a:r>
              <a:rPr kumimoji="0" sz="18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and</a:t>
            </a:r>
            <a:r>
              <a:rPr kumimoji="0" sz="18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20" normalizeH="0" baseline="0" noProof="0" dirty="0">
                <a:ln>
                  <a:noFill/>
                </a:ln>
                <a:solidFill>
                  <a:sysClr val="windowText" lastClr="000000"/>
                </a:solidFill>
                <a:effectLst/>
                <a:uLnTx/>
                <a:uFillTx/>
                <a:latin typeface="Times New Roman"/>
                <a:cs typeface="Times New Roman"/>
              </a:rPr>
              <a:t>plan.</a:t>
            </a:r>
            <a:endParaRPr kumimoji="0" sz="1800" b="0" i="0" u="none" strike="noStrike" kern="0" cap="none" spc="0" normalizeH="0" baseline="0" noProof="0">
              <a:ln>
                <a:noFill/>
              </a:ln>
              <a:solidFill>
                <a:sysClr val="windowText" lastClr="000000"/>
              </a:solidFill>
              <a:effectLst/>
              <a:uLnTx/>
              <a:uFillTx/>
              <a:latin typeface="Times New Roman"/>
              <a:cs typeface="Times New Roman"/>
            </a:endParaRPr>
          </a:p>
          <a:p>
            <a:pPr marL="316230" marR="0" lvl="0" indent="-295275" defTabSz="914400" eaLnBrk="1" fontAlgn="auto" latinLnBrk="0" hangingPunct="1">
              <a:lnSpc>
                <a:spcPct val="100000"/>
              </a:lnSpc>
              <a:spcBef>
                <a:spcPts val="545"/>
              </a:spcBef>
              <a:spcAft>
                <a:spcPts val="0"/>
              </a:spcAft>
              <a:buClrTx/>
              <a:buSzTx/>
              <a:buFont typeface="Arial MT"/>
              <a:buChar char="•"/>
              <a:tabLst>
                <a:tab pos="316230" algn="l"/>
              </a:tabLst>
              <a:defRPr/>
            </a:pPr>
            <a:r>
              <a:rPr kumimoji="0" sz="1800" b="0" i="0" u="none" strike="noStrike" kern="0" cap="none" spc="0" normalizeH="0" baseline="0" noProof="0" dirty="0">
                <a:ln>
                  <a:noFill/>
                </a:ln>
                <a:solidFill>
                  <a:sysClr val="windowText" lastClr="000000"/>
                </a:solidFill>
                <a:effectLst/>
                <a:uLnTx/>
                <a:uFillTx/>
                <a:latin typeface="Times New Roman"/>
                <a:cs typeface="Times New Roman"/>
              </a:rPr>
              <a:t>It</a:t>
            </a:r>
            <a:r>
              <a:rPr kumimoji="0" sz="18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works</a:t>
            </a:r>
            <a:r>
              <a:rPr kumimoji="0" sz="18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for</a:t>
            </a:r>
            <a:r>
              <a:rPr kumimoji="0" sz="18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30" normalizeH="0" baseline="0" noProof="0" dirty="0">
                <a:ln>
                  <a:noFill/>
                </a:ln>
                <a:solidFill>
                  <a:sysClr val="windowText" lastClr="000000"/>
                </a:solidFill>
                <a:effectLst/>
                <a:uLnTx/>
                <a:uFillTx/>
                <a:latin typeface="Times New Roman"/>
                <a:cs typeface="Times New Roman"/>
              </a:rPr>
              <a:t>well-</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understood</a:t>
            </a:r>
            <a:r>
              <a:rPr kumimoji="0" sz="18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small</a:t>
            </a:r>
            <a:r>
              <a:rPr kumimoji="0" sz="1800" b="0" i="0" u="none" strike="noStrike" kern="0" cap="none" spc="8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10" normalizeH="0" baseline="0" noProof="0" dirty="0">
                <a:ln>
                  <a:noFill/>
                </a:ln>
                <a:solidFill>
                  <a:sysClr val="windowText" lastClr="000000"/>
                </a:solidFill>
                <a:effectLst/>
                <a:uLnTx/>
                <a:uFillTx/>
                <a:latin typeface="Times New Roman"/>
                <a:cs typeface="Times New Roman"/>
              </a:rPr>
              <a:t>projects.</a:t>
            </a:r>
            <a:endParaRPr kumimoji="0" sz="1800" b="0" i="0" u="none" strike="noStrike" kern="0" cap="none" spc="0" normalizeH="0" baseline="0" noProof="0">
              <a:ln>
                <a:noFill/>
              </a:ln>
              <a:solidFill>
                <a:sysClr val="windowText" lastClr="000000"/>
              </a:solidFill>
              <a:effectLst/>
              <a:uLnTx/>
              <a:uFillTx/>
              <a:latin typeface="Times New Roman"/>
              <a:cs typeface="Times New Roman"/>
            </a:endParaRPr>
          </a:p>
          <a:p>
            <a:pPr marL="316230" marR="0" lvl="0" indent="-295275" defTabSz="914400" eaLnBrk="1" fontAlgn="auto" latinLnBrk="0" hangingPunct="1">
              <a:lnSpc>
                <a:spcPct val="100000"/>
              </a:lnSpc>
              <a:spcBef>
                <a:spcPts val="470"/>
              </a:spcBef>
              <a:spcAft>
                <a:spcPts val="0"/>
              </a:spcAft>
              <a:buClrTx/>
              <a:buSzTx/>
              <a:buFont typeface="Arial MT"/>
              <a:buChar char="•"/>
              <a:tabLst>
                <a:tab pos="316230" algn="l"/>
              </a:tabLst>
              <a:defRPr/>
            </a:pPr>
            <a:r>
              <a:rPr kumimoji="0" sz="1800" b="0" i="0" u="none" strike="noStrike" kern="0" cap="none" spc="0" normalizeH="0" baseline="0" noProof="0" dirty="0">
                <a:ln>
                  <a:noFill/>
                </a:ln>
                <a:solidFill>
                  <a:sysClr val="windowText" lastClr="000000"/>
                </a:solidFill>
                <a:effectLst/>
                <a:uLnTx/>
                <a:uFillTx/>
                <a:latin typeface="Times New Roman"/>
                <a:cs typeface="Times New Roman"/>
              </a:rPr>
              <a:t>Analysis</a:t>
            </a:r>
            <a:r>
              <a:rPr kumimoji="0" sz="1800" b="0" i="0" u="none" strike="noStrike" kern="0" cap="none" spc="8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and</a:t>
            </a:r>
            <a:r>
              <a:rPr kumimoji="0" sz="18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testing</a:t>
            </a:r>
            <a:r>
              <a:rPr kumimoji="0" sz="18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are</a:t>
            </a:r>
            <a:r>
              <a:rPr kumimoji="0" sz="1800" b="0" i="0" u="none" strike="noStrike" kern="0" cap="none" spc="-7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10" normalizeH="0" baseline="0" noProof="0" dirty="0">
                <a:ln>
                  <a:noFill/>
                </a:ln>
                <a:solidFill>
                  <a:sysClr val="windowText" lastClr="000000"/>
                </a:solidFill>
                <a:effectLst/>
                <a:uLnTx/>
                <a:uFillTx/>
                <a:latin typeface="Times New Roman"/>
                <a:cs typeface="Times New Roman"/>
              </a:rPr>
              <a:t>straightforward.</a:t>
            </a:r>
            <a:endParaRPr kumimoji="0" sz="1800" b="0" i="0" u="none" strike="noStrike" kern="0" cap="none" spc="0" normalizeH="0" baseline="0" noProof="0">
              <a:ln>
                <a:noFill/>
              </a:ln>
              <a:solidFill>
                <a:sysClr val="windowText" lastClr="000000"/>
              </a:solidFill>
              <a:effectLst/>
              <a:uLnTx/>
              <a:uFillTx/>
              <a:latin typeface="Times New Roman"/>
              <a:cs typeface="Times New Roman"/>
            </a:endParaRPr>
          </a:p>
          <a:p>
            <a:pPr marL="12700" marR="0" lvl="0" indent="0" defTabSz="914400" eaLnBrk="1" fontAlgn="auto" latinLnBrk="0" hangingPunct="1">
              <a:lnSpc>
                <a:spcPct val="100000"/>
              </a:lnSpc>
              <a:spcBef>
                <a:spcPts val="1050"/>
              </a:spcBef>
              <a:spcAft>
                <a:spcPts val="0"/>
              </a:spcAft>
              <a:buClrTx/>
              <a:buSzTx/>
              <a:buFontTx/>
              <a:buNone/>
              <a:tabLst/>
              <a:defRPr/>
            </a:pPr>
            <a:r>
              <a:rPr kumimoji="0" sz="1700" b="1" i="0" u="none" strike="noStrike" kern="0" cap="none" spc="-20" normalizeH="0" baseline="0" noProof="0" dirty="0">
                <a:ln>
                  <a:noFill/>
                </a:ln>
                <a:solidFill>
                  <a:sysClr val="windowText" lastClr="000000"/>
                </a:solidFill>
                <a:effectLst/>
                <a:uLnTx/>
                <a:uFillTx/>
                <a:latin typeface="Times New Roman"/>
                <a:cs typeface="Times New Roman"/>
              </a:rPr>
              <a:t>Cons</a:t>
            </a:r>
            <a:endParaRPr kumimoji="0" sz="1700" b="0" i="0" u="none" strike="noStrike" kern="0" cap="none" spc="0" normalizeH="0" baseline="0" noProof="0">
              <a:ln>
                <a:noFill/>
              </a:ln>
              <a:solidFill>
                <a:sysClr val="windowText" lastClr="000000"/>
              </a:solidFill>
              <a:effectLst/>
              <a:uLnTx/>
              <a:uFillTx/>
              <a:latin typeface="Times New Roman"/>
              <a:cs typeface="Times New Roman"/>
            </a:endParaRPr>
          </a:p>
          <a:p>
            <a:pPr marL="307975" marR="0" lvl="0" indent="-295275" defTabSz="914400" eaLnBrk="1" fontAlgn="auto" latinLnBrk="0" hangingPunct="1">
              <a:lnSpc>
                <a:spcPct val="100000"/>
              </a:lnSpc>
              <a:spcBef>
                <a:spcPts val="1335"/>
              </a:spcBef>
              <a:spcAft>
                <a:spcPts val="0"/>
              </a:spcAft>
              <a:buClrTx/>
              <a:buSzTx/>
              <a:buFont typeface="Arial MT"/>
              <a:buChar char="•"/>
              <a:tabLst>
                <a:tab pos="307975" algn="l"/>
              </a:tabLst>
              <a:defRPr/>
            </a:pPr>
            <a:r>
              <a:rPr kumimoji="0" sz="1700" b="0" i="0" u="none" strike="noStrike" kern="0" cap="none" spc="0" normalizeH="0" baseline="0" noProof="0" dirty="0">
                <a:ln>
                  <a:noFill/>
                </a:ln>
                <a:solidFill>
                  <a:sysClr val="windowText" lastClr="000000"/>
                </a:solidFill>
                <a:effectLst/>
                <a:uLnTx/>
                <a:uFillTx/>
                <a:latin typeface="Times New Roman"/>
                <a:cs typeface="Times New Roman"/>
              </a:rPr>
              <a:t>It</a:t>
            </a:r>
            <a:r>
              <a:rPr kumimoji="0" sz="17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1700" b="0" i="0" u="none" strike="noStrike" kern="0" cap="none" spc="0" normalizeH="0" baseline="0" noProof="0" dirty="0">
                <a:ln>
                  <a:noFill/>
                </a:ln>
                <a:solidFill>
                  <a:sysClr val="windowText" lastClr="000000"/>
                </a:solidFill>
                <a:effectLst/>
                <a:uLnTx/>
                <a:uFillTx/>
                <a:latin typeface="Times New Roman"/>
                <a:cs typeface="Times New Roman"/>
              </a:rPr>
              <a:t>does</a:t>
            </a:r>
            <a:r>
              <a:rPr kumimoji="0" sz="17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1700" b="0" i="0" u="none" strike="noStrike" kern="0" cap="none" spc="0" normalizeH="0" baseline="0" noProof="0" dirty="0">
                <a:ln>
                  <a:noFill/>
                </a:ln>
                <a:solidFill>
                  <a:sysClr val="windowText" lastClr="000000"/>
                </a:solidFill>
                <a:effectLst/>
                <a:uLnTx/>
                <a:uFillTx/>
                <a:latin typeface="Times New Roman"/>
                <a:cs typeface="Times New Roman"/>
              </a:rPr>
              <a:t>not</a:t>
            </a:r>
            <a:r>
              <a:rPr kumimoji="0" sz="1700" b="0" i="0" u="none" strike="noStrike" kern="0" cap="none" spc="-85" normalizeH="0" baseline="0" noProof="0" dirty="0">
                <a:ln>
                  <a:noFill/>
                </a:ln>
                <a:solidFill>
                  <a:sysClr val="windowText" lastClr="000000"/>
                </a:solidFill>
                <a:effectLst/>
                <a:uLnTx/>
                <a:uFillTx/>
                <a:latin typeface="Times New Roman"/>
                <a:cs typeface="Times New Roman"/>
              </a:rPr>
              <a:t> </a:t>
            </a:r>
            <a:r>
              <a:rPr kumimoji="0" sz="1700" b="0" i="0" u="none" strike="noStrike" kern="0" cap="none" spc="0" normalizeH="0" baseline="0" noProof="0" dirty="0">
                <a:ln>
                  <a:noFill/>
                </a:ln>
                <a:solidFill>
                  <a:sysClr val="windowText" lastClr="000000"/>
                </a:solidFill>
                <a:effectLst/>
                <a:uLnTx/>
                <a:uFillTx/>
                <a:latin typeface="Times New Roman"/>
                <a:cs typeface="Times New Roman"/>
              </a:rPr>
              <a:t>accommodate</a:t>
            </a:r>
            <a:r>
              <a:rPr kumimoji="0" sz="17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1700" b="0" i="0" u="none" strike="noStrike" kern="0" cap="none" spc="0" normalizeH="0" baseline="0" noProof="0" dirty="0">
                <a:ln>
                  <a:noFill/>
                </a:ln>
                <a:solidFill>
                  <a:sysClr val="windowText" lastClr="000000"/>
                </a:solidFill>
                <a:effectLst/>
                <a:uLnTx/>
                <a:uFillTx/>
                <a:latin typeface="Times New Roman"/>
                <a:cs typeface="Times New Roman"/>
              </a:rPr>
              <a:t>change</a:t>
            </a:r>
            <a:r>
              <a:rPr kumimoji="0" sz="17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1700" b="0" i="0" u="none" strike="noStrike" kern="0" cap="none" spc="-10" normalizeH="0" baseline="0" noProof="0" dirty="0">
                <a:ln>
                  <a:noFill/>
                </a:ln>
                <a:solidFill>
                  <a:sysClr val="windowText" lastClr="000000"/>
                </a:solidFill>
                <a:effectLst/>
                <a:uLnTx/>
                <a:uFillTx/>
                <a:latin typeface="Times New Roman"/>
                <a:cs typeface="Times New Roman"/>
              </a:rPr>
              <a:t>well.</a:t>
            </a:r>
            <a:endParaRPr kumimoji="0" sz="1700" b="0" i="0" u="none" strike="noStrike" kern="0" cap="none" spc="0" normalizeH="0" baseline="0" noProof="0">
              <a:ln>
                <a:noFill/>
              </a:ln>
              <a:solidFill>
                <a:sysClr val="windowText" lastClr="000000"/>
              </a:solidFill>
              <a:effectLst/>
              <a:uLnTx/>
              <a:uFillTx/>
              <a:latin typeface="Times New Roman"/>
              <a:cs typeface="Times New Roman"/>
            </a:endParaRPr>
          </a:p>
          <a:p>
            <a:pPr marL="307975" marR="0" lvl="0" indent="-295275" defTabSz="914400" eaLnBrk="1" fontAlgn="auto" latinLnBrk="0" hangingPunct="1">
              <a:lnSpc>
                <a:spcPct val="100000"/>
              </a:lnSpc>
              <a:spcBef>
                <a:spcPts val="740"/>
              </a:spcBef>
              <a:spcAft>
                <a:spcPts val="0"/>
              </a:spcAft>
              <a:buClrTx/>
              <a:buSzTx/>
              <a:buFont typeface="Arial MT"/>
              <a:buChar char="•"/>
              <a:tabLst>
                <a:tab pos="307975" algn="l"/>
              </a:tabLst>
              <a:defRPr/>
            </a:pPr>
            <a:r>
              <a:rPr kumimoji="0" sz="1700" b="0" i="0" u="none" strike="noStrike" kern="0" cap="none" spc="-10" normalizeH="0" baseline="0" noProof="0" dirty="0">
                <a:ln>
                  <a:noFill/>
                </a:ln>
                <a:solidFill>
                  <a:sysClr val="windowText" lastClr="000000"/>
                </a:solidFill>
                <a:effectLst/>
                <a:uLnTx/>
                <a:uFillTx/>
                <a:latin typeface="Times New Roman"/>
                <a:cs typeface="Times New Roman"/>
              </a:rPr>
              <a:t>Testing</a:t>
            </a:r>
            <a:r>
              <a:rPr kumimoji="0" sz="17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1700" b="0" i="0" u="none" strike="noStrike" kern="0" cap="none" spc="0" normalizeH="0" baseline="0" noProof="0" dirty="0">
                <a:ln>
                  <a:noFill/>
                </a:ln>
                <a:solidFill>
                  <a:sysClr val="windowText" lastClr="000000"/>
                </a:solidFill>
                <a:effectLst/>
                <a:uLnTx/>
                <a:uFillTx/>
                <a:latin typeface="Times New Roman"/>
                <a:cs typeface="Times New Roman"/>
              </a:rPr>
              <a:t>occurs</a:t>
            </a:r>
            <a:r>
              <a:rPr kumimoji="0" sz="1700" b="0" i="0" u="none" strike="noStrike" kern="0" cap="none" spc="-120" normalizeH="0" baseline="0" noProof="0" dirty="0">
                <a:ln>
                  <a:noFill/>
                </a:ln>
                <a:solidFill>
                  <a:sysClr val="windowText" lastClr="000000"/>
                </a:solidFill>
                <a:effectLst/>
                <a:uLnTx/>
                <a:uFillTx/>
                <a:latin typeface="Times New Roman"/>
                <a:cs typeface="Times New Roman"/>
              </a:rPr>
              <a:t> </a:t>
            </a:r>
            <a:r>
              <a:rPr kumimoji="0" sz="1700" b="0" i="0" u="none" strike="noStrike" kern="0" cap="none" spc="0" normalizeH="0" baseline="0" noProof="0" dirty="0">
                <a:ln>
                  <a:noFill/>
                </a:ln>
                <a:solidFill>
                  <a:sysClr val="windowText" lastClr="000000"/>
                </a:solidFill>
                <a:effectLst/>
                <a:uLnTx/>
                <a:uFillTx/>
                <a:latin typeface="Times New Roman"/>
                <a:cs typeface="Times New Roman"/>
              </a:rPr>
              <a:t>late</a:t>
            </a:r>
            <a:r>
              <a:rPr kumimoji="0" sz="17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17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17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17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17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1700" b="0" i="0" u="none" strike="noStrike" kern="0" cap="none" spc="-10" normalizeH="0" baseline="0" noProof="0" dirty="0">
                <a:ln>
                  <a:noFill/>
                </a:ln>
                <a:solidFill>
                  <a:sysClr val="windowText" lastClr="000000"/>
                </a:solidFill>
                <a:effectLst/>
                <a:uLnTx/>
                <a:uFillTx/>
                <a:latin typeface="Times New Roman"/>
                <a:cs typeface="Times New Roman"/>
              </a:rPr>
              <a:t>process.</a:t>
            </a:r>
            <a:endParaRPr kumimoji="0" sz="1700" b="0" i="0" u="none" strike="noStrike" kern="0" cap="none" spc="0" normalizeH="0" baseline="0" noProof="0">
              <a:ln>
                <a:noFill/>
              </a:ln>
              <a:solidFill>
                <a:sysClr val="windowText" lastClr="000000"/>
              </a:solidFill>
              <a:effectLst/>
              <a:uLnTx/>
              <a:uFillTx/>
              <a:latin typeface="Times New Roman"/>
              <a:cs typeface="Times New Roman"/>
            </a:endParaRPr>
          </a:p>
          <a:p>
            <a:pPr marL="307975" marR="0" lvl="0" indent="-295275" defTabSz="914400" eaLnBrk="1" fontAlgn="auto" latinLnBrk="0" hangingPunct="1">
              <a:lnSpc>
                <a:spcPct val="100000"/>
              </a:lnSpc>
              <a:spcBef>
                <a:spcPts val="665"/>
              </a:spcBef>
              <a:spcAft>
                <a:spcPts val="0"/>
              </a:spcAft>
              <a:buClrTx/>
              <a:buSzTx/>
              <a:buFont typeface="Arial MT"/>
              <a:buChar char="•"/>
              <a:tabLst>
                <a:tab pos="307975" algn="l"/>
              </a:tabLst>
              <a:defRPr/>
            </a:pPr>
            <a:r>
              <a:rPr kumimoji="0" sz="1700" b="0" i="0" u="none" strike="noStrike" kern="0" cap="none" spc="0" normalizeH="0" baseline="0" noProof="0" dirty="0">
                <a:ln>
                  <a:noFill/>
                </a:ln>
                <a:solidFill>
                  <a:sysClr val="windowText" lastClr="000000"/>
                </a:solidFill>
                <a:effectLst/>
                <a:uLnTx/>
                <a:uFillTx/>
                <a:latin typeface="Times New Roman"/>
                <a:cs typeface="Times New Roman"/>
              </a:rPr>
              <a:t>Customer</a:t>
            </a:r>
            <a:r>
              <a:rPr kumimoji="0" sz="17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1700" b="0" i="0" u="none" strike="noStrike" kern="0" cap="none" spc="0" normalizeH="0" baseline="0" noProof="0" dirty="0">
                <a:ln>
                  <a:noFill/>
                </a:ln>
                <a:solidFill>
                  <a:sysClr val="windowText" lastClr="000000"/>
                </a:solidFill>
                <a:effectLst/>
                <a:uLnTx/>
                <a:uFillTx/>
                <a:latin typeface="Times New Roman"/>
                <a:cs typeface="Times New Roman"/>
              </a:rPr>
              <a:t>approval</a:t>
            </a:r>
            <a:r>
              <a:rPr kumimoji="0" sz="1700" b="0" i="0" u="none" strike="noStrike" kern="0" cap="none" spc="-105" normalizeH="0" baseline="0" noProof="0" dirty="0">
                <a:ln>
                  <a:noFill/>
                </a:ln>
                <a:solidFill>
                  <a:sysClr val="windowText" lastClr="000000"/>
                </a:solidFill>
                <a:effectLst/>
                <a:uLnTx/>
                <a:uFillTx/>
                <a:latin typeface="Times New Roman"/>
                <a:cs typeface="Times New Roman"/>
              </a:rPr>
              <a:t> </a:t>
            </a:r>
            <a:r>
              <a:rPr kumimoji="0" sz="1700" b="0" i="0" u="none" strike="noStrike" kern="0" cap="none" spc="-20" normalizeH="0" baseline="0" noProof="0" dirty="0">
                <a:ln>
                  <a:noFill/>
                </a:ln>
                <a:solidFill>
                  <a:sysClr val="windowText" lastClr="000000"/>
                </a:solidFill>
                <a:effectLst/>
                <a:uLnTx/>
                <a:uFillTx/>
                <a:latin typeface="Times New Roman"/>
                <a:cs typeface="Times New Roman"/>
              </a:rPr>
              <a:t>is</a:t>
            </a:r>
            <a:r>
              <a:rPr kumimoji="0" sz="17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1700" b="0" i="0" u="none" strike="noStrike" kern="0" cap="none" spc="0" normalizeH="0" baseline="0" noProof="0" dirty="0">
                <a:ln>
                  <a:noFill/>
                </a:ln>
                <a:solidFill>
                  <a:sysClr val="windowText" lastClr="000000"/>
                </a:solidFill>
                <a:effectLst/>
                <a:uLnTx/>
                <a:uFillTx/>
                <a:latin typeface="Times New Roman"/>
                <a:cs typeface="Times New Roman"/>
              </a:rPr>
              <a:t>at</a:t>
            </a:r>
            <a:r>
              <a:rPr kumimoji="0" sz="1700" b="0" i="0" u="none" strike="noStrike" kern="0" cap="none" spc="70" normalizeH="0" baseline="0" noProof="0" dirty="0">
                <a:ln>
                  <a:noFill/>
                </a:ln>
                <a:solidFill>
                  <a:sysClr val="windowText" lastClr="000000"/>
                </a:solidFill>
                <a:effectLst/>
                <a:uLnTx/>
                <a:uFillTx/>
                <a:latin typeface="Times New Roman"/>
                <a:cs typeface="Times New Roman"/>
              </a:rPr>
              <a:t> </a:t>
            </a:r>
            <a:r>
              <a:rPr kumimoji="0" sz="1700" b="0" i="0" u="none" strike="noStrike" kern="0" cap="none" spc="0" normalizeH="0" baseline="0" noProof="0" dirty="0">
                <a:ln>
                  <a:noFill/>
                </a:ln>
                <a:solidFill>
                  <a:sysClr val="windowText" lastClr="000000"/>
                </a:solidFill>
                <a:effectLst/>
                <a:uLnTx/>
                <a:uFillTx/>
                <a:latin typeface="Times New Roman"/>
                <a:cs typeface="Times New Roman"/>
              </a:rPr>
              <a:t>the</a:t>
            </a:r>
            <a:r>
              <a:rPr kumimoji="0" sz="1700" b="0" i="0" u="none" strike="noStrike" kern="0" cap="none" spc="90" normalizeH="0" baseline="0" noProof="0" dirty="0">
                <a:ln>
                  <a:noFill/>
                </a:ln>
                <a:solidFill>
                  <a:sysClr val="windowText" lastClr="000000"/>
                </a:solidFill>
                <a:effectLst/>
                <a:uLnTx/>
                <a:uFillTx/>
                <a:latin typeface="Times New Roman"/>
                <a:cs typeface="Times New Roman"/>
              </a:rPr>
              <a:t> </a:t>
            </a:r>
            <a:r>
              <a:rPr kumimoji="0" sz="1700" b="0" i="0" u="none" strike="noStrike" kern="0" cap="none" spc="-20" normalizeH="0" baseline="0" noProof="0" dirty="0">
                <a:ln>
                  <a:noFill/>
                </a:ln>
                <a:solidFill>
                  <a:sysClr val="windowText" lastClr="000000"/>
                </a:solidFill>
                <a:effectLst/>
                <a:uLnTx/>
                <a:uFillTx/>
                <a:latin typeface="Times New Roman"/>
                <a:cs typeface="Times New Roman"/>
              </a:rPr>
              <a:t>end.</a:t>
            </a:r>
            <a:endParaRPr kumimoji="0" sz="17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5" name="object 5"/>
          <p:cNvSpPr txBox="1"/>
          <p:nvPr/>
        </p:nvSpPr>
        <p:spPr>
          <a:xfrm>
            <a:off x="3247389" y="6289476"/>
            <a:ext cx="2644140" cy="194945"/>
          </a:xfrm>
          <a:prstGeom prst="rect">
            <a:avLst/>
          </a:prstGeom>
        </p:spPr>
        <p:txBody>
          <a:bodyPr vert="horz" wrap="square" lIns="0" tIns="0" rIns="0" bIns="0" rtlCol="0">
            <a:spAutoFit/>
          </a:bodyPr>
          <a:lstStyle/>
          <a:p>
            <a:pPr marL="12700" marR="0" lvl="0" indent="0" defTabSz="914400" eaLnBrk="1" fontAlgn="auto" latinLnBrk="0" hangingPunct="1">
              <a:lnSpc>
                <a:spcPts val="1410"/>
              </a:lnSpc>
              <a:spcBef>
                <a:spcPts val="0"/>
              </a:spcBef>
              <a:spcAft>
                <a:spcPts val="0"/>
              </a:spcAft>
              <a:buClrTx/>
              <a:buSzTx/>
              <a:buFontTx/>
              <a:buNone/>
              <a:tabLst/>
              <a:defRPr/>
            </a:pPr>
            <a:r>
              <a:rPr kumimoji="0" sz="1200" b="0" i="0" u="sng" strike="noStrike" kern="0" cap="none" spc="0" normalizeH="0" baseline="0" noProof="0" dirty="0">
                <a:ln>
                  <a:noFill/>
                </a:ln>
                <a:solidFill>
                  <a:sysClr val="windowText" lastClr="000000"/>
                </a:solidFill>
                <a:effectLst/>
                <a:uLnTx/>
                <a:uFill>
                  <a:solidFill>
                    <a:srgbClr val="000000"/>
                  </a:solidFill>
                </a:uFill>
                <a:latin typeface="Times New Roman"/>
                <a:cs typeface="Times New Roman"/>
              </a:rPr>
              <a:t>Access</a:t>
            </a:r>
            <a:r>
              <a:rPr kumimoji="0" sz="1200" b="0" i="0" u="sng" strike="noStrike" kern="0" cap="none" spc="-35" normalizeH="0" baseline="0" noProof="0" dirty="0">
                <a:ln>
                  <a:noFill/>
                </a:ln>
                <a:solidFill>
                  <a:sysClr val="windowText" lastClr="000000"/>
                </a:solidFill>
                <a:effectLst/>
                <a:uLnTx/>
                <a:uFill>
                  <a:solidFill>
                    <a:srgbClr val="000000"/>
                  </a:solidFill>
                </a:uFill>
                <a:latin typeface="Times New Roman"/>
                <a:cs typeface="Times New Roman"/>
              </a:rPr>
              <a:t> </a:t>
            </a:r>
            <a:r>
              <a:rPr kumimoji="0" sz="1200" b="0" i="0" u="sng" strike="noStrike" kern="0" cap="none" spc="0" normalizeH="0" baseline="0" noProof="0" dirty="0">
                <a:ln>
                  <a:noFill/>
                </a:ln>
                <a:solidFill>
                  <a:sysClr val="windowText" lastClr="000000"/>
                </a:solidFill>
                <a:effectLst/>
                <a:uLnTx/>
                <a:uFill>
                  <a:solidFill>
                    <a:srgbClr val="000000"/>
                  </a:solidFill>
                </a:uFill>
                <a:latin typeface="Times New Roman"/>
                <a:cs typeface="Times New Roman"/>
              </a:rPr>
              <a:t>the</a:t>
            </a:r>
            <a:r>
              <a:rPr kumimoji="0" sz="1200" b="0" i="0" u="sng" strike="noStrike" kern="0" cap="none" spc="25" normalizeH="0" baseline="0" noProof="0" dirty="0">
                <a:ln>
                  <a:noFill/>
                </a:ln>
                <a:solidFill>
                  <a:sysClr val="windowText" lastClr="000000"/>
                </a:solidFill>
                <a:effectLst/>
                <a:uLnTx/>
                <a:uFill>
                  <a:solidFill>
                    <a:srgbClr val="000000"/>
                  </a:solidFill>
                </a:uFill>
                <a:latin typeface="Times New Roman"/>
                <a:cs typeface="Times New Roman"/>
              </a:rPr>
              <a:t> </a:t>
            </a:r>
            <a:r>
              <a:rPr kumimoji="0" sz="1200" b="0" i="0" u="sng" strike="noStrike" kern="0" cap="none" spc="-10" normalizeH="0" baseline="0" noProof="0" dirty="0">
                <a:ln>
                  <a:noFill/>
                </a:ln>
                <a:solidFill>
                  <a:sysClr val="windowText" lastClr="000000"/>
                </a:solidFill>
                <a:effectLst/>
                <a:uLnTx/>
                <a:uFill>
                  <a:solidFill>
                    <a:srgbClr val="000000"/>
                  </a:solidFill>
                </a:uFill>
                <a:latin typeface="Times New Roman"/>
                <a:cs typeface="Times New Roman"/>
              </a:rPr>
              <a:t>text</a:t>
            </a:r>
            <a:r>
              <a:rPr kumimoji="0" sz="1200" b="0" i="0" u="sng" strike="noStrike" kern="0" cap="none" spc="10" normalizeH="0" baseline="0" noProof="0" dirty="0">
                <a:ln>
                  <a:noFill/>
                </a:ln>
                <a:solidFill>
                  <a:sysClr val="windowText" lastClr="000000"/>
                </a:solidFill>
                <a:effectLst/>
                <a:uLnTx/>
                <a:uFill>
                  <a:solidFill>
                    <a:srgbClr val="000000"/>
                  </a:solidFill>
                </a:uFill>
                <a:latin typeface="Times New Roman"/>
                <a:cs typeface="Times New Roman"/>
              </a:rPr>
              <a:t> </a:t>
            </a:r>
            <a:r>
              <a:rPr kumimoji="0" sz="1200" b="0" i="0" u="sng" strike="noStrike" kern="0" cap="none" spc="-25" normalizeH="0" baseline="0" noProof="0" dirty="0">
                <a:ln>
                  <a:noFill/>
                </a:ln>
                <a:solidFill>
                  <a:sysClr val="windowText" lastClr="000000"/>
                </a:solidFill>
                <a:effectLst/>
                <a:uLnTx/>
                <a:uFill>
                  <a:solidFill>
                    <a:srgbClr val="000000"/>
                  </a:solidFill>
                </a:uFill>
                <a:latin typeface="Times New Roman"/>
                <a:cs typeface="Times New Roman"/>
              </a:rPr>
              <a:t>alternative</a:t>
            </a:r>
            <a:r>
              <a:rPr kumimoji="0" sz="1200" b="0" i="0" u="sng" strike="noStrike" kern="0" cap="none" spc="195" normalizeH="0" baseline="0" noProof="0" dirty="0">
                <a:ln>
                  <a:noFill/>
                </a:ln>
                <a:solidFill>
                  <a:sysClr val="windowText" lastClr="000000"/>
                </a:solidFill>
                <a:effectLst/>
                <a:uLnTx/>
                <a:uFill>
                  <a:solidFill>
                    <a:srgbClr val="000000"/>
                  </a:solidFill>
                </a:uFill>
                <a:latin typeface="Times New Roman"/>
                <a:cs typeface="Times New Roman"/>
              </a:rPr>
              <a:t> </a:t>
            </a:r>
            <a:r>
              <a:rPr kumimoji="0" sz="1200" b="0" i="0" u="sng" strike="noStrike" kern="0" cap="none" spc="0" normalizeH="0" baseline="0" noProof="0" dirty="0">
                <a:ln>
                  <a:noFill/>
                </a:ln>
                <a:solidFill>
                  <a:sysClr val="windowText" lastClr="000000"/>
                </a:solidFill>
                <a:effectLst/>
                <a:uLnTx/>
                <a:uFill>
                  <a:solidFill>
                    <a:srgbClr val="000000"/>
                  </a:solidFill>
                </a:uFill>
                <a:latin typeface="Times New Roman"/>
                <a:cs typeface="Times New Roman"/>
              </a:rPr>
              <a:t>for</a:t>
            </a:r>
            <a:r>
              <a:rPr kumimoji="0" sz="1200" b="0" i="0" u="sng" strike="noStrike" kern="0" cap="none" spc="15" normalizeH="0" baseline="0" noProof="0" dirty="0">
                <a:ln>
                  <a:noFill/>
                </a:ln>
                <a:solidFill>
                  <a:sysClr val="windowText" lastClr="000000"/>
                </a:solidFill>
                <a:effectLst/>
                <a:uLnTx/>
                <a:uFill>
                  <a:solidFill>
                    <a:srgbClr val="000000"/>
                  </a:solidFill>
                </a:uFill>
                <a:latin typeface="Times New Roman"/>
                <a:cs typeface="Times New Roman"/>
              </a:rPr>
              <a:t> </a:t>
            </a:r>
            <a:r>
              <a:rPr kumimoji="0" sz="1200" b="0" i="0" u="sng" strike="noStrike" kern="0" cap="none" spc="-25" normalizeH="0" baseline="0" noProof="0" dirty="0">
                <a:ln>
                  <a:noFill/>
                </a:ln>
                <a:solidFill>
                  <a:sysClr val="windowText" lastClr="000000"/>
                </a:solidFill>
                <a:effectLst/>
                <a:uLnTx/>
                <a:uFill>
                  <a:solidFill>
                    <a:srgbClr val="000000"/>
                  </a:solidFill>
                </a:uFill>
                <a:latin typeface="Times New Roman"/>
                <a:cs typeface="Times New Roman"/>
              </a:rPr>
              <a:t>slide</a:t>
            </a:r>
            <a:r>
              <a:rPr kumimoji="0" sz="1200" b="0" i="0" u="sng" strike="noStrike" kern="0" cap="none" spc="80" normalizeH="0" baseline="0" noProof="0" dirty="0">
                <a:ln>
                  <a:noFill/>
                </a:ln>
                <a:solidFill>
                  <a:sysClr val="windowText" lastClr="000000"/>
                </a:solidFill>
                <a:effectLst/>
                <a:uLnTx/>
                <a:uFill>
                  <a:solidFill>
                    <a:srgbClr val="000000"/>
                  </a:solidFill>
                </a:uFill>
                <a:latin typeface="Times New Roman"/>
                <a:cs typeface="Times New Roman"/>
              </a:rPr>
              <a:t> </a:t>
            </a:r>
            <a:r>
              <a:rPr kumimoji="0" sz="1200" b="0" i="0" u="sng" strike="noStrike" kern="0" cap="none" spc="-30" normalizeH="0" baseline="0" noProof="0" dirty="0">
                <a:ln>
                  <a:noFill/>
                </a:ln>
                <a:solidFill>
                  <a:sysClr val="windowText" lastClr="000000"/>
                </a:solidFill>
                <a:effectLst/>
                <a:uLnTx/>
                <a:uFill>
                  <a:solidFill>
                    <a:srgbClr val="000000"/>
                  </a:solidFill>
                </a:uFill>
                <a:latin typeface="Times New Roman"/>
                <a:cs typeface="Times New Roman"/>
              </a:rPr>
              <a:t>images.</a:t>
            </a:r>
            <a:endParaRPr kumimoji="0" sz="12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6" name="object 6"/>
          <p:cNvSpPr txBox="1">
            <a:spLocks noGrp="1"/>
          </p:cNvSpPr>
          <p:nvPr>
            <p:ph type="sldNum" sz="quarter" idx="7"/>
          </p:nvPr>
        </p:nvSpPr>
        <p:spPr>
          <a:prstGeom prst="rect">
            <a:avLst/>
          </a:prstGeom>
        </p:spPr>
        <p:txBody>
          <a:bodyPr vert="horz" wrap="square" lIns="0" tIns="6350" rIns="0" bIns="0" rtlCol="0">
            <a:spAutoFit/>
          </a:bodyPr>
          <a:lstStyle/>
          <a:p>
            <a:pPr marL="12700" marR="0" lvl="0" indent="0" defTabSz="914400" eaLnBrk="1" fontAlgn="auto" latinLnBrk="0" hangingPunct="1">
              <a:lnSpc>
                <a:spcPct val="100000"/>
              </a:lnSpc>
              <a:spcBef>
                <a:spcPts val="50"/>
              </a:spcBef>
              <a:spcAft>
                <a:spcPts val="0"/>
              </a:spcAft>
              <a:buClrTx/>
              <a:buSzTx/>
              <a:buFontTx/>
              <a:buNone/>
              <a:tabLst/>
              <a:defRPr/>
            </a:pPr>
            <a:fld id="{81D60167-4931-47E6-BA6A-407CBD079E47}" type="slidenum">
              <a:rPr kumimoji="0" sz="800" b="0" i="0" u="none" strike="noStrike" kern="0" cap="none" spc="-25" normalizeH="0" baseline="0" noProof="0" dirty="0">
                <a:ln>
                  <a:noFill/>
                </a:ln>
                <a:solidFill>
                  <a:srgbClr val="585858"/>
                </a:solidFill>
                <a:effectLst/>
                <a:uLnTx/>
                <a:uFillTx/>
                <a:latin typeface="Arial MT"/>
              </a:rPr>
              <a:pPr marL="12700" marR="0" lvl="0" indent="0" defTabSz="914400" eaLnBrk="1" fontAlgn="auto" latinLnBrk="0" hangingPunct="1">
                <a:lnSpc>
                  <a:spcPct val="100000"/>
                </a:lnSpc>
                <a:spcBef>
                  <a:spcPts val="50"/>
                </a:spcBef>
                <a:spcAft>
                  <a:spcPts val="0"/>
                </a:spcAft>
                <a:buClrTx/>
                <a:buSzTx/>
                <a:buFontTx/>
                <a:buNone/>
                <a:tabLst/>
                <a:defRPr/>
              </a:pPr>
              <a:t>8</a:t>
            </a:fld>
            <a:endParaRPr kumimoji="0" sz="800" b="0" i="0" u="none" strike="noStrike" kern="0" cap="none" spc="-25" normalizeH="0" baseline="0" noProof="0" dirty="0">
              <a:ln>
                <a:noFill/>
              </a:ln>
              <a:solidFill>
                <a:srgbClr val="585858"/>
              </a:solidFill>
              <a:effectLst/>
              <a:uLnTx/>
              <a:uFillTx/>
              <a:latin typeface="Arial MT"/>
            </a:endParaRPr>
          </a:p>
        </p:txBody>
      </p:sp>
      <p:sp>
        <p:nvSpPr>
          <p:cNvPr id="7" name="object 7"/>
          <p:cNvSpPr txBox="1">
            <a:spLocks noGrp="1"/>
          </p:cNvSpPr>
          <p:nvPr>
            <p:ph type="ftr" sz="quarter" idx="5"/>
          </p:nvPr>
        </p:nvSpPr>
        <p:spPr>
          <a:prstGeom prst="rect">
            <a:avLst/>
          </a:prstGeom>
        </p:spPr>
        <p:txBody>
          <a:bodyPr vert="horz" wrap="square" lIns="0" tIns="4445" rIns="0" bIns="0" rtlCol="0">
            <a:spAutoFit/>
          </a:bodyPr>
          <a:lstStyle/>
          <a:p>
            <a:pPr marL="12700" marR="0" lvl="0" indent="0" defTabSz="914400" eaLnBrk="1" fontAlgn="auto" latinLnBrk="0" hangingPunct="1">
              <a:lnSpc>
                <a:spcPct val="100000"/>
              </a:lnSpc>
              <a:spcBef>
                <a:spcPts val="35"/>
              </a:spcBef>
              <a:spcAft>
                <a:spcPts val="0"/>
              </a:spcAft>
              <a:buClrTx/>
              <a:buSzTx/>
              <a:buFontTx/>
              <a:buNone/>
              <a:tabLst/>
              <a:defRPr/>
            </a:pPr>
            <a:r>
              <a:rPr kumimoji="0" sz="800" b="0" i="0" u="none" strike="noStrike" kern="0" cap="none" spc="0" normalizeH="0" baseline="0" noProof="0" dirty="0">
                <a:ln>
                  <a:noFill/>
                </a:ln>
                <a:solidFill>
                  <a:srgbClr val="585858"/>
                </a:solidFill>
                <a:effectLst/>
                <a:uLnTx/>
                <a:uFillTx/>
                <a:latin typeface="Times New Roman"/>
                <a:cs typeface="Times New Roman"/>
              </a:rPr>
              <a:t>©</a:t>
            </a:r>
            <a:r>
              <a:rPr kumimoji="0" sz="800" b="0" i="0" u="none" strike="noStrike" kern="0" cap="none" spc="45" normalizeH="0" baseline="0" noProof="0" dirty="0">
                <a:ln>
                  <a:noFill/>
                </a:ln>
                <a:solidFill>
                  <a:srgbClr val="585858"/>
                </a:solidFill>
                <a:effectLst/>
                <a:uLnTx/>
                <a:uFillTx/>
                <a:latin typeface="Times New Roman"/>
                <a:cs typeface="Times New Roman"/>
              </a:rPr>
              <a:t> </a:t>
            </a:r>
            <a:r>
              <a:rPr kumimoji="0" sz="800" b="0" i="0" u="none" strike="noStrike" kern="0" cap="none" spc="0" normalizeH="0" baseline="0" noProof="0" dirty="0">
                <a:ln>
                  <a:noFill/>
                </a:ln>
                <a:solidFill>
                  <a:srgbClr val="585858"/>
                </a:solidFill>
                <a:effectLst/>
                <a:uLnTx/>
                <a:uFillTx/>
                <a:latin typeface="Times New Roman"/>
                <a:cs typeface="Times New Roman"/>
              </a:rPr>
              <a:t>McGraw</a:t>
            </a:r>
            <a:r>
              <a:rPr kumimoji="0" sz="800" b="0" i="0" u="none" strike="noStrike" kern="0" cap="none" spc="-105" normalizeH="0" baseline="0" noProof="0" dirty="0">
                <a:ln>
                  <a:noFill/>
                </a:ln>
                <a:solidFill>
                  <a:srgbClr val="585858"/>
                </a:solidFill>
                <a:effectLst/>
                <a:uLnTx/>
                <a:uFillTx/>
                <a:latin typeface="Times New Roman"/>
                <a:cs typeface="Times New Roman"/>
              </a:rPr>
              <a:t> </a:t>
            </a:r>
            <a:r>
              <a:rPr kumimoji="0" sz="800" b="0" i="0" u="none" strike="noStrike" kern="0" cap="none" spc="-20" normalizeH="0" baseline="0" noProof="0" dirty="0">
                <a:ln>
                  <a:noFill/>
                </a:ln>
                <a:solidFill>
                  <a:srgbClr val="585858"/>
                </a:solidFill>
                <a:effectLst/>
                <a:uLnTx/>
                <a:uFillTx/>
                <a:latin typeface="Times New Roman"/>
                <a:cs typeface="Times New Roman"/>
              </a:rPr>
              <a:t>Hill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dirty="0"/>
              <a:t>Prototyping</a:t>
            </a:r>
            <a:r>
              <a:rPr spc="90" dirty="0"/>
              <a:t> </a:t>
            </a:r>
            <a:r>
              <a:rPr dirty="0"/>
              <a:t>Process</a:t>
            </a:r>
            <a:r>
              <a:rPr spc="-120" dirty="0"/>
              <a:t> </a:t>
            </a:r>
            <a:r>
              <a:rPr spc="-10" dirty="0"/>
              <a:t>Model</a:t>
            </a:r>
          </a:p>
        </p:txBody>
      </p:sp>
      <p:pic>
        <p:nvPicPr>
          <p:cNvPr id="3" name="object 3"/>
          <p:cNvPicPr/>
          <p:nvPr/>
        </p:nvPicPr>
        <p:blipFill>
          <a:blip r:embed="rId2" cstate="print"/>
          <a:stretch>
            <a:fillRect/>
          </a:stretch>
        </p:blipFill>
        <p:spPr>
          <a:xfrm>
            <a:off x="581025" y="1476375"/>
            <a:ext cx="3590925" cy="3819525"/>
          </a:xfrm>
          <a:prstGeom prst="rect">
            <a:avLst/>
          </a:prstGeom>
        </p:spPr>
      </p:pic>
      <p:sp>
        <p:nvSpPr>
          <p:cNvPr id="4" name="object 4"/>
          <p:cNvSpPr txBox="1"/>
          <p:nvPr/>
        </p:nvSpPr>
        <p:spPr>
          <a:xfrm>
            <a:off x="4527296" y="1500187"/>
            <a:ext cx="4119245" cy="4284345"/>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800" b="1" i="0" u="none" strike="noStrike" kern="0" cap="none" spc="-20" normalizeH="0" baseline="0" noProof="0" dirty="0">
                <a:ln>
                  <a:noFill/>
                </a:ln>
                <a:solidFill>
                  <a:sysClr val="windowText" lastClr="000000"/>
                </a:solidFill>
                <a:effectLst/>
                <a:uLnTx/>
                <a:uFillTx/>
                <a:latin typeface="Times New Roman"/>
                <a:cs typeface="Times New Roman"/>
              </a:rPr>
              <a:t>Pros</a:t>
            </a:r>
            <a:endParaRPr kumimoji="0" sz="1800" b="0" i="0" u="none" strike="noStrike" kern="0" cap="none" spc="0" normalizeH="0" baseline="0" noProof="0">
              <a:ln>
                <a:noFill/>
              </a:ln>
              <a:solidFill>
                <a:sysClr val="windowText" lastClr="000000"/>
              </a:solidFill>
              <a:effectLst/>
              <a:uLnTx/>
              <a:uFillTx/>
              <a:latin typeface="Times New Roman"/>
              <a:cs typeface="Times New Roman"/>
            </a:endParaRPr>
          </a:p>
          <a:p>
            <a:pPr marL="307975" marR="0" lvl="0" indent="-295275" defTabSz="914400" eaLnBrk="1" fontAlgn="auto" latinLnBrk="0" hangingPunct="1">
              <a:lnSpc>
                <a:spcPct val="100000"/>
              </a:lnSpc>
              <a:spcBef>
                <a:spcPts val="1825"/>
              </a:spcBef>
              <a:spcAft>
                <a:spcPts val="0"/>
              </a:spcAft>
              <a:buClrTx/>
              <a:buSzTx/>
              <a:buFont typeface="Arial MT"/>
              <a:buChar char="•"/>
              <a:tabLst>
                <a:tab pos="307975" algn="l"/>
              </a:tabLst>
              <a:defRPr/>
            </a:pPr>
            <a:r>
              <a:rPr kumimoji="0" sz="1800" b="0" i="0" u="none" strike="noStrike" kern="0" cap="none" spc="0" normalizeH="0" baseline="0" noProof="0" dirty="0">
                <a:ln>
                  <a:noFill/>
                </a:ln>
                <a:solidFill>
                  <a:sysClr val="windowText" lastClr="000000"/>
                </a:solidFill>
                <a:effectLst/>
                <a:uLnTx/>
                <a:uFillTx/>
                <a:latin typeface="Times New Roman"/>
                <a:cs typeface="Times New Roman"/>
              </a:rPr>
              <a:t>Reduced</a:t>
            </a:r>
            <a:r>
              <a:rPr kumimoji="0" sz="1800" b="0" i="0" u="none" strike="noStrike" kern="0" cap="none" spc="-11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impact of</a:t>
            </a:r>
            <a:r>
              <a:rPr kumimoji="0" sz="18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requirement </a:t>
            </a:r>
            <a:r>
              <a:rPr kumimoji="0" sz="1800" b="0" i="0" u="none" strike="noStrike" kern="0" cap="none" spc="-10" normalizeH="0" baseline="0" noProof="0" dirty="0">
                <a:ln>
                  <a:noFill/>
                </a:ln>
                <a:solidFill>
                  <a:sysClr val="windowText" lastClr="000000"/>
                </a:solidFill>
                <a:effectLst/>
                <a:uLnTx/>
                <a:uFillTx/>
                <a:latin typeface="Times New Roman"/>
                <a:cs typeface="Times New Roman"/>
              </a:rPr>
              <a:t>changes.</a:t>
            </a:r>
            <a:endParaRPr kumimoji="0" sz="1800" b="0" i="0" u="none" strike="noStrike" kern="0" cap="none" spc="0" normalizeH="0" baseline="0" noProof="0">
              <a:ln>
                <a:noFill/>
              </a:ln>
              <a:solidFill>
                <a:sysClr val="windowText" lastClr="000000"/>
              </a:solidFill>
              <a:effectLst/>
              <a:uLnTx/>
              <a:uFillTx/>
              <a:latin typeface="Times New Roman"/>
              <a:cs typeface="Times New Roman"/>
            </a:endParaRPr>
          </a:p>
          <a:p>
            <a:pPr marL="307975" marR="0" lvl="0" indent="-295275" defTabSz="914400" eaLnBrk="1" fontAlgn="auto" latinLnBrk="0" hangingPunct="1">
              <a:lnSpc>
                <a:spcPct val="100000"/>
              </a:lnSpc>
              <a:spcBef>
                <a:spcPts val="990"/>
              </a:spcBef>
              <a:spcAft>
                <a:spcPts val="0"/>
              </a:spcAft>
              <a:buClrTx/>
              <a:buSzTx/>
              <a:buFont typeface="Arial MT"/>
              <a:buChar char="•"/>
              <a:tabLst>
                <a:tab pos="307975" algn="l"/>
              </a:tabLst>
              <a:defRPr/>
            </a:pPr>
            <a:r>
              <a:rPr kumimoji="0" sz="1800" b="0" i="0" u="none" strike="noStrike" kern="0" cap="none" spc="0" normalizeH="0" baseline="0" noProof="0" dirty="0">
                <a:ln>
                  <a:noFill/>
                </a:ln>
                <a:solidFill>
                  <a:sysClr val="windowText" lastClr="000000"/>
                </a:solidFill>
                <a:effectLst/>
                <a:uLnTx/>
                <a:uFillTx/>
                <a:latin typeface="Times New Roman"/>
                <a:cs typeface="Times New Roman"/>
              </a:rPr>
              <a:t>Customer</a:t>
            </a:r>
            <a:r>
              <a:rPr kumimoji="0" sz="18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is</a:t>
            </a:r>
            <a:r>
              <a:rPr kumimoji="0" sz="1800" b="0" i="0" u="none" strike="noStrike" kern="0" cap="none" spc="1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involved</a:t>
            </a:r>
            <a:r>
              <a:rPr kumimoji="0" sz="18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early</a:t>
            </a:r>
            <a:r>
              <a:rPr kumimoji="0" sz="18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and</a:t>
            </a:r>
            <a:r>
              <a:rPr kumimoji="0" sz="18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10" normalizeH="0" baseline="0" noProof="0" dirty="0">
                <a:ln>
                  <a:noFill/>
                </a:ln>
                <a:solidFill>
                  <a:sysClr val="windowText" lastClr="000000"/>
                </a:solidFill>
                <a:effectLst/>
                <a:uLnTx/>
                <a:uFillTx/>
                <a:latin typeface="Times New Roman"/>
                <a:cs typeface="Times New Roman"/>
              </a:rPr>
              <a:t>often.</a:t>
            </a:r>
            <a:endParaRPr kumimoji="0" sz="1800" b="0" i="0" u="none" strike="noStrike" kern="0" cap="none" spc="0" normalizeH="0" baseline="0" noProof="0">
              <a:ln>
                <a:noFill/>
              </a:ln>
              <a:solidFill>
                <a:sysClr val="windowText" lastClr="000000"/>
              </a:solidFill>
              <a:effectLst/>
              <a:uLnTx/>
              <a:uFillTx/>
              <a:latin typeface="Times New Roman"/>
              <a:cs typeface="Times New Roman"/>
            </a:endParaRPr>
          </a:p>
          <a:p>
            <a:pPr marL="307975" marR="0" lvl="0" indent="-295275" defTabSz="914400" eaLnBrk="1" fontAlgn="auto" latinLnBrk="0" hangingPunct="1">
              <a:lnSpc>
                <a:spcPct val="100000"/>
              </a:lnSpc>
              <a:spcBef>
                <a:spcPts val="994"/>
              </a:spcBef>
              <a:spcAft>
                <a:spcPts val="0"/>
              </a:spcAft>
              <a:buClrTx/>
              <a:buSzTx/>
              <a:buFont typeface="Arial MT"/>
              <a:buChar char="•"/>
              <a:tabLst>
                <a:tab pos="307975" algn="l"/>
              </a:tabLst>
              <a:defRPr/>
            </a:pPr>
            <a:r>
              <a:rPr kumimoji="0" sz="1800" b="0" i="0" u="none" strike="noStrike" kern="0" cap="none" spc="-20" normalizeH="0" baseline="0" noProof="0" dirty="0">
                <a:ln>
                  <a:noFill/>
                </a:ln>
                <a:solidFill>
                  <a:sysClr val="windowText" lastClr="000000"/>
                </a:solidFill>
                <a:effectLst/>
                <a:uLnTx/>
                <a:uFillTx/>
                <a:latin typeface="Times New Roman"/>
                <a:cs typeface="Times New Roman"/>
              </a:rPr>
              <a:t>Works</a:t>
            </a:r>
            <a:r>
              <a:rPr kumimoji="0" sz="1800" b="0" i="0" u="none" strike="noStrike" kern="0" cap="none" spc="-8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well</a:t>
            </a:r>
            <a:r>
              <a:rPr kumimoji="0" sz="18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for</a:t>
            </a:r>
            <a:r>
              <a:rPr kumimoji="0" sz="18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small</a:t>
            </a:r>
            <a:r>
              <a:rPr kumimoji="0" sz="18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10" normalizeH="0" baseline="0" noProof="0" dirty="0">
                <a:ln>
                  <a:noFill/>
                </a:ln>
                <a:solidFill>
                  <a:sysClr val="windowText" lastClr="000000"/>
                </a:solidFill>
                <a:effectLst/>
                <a:uLnTx/>
                <a:uFillTx/>
                <a:latin typeface="Times New Roman"/>
                <a:cs typeface="Times New Roman"/>
              </a:rPr>
              <a:t>projects.</a:t>
            </a:r>
            <a:endParaRPr kumimoji="0" sz="1800" b="0" i="0" u="none" strike="noStrike" kern="0" cap="none" spc="0" normalizeH="0" baseline="0" noProof="0">
              <a:ln>
                <a:noFill/>
              </a:ln>
              <a:solidFill>
                <a:sysClr val="windowText" lastClr="000000"/>
              </a:solidFill>
              <a:effectLst/>
              <a:uLnTx/>
              <a:uFillTx/>
              <a:latin typeface="Times New Roman"/>
              <a:cs typeface="Times New Roman"/>
            </a:endParaRPr>
          </a:p>
          <a:p>
            <a:pPr marL="307975" marR="0" lvl="0" indent="-295275" defTabSz="914400" eaLnBrk="1" fontAlgn="auto" latinLnBrk="0" hangingPunct="1">
              <a:lnSpc>
                <a:spcPct val="100000"/>
              </a:lnSpc>
              <a:spcBef>
                <a:spcPts val="994"/>
              </a:spcBef>
              <a:spcAft>
                <a:spcPts val="0"/>
              </a:spcAft>
              <a:buClrTx/>
              <a:buSzTx/>
              <a:buFont typeface="Arial MT"/>
              <a:buChar char="•"/>
              <a:tabLst>
                <a:tab pos="307975" algn="l"/>
              </a:tabLst>
              <a:defRPr/>
            </a:pPr>
            <a:r>
              <a:rPr kumimoji="0" sz="1800" b="0" i="0" u="none" strike="noStrike" kern="0" cap="none" spc="0" normalizeH="0" baseline="0" noProof="0" dirty="0">
                <a:ln>
                  <a:noFill/>
                </a:ln>
                <a:solidFill>
                  <a:sysClr val="windowText" lastClr="000000"/>
                </a:solidFill>
                <a:effectLst/>
                <a:uLnTx/>
                <a:uFillTx/>
                <a:latin typeface="Times New Roman"/>
                <a:cs typeface="Times New Roman"/>
              </a:rPr>
              <a:t>Reduced</a:t>
            </a:r>
            <a:r>
              <a:rPr kumimoji="0" sz="1800" b="0" i="0" u="none" strike="noStrike" kern="0" cap="none" spc="-11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likelihood</a:t>
            </a:r>
            <a:r>
              <a:rPr kumimoji="0" sz="1800" b="0" i="0" u="none" strike="noStrike" kern="0" cap="none" spc="9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of</a:t>
            </a:r>
            <a:r>
              <a:rPr kumimoji="0" sz="18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product</a:t>
            </a:r>
            <a:r>
              <a:rPr kumimoji="0" sz="18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10" normalizeH="0" baseline="0" noProof="0" dirty="0">
                <a:ln>
                  <a:noFill/>
                </a:ln>
                <a:solidFill>
                  <a:sysClr val="windowText" lastClr="000000"/>
                </a:solidFill>
                <a:effectLst/>
                <a:uLnTx/>
                <a:uFillTx/>
                <a:latin typeface="Times New Roman"/>
                <a:cs typeface="Times New Roman"/>
              </a:rPr>
              <a:t>rejection.</a:t>
            </a:r>
            <a:endParaRPr kumimoji="0" sz="1800" b="0" i="0" u="none" strike="noStrike" kern="0" cap="none" spc="0" normalizeH="0" baseline="0" noProof="0">
              <a:ln>
                <a:noFill/>
              </a:ln>
              <a:solidFill>
                <a:sysClr val="windowText" lastClr="000000"/>
              </a:solidFill>
              <a:effectLst/>
              <a:uLnTx/>
              <a:uFillTx/>
              <a:latin typeface="Times New Roman"/>
              <a:cs typeface="Times New Roman"/>
            </a:endParaRPr>
          </a:p>
          <a:p>
            <a:pPr marL="0" marR="0" lvl="0" indent="0" defTabSz="914400" eaLnBrk="1" fontAlgn="auto" latinLnBrk="0" hangingPunct="1">
              <a:lnSpc>
                <a:spcPct val="100000"/>
              </a:lnSpc>
              <a:spcBef>
                <a:spcPts val="250"/>
              </a:spcBef>
              <a:spcAft>
                <a:spcPts val="0"/>
              </a:spcAft>
              <a:buClrTx/>
              <a:buSzTx/>
              <a:buFont typeface="Arial MT"/>
              <a:buChar char="•"/>
              <a:tabLst/>
              <a:defRPr/>
            </a:pPr>
            <a:endParaRPr kumimoji="0" sz="1800" b="0" i="0" u="none" strike="noStrike" kern="0" cap="none" spc="0" normalizeH="0" baseline="0" noProof="0">
              <a:ln>
                <a:noFill/>
              </a:ln>
              <a:solidFill>
                <a:sysClr val="windowText" lastClr="000000"/>
              </a:solidFill>
              <a:effectLst/>
              <a:uLnTx/>
              <a:uFillTx/>
              <a:latin typeface="Times New Roman"/>
              <a:cs typeface="Times New Roman"/>
            </a:endParaRPr>
          </a:p>
          <a:p>
            <a:pPr marL="12700" marR="0" lvl="0" indent="0" defTabSz="914400" eaLnBrk="1" fontAlgn="auto" latinLnBrk="0" hangingPunct="1">
              <a:lnSpc>
                <a:spcPct val="100000"/>
              </a:lnSpc>
              <a:spcBef>
                <a:spcPts val="0"/>
              </a:spcBef>
              <a:spcAft>
                <a:spcPts val="0"/>
              </a:spcAft>
              <a:buClrTx/>
              <a:buSzTx/>
              <a:buFontTx/>
              <a:buNone/>
              <a:tabLst/>
              <a:defRPr/>
            </a:pPr>
            <a:r>
              <a:rPr kumimoji="0" sz="1800" b="1" i="0" u="none" strike="noStrike" kern="0" cap="none" spc="-20" normalizeH="0" baseline="0" noProof="0" dirty="0">
                <a:ln>
                  <a:noFill/>
                </a:ln>
                <a:solidFill>
                  <a:sysClr val="windowText" lastClr="000000"/>
                </a:solidFill>
                <a:effectLst/>
                <a:uLnTx/>
                <a:uFillTx/>
                <a:latin typeface="Times New Roman"/>
                <a:cs typeface="Times New Roman"/>
              </a:rPr>
              <a:t>Cons</a:t>
            </a:r>
            <a:endParaRPr kumimoji="0" sz="1800" b="0" i="0" u="none" strike="noStrike" kern="0" cap="none" spc="0" normalizeH="0" baseline="0" noProof="0">
              <a:ln>
                <a:noFill/>
              </a:ln>
              <a:solidFill>
                <a:sysClr val="windowText" lastClr="000000"/>
              </a:solidFill>
              <a:effectLst/>
              <a:uLnTx/>
              <a:uFillTx/>
              <a:latin typeface="Times New Roman"/>
              <a:cs typeface="Times New Roman"/>
            </a:endParaRPr>
          </a:p>
          <a:p>
            <a:pPr marL="307975" marR="0" lvl="0" indent="-295275" defTabSz="914400" eaLnBrk="1" fontAlgn="auto" latinLnBrk="0" hangingPunct="1">
              <a:lnSpc>
                <a:spcPct val="100000"/>
              </a:lnSpc>
              <a:spcBef>
                <a:spcPts val="1820"/>
              </a:spcBef>
              <a:spcAft>
                <a:spcPts val="0"/>
              </a:spcAft>
              <a:buClrTx/>
              <a:buSzTx/>
              <a:buFont typeface="Arial MT"/>
              <a:buChar char="•"/>
              <a:tabLst>
                <a:tab pos="307975" algn="l"/>
              </a:tabLst>
              <a:defRPr/>
            </a:pPr>
            <a:r>
              <a:rPr kumimoji="0" sz="1800" b="0" i="0" u="none" strike="noStrike" kern="0" cap="none" spc="0" normalizeH="0" baseline="0" noProof="0" dirty="0">
                <a:ln>
                  <a:noFill/>
                </a:ln>
                <a:solidFill>
                  <a:sysClr val="windowText" lastClr="000000"/>
                </a:solidFill>
                <a:effectLst/>
                <a:uLnTx/>
                <a:uFillTx/>
                <a:latin typeface="Times New Roman"/>
                <a:cs typeface="Times New Roman"/>
              </a:rPr>
              <a:t>Customer</a:t>
            </a:r>
            <a:r>
              <a:rPr kumimoji="0" sz="18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involvement</a:t>
            </a:r>
            <a:r>
              <a:rPr kumimoji="0" sz="18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may</a:t>
            </a:r>
            <a:r>
              <a:rPr kumimoji="0" sz="18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cause</a:t>
            </a:r>
            <a:r>
              <a:rPr kumimoji="0" sz="1800" b="0" i="0" u="none" strike="noStrike" kern="0" cap="none" spc="-9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10" normalizeH="0" baseline="0" noProof="0" dirty="0">
                <a:ln>
                  <a:noFill/>
                </a:ln>
                <a:solidFill>
                  <a:sysClr val="windowText" lastClr="000000"/>
                </a:solidFill>
                <a:effectLst/>
                <a:uLnTx/>
                <a:uFillTx/>
                <a:latin typeface="Times New Roman"/>
                <a:cs typeface="Times New Roman"/>
              </a:rPr>
              <a:t>delays.</a:t>
            </a:r>
            <a:endParaRPr kumimoji="0" sz="1800" b="0" i="0" u="none" strike="noStrike" kern="0" cap="none" spc="0" normalizeH="0" baseline="0" noProof="0">
              <a:ln>
                <a:noFill/>
              </a:ln>
              <a:solidFill>
                <a:sysClr val="windowText" lastClr="000000"/>
              </a:solidFill>
              <a:effectLst/>
              <a:uLnTx/>
              <a:uFillTx/>
              <a:latin typeface="Times New Roman"/>
              <a:cs typeface="Times New Roman"/>
            </a:endParaRPr>
          </a:p>
          <a:p>
            <a:pPr marL="307975" marR="0" lvl="0" indent="-295275" defTabSz="914400" eaLnBrk="1" fontAlgn="auto" latinLnBrk="0" hangingPunct="1">
              <a:lnSpc>
                <a:spcPct val="100000"/>
              </a:lnSpc>
              <a:spcBef>
                <a:spcPts val="994"/>
              </a:spcBef>
              <a:spcAft>
                <a:spcPts val="0"/>
              </a:spcAft>
              <a:buClrTx/>
              <a:buSzTx/>
              <a:buFont typeface="Arial MT"/>
              <a:buChar char="•"/>
              <a:tabLst>
                <a:tab pos="307975" algn="l"/>
              </a:tabLst>
              <a:defRPr/>
            </a:pPr>
            <a:r>
              <a:rPr kumimoji="0" sz="1800" b="0" i="0" u="none" strike="noStrike" kern="0" cap="none" spc="-10" normalizeH="0" baseline="0" noProof="0" dirty="0">
                <a:ln>
                  <a:noFill/>
                </a:ln>
                <a:solidFill>
                  <a:sysClr val="windowText" lastClr="000000"/>
                </a:solidFill>
                <a:effectLst/>
                <a:uLnTx/>
                <a:uFillTx/>
                <a:latin typeface="Times New Roman"/>
                <a:cs typeface="Times New Roman"/>
              </a:rPr>
              <a:t>Temptation</a:t>
            </a:r>
            <a:r>
              <a:rPr kumimoji="0" sz="1800" b="0" i="0" u="none" strike="noStrike" kern="0" cap="none" spc="4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18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“ship”</a:t>
            </a:r>
            <a:r>
              <a:rPr kumimoji="0" sz="1800" b="0" i="0" u="none" strike="noStrike" kern="0" cap="none" spc="-7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a </a:t>
            </a:r>
            <a:r>
              <a:rPr kumimoji="0" sz="1800" b="0" i="0" u="none" strike="noStrike" kern="0" cap="none" spc="-10" normalizeH="0" baseline="0" noProof="0" dirty="0">
                <a:ln>
                  <a:noFill/>
                </a:ln>
                <a:solidFill>
                  <a:sysClr val="windowText" lastClr="000000"/>
                </a:solidFill>
                <a:effectLst/>
                <a:uLnTx/>
                <a:uFillTx/>
                <a:latin typeface="Times New Roman"/>
                <a:cs typeface="Times New Roman"/>
              </a:rPr>
              <a:t>prototype.</a:t>
            </a:r>
            <a:endParaRPr kumimoji="0" sz="1800" b="0" i="0" u="none" strike="noStrike" kern="0" cap="none" spc="0" normalizeH="0" baseline="0" noProof="0">
              <a:ln>
                <a:noFill/>
              </a:ln>
              <a:solidFill>
                <a:sysClr val="windowText" lastClr="000000"/>
              </a:solidFill>
              <a:effectLst/>
              <a:uLnTx/>
              <a:uFillTx/>
              <a:latin typeface="Times New Roman"/>
              <a:cs typeface="Times New Roman"/>
            </a:endParaRPr>
          </a:p>
          <a:p>
            <a:pPr marL="307975" marR="0" lvl="0" indent="-295275" defTabSz="914400" eaLnBrk="1" fontAlgn="auto" latinLnBrk="0" hangingPunct="1">
              <a:lnSpc>
                <a:spcPct val="100000"/>
              </a:lnSpc>
              <a:spcBef>
                <a:spcPts val="994"/>
              </a:spcBef>
              <a:spcAft>
                <a:spcPts val="0"/>
              </a:spcAft>
              <a:buClrTx/>
              <a:buSzTx/>
              <a:buFont typeface="Arial MT"/>
              <a:buChar char="•"/>
              <a:tabLst>
                <a:tab pos="307975" algn="l"/>
              </a:tabLst>
              <a:defRPr/>
            </a:pPr>
            <a:r>
              <a:rPr kumimoji="0" sz="1800" b="0" i="0" u="none" strike="noStrike" kern="0" cap="none" spc="-10" normalizeH="0" baseline="0" noProof="0" dirty="0">
                <a:ln>
                  <a:noFill/>
                </a:ln>
                <a:solidFill>
                  <a:sysClr val="windowText" lastClr="000000"/>
                </a:solidFill>
                <a:effectLst/>
                <a:uLnTx/>
                <a:uFillTx/>
                <a:latin typeface="Times New Roman"/>
                <a:cs typeface="Times New Roman"/>
              </a:rPr>
              <a:t>Work</a:t>
            </a:r>
            <a:r>
              <a:rPr kumimoji="0" sz="1800" b="0" i="0" u="none" strike="noStrike" kern="0" cap="none" spc="-6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lost</a:t>
            </a:r>
            <a:r>
              <a:rPr kumimoji="0" sz="18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in</a:t>
            </a:r>
            <a:r>
              <a:rPr kumimoji="0" sz="18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a</a:t>
            </a:r>
            <a:r>
              <a:rPr kumimoji="0" sz="18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throwaway</a:t>
            </a:r>
            <a:r>
              <a:rPr kumimoji="0" sz="1800" b="0" i="0" u="none" strike="noStrike" kern="0" cap="none" spc="-11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10" normalizeH="0" baseline="0" noProof="0" dirty="0">
                <a:ln>
                  <a:noFill/>
                </a:ln>
                <a:solidFill>
                  <a:sysClr val="windowText" lastClr="000000"/>
                </a:solidFill>
                <a:effectLst/>
                <a:uLnTx/>
                <a:uFillTx/>
                <a:latin typeface="Times New Roman"/>
                <a:cs typeface="Times New Roman"/>
              </a:rPr>
              <a:t>prototype.</a:t>
            </a:r>
            <a:endParaRPr kumimoji="0" sz="1800" b="0" i="0" u="none" strike="noStrike" kern="0" cap="none" spc="0" normalizeH="0" baseline="0" noProof="0">
              <a:ln>
                <a:noFill/>
              </a:ln>
              <a:solidFill>
                <a:sysClr val="windowText" lastClr="000000"/>
              </a:solidFill>
              <a:effectLst/>
              <a:uLnTx/>
              <a:uFillTx/>
              <a:latin typeface="Times New Roman"/>
              <a:cs typeface="Times New Roman"/>
            </a:endParaRPr>
          </a:p>
          <a:p>
            <a:pPr marL="307975" marR="0" lvl="0" indent="-295275" defTabSz="914400" eaLnBrk="1" fontAlgn="auto" latinLnBrk="0" hangingPunct="1">
              <a:lnSpc>
                <a:spcPct val="100000"/>
              </a:lnSpc>
              <a:spcBef>
                <a:spcPts val="994"/>
              </a:spcBef>
              <a:spcAft>
                <a:spcPts val="0"/>
              </a:spcAft>
              <a:buClrTx/>
              <a:buSzTx/>
              <a:buFont typeface="Arial MT"/>
              <a:buChar char="•"/>
              <a:tabLst>
                <a:tab pos="307975" algn="l"/>
              </a:tabLst>
              <a:defRPr/>
            </a:pPr>
            <a:r>
              <a:rPr kumimoji="0" sz="1800" b="0" i="0" u="none" strike="noStrike" kern="0" cap="none" spc="0" normalizeH="0" baseline="0" noProof="0" dirty="0">
                <a:ln>
                  <a:noFill/>
                </a:ln>
                <a:solidFill>
                  <a:sysClr val="windowText" lastClr="000000"/>
                </a:solidFill>
                <a:effectLst/>
                <a:uLnTx/>
                <a:uFillTx/>
                <a:latin typeface="Times New Roman"/>
                <a:cs typeface="Times New Roman"/>
              </a:rPr>
              <a:t>Hard</a:t>
            </a:r>
            <a:r>
              <a:rPr kumimoji="0" sz="18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to plan</a:t>
            </a:r>
            <a:r>
              <a:rPr kumimoji="0" sz="18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and </a:t>
            </a:r>
            <a:r>
              <a:rPr kumimoji="0" sz="1800" b="0" i="0" u="none" strike="noStrike" kern="0" cap="none" spc="-10" normalizeH="0" baseline="0" noProof="0" dirty="0">
                <a:ln>
                  <a:noFill/>
                </a:ln>
                <a:solidFill>
                  <a:sysClr val="windowText" lastClr="000000"/>
                </a:solidFill>
                <a:effectLst/>
                <a:uLnTx/>
                <a:uFillTx/>
                <a:latin typeface="Times New Roman"/>
                <a:cs typeface="Times New Roman"/>
              </a:rPr>
              <a:t>manage.</a:t>
            </a:r>
            <a:endParaRPr kumimoji="0" sz="18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5" name="object 5"/>
          <p:cNvSpPr txBox="1"/>
          <p:nvPr/>
        </p:nvSpPr>
        <p:spPr>
          <a:xfrm>
            <a:off x="3247389" y="6289476"/>
            <a:ext cx="2644140" cy="194945"/>
          </a:xfrm>
          <a:prstGeom prst="rect">
            <a:avLst/>
          </a:prstGeom>
        </p:spPr>
        <p:txBody>
          <a:bodyPr vert="horz" wrap="square" lIns="0" tIns="0" rIns="0" bIns="0" rtlCol="0">
            <a:spAutoFit/>
          </a:bodyPr>
          <a:lstStyle/>
          <a:p>
            <a:pPr marL="12700" marR="0" lvl="0" indent="0" defTabSz="914400" eaLnBrk="1" fontAlgn="auto" latinLnBrk="0" hangingPunct="1">
              <a:lnSpc>
                <a:spcPts val="1410"/>
              </a:lnSpc>
              <a:spcBef>
                <a:spcPts val="0"/>
              </a:spcBef>
              <a:spcAft>
                <a:spcPts val="0"/>
              </a:spcAft>
              <a:buClrTx/>
              <a:buSzTx/>
              <a:buFontTx/>
              <a:buNone/>
              <a:tabLst/>
              <a:defRPr/>
            </a:pPr>
            <a:r>
              <a:rPr kumimoji="0" sz="1200" b="0" i="0" u="sng" strike="noStrike" kern="0" cap="none" spc="0" normalizeH="0" baseline="0" noProof="0" dirty="0">
                <a:ln>
                  <a:noFill/>
                </a:ln>
                <a:solidFill>
                  <a:sysClr val="windowText" lastClr="000000"/>
                </a:solidFill>
                <a:effectLst/>
                <a:uLnTx/>
                <a:uFill>
                  <a:solidFill>
                    <a:srgbClr val="000000"/>
                  </a:solidFill>
                </a:uFill>
                <a:latin typeface="Times New Roman"/>
                <a:cs typeface="Times New Roman"/>
              </a:rPr>
              <a:t>Access</a:t>
            </a:r>
            <a:r>
              <a:rPr kumimoji="0" sz="1200" b="0" i="0" u="sng" strike="noStrike" kern="0" cap="none" spc="-35" normalizeH="0" baseline="0" noProof="0" dirty="0">
                <a:ln>
                  <a:noFill/>
                </a:ln>
                <a:solidFill>
                  <a:sysClr val="windowText" lastClr="000000"/>
                </a:solidFill>
                <a:effectLst/>
                <a:uLnTx/>
                <a:uFill>
                  <a:solidFill>
                    <a:srgbClr val="000000"/>
                  </a:solidFill>
                </a:uFill>
                <a:latin typeface="Times New Roman"/>
                <a:cs typeface="Times New Roman"/>
              </a:rPr>
              <a:t> </a:t>
            </a:r>
            <a:r>
              <a:rPr kumimoji="0" sz="1200" b="0" i="0" u="sng" strike="noStrike" kern="0" cap="none" spc="0" normalizeH="0" baseline="0" noProof="0" dirty="0">
                <a:ln>
                  <a:noFill/>
                </a:ln>
                <a:solidFill>
                  <a:sysClr val="windowText" lastClr="000000"/>
                </a:solidFill>
                <a:effectLst/>
                <a:uLnTx/>
                <a:uFill>
                  <a:solidFill>
                    <a:srgbClr val="000000"/>
                  </a:solidFill>
                </a:uFill>
                <a:latin typeface="Times New Roman"/>
                <a:cs typeface="Times New Roman"/>
              </a:rPr>
              <a:t>the</a:t>
            </a:r>
            <a:r>
              <a:rPr kumimoji="0" sz="1200" b="0" i="0" u="sng" strike="noStrike" kern="0" cap="none" spc="25" normalizeH="0" baseline="0" noProof="0" dirty="0">
                <a:ln>
                  <a:noFill/>
                </a:ln>
                <a:solidFill>
                  <a:sysClr val="windowText" lastClr="000000"/>
                </a:solidFill>
                <a:effectLst/>
                <a:uLnTx/>
                <a:uFill>
                  <a:solidFill>
                    <a:srgbClr val="000000"/>
                  </a:solidFill>
                </a:uFill>
                <a:latin typeface="Times New Roman"/>
                <a:cs typeface="Times New Roman"/>
              </a:rPr>
              <a:t> </a:t>
            </a:r>
            <a:r>
              <a:rPr kumimoji="0" sz="1200" b="0" i="0" u="sng" strike="noStrike" kern="0" cap="none" spc="-10" normalizeH="0" baseline="0" noProof="0" dirty="0">
                <a:ln>
                  <a:noFill/>
                </a:ln>
                <a:solidFill>
                  <a:sysClr val="windowText" lastClr="000000"/>
                </a:solidFill>
                <a:effectLst/>
                <a:uLnTx/>
                <a:uFill>
                  <a:solidFill>
                    <a:srgbClr val="000000"/>
                  </a:solidFill>
                </a:uFill>
                <a:latin typeface="Times New Roman"/>
                <a:cs typeface="Times New Roman"/>
              </a:rPr>
              <a:t>text</a:t>
            </a:r>
            <a:r>
              <a:rPr kumimoji="0" sz="1200" b="0" i="0" u="sng" strike="noStrike" kern="0" cap="none" spc="10" normalizeH="0" baseline="0" noProof="0" dirty="0">
                <a:ln>
                  <a:noFill/>
                </a:ln>
                <a:solidFill>
                  <a:sysClr val="windowText" lastClr="000000"/>
                </a:solidFill>
                <a:effectLst/>
                <a:uLnTx/>
                <a:uFill>
                  <a:solidFill>
                    <a:srgbClr val="000000"/>
                  </a:solidFill>
                </a:uFill>
                <a:latin typeface="Times New Roman"/>
                <a:cs typeface="Times New Roman"/>
              </a:rPr>
              <a:t> </a:t>
            </a:r>
            <a:r>
              <a:rPr kumimoji="0" sz="1200" b="0" i="0" u="sng" strike="noStrike" kern="0" cap="none" spc="-25" normalizeH="0" baseline="0" noProof="0" dirty="0">
                <a:ln>
                  <a:noFill/>
                </a:ln>
                <a:solidFill>
                  <a:sysClr val="windowText" lastClr="000000"/>
                </a:solidFill>
                <a:effectLst/>
                <a:uLnTx/>
                <a:uFill>
                  <a:solidFill>
                    <a:srgbClr val="000000"/>
                  </a:solidFill>
                </a:uFill>
                <a:latin typeface="Times New Roman"/>
                <a:cs typeface="Times New Roman"/>
              </a:rPr>
              <a:t>alternative</a:t>
            </a:r>
            <a:r>
              <a:rPr kumimoji="0" sz="1200" b="0" i="0" u="sng" strike="noStrike" kern="0" cap="none" spc="195" normalizeH="0" baseline="0" noProof="0" dirty="0">
                <a:ln>
                  <a:noFill/>
                </a:ln>
                <a:solidFill>
                  <a:sysClr val="windowText" lastClr="000000"/>
                </a:solidFill>
                <a:effectLst/>
                <a:uLnTx/>
                <a:uFill>
                  <a:solidFill>
                    <a:srgbClr val="000000"/>
                  </a:solidFill>
                </a:uFill>
                <a:latin typeface="Times New Roman"/>
                <a:cs typeface="Times New Roman"/>
              </a:rPr>
              <a:t> </a:t>
            </a:r>
            <a:r>
              <a:rPr kumimoji="0" sz="1200" b="0" i="0" u="sng" strike="noStrike" kern="0" cap="none" spc="0" normalizeH="0" baseline="0" noProof="0" dirty="0">
                <a:ln>
                  <a:noFill/>
                </a:ln>
                <a:solidFill>
                  <a:sysClr val="windowText" lastClr="000000"/>
                </a:solidFill>
                <a:effectLst/>
                <a:uLnTx/>
                <a:uFill>
                  <a:solidFill>
                    <a:srgbClr val="000000"/>
                  </a:solidFill>
                </a:uFill>
                <a:latin typeface="Times New Roman"/>
                <a:cs typeface="Times New Roman"/>
              </a:rPr>
              <a:t>for</a:t>
            </a:r>
            <a:r>
              <a:rPr kumimoji="0" sz="1200" b="0" i="0" u="sng" strike="noStrike" kern="0" cap="none" spc="15" normalizeH="0" baseline="0" noProof="0" dirty="0">
                <a:ln>
                  <a:noFill/>
                </a:ln>
                <a:solidFill>
                  <a:sysClr val="windowText" lastClr="000000"/>
                </a:solidFill>
                <a:effectLst/>
                <a:uLnTx/>
                <a:uFill>
                  <a:solidFill>
                    <a:srgbClr val="000000"/>
                  </a:solidFill>
                </a:uFill>
                <a:latin typeface="Times New Roman"/>
                <a:cs typeface="Times New Roman"/>
              </a:rPr>
              <a:t> </a:t>
            </a:r>
            <a:r>
              <a:rPr kumimoji="0" sz="1200" b="0" i="0" u="sng" strike="noStrike" kern="0" cap="none" spc="-25" normalizeH="0" baseline="0" noProof="0" dirty="0">
                <a:ln>
                  <a:noFill/>
                </a:ln>
                <a:solidFill>
                  <a:sysClr val="windowText" lastClr="000000"/>
                </a:solidFill>
                <a:effectLst/>
                <a:uLnTx/>
                <a:uFill>
                  <a:solidFill>
                    <a:srgbClr val="000000"/>
                  </a:solidFill>
                </a:uFill>
                <a:latin typeface="Times New Roman"/>
                <a:cs typeface="Times New Roman"/>
              </a:rPr>
              <a:t>slide</a:t>
            </a:r>
            <a:r>
              <a:rPr kumimoji="0" sz="1200" b="0" i="0" u="sng" strike="noStrike" kern="0" cap="none" spc="80" normalizeH="0" baseline="0" noProof="0" dirty="0">
                <a:ln>
                  <a:noFill/>
                </a:ln>
                <a:solidFill>
                  <a:sysClr val="windowText" lastClr="000000"/>
                </a:solidFill>
                <a:effectLst/>
                <a:uLnTx/>
                <a:uFill>
                  <a:solidFill>
                    <a:srgbClr val="000000"/>
                  </a:solidFill>
                </a:uFill>
                <a:latin typeface="Times New Roman"/>
                <a:cs typeface="Times New Roman"/>
              </a:rPr>
              <a:t> </a:t>
            </a:r>
            <a:r>
              <a:rPr kumimoji="0" sz="1200" b="0" i="0" u="sng" strike="noStrike" kern="0" cap="none" spc="-30" normalizeH="0" baseline="0" noProof="0" dirty="0">
                <a:ln>
                  <a:noFill/>
                </a:ln>
                <a:solidFill>
                  <a:sysClr val="windowText" lastClr="000000"/>
                </a:solidFill>
                <a:effectLst/>
                <a:uLnTx/>
                <a:uFill>
                  <a:solidFill>
                    <a:srgbClr val="000000"/>
                  </a:solidFill>
                </a:uFill>
                <a:latin typeface="Times New Roman"/>
                <a:cs typeface="Times New Roman"/>
              </a:rPr>
              <a:t>images.</a:t>
            </a:r>
            <a:endParaRPr kumimoji="0" sz="12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6" name="object 6"/>
          <p:cNvSpPr txBox="1">
            <a:spLocks noGrp="1"/>
          </p:cNvSpPr>
          <p:nvPr>
            <p:ph type="sldNum" sz="quarter" idx="7"/>
          </p:nvPr>
        </p:nvSpPr>
        <p:spPr>
          <a:prstGeom prst="rect">
            <a:avLst/>
          </a:prstGeom>
        </p:spPr>
        <p:txBody>
          <a:bodyPr vert="horz" wrap="square" lIns="0" tIns="6350" rIns="0" bIns="0" rtlCol="0">
            <a:spAutoFit/>
          </a:bodyPr>
          <a:lstStyle/>
          <a:p>
            <a:pPr marL="12700" marR="0" lvl="0" indent="0" defTabSz="914400" eaLnBrk="1" fontAlgn="auto" latinLnBrk="0" hangingPunct="1">
              <a:lnSpc>
                <a:spcPct val="100000"/>
              </a:lnSpc>
              <a:spcBef>
                <a:spcPts val="50"/>
              </a:spcBef>
              <a:spcAft>
                <a:spcPts val="0"/>
              </a:spcAft>
              <a:buClrTx/>
              <a:buSzTx/>
              <a:buFontTx/>
              <a:buNone/>
              <a:tabLst/>
              <a:defRPr/>
            </a:pPr>
            <a:fld id="{81D60167-4931-47E6-BA6A-407CBD079E47}" type="slidenum">
              <a:rPr kumimoji="0" sz="800" b="0" i="0" u="none" strike="noStrike" kern="0" cap="none" spc="-25" normalizeH="0" baseline="0" noProof="0" dirty="0">
                <a:ln>
                  <a:noFill/>
                </a:ln>
                <a:solidFill>
                  <a:srgbClr val="585858"/>
                </a:solidFill>
                <a:effectLst/>
                <a:uLnTx/>
                <a:uFillTx/>
                <a:latin typeface="Arial MT"/>
              </a:rPr>
              <a:pPr marL="12700" marR="0" lvl="0" indent="0" defTabSz="914400" eaLnBrk="1" fontAlgn="auto" latinLnBrk="0" hangingPunct="1">
                <a:lnSpc>
                  <a:spcPct val="100000"/>
                </a:lnSpc>
                <a:spcBef>
                  <a:spcPts val="50"/>
                </a:spcBef>
                <a:spcAft>
                  <a:spcPts val="0"/>
                </a:spcAft>
                <a:buClrTx/>
                <a:buSzTx/>
                <a:buFontTx/>
                <a:buNone/>
                <a:tabLst/>
                <a:defRPr/>
              </a:pPr>
              <a:t>9</a:t>
            </a:fld>
            <a:endParaRPr kumimoji="0" sz="800" b="0" i="0" u="none" strike="noStrike" kern="0" cap="none" spc="-25" normalizeH="0" baseline="0" noProof="0" dirty="0">
              <a:ln>
                <a:noFill/>
              </a:ln>
              <a:solidFill>
                <a:srgbClr val="585858"/>
              </a:solidFill>
              <a:effectLst/>
              <a:uLnTx/>
              <a:uFillTx/>
              <a:latin typeface="Arial MT"/>
            </a:endParaRPr>
          </a:p>
        </p:txBody>
      </p:sp>
      <p:sp>
        <p:nvSpPr>
          <p:cNvPr id="7" name="object 7"/>
          <p:cNvSpPr txBox="1">
            <a:spLocks noGrp="1"/>
          </p:cNvSpPr>
          <p:nvPr>
            <p:ph type="ftr" sz="quarter" idx="5"/>
          </p:nvPr>
        </p:nvSpPr>
        <p:spPr>
          <a:prstGeom prst="rect">
            <a:avLst/>
          </a:prstGeom>
        </p:spPr>
        <p:txBody>
          <a:bodyPr vert="horz" wrap="square" lIns="0" tIns="4445" rIns="0" bIns="0" rtlCol="0">
            <a:spAutoFit/>
          </a:bodyPr>
          <a:lstStyle/>
          <a:p>
            <a:pPr marL="12700" marR="0" lvl="0" indent="0" defTabSz="914400" eaLnBrk="1" fontAlgn="auto" latinLnBrk="0" hangingPunct="1">
              <a:lnSpc>
                <a:spcPct val="100000"/>
              </a:lnSpc>
              <a:spcBef>
                <a:spcPts val="35"/>
              </a:spcBef>
              <a:spcAft>
                <a:spcPts val="0"/>
              </a:spcAft>
              <a:buClrTx/>
              <a:buSzTx/>
              <a:buFontTx/>
              <a:buNone/>
              <a:tabLst/>
              <a:defRPr/>
            </a:pPr>
            <a:r>
              <a:rPr kumimoji="0" sz="800" b="0" i="0" u="none" strike="noStrike" kern="0" cap="none" spc="0" normalizeH="0" baseline="0" noProof="0" dirty="0">
                <a:ln>
                  <a:noFill/>
                </a:ln>
                <a:solidFill>
                  <a:srgbClr val="585858"/>
                </a:solidFill>
                <a:effectLst/>
                <a:uLnTx/>
                <a:uFillTx/>
                <a:latin typeface="Times New Roman"/>
                <a:cs typeface="Times New Roman"/>
              </a:rPr>
              <a:t>©</a:t>
            </a:r>
            <a:r>
              <a:rPr kumimoji="0" sz="800" b="0" i="0" u="none" strike="noStrike" kern="0" cap="none" spc="45" normalizeH="0" baseline="0" noProof="0" dirty="0">
                <a:ln>
                  <a:noFill/>
                </a:ln>
                <a:solidFill>
                  <a:srgbClr val="585858"/>
                </a:solidFill>
                <a:effectLst/>
                <a:uLnTx/>
                <a:uFillTx/>
                <a:latin typeface="Times New Roman"/>
                <a:cs typeface="Times New Roman"/>
              </a:rPr>
              <a:t> </a:t>
            </a:r>
            <a:r>
              <a:rPr kumimoji="0" sz="800" b="0" i="0" u="none" strike="noStrike" kern="0" cap="none" spc="0" normalizeH="0" baseline="0" noProof="0" dirty="0">
                <a:ln>
                  <a:noFill/>
                </a:ln>
                <a:solidFill>
                  <a:srgbClr val="585858"/>
                </a:solidFill>
                <a:effectLst/>
                <a:uLnTx/>
                <a:uFillTx/>
                <a:latin typeface="Times New Roman"/>
                <a:cs typeface="Times New Roman"/>
              </a:rPr>
              <a:t>McGraw</a:t>
            </a:r>
            <a:r>
              <a:rPr kumimoji="0" sz="800" b="0" i="0" u="none" strike="noStrike" kern="0" cap="none" spc="-105" normalizeH="0" baseline="0" noProof="0" dirty="0">
                <a:ln>
                  <a:noFill/>
                </a:ln>
                <a:solidFill>
                  <a:srgbClr val="585858"/>
                </a:solidFill>
                <a:effectLst/>
                <a:uLnTx/>
                <a:uFillTx/>
                <a:latin typeface="Times New Roman"/>
                <a:cs typeface="Times New Roman"/>
              </a:rPr>
              <a:t> </a:t>
            </a:r>
            <a:r>
              <a:rPr kumimoji="0" sz="800" b="0" i="0" u="none" strike="noStrike" kern="0" cap="none" spc="-20" normalizeH="0" baseline="0" noProof="0" dirty="0">
                <a:ln>
                  <a:noFill/>
                </a:ln>
                <a:solidFill>
                  <a:srgbClr val="585858"/>
                </a:solidFill>
                <a:effectLst/>
                <a:uLnTx/>
                <a:uFillTx/>
                <a:latin typeface="Times New Roman"/>
                <a:cs typeface="Times New Roman"/>
              </a:rPr>
              <a:t>Hill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dirty="0"/>
              <a:t>Spiral</a:t>
            </a:r>
            <a:r>
              <a:rPr spc="80" dirty="0"/>
              <a:t> </a:t>
            </a:r>
            <a:r>
              <a:rPr dirty="0"/>
              <a:t>Process</a:t>
            </a:r>
            <a:r>
              <a:rPr spc="-50" dirty="0"/>
              <a:t> </a:t>
            </a:r>
            <a:r>
              <a:rPr spc="-10" dirty="0"/>
              <a:t>Model</a:t>
            </a:r>
          </a:p>
        </p:txBody>
      </p:sp>
      <p:pic>
        <p:nvPicPr>
          <p:cNvPr id="3" name="object 3"/>
          <p:cNvPicPr/>
          <p:nvPr/>
        </p:nvPicPr>
        <p:blipFill>
          <a:blip r:embed="rId2" cstate="print"/>
          <a:stretch>
            <a:fillRect/>
          </a:stretch>
        </p:blipFill>
        <p:spPr>
          <a:xfrm>
            <a:off x="285750" y="1485900"/>
            <a:ext cx="4181475" cy="3248025"/>
          </a:xfrm>
          <a:prstGeom prst="rect">
            <a:avLst/>
          </a:prstGeom>
        </p:spPr>
      </p:pic>
      <p:sp>
        <p:nvSpPr>
          <p:cNvPr id="4" name="object 4"/>
          <p:cNvSpPr txBox="1"/>
          <p:nvPr/>
        </p:nvSpPr>
        <p:spPr>
          <a:xfrm>
            <a:off x="4869560" y="1542986"/>
            <a:ext cx="3832860" cy="426720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800" b="1" i="0" u="none" strike="noStrike" kern="0" cap="none" spc="-20" normalizeH="0" baseline="0" noProof="0" dirty="0">
                <a:ln>
                  <a:noFill/>
                </a:ln>
                <a:solidFill>
                  <a:sysClr val="windowText" lastClr="000000"/>
                </a:solidFill>
                <a:effectLst/>
                <a:uLnTx/>
                <a:uFillTx/>
                <a:latin typeface="Times New Roman"/>
                <a:cs typeface="Times New Roman"/>
              </a:rPr>
              <a:t>Pros</a:t>
            </a:r>
            <a:endParaRPr kumimoji="0" sz="1800" b="0" i="0" u="none" strike="noStrike" kern="0" cap="none" spc="0" normalizeH="0" baseline="0" noProof="0" dirty="0">
              <a:ln>
                <a:noFill/>
              </a:ln>
              <a:solidFill>
                <a:sysClr val="windowText" lastClr="000000"/>
              </a:solidFill>
              <a:effectLst/>
              <a:uLnTx/>
              <a:uFillTx/>
              <a:latin typeface="Times New Roman"/>
              <a:cs typeface="Times New Roman"/>
            </a:endParaRPr>
          </a:p>
          <a:p>
            <a:pPr marL="307975" marR="0" lvl="0" indent="-295275" defTabSz="914400" eaLnBrk="1" fontAlgn="auto" latinLnBrk="0" hangingPunct="1">
              <a:lnSpc>
                <a:spcPct val="100000"/>
              </a:lnSpc>
              <a:spcBef>
                <a:spcPts val="1820"/>
              </a:spcBef>
              <a:spcAft>
                <a:spcPts val="0"/>
              </a:spcAft>
              <a:buClrTx/>
              <a:buSzTx/>
              <a:buFont typeface="Arial MT"/>
              <a:buChar char="•"/>
              <a:tabLst>
                <a:tab pos="307975" algn="l"/>
              </a:tabLst>
              <a:defRPr/>
            </a:pPr>
            <a:r>
              <a:rPr kumimoji="0" sz="1800" b="0" i="0" u="none" strike="noStrike" kern="0" cap="none" spc="0" normalizeH="0" baseline="0" noProof="0" dirty="0">
                <a:ln>
                  <a:noFill/>
                </a:ln>
                <a:solidFill>
                  <a:sysClr val="windowText" lastClr="000000"/>
                </a:solidFill>
                <a:effectLst/>
                <a:uLnTx/>
                <a:uFillTx/>
                <a:latin typeface="Times New Roman"/>
                <a:cs typeface="Times New Roman"/>
              </a:rPr>
              <a:t>Continuous</a:t>
            </a:r>
            <a:r>
              <a:rPr kumimoji="0" sz="18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customer</a:t>
            </a:r>
            <a:r>
              <a:rPr kumimoji="0" sz="18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10" normalizeH="0" baseline="0" noProof="0" dirty="0">
                <a:ln>
                  <a:noFill/>
                </a:ln>
                <a:solidFill>
                  <a:sysClr val="windowText" lastClr="000000"/>
                </a:solidFill>
                <a:effectLst/>
                <a:uLnTx/>
                <a:uFillTx/>
                <a:latin typeface="Times New Roman"/>
                <a:cs typeface="Times New Roman"/>
              </a:rPr>
              <a:t>involvement.</a:t>
            </a:r>
            <a:endParaRPr kumimoji="0" sz="1800" b="0" i="0" u="none" strike="noStrike" kern="0" cap="none" spc="0" normalizeH="0" baseline="0" noProof="0" dirty="0">
              <a:ln>
                <a:noFill/>
              </a:ln>
              <a:solidFill>
                <a:sysClr val="windowText" lastClr="000000"/>
              </a:solidFill>
              <a:effectLst/>
              <a:uLnTx/>
              <a:uFillTx/>
              <a:latin typeface="Times New Roman"/>
              <a:cs typeface="Times New Roman"/>
            </a:endParaRPr>
          </a:p>
          <a:p>
            <a:pPr marL="307975" marR="0" lvl="0" indent="-295275" defTabSz="914400" eaLnBrk="1" fontAlgn="auto" latinLnBrk="0" hangingPunct="1">
              <a:lnSpc>
                <a:spcPct val="100000"/>
              </a:lnSpc>
              <a:spcBef>
                <a:spcPts val="994"/>
              </a:spcBef>
              <a:spcAft>
                <a:spcPts val="0"/>
              </a:spcAft>
              <a:buClrTx/>
              <a:buSzTx/>
              <a:buFont typeface="Arial MT"/>
              <a:buChar char="•"/>
              <a:tabLst>
                <a:tab pos="307975" algn="l"/>
              </a:tabLst>
              <a:defRPr/>
            </a:pPr>
            <a:r>
              <a:rPr kumimoji="0" sz="1800" b="0" i="0" u="none" strike="noStrike" kern="0" cap="none" spc="0" normalizeH="0" baseline="0" noProof="0" dirty="0">
                <a:ln>
                  <a:noFill/>
                </a:ln>
                <a:solidFill>
                  <a:sysClr val="windowText" lastClr="000000"/>
                </a:solidFill>
                <a:effectLst/>
                <a:uLnTx/>
                <a:uFillTx/>
                <a:latin typeface="Times New Roman"/>
                <a:cs typeface="Times New Roman"/>
              </a:rPr>
              <a:t>Development</a:t>
            </a:r>
            <a:r>
              <a:rPr kumimoji="0" sz="18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risks</a:t>
            </a:r>
            <a:r>
              <a:rPr kumimoji="0" sz="18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are</a:t>
            </a:r>
            <a:r>
              <a:rPr kumimoji="0" sz="1800" b="0" i="0" u="none" strike="noStrike" kern="0" cap="none" spc="-9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10" normalizeH="0" baseline="0" noProof="0" dirty="0">
                <a:ln>
                  <a:noFill/>
                </a:ln>
                <a:solidFill>
                  <a:sysClr val="windowText" lastClr="000000"/>
                </a:solidFill>
                <a:effectLst/>
                <a:uLnTx/>
                <a:uFillTx/>
                <a:latin typeface="Times New Roman"/>
                <a:cs typeface="Times New Roman"/>
              </a:rPr>
              <a:t>managed.</a:t>
            </a:r>
            <a:endParaRPr kumimoji="0" sz="1800" b="0" i="0" u="none" strike="noStrike" kern="0" cap="none" spc="0" normalizeH="0" baseline="0" noProof="0" dirty="0">
              <a:ln>
                <a:noFill/>
              </a:ln>
              <a:solidFill>
                <a:sysClr val="windowText" lastClr="000000"/>
              </a:solidFill>
              <a:effectLst/>
              <a:uLnTx/>
              <a:uFillTx/>
              <a:latin typeface="Times New Roman"/>
              <a:cs typeface="Times New Roman"/>
            </a:endParaRPr>
          </a:p>
          <a:p>
            <a:pPr marL="307975" marR="0" lvl="0" indent="-295275" defTabSz="914400" eaLnBrk="1" fontAlgn="auto" latinLnBrk="0" hangingPunct="1">
              <a:lnSpc>
                <a:spcPct val="100000"/>
              </a:lnSpc>
              <a:spcBef>
                <a:spcPts val="994"/>
              </a:spcBef>
              <a:spcAft>
                <a:spcPts val="0"/>
              </a:spcAft>
              <a:buClrTx/>
              <a:buSzTx/>
              <a:buFont typeface="Arial MT"/>
              <a:buChar char="•"/>
              <a:tabLst>
                <a:tab pos="307975" algn="l"/>
              </a:tabLst>
              <a:defRPr/>
            </a:pPr>
            <a:r>
              <a:rPr kumimoji="0" sz="1800" b="0" i="0" u="none" strike="noStrike" kern="0" cap="none" spc="0" normalizeH="0" baseline="0" noProof="0" dirty="0">
                <a:ln>
                  <a:noFill/>
                </a:ln>
                <a:solidFill>
                  <a:sysClr val="windowText" lastClr="000000"/>
                </a:solidFill>
                <a:effectLst/>
                <a:uLnTx/>
                <a:uFillTx/>
                <a:latin typeface="Times New Roman"/>
                <a:cs typeface="Times New Roman"/>
              </a:rPr>
              <a:t>Suitable</a:t>
            </a:r>
            <a:r>
              <a:rPr kumimoji="0" sz="18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for</a:t>
            </a:r>
            <a:r>
              <a:rPr kumimoji="0" sz="1800" b="0" i="0" u="none" strike="noStrike" kern="0" cap="none" spc="-7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large,</a:t>
            </a:r>
            <a:r>
              <a:rPr kumimoji="0" sz="1800" b="0" i="0" u="none" strike="noStrike" kern="0" cap="none" spc="-7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complex</a:t>
            </a:r>
            <a:r>
              <a:rPr kumimoji="0" sz="18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10" normalizeH="0" baseline="0" noProof="0" dirty="0">
                <a:ln>
                  <a:noFill/>
                </a:ln>
                <a:solidFill>
                  <a:sysClr val="windowText" lastClr="000000"/>
                </a:solidFill>
                <a:effectLst/>
                <a:uLnTx/>
                <a:uFillTx/>
                <a:latin typeface="Times New Roman"/>
                <a:cs typeface="Times New Roman"/>
              </a:rPr>
              <a:t>projects.</a:t>
            </a:r>
            <a:endParaRPr kumimoji="0" sz="1800" b="0" i="0" u="none" strike="noStrike" kern="0" cap="none" spc="0" normalizeH="0" baseline="0" noProof="0" dirty="0">
              <a:ln>
                <a:noFill/>
              </a:ln>
              <a:solidFill>
                <a:sysClr val="windowText" lastClr="000000"/>
              </a:solidFill>
              <a:effectLst/>
              <a:uLnTx/>
              <a:uFillTx/>
              <a:latin typeface="Times New Roman"/>
              <a:cs typeface="Times New Roman"/>
            </a:endParaRPr>
          </a:p>
          <a:p>
            <a:pPr marL="307975" marR="0" lvl="0" indent="-295275" defTabSz="914400" eaLnBrk="1" fontAlgn="auto" latinLnBrk="0" hangingPunct="1">
              <a:lnSpc>
                <a:spcPct val="100000"/>
              </a:lnSpc>
              <a:spcBef>
                <a:spcPts val="994"/>
              </a:spcBef>
              <a:spcAft>
                <a:spcPts val="0"/>
              </a:spcAft>
              <a:buClrTx/>
              <a:buSzTx/>
              <a:buFont typeface="Arial MT"/>
              <a:buChar char="•"/>
              <a:tabLst>
                <a:tab pos="307975" algn="l"/>
              </a:tabLst>
              <a:defRPr/>
            </a:pPr>
            <a:r>
              <a:rPr kumimoji="0" sz="1800" b="0" i="0" u="none" strike="noStrike" kern="0" cap="none" spc="0" normalizeH="0" baseline="0" noProof="0" dirty="0">
                <a:ln>
                  <a:noFill/>
                </a:ln>
                <a:solidFill>
                  <a:sysClr val="windowText" lastClr="000000"/>
                </a:solidFill>
                <a:effectLst/>
                <a:uLnTx/>
                <a:uFillTx/>
                <a:latin typeface="Times New Roman"/>
                <a:cs typeface="Times New Roman"/>
              </a:rPr>
              <a:t>It</a:t>
            </a:r>
            <a:r>
              <a:rPr kumimoji="0" sz="1800" b="0" i="0" u="none" strike="noStrike" kern="0" cap="none" spc="-3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works</a:t>
            </a:r>
            <a:r>
              <a:rPr kumimoji="0" sz="18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well</a:t>
            </a:r>
            <a:r>
              <a:rPr kumimoji="0" sz="1800" b="0" i="0" u="none" strike="noStrike" kern="0" cap="none" spc="5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for</a:t>
            </a:r>
            <a:r>
              <a:rPr kumimoji="0" sz="1800" b="0" i="0" u="none" strike="noStrike" kern="0" cap="none" spc="-3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extensible</a:t>
            </a:r>
            <a:r>
              <a:rPr kumimoji="0" sz="1800" b="0" i="0" u="none" strike="noStrike" kern="0" cap="none" spc="-1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10" normalizeH="0" baseline="0" noProof="0" dirty="0">
                <a:ln>
                  <a:noFill/>
                </a:ln>
                <a:solidFill>
                  <a:sysClr val="windowText" lastClr="000000"/>
                </a:solidFill>
                <a:effectLst/>
                <a:uLnTx/>
                <a:uFillTx/>
                <a:latin typeface="Times New Roman"/>
                <a:cs typeface="Times New Roman"/>
              </a:rPr>
              <a:t>products.</a:t>
            </a:r>
            <a:endParaRPr kumimoji="0" sz="1800" b="0" i="0" u="none" strike="noStrike" kern="0" cap="none" spc="0" normalizeH="0" baseline="0" noProof="0" dirty="0">
              <a:ln>
                <a:noFill/>
              </a:ln>
              <a:solidFill>
                <a:sysClr val="windowText" lastClr="000000"/>
              </a:solidFill>
              <a:effectLst/>
              <a:uLnTx/>
              <a:uFillTx/>
              <a:latin typeface="Times New Roman"/>
              <a:cs typeface="Times New Roman"/>
            </a:endParaRPr>
          </a:p>
          <a:p>
            <a:pPr marL="0" marR="0" lvl="0" indent="0" defTabSz="914400" eaLnBrk="1" fontAlgn="auto" latinLnBrk="0" hangingPunct="1">
              <a:lnSpc>
                <a:spcPct val="100000"/>
              </a:lnSpc>
              <a:spcBef>
                <a:spcPts val="1095"/>
              </a:spcBef>
              <a:spcAft>
                <a:spcPts val="0"/>
              </a:spcAft>
              <a:buClrTx/>
              <a:buSzTx/>
              <a:buFont typeface="Arial MT"/>
              <a:buChar char="•"/>
              <a:tabLst/>
              <a:defRPr/>
            </a:pPr>
            <a:endParaRPr kumimoji="0" sz="1800" b="0" i="0" u="none" strike="noStrike" kern="0" cap="none" spc="0" normalizeH="0" baseline="0" noProof="0" dirty="0">
              <a:ln>
                <a:noFill/>
              </a:ln>
              <a:solidFill>
                <a:sysClr val="windowText" lastClr="000000"/>
              </a:solidFill>
              <a:effectLst/>
              <a:uLnTx/>
              <a:uFillTx/>
              <a:latin typeface="Times New Roman"/>
              <a:cs typeface="Times New Roman"/>
            </a:endParaRPr>
          </a:p>
          <a:p>
            <a:pPr marL="12700" marR="0" lvl="0" indent="0" defTabSz="914400" eaLnBrk="1" fontAlgn="auto" latinLnBrk="0" hangingPunct="1">
              <a:lnSpc>
                <a:spcPct val="100000"/>
              </a:lnSpc>
              <a:spcBef>
                <a:spcPts val="0"/>
              </a:spcBef>
              <a:spcAft>
                <a:spcPts val="0"/>
              </a:spcAft>
              <a:buClrTx/>
              <a:buSzTx/>
              <a:buFontTx/>
              <a:buNone/>
              <a:tabLst/>
              <a:defRPr/>
            </a:pPr>
            <a:r>
              <a:rPr kumimoji="0" sz="1800" b="1" i="0" u="none" strike="noStrike" kern="0" cap="none" spc="-20" normalizeH="0" baseline="0" noProof="0" dirty="0">
                <a:ln>
                  <a:noFill/>
                </a:ln>
                <a:solidFill>
                  <a:sysClr val="windowText" lastClr="000000"/>
                </a:solidFill>
                <a:effectLst/>
                <a:uLnTx/>
                <a:uFillTx/>
                <a:latin typeface="Times New Roman"/>
                <a:cs typeface="Times New Roman"/>
              </a:rPr>
              <a:t>Cons</a:t>
            </a:r>
            <a:endParaRPr kumimoji="0" sz="1800" b="0" i="0" u="none" strike="noStrike" kern="0" cap="none" spc="0" normalizeH="0" baseline="0" noProof="0" dirty="0">
              <a:ln>
                <a:noFill/>
              </a:ln>
              <a:solidFill>
                <a:sysClr val="windowText" lastClr="000000"/>
              </a:solidFill>
              <a:effectLst/>
              <a:uLnTx/>
              <a:uFillTx/>
              <a:latin typeface="Times New Roman"/>
              <a:cs typeface="Times New Roman"/>
            </a:endParaRPr>
          </a:p>
          <a:p>
            <a:pPr marL="307975" marR="273685" lvl="0" indent="-295910" defTabSz="914400" eaLnBrk="1" fontAlgn="auto" latinLnBrk="0" hangingPunct="1">
              <a:lnSpc>
                <a:spcPct val="100800"/>
              </a:lnSpc>
              <a:spcBef>
                <a:spcPts val="1800"/>
              </a:spcBef>
              <a:spcAft>
                <a:spcPts val="0"/>
              </a:spcAft>
              <a:buClrTx/>
              <a:buSzTx/>
              <a:buFont typeface="Arial MT"/>
              <a:buChar char="•"/>
              <a:tabLst>
                <a:tab pos="307975" algn="l"/>
              </a:tabLst>
              <a:defRPr/>
            </a:pPr>
            <a:r>
              <a:rPr kumimoji="0" sz="1800" b="0" i="0" u="none" strike="noStrike" kern="0" cap="none" spc="0" normalizeH="0" baseline="0" noProof="0" dirty="0">
                <a:ln>
                  <a:noFill/>
                </a:ln>
                <a:solidFill>
                  <a:sysClr val="windowText" lastClr="000000"/>
                </a:solidFill>
                <a:effectLst/>
                <a:uLnTx/>
                <a:uFillTx/>
                <a:latin typeface="Times New Roman"/>
                <a:cs typeface="Times New Roman"/>
              </a:rPr>
              <a:t>Risk</a:t>
            </a:r>
            <a:r>
              <a:rPr kumimoji="0" sz="18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analysis</a:t>
            </a:r>
            <a:r>
              <a:rPr kumimoji="0" sz="18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failures can</a:t>
            </a:r>
            <a:r>
              <a:rPr kumimoji="0" sz="18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doom</a:t>
            </a:r>
            <a:r>
              <a:rPr kumimoji="0" sz="1800" b="0" i="0" u="none" strike="noStrike" kern="0" cap="none" spc="-9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25" normalizeH="0" baseline="0" noProof="0" dirty="0">
                <a:ln>
                  <a:noFill/>
                </a:ln>
                <a:solidFill>
                  <a:sysClr val="windowText" lastClr="000000"/>
                </a:solidFill>
                <a:effectLst/>
                <a:uLnTx/>
                <a:uFillTx/>
                <a:latin typeface="Times New Roman"/>
                <a:cs typeface="Times New Roman"/>
              </a:rPr>
              <a:t>the </a:t>
            </a:r>
            <a:r>
              <a:rPr kumimoji="0" sz="1800" b="0" i="0" u="none" strike="noStrike" kern="0" cap="none" spc="-10" normalizeH="0" baseline="0" noProof="0" dirty="0">
                <a:ln>
                  <a:noFill/>
                </a:ln>
                <a:solidFill>
                  <a:sysClr val="windowText" lastClr="000000"/>
                </a:solidFill>
                <a:effectLst/>
                <a:uLnTx/>
                <a:uFillTx/>
                <a:latin typeface="Times New Roman"/>
                <a:cs typeface="Times New Roman"/>
              </a:rPr>
              <a:t>project.</a:t>
            </a:r>
            <a:endParaRPr kumimoji="0" sz="1800" b="0" i="0" u="none" strike="noStrike" kern="0" cap="none" spc="0" normalizeH="0" baseline="0" noProof="0" dirty="0">
              <a:ln>
                <a:noFill/>
              </a:ln>
              <a:solidFill>
                <a:sysClr val="windowText" lastClr="000000"/>
              </a:solidFill>
              <a:effectLst/>
              <a:uLnTx/>
              <a:uFillTx/>
              <a:latin typeface="Times New Roman"/>
              <a:cs typeface="Times New Roman"/>
            </a:endParaRPr>
          </a:p>
          <a:p>
            <a:pPr marL="307975" marR="0" lvl="0" indent="-295275" defTabSz="914400" eaLnBrk="1" fontAlgn="auto" latinLnBrk="0" hangingPunct="1">
              <a:lnSpc>
                <a:spcPct val="100000"/>
              </a:lnSpc>
              <a:spcBef>
                <a:spcPts val="994"/>
              </a:spcBef>
              <a:spcAft>
                <a:spcPts val="0"/>
              </a:spcAft>
              <a:buClrTx/>
              <a:buSzTx/>
              <a:buFont typeface="Arial MT"/>
              <a:buChar char="•"/>
              <a:tabLst>
                <a:tab pos="307975" algn="l"/>
              </a:tabLst>
              <a:defRPr/>
            </a:pPr>
            <a:r>
              <a:rPr kumimoji="0" sz="1800" b="0" i="0" u="none" strike="noStrike" kern="0" cap="none" spc="0" normalizeH="0" baseline="0" noProof="0" dirty="0">
                <a:ln>
                  <a:noFill/>
                </a:ln>
                <a:solidFill>
                  <a:sysClr val="windowText" lastClr="000000"/>
                </a:solidFill>
                <a:effectLst/>
                <a:uLnTx/>
                <a:uFillTx/>
                <a:latin typeface="Times New Roman"/>
                <a:cs typeface="Times New Roman"/>
              </a:rPr>
              <a:t>Project</a:t>
            </a:r>
            <a:r>
              <a:rPr kumimoji="0" sz="1800" b="0" i="0" u="none" strike="noStrike" kern="0" cap="none" spc="-5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may</a:t>
            </a:r>
            <a:r>
              <a:rPr kumimoji="0" sz="18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be</a:t>
            </a:r>
            <a:r>
              <a:rPr kumimoji="0" sz="1800" b="0" i="0" u="none" strike="noStrike" kern="0" cap="none" spc="2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hard</a:t>
            </a:r>
            <a:r>
              <a:rPr kumimoji="0" sz="18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to</a:t>
            </a:r>
            <a:r>
              <a:rPr kumimoji="0" sz="1800" b="0" i="0" u="none" strike="noStrike" kern="0" cap="none" spc="-7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10" normalizeH="0" baseline="0" noProof="0" dirty="0">
                <a:ln>
                  <a:noFill/>
                </a:ln>
                <a:solidFill>
                  <a:sysClr val="windowText" lastClr="000000"/>
                </a:solidFill>
                <a:effectLst/>
                <a:uLnTx/>
                <a:uFillTx/>
                <a:latin typeface="Times New Roman"/>
                <a:cs typeface="Times New Roman"/>
              </a:rPr>
              <a:t>manage.</a:t>
            </a:r>
            <a:endParaRPr kumimoji="0" sz="1800" b="0" i="0" u="none" strike="noStrike" kern="0" cap="none" spc="0" normalizeH="0" baseline="0" noProof="0" dirty="0">
              <a:ln>
                <a:noFill/>
              </a:ln>
              <a:solidFill>
                <a:sysClr val="windowText" lastClr="000000"/>
              </a:solidFill>
              <a:effectLst/>
              <a:uLnTx/>
              <a:uFillTx/>
              <a:latin typeface="Times New Roman"/>
              <a:cs typeface="Times New Roman"/>
            </a:endParaRPr>
          </a:p>
          <a:p>
            <a:pPr marL="307975" marR="0" lvl="0" indent="-295275" defTabSz="914400" eaLnBrk="1" fontAlgn="auto" latinLnBrk="0" hangingPunct="1">
              <a:lnSpc>
                <a:spcPct val="100000"/>
              </a:lnSpc>
              <a:spcBef>
                <a:spcPts val="994"/>
              </a:spcBef>
              <a:spcAft>
                <a:spcPts val="0"/>
              </a:spcAft>
              <a:buClrTx/>
              <a:buSzTx/>
              <a:buFont typeface="Arial MT"/>
              <a:buChar char="•"/>
              <a:tabLst>
                <a:tab pos="307975" algn="l"/>
              </a:tabLst>
              <a:defRPr/>
            </a:pPr>
            <a:r>
              <a:rPr kumimoji="0" sz="1800" b="0" i="0" u="none" strike="noStrike" kern="0" cap="none" spc="0" normalizeH="0" baseline="0" noProof="0" dirty="0">
                <a:ln>
                  <a:noFill/>
                </a:ln>
                <a:solidFill>
                  <a:sysClr val="windowText" lastClr="000000"/>
                </a:solidFill>
                <a:effectLst/>
                <a:uLnTx/>
                <a:uFillTx/>
                <a:latin typeface="Times New Roman"/>
                <a:cs typeface="Times New Roman"/>
              </a:rPr>
              <a:t>Requires</a:t>
            </a:r>
            <a:r>
              <a:rPr kumimoji="0" sz="1800" b="0" i="0" u="none" strike="noStrike" kern="0" cap="none" spc="-4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an</a:t>
            </a:r>
            <a:r>
              <a:rPr kumimoji="0" sz="1800" b="0" i="0" u="none" strike="noStrike" kern="0" cap="none" spc="-5"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expert</a:t>
            </a:r>
            <a:r>
              <a:rPr kumimoji="0" sz="1800" b="0" i="0" u="none" strike="noStrike" kern="0" cap="none" spc="-6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0" normalizeH="0" baseline="0" noProof="0" dirty="0">
                <a:ln>
                  <a:noFill/>
                </a:ln>
                <a:solidFill>
                  <a:sysClr val="windowText" lastClr="000000"/>
                </a:solidFill>
                <a:effectLst/>
                <a:uLnTx/>
                <a:uFillTx/>
                <a:latin typeface="Times New Roman"/>
                <a:cs typeface="Times New Roman"/>
              </a:rPr>
              <a:t>development</a:t>
            </a:r>
            <a:r>
              <a:rPr kumimoji="0" sz="1800" b="0" i="0" u="none" strike="noStrike" kern="0" cap="none" spc="20" normalizeH="0" baseline="0" noProof="0" dirty="0">
                <a:ln>
                  <a:noFill/>
                </a:ln>
                <a:solidFill>
                  <a:sysClr val="windowText" lastClr="000000"/>
                </a:solidFill>
                <a:effectLst/>
                <a:uLnTx/>
                <a:uFillTx/>
                <a:latin typeface="Times New Roman"/>
                <a:cs typeface="Times New Roman"/>
              </a:rPr>
              <a:t> </a:t>
            </a:r>
            <a:r>
              <a:rPr kumimoji="0" sz="1800" b="0" i="0" u="none" strike="noStrike" kern="0" cap="none" spc="-10" normalizeH="0" baseline="0" noProof="0" dirty="0">
                <a:ln>
                  <a:noFill/>
                </a:ln>
                <a:solidFill>
                  <a:sysClr val="windowText" lastClr="000000"/>
                </a:solidFill>
                <a:effectLst/>
                <a:uLnTx/>
                <a:uFillTx/>
                <a:latin typeface="Times New Roman"/>
                <a:cs typeface="Times New Roman"/>
              </a:rPr>
              <a:t>team.</a:t>
            </a:r>
            <a:endParaRPr kumimoji="0" sz="1800" b="0" i="0" u="none" strike="noStrike" kern="0" cap="none" spc="0" normalizeH="0" baseline="0" noProof="0" dirty="0">
              <a:ln>
                <a:noFill/>
              </a:ln>
              <a:solidFill>
                <a:sysClr val="windowText" lastClr="000000"/>
              </a:solidFill>
              <a:effectLst/>
              <a:uLnTx/>
              <a:uFillTx/>
              <a:latin typeface="Times New Roman"/>
              <a:cs typeface="Times New Roman"/>
            </a:endParaRPr>
          </a:p>
        </p:txBody>
      </p:sp>
      <p:sp>
        <p:nvSpPr>
          <p:cNvPr id="5" name="object 5"/>
          <p:cNvSpPr txBox="1"/>
          <p:nvPr/>
        </p:nvSpPr>
        <p:spPr>
          <a:xfrm>
            <a:off x="3247389" y="6289476"/>
            <a:ext cx="2644140" cy="194945"/>
          </a:xfrm>
          <a:prstGeom prst="rect">
            <a:avLst/>
          </a:prstGeom>
        </p:spPr>
        <p:txBody>
          <a:bodyPr vert="horz" wrap="square" lIns="0" tIns="0" rIns="0" bIns="0" rtlCol="0">
            <a:spAutoFit/>
          </a:bodyPr>
          <a:lstStyle/>
          <a:p>
            <a:pPr marL="12700" marR="0" lvl="0" indent="0" defTabSz="914400" eaLnBrk="1" fontAlgn="auto" latinLnBrk="0" hangingPunct="1">
              <a:lnSpc>
                <a:spcPts val="1410"/>
              </a:lnSpc>
              <a:spcBef>
                <a:spcPts val="0"/>
              </a:spcBef>
              <a:spcAft>
                <a:spcPts val="0"/>
              </a:spcAft>
              <a:buClrTx/>
              <a:buSzTx/>
              <a:buFontTx/>
              <a:buNone/>
              <a:tabLst/>
              <a:defRPr/>
            </a:pPr>
            <a:r>
              <a:rPr kumimoji="0" sz="1200" b="0" i="0" u="sng" strike="noStrike" kern="0" cap="none" spc="0" normalizeH="0" baseline="0" noProof="0" dirty="0">
                <a:ln>
                  <a:noFill/>
                </a:ln>
                <a:solidFill>
                  <a:sysClr val="windowText" lastClr="000000"/>
                </a:solidFill>
                <a:effectLst/>
                <a:uLnTx/>
                <a:uFill>
                  <a:solidFill>
                    <a:srgbClr val="000000"/>
                  </a:solidFill>
                </a:uFill>
                <a:latin typeface="Times New Roman"/>
                <a:cs typeface="Times New Roman"/>
              </a:rPr>
              <a:t>Access</a:t>
            </a:r>
            <a:r>
              <a:rPr kumimoji="0" sz="1200" b="0" i="0" u="sng" strike="noStrike" kern="0" cap="none" spc="-35" normalizeH="0" baseline="0" noProof="0" dirty="0">
                <a:ln>
                  <a:noFill/>
                </a:ln>
                <a:solidFill>
                  <a:sysClr val="windowText" lastClr="000000"/>
                </a:solidFill>
                <a:effectLst/>
                <a:uLnTx/>
                <a:uFill>
                  <a:solidFill>
                    <a:srgbClr val="000000"/>
                  </a:solidFill>
                </a:uFill>
                <a:latin typeface="Times New Roman"/>
                <a:cs typeface="Times New Roman"/>
              </a:rPr>
              <a:t> </a:t>
            </a:r>
            <a:r>
              <a:rPr kumimoji="0" sz="1200" b="0" i="0" u="sng" strike="noStrike" kern="0" cap="none" spc="0" normalizeH="0" baseline="0" noProof="0" dirty="0">
                <a:ln>
                  <a:noFill/>
                </a:ln>
                <a:solidFill>
                  <a:sysClr val="windowText" lastClr="000000"/>
                </a:solidFill>
                <a:effectLst/>
                <a:uLnTx/>
                <a:uFill>
                  <a:solidFill>
                    <a:srgbClr val="000000"/>
                  </a:solidFill>
                </a:uFill>
                <a:latin typeface="Times New Roman"/>
                <a:cs typeface="Times New Roman"/>
              </a:rPr>
              <a:t>the</a:t>
            </a:r>
            <a:r>
              <a:rPr kumimoji="0" sz="1200" b="0" i="0" u="sng" strike="noStrike" kern="0" cap="none" spc="25" normalizeH="0" baseline="0" noProof="0" dirty="0">
                <a:ln>
                  <a:noFill/>
                </a:ln>
                <a:solidFill>
                  <a:sysClr val="windowText" lastClr="000000"/>
                </a:solidFill>
                <a:effectLst/>
                <a:uLnTx/>
                <a:uFill>
                  <a:solidFill>
                    <a:srgbClr val="000000"/>
                  </a:solidFill>
                </a:uFill>
                <a:latin typeface="Times New Roman"/>
                <a:cs typeface="Times New Roman"/>
              </a:rPr>
              <a:t> </a:t>
            </a:r>
            <a:r>
              <a:rPr kumimoji="0" sz="1200" b="0" i="0" u="sng" strike="noStrike" kern="0" cap="none" spc="-10" normalizeH="0" baseline="0" noProof="0" dirty="0">
                <a:ln>
                  <a:noFill/>
                </a:ln>
                <a:solidFill>
                  <a:sysClr val="windowText" lastClr="000000"/>
                </a:solidFill>
                <a:effectLst/>
                <a:uLnTx/>
                <a:uFill>
                  <a:solidFill>
                    <a:srgbClr val="000000"/>
                  </a:solidFill>
                </a:uFill>
                <a:latin typeface="Times New Roman"/>
                <a:cs typeface="Times New Roman"/>
              </a:rPr>
              <a:t>text</a:t>
            </a:r>
            <a:r>
              <a:rPr kumimoji="0" sz="1200" b="0" i="0" u="sng" strike="noStrike" kern="0" cap="none" spc="10" normalizeH="0" baseline="0" noProof="0" dirty="0">
                <a:ln>
                  <a:noFill/>
                </a:ln>
                <a:solidFill>
                  <a:sysClr val="windowText" lastClr="000000"/>
                </a:solidFill>
                <a:effectLst/>
                <a:uLnTx/>
                <a:uFill>
                  <a:solidFill>
                    <a:srgbClr val="000000"/>
                  </a:solidFill>
                </a:uFill>
                <a:latin typeface="Times New Roman"/>
                <a:cs typeface="Times New Roman"/>
              </a:rPr>
              <a:t> </a:t>
            </a:r>
            <a:r>
              <a:rPr kumimoji="0" sz="1200" b="0" i="0" u="sng" strike="noStrike" kern="0" cap="none" spc="-25" normalizeH="0" baseline="0" noProof="0" dirty="0">
                <a:ln>
                  <a:noFill/>
                </a:ln>
                <a:solidFill>
                  <a:sysClr val="windowText" lastClr="000000"/>
                </a:solidFill>
                <a:effectLst/>
                <a:uLnTx/>
                <a:uFill>
                  <a:solidFill>
                    <a:srgbClr val="000000"/>
                  </a:solidFill>
                </a:uFill>
                <a:latin typeface="Times New Roman"/>
                <a:cs typeface="Times New Roman"/>
              </a:rPr>
              <a:t>alternative</a:t>
            </a:r>
            <a:r>
              <a:rPr kumimoji="0" sz="1200" b="0" i="0" u="sng" strike="noStrike" kern="0" cap="none" spc="195" normalizeH="0" baseline="0" noProof="0" dirty="0">
                <a:ln>
                  <a:noFill/>
                </a:ln>
                <a:solidFill>
                  <a:sysClr val="windowText" lastClr="000000"/>
                </a:solidFill>
                <a:effectLst/>
                <a:uLnTx/>
                <a:uFill>
                  <a:solidFill>
                    <a:srgbClr val="000000"/>
                  </a:solidFill>
                </a:uFill>
                <a:latin typeface="Times New Roman"/>
                <a:cs typeface="Times New Roman"/>
              </a:rPr>
              <a:t> </a:t>
            </a:r>
            <a:r>
              <a:rPr kumimoji="0" sz="1200" b="0" i="0" u="sng" strike="noStrike" kern="0" cap="none" spc="0" normalizeH="0" baseline="0" noProof="0" dirty="0">
                <a:ln>
                  <a:noFill/>
                </a:ln>
                <a:solidFill>
                  <a:sysClr val="windowText" lastClr="000000"/>
                </a:solidFill>
                <a:effectLst/>
                <a:uLnTx/>
                <a:uFill>
                  <a:solidFill>
                    <a:srgbClr val="000000"/>
                  </a:solidFill>
                </a:uFill>
                <a:latin typeface="Times New Roman"/>
                <a:cs typeface="Times New Roman"/>
              </a:rPr>
              <a:t>for</a:t>
            </a:r>
            <a:r>
              <a:rPr kumimoji="0" sz="1200" b="0" i="0" u="sng" strike="noStrike" kern="0" cap="none" spc="15" normalizeH="0" baseline="0" noProof="0" dirty="0">
                <a:ln>
                  <a:noFill/>
                </a:ln>
                <a:solidFill>
                  <a:sysClr val="windowText" lastClr="000000"/>
                </a:solidFill>
                <a:effectLst/>
                <a:uLnTx/>
                <a:uFill>
                  <a:solidFill>
                    <a:srgbClr val="000000"/>
                  </a:solidFill>
                </a:uFill>
                <a:latin typeface="Times New Roman"/>
                <a:cs typeface="Times New Roman"/>
              </a:rPr>
              <a:t> </a:t>
            </a:r>
            <a:r>
              <a:rPr kumimoji="0" sz="1200" b="0" i="0" u="sng" strike="noStrike" kern="0" cap="none" spc="-25" normalizeH="0" baseline="0" noProof="0" dirty="0">
                <a:ln>
                  <a:noFill/>
                </a:ln>
                <a:solidFill>
                  <a:sysClr val="windowText" lastClr="000000"/>
                </a:solidFill>
                <a:effectLst/>
                <a:uLnTx/>
                <a:uFill>
                  <a:solidFill>
                    <a:srgbClr val="000000"/>
                  </a:solidFill>
                </a:uFill>
                <a:latin typeface="Times New Roman"/>
                <a:cs typeface="Times New Roman"/>
              </a:rPr>
              <a:t>slide</a:t>
            </a:r>
            <a:r>
              <a:rPr kumimoji="0" sz="1200" b="0" i="0" u="sng" strike="noStrike" kern="0" cap="none" spc="80" normalizeH="0" baseline="0" noProof="0" dirty="0">
                <a:ln>
                  <a:noFill/>
                </a:ln>
                <a:solidFill>
                  <a:sysClr val="windowText" lastClr="000000"/>
                </a:solidFill>
                <a:effectLst/>
                <a:uLnTx/>
                <a:uFill>
                  <a:solidFill>
                    <a:srgbClr val="000000"/>
                  </a:solidFill>
                </a:uFill>
                <a:latin typeface="Times New Roman"/>
                <a:cs typeface="Times New Roman"/>
              </a:rPr>
              <a:t> </a:t>
            </a:r>
            <a:r>
              <a:rPr kumimoji="0" sz="1200" b="0" i="0" u="sng" strike="noStrike" kern="0" cap="none" spc="-30" normalizeH="0" baseline="0" noProof="0" dirty="0">
                <a:ln>
                  <a:noFill/>
                </a:ln>
                <a:solidFill>
                  <a:sysClr val="windowText" lastClr="000000"/>
                </a:solidFill>
                <a:effectLst/>
                <a:uLnTx/>
                <a:uFill>
                  <a:solidFill>
                    <a:srgbClr val="000000"/>
                  </a:solidFill>
                </a:uFill>
                <a:latin typeface="Times New Roman"/>
                <a:cs typeface="Times New Roman"/>
              </a:rPr>
              <a:t>images.</a:t>
            </a:r>
            <a:endParaRPr kumimoji="0" sz="12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6" name="object 6"/>
          <p:cNvSpPr txBox="1">
            <a:spLocks noGrp="1"/>
          </p:cNvSpPr>
          <p:nvPr>
            <p:ph type="sldNum" sz="quarter" idx="7"/>
          </p:nvPr>
        </p:nvSpPr>
        <p:spPr>
          <a:prstGeom prst="rect">
            <a:avLst/>
          </a:prstGeom>
        </p:spPr>
        <p:txBody>
          <a:bodyPr vert="horz" wrap="square" lIns="0" tIns="6350" rIns="0" bIns="0" rtlCol="0">
            <a:spAutoFit/>
          </a:bodyPr>
          <a:lstStyle/>
          <a:p>
            <a:pPr marL="12700" marR="0" lvl="0" indent="0" defTabSz="914400" eaLnBrk="1" fontAlgn="auto" latinLnBrk="0" hangingPunct="1">
              <a:lnSpc>
                <a:spcPct val="100000"/>
              </a:lnSpc>
              <a:spcBef>
                <a:spcPts val="50"/>
              </a:spcBef>
              <a:spcAft>
                <a:spcPts val="0"/>
              </a:spcAft>
              <a:buClrTx/>
              <a:buSzTx/>
              <a:buFontTx/>
              <a:buNone/>
              <a:tabLst/>
              <a:defRPr/>
            </a:pPr>
            <a:fld id="{81D60167-4931-47E6-BA6A-407CBD079E47}" type="slidenum">
              <a:rPr kumimoji="0" sz="800" b="0" i="0" u="none" strike="noStrike" kern="0" cap="none" spc="-25" normalizeH="0" baseline="0" noProof="0" dirty="0">
                <a:ln>
                  <a:noFill/>
                </a:ln>
                <a:solidFill>
                  <a:srgbClr val="585858"/>
                </a:solidFill>
                <a:effectLst/>
                <a:uLnTx/>
                <a:uFillTx/>
                <a:latin typeface="Arial MT"/>
              </a:rPr>
              <a:pPr marL="12700" marR="0" lvl="0" indent="0" defTabSz="914400" eaLnBrk="1" fontAlgn="auto" latinLnBrk="0" hangingPunct="1">
                <a:lnSpc>
                  <a:spcPct val="100000"/>
                </a:lnSpc>
                <a:spcBef>
                  <a:spcPts val="50"/>
                </a:spcBef>
                <a:spcAft>
                  <a:spcPts val="0"/>
                </a:spcAft>
                <a:buClrTx/>
                <a:buSzTx/>
                <a:buFontTx/>
                <a:buNone/>
                <a:tabLst/>
                <a:defRPr/>
              </a:pPr>
              <a:t>10</a:t>
            </a:fld>
            <a:endParaRPr kumimoji="0" sz="800" b="0" i="0" u="none" strike="noStrike" kern="0" cap="none" spc="-25" normalizeH="0" baseline="0" noProof="0" dirty="0">
              <a:ln>
                <a:noFill/>
              </a:ln>
              <a:solidFill>
                <a:srgbClr val="585858"/>
              </a:solidFill>
              <a:effectLst/>
              <a:uLnTx/>
              <a:uFillTx/>
              <a:latin typeface="Arial MT"/>
            </a:endParaRPr>
          </a:p>
        </p:txBody>
      </p:sp>
      <p:sp>
        <p:nvSpPr>
          <p:cNvPr id="7" name="object 7"/>
          <p:cNvSpPr txBox="1">
            <a:spLocks noGrp="1"/>
          </p:cNvSpPr>
          <p:nvPr>
            <p:ph type="ftr" sz="quarter" idx="5"/>
          </p:nvPr>
        </p:nvSpPr>
        <p:spPr>
          <a:prstGeom prst="rect">
            <a:avLst/>
          </a:prstGeom>
        </p:spPr>
        <p:txBody>
          <a:bodyPr vert="horz" wrap="square" lIns="0" tIns="4445" rIns="0" bIns="0" rtlCol="0">
            <a:spAutoFit/>
          </a:bodyPr>
          <a:lstStyle/>
          <a:p>
            <a:pPr marL="12700" marR="0" lvl="0" indent="0" defTabSz="914400" eaLnBrk="1" fontAlgn="auto" latinLnBrk="0" hangingPunct="1">
              <a:lnSpc>
                <a:spcPct val="100000"/>
              </a:lnSpc>
              <a:spcBef>
                <a:spcPts val="35"/>
              </a:spcBef>
              <a:spcAft>
                <a:spcPts val="0"/>
              </a:spcAft>
              <a:buClrTx/>
              <a:buSzTx/>
              <a:buFontTx/>
              <a:buNone/>
              <a:tabLst/>
              <a:defRPr/>
            </a:pPr>
            <a:r>
              <a:rPr kumimoji="0" sz="800" b="0" i="0" u="none" strike="noStrike" kern="0" cap="none" spc="0" normalizeH="0" baseline="0" noProof="0" dirty="0">
                <a:ln>
                  <a:noFill/>
                </a:ln>
                <a:solidFill>
                  <a:srgbClr val="585858"/>
                </a:solidFill>
                <a:effectLst/>
                <a:uLnTx/>
                <a:uFillTx/>
                <a:latin typeface="Times New Roman"/>
                <a:cs typeface="Times New Roman"/>
              </a:rPr>
              <a:t>©</a:t>
            </a:r>
            <a:r>
              <a:rPr kumimoji="0" sz="800" b="0" i="0" u="none" strike="noStrike" kern="0" cap="none" spc="45" normalizeH="0" baseline="0" noProof="0" dirty="0">
                <a:ln>
                  <a:noFill/>
                </a:ln>
                <a:solidFill>
                  <a:srgbClr val="585858"/>
                </a:solidFill>
                <a:effectLst/>
                <a:uLnTx/>
                <a:uFillTx/>
                <a:latin typeface="Times New Roman"/>
                <a:cs typeface="Times New Roman"/>
              </a:rPr>
              <a:t> </a:t>
            </a:r>
            <a:r>
              <a:rPr kumimoji="0" sz="800" b="0" i="0" u="none" strike="noStrike" kern="0" cap="none" spc="0" normalizeH="0" baseline="0" noProof="0" dirty="0">
                <a:ln>
                  <a:noFill/>
                </a:ln>
                <a:solidFill>
                  <a:srgbClr val="585858"/>
                </a:solidFill>
                <a:effectLst/>
                <a:uLnTx/>
                <a:uFillTx/>
                <a:latin typeface="Times New Roman"/>
                <a:cs typeface="Times New Roman"/>
              </a:rPr>
              <a:t>McGraw</a:t>
            </a:r>
            <a:r>
              <a:rPr kumimoji="0" sz="800" b="0" i="0" u="none" strike="noStrike" kern="0" cap="none" spc="-105" normalizeH="0" baseline="0" noProof="0" dirty="0">
                <a:ln>
                  <a:noFill/>
                </a:ln>
                <a:solidFill>
                  <a:srgbClr val="585858"/>
                </a:solidFill>
                <a:effectLst/>
                <a:uLnTx/>
                <a:uFillTx/>
                <a:latin typeface="Times New Roman"/>
                <a:cs typeface="Times New Roman"/>
              </a:rPr>
              <a:t> </a:t>
            </a:r>
            <a:r>
              <a:rPr kumimoji="0" sz="800" b="0" i="0" u="none" strike="noStrike" kern="0" cap="none" spc="-20" normalizeH="0" baseline="0" noProof="0" dirty="0">
                <a:ln>
                  <a:noFill/>
                </a:ln>
                <a:solidFill>
                  <a:srgbClr val="585858"/>
                </a:solidFill>
                <a:effectLst/>
                <a:uLnTx/>
                <a:uFillTx/>
                <a:latin typeface="Times New Roman"/>
                <a:cs typeface="Times New Roman"/>
              </a:rPr>
              <a:t>Hill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510" rIns="0" bIns="0" rtlCol="0">
            <a:spAutoFit/>
          </a:bodyPr>
          <a:lstStyle/>
          <a:p>
            <a:pPr marL="12700">
              <a:lnSpc>
                <a:spcPct val="100000"/>
              </a:lnSpc>
              <a:spcBef>
                <a:spcPts val="130"/>
              </a:spcBef>
            </a:pPr>
            <a:r>
              <a:rPr dirty="0"/>
              <a:t>Unified</a:t>
            </a:r>
            <a:r>
              <a:rPr spc="75" dirty="0"/>
              <a:t> </a:t>
            </a:r>
            <a:r>
              <a:rPr dirty="0"/>
              <a:t>Process</a:t>
            </a:r>
            <a:r>
              <a:rPr spc="5" dirty="0"/>
              <a:t> </a:t>
            </a:r>
            <a:r>
              <a:rPr spc="-10" dirty="0"/>
              <a:t>Model</a:t>
            </a:r>
          </a:p>
        </p:txBody>
      </p:sp>
      <p:pic>
        <p:nvPicPr>
          <p:cNvPr id="3" name="object 3"/>
          <p:cNvPicPr/>
          <p:nvPr/>
        </p:nvPicPr>
        <p:blipFill>
          <a:blip r:embed="rId2" cstate="print"/>
          <a:stretch>
            <a:fillRect/>
          </a:stretch>
        </p:blipFill>
        <p:spPr>
          <a:xfrm>
            <a:off x="552450" y="1495425"/>
            <a:ext cx="3743325" cy="3952875"/>
          </a:xfrm>
          <a:prstGeom prst="rect">
            <a:avLst/>
          </a:prstGeom>
        </p:spPr>
      </p:pic>
      <p:sp>
        <p:nvSpPr>
          <p:cNvPr id="4" name="object 4"/>
          <p:cNvSpPr txBox="1">
            <a:spLocks noGrp="1"/>
          </p:cNvSpPr>
          <p:nvPr>
            <p:ph type="body" idx="1"/>
          </p:nvPr>
        </p:nvSpPr>
        <p:spPr>
          <a:prstGeom prst="rect">
            <a:avLst/>
          </a:prstGeom>
        </p:spPr>
        <p:txBody>
          <a:bodyPr vert="horz" wrap="square" lIns="0" tIns="12700" rIns="0" bIns="0" rtlCol="0">
            <a:spAutoFit/>
          </a:bodyPr>
          <a:lstStyle/>
          <a:p>
            <a:pPr marL="12700">
              <a:lnSpc>
                <a:spcPct val="100000"/>
              </a:lnSpc>
              <a:spcBef>
                <a:spcPts val="100"/>
              </a:spcBef>
            </a:pPr>
            <a:r>
              <a:rPr spc="-20" dirty="0"/>
              <a:t>Pros</a:t>
            </a:r>
          </a:p>
          <a:p>
            <a:pPr marL="307975" indent="-295275">
              <a:lnSpc>
                <a:spcPct val="100000"/>
              </a:lnSpc>
              <a:spcBef>
                <a:spcPts val="1820"/>
              </a:spcBef>
              <a:buFont typeface="Arial MT"/>
              <a:buChar char="•"/>
              <a:tabLst>
                <a:tab pos="307975" algn="l"/>
              </a:tabLst>
            </a:pPr>
            <a:r>
              <a:rPr b="0" dirty="0">
                <a:latin typeface="Times New Roman"/>
                <a:cs typeface="Times New Roman"/>
              </a:rPr>
              <a:t>Quality</a:t>
            </a:r>
            <a:r>
              <a:rPr b="0" spc="45" dirty="0">
                <a:latin typeface="Times New Roman"/>
                <a:cs typeface="Times New Roman"/>
              </a:rPr>
              <a:t> </a:t>
            </a:r>
            <a:r>
              <a:rPr b="0" dirty="0">
                <a:latin typeface="Times New Roman"/>
                <a:cs typeface="Times New Roman"/>
              </a:rPr>
              <a:t>documentation</a:t>
            </a:r>
            <a:r>
              <a:rPr b="0" spc="-20" dirty="0">
                <a:latin typeface="Times New Roman"/>
                <a:cs typeface="Times New Roman"/>
              </a:rPr>
              <a:t> </a:t>
            </a:r>
            <a:r>
              <a:rPr b="0" spc="-10" dirty="0">
                <a:latin typeface="Times New Roman"/>
                <a:cs typeface="Times New Roman"/>
              </a:rPr>
              <a:t>emphasized.</a:t>
            </a:r>
          </a:p>
          <a:p>
            <a:pPr marL="307975" indent="-295275">
              <a:lnSpc>
                <a:spcPct val="100000"/>
              </a:lnSpc>
              <a:spcBef>
                <a:spcPts val="994"/>
              </a:spcBef>
              <a:buFont typeface="Arial MT"/>
              <a:buChar char="•"/>
              <a:tabLst>
                <a:tab pos="307975" algn="l"/>
              </a:tabLst>
            </a:pPr>
            <a:r>
              <a:rPr b="0" dirty="0">
                <a:latin typeface="Times New Roman"/>
                <a:cs typeface="Times New Roman"/>
              </a:rPr>
              <a:t>Continuous</a:t>
            </a:r>
            <a:r>
              <a:rPr b="0" spc="40" dirty="0">
                <a:latin typeface="Times New Roman"/>
                <a:cs typeface="Times New Roman"/>
              </a:rPr>
              <a:t> </a:t>
            </a:r>
            <a:r>
              <a:rPr b="0" dirty="0">
                <a:latin typeface="Times New Roman"/>
                <a:cs typeface="Times New Roman"/>
              </a:rPr>
              <a:t>customer</a:t>
            </a:r>
            <a:r>
              <a:rPr b="0" spc="-10" dirty="0">
                <a:latin typeface="Times New Roman"/>
                <a:cs typeface="Times New Roman"/>
              </a:rPr>
              <a:t> involvement.</a:t>
            </a:r>
          </a:p>
          <a:p>
            <a:pPr marL="307975" indent="-295275">
              <a:lnSpc>
                <a:spcPct val="100000"/>
              </a:lnSpc>
              <a:spcBef>
                <a:spcPts val="994"/>
              </a:spcBef>
              <a:buFont typeface="Arial MT"/>
              <a:buChar char="•"/>
              <a:tabLst>
                <a:tab pos="307975" algn="l"/>
              </a:tabLst>
            </a:pPr>
            <a:r>
              <a:rPr b="0" dirty="0">
                <a:latin typeface="Times New Roman"/>
                <a:cs typeface="Times New Roman"/>
              </a:rPr>
              <a:t>Accommodates</a:t>
            </a:r>
            <a:r>
              <a:rPr b="0" spc="-40" dirty="0">
                <a:latin typeface="Times New Roman"/>
                <a:cs typeface="Times New Roman"/>
              </a:rPr>
              <a:t> </a:t>
            </a:r>
            <a:r>
              <a:rPr b="0" dirty="0">
                <a:latin typeface="Times New Roman"/>
                <a:cs typeface="Times New Roman"/>
              </a:rPr>
              <a:t>requirements</a:t>
            </a:r>
            <a:r>
              <a:rPr b="0" spc="45" dirty="0">
                <a:latin typeface="Times New Roman"/>
                <a:cs typeface="Times New Roman"/>
              </a:rPr>
              <a:t> </a:t>
            </a:r>
            <a:r>
              <a:rPr b="0" spc="-10" dirty="0">
                <a:latin typeface="Times New Roman"/>
                <a:cs typeface="Times New Roman"/>
              </a:rPr>
              <a:t>changes.</a:t>
            </a:r>
          </a:p>
          <a:p>
            <a:pPr marL="307975" indent="-295275">
              <a:lnSpc>
                <a:spcPct val="100000"/>
              </a:lnSpc>
              <a:spcBef>
                <a:spcPts val="995"/>
              </a:spcBef>
              <a:buFont typeface="Arial MT"/>
              <a:buChar char="•"/>
              <a:tabLst>
                <a:tab pos="307975" algn="l"/>
              </a:tabLst>
            </a:pPr>
            <a:r>
              <a:rPr b="0" spc="-10" dirty="0">
                <a:latin typeface="Times New Roman"/>
                <a:cs typeface="Times New Roman"/>
              </a:rPr>
              <a:t>Works</a:t>
            </a:r>
            <a:r>
              <a:rPr b="0" spc="-45" dirty="0">
                <a:latin typeface="Times New Roman"/>
                <a:cs typeface="Times New Roman"/>
              </a:rPr>
              <a:t> </a:t>
            </a:r>
            <a:r>
              <a:rPr b="0" dirty="0">
                <a:latin typeface="Times New Roman"/>
                <a:cs typeface="Times New Roman"/>
              </a:rPr>
              <a:t>well for</a:t>
            </a:r>
            <a:r>
              <a:rPr b="0" spc="-25" dirty="0">
                <a:latin typeface="Times New Roman"/>
                <a:cs typeface="Times New Roman"/>
              </a:rPr>
              <a:t> </a:t>
            </a:r>
            <a:r>
              <a:rPr b="0" dirty="0">
                <a:latin typeface="Times New Roman"/>
                <a:cs typeface="Times New Roman"/>
              </a:rPr>
              <a:t>maintenance </a:t>
            </a:r>
            <a:r>
              <a:rPr b="0" spc="-10" dirty="0">
                <a:latin typeface="Times New Roman"/>
                <a:cs typeface="Times New Roman"/>
              </a:rPr>
              <a:t>projects.</a:t>
            </a:r>
          </a:p>
          <a:p>
            <a:pPr>
              <a:lnSpc>
                <a:spcPct val="100000"/>
              </a:lnSpc>
              <a:spcBef>
                <a:spcPts val="275"/>
              </a:spcBef>
              <a:buFont typeface="Arial MT"/>
              <a:buChar char="•"/>
            </a:pPr>
            <a:endParaRPr b="0" spc="-10" dirty="0">
              <a:latin typeface="Times New Roman"/>
              <a:cs typeface="Times New Roman"/>
            </a:endParaRPr>
          </a:p>
          <a:p>
            <a:pPr marL="12700">
              <a:lnSpc>
                <a:spcPct val="100000"/>
              </a:lnSpc>
              <a:spcBef>
                <a:spcPts val="5"/>
              </a:spcBef>
            </a:pPr>
            <a:r>
              <a:rPr spc="-20" dirty="0"/>
              <a:t>Cons</a:t>
            </a:r>
          </a:p>
          <a:p>
            <a:pPr marL="307975" indent="-295275">
              <a:lnSpc>
                <a:spcPct val="100000"/>
              </a:lnSpc>
              <a:spcBef>
                <a:spcPts val="1820"/>
              </a:spcBef>
              <a:buFont typeface="Arial MT"/>
              <a:buChar char="•"/>
              <a:tabLst>
                <a:tab pos="307975" algn="l"/>
              </a:tabLst>
            </a:pPr>
            <a:r>
              <a:rPr b="0" dirty="0">
                <a:latin typeface="Times New Roman"/>
                <a:cs typeface="Times New Roman"/>
              </a:rPr>
              <a:t>Use</a:t>
            </a:r>
            <a:r>
              <a:rPr b="0" spc="80" dirty="0">
                <a:latin typeface="Times New Roman"/>
                <a:cs typeface="Times New Roman"/>
              </a:rPr>
              <a:t> </a:t>
            </a:r>
            <a:r>
              <a:rPr b="0" dirty="0">
                <a:latin typeface="Times New Roman"/>
                <a:cs typeface="Times New Roman"/>
              </a:rPr>
              <a:t>cases</a:t>
            </a:r>
            <a:r>
              <a:rPr b="0" spc="-40" dirty="0">
                <a:latin typeface="Times New Roman"/>
                <a:cs typeface="Times New Roman"/>
              </a:rPr>
              <a:t> </a:t>
            </a:r>
            <a:r>
              <a:rPr b="0" dirty="0">
                <a:latin typeface="Times New Roman"/>
                <a:cs typeface="Times New Roman"/>
              </a:rPr>
              <a:t>are</a:t>
            </a:r>
            <a:r>
              <a:rPr b="0" spc="-60" dirty="0">
                <a:latin typeface="Times New Roman"/>
                <a:cs typeface="Times New Roman"/>
              </a:rPr>
              <a:t> </a:t>
            </a:r>
            <a:r>
              <a:rPr b="0" dirty="0">
                <a:latin typeface="Times New Roman"/>
                <a:cs typeface="Times New Roman"/>
              </a:rPr>
              <a:t>not</a:t>
            </a:r>
            <a:r>
              <a:rPr b="0" spc="10" dirty="0">
                <a:latin typeface="Times New Roman"/>
                <a:cs typeface="Times New Roman"/>
              </a:rPr>
              <a:t> </a:t>
            </a:r>
            <a:r>
              <a:rPr b="0" dirty="0">
                <a:latin typeface="Times New Roman"/>
                <a:cs typeface="Times New Roman"/>
              </a:rPr>
              <a:t>always</a:t>
            </a:r>
            <a:r>
              <a:rPr b="0" spc="35" dirty="0">
                <a:latin typeface="Times New Roman"/>
                <a:cs typeface="Times New Roman"/>
              </a:rPr>
              <a:t> </a:t>
            </a:r>
            <a:r>
              <a:rPr b="0" spc="-10" dirty="0">
                <a:latin typeface="Times New Roman"/>
                <a:cs typeface="Times New Roman"/>
              </a:rPr>
              <a:t>precise.</a:t>
            </a:r>
          </a:p>
          <a:p>
            <a:pPr marL="307975" indent="-295275">
              <a:lnSpc>
                <a:spcPct val="100000"/>
              </a:lnSpc>
              <a:spcBef>
                <a:spcPts val="994"/>
              </a:spcBef>
              <a:buFont typeface="Arial MT"/>
              <a:buChar char="•"/>
              <a:tabLst>
                <a:tab pos="307975" algn="l"/>
              </a:tabLst>
            </a:pPr>
            <a:r>
              <a:rPr b="0" dirty="0">
                <a:latin typeface="Times New Roman"/>
                <a:cs typeface="Times New Roman"/>
              </a:rPr>
              <a:t>Tricky</a:t>
            </a:r>
            <a:r>
              <a:rPr b="0" spc="10" dirty="0">
                <a:latin typeface="Times New Roman"/>
                <a:cs typeface="Times New Roman"/>
              </a:rPr>
              <a:t> </a:t>
            </a:r>
            <a:r>
              <a:rPr b="0" dirty="0">
                <a:latin typeface="Times New Roman"/>
                <a:cs typeface="Times New Roman"/>
              </a:rPr>
              <a:t>software</a:t>
            </a:r>
            <a:r>
              <a:rPr b="0" spc="-35" dirty="0">
                <a:latin typeface="Times New Roman"/>
                <a:cs typeface="Times New Roman"/>
              </a:rPr>
              <a:t> </a:t>
            </a:r>
            <a:r>
              <a:rPr b="0" dirty="0">
                <a:latin typeface="Times New Roman"/>
                <a:cs typeface="Times New Roman"/>
              </a:rPr>
              <a:t>increment</a:t>
            </a:r>
            <a:r>
              <a:rPr b="0" spc="-30" dirty="0">
                <a:latin typeface="Times New Roman"/>
                <a:cs typeface="Times New Roman"/>
              </a:rPr>
              <a:t> </a:t>
            </a:r>
            <a:r>
              <a:rPr b="0" spc="-10" dirty="0">
                <a:latin typeface="Times New Roman"/>
                <a:cs typeface="Times New Roman"/>
              </a:rPr>
              <a:t>integration.</a:t>
            </a:r>
          </a:p>
          <a:p>
            <a:pPr marL="307975" marR="780415" indent="-295910">
              <a:lnSpc>
                <a:spcPct val="100800"/>
              </a:lnSpc>
              <a:spcBef>
                <a:spcPts val="975"/>
              </a:spcBef>
              <a:buFont typeface="Arial MT"/>
              <a:buChar char="•"/>
              <a:tabLst>
                <a:tab pos="307975" algn="l"/>
              </a:tabLst>
            </a:pPr>
            <a:r>
              <a:rPr b="0" dirty="0">
                <a:latin typeface="Times New Roman"/>
                <a:cs typeface="Times New Roman"/>
              </a:rPr>
              <a:t>Overlapping</a:t>
            </a:r>
            <a:r>
              <a:rPr b="0" spc="75" dirty="0">
                <a:latin typeface="Times New Roman"/>
                <a:cs typeface="Times New Roman"/>
              </a:rPr>
              <a:t> </a:t>
            </a:r>
            <a:r>
              <a:rPr b="0" dirty="0">
                <a:latin typeface="Times New Roman"/>
                <a:cs typeface="Times New Roman"/>
              </a:rPr>
              <a:t>phases</a:t>
            </a:r>
            <a:r>
              <a:rPr b="0" spc="-25" dirty="0">
                <a:latin typeface="Times New Roman"/>
                <a:cs typeface="Times New Roman"/>
              </a:rPr>
              <a:t> </a:t>
            </a:r>
            <a:r>
              <a:rPr b="0" dirty="0">
                <a:latin typeface="Times New Roman"/>
                <a:cs typeface="Times New Roman"/>
              </a:rPr>
              <a:t>can</a:t>
            </a:r>
            <a:r>
              <a:rPr b="0" spc="-75" dirty="0">
                <a:latin typeface="Times New Roman"/>
                <a:cs typeface="Times New Roman"/>
              </a:rPr>
              <a:t> </a:t>
            </a:r>
            <a:r>
              <a:rPr b="0" spc="-20" dirty="0">
                <a:latin typeface="Times New Roman"/>
                <a:cs typeface="Times New Roman"/>
              </a:rPr>
              <a:t>cause </a:t>
            </a:r>
            <a:r>
              <a:rPr b="0" spc="-10" dirty="0">
                <a:latin typeface="Times New Roman"/>
                <a:cs typeface="Times New Roman"/>
              </a:rPr>
              <a:t>problems.</a:t>
            </a:r>
          </a:p>
          <a:p>
            <a:pPr marL="307975" indent="-295275">
              <a:lnSpc>
                <a:spcPct val="100000"/>
              </a:lnSpc>
              <a:spcBef>
                <a:spcPts val="994"/>
              </a:spcBef>
              <a:buFont typeface="Arial MT"/>
              <a:buChar char="•"/>
              <a:tabLst>
                <a:tab pos="307975" algn="l"/>
              </a:tabLst>
            </a:pPr>
            <a:r>
              <a:rPr b="0" dirty="0">
                <a:latin typeface="Times New Roman"/>
                <a:cs typeface="Times New Roman"/>
              </a:rPr>
              <a:t>Requires</a:t>
            </a:r>
            <a:r>
              <a:rPr b="0" spc="-20" dirty="0">
                <a:latin typeface="Times New Roman"/>
                <a:cs typeface="Times New Roman"/>
              </a:rPr>
              <a:t> </a:t>
            </a:r>
            <a:r>
              <a:rPr b="0" dirty="0">
                <a:latin typeface="Times New Roman"/>
                <a:cs typeface="Times New Roman"/>
              </a:rPr>
              <a:t>expert</a:t>
            </a:r>
            <a:r>
              <a:rPr b="0" spc="-40" dirty="0">
                <a:latin typeface="Times New Roman"/>
                <a:cs typeface="Times New Roman"/>
              </a:rPr>
              <a:t> </a:t>
            </a:r>
            <a:r>
              <a:rPr b="0" dirty="0">
                <a:latin typeface="Times New Roman"/>
                <a:cs typeface="Times New Roman"/>
              </a:rPr>
              <a:t>development</a:t>
            </a:r>
            <a:r>
              <a:rPr b="0" spc="35" dirty="0">
                <a:latin typeface="Times New Roman"/>
                <a:cs typeface="Times New Roman"/>
              </a:rPr>
              <a:t> </a:t>
            </a:r>
            <a:r>
              <a:rPr b="0" spc="-20" dirty="0">
                <a:latin typeface="Times New Roman"/>
                <a:cs typeface="Times New Roman"/>
              </a:rPr>
              <a:t>team.</a:t>
            </a:r>
          </a:p>
        </p:txBody>
      </p:sp>
      <p:sp>
        <p:nvSpPr>
          <p:cNvPr id="5" name="object 5"/>
          <p:cNvSpPr txBox="1"/>
          <p:nvPr/>
        </p:nvSpPr>
        <p:spPr>
          <a:xfrm>
            <a:off x="3247389" y="6289476"/>
            <a:ext cx="2644140" cy="194945"/>
          </a:xfrm>
          <a:prstGeom prst="rect">
            <a:avLst/>
          </a:prstGeom>
        </p:spPr>
        <p:txBody>
          <a:bodyPr vert="horz" wrap="square" lIns="0" tIns="0" rIns="0" bIns="0" rtlCol="0">
            <a:spAutoFit/>
          </a:bodyPr>
          <a:lstStyle/>
          <a:p>
            <a:pPr marL="12700" marR="0" lvl="0" indent="0" defTabSz="914400" eaLnBrk="1" fontAlgn="auto" latinLnBrk="0" hangingPunct="1">
              <a:lnSpc>
                <a:spcPts val="1410"/>
              </a:lnSpc>
              <a:spcBef>
                <a:spcPts val="0"/>
              </a:spcBef>
              <a:spcAft>
                <a:spcPts val="0"/>
              </a:spcAft>
              <a:buClrTx/>
              <a:buSzTx/>
              <a:buFontTx/>
              <a:buNone/>
              <a:tabLst/>
              <a:defRPr/>
            </a:pPr>
            <a:r>
              <a:rPr kumimoji="0" sz="1200" b="0" i="0" u="sng" strike="noStrike" kern="0" cap="none" spc="0" normalizeH="0" baseline="0" noProof="0" dirty="0">
                <a:ln>
                  <a:noFill/>
                </a:ln>
                <a:solidFill>
                  <a:sysClr val="windowText" lastClr="000000"/>
                </a:solidFill>
                <a:effectLst/>
                <a:uLnTx/>
                <a:uFill>
                  <a:solidFill>
                    <a:srgbClr val="000000"/>
                  </a:solidFill>
                </a:uFill>
                <a:latin typeface="Times New Roman"/>
                <a:cs typeface="Times New Roman"/>
              </a:rPr>
              <a:t>Access</a:t>
            </a:r>
            <a:r>
              <a:rPr kumimoji="0" sz="1200" b="0" i="0" u="sng" strike="noStrike" kern="0" cap="none" spc="-35" normalizeH="0" baseline="0" noProof="0" dirty="0">
                <a:ln>
                  <a:noFill/>
                </a:ln>
                <a:solidFill>
                  <a:sysClr val="windowText" lastClr="000000"/>
                </a:solidFill>
                <a:effectLst/>
                <a:uLnTx/>
                <a:uFill>
                  <a:solidFill>
                    <a:srgbClr val="000000"/>
                  </a:solidFill>
                </a:uFill>
                <a:latin typeface="Times New Roman"/>
                <a:cs typeface="Times New Roman"/>
              </a:rPr>
              <a:t> </a:t>
            </a:r>
            <a:r>
              <a:rPr kumimoji="0" sz="1200" b="0" i="0" u="sng" strike="noStrike" kern="0" cap="none" spc="0" normalizeH="0" baseline="0" noProof="0" dirty="0">
                <a:ln>
                  <a:noFill/>
                </a:ln>
                <a:solidFill>
                  <a:sysClr val="windowText" lastClr="000000"/>
                </a:solidFill>
                <a:effectLst/>
                <a:uLnTx/>
                <a:uFill>
                  <a:solidFill>
                    <a:srgbClr val="000000"/>
                  </a:solidFill>
                </a:uFill>
                <a:latin typeface="Times New Roman"/>
                <a:cs typeface="Times New Roman"/>
              </a:rPr>
              <a:t>the</a:t>
            </a:r>
            <a:r>
              <a:rPr kumimoji="0" sz="1200" b="0" i="0" u="sng" strike="noStrike" kern="0" cap="none" spc="25" normalizeH="0" baseline="0" noProof="0" dirty="0">
                <a:ln>
                  <a:noFill/>
                </a:ln>
                <a:solidFill>
                  <a:sysClr val="windowText" lastClr="000000"/>
                </a:solidFill>
                <a:effectLst/>
                <a:uLnTx/>
                <a:uFill>
                  <a:solidFill>
                    <a:srgbClr val="000000"/>
                  </a:solidFill>
                </a:uFill>
                <a:latin typeface="Times New Roman"/>
                <a:cs typeface="Times New Roman"/>
              </a:rPr>
              <a:t> </a:t>
            </a:r>
            <a:r>
              <a:rPr kumimoji="0" sz="1200" b="0" i="0" u="sng" strike="noStrike" kern="0" cap="none" spc="-10" normalizeH="0" baseline="0" noProof="0" dirty="0">
                <a:ln>
                  <a:noFill/>
                </a:ln>
                <a:solidFill>
                  <a:sysClr val="windowText" lastClr="000000"/>
                </a:solidFill>
                <a:effectLst/>
                <a:uLnTx/>
                <a:uFill>
                  <a:solidFill>
                    <a:srgbClr val="000000"/>
                  </a:solidFill>
                </a:uFill>
                <a:latin typeface="Times New Roman"/>
                <a:cs typeface="Times New Roman"/>
              </a:rPr>
              <a:t>text</a:t>
            </a:r>
            <a:r>
              <a:rPr kumimoji="0" sz="1200" b="0" i="0" u="sng" strike="noStrike" kern="0" cap="none" spc="10" normalizeH="0" baseline="0" noProof="0" dirty="0">
                <a:ln>
                  <a:noFill/>
                </a:ln>
                <a:solidFill>
                  <a:sysClr val="windowText" lastClr="000000"/>
                </a:solidFill>
                <a:effectLst/>
                <a:uLnTx/>
                <a:uFill>
                  <a:solidFill>
                    <a:srgbClr val="000000"/>
                  </a:solidFill>
                </a:uFill>
                <a:latin typeface="Times New Roman"/>
                <a:cs typeface="Times New Roman"/>
              </a:rPr>
              <a:t> </a:t>
            </a:r>
            <a:r>
              <a:rPr kumimoji="0" sz="1200" b="0" i="0" u="sng" strike="noStrike" kern="0" cap="none" spc="-25" normalizeH="0" baseline="0" noProof="0" dirty="0">
                <a:ln>
                  <a:noFill/>
                </a:ln>
                <a:solidFill>
                  <a:sysClr val="windowText" lastClr="000000"/>
                </a:solidFill>
                <a:effectLst/>
                <a:uLnTx/>
                <a:uFill>
                  <a:solidFill>
                    <a:srgbClr val="000000"/>
                  </a:solidFill>
                </a:uFill>
                <a:latin typeface="Times New Roman"/>
                <a:cs typeface="Times New Roman"/>
              </a:rPr>
              <a:t>alternative</a:t>
            </a:r>
            <a:r>
              <a:rPr kumimoji="0" sz="1200" b="0" i="0" u="sng" strike="noStrike" kern="0" cap="none" spc="195" normalizeH="0" baseline="0" noProof="0" dirty="0">
                <a:ln>
                  <a:noFill/>
                </a:ln>
                <a:solidFill>
                  <a:sysClr val="windowText" lastClr="000000"/>
                </a:solidFill>
                <a:effectLst/>
                <a:uLnTx/>
                <a:uFill>
                  <a:solidFill>
                    <a:srgbClr val="000000"/>
                  </a:solidFill>
                </a:uFill>
                <a:latin typeface="Times New Roman"/>
                <a:cs typeface="Times New Roman"/>
              </a:rPr>
              <a:t> </a:t>
            </a:r>
            <a:r>
              <a:rPr kumimoji="0" sz="1200" b="0" i="0" u="sng" strike="noStrike" kern="0" cap="none" spc="0" normalizeH="0" baseline="0" noProof="0" dirty="0">
                <a:ln>
                  <a:noFill/>
                </a:ln>
                <a:solidFill>
                  <a:sysClr val="windowText" lastClr="000000"/>
                </a:solidFill>
                <a:effectLst/>
                <a:uLnTx/>
                <a:uFill>
                  <a:solidFill>
                    <a:srgbClr val="000000"/>
                  </a:solidFill>
                </a:uFill>
                <a:latin typeface="Times New Roman"/>
                <a:cs typeface="Times New Roman"/>
              </a:rPr>
              <a:t>for</a:t>
            </a:r>
            <a:r>
              <a:rPr kumimoji="0" sz="1200" b="0" i="0" u="sng" strike="noStrike" kern="0" cap="none" spc="15" normalizeH="0" baseline="0" noProof="0" dirty="0">
                <a:ln>
                  <a:noFill/>
                </a:ln>
                <a:solidFill>
                  <a:sysClr val="windowText" lastClr="000000"/>
                </a:solidFill>
                <a:effectLst/>
                <a:uLnTx/>
                <a:uFill>
                  <a:solidFill>
                    <a:srgbClr val="000000"/>
                  </a:solidFill>
                </a:uFill>
                <a:latin typeface="Times New Roman"/>
                <a:cs typeface="Times New Roman"/>
              </a:rPr>
              <a:t> </a:t>
            </a:r>
            <a:r>
              <a:rPr kumimoji="0" sz="1200" b="0" i="0" u="sng" strike="noStrike" kern="0" cap="none" spc="-25" normalizeH="0" baseline="0" noProof="0" dirty="0">
                <a:ln>
                  <a:noFill/>
                </a:ln>
                <a:solidFill>
                  <a:sysClr val="windowText" lastClr="000000"/>
                </a:solidFill>
                <a:effectLst/>
                <a:uLnTx/>
                <a:uFill>
                  <a:solidFill>
                    <a:srgbClr val="000000"/>
                  </a:solidFill>
                </a:uFill>
                <a:latin typeface="Times New Roman"/>
                <a:cs typeface="Times New Roman"/>
              </a:rPr>
              <a:t>slide</a:t>
            </a:r>
            <a:r>
              <a:rPr kumimoji="0" sz="1200" b="0" i="0" u="sng" strike="noStrike" kern="0" cap="none" spc="80" normalizeH="0" baseline="0" noProof="0" dirty="0">
                <a:ln>
                  <a:noFill/>
                </a:ln>
                <a:solidFill>
                  <a:sysClr val="windowText" lastClr="000000"/>
                </a:solidFill>
                <a:effectLst/>
                <a:uLnTx/>
                <a:uFill>
                  <a:solidFill>
                    <a:srgbClr val="000000"/>
                  </a:solidFill>
                </a:uFill>
                <a:latin typeface="Times New Roman"/>
                <a:cs typeface="Times New Roman"/>
              </a:rPr>
              <a:t> </a:t>
            </a:r>
            <a:r>
              <a:rPr kumimoji="0" sz="1200" b="0" i="0" u="sng" strike="noStrike" kern="0" cap="none" spc="-30" normalizeH="0" baseline="0" noProof="0" dirty="0">
                <a:ln>
                  <a:noFill/>
                </a:ln>
                <a:solidFill>
                  <a:sysClr val="windowText" lastClr="000000"/>
                </a:solidFill>
                <a:effectLst/>
                <a:uLnTx/>
                <a:uFill>
                  <a:solidFill>
                    <a:srgbClr val="000000"/>
                  </a:solidFill>
                </a:uFill>
                <a:latin typeface="Times New Roman"/>
                <a:cs typeface="Times New Roman"/>
              </a:rPr>
              <a:t>images.</a:t>
            </a:r>
            <a:endParaRPr kumimoji="0" sz="1200" b="0" i="0" u="none" strike="noStrike" kern="0" cap="none" spc="0" normalizeH="0" baseline="0" noProof="0">
              <a:ln>
                <a:noFill/>
              </a:ln>
              <a:solidFill>
                <a:sysClr val="windowText" lastClr="000000"/>
              </a:solidFill>
              <a:effectLst/>
              <a:uLnTx/>
              <a:uFillTx/>
              <a:latin typeface="Times New Roman"/>
              <a:cs typeface="Times New Roman"/>
            </a:endParaRPr>
          </a:p>
        </p:txBody>
      </p:sp>
      <p:sp>
        <p:nvSpPr>
          <p:cNvPr id="6" name="object 6"/>
          <p:cNvSpPr txBox="1">
            <a:spLocks noGrp="1"/>
          </p:cNvSpPr>
          <p:nvPr>
            <p:ph type="sldNum" sz="quarter" idx="7"/>
          </p:nvPr>
        </p:nvSpPr>
        <p:spPr>
          <a:prstGeom prst="rect">
            <a:avLst/>
          </a:prstGeom>
        </p:spPr>
        <p:txBody>
          <a:bodyPr vert="horz" wrap="square" lIns="0" tIns="6350" rIns="0" bIns="0" rtlCol="0">
            <a:spAutoFit/>
          </a:bodyPr>
          <a:lstStyle/>
          <a:p>
            <a:pPr marL="12700" marR="0" lvl="0" indent="0" defTabSz="914400" eaLnBrk="1" fontAlgn="auto" latinLnBrk="0" hangingPunct="1">
              <a:lnSpc>
                <a:spcPct val="100000"/>
              </a:lnSpc>
              <a:spcBef>
                <a:spcPts val="50"/>
              </a:spcBef>
              <a:spcAft>
                <a:spcPts val="0"/>
              </a:spcAft>
              <a:buClrTx/>
              <a:buSzTx/>
              <a:buFontTx/>
              <a:buNone/>
              <a:tabLst/>
              <a:defRPr/>
            </a:pPr>
            <a:fld id="{81D60167-4931-47E6-BA6A-407CBD079E47}" type="slidenum">
              <a:rPr kumimoji="0" sz="800" b="0" i="0" u="none" strike="noStrike" kern="0" cap="none" spc="-25" normalizeH="0" baseline="0" noProof="0" dirty="0">
                <a:ln>
                  <a:noFill/>
                </a:ln>
                <a:solidFill>
                  <a:srgbClr val="585858"/>
                </a:solidFill>
                <a:effectLst/>
                <a:uLnTx/>
                <a:uFillTx/>
                <a:latin typeface="Arial MT"/>
              </a:rPr>
              <a:pPr marL="12700" marR="0" lvl="0" indent="0" defTabSz="914400" eaLnBrk="1" fontAlgn="auto" latinLnBrk="0" hangingPunct="1">
                <a:lnSpc>
                  <a:spcPct val="100000"/>
                </a:lnSpc>
                <a:spcBef>
                  <a:spcPts val="50"/>
                </a:spcBef>
                <a:spcAft>
                  <a:spcPts val="0"/>
                </a:spcAft>
                <a:buClrTx/>
                <a:buSzTx/>
                <a:buFontTx/>
                <a:buNone/>
                <a:tabLst/>
                <a:defRPr/>
              </a:pPr>
              <a:t>11</a:t>
            </a:fld>
            <a:endParaRPr kumimoji="0" sz="800" b="0" i="0" u="none" strike="noStrike" kern="0" cap="none" spc="-25" normalizeH="0" baseline="0" noProof="0" dirty="0">
              <a:ln>
                <a:noFill/>
              </a:ln>
              <a:solidFill>
                <a:srgbClr val="585858"/>
              </a:solidFill>
              <a:effectLst/>
              <a:uLnTx/>
              <a:uFillTx/>
              <a:latin typeface="Arial MT"/>
            </a:endParaRPr>
          </a:p>
        </p:txBody>
      </p:sp>
      <p:sp>
        <p:nvSpPr>
          <p:cNvPr id="7" name="object 7"/>
          <p:cNvSpPr txBox="1">
            <a:spLocks noGrp="1"/>
          </p:cNvSpPr>
          <p:nvPr>
            <p:ph type="ftr" sz="quarter" idx="5"/>
          </p:nvPr>
        </p:nvSpPr>
        <p:spPr>
          <a:prstGeom prst="rect">
            <a:avLst/>
          </a:prstGeom>
        </p:spPr>
        <p:txBody>
          <a:bodyPr vert="horz" wrap="square" lIns="0" tIns="4445" rIns="0" bIns="0" rtlCol="0">
            <a:spAutoFit/>
          </a:bodyPr>
          <a:lstStyle/>
          <a:p>
            <a:pPr marL="12700" marR="0" lvl="0" indent="0" defTabSz="914400" eaLnBrk="1" fontAlgn="auto" latinLnBrk="0" hangingPunct="1">
              <a:lnSpc>
                <a:spcPct val="100000"/>
              </a:lnSpc>
              <a:spcBef>
                <a:spcPts val="35"/>
              </a:spcBef>
              <a:spcAft>
                <a:spcPts val="0"/>
              </a:spcAft>
              <a:buClrTx/>
              <a:buSzTx/>
              <a:buFontTx/>
              <a:buNone/>
              <a:tabLst/>
              <a:defRPr/>
            </a:pPr>
            <a:r>
              <a:rPr kumimoji="0" sz="800" b="0" i="0" u="none" strike="noStrike" kern="0" cap="none" spc="0" normalizeH="0" baseline="0" noProof="0" dirty="0">
                <a:ln>
                  <a:noFill/>
                </a:ln>
                <a:solidFill>
                  <a:srgbClr val="585858"/>
                </a:solidFill>
                <a:effectLst/>
                <a:uLnTx/>
                <a:uFillTx/>
                <a:latin typeface="Times New Roman"/>
                <a:cs typeface="Times New Roman"/>
              </a:rPr>
              <a:t>©</a:t>
            </a:r>
            <a:r>
              <a:rPr kumimoji="0" sz="800" b="0" i="0" u="none" strike="noStrike" kern="0" cap="none" spc="45" normalizeH="0" baseline="0" noProof="0" dirty="0">
                <a:ln>
                  <a:noFill/>
                </a:ln>
                <a:solidFill>
                  <a:srgbClr val="585858"/>
                </a:solidFill>
                <a:effectLst/>
                <a:uLnTx/>
                <a:uFillTx/>
                <a:latin typeface="Times New Roman"/>
                <a:cs typeface="Times New Roman"/>
              </a:rPr>
              <a:t> </a:t>
            </a:r>
            <a:r>
              <a:rPr kumimoji="0" sz="800" b="0" i="0" u="none" strike="noStrike" kern="0" cap="none" spc="0" normalizeH="0" baseline="0" noProof="0" dirty="0">
                <a:ln>
                  <a:noFill/>
                </a:ln>
                <a:solidFill>
                  <a:srgbClr val="585858"/>
                </a:solidFill>
                <a:effectLst/>
                <a:uLnTx/>
                <a:uFillTx/>
                <a:latin typeface="Times New Roman"/>
                <a:cs typeface="Times New Roman"/>
              </a:rPr>
              <a:t>McGraw</a:t>
            </a:r>
            <a:r>
              <a:rPr kumimoji="0" sz="800" b="0" i="0" u="none" strike="noStrike" kern="0" cap="none" spc="-105" normalizeH="0" baseline="0" noProof="0" dirty="0">
                <a:ln>
                  <a:noFill/>
                </a:ln>
                <a:solidFill>
                  <a:srgbClr val="585858"/>
                </a:solidFill>
                <a:effectLst/>
                <a:uLnTx/>
                <a:uFillTx/>
                <a:latin typeface="Times New Roman"/>
                <a:cs typeface="Times New Roman"/>
              </a:rPr>
              <a:t> </a:t>
            </a:r>
            <a:r>
              <a:rPr kumimoji="0" sz="800" b="0" i="0" u="none" strike="noStrike" kern="0" cap="none" spc="-20" normalizeH="0" baseline="0" noProof="0" dirty="0">
                <a:ln>
                  <a:noFill/>
                </a:ln>
                <a:solidFill>
                  <a:srgbClr val="585858"/>
                </a:solidFill>
                <a:effectLst/>
                <a:uLnTx/>
                <a:uFillTx/>
                <a:latin typeface="Times New Roman"/>
                <a:cs typeface="Times New Roman"/>
              </a:rPr>
              <a:t>Hill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Prototype Evolution Process Model</a:t>
            </a:r>
          </a:p>
        </p:txBody>
      </p:sp>
      <p:pic>
        <p:nvPicPr>
          <p:cNvPr id="4" name="Picture 3" descr="An illustration displays a prototype evolution process model.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1387" y="2463797"/>
            <a:ext cx="8101226" cy="1930407"/>
          </a:xfrm>
          <a:prstGeom prst="rect">
            <a:avLst/>
          </a:prstGeom>
        </p:spPr>
      </p:pic>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2814918" y="6275294"/>
            <a:ext cx="2959518" cy="251012"/>
          </a:xfrm>
        </p:spPr>
        <p:txBody>
          <a:bodyPr/>
          <a:lstStyle/>
          <a:p>
            <a:r>
              <a:rPr lang="en-US" sz="1200" noProof="0" dirty="0">
                <a:solidFill>
                  <a:schemeClr val="tx1"/>
                </a:solidFill>
                <a:latin typeface="Times New Roman" panose="02020603050405020304" pitchFamily="18" charset="0"/>
                <a:cs typeface="Times New Roman" panose="02020603050405020304" pitchFamily="18" charset="0"/>
                <a:hlinkClick r:id="rId4" action="ppaction://hlinksldjump"/>
              </a:rPr>
              <a:t>Access the text alternative for slide images.</a:t>
            </a:r>
            <a:endParaRPr lang="en-US" sz="1200" noProof="0" dirty="0"/>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2853921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latin typeface="Times New Roman" panose="02020603050405020304" pitchFamily="18" charset="0"/>
                <a:ea typeface="Tahoma" panose="020B0604030504040204" pitchFamily="34" charset="0"/>
                <a:cs typeface="Times New Roman" panose="02020603050405020304" pitchFamily="18" charset="0"/>
              </a:rPr>
              <a:t>What is Agility?</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145135"/>
            <a:ext cx="8458200" cy="2617239"/>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ea typeface="Tahoma" panose="020B0604030504040204" pitchFamily="34" charset="0"/>
                <a:cs typeface="Times New Roman" panose="02020603050405020304" pitchFamily="18" charset="0"/>
              </a:rPr>
              <a:t>Effective (rapid and adaptive) response to change.</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ea typeface="Tahoma" panose="020B0604030504040204" pitchFamily="34" charset="0"/>
                <a:cs typeface="Times New Roman" panose="02020603050405020304" pitchFamily="18" charset="0"/>
              </a:rPr>
              <a:t>Effective communication among all stakeholders.</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ea typeface="Tahoma" panose="020B0604030504040204" pitchFamily="34" charset="0"/>
                <a:cs typeface="Times New Roman" panose="02020603050405020304" pitchFamily="18" charset="0"/>
              </a:rPr>
              <a:t>Drawing the customer onto the team.</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ea typeface="Tahoma" panose="020B0604030504040204" pitchFamily="34" charset="0"/>
                <a:cs typeface="Times New Roman" panose="02020603050405020304" pitchFamily="18" charset="0"/>
              </a:rPr>
              <a:t>Organizing a team so that it is in control of the work performed.</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ea typeface="Tahoma" panose="020B0604030504040204" pitchFamily="34" charset="0"/>
                <a:cs typeface="Times New Roman" panose="02020603050405020304" pitchFamily="18" charset="0"/>
              </a:rPr>
              <a:t>Rapid, incremental delivery of software.</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Tahoma" panose="020B0604030504040204" pitchFamily="34" charset="0"/>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800" b="0" i="0" u="none" strike="noStrike" kern="1200" cap="none" spc="0" normalizeH="0" baseline="0" noProof="0" dirty="0">
              <a:ln>
                <a:noFill/>
              </a:ln>
              <a:solidFill>
                <a:srgbClr val="000000">
                  <a:lumMod val="65000"/>
                  <a:lumOff val="35000"/>
                </a:srgbClr>
              </a:solidFill>
              <a:effectLst/>
              <a:uLnTx/>
              <a:uFillTx/>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3275805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What is an Agile Process?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162229"/>
            <a:ext cx="8458200" cy="4739969"/>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Driven by customer descriptions of what is required (scenarios).</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Customer feedback is frequent and acted on.</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Recognizes that plans are short-lived.</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Develops software iteratively with a heavy emphasis on construction activities.</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Delivers multiple ‘software increments’ as executable prototypes.</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Adapts as project or technical changes occur.</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800" b="0" i="0" u="none" strike="noStrike" kern="1200" cap="none" spc="0" normalizeH="0" baseline="0" noProof="0" dirty="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9118605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Scrum Framework</a:t>
            </a:r>
          </a:p>
        </p:txBody>
      </p:sp>
      <p:pic>
        <p:nvPicPr>
          <p:cNvPr id="10" name="Picture 9" descr="An illustration displays scrum framework with product backlog and sprint backlog. ">
            <a:extLst>
              <a:ext uri="{FF2B5EF4-FFF2-40B4-BE49-F238E27FC236}">
                <a16:creationId xmlns:a16="http://schemas.microsoft.com/office/drawing/2014/main" id="{C769E867-5472-4C92-BFBA-4D468FB585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6632" y="1427869"/>
            <a:ext cx="7671404" cy="3951929"/>
          </a:xfrm>
          <a:prstGeom prst="rect">
            <a:avLst/>
          </a:prstGeom>
        </p:spPr>
      </p:pic>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3117053" y="6324600"/>
            <a:ext cx="2909895" cy="190500"/>
          </a:xfrm>
        </p:spPr>
        <p:txBody>
          <a:bodyPr/>
          <a:lstStyle/>
          <a:p>
            <a:r>
              <a:rPr lang="en-US" sz="1200" noProof="0" dirty="0">
                <a:latin typeface="Times New Roman" panose="02020603050405020304" pitchFamily="18" charset="0"/>
                <a:cs typeface="Times New Roman" panose="02020603050405020304" pitchFamily="18" charset="0"/>
                <a:hlinkClick r:id="" action="ppaction://noaction"/>
              </a:rPr>
              <a:t>Access the text alternative for slide images.</a:t>
            </a:r>
            <a:endParaRPr lang="en-US" sz="12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40459398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Scrum Details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4610840" cy="4781191"/>
          </a:xfrm>
        </p:spPr>
        <p:txBody>
          <a:bodyPr vert="horz" lIns="91440" tIns="45720" rIns="91440" bIns="45720" rtlCol="0">
            <a:noAutofit/>
          </a:bodyPr>
          <a:lstStyle/>
          <a:p>
            <a:pPr marL="291600" indent="-291600" rtl="0" eaLnBrk="1" latinLnBrk="0" hangingPunct="1">
              <a:spcBef>
                <a:spcPts val="1000"/>
              </a:spcBef>
              <a:spcAft>
                <a:spcPts val="0"/>
              </a:spcAft>
              <a:buFont typeface="Arial" panose="020B0604020202020204" pitchFamily="34" charset="0"/>
              <a:buChar char="•"/>
            </a:pPr>
            <a:r>
              <a:rPr lang="en-US" sz="1800" b="1" kern="1200" noProof="0" dirty="0">
                <a:solidFill>
                  <a:schemeClr val="tx2"/>
                </a:solidFill>
                <a:effectLst/>
                <a:latin typeface="Times New Roman" panose="02020603050405020304" pitchFamily="18" charset="0"/>
                <a:cs typeface="Times New Roman" panose="02020603050405020304" pitchFamily="18" charset="0"/>
              </a:rPr>
              <a:t>Backlog Refinement Meeting </a:t>
            </a:r>
            <a:r>
              <a:rPr lang="en-US" sz="1800" kern="1200" noProof="0" dirty="0">
                <a:solidFill>
                  <a:schemeClr val="tx2"/>
                </a:solidFill>
                <a:effectLst/>
                <a:latin typeface="Times New Roman" panose="02020603050405020304" pitchFamily="18" charset="0"/>
                <a:cs typeface="Times New Roman" panose="02020603050405020304" pitchFamily="18" charset="0"/>
              </a:rPr>
              <a:t>Developers work with stakeholders to create product backlog.</a:t>
            </a:r>
            <a:endParaRPr lang="en-US" sz="1800" noProof="0" dirty="0">
              <a:effectLst/>
              <a:latin typeface="Times New Roman" panose="02020603050405020304" pitchFamily="18" charset="0"/>
              <a:cs typeface="Times New Roman" panose="02020603050405020304" pitchFamily="18" charset="0"/>
            </a:endParaRPr>
          </a:p>
          <a:p>
            <a:pPr marL="291600" indent="-291600" rtl="0" eaLnBrk="1" latinLnBrk="0" hangingPunct="1">
              <a:spcBef>
                <a:spcPts val="1000"/>
              </a:spcBef>
              <a:spcAft>
                <a:spcPts val="0"/>
              </a:spcAft>
              <a:buFont typeface="Arial" panose="020B0604020202020204" pitchFamily="34" charset="0"/>
              <a:buChar char="•"/>
            </a:pPr>
            <a:r>
              <a:rPr lang="en-US" sz="1800" b="1" kern="1200" noProof="0" dirty="0">
                <a:solidFill>
                  <a:schemeClr val="tx2"/>
                </a:solidFill>
                <a:effectLst/>
                <a:latin typeface="Times New Roman" panose="02020603050405020304" pitchFamily="18" charset="0"/>
                <a:cs typeface="Times New Roman" panose="02020603050405020304" pitchFamily="18" charset="0"/>
              </a:rPr>
              <a:t>Sprint Planning Meeting </a:t>
            </a:r>
            <a:r>
              <a:rPr lang="en-US" sz="1800" kern="1200" noProof="0" dirty="0">
                <a:solidFill>
                  <a:schemeClr val="tx2"/>
                </a:solidFill>
                <a:effectLst/>
                <a:latin typeface="Times New Roman" panose="02020603050405020304" pitchFamily="18" charset="0"/>
                <a:cs typeface="Times New Roman" panose="02020603050405020304" pitchFamily="18" charset="0"/>
              </a:rPr>
              <a:t>Backlog partitioned into “sprints” derived from backlog and next sprint defined.</a:t>
            </a:r>
            <a:endParaRPr lang="en-US" sz="1800" noProof="0" dirty="0">
              <a:effectLst/>
              <a:latin typeface="Times New Roman" panose="02020603050405020304" pitchFamily="18" charset="0"/>
              <a:cs typeface="Times New Roman" panose="02020603050405020304" pitchFamily="18" charset="0"/>
            </a:endParaRPr>
          </a:p>
          <a:p>
            <a:pPr marL="291600" indent="-291600" rtl="0" eaLnBrk="1" latinLnBrk="0" hangingPunct="1">
              <a:spcBef>
                <a:spcPts val="1000"/>
              </a:spcBef>
              <a:spcAft>
                <a:spcPts val="0"/>
              </a:spcAft>
              <a:buFont typeface="Arial" panose="020B0604020202020204" pitchFamily="34" charset="0"/>
              <a:buChar char="•"/>
            </a:pPr>
            <a:r>
              <a:rPr lang="en-US" sz="1800" b="1" kern="1200" noProof="0" dirty="0">
                <a:solidFill>
                  <a:schemeClr val="tx2"/>
                </a:solidFill>
                <a:effectLst/>
                <a:latin typeface="Times New Roman" panose="02020603050405020304" pitchFamily="18" charset="0"/>
                <a:cs typeface="Times New Roman" panose="02020603050405020304" pitchFamily="18" charset="0"/>
              </a:rPr>
              <a:t>Daily Scrum Meeting </a:t>
            </a:r>
            <a:r>
              <a:rPr lang="en-US" sz="1800" kern="1200" noProof="0" dirty="0">
                <a:solidFill>
                  <a:schemeClr val="tx2"/>
                </a:solidFill>
                <a:effectLst/>
                <a:latin typeface="Times New Roman" panose="02020603050405020304" pitchFamily="18" charset="0"/>
                <a:cs typeface="Times New Roman" panose="02020603050405020304" pitchFamily="18" charset="0"/>
              </a:rPr>
              <a:t>Team members synchronize their activities and plan work day (15 minutes max).</a:t>
            </a:r>
            <a:endParaRPr lang="en-US" sz="1800" noProof="0" dirty="0">
              <a:effectLst/>
              <a:latin typeface="Times New Roman" panose="02020603050405020304" pitchFamily="18" charset="0"/>
              <a:cs typeface="Times New Roman" panose="02020603050405020304" pitchFamily="18" charset="0"/>
            </a:endParaRPr>
          </a:p>
          <a:p>
            <a:pPr marL="291600" indent="-291600" rtl="0" eaLnBrk="1" latinLnBrk="0" hangingPunct="1">
              <a:spcBef>
                <a:spcPts val="1000"/>
              </a:spcBef>
              <a:spcAft>
                <a:spcPts val="0"/>
              </a:spcAft>
              <a:buFont typeface="Arial" panose="020B0604020202020204" pitchFamily="34" charset="0"/>
              <a:buChar char="•"/>
            </a:pPr>
            <a:r>
              <a:rPr lang="en-US" sz="1800" b="1" kern="1200" noProof="0" dirty="0">
                <a:solidFill>
                  <a:schemeClr val="tx2"/>
                </a:solidFill>
                <a:effectLst/>
                <a:latin typeface="Times New Roman" panose="02020603050405020304" pitchFamily="18" charset="0"/>
                <a:cs typeface="Times New Roman" panose="02020603050405020304" pitchFamily="18" charset="0"/>
              </a:rPr>
              <a:t>Sprint Review </a:t>
            </a:r>
            <a:r>
              <a:rPr lang="en-US" sz="1800" kern="1200" noProof="0" dirty="0">
                <a:solidFill>
                  <a:schemeClr val="tx2"/>
                </a:solidFill>
                <a:effectLst/>
                <a:latin typeface="Times New Roman" panose="02020603050405020304" pitchFamily="18" charset="0"/>
                <a:cs typeface="Times New Roman" panose="02020603050405020304" pitchFamily="18" charset="0"/>
              </a:rPr>
              <a:t>Prototype “demos” are delivered to the stakeholders for approval or rejection.</a:t>
            </a:r>
            <a:endParaRPr lang="en-US" sz="1800" noProof="0" dirty="0">
              <a:effectLst/>
              <a:latin typeface="Times New Roman" panose="02020603050405020304" pitchFamily="18" charset="0"/>
              <a:cs typeface="Times New Roman" panose="02020603050405020304" pitchFamily="18" charset="0"/>
            </a:endParaRPr>
          </a:p>
          <a:p>
            <a:pPr marL="291600" indent="-291600">
              <a:spcBef>
                <a:spcPts val="1000"/>
              </a:spcBef>
              <a:spcAft>
                <a:spcPts val="0"/>
              </a:spcAft>
              <a:buFont typeface="Arial" panose="020B0604020202020204" pitchFamily="34" charset="0"/>
              <a:buChar char="•"/>
            </a:pPr>
            <a:r>
              <a:rPr lang="en-US" sz="1800" b="1" kern="1200" noProof="0" dirty="0">
                <a:solidFill>
                  <a:schemeClr val="tx2"/>
                </a:solidFill>
                <a:effectLst/>
                <a:latin typeface="Times New Roman" panose="02020603050405020304" pitchFamily="18" charset="0"/>
                <a:cs typeface="Times New Roman" panose="02020603050405020304" pitchFamily="18" charset="0"/>
              </a:rPr>
              <a:t>Sprint Retrospective </a:t>
            </a:r>
            <a:r>
              <a:rPr lang="en-US" sz="1800" kern="1200" noProof="0" dirty="0">
                <a:solidFill>
                  <a:schemeClr val="tx2"/>
                </a:solidFill>
                <a:effectLst/>
                <a:latin typeface="Times New Roman" panose="02020603050405020304" pitchFamily="18" charset="0"/>
                <a:cs typeface="Times New Roman" panose="02020603050405020304" pitchFamily="18" charset="0"/>
              </a:rPr>
              <a:t>After sprint is complete, team considers what went well and what needs improvement.</a:t>
            </a:r>
            <a:endParaRPr lang="en-US" altLang="en-US" sz="1800" noProof="0" dirty="0">
              <a:latin typeface="Times New Roman" panose="02020603050405020304" pitchFamily="18" charset="0"/>
              <a:cs typeface="Times New Roman" panose="02020603050405020304" pitchFamily="18" charset="0"/>
            </a:endParaRPr>
          </a:p>
        </p:txBody>
      </p:sp>
      <p:sp>
        <p:nvSpPr>
          <p:cNvPr id="11" name="Content Placeholder 10"/>
          <p:cNvSpPr>
            <a:spLocks noGrp="1"/>
          </p:cNvSpPr>
          <p:nvPr>
            <p:ph sz="quarter" idx="14"/>
          </p:nvPr>
        </p:nvSpPr>
        <p:spPr>
          <a:xfrm>
            <a:off x="5101330" y="1276708"/>
            <a:ext cx="3589909" cy="1919253"/>
          </a:xfrm>
        </p:spPr>
        <p:txBody>
          <a:bodyPr>
            <a:noAutofit/>
          </a:bodyPr>
          <a:lstStyle/>
          <a:p>
            <a:r>
              <a:rPr lang="en-US" sz="1800" b="1" noProof="0" dirty="0">
                <a:latin typeface="Times New Roman" panose="02020603050405020304" pitchFamily="18" charset="0"/>
                <a:cs typeface="Times New Roman" panose="02020603050405020304" pitchFamily="18" charset="0"/>
              </a:rPr>
              <a:t>Pros </a:t>
            </a:r>
          </a:p>
          <a:p>
            <a:pPr marL="291600" indent="-291600">
              <a:spcBef>
                <a:spcPts val="500"/>
              </a:spcBef>
              <a:spcAft>
                <a:spcPts val="0"/>
              </a:spcAft>
              <a:buFont typeface="Arial" panose="020B0604020202020204" pitchFamily="34" charset="0"/>
              <a:buChar char="•"/>
            </a:pPr>
            <a:r>
              <a:rPr lang="en-US" sz="1800" noProof="0" dirty="0">
                <a:latin typeface="Times New Roman" panose="02020603050405020304" pitchFamily="18" charset="0"/>
                <a:cs typeface="Times New Roman" panose="02020603050405020304" pitchFamily="18" charset="0"/>
              </a:rPr>
              <a:t>Product owner sets priorities.</a:t>
            </a:r>
          </a:p>
          <a:p>
            <a:pPr marL="291600" indent="-291600">
              <a:spcBef>
                <a:spcPts val="500"/>
              </a:spcBef>
              <a:spcAft>
                <a:spcPts val="0"/>
              </a:spcAft>
              <a:buFont typeface="Arial" panose="020B0604020202020204" pitchFamily="34" charset="0"/>
              <a:buChar char="•"/>
            </a:pPr>
            <a:r>
              <a:rPr lang="en-US" sz="1800" noProof="0" dirty="0">
                <a:latin typeface="Times New Roman" panose="02020603050405020304" pitchFamily="18" charset="0"/>
                <a:cs typeface="Times New Roman" panose="02020603050405020304" pitchFamily="18" charset="0"/>
              </a:rPr>
              <a:t>Team owns decision making.</a:t>
            </a:r>
          </a:p>
          <a:p>
            <a:pPr marL="291600" indent="-291600">
              <a:spcBef>
                <a:spcPts val="500"/>
              </a:spcBef>
              <a:spcAft>
                <a:spcPts val="0"/>
              </a:spcAft>
              <a:buFont typeface="Arial" panose="020B0604020202020204" pitchFamily="34" charset="0"/>
              <a:buChar char="•"/>
            </a:pPr>
            <a:r>
              <a:rPr lang="en-US" sz="1800" noProof="0" dirty="0">
                <a:latin typeface="Times New Roman" panose="02020603050405020304" pitchFamily="18" charset="0"/>
                <a:cs typeface="Times New Roman" panose="02020603050405020304" pitchFamily="18" charset="0"/>
              </a:rPr>
              <a:t>Documentation is lightweight.</a:t>
            </a:r>
          </a:p>
          <a:p>
            <a:pPr marL="291600" indent="-291600">
              <a:spcBef>
                <a:spcPts val="500"/>
              </a:spcBef>
              <a:spcAft>
                <a:spcPts val="0"/>
              </a:spcAft>
              <a:buFont typeface="Arial" panose="020B0604020202020204" pitchFamily="34" charset="0"/>
              <a:buChar char="•"/>
            </a:pPr>
            <a:r>
              <a:rPr lang="en-US" sz="1800" noProof="0" dirty="0">
                <a:latin typeface="Times New Roman" panose="02020603050405020304" pitchFamily="18" charset="0"/>
                <a:cs typeface="Times New Roman" panose="02020603050405020304" pitchFamily="18" charset="0"/>
              </a:rPr>
              <a:t>Supports frequent updating.</a:t>
            </a:r>
          </a:p>
        </p:txBody>
      </p:sp>
      <p:sp>
        <p:nvSpPr>
          <p:cNvPr id="12" name="Content Placeholder 11"/>
          <p:cNvSpPr>
            <a:spLocks noGrp="1"/>
          </p:cNvSpPr>
          <p:nvPr>
            <p:ph sz="quarter" idx="15"/>
          </p:nvPr>
        </p:nvSpPr>
        <p:spPr>
          <a:xfrm>
            <a:off x="5101330" y="3338003"/>
            <a:ext cx="3589909" cy="2104007"/>
          </a:xfrm>
        </p:spPr>
        <p:txBody>
          <a:bodyPr>
            <a:noAutofit/>
          </a:bodyPr>
          <a:lstStyle/>
          <a:p>
            <a:r>
              <a:rPr lang="en-US" sz="1800" b="1" noProof="0" dirty="0">
                <a:latin typeface="Times New Roman" panose="02020603050405020304" pitchFamily="18" charset="0"/>
                <a:cs typeface="Times New Roman" panose="02020603050405020304" pitchFamily="18" charset="0"/>
              </a:rPr>
              <a:t>Cons</a:t>
            </a:r>
          </a:p>
          <a:p>
            <a:pPr marL="291600" indent="-291600">
              <a:spcBef>
                <a:spcPts val="500"/>
              </a:spcBef>
              <a:spcAft>
                <a:spcPts val="0"/>
              </a:spcAft>
              <a:buFont typeface="Arial" panose="020B0604020202020204" pitchFamily="34" charset="0"/>
              <a:buChar char="•"/>
            </a:pPr>
            <a:r>
              <a:rPr lang="en-US" sz="1800" noProof="0" dirty="0">
                <a:latin typeface="Times New Roman" panose="02020603050405020304" pitchFamily="18" charset="0"/>
                <a:cs typeface="Times New Roman" panose="02020603050405020304" pitchFamily="18" charset="0"/>
              </a:rPr>
              <a:t>Difficult to control the cost of changes.</a:t>
            </a:r>
          </a:p>
          <a:p>
            <a:pPr marL="291600" indent="-291600">
              <a:spcBef>
                <a:spcPts val="500"/>
              </a:spcBef>
              <a:spcAft>
                <a:spcPts val="0"/>
              </a:spcAft>
              <a:buFont typeface="Arial" panose="020B0604020202020204" pitchFamily="34" charset="0"/>
              <a:buChar char="•"/>
            </a:pPr>
            <a:r>
              <a:rPr lang="en-US" sz="1800" noProof="0" dirty="0">
                <a:latin typeface="Times New Roman" panose="02020603050405020304" pitchFamily="18" charset="0"/>
                <a:cs typeface="Times New Roman" panose="02020603050405020304" pitchFamily="18" charset="0"/>
              </a:rPr>
              <a:t>May not be suitable for large teams.</a:t>
            </a:r>
          </a:p>
          <a:p>
            <a:pPr marL="291600" indent="-291600">
              <a:spcBef>
                <a:spcPts val="500"/>
              </a:spcBef>
              <a:spcAft>
                <a:spcPts val="0"/>
              </a:spcAft>
              <a:buFont typeface="Arial" panose="020B0604020202020204" pitchFamily="34" charset="0"/>
              <a:buChar char="•"/>
            </a:pPr>
            <a:r>
              <a:rPr lang="en-US" sz="1800" noProof="0" dirty="0">
                <a:latin typeface="Times New Roman" panose="02020603050405020304" pitchFamily="18" charset="0"/>
                <a:cs typeface="Times New Roman" panose="02020603050405020304" pitchFamily="18" charset="0"/>
              </a:rPr>
              <a:t>Requires expert team members.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800" b="0" i="0" u="none" strike="noStrike" kern="1200" cap="none" spc="0" normalizeH="0" baseline="0" noProof="0" dirty="0">
              <a:ln>
                <a:noFill/>
              </a:ln>
              <a:solidFill>
                <a:srgbClr val="000000">
                  <a:lumMod val="65000"/>
                  <a:lumOff val="3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35212585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Agile Teams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10"/>
            <a:ext cx="8458200" cy="2782542"/>
          </a:xfrm>
        </p:spPr>
        <p:txBody>
          <a:bodyPr vert="horz" lIns="91440" tIns="45720" rIns="91440" bIns="45720" rtlCol="0">
            <a:noAutofit/>
          </a:bodyPr>
          <a:lstStyle/>
          <a:p>
            <a:pPr>
              <a:defRPr/>
            </a:pPr>
            <a:r>
              <a:rPr lang="en-US" sz="2400" noProof="0" dirty="0">
                <a:latin typeface="Times New Roman" panose="02020603050405020304" pitchFamily="18" charset="0"/>
                <a:cs typeface="Times New Roman" panose="02020603050405020304" pitchFamily="18" charset="0"/>
              </a:rPr>
              <a:t>Stress individual competency coupled with group collaboration as critical success factors.</a:t>
            </a:r>
          </a:p>
          <a:p>
            <a:pPr>
              <a:defRPr/>
            </a:pPr>
            <a:r>
              <a:rPr lang="en-US" sz="2400" noProof="0" dirty="0">
                <a:latin typeface="Times New Roman" panose="02020603050405020304" pitchFamily="18" charset="0"/>
                <a:cs typeface="Times New Roman" panose="02020603050405020304" pitchFamily="18" charset="0"/>
              </a:rPr>
              <a:t>People trump process and politics can trump people.</a:t>
            </a:r>
          </a:p>
          <a:p>
            <a:pPr>
              <a:defRPr/>
            </a:pPr>
            <a:r>
              <a:rPr lang="en-US" sz="2400" noProof="0" dirty="0">
                <a:latin typeface="Times New Roman" panose="02020603050405020304" pitchFamily="18" charset="0"/>
                <a:cs typeface="Times New Roman" panose="02020603050405020304" pitchFamily="18" charset="0"/>
              </a:rPr>
              <a:t>Agile teams as self-organizing and have many structures.</a:t>
            </a:r>
          </a:p>
          <a:p>
            <a:pPr marL="291600" lvl="3" indent="-291600">
              <a:spcBef>
                <a:spcPts val="1000"/>
              </a:spcBef>
              <a:spcAft>
                <a:spcPts val="0"/>
              </a:spcAft>
              <a:defRPr/>
            </a:pPr>
            <a:r>
              <a:rPr lang="en-US" sz="2000" noProof="0" dirty="0">
                <a:latin typeface="Times New Roman" panose="02020603050405020304" pitchFamily="18" charset="0"/>
                <a:cs typeface="Times New Roman" panose="02020603050405020304" pitchFamily="18" charset="0"/>
              </a:rPr>
              <a:t>Adaptive team structures.</a:t>
            </a:r>
          </a:p>
          <a:p>
            <a:pPr marL="291600" lvl="3" indent="-291600">
              <a:spcBef>
                <a:spcPts val="1000"/>
              </a:spcBef>
              <a:spcAft>
                <a:spcPts val="0"/>
              </a:spcAft>
              <a:defRPr/>
            </a:pPr>
            <a:r>
              <a:rPr lang="en-US" sz="2000" noProof="0" dirty="0">
                <a:latin typeface="Times New Roman" panose="02020603050405020304" pitchFamily="18" charset="0"/>
                <a:cs typeface="Times New Roman" panose="02020603050405020304" pitchFamily="18" charset="0"/>
              </a:rPr>
              <a:t>Significant autonomy.</a:t>
            </a:r>
          </a:p>
        </p:txBody>
      </p:sp>
      <p:sp>
        <p:nvSpPr>
          <p:cNvPr id="9" name="Content Placeholder 8"/>
          <p:cNvSpPr>
            <a:spLocks noGrp="1"/>
          </p:cNvSpPr>
          <p:nvPr>
            <p:ph sz="quarter" idx="14"/>
          </p:nvPr>
        </p:nvSpPr>
        <p:spPr>
          <a:xfrm>
            <a:off x="342900" y="4101979"/>
            <a:ext cx="8458200" cy="1734799"/>
          </a:xfrm>
        </p:spPr>
        <p:txBody>
          <a:bodyPr>
            <a:normAutofit/>
          </a:bodyPr>
          <a:lstStyle/>
          <a:p>
            <a:pPr>
              <a:defRPr/>
            </a:pPr>
            <a:r>
              <a:rPr lang="en-US" sz="2400" noProof="0" dirty="0">
                <a:latin typeface="Times New Roman" panose="02020603050405020304" pitchFamily="18" charset="0"/>
                <a:cs typeface="Times New Roman" panose="02020603050405020304" pitchFamily="18" charset="0"/>
              </a:rPr>
              <a:t>Communication among developers and stakeholders is important (consider adding customer rep to team).</a:t>
            </a:r>
          </a:p>
          <a:p>
            <a:pPr>
              <a:defRPr/>
            </a:pPr>
            <a:r>
              <a:rPr lang="en-US" sz="2400" noProof="0" dirty="0">
                <a:latin typeface="Times New Roman" panose="02020603050405020304" pitchFamily="18" charset="0"/>
                <a:cs typeface="Times New Roman" panose="02020603050405020304" pitchFamily="18" charset="0"/>
              </a:rPr>
              <a:t>Planning is kept to a minimum and  constrained only by business requirements and organizational standards.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800" b="0" i="0" u="none" strike="noStrike" kern="1200" cap="none" spc="0" normalizeH="0" baseline="0" noProof="0" dirty="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7324039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dirty="0">
                <a:latin typeface="Times New Roman" panose="02020603050405020304" pitchFamily="18" charset="0"/>
                <a:cs typeface="Times New Roman" panose="02020603050405020304" pitchFamily="18" charset="0"/>
              </a:rPr>
              <a:t>Agile Teams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4507403"/>
          </a:xfrm>
        </p:spPr>
        <p:txBody>
          <a:bodyPr vert="horz" lIns="91440" tIns="45720" rIns="91440" bIns="45720" rtlCol="0">
            <a:noAutofit/>
          </a:bodyPr>
          <a:lstStyle/>
          <a:p>
            <a:pPr>
              <a:spcBef>
                <a:spcPts val="1000"/>
              </a:spcBef>
            </a:pPr>
            <a:r>
              <a:rPr lang="en-US" altLang="en-US" sz="2400" dirty="0">
                <a:latin typeface="Times New Roman" panose="02020603050405020304" pitchFamily="18" charset="0"/>
                <a:cs typeface="Times New Roman" panose="02020603050405020304" pitchFamily="18" charset="0"/>
              </a:rPr>
              <a:t>Team members must have trust in one another.</a:t>
            </a:r>
          </a:p>
          <a:p>
            <a:pPr>
              <a:spcBef>
                <a:spcPts val="1000"/>
              </a:spcBef>
            </a:pPr>
            <a:r>
              <a:rPr lang="en-US" altLang="en-US" sz="2400" dirty="0">
                <a:latin typeface="Times New Roman" panose="02020603050405020304" pitchFamily="18" charset="0"/>
                <a:cs typeface="Times New Roman" panose="02020603050405020304" pitchFamily="18" charset="0"/>
              </a:rPr>
              <a:t>The distribution of skills must be appropriate to the problem.</a:t>
            </a:r>
          </a:p>
          <a:p>
            <a:pPr>
              <a:spcBef>
                <a:spcPts val="1000"/>
              </a:spcBef>
            </a:pPr>
            <a:r>
              <a:rPr lang="en-US" altLang="en-US" sz="2400" dirty="0">
                <a:latin typeface="Times New Roman" panose="02020603050405020304" pitchFamily="18" charset="0"/>
                <a:cs typeface="Times New Roman" panose="02020603050405020304" pitchFamily="18" charset="0"/>
              </a:rPr>
              <a:t>Mavericks may have to be excluded from the team, if team cohesiveness is to be maintained.</a:t>
            </a:r>
          </a:p>
          <a:p>
            <a:pPr>
              <a:spcBef>
                <a:spcPts val="1000"/>
              </a:spcBef>
            </a:pPr>
            <a:r>
              <a:rPr lang="en-US" altLang="en-US" sz="2400" dirty="0">
                <a:latin typeface="Times New Roman" panose="02020603050405020304" pitchFamily="18" charset="0"/>
                <a:cs typeface="Times New Roman" panose="02020603050405020304" pitchFamily="18" charset="0"/>
              </a:rPr>
              <a:t>Team is “self-organizing.”</a:t>
            </a:r>
          </a:p>
          <a:p>
            <a:pPr marL="291600" lvl="4" indent="-291600">
              <a:spcBef>
                <a:spcPts val="1000"/>
              </a:spcBef>
            </a:pPr>
            <a:r>
              <a:rPr lang="en-US" altLang="en-US" sz="2000" dirty="0">
                <a:latin typeface="Times New Roman" panose="02020603050405020304" pitchFamily="18" charset="0"/>
                <a:cs typeface="Times New Roman" panose="02020603050405020304" pitchFamily="18" charset="0"/>
              </a:rPr>
              <a:t>An adaptive team structure.</a:t>
            </a:r>
          </a:p>
          <a:p>
            <a:pPr marL="291600" lvl="4" indent="-291600">
              <a:spcBef>
                <a:spcPts val="1000"/>
              </a:spcBef>
            </a:pPr>
            <a:r>
              <a:rPr lang="en-US" sz="2000" dirty="0">
                <a:latin typeface="Times New Roman" panose="02020603050405020304" pitchFamily="18" charset="0"/>
                <a:cs typeface="Times New Roman" panose="02020603050405020304" pitchFamily="18" charset="0"/>
              </a:rPr>
              <a:t>Planning is kept to a minimum.</a:t>
            </a:r>
          </a:p>
          <a:p>
            <a:pPr marL="291600" lvl="4" indent="-291600">
              <a:spcBef>
                <a:spcPts val="1000"/>
              </a:spcBef>
            </a:pPr>
            <a:r>
              <a:rPr lang="en-US" sz="2000" dirty="0">
                <a:latin typeface="Times New Roman" panose="02020603050405020304" pitchFamily="18" charset="0"/>
                <a:cs typeface="Times New Roman" panose="02020603050405020304" pitchFamily="18" charset="0"/>
              </a:rPr>
              <a:t>Team select its own approach constrained by business requirements and organizational standards.</a:t>
            </a:r>
            <a:endParaRPr lang="en-US" altLang="en-US" sz="20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800" b="0" i="0" u="none" strike="noStrike" kern="1200" cap="none" spc="0" normalizeH="0" baseline="0" noProof="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8089591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35646"/>
            <a:ext cx="8458200" cy="616919"/>
          </a:xfrm>
        </p:spPr>
        <p:txBody>
          <a:bodyPr>
            <a:noAutofit/>
          </a:bodyPr>
          <a:lstStyle/>
          <a:p>
            <a:r>
              <a:rPr lang="en-US" sz="3600" noProof="0" dirty="0">
                <a:latin typeface="Times New Roman" panose="02020603050405020304" pitchFamily="18" charset="0"/>
                <a:cs typeface="Times New Roman" panose="02020603050405020304" pitchFamily="18" charset="0"/>
              </a:rPr>
              <a:t>Traits of Successful Software Engineers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153274"/>
            <a:ext cx="8458200" cy="4714740"/>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Sense of individual responsibility.</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Acutely aware of the needs of team members and stakeholders.</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Brutally honest about design flaws and offers constructive criticism.</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Resilient under pressure.</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Heightened sense of fairness.</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Attention to detail.</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Pragmatic adapting software engineering practices based on the circumstances at hand.</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800" b="0" i="0" u="none" strike="noStrike" kern="1200" cap="none" spc="0" normalizeH="0" baseline="0" noProof="0" dirty="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5417460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Effective Software Team Attributes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161820"/>
            <a:ext cx="8458200" cy="4714740"/>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Sense of purpose.</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Sense of involvement.</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Sense of trust.</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Sense of improvement.</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Diversity of team member skill sets.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800" b="0" i="0" u="none" strike="noStrike" kern="1200" cap="none" spc="0" normalizeH="0" baseline="0" noProof="0" dirty="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5633846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147328"/>
            <a:ext cx="8458200" cy="993554"/>
          </a:xfrm>
        </p:spPr>
        <p:txBody>
          <a:bodyPr>
            <a:noAutofit/>
          </a:bodyPr>
          <a:lstStyle/>
          <a:p>
            <a:r>
              <a:rPr lang="en-US" sz="3600" noProof="0" dirty="0">
                <a:latin typeface="Times New Roman" panose="02020603050405020304" pitchFamily="18" charset="0"/>
                <a:cs typeface="Times New Roman" panose="02020603050405020304" pitchFamily="18" charset="0"/>
              </a:rPr>
              <a:t>Factors Affecting Global Software Development Teams</a:t>
            </a:r>
          </a:p>
        </p:txBody>
      </p:sp>
      <p:pic>
        <p:nvPicPr>
          <p:cNvPr id="6" name="Picture 5" descr="A diagram shows factors like distance, barriers and communication among others which affect global software development teams. ">
            <a:extLst>
              <a:ext uri="{FF2B5EF4-FFF2-40B4-BE49-F238E27FC236}">
                <a16:creationId xmlns:a16="http://schemas.microsoft.com/office/drawing/2014/main" id="{FB3EC514-0187-458D-9142-18D2CB1D88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2099" y="1338406"/>
            <a:ext cx="7816580" cy="4315412"/>
          </a:xfrm>
          <a:prstGeom prst="rect">
            <a:avLst/>
          </a:prstGeom>
        </p:spPr>
      </p:pic>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3127403" y="6324599"/>
            <a:ext cx="2889193" cy="218243"/>
          </a:xfrm>
        </p:spPr>
        <p:txBody>
          <a:bodyPr/>
          <a:lstStyle/>
          <a:p>
            <a:r>
              <a:rPr lang="en-US" sz="1200" noProof="0" dirty="0">
                <a:latin typeface="Times New Roman" panose="02020603050405020304" pitchFamily="18" charset="0"/>
                <a:cs typeface="Times New Roman" panose="02020603050405020304" pitchFamily="18" charset="0"/>
                <a:hlinkClick r:id="rId3" action="ppaction://hlinksldjump"/>
              </a:rPr>
              <a:t>Access the text alternative for slide images.</a:t>
            </a:r>
            <a:endParaRPr lang="en-US" sz="12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800" b="0" i="0" u="none" strike="noStrike" kern="1200" cap="none" spc="0" normalizeH="0" baseline="0" noProof="0" dirty="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5507190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04800"/>
            <a:ext cx="8639352" cy="678611"/>
          </a:xfrm>
        </p:spPr>
        <p:txBody>
          <a:bodyPr>
            <a:noAutofit/>
          </a:bodyPr>
          <a:lstStyle/>
          <a:p>
            <a:r>
              <a:rPr lang="en-US" sz="3600" dirty="0">
                <a:solidFill>
                  <a:srgbClr val="000000"/>
                </a:solidFill>
                <a:latin typeface="Times New Roman" panose="02020603050405020304" pitchFamily="18" charset="0"/>
                <a:cs typeface="Times New Roman" panose="02020603050405020304" pitchFamily="18" charset="0"/>
              </a:rPr>
              <a:t>Factors Affecting Software Team Structure</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3997039"/>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b="1" dirty="0">
                <a:solidFill>
                  <a:srgbClr val="000000"/>
                </a:solidFill>
                <a:latin typeface="Times New Roman" panose="02020603050405020304" pitchFamily="18" charset="0"/>
                <a:cs typeface="Times New Roman" panose="02020603050405020304" pitchFamily="18" charset="0"/>
              </a:rPr>
              <a:t>Difficulty</a:t>
            </a:r>
            <a:r>
              <a:rPr lang="en-US" altLang="en-US" sz="2400" dirty="0">
                <a:solidFill>
                  <a:srgbClr val="000000"/>
                </a:solidFill>
                <a:latin typeface="Times New Roman" panose="02020603050405020304" pitchFamily="18" charset="0"/>
                <a:cs typeface="Times New Roman" panose="02020603050405020304" pitchFamily="18" charset="0"/>
              </a:rPr>
              <a:t> of the problem to be solved.</a:t>
            </a:r>
          </a:p>
          <a:p>
            <a:pPr marL="291600" indent="-291600">
              <a:spcBef>
                <a:spcPts val="1000"/>
              </a:spcBef>
              <a:spcAft>
                <a:spcPts val="0"/>
              </a:spcAft>
              <a:buFont typeface="Arial" panose="020B0604020202020204" pitchFamily="34" charset="0"/>
              <a:buChar char="•"/>
            </a:pPr>
            <a:r>
              <a:rPr lang="en-US" altLang="en-US" sz="2400" b="1" dirty="0">
                <a:solidFill>
                  <a:srgbClr val="000000"/>
                </a:solidFill>
                <a:latin typeface="Times New Roman" panose="02020603050405020304" pitchFamily="18" charset="0"/>
                <a:cs typeface="Times New Roman" panose="02020603050405020304" pitchFamily="18" charset="0"/>
              </a:rPr>
              <a:t>Size</a:t>
            </a:r>
            <a:r>
              <a:rPr lang="en-US" altLang="en-US" sz="2400" dirty="0">
                <a:solidFill>
                  <a:srgbClr val="000000"/>
                </a:solidFill>
                <a:latin typeface="Times New Roman" panose="02020603050405020304" pitchFamily="18" charset="0"/>
                <a:cs typeface="Times New Roman" panose="02020603050405020304" pitchFamily="18" charset="0"/>
              </a:rPr>
              <a:t> of the resultant program(s) in lines of code or function points.</a:t>
            </a:r>
          </a:p>
          <a:p>
            <a:pPr marL="291600" indent="-291600">
              <a:spcBef>
                <a:spcPts val="1000"/>
              </a:spcBef>
              <a:spcAft>
                <a:spcPts val="0"/>
              </a:spcAft>
              <a:buFont typeface="Arial" panose="020B0604020202020204" pitchFamily="34" charset="0"/>
              <a:buChar char="•"/>
            </a:pPr>
            <a:r>
              <a:rPr lang="en-US" altLang="en-US" sz="2400" b="1" dirty="0">
                <a:solidFill>
                  <a:srgbClr val="000000"/>
                </a:solidFill>
                <a:latin typeface="Times New Roman" panose="02020603050405020304" pitchFamily="18" charset="0"/>
                <a:cs typeface="Times New Roman" panose="02020603050405020304" pitchFamily="18" charset="0"/>
              </a:rPr>
              <a:t>Team lifetimes </a:t>
            </a:r>
            <a:r>
              <a:rPr lang="en-US" altLang="en-US" sz="2400" dirty="0">
                <a:solidFill>
                  <a:srgbClr val="000000"/>
                </a:solidFill>
                <a:latin typeface="Times New Roman" panose="02020603050405020304" pitchFamily="18" charset="0"/>
                <a:cs typeface="Times New Roman" panose="02020603050405020304" pitchFamily="18" charset="0"/>
              </a:rPr>
              <a:t>- time that the team will stay together.</a:t>
            </a:r>
          </a:p>
          <a:p>
            <a:pPr marL="291600" indent="-291600">
              <a:spcBef>
                <a:spcPts val="1000"/>
              </a:spcBef>
              <a:spcAft>
                <a:spcPts val="0"/>
              </a:spcAft>
              <a:buFont typeface="Arial" panose="020B0604020202020204" pitchFamily="34" charset="0"/>
              <a:buChar char="•"/>
            </a:pPr>
            <a:r>
              <a:rPr lang="en-US" altLang="en-US" sz="2400" dirty="0">
                <a:solidFill>
                  <a:srgbClr val="000000"/>
                </a:solidFill>
                <a:latin typeface="Times New Roman" panose="02020603050405020304" pitchFamily="18" charset="0"/>
                <a:cs typeface="Times New Roman" panose="02020603050405020304" pitchFamily="18" charset="0"/>
              </a:rPr>
              <a:t>Degree to which the problem can be </a:t>
            </a:r>
            <a:r>
              <a:rPr lang="en-US" altLang="en-US" sz="2400" b="1" dirty="0">
                <a:solidFill>
                  <a:srgbClr val="000000"/>
                </a:solidFill>
                <a:latin typeface="Times New Roman" panose="02020603050405020304" pitchFamily="18" charset="0"/>
                <a:cs typeface="Times New Roman" panose="02020603050405020304" pitchFamily="18" charset="0"/>
              </a:rPr>
              <a:t>modularized.</a:t>
            </a:r>
          </a:p>
          <a:p>
            <a:pPr marL="291600" indent="-291600">
              <a:spcBef>
                <a:spcPts val="1000"/>
              </a:spcBef>
              <a:spcAft>
                <a:spcPts val="0"/>
              </a:spcAft>
              <a:buFont typeface="Arial" panose="020B0604020202020204" pitchFamily="34" charset="0"/>
              <a:buChar char="•"/>
            </a:pPr>
            <a:r>
              <a:rPr lang="en-US" altLang="en-US" sz="2400" dirty="0">
                <a:solidFill>
                  <a:srgbClr val="000000"/>
                </a:solidFill>
                <a:latin typeface="Times New Roman" panose="02020603050405020304" pitchFamily="18" charset="0"/>
                <a:cs typeface="Times New Roman" panose="02020603050405020304" pitchFamily="18" charset="0"/>
              </a:rPr>
              <a:t>Required </a:t>
            </a:r>
            <a:r>
              <a:rPr lang="en-US" altLang="en-US" sz="2400" b="1" dirty="0">
                <a:solidFill>
                  <a:srgbClr val="000000"/>
                </a:solidFill>
                <a:latin typeface="Times New Roman" panose="02020603050405020304" pitchFamily="18" charset="0"/>
                <a:cs typeface="Times New Roman" panose="02020603050405020304" pitchFamily="18" charset="0"/>
              </a:rPr>
              <a:t>quality</a:t>
            </a:r>
            <a:r>
              <a:rPr lang="en-US" altLang="en-US" sz="2400" dirty="0">
                <a:solidFill>
                  <a:srgbClr val="000000"/>
                </a:solidFill>
                <a:latin typeface="Times New Roman" panose="02020603050405020304" pitchFamily="18" charset="0"/>
                <a:cs typeface="Times New Roman" panose="02020603050405020304" pitchFamily="18" charset="0"/>
              </a:rPr>
              <a:t> and </a:t>
            </a:r>
            <a:r>
              <a:rPr lang="en-US" altLang="en-US" sz="2400" b="1" dirty="0">
                <a:solidFill>
                  <a:srgbClr val="000000"/>
                </a:solidFill>
                <a:latin typeface="Times New Roman" panose="02020603050405020304" pitchFamily="18" charset="0"/>
                <a:cs typeface="Times New Roman" panose="02020603050405020304" pitchFamily="18" charset="0"/>
              </a:rPr>
              <a:t>reliability</a:t>
            </a:r>
            <a:r>
              <a:rPr lang="en-US" altLang="en-US" sz="2400" dirty="0">
                <a:solidFill>
                  <a:srgbClr val="000000"/>
                </a:solidFill>
                <a:latin typeface="Times New Roman" panose="02020603050405020304" pitchFamily="18" charset="0"/>
                <a:cs typeface="Times New Roman" panose="02020603050405020304" pitchFamily="18" charset="0"/>
              </a:rPr>
              <a:t> of the system to be built.</a:t>
            </a:r>
          </a:p>
          <a:p>
            <a:pPr marL="291600" indent="-291600">
              <a:spcBef>
                <a:spcPts val="1000"/>
              </a:spcBef>
              <a:spcAft>
                <a:spcPts val="0"/>
              </a:spcAft>
              <a:buFont typeface="Arial" panose="020B0604020202020204" pitchFamily="34" charset="0"/>
              <a:buChar char="•"/>
            </a:pPr>
            <a:r>
              <a:rPr lang="en-US" altLang="en-US" sz="2400" dirty="0">
                <a:solidFill>
                  <a:srgbClr val="000000"/>
                </a:solidFill>
                <a:latin typeface="Times New Roman" panose="02020603050405020304" pitchFamily="18" charset="0"/>
                <a:cs typeface="Times New Roman" panose="02020603050405020304" pitchFamily="18" charset="0"/>
              </a:rPr>
              <a:t>Rigidity of the </a:t>
            </a:r>
            <a:r>
              <a:rPr lang="en-US" altLang="en-US" sz="2400" b="1" dirty="0">
                <a:solidFill>
                  <a:srgbClr val="000000"/>
                </a:solidFill>
                <a:latin typeface="Times New Roman" panose="02020603050405020304" pitchFamily="18" charset="0"/>
                <a:cs typeface="Times New Roman" panose="02020603050405020304" pitchFamily="18" charset="0"/>
              </a:rPr>
              <a:t>delivery date.</a:t>
            </a:r>
          </a:p>
          <a:p>
            <a:pPr marL="291600" indent="-291600">
              <a:spcBef>
                <a:spcPts val="1000"/>
              </a:spcBef>
              <a:spcAft>
                <a:spcPts val="0"/>
              </a:spcAft>
              <a:buFont typeface="Arial" panose="020B0604020202020204" pitchFamily="34" charset="0"/>
              <a:buChar char="•"/>
            </a:pPr>
            <a:r>
              <a:rPr lang="en-US" altLang="en-US" sz="2400" b="1" dirty="0">
                <a:solidFill>
                  <a:srgbClr val="000000"/>
                </a:solidFill>
                <a:latin typeface="Times New Roman" panose="02020603050405020304" pitchFamily="18" charset="0"/>
                <a:cs typeface="Times New Roman" panose="02020603050405020304" pitchFamily="18" charset="0"/>
              </a:rPr>
              <a:t>Communication</a:t>
            </a:r>
            <a:r>
              <a:rPr lang="en-US" altLang="en-US" sz="2400" dirty="0">
                <a:solidFill>
                  <a:srgbClr val="000000"/>
                </a:solidFill>
                <a:latin typeface="Times New Roman" panose="02020603050405020304" pitchFamily="18" charset="0"/>
                <a:cs typeface="Times New Roman" panose="02020603050405020304" pitchFamily="18" charset="0"/>
              </a:rPr>
              <a:t> (degree of sociability) required.</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4853501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dirty="0">
                <a:solidFill>
                  <a:srgbClr val="000000"/>
                </a:solidFill>
                <a:latin typeface="Times New Roman" panose="02020603050405020304" pitchFamily="18" charset="0"/>
                <a:cs typeface="Times New Roman" panose="02020603050405020304" pitchFamily="18" charset="0"/>
              </a:rPr>
              <a:t>Team Toxicity Factors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10"/>
            <a:ext cx="8458200" cy="4507402"/>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b="1" dirty="0">
                <a:solidFill>
                  <a:srgbClr val="000000"/>
                </a:solidFill>
                <a:latin typeface="Times New Roman" panose="02020603050405020304" pitchFamily="18" charset="0"/>
                <a:cs typeface="Times New Roman" panose="02020603050405020304" pitchFamily="18" charset="0"/>
              </a:rPr>
              <a:t>Frenzied work atmosphere </a:t>
            </a:r>
            <a:r>
              <a:rPr lang="en-US" altLang="en-US" sz="2400" dirty="0">
                <a:solidFill>
                  <a:srgbClr val="000000"/>
                </a:solidFill>
                <a:latin typeface="Times New Roman" panose="02020603050405020304" pitchFamily="18" charset="0"/>
                <a:cs typeface="Times New Roman" panose="02020603050405020304" pitchFamily="18" charset="0"/>
              </a:rPr>
              <a:t>team members waste energy and lose focus on work objectives.</a:t>
            </a:r>
          </a:p>
          <a:p>
            <a:pPr marL="291600" indent="-291600">
              <a:spcBef>
                <a:spcPts val="1000"/>
              </a:spcBef>
              <a:spcAft>
                <a:spcPts val="0"/>
              </a:spcAft>
              <a:buFont typeface="Arial" panose="020B0604020202020204" pitchFamily="34" charset="0"/>
              <a:buChar char="•"/>
            </a:pPr>
            <a:r>
              <a:rPr lang="en-US" altLang="en-US" sz="2400" b="1" dirty="0">
                <a:solidFill>
                  <a:srgbClr val="000000"/>
                </a:solidFill>
                <a:latin typeface="Times New Roman" panose="02020603050405020304" pitchFamily="18" charset="0"/>
                <a:cs typeface="Times New Roman" panose="02020603050405020304" pitchFamily="18" charset="0"/>
              </a:rPr>
              <a:t>High frustration </a:t>
            </a:r>
            <a:r>
              <a:rPr lang="en-US" altLang="en-US" sz="2400" dirty="0">
                <a:solidFill>
                  <a:srgbClr val="000000"/>
                </a:solidFill>
                <a:latin typeface="Times New Roman" panose="02020603050405020304" pitchFamily="18" charset="0"/>
                <a:cs typeface="Times New Roman" panose="02020603050405020304" pitchFamily="18" charset="0"/>
              </a:rPr>
              <a:t>caused by personal, business, or technological factors causing team member friction.</a:t>
            </a:r>
          </a:p>
          <a:p>
            <a:pPr marL="291600" indent="-291600">
              <a:spcBef>
                <a:spcPts val="1000"/>
              </a:spcBef>
              <a:spcAft>
                <a:spcPts val="0"/>
              </a:spcAft>
              <a:buFont typeface="Arial" panose="020B0604020202020204" pitchFamily="34" charset="0"/>
              <a:buChar char="•"/>
            </a:pPr>
            <a:r>
              <a:rPr lang="en-US" altLang="en-US" sz="2400" b="1" dirty="0">
                <a:solidFill>
                  <a:srgbClr val="000000"/>
                </a:solidFill>
                <a:latin typeface="Times New Roman" panose="02020603050405020304" pitchFamily="18" charset="0"/>
                <a:cs typeface="Times New Roman" panose="02020603050405020304" pitchFamily="18" charset="0"/>
              </a:rPr>
              <a:t>Fragmented or poorly coordinated procedures </a:t>
            </a:r>
            <a:r>
              <a:rPr lang="en-US" altLang="en-US" sz="2400" dirty="0">
                <a:solidFill>
                  <a:srgbClr val="000000"/>
                </a:solidFill>
                <a:latin typeface="Times New Roman" panose="02020603050405020304" pitchFamily="18" charset="0"/>
                <a:cs typeface="Times New Roman" panose="02020603050405020304" pitchFamily="18" charset="0"/>
              </a:rPr>
              <a:t>poorly defined or improperly chosen process model.</a:t>
            </a:r>
          </a:p>
          <a:p>
            <a:pPr marL="291600" indent="-291600">
              <a:spcBef>
                <a:spcPts val="1000"/>
              </a:spcBef>
              <a:spcAft>
                <a:spcPts val="0"/>
              </a:spcAft>
              <a:buFont typeface="Arial" panose="020B0604020202020204" pitchFamily="34" charset="0"/>
              <a:buChar char="•"/>
            </a:pPr>
            <a:r>
              <a:rPr lang="en-US" altLang="en-US" sz="2400" b="1" dirty="0">
                <a:solidFill>
                  <a:srgbClr val="000000"/>
                </a:solidFill>
                <a:latin typeface="Times New Roman" panose="02020603050405020304" pitchFamily="18" charset="0"/>
                <a:cs typeface="Times New Roman" panose="02020603050405020304" pitchFamily="18" charset="0"/>
              </a:rPr>
              <a:t>Unclear definition of roles</a:t>
            </a:r>
            <a:r>
              <a:rPr lang="en-US" altLang="en-US" sz="2400" dirty="0">
                <a:solidFill>
                  <a:srgbClr val="000000"/>
                </a:solidFill>
                <a:latin typeface="Times New Roman" panose="02020603050405020304" pitchFamily="18" charset="0"/>
                <a:cs typeface="Times New Roman" panose="02020603050405020304" pitchFamily="18" charset="0"/>
              </a:rPr>
              <a:t> resulting in lack of accountability and resultant finger-pointing.</a:t>
            </a:r>
          </a:p>
          <a:p>
            <a:pPr marL="291600" indent="-291600">
              <a:spcBef>
                <a:spcPts val="1000"/>
              </a:spcBef>
              <a:spcAft>
                <a:spcPts val="0"/>
              </a:spcAft>
              <a:buFont typeface="Arial" panose="020B0604020202020204" pitchFamily="34" charset="0"/>
              <a:buChar char="•"/>
            </a:pPr>
            <a:r>
              <a:rPr lang="en-US" altLang="en-US" sz="2400" b="1" dirty="0">
                <a:solidFill>
                  <a:srgbClr val="000000"/>
                </a:solidFill>
                <a:latin typeface="Times New Roman" panose="02020603050405020304" pitchFamily="18" charset="0"/>
                <a:cs typeface="Times New Roman" panose="02020603050405020304" pitchFamily="18" charset="0"/>
              </a:rPr>
              <a:t>Continuous and repeated exposure to failure</a:t>
            </a:r>
            <a:r>
              <a:rPr lang="en-US" altLang="en-US" sz="2400" dirty="0">
                <a:solidFill>
                  <a:srgbClr val="000000"/>
                </a:solidFill>
                <a:latin typeface="Times New Roman" panose="02020603050405020304" pitchFamily="18" charset="0"/>
                <a:cs typeface="Times New Roman" panose="02020603050405020304" pitchFamily="18" charset="0"/>
              </a:rPr>
              <a:t> leads to a loss of confidence and a lowering of morale.</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800" b="0" i="0" u="none" strike="noStrike" kern="1200" cap="none" spc="0" normalizeH="0" baseline="0" noProof="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6111856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solidFill>
                  <a:srgbClr val="000000"/>
                </a:solidFill>
                <a:latin typeface="Times New Roman" panose="02020603050405020304" pitchFamily="18" charset="0"/>
                <a:cs typeface="Times New Roman" panose="02020603050405020304" pitchFamily="18" charset="0"/>
              </a:rPr>
              <a:t>Agile Modeling Principles </a:t>
            </a:r>
            <a:r>
              <a:rPr lang="en-US" sz="1000" b="0" noProof="0" dirty="0">
                <a:solidFill>
                  <a:srgbClr val="000000"/>
                </a:solidFill>
                <a:latin typeface="Times New Roman" panose="02020603050405020304" pitchFamily="18" charset="0"/>
                <a:cs typeface="Times New Roman" panose="02020603050405020304" pitchFamily="18" charset="0"/>
              </a:rPr>
              <a:t>1</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076768"/>
            <a:ext cx="8458200" cy="4722878"/>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b="1" noProof="0" dirty="0">
                <a:solidFill>
                  <a:srgbClr val="000000"/>
                </a:solidFill>
                <a:latin typeface="Times New Roman" panose="02020603050405020304" pitchFamily="18" charset="0"/>
                <a:cs typeface="Times New Roman" panose="02020603050405020304" pitchFamily="18" charset="0"/>
              </a:rPr>
              <a:t>Principle #1.  </a:t>
            </a:r>
            <a:r>
              <a:rPr lang="en-US" altLang="en-US" sz="2400" b="1" i="1" noProof="0" dirty="0">
                <a:solidFill>
                  <a:srgbClr val="000000"/>
                </a:solidFill>
                <a:latin typeface="Times New Roman" panose="02020603050405020304" pitchFamily="18" charset="0"/>
                <a:cs typeface="Times New Roman" panose="02020603050405020304" pitchFamily="18" charset="0"/>
              </a:rPr>
              <a:t>The primary goal of the software team is to build software not create models.</a:t>
            </a:r>
            <a:endParaRPr lang="en-US" altLang="en-US" sz="2400" noProof="0" dirty="0">
              <a:solidFill>
                <a:srgbClr val="000000"/>
              </a:solidFill>
              <a:latin typeface="Times New Roman" panose="02020603050405020304" pitchFamily="18" charset="0"/>
              <a:cs typeface="Times New Roman" panose="02020603050405020304" pitchFamily="18" charset="0"/>
            </a:endParaRPr>
          </a:p>
          <a:p>
            <a:pPr marL="291600" indent="-291600">
              <a:spcBef>
                <a:spcPts val="1000"/>
              </a:spcBef>
              <a:spcAft>
                <a:spcPts val="0"/>
              </a:spcAft>
              <a:buFont typeface="Arial" panose="020B0604020202020204" pitchFamily="34" charset="0"/>
              <a:buChar char="•"/>
            </a:pPr>
            <a:r>
              <a:rPr lang="en-US" altLang="en-US" sz="2400" b="1" noProof="0" dirty="0">
                <a:solidFill>
                  <a:srgbClr val="000000"/>
                </a:solidFill>
                <a:latin typeface="Times New Roman" panose="02020603050405020304" pitchFamily="18" charset="0"/>
                <a:cs typeface="Times New Roman" panose="02020603050405020304" pitchFamily="18" charset="0"/>
              </a:rPr>
              <a:t>Principle #2.  </a:t>
            </a:r>
            <a:r>
              <a:rPr lang="en-US" altLang="en-US" sz="2400" b="1" i="1" noProof="0" dirty="0">
                <a:solidFill>
                  <a:srgbClr val="000000"/>
                </a:solidFill>
                <a:latin typeface="Times New Roman" panose="02020603050405020304" pitchFamily="18" charset="0"/>
                <a:cs typeface="Times New Roman" panose="02020603050405020304" pitchFamily="18" charset="0"/>
              </a:rPr>
              <a:t>Travel light – don’t create more models than you need.</a:t>
            </a:r>
            <a:endParaRPr lang="en-US" altLang="en-US" sz="2400" noProof="0" dirty="0">
              <a:solidFill>
                <a:srgbClr val="000000"/>
              </a:solidFill>
              <a:latin typeface="Times New Roman" panose="02020603050405020304" pitchFamily="18" charset="0"/>
              <a:cs typeface="Times New Roman" panose="02020603050405020304" pitchFamily="18" charset="0"/>
            </a:endParaRPr>
          </a:p>
          <a:p>
            <a:pPr marL="291600" indent="-291600">
              <a:spcBef>
                <a:spcPts val="1000"/>
              </a:spcBef>
              <a:spcAft>
                <a:spcPts val="0"/>
              </a:spcAft>
              <a:buFont typeface="Arial" panose="020B0604020202020204" pitchFamily="34" charset="0"/>
              <a:buChar char="•"/>
            </a:pPr>
            <a:r>
              <a:rPr lang="en-US" altLang="en-US" sz="2400" b="1" noProof="0" dirty="0">
                <a:solidFill>
                  <a:srgbClr val="000000"/>
                </a:solidFill>
                <a:latin typeface="Times New Roman" panose="02020603050405020304" pitchFamily="18" charset="0"/>
                <a:cs typeface="Times New Roman" panose="02020603050405020304" pitchFamily="18" charset="0"/>
              </a:rPr>
              <a:t>Principle #3.</a:t>
            </a:r>
            <a:r>
              <a:rPr lang="en-US" altLang="en-US" sz="2400" b="1" i="1" noProof="0" dirty="0">
                <a:solidFill>
                  <a:srgbClr val="000000"/>
                </a:solidFill>
                <a:latin typeface="Times New Roman" panose="02020603050405020304" pitchFamily="18" charset="0"/>
                <a:cs typeface="Times New Roman" panose="02020603050405020304" pitchFamily="18" charset="0"/>
              </a:rPr>
              <a:t> </a:t>
            </a:r>
            <a:r>
              <a:rPr lang="en-US" altLang="en-US" sz="2400" b="1" noProof="0" dirty="0">
                <a:solidFill>
                  <a:srgbClr val="000000"/>
                </a:solidFill>
                <a:latin typeface="Times New Roman" panose="02020603050405020304" pitchFamily="18" charset="0"/>
                <a:cs typeface="Times New Roman" panose="02020603050405020304" pitchFamily="18" charset="0"/>
              </a:rPr>
              <a:t> </a:t>
            </a:r>
            <a:r>
              <a:rPr lang="en-US" altLang="en-US" sz="2400" b="1" i="1" noProof="0" dirty="0">
                <a:solidFill>
                  <a:srgbClr val="000000"/>
                </a:solidFill>
                <a:latin typeface="Times New Roman" panose="02020603050405020304" pitchFamily="18" charset="0"/>
                <a:cs typeface="Times New Roman" panose="02020603050405020304" pitchFamily="18" charset="0"/>
              </a:rPr>
              <a:t>Strive to produce the simplest model that will describe the problem or the software.</a:t>
            </a:r>
            <a:endParaRPr lang="en-US" altLang="en-US" sz="2400" noProof="0" dirty="0">
              <a:solidFill>
                <a:srgbClr val="000000"/>
              </a:solidFill>
              <a:latin typeface="Times New Roman" panose="02020603050405020304" pitchFamily="18" charset="0"/>
              <a:cs typeface="Times New Roman" panose="02020603050405020304" pitchFamily="18" charset="0"/>
            </a:endParaRPr>
          </a:p>
          <a:p>
            <a:pPr marL="291600" indent="-291600">
              <a:spcBef>
                <a:spcPts val="1000"/>
              </a:spcBef>
              <a:spcAft>
                <a:spcPts val="0"/>
              </a:spcAft>
              <a:buFont typeface="Arial" panose="020B0604020202020204" pitchFamily="34" charset="0"/>
              <a:buChar char="•"/>
            </a:pPr>
            <a:r>
              <a:rPr lang="en-US" altLang="en-US" sz="2400" b="1" noProof="0" dirty="0">
                <a:solidFill>
                  <a:srgbClr val="000000"/>
                </a:solidFill>
                <a:latin typeface="Times New Roman" panose="02020603050405020304" pitchFamily="18" charset="0"/>
                <a:cs typeface="Times New Roman" panose="02020603050405020304" pitchFamily="18" charset="0"/>
              </a:rPr>
              <a:t>Principle #4.  </a:t>
            </a:r>
            <a:r>
              <a:rPr lang="en-US" altLang="en-US" sz="2400" b="1" i="1" noProof="0" dirty="0">
                <a:solidFill>
                  <a:srgbClr val="000000"/>
                </a:solidFill>
                <a:latin typeface="Times New Roman" panose="02020603050405020304" pitchFamily="18" charset="0"/>
                <a:cs typeface="Times New Roman" panose="02020603050405020304" pitchFamily="18" charset="0"/>
              </a:rPr>
              <a:t>Build models in a way that makes them amenable to change.</a:t>
            </a:r>
          </a:p>
          <a:p>
            <a:pPr marL="291600" indent="-291600">
              <a:spcBef>
                <a:spcPts val="1000"/>
              </a:spcBef>
              <a:spcAft>
                <a:spcPts val="0"/>
              </a:spcAft>
              <a:buFont typeface="Arial" panose="020B0604020202020204" pitchFamily="34" charset="0"/>
              <a:buChar char="•"/>
            </a:pPr>
            <a:r>
              <a:rPr lang="en-US" altLang="en-US" sz="2400" b="1" noProof="0" dirty="0">
                <a:solidFill>
                  <a:srgbClr val="000000"/>
                </a:solidFill>
                <a:latin typeface="Times New Roman" panose="02020603050405020304" pitchFamily="18" charset="0"/>
                <a:cs typeface="Times New Roman" panose="02020603050405020304" pitchFamily="18" charset="0"/>
              </a:rPr>
              <a:t>Principle #5.  </a:t>
            </a:r>
            <a:r>
              <a:rPr lang="en-US" altLang="en-US" sz="2400" b="1" i="1" noProof="0" dirty="0">
                <a:solidFill>
                  <a:srgbClr val="000000"/>
                </a:solidFill>
                <a:latin typeface="Times New Roman" panose="02020603050405020304" pitchFamily="18" charset="0"/>
                <a:cs typeface="Times New Roman" panose="02020603050405020304" pitchFamily="18" charset="0"/>
              </a:rPr>
              <a:t>Be able to state an explicit purpose for each model that is created.</a:t>
            </a:r>
            <a:endParaRPr lang="en-US" altLang="en-US" sz="2400" noProof="0" dirty="0">
              <a:solidFill>
                <a:srgbClr val="000000"/>
              </a:solidFill>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249027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Agile Modeling Principles </a:t>
            </a:r>
            <a:r>
              <a:rPr lang="en-US" sz="1000" b="0" noProof="0" dirty="0">
                <a:latin typeface="Times New Roman" panose="02020603050405020304" pitchFamily="18" charset="0"/>
                <a:cs typeface="Times New Roman" panose="02020603050405020304" pitchFamily="18" charset="0"/>
              </a:rPr>
              <a:t>2</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076768"/>
            <a:ext cx="8458200" cy="4714332"/>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b="1" noProof="0" dirty="0">
                <a:solidFill>
                  <a:schemeClr val="tx1"/>
                </a:solidFill>
                <a:latin typeface="Times New Roman" panose="02020603050405020304" pitchFamily="18" charset="0"/>
                <a:cs typeface="Times New Roman" panose="02020603050405020304" pitchFamily="18" charset="0"/>
              </a:rPr>
              <a:t>Principle #6.  Adapt the models you create to the system at hand.</a:t>
            </a:r>
          </a:p>
          <a:p>
            <a:pPr marL="291600" indent="-291600">
              <a:spcBef>
                <a:spcPts val="1000"/>
              </a:spcBef>
              <a:spcAft>
                <a:spcPts val="0"/>
              </a:spcAft>
              <a:buFont typeface="Arial" panose="020B0604020202020204" pitchFamily="34" charset="0"/>
              <a:buChar char="•"/>
            </a:pPr>
            <a:r>
              <a:rPr lang="en-US" altLang="en-US" sz="2400" b="1" noProof="0" dirty="0">
                <a:solidFill>
                  <a:schemeClr val="tx1"/>
                </a:solidFill>
                <a:latin typeface="Times New Roman" panose="02020603050405020304" pitchFamily="18" charset="0"/>
                <a:cs typeface="Times New Roman" panose="02020603050405020304" pitchFamily="18" charset="0"/>
              </a:rPr>
              <a:t>Principle #7.  Try to build useful models, forget abut building perfect models.</a:t>
            </a:r>
          </a:p>
          <a:p>
            <a:pPr marL="291600" indent="-291600">
              <a:spcBef>
                <a:spcPts val="1000"/>
              </a:spcBef>
              <a:spcAft>
                <a:spcPts val="0"/>
              </a:spcAft>
              <a:buFont typeface="Arial" panose="020B0604020202020204" pitchFamily="34" charset="0"/>
              <a:buChar char="•"/>
            </a:pPr>
            <a:r>
              <a:rPr lang="en-US" altLang="en-US" sz="2400" b="1" noProof="0" dirty="0">
                <a:solidFill>
                  <a:schemeClr val="tx1"/>
                </a:solidFill>
                <a:latin typeface="Times New Roman" panose="02020603050405020304" pitchFamily="18" charset="0"/>
                <a:cs typeface="Times New Roman" panose="02020603050405020304" pitchFamily="18" charset="0"/>
              </a:rPr>
              <a:t>Principle #8. Don’t become dogmatic about model syntax.  Successful communication is key.</a:t>
            </a:r>
          </a:p>
          <a:p>
            <a:pPr marL="291600" indent="-291600">
              <a:spcBef>
                <a:spcPts val="1000"/>
              </a:spcBef>
              <a:spcAft>
                <a:spcPts val="0"/>
              </a:spcAft>
              <a:buFont typeface="Arial" panose="020B0604020202020204" pitchFamily="34" charset="0"/>
              <a:buChar char="•"/>
            </a:pPr>
            <a:r>
              <a:rPr lang="en-US" altLang="en-US" sz="2400" b="1" noProof="0" dirty="0">
                <a:solidFill>
                  <a:schemeClr val="tx1"/>
                </a:solidFill>
                <a:latin typeface="Times New Roman" panose="02020603050405020304" pitchFamily="18" charset="0"/>
                <a:cs typeface="Times New Roman" panose="02020603050405020304" pitchFamily="18" charset="0"/>
              </a:rPr>
              <a:t>Principle #9.  If your instincts tell you a paper  model isn’t working you may have a reason to be concerned.</a:t>
            </a:r>
          </a:p>
          <a:p>
            <a:pPr marL="291600" indent="-291600">
              <a:spcBef>
                <a:spcPts val="1000"/>
              </a:spcBef>
              <a:spcAft>
                <a:spcPts val="0"/>
              </a:spcAft>
              <a:buFont typeface="Arial" panose="020B0604020202020204" pitchFamily="34" charset="0"/>
              <a:buChar char="•"/>
            </a:pPr>
            <a:r>
              <a:rPr lang="en-US" altLang="en-US" sz="2400" b="1" noProof="0" dirty="0">
                <a:solidFill>
                  <a:schemeClr val="tx1"/>
                </a:solidFill>
                <a:latin typeface="Times New Roman" panose="02020603050405020304" pitchFamily="18" charset="0"/>
                <a:cs typeface="Times New Roman" panose="02020603050405020304" pitchFamily="18" charset="0"/>
              </a:rPr>
              <a:t>Principle #10.  Get feedback as soon as you can.</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800" b="0" i="0" u="none" strike="noStrike" kern="1200" cap="none" spc="0" normalizeH="0" baseline="0" noProof="0" dirty="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0024811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altLang="zh-CN" sz="4000" noProof="0" dirty="0">
                <a:latin typeface="Times New Roman" panose="02020603050405020304" pitchFamily="18" charset="0"/>
                <a:cs typeface="Times New Roman" panose="02020603050405020304" pitchFamily="18" charset="0"/>
              </a:rPr>
              <a:t>Agile </a:t>
            </a:r>
            <a:r>
              <a:rPr lang="en-US" sz="4000" noProof="0" dirty="0">
                <a:latin typeface="Times New Roman" panose="02020603050405020304" pitchFamily="18" charset="0"/>
                <a:cs typeface="Times New Roman" panose="02020603050405020304" pitchFamily="18" charset="0"/>
              </a:rPr>
              <a:t>Testing Principles </a:t>
            </a:r>
            <a:r>
              <a:rPr lang="en-US" sz="1000" b="0" noProof="0" dirty="0">
                <a:latin typeface="Times New Roman" panose="02020603050405020304" pitchFamily="18" charset="0"/>
                <a:cs typeface="Times New Roman" panose="02020603050405020304" pitchFamily="18" charset="0"/>
              </a:rPr>
              <a:t>1</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110953"/>
            <a:ext cx="8458200" cy="3283765"/>
          </a:xfrm>
        </p:spPr>
        <p:txBody>
          <a:bodyPr vert="horz" lIns="91440" tIns="45720" rIns="91440" bIns="45720" rtlCol="0">
            <a:noAutofit/>
          </a:bodyPr>
          <a:lstStyle/>
          <a:p>
            <a:pPr marL="291600" lvl="1" indent="-291600">
              <a:spcBef>
                <a:spcPts val="1000"/>
              </a:spcBef>
              <a:spcAft>
                <a:spcPts val="0"/>
              </a:spcAft>
              <a:buClr>
                <a:schemeClr val="tx1"/>
              </a:buClr>
            </a:pPr>
            <a:r>
              <a:rPr lang="en-US" altLang="en-US" sz="2400" b="1" noProof="0" dirty="0">
                <a:solidFill>
                  <a:srgbClr val="000000"/>
                </a:solidFill>
                <a:latin typeface="Times New Roman" panose="02020603050405020304" pitchFamily="18" charset="0"/>
                <a:cs typeface="Times New Roman" panose="02020603050405020304" pitchFamily="18" charset="0"/>
              </a:rPr>
              <a:t>Principle #1. </a:t>
            </a:r>
            <a:r>
              <a:rPr lang="en-US" altLang="en-US" sz="2400" b="1" i="1" noProof="0" dirty="0">
                <a:solidFill>
                  <a:srgbClr val="000000"/>
                </a:solidFill>
                <a:latin typeface="Times New Roman" panose="02020603050405020304" pitchFamily="18" charset="0"/>
                <a:cs typeface="Times New Roman" panose="02020603050405020304" pitchFamily="18" charset="0"/>
              </a:rPr>
              <a:t>All tests should be traceable to customer requirements.</a:t>
            </a:r>
          </a:p>
          <a:p>
            <a:pPr marL="291600" lvl="1" indent="-291600">
              <a:spcBef>
                <a:spcPts val="1000"/>
              </a:spcBef>
              <a:spcAft>
                <a:spcPts val="0"/>
              </a:spcAft>
              <a:buClr>
                <a:schemeClr val="tx1"/>
              </a:buClr>
            </a:pPr>
            <a:r>
              <a:rPr lang="en-US" altLang="en-US" sz="2400" b="1" noProof="0" dirty="0">
                <a:solidFill>
                  <a:srgbClr val="000000"/>
                </a:solidFill>
                <a:latin typeface="Times New Roman" panose="02020603050405020304" pitchFamily="18" charset="0"/>
                <a:cs typeface="Times New Roman" panose="02020603050405020304" pitchFamily="18" charset="0"/>
              </a:rPr>
              <a:t>Principle #2. </a:t>
            </a:r>
            <a:r>
              <a:rPr lang="en-US" altLang="en-US" sz="2400" b="1" i="1" noProof="0" dirty="0">
                <a:solidFill>
                  <a:srgbClr val="000000"/>
                </a:solidFill>
                <a:latin typeface="Times New Roman" panose="02020603050405020304" pitchFamily="18" charset="0"/>
                <a:cs typeface="Times New Roman" panose="02020603050405020304" pitchFamily="18" charset="0"/>
              </a:rPr>
              <a:t>Tests should be planned long before testing begins. </a:t>
            </a:r>
          </a:p>
          <a:p>
            <a:pPr marL="622800" lvl="3" indent="-320400">
              <a:spcBef>
                <a:spcPts val="1000"/>
              </a:spcBef>
              <a:spcAft>
                <a:spcPts val="0"/>
              </a:spcAft>
              <a:buClr>
                <a:schemeClr val="tx1"/>
              </a:buClr>
              <a:buFont typeface="+mj-lt"/>
              <a:buAutoNum type="arabicPeriod"/>
            </a:pPr>
            <a:r>
              <a:rPr lang="en-US" sz="1800" noProof="0" dirty="0">
                <a:solidFill>
                  <a:srgbClr val="000000"/>
                </a:solidFill>
                <a:latin typeface="Times New Roman" panose="02020603050405020304" pitchFamily="18" charset="0"/>
                <a:cs typeface="Times New Roman" panose="02020603050405020304" pitchFamily="18" charset="0"/>
              </a:rPr>
              <a:t>Testing is a process of executing a program with intent of finding an error,</a:t>
            </a:r>
          </a:p>
          <a:p>
            <a:pPr marL="622800" lvl="3" indent="-320400">
              <a:spcBef>
                <a:spcPts val="1000"/>
              </a:spcBef>
              <a:spcAft>
                <a:spcPts val="0"/>
              </a:spcAft>
              <a:buClr>
                <a:schemeClr val="tx1"/>
              </a:buClr>
              <a:buFont typeface="+mj-lt"/>
              <a:buAutoNum type="arabicPeriod"/>
            </a:pPr>
            <a:r>
              <a:rPr lang="en-US" sz="1800" noProof="0" dirty="0">
                <a:solidFill>
                  <a:srgbClr val="000000"/>
                </a:solidFill>
                <a:latin typeface="Times New Roman" panose="02020603050405020304" pitchFamily="18" charset="0"/>
                <a:cs typeface="Times New Roman" panose="02020603050405020304" pitchFamily="18" charset="0"/>
              </a:rPr>
              <a:t>A good test case is one that has a high probability of finding an as-yet-undiscovered error.</a:t>
            </a:r>
          </a:p>
          <a:p>
            <a:pPr marL="622800" lvl="3" indent="-320400">
              <a:spcBef>
                <a:spcPts val="1000"/>
              </a:spcBef>
              <a:spcAft>
                <a:spcPts val="0"/>
              </a:spcAft>
              <a:buClr>
                <a:schemeClr val="tx1"/>
              </a:buClr>
              <a:buFont typeface="+mj-lt"/>
              <a:buAutoNum type="arabicPeriod"/>
            </a:pPr>
            <a:r>
              <a:rPr lang="en-US" sz="1800" noProof="0" dirty="0">
                <a:solidFill>
                  <a:srgbClr val="000000"/>
                </a:solidFill>
                <a:latin typeface="Times New Roman" panose="02020603050405020304" pitchFamily="18" charset="0"/>
                <a:cs typeface="Times New Roman" panose="02020603050405020304" pitchFamily="18" charset="0"/>
              </a:rPr>
              <a:t>A successful test is one that uncovers an as-yet-undiscovered error.</a:t>
            </a:r>
            <a:endParaRPr lang="en-US" altLang="en-US" sz="2400" b="1" i="1" noProof="0" dirty="0">
              <a:solidFill>
                <a:srgbClr val="000000"/>
              </a:solidFill>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sz="quarter" idx="14"/>
          </p:nvPr>
        </p:nvSpPr>
        <p:spPr>
          <a:xfrm>
            <a:off x="342900" y="4634236"/>
            <a:ext cx="8458200" cy="544514"/>
          </a:xfrm>
        </p:spPr>
        <p:txBody>
          <a:bodyPr>
            <a:normAutofit/>
          </a:bodyPr>
          <a:lstStyle/>
          <a:p>
            <a:pPr marL="291600" lvl="1" indent="-291600">
              <a:spcBef>
                <a:spcPts val="1000"/>
              </a:spcBef>
              <a:spcAft>
                <a:spcPts val="0"/>
              </a:spcAft>
            </a:pPr>
            <a:r>
              <a:rPr lang="en-US" altLang="en-US" sz="2400" b="1" noProof="0" dirty="0">
                <a:solidFill>
                  <a:srgbClr val="000000"/>
                </a:solidFill>
                <a:latin typeface="Times New Roman" panose="02020603050405020304" pitchFamily="18" charset="0"/>
                <a:cs typeface="Times New Roman" panose="02020603050405020304" pitchFamily="18" charset="0"/>
              </a:rPr>
              <a:t>Principle #3. </a:t>
            </a:r>
            <a:r>
              <a:rPr lang="en-US" altLang="en-US" sz="2400" b="1" i="1" noProof="0" dirty="0">
                <a:solidFill>
                  <a:srgbClr val="000000"/>
                </a:solidFill>
                <a:latin typeface="Times New Roman" panose="02020603050405020304" pitchFamily="18" charset="0"/>
                <a:cs typeface="Times New Roman" panose="02020603050405020304" pitchFamily="18" charset="0"/>
              </a:rPr>
              <a:t>The Pareto principle applies to software testing.</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800" b="0" i="0" u="none" strike="noStrike" kern="1200" cap="none" spc="0" normalizeH="0" baseline="0" noProof="0" dirty="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9792420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solidFill>
                  <a:srgbClr val="000000"/>
                </a:solidFill>
                <a:latin typeface="Times New Roman" panose="02020603050405020304" pitchFamily="18" charset="0"/>
                <a:cs typeface="Times New Roman" panose="02020603050405020304" pitchFamily="18" charset="0"/>
              </a:rPr>
              <a:t>Agile Testing Principles </a:t>
            </a:r>
            <a:r>
              <a:rPr lang="en-US" sz="1000" b="0" noProof="0" dirty="0">
                <a:solidFill>
                  <a:srgbClr val="000000"/>
                </a:solidFill>
                <a:latin typeface="Times New Roman" panose="02020603050405020304" pitchFamily="18" charset="0"/>
                <a:cs typeface="Times New Roman" panose="02020603050405020304" pitchFamily="18" charset="0"/>
              </a:rPr>
              <a:t>2</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119498"/>
            <a:ext cx="8458200" cy="5033474"/>
          </a:xfrm>
        </p:spPr>
        <p:txBody>
          <a:bodyPr vert="horz" lIns="91440" tIns="45720" rIns="91440" bIns="45720" rtlCol="0">
            <a:noAutofit/>
          </a:bodyPr>
          <a:lstStyle/>
          <a:p>
            <a:pPr marL="291600" lvl="1" indent="-291600">
              <a:spcBef>
                <a:spcPts val="1000"/>
              </a:spcBef>
              <a:spcAft>
                <a:spcPts val="0"/>
              </a:spcAft>
              <a:buClr>
                <a:schemeClr val="tx1"/>
              </a:buClr>
            </a:pPr>
            <a:r>
              <a:rPr lang="en-US" altLang="en-US" sz="2400" b="1" noProof="0" dirty="0">
                <a:solidFill>
                  <a:srgbClr val="000000"/>
                </a:solidFill>
                <a:latin typeface="Times New Roman" panose="02020603050405020304" pitchFamily="18" charset="0"/>
                <a:cs typeface="Times New Roman" panose="02020603050405020304" pitchFamily="18" charset="0"/>
              </a:rPr>
              <a:t>Principle #4. </a:t>
            </a:r>
            <a:r>
              <a:rPr lang="en-US" altLang="en-US" sz="2400" b="1" i="1" noProof="0" dirty="0">
                <a:solidFill>
                  <a:srgbClr val="000000"/>
                </a:solidFill>
                <a:latin typeface="Times New Roman" panose="02020603050405020304" pitchFamily="18" charset="0"/>
                <a:cs typeface="Times New Roman" panose="02020603050405020304" pitchFamily="18" charset="0"/>
              </a:rPr>
              <a:t>Testing should begin “in the small” and progress toward testing “in the large.</a:t>
            </a:r>
            <a:r>
              <a:rPr lang="en-US" altLang="en-US" sz="2400" i="1" noProof="0" dirty="0">
                <a:solidFill>
                  <a:srgbClr val="000000"/>
                </a:solidFill>
                <a:latin typeface="Times New Roman" panose="02020603050405020304" pitchFamily="18" charset="0"/>
                <a:cs typeface="Times New Roman" panose="02020603050405020304" pitchFamily="18" charset="0"/>
              </a:rPr>
              <a:t>”</a:t>
            </a:r>
            <a:endParaRPr lang="en-US" altLang="en-US" sz="2400" b="1" noProof="0" dirty="0">
              <a:solidFill>
                <a:srgbClr val="000000"/>
              </a:solidFill>
              <a:latin typeface="Times New Roman" panose="02020603050405020304" pitchFamily="18" charset="0"/>
              <a:cs typeface="Times New Roman" panose="02020603050405020304" pitchFamily="18" charset="0"/>
            </a:endParaRPr>
          </a:p>
          <a:p>
            <a:pPr marL="291600" lvl="1" indent="-291600">
              <a:spcBef>
                <a:spcPts val="1000"/>
              </a:spcBef>
              <a:spcAft>
                <a:spcPts val="0"/>
              </a:spcAft>
              <a:buClr>
                <a:schemeClr val="tx1"/>
              </a:buClr>
            </a:pPr>
            <a:r>
              <a:rPr lang="en-US" altLang="en-US" sz="2400" b="1" noProof="0" dirty="0">
                <a:solidFill>
                  <a:srgbClr val="000000"/>
                </a:solidFill>
                <a:latin typeface="Times New Roman" panose="02020603050405020304" pitchFamily="18" charset="0"/>
                <a:cs typeface="Times New Roman" panose="02020603050405020304" pitchFamily="18" charset="0"/>
              </a:rPr>
              <a:t>Principle #5. </a:t>
            </a:r>
            <a:r>
              <a:rPr lang="en-US" altLang="en-US" sz="2400" b="1" i="1" noProof="0" dirty="0">
                <a:solidFill>
                  <a:srgbClr val="000000"/>
                </a:solidFill>
                <a:latin typeface="Times New Roman" panose="02020603050405020304" pitchFamily="18" charset="0"/>
                <a:cs typeface="Times New Roman" panose="02020603050405020304" pitchFamily="18" charset="0"/>
              </a:rPr>
              <a:t>Exhaustive testing is not possible.</a:t>
            </a:r>
            <a:endParaRPr lang="en-US" altLang="en-US" sz="2400" b="1" noProof="0" dirty="0">
              <a:solidFill>
                <a:srgbClr val="000000"/>
              </a:solidFill>
              <a:latin typeface="Times New Roman" panose="02020603050405020304" pitchFamily="18" charset="0"/>
              <a:cs typeface="Times New Roman" panose="02020603050405020304" pitchFamily="18" charset="0"/>
            </a:endParaRPr>
          </a:p>
          <a:p>
            <a:pPr marL="291600" lvl="1" indent="-291600">
              <a:spcBef>
                <a:spcPts val="1000"/>
              </a:spcBef>
              <a:spcAft>
                <a:spcPts val="0"/>
              </a:spcAft>
              <a:buClr>
                <a:schemeClr val="tx1"/>
              </a:buClr>
            </a:pPr>
            <a:r>
              <a:rPr lang="en-US" altLang="en-US" sz="2400" b="1" noProof="0" dirty="0">
                <a:solidFill>
                  <a:srgbClr val="000000"/>
                </a:solidFill>
                <a:latin typeface="Times New Roman" panose="02020603050405020304" pitchFamily="18" charset="0"/>
                <a:cs typeface="Times New Roman" panose="02020603050405020304" pitchFamily="18" charset="0"/>
              </a:rPr>
              <a:t>Principle #6. </a:t>
            </a:r>
            <a:r>
              <a:rPr lang="en-US" altLang="en-US" sz="2400" b="1" i="1" noProof="0" dirty="0">
                <a:solidFill>
                  <a:srgbClr val="000000"/>
                </a:solidFill>
                <a:latin typeface="Times New Roman" panose="02020603050405020304" pitchFamily="18" charset="0"/>
                <a:cs typeface="Times New Roman" panose="02020603050405020304" pitchFamily="18" charset="0"/>
              </a:rPr>
              <a:t>Testing effort for each system module commensurate to expected fault density.</a:t>
            </a:r>
          </a:p>
          <a:p>
            <a:pPr marL="291600" lvl="1" indent="-291600">
              <a:spcBef>
                <a:spcPts val="1000"/>
              </a:spcBef>
              <a:spcAft>
                <a:spcPts val="0"/>
              </a:spcAft>
              <a:buClr>
                <a:schemeClr val="tx1"/>
              </a:buClr>
            </a:pPr>
            <a:r>
              <a:rPr lang="en-US" altLang="en-US" sz="2400" b="1" noProof="0" dirty="0">
                <a:solidFill>
                  <a:srgbClr val="000000"/>
                </a:solidFill>
                <a:latin typeface="Times New Roman" panose="02020603050405020304" pitchFamily="18" charset="0"/>
                <a:cs typeface="Times New Roman" panose="02020603050405020304" pitchFamily="18" charset="0"/>
              </a:rPr>
              <a:t>Principle #7. </a:t>
            </a:r>
            <a:r>
              <a:rPr lang="en-US" altLang="en-US" sz="2400" b="1" i="1" noProof="0" dirty="0">
                <a:solidFill>
                  <a:srgbClr val="000000"/>
                </a:solidFill>
                <a:latin typeface="Times New Roman" panose="02020603050405020304" pitchFamily="18" charset="0"/>
                <a:cs typeface="Times New Roman" panose="02020603050405020304" pitchFamily="18" charset="0"/>
              </a:rPr>
              <a:t>Static testing can yield high results. </a:t>
            </a:r>
          </a:p>
          <a:p>
            <a:pPr marL="291600" lvl="1" indent="-291600">
              <a:spcBef>
                <a:spcPts val="1000"/>
              </a:spcBef>
              <a:spcAft>
                <a:spcPts val="0"/>
              </a:spcAft>
              <a:buClr>
                <a:schemeClr val="tx1"/>
              </a:buClr>
            </a:pPr>
            <a:r>
              <a:rPr lang="en-US" altLang="en-US" sz="2400" b="1" noProof="0" dirty="0">
                <a:solidFill>
                  <a:srgbClr val="000000"/>
                </a:solidFill>
                <a:latin typeface="Times New Roman" panose="02020603050405020304" pitchFamily="18" charset="0"/>
                <a:cs typeface="Times New Roman" panose="02020603050405020304" pitchFamily="18" charset="0"/>
              </a:rPr>
              <a:t>Principle #8. </a:t>
            </a:r>
            <a:r>
              <a:rPr lang="en-US" altLang="en-US" sz="2400" b="1" i="1" noProof="0" dirty="0">
                <a:solidFill>
                  <a:srgbClr val="000000"/>
                </a:solidFill>
                <a:latin typeface="Times New Roman" panose="02020603050405020304" pitchFamily="18" charset="0"/>
                <a:cs typeface="Times New Roman" panose="02020603050405020304" pitchFamily="18" charset="0"/>
              </a:rPr>
              <a:t>Track defects and look for patterns in defects uncovered by testing. </a:t>
            </a:r>
          </a:p>
          <a:p>
            <a:pPr marL="291600" lvl="1" indent="-291600">
              <a:spcBef>
                <a:spcPts val="1000"/>
              </a:spcBef>
              <a:spcAft>
                <a:spcPts val="0"/>
              </a:spcAft>
              <a:buClr>
                <a:schemeClr val="tx1"/>
              </a:buClr>
            </a:pPr>
            <a:r>
              <a:rPr lang="en-US" altLang="en-US" sz="2400" b="1" noProof="0" dirty="0">
                <a:solidFill>
                  <a:srgbClr val="000000"/>
                </a:solidFill>
                <a:latin typeface="Times New Roman" panose="02020603050405020304" pitchFamily="18" charset="0"/>
                <a:cs typeface="Times New Roman" panose="02020603050405020304" pitchFamily="18" charset="0"/>
              </a:rPr>
              <a:t>Principle #9. </a:t>
            </a:r>
            <a:r>
              <a:rPr lang="en-US" altLang="en-US" sz="2400" b="1" i="1" noProof="0" dirty="0">
                <a:solidFill>
                  <a:srgbClr val="000000"/>
                </a:solidFill>
                <a:latin typeface="Times New Roman" panose="02020603050405020304" pitchFamily="18" charset="0"/>
                <a:cs typeface="Times New Roman" panose="02020603050405020304" pitchFamily="18" charset="0"/>
              </a:rPr>
              <a:t>Include test cases that demonstrate software is behaving correctly</a:t>
            </a:r>
            <a:r>
              <a:rPr lang="en-US" altLang="en-US" sz="2400" b="1" noProof="0" dirty="0">
                <a:solidFill>
                  <a:srgbClr val="000000"/>
                </a:solidFill>
                <a:latin typeface="Times New Roman" panose="02020603050405020304" pitchFamily="18" charset="0"/>
                <a:cs typeface="Times New Roman" panose="02020603050405020304" pitchFamily="18" charset="0"/>
              </a:rPr>
              <a:t>. </a:t>
            </a:r>
            <a:endParaRPr lang="en-US" altLang="en-US" sz="2400" i="1" noProof="0" dirty="0">
              <a:solidFill>
                <a:srgbClr val="000000"/>
              </a:solidFill>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800" b="0"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6564037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55426"/>
            <a:ext cx="8458200" cy="678611"/>
          </a:xfrm>
        </p:spPr>
        <p:txBody>
          <a:bodyPr>
            <a:normAutofit/>
          </a:bodyPr>
          <a:lstStyle/>
          <a:p>
            <a:r>
              <a:rPr lang="en-US" sz="4000" noProof="0" dirty="0">
                <a:solidFill>
                  <a:schemeClr val="tx1"/>
                </a:solidFill>
                <a:latin typeface="Times New Roman" panose="02020603050405020304" pitchFamily="18" charset="0"/>
                <a:cs typeface="Times New Roman" panose="02020603050405020304" pitchFamily="18" charset="0"/>
              </a:rPr>
              <a:t>Requirements Engineering </a:t>
            </a:r>
            <a:r>
              <a:rPr lang="en-US" sz="1000" b="0" noProof="0" dirty="0">
                <a:solidFill>
                  <a:schemeClr val="tx1"/>
                </a:solidFill>
                <a:latin typeface="Times New Roman" panose="02020603050405020304" pitchFamily="18" charset="0"/>
                <a:cs typeface="Times New Roman" panose="02020603050405020304" pitchFamily="18" charset="0"/>
              </a:rPr>
              <a:t>1</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8534"/>
            <a:ext cx="8283512" cy="4834306"/>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Inception - </a:t>
            </a:r>
            <a:r>
              <a:rPr lang="en-US" sz="2400" noProof="0" dirty="0">
                <a:solidFill>
                  <a:schemeClr val="tx1"/>
                </a:solidFill>
                <a:latin typeface="Times New Roman" panose="02020603050405020304" pitchFamily="18" charset="0"/>
                <a:cs typeface="Times New Roman" panose="02020603050405020304" pitchFamily="18" charset="0"/>
              </a:rPr>
              <a:t>establish a basic understanding of the problem, the people who want a solution, and the nature of the solution that is desired, important to establish </a:t>
            </a:r>
            <a:r>
              <a:rPr lang="en-US" altLang="en-US" sz="2400" noProof="0" dirty="0">
                <a:solidFill>
                  <a:schemeClr val="tx1"/>
                </a:solidFill>
                <a:latin typeface="Times New Roman" panose="02020603050405020304" pitchFamily="18" charset="0"/>
                <a:cs typeface="Times New Roman" panose="02020603050405020304" pitchFamily="18" charset="0"/>
              </a:rPr>
              <a:t>effective customer and developer communication.</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Elicitation - elicit requirements and business goals from all stakeholders.</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Elaboration - </a:t>
            </a:r>
            <a:r>
              <a:rPr lang="en-US" sz="2400" noProof="0" dirty="0">
                <a:solidFill>
                  <a:schemeClr val="tx1"/>
                </a:solidFill>
                <a:latin typeface="Times New Roman" panose="02020603050405020304" pitchFamily="18" charset="0"/>
                <a:cs typeface="Times New Roman" panose="02020603050405020304" pitchFamily="18" charset="0"/>
              </a:rPr>
              <a:t>focuses on developing a refined requirements model that identifies aspects of software function, behavior, and information.</a:t>
            </a:r>
            <a:endParaRPr lang="en-US" altLang="en-US" sz="2400" noProof="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800" b="0" i="0" u="none" strike="noStrike" kern="1200" cap="none" spc="0" normalizeH="0" baseline="0" noProof="0" dirty="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1036981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23233"/>
            <a:ext cx="8458200" cy="729132"/>
          </a:xfrm>
        </p:spPr>
        <p:txBody>
          <a:bodyPr>
            <a:normAutofit/>
          </a:bodyPr>
          <a:lstStyle/>
          <a:p>
            <a:pPr>
              <a:tabLst>
                <a:tab pos="6362700" algn="l"/>
                <a:tab pos="6551613" algn="l"/>
              </a:tabLst>
            </a:pPr>
            <a:r>
              <a:rPr lang="en-US" sz="4000" noProof="0" dirty="0">
                <a:solidFill>
                  <a:schemeClr val="tx1"/>
                </a:solidFill>
                <a:latin typeface="Times New Roman" panose="02020603050405020304" pitchFamily="18" charset="0"/>
                <a:cs typeface="Times New Roman" panose="02020603050405020304" pitchFamily="18" charset="0"/>
              </a:rPr>
              <a:t>Requirements Engineering </a:t>
            </a:r>
            <a:r>
              <a:rPr lang="en-US" sz="1000" b="0" noProof="0" dirty="0">
                <a:solidFill>
                  <a:schemeClr val="tx1"/>
                </a:solidFill>
                <a:latin typeface="Times New Roman" panose="02020603050405020304" pitchFamily="18" charset="0"/>
                <a:cs typeface="Times New Roman" panose="02020603050405020304" pitchFamily="18" charset="0"/>
              </a:rPr>
              <a:t>2</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8"/>
            <a:ext cx="8283512" cy="4878029"/>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Negotiation—agree on the scope of a deliverable system that is realistic for developers and customers.</a:t>
            </a:r>
            <a:endParaRPr lang="en-US" altLang="en-US" sz="2400" b="1" noProof="0" dirty="0">
              <a:solidFill>
                <a:schemeClr val="tx1"/>
              </a:solidFill>
              <a:latin typeface="Times New Roman" panose="02020603050405020304" pitchFamily="18" charset="0"/>
              <a:cs typeface="Times New Roman" panose="02020603050405020304" pitchFamily="18" charset="0"/>
            </a:endParaRP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Specification—can be any or all of the following: written documents, graphical models, mathematical models, usage scenarios, prototypes.</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Validation—Requirements engineering w</a:t>
            </a:r>
            <a:r>
              <a:rPr lang="en-US" sz="2400" noProof="0" dirty="0">
                <a:solidFill>
                  <a:schemeClr val="tx1"/>
                </a:solidFill>
                <a:latin typeface="Times New Roman" panose="02020603050405020304" pitchFamily="18" charset="0"/>
                <a:cs typeface="Times New Roman" panose="02020603050405020304" pitchFamily="18" charset="0"/>
              </a:rPr>
              <a:t>ork products produced during requirements engineering are assessed for quality and consistency.</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Requirements management – s</a:t>
            </a:r>
            <a:r>
              <a:rPr lang="en-US" sz="2400" noProof="0" dirty="0">
                <a:solidFill>
                  <a:schemeClr val="tx1"/>
                </a:solidFill>
                <a:latin typeface="Times New Roman" panose="02020603050405020304" pitchFamily="18" charset="0"/>
                <a:cs typeface="Times New Roman" panose="02020603050405020304" pitchFamily="18" charset="0"/>
              </a:rPr>
              <a:t>et of traceability activities to help the project team identify, control, and track requirements and their changes to requirements as the project proceeds.</a:t>
            </a:r>
            <a:endParaRPr lang="en-US" altLang="en-US" sz="2400" noProof="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800" b="0" i="0" u="none" strike="noStrike" kern="1200" cap="none" spc="0" normalizeH="0" baseline="0" noProof="0" dirty="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0884730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solidFill>
                  <a:schemeClr val="tx1"/>
                </a:solidFill>
                <a:latin typeface="Times New Roman" panose="02020603050405020304" pitchFamily="18" charset="0"/>
                <a:cs typeface="Times New Roman" panose="02020603050405020304" pitchFamily="18" charset="0"/>
              </a:rPr>
              <a:t>Validating Requirements </a:t>
            </a:r>
            <a:r>
              <a:rPr lang="en-US" sz="1000" b="0" noProof="0" dirty="0">
                <a:solidFill>
                  <a:schemeClr val="tx1"/>
                </a:solidFill>
                <a:latin typeface="Times New Roman" panose="02020603050405020304" pitchFamily="18" charset="0"/>
                <a:cs typeface="Times New Roman" panose="02020603050405020304" pitchFamily="18" charset="0"/>
              </a:rPr>
              <a:t>1</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Is each requirement consistent with the overall objective for the system/product?</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Have all requirements been specified at the proper level of abstraction? That is, do some requirements provide a level of technical detail that is inappropriate at this stage?</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Is the requirement really necessary or does it represent an add-on feature that may not be essential to the objective of the system?</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Is each requirement bounded and unambiguous?</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Does each requirement have attribution? That is, is a source (generally, a specific individual) noted for each requirement? </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Do any requirements conflict with other requirements?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800" b="0" i="0" u="none" strike="noStrike" kern="1200" cap="none" spc="0" normalizeH="0" baseline="0" noProof="0" dirty="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7761540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solidFill>
                  <a:schemeClr val="tx1"/>
                </a:solidFill>
                <a:latin typeface="Times New Roman" panose="02020603050405020304" pitchFamily="18" charset="0"/>
                <a:cs typeface="Times New Roman" panose="02020603050405020304" pitchFamily="18" charset="0"/>
              </a:rPr>
              <a:t>Validating Requirements </a:t>
            </a:r>
            <a:r>
              <a:rPr lang="en-US" sz="1000" b="0" noProof="0" dirty="0">
                <a:solidFill>
                  <a:schemeClr val="tx1"/>
                </a:solidFill>
                <a:latin typeface="Times New Roman" panose="02020603050405020304" pitchFamily="18" charset="0"/>
                <a:cs typeface="Times New Roman" panose="02020603050405020304" pitchFamily="18" charset="0"/>
              </a:rPr>
              <a:t>2</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Is each requirement achievable in the technical environment that will house the system or product?</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Is each requirement testable, once implemented?</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Does the requirements model properly reflect the information, function and behavior of system to be built?</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Has the requirements model been “partitioned” in a way that exposes progressively more detailed information about the system?</a:t>
            </a:r>
          </a:p>
          <a:p>
            <a:pPr marL="291600" indent="-291600">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Have requirements patterns been used to simplify the requirements model. Have all patterns been properly validated? Are all patterns consistent with customer requirements?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800" b="0" i="0" u="none" strike="noStrike" kern="1200" cap="none" spc="0" normalizeH="0" baseline="0" noProof="0" dirty="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7490853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solidFill>
                  <a:schemeClr val="tx1"/>
                </a:solidFill>
                <a:latin typeface="Times New Roman" panose="02020603050405020304" pitchFamily="18" charset="0"/>
                <a:cs typeface="Times New Roman" panose="02020603050405020304" pitchFamily="18" charset="0"/>
              </a:rPr>
              <a:t>Non-functional Requirements</a:t>
            </a:r>
            <a:endParaRPr lang="en-US" sz="1000" b="0" noProof="0" dirty="0">
              <a:solidFill>
                <a:schemeClr val="tx1"/>
              </a:solidFill>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p:txBody>
          <a:bodyPr vert="horz" lIns="91440" tIns="45720" rIns="91440" bIns="45720" rtlCol="0">
            <a:noAutofit/>
          </a:bodyPr>
          <a:lstStyle/>
          <a:p>
            <a:pPr>
              <a:lnSpc>
                <a:spcPct val="90000"/>
              </a:lnSpc>
              <a:spcBef>
                <a:spcPts val="1000"/>
              </a:spcBef>
              <a:spcAft>
                <a:spcPts val="0"/>
              </a:spcAft>
            </a:pPr>
            <a:r>
              <a:rPr lang="en-US" altLang="en-US" sz="2400" noProof="0" dirty="0">
                <a:solidFill>
                  <a:schemeClr val="tx1"/>
                </a:solidFill>
                <a:latin typeface="Times New Roman" panose="02020603050405020304" pitchFamily="18" charset="0"/>
                <a:cs typeface="Times New Roman" panose="02020603050405020304" pitchFamily="18" charset="0"/>
              </a:rPr>
              <a:t>Non-Functional Requirement (N</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400" noProof="0" dirty="0">
                <a:solidFill>
                  <a:schemeClr val="tx1"/>
                </a:solidFill>
                <a:latin typeface="Times New Roman" panose="02020603050405020304" pitchFamily="18" charset="0"/>
                <a:cs typeface="Times New Roman" panose="02020603050405020304" pitchFamily="18" charset="0"/>
              </a:rPr>
              <a:t>F</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400" noProof="0" dirty="0">
                <a:solidFill>
                  <a:schemeClr val="tx1"/>
                </a:solidFill>
                <a:latin typeface="Times New Roman" panose="02020603050405020304" pitchFamily="18" charset="0"/>
                <a:cs typeface="Times New Roman" panose="02020603050405020304" pitchFamily="18" charset="0"/>
              </a:rPr>
              <a:t>R) – quality attribute, performance attribute, security attribute, or general system constraint.</a:t>
            </a:r>
          </a:p>
          <a:p>
            <a:pPr>
              <a:lnSpc>
                <a:spcPct val="90000"/>
              </a:lnSpc>
              <a:spcBef>
                <a:spcPts val="1000"/>
              </a:spcBef>
              <a:spcAft>
                <a:spcPts val="0"/>
              </a:spcAft>
            </a:pPr>
            <a:r>
              <a:rPr lang="en-US" altLang="en-US" sz="2400" noProof="0" dirty="0">
                <a:solidFill>
                  <a:schemeClr val="tx1"/>
                </a:solidFill>
                <a:latin typeface="Times New Roman" panose="02020603050405020304" pitchFamily="18" charset="0"/>
                <a:cs typeface="Times New Roman" panose="02020603050405020304" pitchFamily="18" charset="0"/>
              </a:rPr>
              <a:t>A two-phase process is used to determine which N</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400" noProof="0" dirty="0">
                <a:solidFill>
                  <a:schemeClr val="tx1"/>
                </a:solidFill>
                <a:latin typeface="Times New Roman" panose="02020603050405020304" pitchFamily="18" charset="0"/>
                <a:cs typeface="Times New Roman" panose="02020603050405020304" pitchFamily="18" charset="0"/>
              </a:rPr>
              <a:t>F</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400" noProof="0" dirty="0">
                <a:solidFill>
                  <a:schemeClr val="tx1"/>
                </a:solidFill>
                <a:latin typeface="Times New Roman" panose="02020603050405020304" pitchFamily="18" charset="0"/>
                <a:cs typeface="Times New Roman" panose="02020603050405020304" pitchFamily="18" charset="0"/>
              </a:rPr>
              <a:t>R’s are compatible: </a:t>
            </a:r>
          </a:p>
          <a:p>
            <a:pPr marL="291600" lvl="2" indent="-291600">
              <a:spcBef>
                <a:spcPts val="1000"/>
              </a:spcBef>
              <a:spcAft>
                <a:spcPts val="0"/>
              </a:spcAft>
            </a:pPr>
            <a:r>
              <a:rPr lang="en-US" altLang="en-US" sz="2200" noProof="0" dirty="0">
                <a:solidFill>
                  <a:schemeClr val="tx1"/>
                </a:solidFill>
                <a:latin typeface="Times New Roman" panose="02020603050405020304" pitchFamily="18" charset="0"/>
                <a:cs typeface="Times New Roman" panose="02020603050405020304" pitchFamily="18" charset="0"/>
              </a:rPr>
              <a:t>The first phase is to create a matrix using each N</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200" noProof="0" dirty="0">
                <a:solidFill>
                  <a:schemeClr val="tx1"/>
                </a:solidFill>
                <a:latin typeface="Times New Roman" panose="02020603050405020304" pitchFamily="18" charset="0"/>
                <a:cs typeface="Times New Roman" panose="02020603050405020304" pitchFamily="18" charset="0"/>
              </a:rPr>
              <a:t>F</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200" noProof="0" dirty="0">
                <a:solidFill>
                  <a:schemeClr val="tx1"/>
                </a:solidFill>
                <a:latin typeface="Times New Roman" panose="02020603050405020304" pitchFamily="18" charset="0"/>
                <a:cs typeface="Times New Roman" panose="02020603050405020304" pitchFamily="18" charset="0"/>
              </a:rPr>
              <a:t>R as a column heading and the system S</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200" noProof="0" dirty="0">
                <a:solidFill>
                  <a:schemeClr val="tx1"/>
                </a:solidFill>
                <a:latin typeface="Times New Roman" panose="02020603050405020304" pitchFamily="18" charset="0"/>
                <a:cs typeface="Times New Roman" panose="02020603050405020304" pitchFamily="18" charset="0"/>
              </a:rPr>
              <a:t>E guidelines a row labels.</a:t>
            </a:r>
          </a:p>
          <a:p>
            <a:pPr marL="291600" lvl="2" indent="-291600">
              <a:spcBef>
                <a:spcPts val="1000"/>
              </a:spcBef>
              <a:spcAft>
                <a:spcPts val="0"/>
              </a:spcAft>
            </a:pPr>
            <a:r>
              <a:rPr lang="en-US" altLang="en-US" sz="2200" noProof="0" dirty="0">
                <a:solidFill>
                  <a:schemeClr val="tx1"/>
                </a:solidFill>
                <a:latin typeface="Times New Roman" panose="02020603050405020304" pitchFamily="18" charset="0"/>
                <a:cs typeface="Times New Roman" panose="02020603050405020304" pitchFamily="18" charset="0"/>
              </a:rPr>
              <a:t>The second phase is for the team to prioritize each N</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200" noProof="0" dirty="0">
                <a:solidFill>
                  <a:schemeClr val="tx1"/>
                </a:solidFill>
                <a:latin typeface="Times New Roman" panose="02020603050405020304" pitchFamily="18" charset="0"/>
                <a:cs typeface="Times New Roman" panose="02020603050405020304" pitchFamily="18" charset="0"/>
              </a:rPr>
              <a:t>F</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200" noProof="0" dirty="0">
                <a:solidFill>
                  <a:schemeClr val="tx1"/>
                </a:solidFill>
                <a:latin typeface="Times New Roman" panose="02020603050405020304" pitchFamily="18" charset="0"/>
                <a:cs typeface="Times New Roman" panose="02020603050405020304" pitchFamily="18" charset="0"/>
              </a:rPr>
              <a:t>R using a set of decision rules to decide which to implement by classifying each N</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200" noProof="0" dirty="0">
                <a:solidFill>
                  <a:schemeClr val="tx1"/>
                </a:solidFill>
                <a:latin typeface="Times New Roman" panose="02020603050405020304" pitchFamily="18" charset="0"/>
                <a:cs typeface="Times New Roman" panose="02020603050405020304" pitchFamily="18" charset="0"/>
              </a:rPr>
              <a:t>F</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200" noProof="0" dirty="0">
                <a:solidFill>
                  <a:schemeClr val="tx1"/>
                </a:solidFill>
                <a:latin typeface="Times New Roman" panose="02020603050405020304" pitchFamily="18" charset="0"/>
                <a:cs typeface="Times New Roman" panose="02020603050405020304" pitchFamily="18" charset="0"/>
              </a:rPr>
              <a:t>R and guideline pair as complementary, overlapping, conflicting, or independent.</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a:xfrm>
            <a:off x="8626412" y="6673531"/>
            <a:ext cx="355840" cy="161396"/>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800" b="0" i="0" u="none" strike="noStrike" kern="1200" cap="none" spc="0" normalizeH="0" baseline="0" noProof="0" dirty="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1941028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04800"/>
            <a:ext cx="8458200" cy="678611"/>
          </a:xfrm>
        </p:spPr>
        <p:txBody>
          <a:bodyPr>
            <a:noAutofit/>
          </a:bodyPr>
          <a:lstStyle/>
          <a:p>
            <a:r>
              <a:rPr lang="en-US" noProof="0" dirty="0"/>
              <a:t>Software Engineering Design</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4971691"/>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t>Data/Class design – transforms analysis classes into implementation classes and data structures.</a:t>
            </a:r>
          </a:p>
          <a:p>
            <a:pPr marL="291600" indent="-291600">
              <a:spcBef>
                <a:spcPts val="1000"/>
              </a:spcBef>
              <a:spcAft>
                <a:spcPts val="0"/>
              </a:spcAft>
              <a:buFont typeface="Arial" panose="020B0604020202020204" pitchFamily="34" charset="0"/>
              <a:buChar char="•"/>
            </a:pPr>
            <a:r>
              <a:rPr lang="en-US" altLang="en-US" sz="2400" noProof="0" dirty="0"/>
              <a:t>Architectural design – defines relationships among the major software structural elements.</a:t>
            </a:r>
          </a:p>
          <a:p>
            <a:pPr marL="291600" indent="-291600">
              <a:spcBef>
                <a:spcPts val="1000"/>
              </a:spcBef>
              <a:spcAft>
                <a:spcPts val="0"/>
              </a:spcAft>
              <a:buFont typeface="Arial" panose="020B0604020202020204" pitchFamily="34" charset="0"/>
              <a:buChar char="•"/>
            </a:pPr>
            <a:r>
              <a:rPr lang="en-US" altLang="en-US" sz="2400" noProof="0" dirty="0"/>
              <a:t>Interface design – defines how software elements, hardware elements, and end-users communicate.</a:t>
            </a:r>
          </a:p>
          <a:p>
            <a:pPr marL="291600" indent="-291600">
              <a:spcBef>
                <a:spcPts val="1000"/>
              </a:spcBef>
              <a:spcAft>
                <a:spcPts val="0"/>
              </a:spcAft>
              <a:buFont typeface="Arial" panose="020B0604020202020204" pitchFamily="34" charset="0"/>
              <a:buChar char="•"/>
            </a:pPr>
            <a:r>
              <a:rPr lang="en-US" altLang="en-US" sz="2400" noProof="0" dirty="0"/>
              <a:t>Component-level design – transforms structural elements into procedural descriptions of software components.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US" sz="800" b="0" i="0" u="none" strike="noStrike" kern="1200" cap="none" spc="0" normalizeH="0" baseline="0" noProof="0" dirty="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0697835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97651"/>
            <a:ext cx="8458200" cy="1092909"/>
          </a:xfrm>
        </p:spPr>
        <p:txBody>
          <a:bodyPr>
            <a:noAutofit/>
          </a:bodyPr>
          <a:lstStyle/>
          <a:p>
            <a:r>
              <a:rPr lang="en-US" sz="3800" noProof="0" dirty="0"/>
              <a:t>Mapping Requirements Model to Design Model</a:t>
            </a:r>
          </a:p>
        </p:txBody>
      </p:sp>
      <p:pic>
        <p:nvPicPr>
          <p:cNvPr id="11" name="Picture 10" descr="An illustration maps requirement model to design model. ">
            <a:extLst>
              <a:ext uri="{FF2B5EF4-FFF2-40B4-BE49-F238E27FC236}">
                <a16:creationId xmlns:a16="http://schemas.microsoft.com/office/drawing/2014/main" id="{716CC543-C575-436D-AF60-17251C91C1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5428" y="1524510"/>
            <a:ext cx="7933145" cy="4551358"/>
          </a:xfrm>
          <a:prstGeom prst="rect">
            <a:avLst/>
          </a:prstGeom>
        </p:spPr>
      </p:pic>
      <p:sp>
        <p:nvSpPr>
          <p:cNvPr id="6" name="Text Placeholder 5">
            <a:extLst>
              <a:ext uri="{FF2B5EF4-FFF2-40B4-BE49-F238E27FC236}">
                <a16:creationId xmlns:a16="http://schemas.microsoft.com/office/drawing/2014/main" id="{96FB155B-AA73-4E95-8D1D-45DC95000319}"/>
              </a:ext>
            </a:extLst>
          </p:cNvPr>
          <p:cNvSpPr>
            <a:spLocks noGrp="1"/>
          </p:cNvSpPr>
          <p:nvPr>
            <p:ph type="body" sz="quarter" idx="12"/>
          </p:nvPr>
        </p:nvSpPr>
        <p:spPr>
          <a:xfrm>
            <a:off x="3369347" y="6324599"/>
            <a:ext cx="2925127" cy="214423"/>
          </a:xfrm>
        </p:spPr>
        <p:txBody>
          <a:bodyPr/>
          <a:lstStyle/>
          <a:p>
            <a:r>
              <a:rPr lang="en-US" sz="1200" dirty="0">
                <a:solidFill>
                  <a:schemeClr val="tx1"/>
                </a:solidFill>
                <a:hlinkClick r:id="rId3" action="ppaction://hlinksldjump">
                  <a:extLst>
                    <a:ext uri="{A12FA001-AC4F-418D-AE19-62706E023703}">
                      <ahyp:hlinkClr xmlns:ahyp="http://schemas.microsoft.com/office/drawing/2018/hyperlinkcolor" val="tx"/>
                    </a:ext>
                  </a:extLst>
                </a:hlinkClick>
              </a:rPr>
              <a:t>Access the text alternative for slide images.</a:t>
            </a:r>
            <a:endParaRPr lang="en-US" sz="1200" dirty="0">
              <a:solidFill>
                <a:schemeClr val="tx1"/>
              </a:solidFill>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800" b="0" i="0" u="none" strike="noStrike" kern="1200" cap="none" spc="0" normalizeH="0" baseline="0" noProof="0" dirty="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9221054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noProof="0" dirty="0"/>
              <a:t>Design Concepts </a:t>
            </a:r>
            <a:r>
              <a:rPr lang="en-US" sz="1000" b="0" noProof="0" dirty="0"/>
              <a:t>1</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p:txBody>
          <a:bodyPr vert="horz" lIns="91440" tIns="45720" rIns="91440" bIns="45720" rtlCol="0">
            <a:noAutofit/>
          </a:bodyPr>
          <a:lstStyle/>
          <a:p>
            <a:pPr marL="342900" indent="-342900">
              <a:lnSpc>
                <a:spcPct val="90000"/>
              </a:lnSpc>
              <a:buFont typeface="Arial" panose="020B0604020202020204" pitchFamily="34" charset="0"/>
              <a:buChar char="•"/>
            </a:pPr>
            <a:r>
              <a:rPr lang="en-US" altLang="en-US" sz="2400" noProof="0" dirty="0">
                <a:solidFill>
                  <a:schemeClr val="tx1"/>
                </a:solidFill>
              </a:rPr>
              <a:t>Abstraction – data (named collection of data describing data object), procedural (name sequence of instructions with specific and limited function).</a:t>
            </a:r>
          </a:p>
          <a:p>
            <a:pPr marL="342900" indent="-342900">
              <a:lnSpc>
                <a:spcPct val="90000"/>
              </a:lnSpc>
              <a:buFont typeface="Arial" panose="020B0604020202020204" pitchFamily="34" charset="0"/>
              <a:buChar char="•"/>
            </a:pPr>
            <a:r>
              <a:rPr lang="en-US" altLang="en-US" sz="2400" noProof="0" dirty="0">
                <a:solidFill>
                  <a:schemeClr val="tx1"/>
                </a:solidFill>
              </a:rPr>
              <a:t>Architecture - overall structure or organization of  software components, ways components interact, and structure of data used by components.</a:t>
            </a:r>
          </a:p>
          <a:p>
            <a:pPr marL="342900" indent="-342900">
              <a:lnSpc>
                <a:spcPct val="90000"/>
              </a:lnSpc>
              <a:buFont typeface="Arial" panose="020B0604020202020204" pitchFamily="34" charset="0"/>
              <a:buChar char="•"/>
            </a:pPr>
            <a:r>
              <a:rPr lang="en-US" altLang="en-US" sz="2400" noProof="0" dirty="0">
                <a:solidFill>
                  <a:schemeClr val="tx1"/>
                </a:solidFill>
              </a:rPr>
              <a:t>Design Patterns - </a:t>
            </a:r>
            <a:r>
              <a:rPr lang="en-US" sz="2400" noProof="0" dirty="0"/>
              <a:t>describe a design structure that solves a well-defined design problem within a specific context.</a:t>
            </a:r>
          </a:p>
          <a:p>
            <a:pPr marL="342900" indent="-342900">
              <a:lnSpc>
                <a:spcPct val="90000"/>
              </a:lnSpc>
              <a:buFont typeface="Arial" panose="020B0604020202020204" pitchFamily="34" charset="0"/>
              <a:buChar char="•"/>
            </a:pPr>
            <a:r>
              <a:rPr lang="en-US" altLang="en-US" sz="2400" noProof="0" dirty="0">
                <a:solidFill>
                  <a:schemeClr val="tx1"/>
                </a:solidFill>
              </a:rPr>
              <a:t>Separation of concerns - any complex problem can be more easily handled if it is subdivided into pieces.</a:t>
            </a:r>
          </a:p>
          <a:p>
            <a:pPr marL="342900" indent="-342900">
              <a:lnSpc>
                <a:spcPct val="90000"/>
              </a:lnSpc>
              <a:buFont typeface="Arial" panose="020B0604020202020204" pitchFamily="34" charset="0"/>
              <a:buChar char="•"/>
            </a:pPr>
            <a:r>
              <a:rPr lang="en-US" altLang="en-US" sz="2400" noProof="0" dirty="0">
                <a:solidFill>
                  <a:schemeClr val="tx1"/>
                </a:solidFill>
              </a:rPr>
              <a:t>Modularity—compartmentalization of data and function.</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800" b="0" i="0" u="none" strike="noStrike" kern="1200" cap="none" spc="0" normalizeH="0" baseline="0" noProof="0" dirty="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4684959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noProof="0" dirty="0"/>
              <a:t>Modularity and Software Cost</a:t>
            </a:r>
          </a:p>
        </p:txBody>
      </p:sp>
      <p:pic>
        <p:nvPicPr>
          <p:cNvPr id="11" name="Picture 10" descr="A graph plots cost of effort versus number of modules with three curves labeled: total software cost, cost to integrate, and cost per module.">
            <a:extLst>
              <a:ext uri="{FF2B5EF4-FFF2-40B4-BE49-F238E27FC236}">
                <a16:creationId xmlns:a16="http://schemas.microsoft.com/office/drawing/2014/main" id="{B63DFE29-7021-4AC0-9AAC-9513126337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1330" y="1264011"/>
            <a:ext cx="6321340" cy="4882884"/>
          </a:xfrm>
          <a:prstGeom prst="rect">
            <a:avLst/>
          </a:prstGeom>
        </p:spPr>
      </p:pic>
      <p:sp>
        <p:nvSpPr>
          <p:cNvPr id="6" name="Text Placeholder 5">
            <a:extLst>
              <a:ext uri="{FF2B5EF4-FFF2-40B4-BE49-F238E27FC236}">
                <a16:creationId xmlns:a16="http://schemas.microsoft.com/office/drawing/2014/main" id="{E7D610D0-D6F3-4792-A99B-E73260525922}"/>
              </a:ext>
            </a:extLst>
          </p:cNvPr>
          <p:cNvSpPr>
            <a:spLocks noGrp="1"/>
          </p:cNvSpPr>
          <p:nvPr>
            <p:ph type="body" sz="quarter" idx="12"/>
          </p:nvPr>
        </p:nvSpPr>
        <p:spPr>
          <a:xfrm>
            <a:off x="3369347" y="6283842"/>
            <a:ext cx="2935760" cy="269358"/>
          </a:xfrm>
        </p:spPr>
        <p:txBody>
          <a:bodyPr/>
          <a:lstStyle/>
          <a:p>
            <a:r>
              <a:rPr lang="en-US" sz="1200" dirty="0">
                <a:solidFill>
                  <a:schemeClr val="tx1"/>
                </a:solidFill>
                <a:hlinkClick r:id="rId3" action="ppaction://hlinksldjump">
                  <a:extLst>
                    <a:ext uri="{A12FA001-AC4F-418D-AE19-62706E023703}">
                      <ahyp:hlinkClr xmlns:ahyp="http://schemas.microsoft.com/office/drawing/2018/hyperlinkcolor" val="tx"/>
                    </a:ext>
                  </a:extLst>
                </a:hlinkClick>
              </a:rPr>
              <a:t>Access the text alternative for slide images.</a:t>
            </a:r>
            <a:endParaRPr lang="en-US" sz="1200" dirty="0">
              <a:solidFill>
                <a:schemeClr val="tx1"/>
              </a:solidFill>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800" b="0" i="0" u="none" strike="noStrike" kern="1200" cap="none" spc="0" normalizeH="0" baseline="0" noProof="0" dirty="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050798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dirty="0"/>
              <a:t>Design Concepts </a:t>
            </a:r>
            <a:r>
              <a:rPr lang="en-US" sz="1000" b="0" dirty="0"/>
              <a:t>2</a:t>
            </a:r>
            <a:endParaRPr lang="en-US" noProof="0" dirty="0"/>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solidFill>
                  <a:schemeClr val="tx1"/>
                </a:solidFill>
              </a:rPr>
              <a:t>Information Hiding - controlled interfaces which </a:t>
            </a:r>
            <a:r>
              <a:rPr lang="en-US" sz="2400" noProof="0" dirty="0"/>
              <a:t>define and enforces access to component procedural detail and any local data structure used by the component.</a:t>
            </a:r>
            <a:endParaRPr lang="en-US" altLang="en-US" sz="2400" noProof="0" dirty="0">
              <a:solidFill>
                <a:schemeClr val="tx1"/>
              </a:solidFill>
            </a:endParaRPr>
          </a:p>
          <a:p>
            <a:pPr marL="291600" indent="-291600">
              <a:lnSpc>
                <a:spcPct val="90000"/>
              </a:lnSpc>
              <a:spcBef>
                <a:spcPts val="1000"/>
              </a:spcBef>
              <a:spcAft>
                <a:spcPts val="0"/>
              </a:spcAft>
              <a:buFont typeface="Arial" panose="020B0604020202020204" pitchFamily="34" charset="0"/>
              <a:buChar char="•"/>
            </a:pPr>
            <a:r>
              <a:rPr lang="en-US" altLang="en-US" sz="2400" noProof="0" dirty="0">
                <a:solidFill>
                  <a:schemeClr val="tx1"/>
                </a:solidFill>
              </a:rPr>
              <a:t>Functional independence - single-minded (high cohesion) components with aversion to excessive interaction with other components (low coupling).</a:t>
            </a:r>
          </a:p>
          <a:p>
            <a:pPr marL="291600" indent="-291600">
              <a:lnSpc>
                <a:spcPct val="90000"/>
              </a:lnSpc>
              <a:spcBef>
                <a:spcPts val="1000"/>
              </a:spcBef>
              <a:spcAft>
                <a:spcPts val="0"/>
              </a:spcAft>
              <a:buFont typeface="Arial" panose="020B0604020202020204" pitchFamily="34" charset="0"/>
              <a:buChar char="•"/>
            </a:pPr>
            <a:r>
              <a:rPr lang="en-US" altLang="en-US" sz="2400" noProof="0" dirty="0">
                <a:solidFill>
                  <a:schemeClr val="tx1"/>
                </a:solidFill>
              </a:rPr>
              <a:t>Stepwise Refinement – incremental elaboration of detail for all abstractions.</a:t>
            </a:r>
          </a:p>
          <a:p>
            <a:pPr marL="291600" indent="-291600">
              <a:lnSpc>
                <a:spcPct val="90000"/>
              </a:lnSpc>
              <a:spcBef>
                <a:spcPts val="1000"/>
              </a:spcBef>
              <a:spcAft>
                <a:spcPts val="0"/>
              </a:spcAft>
              <a:buFont typeface="Arial" panose="020B0604020202020204" pitchFamily="34" charset="0"/>
              <a:buChar char="•"/>
            </a:pPr>
            <a:r>
              <a:rPr lang="en-US" altLang="en-US" sz="2400" noProof="0" dirty="0">
                <a:solidFill>
                  <a:schemeClr val="tx1"/>
                </a:solidFill>
              </a:rPr>
              <a:t>Refactoring—a reorganization technique that simplifies the design without changing functionality.</a:t>
            </a:r>
          </a:p>
          <a:p>
            <a:pPr marL="291600" indent="-291600">
              <a:lnSpc>
                <a:spcPct val="90000"/>
              </a:lnSpc>
              <a:spcBef>
                <a:spcPts val="1000"/>
              </a:spcBef>
              <a:spcAft>
                <a:spcPts val="0"/>
              </a:spcAft>
              <a:buFont typeface="Arial" panose="020B0604020202020204" pitchFamily="34" charset="0"/>
              <a:buChar char="•"/>
            </a:pPr>
            <a:r>
              <a:rPr lang="en-US" altLang="en-US" sz="2400" noProof="0" dirty="0">
                <a:solidFill>
                  <a:schemeClr val="tx1"/>
                </a:solidFill>
              </a:rPr>
              <a:t>Design Classes—provide design detail that will enable analysis classes to be implemented.</a:t>
            </a:r>
            <a:endParaRPr lang="en-US" altLang="en-US" sz="3200" noProof="0" dirty="0">
              <a:solidFill>
                <a:schemeClr val="tx1"/>
              </a:solidFill>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800" b="0" i="0" u="none" strike="noStrike" kern="1200" cap="none" spc="0" normalizeH="0" baseline="0" noProof="0" dirty="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5323861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solidFill>
                  <a:schemeClr val="tx1"/>
                </a:solidFill>
                <a:latin typeface="Times New Roman" panose="02020603050405020304" pitchFamily="18" charset="0"/>
                <a:cs typeface="Times New Roman" panose="02020603050405020304" pitchFamily="18" charset="0"/>
              </a:rPr>
              <a:t>What is Software Architecture?</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p:txBody>
          <a:bodyPr vert="horz" lIns="91440" tIns="45720" rIns="91440" bIns="45720" rtlCol="0">
            <a:noAutofit/>
          </a:bodyPr>
          <a:lstStyle/>
          <a:p>
            <a:pPr>
              <a:lnSpc>
                <a:spcPct val="90000"/>
              </a:lnSpc>
              <a:spcBef>
                <a:spcPct val="50000"/>
              </a:spcBef>
              <a:defRPr/>
            </a:pPr>
            <a:r>
              <a:rPr lang="en-US" sz="2400" noProof="0" dirty="0">
                <a:solidFill>
                  <a:schemeClr val="tx1"/>
                </a:solidFill>
                <a:effectLst>
                  <a:outerShdw blurRad="38100" dist="38100" dir="2700000" algn="tl">
                    <a:srgbClr val="FFFFFF"/>
                  </a:outerShdw>
                </a:effectLst>
                <a:latin typeface="Times New Roman" panose="02020603050405020304" pitchFamily="18" charset="0"/>
                <a:cs typeface="Times New Roman" panose="02020603050405020304" pitchFamily="18" charset="0"/>
              </a:rPr>
              <a:t>The architecture is not the operational software, it is a representation that enables a software engineer to: </a:t>
            </a:r>
          </a:p>
          <a:p>
            <a:pPr marL="403200" indent="-403200">
              <a:lnSpc>
                <a:spcPct val="90000"/>
              </a:lnSpc>
              <a:spcBef>
                <a:spcPts val="1000"/>
              </a:spcBef>
              <a:spcAft>
                <a:spcPts val="0"/>
              </a:spcAft>
              <a:buFont typeface="+mj-lt"/>
              <a:buAutoNum type="arabicPeriod"/>
              <a:defRPr/>
            </a:pPr>
            <a:r>
              <a:rPr lang="en-US" sz="2400" noProof="0" dirty="0">
                <a:solidFill>
                  <a:schemeClr val="tx1"/>
                </a:solidFill>
                <a:effectLst>
                  <a:outerShdw blurRad="38100" dist="38100" dir="2700000" algn="tl">
                    <a:srgbClr val="FFFFFF"/>
                  </a:outerShdw>
                </a:effectLst>
                <a:latin typeface="Times New Roman" panose="02020603050405020304" pitchFamily="18" charset="0"/>
                <a:cs typeface="Times New Roman" panose="02020603050405020304" pitchFamily="18" charset="0"/>
              </a:rPr>
              <a:t>A</a:t>
            </a:r>
            <a:r>
              <a:rPr lang="en-US" sz="2400" noProof="0" dirty="0">
                <a:solidFill>
                  <a:schemeClr val="tx1"/>
                </a:solidFill>
                <a:latin typeface="Times New Roman" panose="02020603050405020304" pitchFamily="18" charset="0"/>
                <a:cs typeface="Times New Roman" panose="02020603050405020304" pitchFamily="18" charset="0"/>
              </a:rPr>
              <a:t>nalyze the effectiveness of the design</a:t>
            </a:r>
            <a:r>
              <a:rPr lang="en-US" sz="2400" noProof="0" dirty="0">
                <a:solidFill>
                  <a:schemeClr val="tx1"/>
                </a:solidFill>
                <a:effectLst>
                  <a:outerShdw blurRad="38100" dist="38100" dir="2700000" algn="tl">
                    <a:srgbClr val="FFFFFF"/>
                  </a:outerShdw>
                </a:effectLst>
                <a:latin typeface="Times New Roman" panose="02020603050405020304" pitchFamily="18" charset="0"/>
                <a:cs typeface="Times New Roman" panose="02020603050405020304" pitchFamily="18" charset="0"/>
              </a:rPr>
              <a:t> in meeting its stated requirements,</a:t>
            </a:r>
          </a:p>
          <a:p>
            <a:pPr marL="403200" indent="-403200">
              <a:lnSpc>
                <a:spcPct val="90000"/>
              </a:lnSpc>
              <a:spcBef>
                <a:spcPts val="1000"/>
              </a:spcBef>
              <a:spcAft>
                <a:spcPts val="0"/>
              </a:spcAft>
              <a:buFont typeface="+mj-lt"/>
              <a:buAutoNum type="arabicPeriod"/>
              <a:defRPr/>
            </a:pPr>
            <a:r>
              <a:rPr lang="en-US" sz="2400" noProof="0" dirty="0">
                <a:solidFill>
                  <a:schemeClr val="tx1"/>
                </a:solidFill>
                <a:effectLst>
                  <a:outerShdw blurRad="38100" dist="38100" dir="2700000" algn="tl">
                    <a:srgbClr val="FFFFFF"/>
                  </a:outerShdw>
                </a:effectLst>
                <a:latin typeface="Times New Roman" panose="02020603050405020304" pitchFamily="18" charset="0"/>
                <a:cs typeface="Times New Roman" panose="02020603050405020304" pitchFamily="18" charset="0"/>
              </a:rPr>
              <a:t>C</a:t>
            </a:r>
            <a:r>
              <a:rPr lang="en-US" sz="2400" noProof="0" dirty="0">
                <a:solidFill>
                  <a:schemeClr val="tx1"/>
                </a:solidFill>
                <a:latin typeface="Times New Roman" panose="02020603050405020304" pitchFamily="18" charset="0"/>
                <a:cs typeface="Times New Roman" panose="02020603050405020304" pitchFamily="18" charset="0"/>
              </a:rPr>
              <a:t>onsider architectural alternatives</a:t>
            </a:r>
            <a:r>
              <a:rPr lang="en-US" sz="2400" noProof="0" dirty="0">
                <a:solidFill>
                  <a:schemeClr val="tx1"/>
                </a:solidFill>
                <a:effectLst>
                  <a:outerShdw blurRad="38100" dist="38100" dir="2700000" algn="tl">
                    <a:srgbClr val="FFFFFF"/>
                  </a:outerShdw>
                </a:effectLst>
                <a:latin typeface="Times New Roman" panose="02020603050405020304" pitchFamily="18" charset="0"/>
                <a:cs typeface="Times New Roman" panose="02020603050405020304" pitchFamily="18" charset="0"/>
              </a:rPr>
              <a:t> at a stage when making design changes is still relatively easy, and</a:t>
            </a:r>
          </a:p>
          <a:p>
            <a:pPr marL="403200" indent="-403200">
              <a:lnSpc>
                <a:spcPct val="90000"/>
              </a:lnSpc>
              <a:spcBef>
                <a:spcPts val="1000"/>
              </a:spcBef>
              <a:spcAft>
                <a:spcPts val="0"/>
              </a:spcAft>
              <a:buFont typeface="+mj-lt"/>
              <a:buAutoNum type="arabicPeriod"/>
              <a:defRPr/>
            </a:pPr>
            <a:r>
              <a:rPr lang="en-US" sz="2400" noProof="0" dirty="0">
                <a:solidFill>
                  <a:schemeClr val="tx1"/>
                </a:solidFill>
                <a:effectLst>
                  <a:outerShdw blurRad="38100" dist="38100" dir="2700000" algn="tl">
                    <a:srgbClr val="FFFFFF"/>
                  </a:outerShdw>
                </a:effectLst>
                <a:latin typeface="Times New Roman" panose="02020603050405020304" pitchFamily="18" charset="0"/>
                <a:cs typeface="Times New Roman" panose="02020603050405020304" pitchFamily="18" charset="0"/>
              </a:rPr>
              <a:t>R</a:t>
            </a:r>
            <a:r>
              <a:rPr lang="en-US" sz="2400" noProof="0" dirty="0">
                <a:solidFill>
                  <a:schemeClr val="tx1"/>
                </a:solidFill>
                <a:latin typeface="Times New Roman" panose="02020603050405020304" pitchFamily="18" charset="0"/>
                <a:cs typeface="Times New Roman" panose="02020603050405020304" pitchFamily="18" charset="0"/>
              </a:rPr>
              <a:t>educe the risks</a:t>
            </a:r>
            <a:r>
              <a:rPr lang="en-US" sz="2400" noProof="0" dirty="0">
                <a:solidFill>
                  <a:schemeClr val="tx1"/>
                </a:solidFill>
                <a:effectLst>
                  <a:outerShdw blurRad="38100" dist="38100" dir="2700000" algn="tl">
                    <a:srgbClr val="FFFFFF"/>
                  </a:outerShdw>
                </a:effectLst>
                <a:latin typeface="Times New Roman" panose="02020603050405020304" pitchFamily="18" charset="0"/>
                <a:cs typeface="Times New Roman" panose="02020603050405020304" pitchFamily="18" charset="0"/>
              </a:rPr>
              <a:t> associated with the construction of the software.</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800" b="0" i="0" u="none" strike="noStrike" kern="1200" cap="none" spc="0" normalizeH="0" baseline="0" noProof="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5031477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04800"/>
            <a:ext cx="8458200" cy="1075943"/>
          </a:xfrm>
        </p:spPr>
        <p:txBody>
          <a:bodyPr>
            <a:noAutofit/>
          </a:bodyPr>
          <a:lstStyle/>
          <a:p>
            <a:r>
              <a:rPr lang="en-US" sz="3800" noProof="0" dirty="0">
                <a:solidFill>
                  <a:schemeClr val="tx1"/>
                </a:solidFill>
                <a:latin typeface="Times New Roman" panose="02020603050405020304" pitchFamily="18" charset="0"/>
                <a:cs typeface="Times New Roman" panose="02020603050405020304" pitchFamily="18" charset="0"/>
              </a:rPr>
              <a:t>Why is Software Architecture Important?</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550606"/>
            <a:ext cx="8458200" cy="4697793"/>
          </a:xfrm>
        </p:spPr>
        <p:txBody>
          <a:bodyPr vert="horz" lIns="91440" tIns="45720" rIns="91440" bIns="45720" rtlCol="0">
            <a:noAutofit/>
          </a:bodyPr>
          <a:lstStyle/>
          <a:p>
            <a:pPr marL="291600" indent="-291600">
              <a:lnSpc>
                <a:spcPct val="90000"/>
              </a:lnSpc>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Software architecture provides a representation that facilitates communication among all stakeholders interested in the development of a computer-based system.</a:t>
            </a:r>
          </a:p>
          <a:p>
            <a:pPr marL="291600" indent="-291600">
              <a:lnSpc>
                <a:spcPct val="90000"/>
              </a:lnSpc>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Architecture highlights early design decisions that will have a profound impact on all software engineering work that follows.</a:t>
            </a:r>
          </a:p>
          <a:p>
            <a:pPr marL="291600" indent="-291600">
              <a:lnSpc>
                <a:spcPct val="90000"/>
              </a:lnSpc>
              <a:spcBef>
                <a:spcPts val="1000"/>
              </a:spcBef>
              <a:spcAft>
                <a:spcPts val="0"/>
              </a:spcAft>
              <a:buFont typeface="Arial" panose="020B0604020202020204" pitchFamily="34" charset="0"/>
              <a:buChar char="•"/>
            </a:pPr>
            <a:r>
              <a:rPr lang="en-US" altLang="en-US" sz="2400" noProof="0" dirty="0">
                <a:solidFill>
                  <a:schemeClr val="tx1"/>
                </a:solidFill>
                <a:latin typeface="Times New Roman" panose="02020603050405020304" pitchFamily="18" charset="0"/>
                <a:cs typeface="Times New Roman" panose="02020603050405020304" pitchFamily="18" charset="0"/>
              </a:rPr>
              <a:t>Architecture constitutes a relatively small, intellectually graspable mode of how the system is structured and how its components work together.</a:t>
            </a:r>
            <a:endParaRPr lang="en-US" sz="1600" noProof="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US" sz="800" b="0" i="0" u="none" strike="noStrike" kern="1200" cap="none" spc="0" normalizeH="0" baseline="0" noProof="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9323806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Basic Component Design Principles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899" y="1276708"/>
            <a:ext cx="8304711" cy="4878029"/>
          </a:xfrm>
        </p:spPr>
        <p:txBody>
          <a:bodyPr vert="horz" lIns="91440" tIns="45720" rIns="91440" bIns="45720" rtlCol="0">
            <a:noAutofit/>
          </a:bodyPr>
          <a:lstStyle/>
          <a:p>
            <a:pPr marL="292608" indent="-292608">
              <a:lnSpc>
                <a:spcPct val="90000"/>
              </a:lnSpc>
              <a:spcBef>
                <a:spcPts val="1000"/>
              </a:spcBef>
              <a:spcAft>
                <a:spcPts val="0"/>
              </a:spcAft>
              <a:buFont typeface="Arial" panose="020B0604020202020204" pitchFamily="34" charset="0"/>
              <a:buChar char="•"/>
            </a:pPr>
            <a:r>
              <a:rPr lang="en-US" altLang="en-US" b="1" noProof="0" dirty="0">
                <a:solidFill>
                  <a:schemeClr val="tx1"/>
                </a:solidFill>
                <a:latin typeface="Times New Roman" panose="02020603050405020304" pitchFamily="18" charset="0"/>
                <a:cs typeface="Times New Roman" panose="02020603050405020304" pitchFamily="18" charset="0"/>
              </a:rPr>
              <a:t>Open-Closed Principle (O</a:t>
            </a:r>
            <a:r>
              <a:rPr lang="en-US" altLang="en-US" sz="100" b="1" noProof="0" dirty="0">
                <a:solidFill>
                  <a:schemeClr val="tx1"/>
                </a:solidFill>
                <a:latin typeface="Times New Roman" panose="02020603050405020304" pitchFamily="18" charset="0"/>
                <a:cs typeface="Times New Roman" panose="02020603050405020304" pitchFamily="18" charset="0"/>
              </a:rPr>
              <a:t> </a:t>
            </a:r>
            <a:r>
              <a:rPr lang="en-US" altLang="en-US" b="1" noProof="0" dirty="0">
                <a:solidFill>
                  <a:schemeClr val="tx1"/>
                </a:solidFill>
                <a:latin typeface="Times New Roman" panose="02020603050405020304" pitchFamily="18" charset="0"/>
                <a:cs typeface="Times New Roman" panose="02020603050405020304" pitchFamily="18" charset="0"/>
              </a:rPr>
              <a:t>C</a:t>
            </a:r>
            <a:r>
              <a:rPr lang="en-US" altLang="en-US" sz="100" b="1" noProof="0" dirty="0">
                <a:solidFill>
                  <a:schemeClr val="tx1"/>
                </a:solidFill>
                <a:latin typeface="Times New Roman" panose="02020603050405020304" pitchFamily="18" charset="0"/>
                <a:cs typeface="Times New Roman" panose="02020603050405020304" pitchFamily="18" charset="0"/>
              </a:rPr>
              <a:t> </a:t>
            </a:r>
            <a:r>
              <a:rPr lang="en-US" altLang="en-US" b="1" noProof="0" dirty="0">
                <a:solidFill>
                  <a:schemeClr val="tx1"/>
                </a:solidFill>
                <a:latin typeface="Times New Roman" panose="02020603050405020304" pitchFamily="18" charset="0"/>
                <a:cs typeface="Times New Roman" panose="02020603050405020304" pitchFamily="18" charset="0"/>
              </a:rPr>
              <a:t>P)</a:t>
            </a:r>
            <a:r>
              <a:rPr lang="en-US" altLang="en-US" noProof="0" dirty="0">
                <a:solidFill>
                  <a:schemeClr val="tx1"/>
                </a:solidFill>
                <a:latin typeface="Times New Roman" panose="02020603050405020304" pitchFamily="18" charset="0"/>
                <a:cs typeface="Times New Roman" panose="02020603050405020304" pitchFamily="18" charset="0"/>
              </a:rPr>
              <a:t>. </a:t>
            </a:r>
            <a:r>
              <a:rPr lang="en-US" altLang="en-US" i="1" noProof="0" dirty="0">
                <a:solidFill>
                  <a:schemeClr val="tx1"/>
                </a:solidFill>
                <a:latin typeface="Times New Roman" panose="02020603050405020304" pitchFamily="18" charset="0"/>
                <a:cs typeface="Times New Roman" panose="02020603050405020304" pitchFamily="18" charset="0"/>
              </a:rPr>
              <a:t>“A module [component] should be open for extension but closed for modification.</a:t>
            </a:r>
          </a:p>
          <a:p>
            <a:pPr marL="292608" indent="-292608">
              <a:lnSpc>
                <a:spcPct val="90000"/>
              </a:lnSpc>
              <a:spcBef>
                <a:spcPts val="1000"/>
              </a:spcBef>
              <a:spcAft>
                <a:spcPts val="0"/>
              </a:spcAft>
              <a:buFont typeface="Arial" panose="020B0604020202020204" pitchFamily="34" charset="0"/>
              <a:buChar char="•"/>
            </a:pPr>
            <a:r>
              <a:rPr lang="en-US" altLang="en-US" b="1" noProof="0" dirty="0" err="1">
                <a:solidFill>
                  <a:schemeClr val="tx1"/>
                </a:solidFill>
                <a:latin typeface="Times New Roman" panose="02020603050405020304" pitchFamily="18" charset="0"/>
                <a:cs typeface="Times New Roman" panose="02020603050405020304" pitchFamily="18" charset="0"/>
              </a:rPr>
              <a:t>Liskov</a:t>
            </a:r>
            <a:r>
              <a:rPr lang="en-US" altLang="en-US" b="1" noProof="0" dirty="0">
                <a:solidFill>
                  <a:schemeClr val="tx1"/>
                </a:solidFill>
                <a:latin typeface="Times New Roman" panose="02020603050405020304" pitchFamily="18" charset="0"/>
                <a:cs typeface="Times New Roman" panose="02020603050405020304" pitchFamily="18" charset="0"/>
              </a:rPr>
              <a:t> Substitution Principle (L</a:t>
            </a:r>
            <a:r>
              <a:rPr lang="en-US" altLang="en-US" sz="100" b="1" noProof="0" dirty="0">
                <a:solidFill>
                  <a:schemeClr val="tx1"/>
                </a:solidFill>
                <a:latin typeface="Times New Roman" panose="02020603050405020304" pitchFamily="18" charset="0"/>
                <a:cs typeface="Times New Roman" panose="02020603050405020304" pitchFamily="18" charset="0"/>
              </a:rPr>
              <a:t> </a:t>
            </a:r>
            <a:r>
              <a:rPr lang="en-US" altLang="en-US" b="1" noProof="0" dirty="0">
                <a:solidFill>
                  <a:schemeClr val="tx1"/>
                </a:solidFill>
                <a:latin typeface="Times New Roman" panose="02020603050405020304" pitchFamily="18" charset="0"/>
                <a:cs typeface="Times New Roman" panose="02020603050405020304" pitchFamily="18" charset="0"/>
              </a:rPr>
              <a:t>S</a:t>
            </a:r>
            <a:r>
              <a:rPr lang="en-US" altLang="en-US" sz="100" b="1" noProof="0" dirty="0">
                <a:solidFill>
                  <a:schemeClr val="tx1"/>
                </a:solidFill>
                <a:latin typeface="Times New Roman" panose="02020603050405020304" pitchFamily="18" charset="0"/>
                <a:cs typeface="Times New Roman" panose="02020603050405020304" pitchFamily="18" charset="0"/>
              </a:rPr>
              <a:t> </a:t>
            </a:r>
            <a:r>
              <a:rPr lang="en-US" altLang="en-US" b="1" noProof="0" dirty="0">
                <a:solidFill>
                  <a:schemeClr val="tx1"/>
                </a:solidFill>
                <a:latin typeface="Times New Roman" panose="02020603050405020304" pitchFamily="18" charset="0"/>
                <a:cs typeface="Times New Roman" panose="02020603050405020304" pitchFamily="18" charset="0"/>
              </a:rPr>
              <a:t>P). </a:t>
            </a:r>
            <a:r>
              <a:rPr lang="en-US" altLang="en-US" i="1" noProof="0" dirty="0">
                <a:solidFill>
                  <a:schemeClr val="tx1"/>
                </a:solidFill>
                <a:latin typeface="Times New Roman" panose="02020603050405020304" pitchFamily="18" charset="0"/>
                <a:cs typeface="Times New Roman" panose="02020603050405020304" pitchFamily="18" charset="0"/>
              </a:rPr>
              <a:t>“Subclasses should be substitutable for their base classes.</a:t>
            </a:r>
          </a:p>
          <a:p>
            <a:pPr marL="292608" indent="-292608">
              <a:lnSpc>
                <a:spcPct val="90000"/>
              </a:lnSpc>
              <a:spcBef>
                <a:spcPts val="1000"/>
              </a:spcBef>
              <a:spcAft>
                <a:spcPts val="0"/>
              </a:spcAft>
              <a:buFont typeface="Arial" panose="020B0604020202020204" pitchFamily="34" charset="0"/>
              <a:buChar char="•"/>
            </a:pPr>
            <a:r>
              <a:rPr lang="en-US" altLang="en-US" b="1" noProof="0" dirty="0">
                <a:solidFill>
                  <a:schemeClr val="tx1"/>
                </a:solidFill>
                <a:latin typeface="Times New Roman" panose="02020603050405020304" pitchFamily="18" charset="0"/>
                <a:cs typeface="Times New Roman" panose="02020603050405020304" pitchFamily="18" charset="0"/>
              </a:rPr>
              <a:t>Dependency Inversion Principle (D</a:t>
            </a:r>
            <a:r>
              <a:rPr lang="en-US" altLang="en-US" sz="100" b="1" noProof="0" dirty="0">
                <a:solidFill>
                  <a:schemeClr val="tx1"/>
                </a:solidFill>
                <a:latin typeface="Times New Roman" panose="02020603050405020304" pitchFamily="18" charset="0"/>
                <a:cs typeface="Times New Roman" panose="02020603050405020304" pitchFamily="18" charset="0"/>
              </a:rPr>
              <a:t> </a:t>
            </a:r>
            <a:r>
              <a:rPr lang="en-US" altLang="en-US" b="1" noProof="0" dirty="0">
                <a:solidFill>
                  <a:schemeClr val="tx1"/>
                </a:solidFill>
                <a:latin typeface="Times New Roman" panose="02020603050405020304" pitchFamily="18" charset="0"/>
                <a:cs typeface="Times New Roman" panose="02020603050405020304" pitchFamily="18" charset="0"/>
              </a:rPr>
              <a:t>I</a:t>
            </a:r>
            <a:r>
              <a:rPr lang="en-US" altLang="en-US" sz="100" b="1" noProof="0" dirty="0">
                <a:solidFill>
                  <a:schemeClr val="tx1"/>
                </a:solidFill>
                <a:latin typeface="Times New Roman" panose="02020603050405020304" pitchFamily="18" charset="0"/>
                <a:cs typeface="Times New Roman" panose="02020603050405020304" pitchFamily="18" charset="0"/>
              </a:rPr>
              <a:t> </a:t>
            </a:r>
            <a:r>
              <a:rPr lang="en-US" altLang="en-US" b="1" noProof="0" dirty="0">
                <a:solidFill>
                  <a:schemeClr val="tx1"/>
                </a:solidFill>
                <a:latin typeface="Times New Roman" panose="02020603050405020304" pitchFamily="18" charset="0"/>
                <a:cs typeface="Times New Roman" panose="02020603050405020304" pitchFamily="18" charset="0"/>
              </a:rPr>
              <a:t>P). </a:t>
            </a:r>
            <a:r>
              <a:rPr lang="en-US" altLang="en-US" i="1" noProof="0" dirty="0">
                <a:solidFill>
                  <a:schemeClr val="tx1"/>
                </a:solidFill>
                <a:latin typeface="Times New Roman" panose="02020603050405020304" pitchFamily="18" charset="0"/>
                <a:cs typeface="Times New Roman" panose="02020603050405020304" pitchFamily="18" charset="0"/>
              </a:rPr>
              <a:t>“Depend on abstractions. Do not depend on concretions.”</a:t>
            </a:r>
            <a:endParaRPr lang="en-US" altLang="en-US" noProof="0" dirty="0">
              <a:solidFill>
                <a:schemeClr val="tx1"/>
              </a:solidFill>
              <a:latin typeface="Times New Roman" panose="02020603050405020304" pitchFamily="18" charset="0"/>
              <a:cs typeface="Times New Roman" panose="02020603050405020304" pitchFamily="18" charset="0"/>
            </a:endParaRPr>
          </a:p>
          <a:p>
            <a:pPr marL="292608" indent="-292608">
              <a:lnSpc>
                <a:spcPct val="90000"/>
              </a:lnSpc>
              <a:spcBef>
                <a:spcPts val="1000"/>
              </a:spcBef>
              <a:spcAft>
                <a:spcPts val="0"/>
              </a:spcAft>
              <a:buFont typeface="Arial" panose="020B0604020202020204" pitchFamily="34" charset="0"/>
              <a:buChar char="•"/>
            </a:pPr>
            <a:r>
              <a:rPr lang="en-US" altLang="en-US" b="1" noProof="0" dirty="0">
                <a:solidFill>
                  <a:schemeClr val="tx1"/>
                </a:solidFill>
                <a:latin typeface="Times New Roman" panose="02020603050405020304" pitchFamily="18" charset="0"/>
                <a:cs typeface="Times New Roman" panose="02020603050405020304" pitchFamily="18" charset="0"/>
              </a:rPr>
              <a:t>Interface Segregation Principle (I</a:t>
            </a:r>
            <a:r>
              <a:rPr lang="en-US" altLang="en-US" sz="100" b="1" noProof="0" dirty="0">
                <a:solidFill>
                  <a:schemeClr val="tx1"/>
                </a:solidFill>
                <a:latin typeface="Times New Roman" panose="02020603050405020304" pitchFamily="18" charset="0"/>
                <a:cs typeface="Times New Roman" panose="02020603050405020304" pitchFamily="18" charset="0"/>
              </a:rPr>
              <a:t> </a:t>
            </a:r>
            <a:r>
              <a:rPr lang="en-US" altLang="en-US" b="1" noProof="0" dirty="0">
                <a:solidFill>
                  <a:schemeClr val="tx1"/>
                </a:solidFill>
                <a:latin typeface="Times New Roman" panose="02020603050405020304" pitchFamily="18" charset="0"/>
                <a:cs typeface="Times New Roman" panose="02020603050405020304" pitchFamily="18" charset="0"/>
              </a:rPr>
              <a:t>S</a:t>
            </a:r>
            <a:r>
              <a:rPr lang="en-US" altLang="en-US" sz="100" b="1" noProof="0" dirty="0">
                <a:solidFill>
                  <a:schemeClr val="tx1"/>
                </a:solidFill>
                <a:latin typeface="Times New Roman" panose="02020603050405020304" pitchFamily="18" charset="0"/>
                <a:cs typeface="Times New Roman" panose="02020603050405020304" pitchFamily="18" charset="0"/>
              </a:rPr>
              <a:t> </a:t>
            </a:r>
            <a:r>
              <a:rPr lang="en-US" altLang="en-US" b="1" noProof="0" dirty="0">
                <a:solidFill>
                  <a:schemeClr val="tx1"/>
                </a:solidFill>
                <a:latin typeface="Times New Roman" panose="02020603050405020304" pitchFamily="18" charset="0"/>
                <a:cs typeface="Times New Roman" panose="02020603050405020304" pitchFamily="18" charset="0"/>
              </a:rPr>
              <a:t>P).</a:t>
            </a:r>
            <a:r>
              <a:rPr lang="en-US" altLang="en-US" b="1" i="1" noProof="0" dirty="0">
                <a:solidFill>
                  <a:schemeClr val="tx1"/>
                </a:solidFill>
                <a:latin typeface="Times New Roman" panose="02020603050405020304" pitchFamily="18" charset="0"/>
                <a:cs typeface="Times New Roman" panose="02020603050405020304" pitchFamily="18" charset="0"/>
              </a:rPr>
              <a:t> </a:t>
            </a:r>
            <a:r>
              <a:rPr lang="en-US" altLang="en-US" i="1" noProof="0" dirty="0">
                <a:solidFill>
                  <a:schemeClr val="tx1"/>
                </a:solidFill>
                <a:latin typeface="Times New Roman" panose="02020603050405020304" pitchFamily="18" charset="0"/>
                <a:cs typeface="Times New Roman" panose="02020603050405020304" pitchFamily="18" charset="0"/>
              </a:rPr>
              <a:t>“Many client-specific interfaces are better than one general purpose interface.</a:t>
            </a:r>
          </a:p>
          <a:p>
            <a:pPr marL="292608" indent="-292608">
              <a:lnSpc>
                <a:spcPct val="90000"/>
              </a:lnSpc>
              <a:spcBef>
                <a:spcPts val="1000"/>
              </a:spcBef>
              <a:spcAft>
                <a:spcPts val="0"/>
              </a:spcAft>
              <a:buFont typeface="Arial" panose="020B0604020202020204" pitchFamily="34" charset="0"/>
              <a:buChar char="•"/>
            </a:pPr>
            <a:r>
              <a:rPr lang="en-US" altLang="en-US" b="1" noProof="0" dirty="0">
                <a:solidFill>
                  <a:schemeClr val="tx1"/>
                </a:solidFill>
                <a:latin typeface="Times New Roman" panose="02020603050405020304" pitchFamily="18" charset="0"/>
                <a:cs typeface="Times New Roman" panose="02020603050405020304" pitchFamily="18" charset="0"/>
              </a:rPr>
              <a:t>Release Reuse Equivalency Principle (R</a:t>
            </a:r>
            <a:r>
              <a:rPr lang="en-US" altLang="en-US" sz="100" b="1" noProof="0" dirty="0">
                <a:solidFill>
                  <a:schemeClr val="tx1"/>
                </a:solidFill>
                <a:latin typeface="Times New Roman" panose="02020603050405020304" pitchFamily="18" charset="0"/>
                <a:cs typeface="Times New Roman" panose="02020603050405020304" pitchFamily="18" charset="0"/>
              </a:rPr>
              <a:t> </a:t>
            </a:r>
            <a:r>
              <a:rPr lang="en-US" altLang="en-US" b="1" noProof="0" dirty="0">
                <a:solidFill>
                  <a:schemeClr val="tx1"/>
                </a:solidFill>
                <a:latin typeface="Times New Roman" panose="02020603050405020304" pitchFamily="18" charset="0"/>
                <a:cs typeface="Times New Roman" panose="02020603050405020304" pitchFamily="18" charset="0"/>
              </a:rPr>
              <a:t>E</a:t>
            </a:r>
            <a:r>
              <a:rPr lang="en-US" altLang="en-US" sz="100" b="1" noProof="0" dirty="0">
                <a:solidFill>
                  <a:schemeClr val="tx1"/>
                </a:solidFill>
                <a:latin typeface="Times New Roman" panose="02020603050405020304" pitchFamily="18" charset="0"/>
                <a:cs typeface="Times New Roman" panose="02020603050405020304" pitchFamily="18" charset="0"/>
              </a:rPr>
              <a:t> </a:t>
            </a:r>
            <a:r>
              <a:rPr lang="en-US" altLang="en-US" b="1" noProof="0" dirty="0">
                <a:solidFill>
                  <a:schemeClr val="tx1"/>
                </a:solidFill>
                <a:latin typeface="Times New Roman" panose="02020603050405020304" pitchFamily="18" charset="0"/>
                <a:cs typeface="Times New Roman" panose="02020603050405020304" pitchFamily="18" charset="0"/>
              </a:rPr>
              <a:t>P). </a:t>
            </a:r>
            <a:r>
              <a:rPr lang="en-US" altLang="en-US" i="1" noProof="0" dirty="0">
                <a:solidFill>
                  <a:schemeClr val="tx1"/>
                </a:solidFill>
                <a:latin typeface="Times New Roman" panose="02020603050405020304" pitchFamily="18" charset="0"/>
                <a:cs typeface="Times New Roman" panose="02020603050405020304" pitchFamily="18" charset="0"/>
              </a:rPr>
              <a:t>“The granule of reuse is the granule of release.”</a:t>
            </a:r>
            <a:endParaRPr lang="en-US" altLang="en-US" noProof="0" dirty="0">
              <a:solidFill>
                <a:schemeClr val="tx1"/>
              </a:solidFill>
              <a:latin typeface="Times New Roman" panose="02020603050405020304" pitchFamily="18" charset="0"/>
              <a:cs typeface="Times New Roman" panose="02020603050405020304" pitchFamily="18" charset="0"/>
            </a:endParaRPr>
          </a:p>
          <a:p>
            <a:pPr marL="292608" indent="-292608">
              <a:lnSpc>
                <a:spcPct val="90000"/>
              </a:lnSpc>
              <a:spcBef>
                <a:spcPts val="1000"/>
              </a:spcBef>
              <a:spcAft>
                <a:spcPts val="0"/>
              </a:spcAft>
              <a:buFont typeface="Arial" panose="020B0604020202020204" pitchFamily="34" charset="0"/>
              <a:buChar char="•"/>
            </a:pPr>
            <a:r>
              <a:rPr lang="en-US" altLang="en-US" b="1" noProof="0" dirty="0">
                <a:solidFill>
                  <a:schemeClr val="tx1"/>
                </a:solidFill>
                <a:latin typeface="Times New Roman" panose="02020603050405020304" pitchFamily="18" charset="0"/>
                <a:cs typeface="Times New Roman" panose="02020603050405020304" pitchFamily="18" charset="0"/>
              </a:rPr>
              <a:t>Common Closure Principle (C</a:t>
            </a:r>
            <a:r>
              <a:rPr lang="en-US" altLang="en-US" sz="100" b="1" noProof="0" dirty="0">
                <a:solidFill>
                  <a:schemeClr val="tx1"/>
                </a:solidFill>
                <a:latin typeface="Times New Roman" panose="02020603050405020304" pitchFamily="18" charset="0"/>
                <a:cs typeface="Times New Roman" panose="02020603050405020304" pitchFamily="18" charset="0"/>
              </a:rPr>
              <a:t> </a:t>
            </a:r>
            <a:r>
              <a:rPr lang="en-US" altLang="en-US" b="1" noProof="0" dirty="0" err="1">
                <a:solidFill>
                  <a:schemeClr val="tx1"/>
                </a:solidFill>
                <a:latin typeface="Times New Roman" panose="02020603050405020304" pitchFamily="18" charset="0"/>
                <a:cs typeface="Times New Roman" panose="02020603050405020304" pitchFamily="18" charset="0"/>
              </a:rPr>
              <a:t>C</a:t>
            </a:r>
            <a:r>
              <a:rPr lang="en-US" altLang="en-US" sz="100" b="1" noProof="0" dirty="0">
                <a:solidFill>
                  <a:schemeClr val="tx1"/>
                </a:solidFill>
                <a:latin typeface="Times New Roman" panose="02020603050405020304" pitchFamily="18" charset="0"/>
                <a:cs typeface="Times New Roman" panose="02020603050405020304" pitchFamily="18" charset="0"/>
              </a:rPr>
              <a:t> </a:t>
            </a:r>
            <a:r>
              <a:rPr lang="en-US" altLang="en-US" b="1" noProof="0" dirty="0">
                <a:solidFill>
                  <a:schemeClr val="tx1"/>
                </a:solidFill>
                <a:latin typeface="Times New Roman" panose="02020603050405020304" pitchFamily="18" charset="0"/>
                <a:cs typeface="Times New Roman" panose="02020603050405020304" pitchFamily="18" charset="0"/>
              </a:rPr>
              <a:t>P). </a:t>
            </a:r>
            <a:r>
              <a:rPr lang="en-US" altLang="en-US" i="1" noProof="0" dirty="0">
                <a:solidFill>
                  <a:schemeClr val="tx1"/>
                </a:solidFill>
                <a:latin typeface="Times New Roman" panose="02020603050405020304" pitchFamily="18" charset="0"/>
                <a:cs typeface="Times New Roman" panose="02020603050405020304" pitchFamily="18" charset="0"/>
              </a:rPr>
              <a:t>“Classes that change together belong together.”</a:t>
            </a:r>
          </a:p>
          <a:p>
            <a:pPr marL="292608" indent="-292608">
              <a:lnSpc>
                <a:spcPct val="90000"/>
              </a:lnSpc>
              <a:spcBef>
                <a:spcPts val="1000"/>
              </a:spcBef>
              <a:spcAft>
                <a:spcPts val="0"/>
              </a:spcAft>
              <a:buFont typeface="Arial" panose="020B0604020202020204" pitchFamily="34" charset="0"/>
              <a:buChar char="•"/>
            </a:pPr>
            <a:r>
              <a:rPr lang="en-US" altLang="en-US" b="1" noProof="0" dirty="0">
                <a:solidFill>
                  <a:schemeClr val="tx1"/>
                </a:solidFill>
                <a:latin typeface="Times New Roman" panose="02020603050405020304" pitchFamily="18" charset="0"/>
                <a:cs typeface="Times New Roman" panose="02020603050405020304" pitchFamily="18" charset="0"/>
              </a:rPr>
              <a:t>Common Reuse Principle (C</a:t>
            </a:r>
            <a:r>
              <a:rPr lang="en-US" altLang="en-US" sz="100" b="1" noProof="0" dirty="0">
                <a:solidFill>
                  <a:schemeClr val="tx1"/>
                </a:solidFill>
                <a:latin typeface="Times New Roman" panose="02020603050405020304" pitchFamily="18" charset="0"/>
                <a:cs typeface="Times New Roman" panose="02020603050405020304" pitchFamily="18" charset="0"/>
              </a:rPr>
              <a:t> </a:t>
            </a:r>
            <a:r>
              <a:rPr lang="en-US" altLang="en-US" b="1" noProof="0" dirty="0">
                <a:solidFill>
                  <a:schemeClr val="tx1"/>
                </a:solidFill>
                <a:latin typeface="Times New Roman" panose="02020603050405020304" pitchFamily="18" charset="0"/>
                <a:cs typeface="Times New Roman" panose="02020603050405020304" pitchFamily="18" charset="0"/>
              </a:rPr>
              <a:t>R</a:t>
            </a:r>
            <a:r>
              <a:rPr lang="en-US" altLang="en-US" sz="100" b="1" noProof="0" dirty="0">
                <a:solidFill>
                  <a:schemeClr val="tx1"/>
                </a:solidFill>
                <a:latin typeface="Times New Roman" panose="02020603050405020304" pitchFamily="18" charset="0"/>
                <a:cs typeface="Times New Roman" panose="02020603050405020304" pitchFamily="18" charset="0"/>
              </a:rPr>
              <a:t> </a:t>
            </a:r>
            <a:r>
              <a:rPr lang="en-US" altLang="en-US" b="1" noProof="0" dirty="0">
                <a:solidFill>
                  <a:schemeClr val="tx1"/>
                </a:solidFill>
                <a:latin typeface="Times New Roman" panose="02020603050405020304" pitchFamily="18" charset="0"/>
                <a:cs typeface="Times New Roman" panose="02020603050405020304" pitchFamily="18" charset="0"/>
              </a:rPr>
              <a:t>P). </a:t>
            </a:r>
            <a:r>
              <a:rPr lang="en-US" altLang="en-US" i="1" noProof="0" dirty="0">
                <a:solidFill>
                  <a:schemeClr val="tx1"/>
                </a:solidFill>
                <a:latin typeface="Times New Roman" panose="02020603050405020304" pitchFamily="18" charset="0"/>
                <a:cs typeface="Times New Roman" panose="02020603050405020304" pitchFamily="18" charset="0"/>
              </a:rPr>
              <a:t>“Classes that aren’t reused together should not be grouped together.”</a:t>
            </a:r>
            <a:endParaRPr lang="en-US" altLang="en-US" b="1" noProof="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US" sz="800" b="0" i="0" u="none" strike="noStrike" kern="1200" cap="none" spc="0" normalizeH="0" baseline="0" noProof="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384258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Component-Level Design Guidelines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8"/>
            <a:ext cx="8458200" cy="4878029"/>
          </a:xfrm>
        </p:spPr>
        <p:txBody>
          <a:bodyPr vert="horz" lIns="91440" tIns="45720" rIns="91440" bIns="45720" rtlCol="0">
            <a:noAutofit/>
          </a:bodyPr>
          <a:lstStyle/>
          <a:p>
            <a:pPr marL="292608" indent="-292608">
              <a:lnSpc>
                <a:spcPct val="90000"/>
              </a:lnSpc>
              <a:spcBef>
                <a:spcPts val="1000"/>
              </a:spcBef>
              <a:spcAft>
                <a:spcPts val="0"/>
              </a:spcAft>
              <a:buFont typeface="Arial" panose="020B0604020202020204" pitchFamily="34" charset="0"/>
              <a:buChar char="•"/>
            </a:pPr>
            <a:r>
              <a:rPr lang="en-US" altLang="en-US" sz="2400" b="1" noProof="0" dirty="0">
                <a:solidFill>
                  <a:schemeClr val="tx1"/>
                </a:solidFill>
                <a:latin typeface="Times New Roman" panose="02020603050405020304" pitchFamily="18" charset="0"/>
                <a:cs typeface="Times New Roman" panose="02020603050405020304" pitchFamily="18" charset="0"/>
              </a:rPr>
              <a:t>Components </a:t>
            </a:r>
            <a:r>
              <a:rPr lang="en-US" altLang="en-US" sz="2400" noProof="0" dirty="0">
                <a:solidFill>
                  <a:schemeClr val="tx1"/>
                </a:solidFill>
                <a:latin typeface="Times New Roman" panose="02020603050405020304" pitchFamily="18" charset="0"/>
                <a:cs typeface="Times New Roman" panose="02020603050405020304" pitchFamily="18" charset="0"/>
              </a:rPr>
              <a:t>- Naming conventions should be established for components that are specified as part of the architectural model and then refined and elaborated as part of the component-level model.</a:t>
            </a:r>
          </a:p>
          <a:p>
            <a:pPr marL="292608" indent="-292608">
              <a:lnSpc>
                <a:spcPct val="90000"/>
              </a:lnSpc>
              <a:spcBef>
                <a:spcPts val="1000"/>
              </a:spcBef>
              <a:spcAft>
                <a:spcPts val="0"/>
              </a:spcAft>
              <a:buFont typeface="Arial" panose="020B0604020202020204" pitchFamily="34" charset="0"/>
              <a:buChar char="•"/>
            </a:pPr>
            <a:r>
              <a:rPr lang="en-US" altLang="en-US" sz="2400" b="1" noProof="0" dirty="0">
                <a:solidFill>
                  <a:schemeClr val="tx1"/>
                </a:solidFill>
                <a:latin typeface="Times New Roman" panose="02020603050405020304" pitchFamily="18" charset="0"/>
                <a:cs typeface="Times New Roman" panose="02020603050405020304" pitchFamily="18" charset="0"/>
              </a:rPr>
              <a:t>Interfaces</a:t>
            </a:r>
            <a:r>
              <a:rPr lang="en-US" altLang="en-US" sz="2400" noProof="0" dirty="0">
                <a:solidFill>
                  <a:schemeClr val="tx1"/>
                </a:solidFill>
                <a:latin typeface="Times New Roman" panose="02020603050405020304" pitchFamily="18" charset="0"/>
                <a:cs typeface="Times New Roman" panose="02020603050405020304" pitchFamily="18" charset="0"/>
              </a:rPr>
              <a:t> - provide important information about communication and collaboration (as well as helping us to achieve the O</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400" noProof="0" dirty="0">
                <a:solidFill>
                  <a:schemeClr val="tx1"/>
                </a:solidFill>
                <a:latin typeface="Times New Roman" panose="02020603050405020304" pitchFamily="18" charset="0"/>
                <a:cs typeface="Times New Roman" panose="02020603050405020304" pitchFamily="18" charset="0"/>
              </a:rPr>
              <a:t>P</a:t>
            </a:r>
            <a:r>
              <a:rPr lang="en-US" altLang="en-US" sz="100" noProof="0" dirty="0">
                <a:solidFill>
                  <a:schemeClr val="tx1"/>
                </a:solidFill>
                <a:latin typeface="Times New Roman" panose="02020603050405020304" pitchFamily="18" charset="0"/>
                <a:cs typeface="Times New Roman" panose="02020603050405020304" pitchFamily="18" charset="0"/>
              </a:rPr>
              <a:t> </a:t>
            </a:r>
            <a:r>
              <a:rPr lang="en-US" altLang="en-US" sz="2400" noProof="0" dirty="0">
                <a:solidFill>
                  <a:schemeClr val="tx1"/>
                </a:solidFill>
                <a:latin typeface="Times New Roman" panose="02020603050405020304" pitchFamily="18" charset="0"/>
                <a:cs typeface="Times New Roman" panose="02020603050405020304" pitchFamily="18" charset="0"/>
              </a:rPr>
              <a:t>C).</a:t>
            </a:r>
          </a:p>
          <a:p>
            <a:pPr marL="292608" indent="-292608">
              <a:lnSpc>
                <a:spcPct val="90000"/>
              </a:lnSpc>
              <a:spcBef>
                <a:spcPts val="1000"/>
              </a:spcBef>
              <a:spcAft>
                <a:spcPts val="0"/>
              </a:spcAft>
              <a:buFont typeface="Arial" panose="020B0604020202020204" pitchFamily="34" charset="0"/>
              <a:buChar char="•"/>
            </a:pPr>
            <a:r>
              <a:rPr lang="en-US" altLang="en-US" sz="2400" b="1" noProof="0" dirty="0">
                <a:solidFill>
                  <a:schemeClr val="tx1"/>
                </a:solidFill>
                <a:latin typeface="Times New Roman" panose="02020603050405020304" pitchFamily="18" charset="0"/>
                <a:cs typeface="Times New Roman" panose="02020603050405020304" pitchFamily="18" charset="0"/>
              </a:rPr>
              <a:t>Dependencies and Inheritance </a:t>
            </a:r>
            <a:r>
              <a:rPr lang="en-US" altLang="en-US" sz="2400" noProof="0" dirty="0">
                <a:solidFill>
                  <a:schemeClr val="tx1"/>
                </a:solidFill>
                <a:latin typeface="Times New Roman" panose="02020603050405020304" pitchFamily="18" charset="0"/>
                <a:cs typeface="Times New Roman" panose="02020603050405020304" pitchFamily="18" charset="0"/>
              </a:rPr>
              <a:t>– For readability, it is a good idea to model dependencies from left to right and inheritance from bottom (derived classes) to top (base classes).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800" b="0" i="0" u="none" strike="noStrike" kern="1200" cap="none" spc="0" normalizeH="0" baseline="0" noProof="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5253163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Cohesion</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8"/>
            <a:ext cx="8283512" cy="4878029"/>
          </a:xfrm>
        </p:spPr>
        <p:txBody>
          <a:bodyPr vert="horz" lIns="91440" tIns="45720" rIns="91440" bIns="45720" rtlCol="0">
            <a:noAutofit/>
          </a:bodyPr>
          <a:lstStyle/>
          <a:p>
            <a:pPr>
              <a:lnSpc>
                <a:spcPct val="90000"/>
              </a:lnSpc>
              <a:spcBef>
                <a:spcPts val="1000"/>
              </a:spcBef>
              <a:spcAft>
                <a:spcPts val="0"/>
              </a:spcAft>
            </a:pPr>
            <a:r>
              <a:rPr lang="en-US" altLang="en-US" sz="2400" b="1" noProof="0" dirty="0">
                <a:solidFill>
                  <a:schemeClr val="tx1"/>
                </a:solidFill>
                <a:latin typeface="Times New Roman" panose="02020603050405020304" pitchFamily="18" charset="0"/>
                <a:cs typeface="Times New Roman" panose="02020603050405020304" pitchFamily="18" charset="0"/>
              </a:rPr>
              <a:t>Traditional view </a:t>
            </a:r>
            <a:r>
              <a:rPr lang="en-US" altLang="en-US" sz="2400" noProof="0" dirty="0">
                <a:solidFill>
                  <a:schemeClr val="tx1"/>
                </a:solidFill>
                <a:latin typeface="Times New Roman" panose="02020603050405020304" pitchFamily="18" charset="0"/>
                <a:cs typeface="Times New Roman" panose="02020603050405020304" pitchFamily="18" charset="0"/>
              </a:rPr>
              <a:t>- the “single-mindedness” of a module.</a:t>
            </a:r>
          </a:p>
          <a:p>
            <a:pPr>
              <a:lnSpc>
                <a:spcPct val="90000"/>
              </a:lnSpc>
              <a:spcBef>
                <a:spcPts val="1000"/>
              </a:spcBef>
              <a:spcAft>
                <a:spcPts val="0"/>
              </a:spcAft>
            </a:pPr>
            <a:r>
              <a:rPr lang="en-US" altLang="en-US" sz="2400" b="1" noProof="0" dirty="0">
                <a:solidFill>
                  <a:schemeClr val="tx1"/>
                </a:solidFill>
                <a:latin typeface="Times New Roman" panose="02020603050405020304" pitchFamily="18" charset="0"/>
                <a:cs typeface="Times New Roman" panose="02020603050405020304" pitchFamily="18" charset="0"/>
              </a:rPr>
              <a:t>Object-Oriented view </a:t>
            </a:r>
            <a:r>
              <a:rPr lang="en-US" altLang="en-US" sz="2400" noProof="0" dirty="0">
                <a:solidFill>
                  <a:schemeClr val="tx1"/>
                </a:solidFill>
                <a:latin typeface="Times New Roman" panose="02020603050405020304" pitchFamily="18" charset="0"/>
                <a:cs typeface="Times New Roman" panose="02020603050405020304" pitchFamily="18" charset="0"/>
              </a:rPr>
              <a:t>- </a:t>
            </a:r>
            <a:r>
              <a:rPr lang="en-US" altLang="en-US" sz="2400" i="1" noProof="0" dirty="0">
                <a:solidFill>
                  <a:schemeClr val="tx1"/>
                </a:solidFill>
                <a:latin typeface="Times New Roman" panose="02020603050405020304" pitchFamily="18" charset="0"/>
                <a:cs typeface="Times New Roman" panose="02020603050405020304" pitchFamily="18" charset="0"/>
              </a:rPr>
              <a:t>cohesion</a:t>
            </a:r>
            <a:r>
              <a:rPr lang="en-US" altLang="en-US" sz="2400" noProof="0" dirty="0">
                <a:solidFill>
                  <a:schemeClr val="tx1"/>
                </a:solidFill>
                <a:latin typeface="Times New Roman" panose="02020603050405020304" pitchFamily="18" charset="0"/>
                <a:cs typeface="Times New Roman" panose="02020603050405020304" pitchFamily="18" charset="0"/>
              </a:rPr>
              <a:t> implies that a component encapsulates only attributes and operations that are closely related to one another and the component itself.</a:t>
            </a:r>
          </a:p>
          <a:p>
            <a:pPr>
              <a:lnSpc>
                <a:spcPct val="90000"/>
              </a:lnSpc>
              <a:spcBef>
                <a:spcPts val="1000"/>
              </a:spcBef>
              <a:spcAft>
                <a:spcPts val="0"/>
              </a:spcAft>
            </a:pPr>
            <a:r>
              <a:rPr lang="en-US" altLang="en-US" sz="2400" noProof="0" dirty="0">
                <a:solidFill>
                  <a:schemeClr val="tx1"/>
                </a:solidFill>
                <a:latin typeface="Times New Roman" panose="02020603050405020304" pitchFamily="18" charset="0"/>
                <a:cs typeface="Times New Roman" panose="02020603050405020304" pitchFamily="18" charset="0"/>
              </a:rPr>
              <a:t>Levels of cohesion:</a:t>
            </a:r>
          </a:p>
          <a:p>
            <a:pPr marL="292608" lvl="2" indent="-292608">
              <a:lnSpc>
                <a:spcPct val="90000"/>
              </a:lnSpc>
              <a:spcBef>
                <a:spcPts val="1000"/>
              </a:spcBef>
              <a:spcAft>
                <a:spcPts val="0"/>
              </a:spcAft>
            </a:pPr>
            <a:r>
              <a:rPr lang="en-US" altLang="en-US" sz="2000" noProof="0" dirty="0">
                <a:solidFill>
                  <a:schemeClr val="tx1"/>
                </a:solidFill>
                <a:latin typeface="Times New Roman" panose="02020603050405020304" pitchFamily="18" charset="0"/>
                <a:cs typeface="Times New Roman" panose="02020603050405020304" pitchFamily="18" charset="0"/>
              </a:rPr>
              <a:t>Functional - </a:t>
            </a:r>
            <a:r>
              <a:rPr lang="en-US" sz="2000" noProof="0" dirty="0">
                <a:solidFill>
                  <a:schemeClr val="tx1"/>
                </a:solidFill>
                <a:latin typeface="Times New Roman" panose="02020603050405020304" pitchFamily="18" charset="0"/>
                <a:cs typeface="Times New Roman" panose="02020603050405020304" pitchFamily="18" charset="0"/>
              </a:rPr>
              <a:t>module performs one and only one computation.</a:t>
            </a:r>
          </a:p>
          <a:p>
            <a:pPr marL="292608" lvl="2" indent="-292608">
              <a:lnSpc>
                <a:spcPct val="90000"/>
              </a:lnSpc>
              <a:spcBef>
                <a:spcPts val="1000"/>
              </a:spcBef>
              <a:spcAft>
                <a:spcPts val="0"/>
              </a:spcAft>
            </a:pPr>
            <a:r>
              <a:rPr lang="en-US" altLang="en-US" sz="2000" noProof="0" dirty="0">
                <a:solidFill>
                  <a:schemeClr val="tx1"/>
                </a:solidFill>
                <a:latin typeface="Times New Roman" panose="02020603050405020304" pitchFamily="18" charset="0"/>
                <a:cs typeface="Times New Roman" panose="02020603050405020304" pitchFamily="18" charset="0"/>
              </a:rPr>
              <a:t>Layer - </a:t>
            </a:r>
            <a:r>
              <a:rPr lang="en-US" sz="2000" noProof="0" dirty="0">
                <a:solidFill>
                  <a:schemeClr val="tx1"/>
                </a:solidFill>
                <a:latin typeface="Times New Roman" panose="02020603050405020304" pitchFamily="18" charset="0"/>
                <a:cs typeface="Times New Roman" panose="02020603050405020304" pitchFamily="18" charset="0"/>
              </a:rPr>
              <a:t>occurs when a higher layer accesses the services of a lower layer, but lower layers do not access higher layers.</a:t>
            </a:r>
          </a:p>
          <a:p>
            <a:pPr marL="292608" lvl="2" indent="-292608">
              <a:lnSpc>
                <a:spcPct val="90000"/>
              </a:lnSpc>
              <a:spcBef>
                <a:spcPts val="1000"/>
              </a:spcBef>
              <a:spcAft>
                <a:spcPts val="0"/>
              </a:spcAft>
            </a:pPr>
            <a:r>
              <a:rPr lang="en-US" altLang="en-US" sz="2000" noProof="0" dirty="0">
                <a:solidFill>
                  <a:schemeClr val="tx1"/>
                </a:solidFill>
                <a:latin typeface="Times New Roman" panose="02020603050405020304" pitchFamily="18" charset="0"/>
                <a:cs typeface="Times New Roman" panose="02020603050405020304" pitchFamily="18" charset="0"/>
              </a:rPr>
              <a:t>Communicational - </a:t>
            </a:r>
            <a:r>
              <a:rPr lang="en-US" sz="2000" noProof="0" dirty="0">
                <a:solidFill>
                  <a:schemeClr val="tx1"/>
                </a:solidFill>
                <a:latin typeface="Times New Roman" panose="02020603050405020304" pitchFamily="18" charset="0"/>
                <a:cs typeface="Times New Roman" panose="02020603050405020304" pitchFamily="18" charset="0"/>
              </a:rPr>
              <a:t>All operations that access the same data are defined within one class.</a:t>
            </a:r>
            <a:endParaRPr lang="en-US" altLang="en-US" sz="2000" noProof="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800" b="0" i="0" u="none" strike="noStrike" kern="1200" cap="none" spc="0" normalizeH="0" baseline="0" noProof="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5410229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Coupling</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8"/>
            <a:ext cx="8283512" cy="4878029"/>
          </a:xfrm>
        </p:spPr>
        <p:txBody>
          <a:bodyPr vert="horz" lIns="91440" tIns="45720" rIns="91440" bIns="45720" rtlCol="0">
            <a:noAutofit/>
          </a:bodyPr>
          <a:lstStyle/>
          <a:p>
            <a:pPr>
              <a:lnSpc>
                <a:spcPct val="90000"/>
              </a:lnSpc>
              <a:spcBef>
                <a:spcPts val="1000"/>
              </a:spcBef>
              <a:spcAft>
                <a:spcPts val="0"/>
              </a:spcAft>
            </a:pPr>
            <a:r>
              <a:rPr lang="en-US" altLang="en-US" sz="2400" b="1" noProof="0" dirty="0">
                <a:solidFill>
                  <a:schemeClr val="tx1"/>
                </a:solidFill>
                <a:latin typeface="Times New Roman" panose="02020603050405020304" pitchFamily="18" charset="0"/>
                <a:cs typeface="Times New Roman" panose="02020603050405020304" pitchFamily="18" charset="0"/>
              </a:rPr>
              <a:t>Traditional view </a:t>
            </a:r>
            <a:r>
              <a:rPr lang="en-US" altLang="en-US" sz="2400" noProof="0" dirty="0">
                <a:solidFill>
                  <a:schemeClr val="tx1"/>
                </a:solidFill>
                <a:latin typeface="Times New Roman" panose="02020603050405020304" pitchFamily="18" charset="0"/>
                <a:cs typeface="Times New Roman" panose="02020603050405020304" pitchFamily="18" charset="0"/>
              </a:rPr>
              <a:t>- degree to which a component is connected to other components and to the external world.</a:t>
            </a:r>
          </a:p>
          <a:p>
            <a:pPr>
              <a:lnSpc>
                <a:spcPct val="90000"/>
              </a:lnSpc>
              <a:spcBef>
                <a:spcPts val="1000"/>
              </a:spcBef>
              <a:spcAft>
                <a:spcPts val="0"/>
              </a:spcAft>
            </a:pPr>
            <a:r>
              <a:rPr lang="en-US" altLang="en-US" sz="2400" b="1" noProof="0" dirty="0">
                <a:solidFill>
                  <a:schemeClr val="tx1"/>
                </a:solidFill>
                <a:latin typeface="Times New Roman" panose="02020603050405020304" pitchFamily="18" charset="0"/>
                <a:cs typeface="Times New Roman" panose="02020603050405020304" pitchFamily="18" charset="0"/>
              </a:rPr>
              <a:t>Object-Oriented view </a:t>
            </a:r>
            <a:r>
              <a:rPr lang="en-US" altLang="en-US" sz="2400" noProof="0" dirty="0">
                <a:solidFill>
                  <a:schemeClr val="tx1"/>
                </a:solidFill>
                <a:latin typeface="Times New Roman" panose="02020603050405020304" pitchFamily="18" charset="0"/>
                <a:cs typeface="Times New Roman" panose="02020603050405020304" pitchFamily="18" charset="0"/>
              </a:rPr>
              <a:t>- qualitative measure of the degree to which classes are connected to one another.</a:t>
            </a:r>
          </a:p>
          <a:p>
            <a:pPr>
              <a:lnSpc>
                <a:spcPct val="90000"/>
              </a:lnSpc>
              <a:spcBef>
                <a:spcPts val="1000"/>
              </a:spcBef>
              <a:spcAft>
                <a:spcPts val="0"/>
              </a:spcAft>
            </a:pPr>
            <a:r>
              <a:rPr lang="en-US" altLang="en-US" sz="2400" noProof="0" dirty="0">
                <a:solidFill>
                  <a:schemeClr val="tx1"/>
                </a:solidFill>
                <a:latin typeface="Times New Roman" panose="02020603050405020304" pitchFamily="18" charset="0"/>
                <a:cs typeface="Times New Roman" panose="02020603050405020304" pitchFamily="18" charset="0"/>
              </a:rPr>
              <a:t>Levels of coupling.</a:t>
            </a:r>
          </a:p>
          <a:p>
            <a:pPr marL="292608" lvl="1" indent="-292608">
              <a:lnSpc>
                <a:spcPct val="90000"/>
              </a:lnSpc>
              <a:spcBef>
                <a:spcPts val="1000"/>
              </a:spcBef>
              <a:spcAft>
                <a:spcPts val="0"/>
              </a:spcAft>
            </a:pPr>
            <a:r>
              <a:rPr lang="en-US" altLang="en-US" noProof="0" dirty="0">
                <a:solidFill>
                  <a:schemeClr val="tx1"/>
                </a:solidFill>
                <a:latin typeface="Times New Roman" panose="02020603050405020304" pitchFamily="18" charset="0"/>
                <a:cs typeface="Times New Roman" panose="02020603050405020304" pitchFamily="18" charset="0"/>
              </a:rPr>
              <a:t>Content - </a:t>
            </a:r>
            <a:r>
              <a:rPr lang="en-US" noProof="0" dirty="0">
                <a:solidFill>
                  <a:schemeClr val="tx1"/>
                </a:solidFill>
                <a:latin typeface="Times New Roman" panose="02020603050405020304" pitchFamily="18" charset="0"/>
                <a:cs typeface="Times New Roman" panose="02020603050405020304" pitchFamily="18" charset="0"/>
              </a:rPr>
              <a:t>occurs when one component “surreptitiously modifies data that is internal to another component.</a:t>
            </a:r>
            <a:endParaRPr lang="en-US" sz="4800" noProof="0" dirty="0">
              <a:solidFill>
                <a:schemeClr val="tx1"/>
              </a:solidFill>
              <a:latin typeface="Times New Roman" panose="02020603050405020304" pitchFamily="18" charset="0"/>
              <a:cs typeface="Times New Roman" panose="02020603050405020304" pitchFamily="18" charset="0"/>
            </a:endParaRPr>
          </a:p>
          <a:p>
            <a:pPr marL="292608" lvl="1" indent="-292608">
              <a:lnSpc>
                <a:spcPct val="90000"/>
              </a:lnSpc>
              <a:spcBef>
                <a:spcPts val="1000"/>
              </a:spcBef>
              <a:spcAft>
                <a:spcPts val="0"/>
              </a:spcAft>
            </a:pPr>
            <a:r>
              <a:rPr lang="en-US" altLang="en-US" noProof="0" dirty="0">
                <a:solidFill>
                  <a:schemeClr val="tx1"/>
                </a:solidFill>
                <a:latin typeface="Times New Roman" panose="02020603050405020304" pitchFamily="18" charset="0"/>
                <a:cs typeface="Times New Roman" panose="02020603050405020304" pitchFamily="18" charset="0"/>
              </a:rPr>
              <a:t>Control – occurs when control flags a passed to components to requests alternate behaviors when invoked.</a:t>
            </a:r>
          </a:p>
          <a:p>
            <a:pPr marL="292608" lvl="1" indent="-292608">
              <a:lnSpc>
                <a:spcPct val="90000"/>
              </a:lnSpc>
              <a:spcBef>
                <a:spcPts val="1000"/>
              </a:spcBef>
              <a:spcAft>
                <a:spcPts val="0"/>
              </a:spcAft>
            </a:pPr>
            <a:r>
              <a:rPr lang="en-US" altLang="en-US" noProof="0" dirty="0">
                <a:solidFill>
                  <a:schemeClr val="tx1"/>
                </a:solidFill>
                <a:latin typeface="Times New Roman" panose="02020603050405020304" pitchFamily="18" charset="0"/>
                <a:cs typeface="Times New Roman" panose="02020603050405020304" pitchFamily="18" charset="0"/>
              </a:rPr>
              <a:t>External - </a:t>
            </a:r>
            <a:r>
              <a:rPr lang="en-US" noProof="0" dirty="0">
                <a:solidFill>
                  <a:schemeClr val="tx1"/>
                </a:solidFill>
                <a:latin typeface="Times New Roman" panose="02020603050405020304" pitchFamily="18" charset="0"/>
                <a:cs typeface="Times New Roman" panose="02020603050405020304" pitchFamily="18" charset="0"/>
              </a:rPr>
              <a:t>occurs when a component communicates or collaborates with infrastructure components.</a:t>
            </a:r>
            <a:endParaRPr lang="en-US" sz="3600" noProof="0" dirty="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800" b="0" i="0" u="none" strike="noStrike" kern="1200" cap="none" spc="0" normalizeH="0" baseline="0" noProof="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6920724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04800"/>
            <a:ext cx="8283512" cy="678611"/>
          </a:xfrm>
        </p:spPr>
        <p:txBody>
          <a:bodyPr>
            <a:noAutofit/>
          </a:bodyPr>
          <a:lstStyle/>
          <a:p>
            <a:r>
              <a:rPr lang="en-US" sz="4000" noProof="0" dirty="0">
                <a:latin typeface="Times New Roman" panose="02020603050405020304" pitchFamily="18" charset="0"/>
                <a:cs typeface="Times New Roman" panose="02020603050405020304" pitchFamily="18" charset="0"/>
              </a:rPr>
              <a:t>User Experience Design Elements </a:t>
            </a:r>
            <a:r>
              <a:rPr lang="en-US" sz="1000" b="0" noProof="0" dirty="0">
                <a:latin typeface="Times New Roman" panose="02020603050405020304" pitchFamily="18" charset="0"/>
                <a:cs typeface="Times New Roman" panose="02020603050405020304" pitchFamily="18" charset="0"/>
              </a:rPr>
              <a:t>1</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30988"/>
            <a:ext cx="8283512" cy="4630316"/>
          </a:xfrm>
        </p:spPr>
        <p:txBody>
          <a:bodyPr vert="horz" lIns="91440" tIns="45720" rIns="91440" bIns="45720" rtlCol="0">
            <a:noAutofit/>
          </a:bodyPr>
          <a:lstStyle/>
          <a:p>
            <a:pPr>
              <a:spcBef>
                <a:spcPts val="1000"/>
              </a:spcBef>
              <a:spcAft>
                <a:spcPts val="0"/>
              </a:spcAft>
            </a:pPr>
            <a:r>
              <a:rPr lang="en-US" b="1" i="1" noProof="0" dirty="0">
                <a:latin typeface="Times New Roman" panose="02020603050405020304" pitchFamily="18" charset="0"/>
                <a:cs typeface="Times New Roman" panose="02020603050405020304" pitchFamily="18" charset="0"/>
              </a:rPr>
              <a:t>User experience design </a:t>
            </a:r>
            <a:r>
              <a:rPr lang="en-US" noProof="0" dirty="0">
                <a:latin typeface="Times New Roman" panose="02020603050405020304" pitchFamily="18" charset="0"/>
                <a:cs typeface="Times New Roman" panose="02020603050405020304" pitchFamily="18" charset="0"/>
              </a:rPr>
              <a:t>tries to ensure that no aspect of your software appears the final product without the explicit decision of stakeholders to include it.</a:t>
            </a:r>
            <a:endParaRPr lang="en-US" b="1" noProof="0" dirty="0">
              <a:latin typeface="Times New Roman" panose="02020603050405020304" pitchFamily="18" charset="0"/>
              <a:cs typeface="Times New Roman" panose="02020603050405020304" pitchFamily="18" charset="0"/>
            </a:endParaRPr>
          </a:p>
          <a:p>
            <a:pPr marL="291600" indent="-291600">
              <a:spcBef>
                <a:spcPts val="1000"/>
              </a:spcBef>
              <a:spcAft>
                <a:spcPts val="0"/>
              </a:spcAft>
              <a:buFont typeface="Arial" panose="020B0604020202020204" pitchFamily="34" charset="0"/>
              <a:buChar char="•"/>
            </a:pPr>
            <a:r>
              <a:rPr lang="en-US" b="1" noProof="0" dirty="0">
                <a:latin typeface="Times New Roman" panose="02020603050405020304" pitchFamily="18" charset="0"/>
                <a:cs typeface="Times New Roman" panose="02020603050405020304" pitchFamily="18" charset="0"/>
              </a:rPr>
              <a:t>Strategy. </a:t>
            </a:r>
            <a:r>
              <a:rPr lang="en-US" noProof="0" dirty="0">
                <a:latin typeface="Times New Roman" panose="02020603050405020304" pitchFamily="18" charset="0"/>
                <a:cs typeface="Times New Roman" panose="02020603050405020304" pitchFamily="18" charset="0"/>
              </a:rPr>
              <a:t>Identifies user needs and customer business goals that form the basis for all U</a:t>
            </a:r>
            <a:r>
              <a:rPr lang="en-US" sz="100" noProof="0" dirty="0">
                <a:latin typeface="Times New Roman" panose="02020603050405020304" pitchFamily="18" charset="0"/>
                <a:cs typeface="Times New Roman" panose="02020603050405020304" pitchFamily="18" charset="0"/>
              </a:rPr>
              <a:t> </a:t>
            </a:r>
            <a:r>
              <a:rPr lang="en-US" noProof="0" dirty="0">
                <a:latin typeface="Times New Roman" panose="02020603050405020304" pitchFamily="18" charset="0"/>
                <a:cs typeface="Times New Roman" panose="02020603050405020304" pitchFamily="18" charset="0"/>
              </a:rPr>
              <a:t>X design work.</a:t>
            </a:r>
          </a:p>
          <a:p>
            <a:pPr marL="291600" indent="-291600">
              <a:spcBef>
                <a:spcPts val="1000"/>
              </a:spcBef>
              <a:spcAft>
                <a:spcPts val="0"/>
              </a:spcAft>
              <a:buFont typeface="Arial" panose="020B0604020202020204" pitchFamily="34" charset="0"/>
              <a:buChar char="•"/>
            </a:pPr>
            <a:r>
              <a:rPr lang="en-US" b="1" noProof="0" dirty="0">
                <a:latin typeface="Times New Roman" panose="02020603050405020304" pitchFamily="18" charset="0"/>
                <a:cs typeface="Times New Roman" panose="02020603050405020304" pitchFamily="18" charset="0"/>
              </a:rPr>
              <a:t>Scope. </a:t>
            </a:r>
            <a:r>
              <a:rPr lang="en-US" noProof="0" dirty="0">
                <a:latin typeface="Times New Roman" panose="02020603050405020304" pitchFamily="18" charset="0"/>
                <a:cs typeface="Times New Roman" panose="02020603050405020304" pitchFamily="18" charset="0"/>
              </a:rPr>
              <a:t>Includes both the functional and content requirements needed to realize a feature set consistent with the project strategy.</a:t>
            </a:r>
          </a:p>
          <a:p>
            <a:pPr marL="291600" indent="-291600">
              <a:spcBef>
                <a:spcPts val="1000"/>
              </a:spcBef>
              <a:spcAft>
                <a:spcPts val="0"/>
              </a:spcAft>
              <a:buFont typeface="Arial" panose="020B0604020202020204" pitchFamily="34" charset="0"/>
              <a:buChar char="•"/>
            </a:pPr>
            <a:r>
              <a:rPr lang="en-US" b="1" noProof="0" dirty="0">
                <a:latin typeface="Times New Roman" panose="02020603050405020304" pitchFamily="18" charset="0"/>
                <a:cs typeface="Times New Roman" panose="02020603050405020304" pitchFamily="18" charset="0"/>
              </a:rPr>
              <a:t>Structure. </a:t>
            </a:r>
            <a:r>
              <a:rPr lang="en-US" noProof="0" dirty="0">
                <a:latin typeface="Times New Roman" panose="02020603050405020304" pitchFamily="18" charset="0"/>
                <a:cs typeface="Times New Roman" panose="02020603050405020304" pitchFamily="18" charset="0"/>
              </a:rPr>
              <a:t>Consists of the interaction design [For example, how the system reacts in response to user action] and information architecture.</a:t>
            </a:r>
          </a:p>
          <a:p>
            <a:pPr marL="291600" indent="-291600">
              <a:spcBef>
                <a:spcPts val="1000"/>
              </a:spcBef>
              <a:spcAft>
                <a:spcPts val="0"/>
              </a:spcAft>
              <a:buFont typeface="Arial" panose="020B0604020202020204" pitchFamily="34" charset="0"/>
              <a:buChar char="•"/>
            </a:pPr>
            <a:r>
              <a:rPr lang="en-US" b="1" noProof="0" dirty="0">
                <a:latin typeface="Times New Roman" panose="02020603050405020304" pitchFamily="18" charset="0"/>
                <a:cs typeface="Times New Roman" panose="02020603050405020304" pitchFamily="18" charset="0"/>
              </a:rPr>
              <a:t>Skeleton. </a:t>
            </a:r>
            <a:r>
              <a:rPr lang="en-US" noProof="0" dirty="0">
                <a:latin typeface="Times New Roman" panose="02020603050405020304" pitchFamily="18" charset="0"/>
                <a:cs typeface="Times New Roman" panose="02020603050405020304" pitchFamily="18" charset="0"/>
              </a:rPr>
              <a:t>Comprised of three components: information design, interface design, navigation design.</a:t>
            </a:r>
          </a:p>
          <a:p>
            <a:pPr marL="291600" indent="-291600">
              <a:spcBef>
                <a:spcPts val="1000"/>
              </a:spcBef>
              <a:spcAft>
                <a:spcPts val="0"/>
              </a:spcAft>
              <a:buFont typeface="Arial" panose="020B0604020202020204" pitchFamily="34" charset="0"/>
              <a:buChar char="•"/>
            </a:pPr>
            <a:r>
              <a:rPr lang="en-US" b="1" noProof="0" dirty="0">
                <a:latin typeface="Times New Roman" panose="02020603050405020304" pitchFamily="18" charset="0"/>
                <a:cs typeface="Times New Roman" panose="02020603050405020304" pitchFamily="18" charset="0"/>
              </a:rPr>
              <a:t>Surface. </a:t>
            </a:r>
            <a:r>
              <a:rPr lang="en-US" noProof="0" dirty="0">
                <a:latin typeface="Times New Roman" panose="02020603050405020304" pitchFamily="18" charset="0"/>
                <a:cs typeface="Times New Roman" panose="02020603050405020304" pitchFamily="18" charset="0"/>
              </a:rPr>
              <a:t>Presents visual design or the appearance of the finished project to its users.</a:t>
            </a:r>
            <a:endParaRPr lang="en-US" sz="16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800" b="0" i="0" u="none" strike="noStrike" kern="1200" cap="none" spc="0" normalizeH="0" baseline="0" noProof="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406578439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User Experience Design Elements </a:t>
            </a:r>
            <a:r>
              <a:rPr lang="en-US" sz="1000" b="0" noProof="0" dirty="0">
                <a:latin typeface="Times New Roman" panose="02020603050405020304" pitchFamily="18" charset="0"/>
                <a:cs typeface="Times New Roman" panose="02020603050405020304" pitchFamily="18" charset="0"/>
              </a:rPr>
              <a:t>2</a:t>
            </a:r>
          </a:p>
        </p:txBody>
      </p:sp>
      <p:pic>
        <p:nvPicPr>
          <p:cNvPr id="5" name="Picture 4" descr="An illustration displays user experience design elements. ">
            <a:extLst>
              <a:ext uri="{FF2B5EF4-FFF2-40B4-BE49-F238E27FC236}">
                <a16:creationId xmlns:a16="http://schemas.microsoft.com/office/drawing/2014/main" id="{8BD33C66-912C-4642-B230-B330BC6304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9913" y="1340793"/>
            <a:ext cx="6348682" cy="4594443"/>
          </a:xfrm>
          <a:prstGeom prst="rect">
            <a:avLst/>
          </a:prstGeom>
        </p:spPr>
      </p:pic>
      <p:sp>
        <p:nvSpPr>
          <p:cNvPr id="6" name="Text Placeholder 5">
            <a:extLst>
              <a:ext uri="{FF2B5EF4-FFF2-40B4-BE49-F238E27FC236}">
                <a16:creationId xmlns:a16="http://schemas.microsoft.com/office/drawing/2014/main" id="{11C9690A-FFD5-47CB-95EE-FD3DE9D1F19F}"/>
              </a:ext>
            </a:extLst>
          </p:cNvPr>
          <p:cNvSpPr>
            <a:spLocks noGrp="1"/>
          </p:cNvSpPr>
          <p:nvPr>
            <p:ph type="body" sz="quarter" idx="12"/>
          </p:nvPr>
        </p:nvSpPr>
        <p:spPr>
          <a:xfrm>
            <a:off x="2714171" y="6292618"/>
            <a:ext cx="3060265" cy="222482"/>
          </a:xfrm>
        </p:spPr>
        <p:txBody>
          <a:bodyPr/>
          <a:lstStyle/>
          <a:p>
            <a:r>
              <a:rPr lang="en-US" sz="1200" noProof="0" dirty="0">
                <a:latin typeface="Times New Roman" panose="02020603050405020304" pitchFamily="18" charset="0"/>
                <a:cs typeface="Times New Roman" panose="02020603050405020304" pitchFamily="18" charset="0"/>
                <a:hlinkClick r:id="rId3" action="ppaction://hlinksldjump"/>
              </a:rPr>
              <a:t>Access the text alternative for slide images.</a:t>
            </a:r>
            <a:endParaRPr lang="en-US" sz="12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800" b="0" i="0" u="none" strike="noStrike" kern="1200" cap="none" spc="0" normalizeH="0" baseline="0" noProof="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3896988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Golden Rule 1: Place User in Control</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30988"/>
            <a:ext cx="8458200" cy="4630316"/>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defRPr/>
            </a:pPr>
            <a:r>
              <a:rPr lang="en-US" sz="2400" noProof="0" dirty="0">
                <a:latin typeface="Times New Roman" panose="02020603050405020304" pitchFamily="18" charset="0"/>
                <a:ea typeface="ＭＳ Ｐゴシック" pitchFamily="-128" charset="-128"/>
                <a:cs typeface="Times New Roman" panose="02020603050405020304" pitchFamily="18" charset="0"/>
              </a:rPr>
              <a:t>Define interaction modes in a way that does not force a user into unnecessary or undesired actions. </a:t>
            </a:r>
          </a:p>
          <a:p>
            <a:pPr marL="291600" indent="-291600">
              <a:spcBef>
                <a:spcPts val="1000"/>
              </a:spcBef>
              <a:spcAft>
                <a:spcPts val="0"/>
              </a:spcAft>
              <a:buFont typeface="Arial" panose="020B0604020202020204" pitchFamily="34" charset="0"/>
              <a:buChar char="•"/>
              <a:defRPr/>
            </a:pPr>
            <a:r>
              <a:rPr lang="en-US" sz="2400" noProof="0" dirty="0">
                <a:latin typeface="Times New Roman" panose="02020603050405020304" pitchFamily="18" charset="0"/>
                <a:ea typeface="ＭＳ Ｐゴシック" pitchFamily="-128" charset="-128"/>
                <a:cs typeface="Times New Roman" panose="02020603050405020304" pitchFamily="18" charset="0"/>
              </a:rPr>
              <a:t>Provide for flexible interaction. </a:t>
            </a:r>
          </a:p>
          <a:p>
            <a:pPr marL="291600" indent="-291600">
              <a:spcBef>
                <a:spcPts val="1000"/>
              </a:spcBef>
              <a:spcAft>
                <a:spcPts val="0"/>
              </a:spcAft>
              <a:buFont typeface="Arial" panose="020B0604020202020204" pitchFamily="34" charset="0"/>
              <a:buChar char="•"/>
              <a:defRPr/>
            </a:pPr>
            <a:r>
              <a:rPr lang="en-US" sz="2400" noProof="0" dirty="0">
                <a:latin typeface="Times New Roman" panose="02020603050405020304" pitchFamily="18" charset="0"/>
                <a:ea typeface="ＭＳ Ｐゴシック" pitchFamily="-128" charset="-128"/>
                <a:cs typeface="Times New Roman" panose="02020603050405020304" pitchFamily="18" charset="0"/>
              </a:rPr>
              <a:t>Allow user interaction to be interruptible and undoable. </a:t>
            </a:r>
          </a:p>
          <a:p>
            <a:pPr marL="291600" indent="-291600">
              <a:spcBef>
                <a:spcPts val="1000"/>
              </a:spcBef>
              <a:spcAft>
                <a:spcPts val="0"/>
              </a:spcAft>
              <a:buFont typeface="Arial" panose="020B0604020202020204" pitchFamily="34" charset="0"/>
              <a:buChar char="•"/>
              <a:defRPr/>
            </a:pPr>
            <a:r>
              <a:rPr lang="en-US" sz="2400" noProof="0" dirty="0">
                <a:latin typeface="Times New Roman" panose="02020603050405020304" pitchFamily="18" charset="0"/>
                <a:ea typeface="ＭＳ Ｐゴシック" pitchFamily="-128" charset="-128"/>
                <a:cs typeface="Times New Roman" panose="02020603050405020304" pitchFamily="18" charset="0"/>
              </a:rPr>
              <a:t>Streamline interaction as skill levels advance and allow the interaction to be customized.  </a:t>
            </a:r>
          </a:p>
          <a:p>
            <a:pPr marL="291600" indent="-291600">
              <a:spcBef>
                <a:spcPts val="1000"/>
              </a:spcBef>
              <a:spcAft>
                <a:spcPts val="0"/>
              </a:spcAft>
              <a:buFont typeface="Arial" panose="020B0604020202020204" pitchFamily="34" charset="0"/>
              <a:buChar char="•"/>
              <a:defRPr/>
            </a:pPr>
            <a:r>
              <a:rPr lang="en-US" sz="2400" noProof="0" dirty="0">
                <a:latin typeface="Times New Roman" panose="02020603050405020304" pitchFamily="18" charset="0"/>
                <a:ea typeface="ＭＳ Ｐゴシック" pitchFamily="-128" charset="-128"/>
                <a:cs typeface="Times New Roman" panose="02020603050405020304" pitchFamily="18" charset="0"/>
              </a:rPr>
              <a:t>Hide technical internals from the casual user. </a:t>
            </a:r>
          </a:p>
          <a:p>
            <a:pPr marL="291600" indent="-291600">
              <a:spcBef>
                <a:spcPts val="1000"/>
              </a:spcBef>
              <a:spcAft>
                <a:spcPts val="0"/>
              </a:spcAft>
              <a:buFont typeface="Arial" panose="020B0604020202020204" pitchFamily="34" charset="0"/>
              <a:buChar char="•"/>
              <a:defRPr/>
            </a:pPr>
            <a:r>
              <a:rPr lang="en-US" sz="2400" noProof="0" dirty="0">
                <a:latin typeface="Times New Roman" panose="02020603050405020304" pitchFamily="18" charset="0"/>
                <a:ea typeface="ＭＳ Ｐゴシック" pitchFamily="-128" charset="-128"/>
                <a:cs typeface="Times New Roman" panose="02020603050405020304" pitchFamily="18" charset="0"/>
              </a:rPr>
              <a:t>Design for direct interaction with screen objects. </a:t>
            </a:r>
            <a:endParaRPr lang="en-US"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800" b="0" i="0" u="none" strike="noStrike" kern="1200" cap="none" spc="0" normalizeH="0" baseline="0" noProof="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0461633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70114"/>
            <a:ext cx="8283512" cy="1079863"/>
          </a:xfrm>
        </p:spPr>
        <p:txBody>
          <a:bodyPr>
            <a:noAutofit/>
          </a:bodyPr>
          <a:lstStyle/>
          <a:p>
            <a:r>
              <a:rPr lang="en-US" sz="4000" noProof="0" dirty="0">
                <a:latin typeface="Times New Roman" panose="02020603050405020304" pitchFamily="18" charset="0"/>
                <a:cs typeface="Times New Roman" panose="02020603050405020304" pitchFamily="18" charset="0"/>
              </a:rPr>
              <a:t>Golden Rule 2: Reduce User’s Memory Load</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609815"/>
            <a:ext cx="8228648" cy="3589206"/>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defRPr/>
            </a:pPr>
            <a:r>
              <a:rPr lang="en-US" sz="2400" noProof="0" dirty="0">
                <a:effectLst>
                  <a:outerShdw blurRad="38100" dist="38100" dir="2700000" algn="tl">
                    <a:srgbClr val="FFFFFF"/>
                  </a:outerShdw>
                </a:effectLst>
                <a:latin typeface="Times New Roman" panose="02020603050405020304" pitchFamily="18" charset="0"/>
                <a:ea typeface="ＭＳ Ｐゴシック" pitchFamily="-128" charset="-128"/>
                <a:cs typeface="Times New Roman" panose="02020603050405020304" pitchFamily="18" charset="0"/>
              </a:rPr>
              <a:t>Reduce demand on short-term memory. </a:t>
            </a:r>
          </a:p>
          <a:p>
            <a:pPr marL="291600" indent="-291600">
              <a:spcBef>
                <a:spcPts val="1000"/>
              </a:spcBef>
              <a:spcAft>
                <a:spcPts val="0"/>
              </a:spcAft>
              <a:buFont typeface="Arial" panose="020B0604020202020204" pitchFamily="34" charset="0"/>
              <a:buChar char="•"/>
              <a:defRPr/>
            </a:pPr>
            <a:r>
              <a:rPr lang="en-US" sz="2400" noProof="0" dirty="0">
                <a:effectLst>
                  <a:outerShdw blurRad="38100" dist="38100" dir="2700000" algn="tl">
                    <a:srgbClr val="FFFFFF"/>
                  </a:outerShdw>
                </a:effectLst>
                <a:latin typeface="Times New Roman" panose="02020603050405020304" pitchFamily="18" charset="0"/>
                <a:ea typeface="ＭＳ Ｐゴシック" pitchFamily="-128" charset="-128"/>
                <a:cs typeface="Times New Roman" panose="02020603050405020304" pitchFamily="18" charset="0"/>
              </a:rPr>
              <a:t>Establish meaningful defaults.  </a:t>
            </a:r>
          </a:p>
          <a:p>
            <a:pPr marL="291600" indent="-291600">
              <a:spcBef>
                <a:spcPts val="1000"/>
              </a:spcBef>
              <a:spcAft>
                <a:spcPts val="0"/>
              </a:spcAft>
              <a:buFont typeface="Arial" panose="020B0604020202020204" pitchFamily="34" charset="0"/>
              <a:buChar char="•"/>
              <a:defRPr/>
            </a:pPr>
            <a:r>
              <a:rPr lang="en-US" sz="2400" noProof="0" dirty="0">
                <a:effectLst>
                  <a:outerShdw blurRad="38100" dist="38100" dir="2700000" algn="tl">
                    <a:srgbClr val="FFFFFF"/>
                  </a:outerShdw>
                </a:effectLst>
                <a:latin typeface="Times New Roman" panose="02020603050405020304" pitchFamily="18" charset="0"/>
                <a:ea typeface="ＭＳ Ｐゴシック" pitchFamily="-128" charset="-128"/>
                <a:cs typeface="Times New Roman" panose="02020603050405020304" pitchFamily="18" charset="0"/>
              </a:rPr>
              <a:t>Define shortcuts that are intuitive. </a:t>
            </a:r>
          </a:p>
          <a:p>
            <a:pPr marL="291600" indent="-291600">
              <a:spcBef>
                <a:spcPts val="1000"/>
              </a:spcBef>
              <a:spcAft>
                <a:spcPts val="0"/>
              </a:spcAft>
              <a:buFont typeface="Arial" panose="020B0604020202020204" pitchFamily="34" charset="0"/>
              <a:buChar char="•"/>
              <a:defRPr/>
            </a:pPr>
            <a:r>
              <a:rPr lang="en-US" sz="2400" noProof="0" dirty="0">
                <a:effectLst>
                  <a:outerShdw blurRad="38100" dist="38100" dir="2700000" algn="tl">
                    <a:srgbClr val="FFFFFF"/>
                  </a:outerShdw>
                </a:effectLst>
                <a:latin typeface="Times New Roman" panose="02020603050405020304" pitchFamily="18" charset="0"/>
                <a:ea typeface="ＭＳ Ｐゴシック" pitchFamily="-128" charset="-128"/>
                <a:cs typeface="Times New Roman" panose="02020603050405020304" pitchFamily="18" charset="0"/>
              </a:rPr>
              <a:t>The visual layout of the interface should be based on a real-world metaphor. </a:t>
            </a:r>
          </a:p>
          <a:p>
            <a:pPr marL="291600" indent="-291600">
              <a:spcBef>
                <a:spcPts val="1000"/>
              </a:spcBef>
              <a:spcAft>
                <a:spcPts val="0"/>
              </a:spcAft>
              <a:buFont typeface="Arial" panose="020B0604020202020204" pitchFamily="34" charset="0"/>
              <a:buChar char="•"/>
              <a:defRPr/>
            </a:pPr>
            <a:r>
              <a:rPr lang="en-US" sz="2400" noProof="0" dirty="0">
                <a:effectLst>
                  <a:outerShdw blurRad="38100" dist="38100" dir="2700000" algn="tl">
                    <a:srgbClr val="FFFFFF"/>
                  </a:outerShdw>
                </a:effectLst>
                <a:latin typeface="Times New Roman" panose="02020603050405020304" pitchFamily="18" charset="0"/>
                <a:ea typeface="ＭＳ Ｐゴシック" pitchFamily="-128" charset="-128"/>
                <a:cs typeface="Times New Roman" panose="02020603050405020304" pitchFamily="18" charset="0"/>
              </a:rPr>
              <a:t>Disclose information in a progressive fashion.</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800" b="0" i="0" u="none" strike="noStrike" kern="1200" cap="none" spc="0" normalizeH="0" baseline="0" noProof="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42541513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80048" y="357052"/>
            <a:ext cx="8246364" cy="1109070"/>
          </a:xfrm>
        </p:spPr>
        <p:txBody>
          <a:bodyPr>
            <a:noAutofit/>
          </a:bodyPr>
          <a:lstStyle/>
          <a:p>
            <a:r>
              <a:rPr lang="en-US" sz="4000" noProof="0" dirty="0">
                <a:latin typeface="Times New Roman" panose="02020603050405020304" pitchFamily="18" charset="0"/>
                <a:cs typeface="Times New Roman" panose="02020603050405020304" pitchFamily="18" charset="0"/>
              </a:rPr>
              <a:t>Golden Rule 3: Make Interface Consistent</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80048" y="1614168"/>
            <a:ext cx="8246364" cy="2570301"/>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defRPr/>
            </a:pPr>
            <a:r>
              <a:rPr lang="en-US" sz="2400" noProof="0" dirty="0">
                <a:effectLst>
                  <a:outerShdw blurRad="38100" dist="38100" dir="2700000" algn="tl">
                    <a:srgbClr val="FFFFFF"/>
                  </a:outerShdw>
                </a:effectLst>
                <a:latin typeface="Times New Roman" panose="02020603050405020304" pitchFamily="18" charset="0"/>
                <a:ea typeface="ＭＳ Ｐゴシック" pitchFamily="-128" charset="-128"/>
                <a:cs typeface="Times New Roman" panose="02020603050405020304" pitchFamily="18" charset="0"/>
              </a:rPr>
              <a:t>Allow the user to put the current task into a meaningful context. </a:t>
            </a:r>
          </a:p>
          <a:p>
            <a:pPr marL="291600" indent="-291600">
              <a:spcBef>
                <a:spcPts val="1000"/>
              </a:spcBef>
              <a:spcAft>
                <a:spcPts val="0"/>
              </a:spcAft>
              <a:buFont typeface="Arial" panose="020B0604020202020204" pitchFamily="34" charset="0"/>
              <a:buChar char="•"/>
              <a:defRPr/>
            </a:pPr>
            <a:r>
              <a:rPr lang="en-US" sz="2400" noProof="0" dirty="0">
                <a:effectLst>
                  <a:outerShdw blurRad="38100" dist="38100" dir="2700000" algn="tl">
                    <a:srgbClr val="FFFFFF"/>
                  </a:outerShdw>
                </a:effectLst>
                <a:latin typeface="Times New Roman" panose="02020603050405020304" pitchFamily="18" charset="0"/>
                <a:ea typeface="ＭＳ Ｐゴシック" pitchFamily="-128" charset="-128"/>
                <a:cs typeface="Times New Roman" panose="02020603050405020304" pitchFamily="18" charset="0"/>
              </a:rPr>
              <a:t>Maintain consistency across a family of applications. </a:t>
            </a:r>
          </a:p>
          <a:p>
            <a:pPr marL="291600" indent="-291600">
              <a:spcBef>
                <a:spcPts val="1000"/>
              </a:spcBef>
              <a:spcAft>
                <a:spcPts val="0"/>
              </a:spcAft>
              <a:buFont typeface="Arial" panose="020B0604020202020204" pitchFamily="34" charset="0"/>
              <a:buChar char="•"/>
              <a:defRPr/>
            </a:pPr>
            <a:r>
              <a:rPr lang="en-US" sz="2400" noProof="0" dirty="0">
                <a:effectLst>
                  <a:outerShdw blurRad="38100" dist="38100" dir="2700000" algn="tl">
                    <a:srgbClr val="FFFFFF"/>
                  </a:outerShdw>
                </a:effectLst>
                <a:latin typeface="Times New Roman" panose="02020603050405020304" pitchFamily="18" charset="0"/>
                <a:ea typeface="ＭＳ Ｐゴシック" pitchFamily="-128" charset="-128"/>
                <a:cs typeface="Times New Roman" panose="02020603050405020304" pitchFamily="18" charset="0"/>
              </a:rPr>
              <a:t>If past interactive models have created user expectations, do not make changes unless there is a compelling reason to do so. </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800" b="0" i="0" u="none" strike="noStrike" kern="1200" cap="none" spc="0" normalizeH="0" baseline="0" noProof="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84540965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a:solidFill>
                  <a:schemeClr val="tx1"/>
                </a:solidFill>
                <a:latin typeface="Times New Roman" panose="02020603050405020304" pitchFamily="18" charset="0"/>
                <a:cs typeface="Times New Roman" panose="02020603050405020304" pitchFamily="18" charset="0"/>
              </a:rPr>
              <a:t>Context-Aware Apps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p:txBody>
          <a:bodyPr vert="horz" lIns="91440" tIns="45720" rIns="91440" bIns="45720" rtlCol="0">
            <a:noAutofit/>
          </a:bodyPr>
          <a:lstStyle/>
          <a:p>
            <a:pPr marL="291600" indent="-291600">
              <a:lnSpc>
                <a:spcPct val="90000"/>
              </a:lnSpc>
              <a:spcBef>
                <a:spcPts val="1000"/>
              </a:spcBef>
              <a:spcAft>
                <a:spcPts val="0"/>
              </a:spcAft>
              <a:buFont typeface="Arial" panose="020B0604020202020204" pitchFamily="34" charset="0"/>
              <a:buChar char="•"/>
            </a:pPr>
            <a:r>
              <a:rPr lang="en-US" noProof="0">
                <a:solidFill>
                  <a:schemeClr val="tx1"/>
                </a:solidFill>
                <a:latin typeface="Times New Roman" panose="02020603050405020304" pitchFamily="18" charset="0"/>
                <a:cs typeface="Times New Roman" panose="02020603050405020304" pitchFamily="18" charset="0"/>
              </a:rPr>
              <a:t>Context allows the creation of apps based on the location of the mobile device and the device functionality to be delivered.</a:t>
            </a:r>
          </a:p>
          <a:p>
            <a:pPr marL="291600" indent="-291600">
              <a:lnSpc>
                <a:spcPct val="90000"/>
              </a:lnSpc>
              <a:spcBef>
                <a:spcPts val="1000"/>
              </a:spcBef>
              <a:spcAft>
                <a:spcPts val="0"/>
              </a:spcAft>
              <a:buFont typeface="Arial" panose="020B0604020202020204" pitchFamily="34" charset="0"/>
              <a:buChar char="•"/>
            </a:pPr>
            <a:r>
              <a:rPr lang="en-US" noProof="0">
                <a:solidFill>
                  <a:schemeClr val="tx1"/>
                </a:solidFill>
                <a:latin typeface="Times New Roman" panose="02020603050405020304" pitchFamily="18" charset="0"/>
                <a:cs typeface="Times New Roman" panose="02020603050405020304" pitchFamily="18" charset="0"/>
              </a:rPr>
              <a:t>Context helps tailor personal computer apps for mobile devices.</a:t>
            </a:r>
          </a:p>
          <a:p>
            <a:pPr marL="291600" indent="-291600">
              <a:lnSpc>
                <a:spcPct val="90000"/>
              </a:lnSpc>
              <a:spcBef>
                <a:spcPts val="1000"/>
              </a:spcBef>
              <a:spcAft>
                <a:spcPts val="0"/>
              </a:spcAft>
              <a:buFont typeface="Arial" panose="020B0604020202020204" pitchFamily="34" charset="0"/>
              <a:buChar char="•"/>
            </a:pPr>
            <a:r>
              <a:rPr lang="en-US" noProof="0">
                <a:solidFill>
                  <a:schemeClr val="tx1"/>
                </a:solidFill>
                <a:latin typeface="Times New Roman" panose="02020603050405020304" pitchFamily="18" charset="0"/>
                <a:cs typeface="Times New Roman" panose="02020603050405020304" pitchFamily="18" charset="0"/>
              </a:rPr>
              <a:t>Mobile computing merges real and virtual worlds by allowing devices to be aware of other objects and its surroundings.</a:t>
            </a:r>
          </a:p>
          <a:p>
            <a:pPr marL="291600" indent="-291600">
              <a:lnSpc>
                <a:spcPct val="90000"/>
              </a:lnSpc>
              <a:spcBef>
                <a:spcPts val="1000"/>
              </a:spcBef>
              <a:spcAft>
                <a:spcPts val="0"/>
              </a:spcAft>
              <a:buFont typeface="Arial" panose="020B0604020202020204" pitchFamily="34" charset="0"/>
              <a:buChar char="•"/>
            </a:pPr>
            <a:r>
              <a:rPr lang="en-US" noProof="0">
                <a:solidFill>
                  <a:schemeClr val="tx1"/>
                </a:solidFill>
                <a:latin typeface="Times New Roman" panose="02020603050405020304" pitchFamily="18" charset="0"/>
                <a:cs typeface="Times New Roman" panose="02020603050405020304" pitchFamily="18" charset="0"/>
              </a:rPr>
              <a:t>Device must detect the presence and identity of a user, as well as the attributes of the context that are relevant for that user.</a:t>
            </a:r>
          </a:p>
          <a:p>
            <a:pPr marL="291600" indent="-291600">
              <a:lnSpc>
                <a:spcPct val="90000"/>
              </a:lnSpc>
              <a:spcBef>
                <a:spcPts val="1000"/>
              </a:spcBef>
              <a:spcAft>
                <a:spcPts val="0"/>
              </a:spcAft>
              <a:buFont typeface="Arial" panose="020B0604020202020204" pitchFamily="34" charset="0"/>
              <a:buChar char="•"/>
            </a:pPr>
            <a:r>
              <a:rPr lang="en-US" noProof="0">
                <a:solidFill>
                  <a:schemeClr val="tx1"/>
                </a:solidFill>
                <a:latin typeface="Times New Roman" panose="02020603050405020304" pitchFamily="18" charset="0"/>
                <a:cs typeface="Times New Roman" panose="02020603050405020304" pitchFamily="18" charset="0"/>
              </a:rPr>
              <a:t>Extracting relevant context information from several sensors is challenging </a:t>
            </a:r>
            <a:r>
              <a:rPr lang="en-US" noProof="0">
                <a:solidFill>
                  <a:schemeClr val="tx1"/>
                </a:solidFill>
              </a:rPr>
              <a:t>(for example: </a:t>
            </a:r>
            <a:r>
              <a:rPr lang="en-US" noProof="0">
                <a:solidFill>
                  <a:schemeClr val="tx1"/>
                </a:solidFill>
                <a:latin typeface="Times New Roman" panose="02020603050405020304" pitchFamily="18" charset="0"/>
                <a:cs typeface="Times New Roman" panose="02020603050405020304" pitchFamily="18" charset="0"/>
              </a:rPr>
              <a:t>noise, miscalibration, wear and tear, weather). </a:t>
            </a:r>
          </a:p>
          <a:p>
            <a:pPr marL="291600" indent="-291600">
              <a:lnSpc>
                <a:spcPct val="90000"/>
              </a:lnSpc>
              <a:spcBef>
                <a:spcPts val="1000"/>
              </a:spcBef>
              <a:spcAft>
                <a:spcPts val="0"/>
              </a:spcAft>
              <a:buFont typeface="Arial" panose="020B0604020202020204" pitchFamily="34" charset="0"/>
              <a:buChar char="•"/>
            </a:pPr>
            <a:r>
              <a:rPr lang="en-US" noProof="0">
                <a:solidFill>
                  <a:schemeClr val="tx1"/>
                </a:solidFill>
                <a:latin typeface="Times New Roman" panose="02020603050405020304" pitchFamily="18" charset="0"/>
                <a:cs typeface="Times New Roman" panose="02020603050405020304" pitchFamily="18" charset="0"/>
              </a:rPr>
              <a:t>Event-based communication is preferable to the management of continuous streams of high-abstraction-level data in context-aware applications.</a:t>
            </a:r>
            <a:endParaRPr lang="en-US" b="1" noProof="0">
              <a:solidFill>
                <a:schemeClr val="tx1"/>
              </a:solidFill>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800" b="0" i="0" u="none" strike="noStrike" kern="1200" cap="none" spc="0" normalizeH="0" baseline="0" noProof="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8103522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Reviews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2682732"/>
          </a:xfrm>
        </p:spPr>
        <p:txBody>
          <a:bodyPr vert="horz" lIns="91440" tIns="45720" rIns="91440" bIns="45720" rtlCol="0">
            <a:noAutofit/>
          </a:bodyPr>
          <a:lstStyle/>
          <a:p>
            <a:pPr>
              <a:lnSpc>
                <a:spcPct val="90000"/>
              </a:lnSpc>
            </a:pPr>
            <a:r>
              <a:rPr lang="en-US" altLang="en-US" sz="2400" noProof="0" dirty="0">
                <a:latin typeface="Times New Roman" panose="02020603050405020304" pitchFamily="18" charset="0"/>
                <a:cs typeface="Times New Roman" panose="02020603050405020304" pitchFamily="18" charset="0"/>
              </a:rPr>
              <a:t>What are they?</a:t>
            </a:r>
          </a:p>
          <a:p>
            <a:pPr marL="291600" indent="-291600">
              <a:lnSpc>
                <a:spcPct val="90000"/>
              </a:lnSpc>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A meeting conducted by technical people.</a:t>
            </a:r>
          </a:p>
          <a:p>
            <a:pPr marL="291600" indent="-291600">
              <a:lnSpc>
                <a:spcPct val="90000"/>
              </a:lnSpc>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A technical assessment of a work product created during the software engineering process.</a:t>
            </a:r>
          </a:p>
          <a:p>
            <a:pPr marL="291600" indent="-291600">
              <a:lnSpc>
                <a:spcPct val="90000"/>
              </a:lnSpc>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A software quality assurance mechanism.</a:t>
            </a:r>
          </a:p>
          <a:p>
            <a:pPr marL="291600" indent="-291600">
              <a:lnSpc>
                <a:spcPct val="90000"/>
              </a:lnSpc>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A training ground.</a:t>
            </a:r>
          </a:p>
        </p:txBody>
      </p:sp>
      <p:sp>
        <p:nvSpPr>
          <p:cNvPr id="11" name="Content Placeholder 10"/>
          <p:cNvSpPr>
            <a:spLocks noGrp="1"/>
          </p:cNvSpPr>
          <p:nvPr>
            <p:ph sz="quarter" idx="16"/>
          </p:nvPr>
        </p:nvSpPr>
        <p:spPr>
          <a:xfrm>
            <a:off x="342900" y="4163625"/>
            <a:ext cx="8458200" cy="2119943"/>
          </a:xfrm>
        </p:spPr>
        <p:txBody>
          <a:bodyPr>
            <a:normAutofit/>
          </a:bodyPr>
          <a:lstStyle/>
          <a:p>
            <a:pPr>
              <a:lnSpc>
                <a:spcPct val="90000"/>
              </a:lnSpc>
            </a:pPr>
            <a:r>
              <a:rPr lang="en-US" sz="2400" noProof="0" dirty="0">
                <a:latin typeface="Times New Roman" panose="02020603050405020304" pitchFamily="18" charset="0"/>
                <a:cs typeface="Times New Roman" panose="02020603050405020304" pitchFamily="18" charset="0"/>
              </a:rPr>
              <a:t>What they are not!</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A project summary or progress assessment.</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A meeting intended solely to impart information.</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A mechanism for political or personal reprisal!</a:t>
            </a:r>
            <a:endParaRPr lang="en-US" sz="2400" noProof="0" dirty="0"/>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800" b="0" i="0" u="none" strike="noStrike" kern="1200" cap="none" spc="0" normalizeH="0" baseline="0" noProof="0" dirty="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5838216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Formal Technical Reviews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8"/>
            <a:ext cx="8383850" cy="3641521"/>
          </a:xfrm>
        </p:spPr>
        <p:txBody>
          <a:bodyPr vert="horz" lIns="91440" tIns="45720" rIns="91440" bIns="45720" rtlCol="0">
            <a:noAutofit/>
          </a:bodyPr>
          <a:lstStyle/>
          <a:p>
            <a:r>
              <a:rPr lang="en-US" altLang="en-US" sz="2400" noProof="0" dirty="0">
                <a:latin typeface="Times New Roman" panose="02020603050405020304" pitchFamily="18" charset="0"/>
                <a:cs typeface="Times New Roman" panose="02020603050405020304" pitchFamily="18" charset="0"/>
              </a:rPr>
              <a:t>The objectives of an F</a:t>
            </a:r>
            <a:r>
              <a:rPr lang="en-US" altLang="en-US" sz="100" noProof="0" dirty="0">
                <a:latin typeface="Times New Roman" panose="02020603050405020304" pitchFamily="18" charset="0"/>
                <a:cs typeface="Times New Roman" panose="02020603050405020304" pitchFamily="18" charset="0"/>
              </a:rPr>
              <a:t> </a:t>
            </a:r>
            <a:r>
              <a:rPr lang="en-US" altLang="en-US" sz="2400" noProof="0" dirty="0">
                <a:latin typeface="Times New Roman" panose="02020603050405020304" pitchFamily="18" charset="0"/>
                <a:cs typeface="Times New Roman" panose="02020603050405020304" pitchFamily="18" charset="0"/>
              </a:rPr>
              <a:t>T</a:t>
            </a:r>
            <a:r>
              <a:rPr lang="en-US" altLang="en-US" sz="100" noProof="0" dirty="0">
                <a:latin typeface="Times New Roman" panose="02020603050405020304" pitchFamily="18" charset="0"/>
                <a:cs typeface="Times New Roman" panose="02020603050405020304" pitchFamily="18" charset="0"/>
              </a:rPr>
              <a:t> </a:t>
            </a:r>
            <a:r>
              <a:rPr lang="en-US" altLang="en-US" sz="2400" noProof="0" dirty="0">
                <a:latin typeface="Times New Roman" panose="02020603050405020304" pitchFamily="18" charset="0"/>
                <a:cs typeface="Times New Roman" panose="02020603050405020304" pitchFamily="18" charset="0"/>
              </a:rPr>
              <a:t>R (</a:t>
            </a:r>
            <a:r>
              <a:rPr lang="en-US" altLang="en-US" sz="2400" i="1" noProof="0" dirty="0">
                <a:latin typeface="Times New Roman" panose="02020603050405020304" pitchFamily="18" charset="0"/>
                <a:cs typeface="Times New Roman" panose="02020603050405020304" pitchFamily="18" charset="0"/>
              </a:rPr>
              <a:t>walkthrough</a:t>
            </a:r>
            <a:r>
              <a:rPr lang="en-US" altLang="en-US" sz="2400" noProof="0" dirty="0">
                <a:latin typeface="Times New Roman" panose="02020603050405020304" pitchFamily="18" charset="0"/>
                <a:cs typeface="Times New Roman" panose="02020603050405020304" pitchFamily="18" charset="0"/>
              </a:rPr>
              <a:t> or </a:t>
            </a:r>
            <a:r>
              <a:rPr lang="en-US" altLang="en-US" sz="2400" i="1" noProof="0" dirty="0">
                <a:latin typeface="Times New Roman" panose="02020603050405020304" pitchFamily="18" charset="0"/>
                <a:cs typeface="Times New Roman" panose="02020603050405020304" pitchFamily="18" charset="0"/>
              </a:rPr>
              <a:t>inspection</a:t>
            </a:r>
            <a:r>
              <a:rPr lang="en-US" altLang="en-US" sz="2400" noProof="0" dirty="0">
                <a:latin typeface="Times New Roman" panose="02020603050405020304" pitchFamily="18" charset="0"/>
                <a:cs typeface="Times New Roman" panose="02020603050405020304" pitchFamily="18" charset="0"/>
              </a:rPr>
              <a:t>) are: </a:t>
            </a:r>
          </a:p>
          <a:p>
            <a:pPr marL="403200" lvl="1" indent="-403200">
              <a:lnSpc>
                <a:spcPct val="90000"/>
              </a:lnSpc>
              <a:spcBef>
                <a:spcPts val="1000"/>
              </a:spcBef>
              <a:spcAft>
                <a:spcPts val="0"/>
              </a:spcAft>
              <a:buFont typeface="+mj-lt"/>
              <a:buAutoNum type="arabicPeriod"/>
            </a:pPr>
            <a:r>
              <a:rPr lang="en-US" altLang="en-US" sz="2400" noProof="0" dirty="0">
                <a:latin typeface="Times New Roman" panose="02020603050405020304" pitchFamily="18" charset="0"/>
                <a:cs typeface="Times New Roman" panose="02020603050405020304" pitchFamily="18" charset="0"/>
              </a:rPr>
              <a:t>To uncover errors in function, logic, or implementation for any representation of the software.</a:t>
            </a:r>
          </a:p>
          <a:p>
            <a:pPr marL="403200" lvl="1" indent="-403200">
              <a:lnSpc>
                <a:spcPct val="90000"/>
              </a:lnSpc>
              <a:spcBef>
                <a:spcPts val="1000"/>
              </a:spcBef>
              <a:spcAft>
                <a:spcPts val="0"/>
              </a:spcAft>
              <a:buFont typeface="+mj-lt"/>
              <a:buAutoNum type="arabicPeriod"/>
            </a:pPr>
            <a:r>
              <a:rPr lang="en-US" altLang="en-US" sz="2400" noProof="0" dirty="0">
                <a:latin typeface="Times New Roman" panose="02020603050405020304" pitchFamily="18" charset="0"/>
                <a:cs typeface="Times New Roman" panose="02020603050405020304" pitchFamily="18" charset="0"/>
              </a:rPr>
              <a:t>To verify that the software under review meets its requirements.</a:t>
            </a:r>
          </a:p>
          <a:p>
            <a:pPr marL="403200" lvl="1" indent="-403200">
              <a:lnSpc>
                <a:spcPct val="90000"/>
              </a:lnSpc>
              <a:spcBef>
                <a:spcPts val="1000"/>
              </a:spcBef>
              <a:spcAft>
                <a:spcPts val="0"/>
              </a:spcAft>
              <a:buFont typeface="+mj-lt"/>
              <a:buAutoNum type="arabicPeriod"/>
            </a:pPr>
            <a:r>
              <a:rPr lang="en-US" altLang="en-US" sz="2400" noProof="0" dirty="0">
                <a:latin typeface="Times New Roman" panose="02020603050405020304" pitchFamily="18" charset="0"/>
                <a:cs typeface="Times New Roman" panose="02020603050405020304" pitchFamily="18" charset="0"/>
              </a:rPr>
              <a:t>To ensure that the software has been represented according to predefined standards.</a:t>
            </a:r>
          </a:p>
          <a:p>
            <a:pPr marL="403200" lvl="1" indent="-403200">
              <a:lnSpc>
                <a:spcPct val="90000"/>
              </a:lnSpc>
              <a:spcBef>
                <a:spcPts val="1000"/>
              </a:spcBef>
              <a:spcAft>
                <a:spcPts val="0"/>
              </a:spcAft>
              <a:buFont typeface="+mj-lt"/>
              <a:buAutoNum type="arabicPeriod"/>
            </a:pPr>
            <a:r>
              <a:rPr lang="en-US" altLang="en-US" sz="2400" noProof="0" dirty="0">
                <a:latin typeface="Times New Roman" panose="02020603050405020304" pitchFamily="18" charset="0"/>
                <a:cs typeface="Times New Roman" panose="02020603050405020304" pitchFamily="18" charset="0"/>
              </a:rPr>
              <a:t>To achieve software that is developed in a uniform manner.</a:t>
            </a:r>
          </a:p>
          <a:p>
            <a:pPr marL="403200" lvl="1" indent="-403200">
              <a:lnSpc>
                <a:spcPct val="90000"/>
              </a:lnSpc>
              <a:spcBef>
                <a:spcPts val="1000"/>
              </a:spcBef>
              <a:spcAft>
                <a:spcPts val="0"/>
              </a:spcAft>
              <a:buFont typeface="+mj-lt"/>
              <a:buAutoNum type="arabicPeriod"/>
            </a:pPr>
            <a:r>
              <a:rPr lang="en-US" altLang="en-US" sz="2400" noProof="0" dirty="0">
                <a:latin typeface="Times New Roman" panose="02020603050405020304" pitchFamily="18" charset="0"/>
                <a:cs typeface="Times New Roman" panose="02020603050405020304" pitchFamily="18" charset="0"/>
              </a:rPr>
              <a:t>To make projects more manageable.</a:t>
            </a:r>
            <a:endParaRPr lang="en-US" altLang="en-US" sz="20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800" b="0" i="0" u="none" strike="noStrike" kern="1200" cap="none" spc="0" normalizeH="0" baseline="0" noProof="0" dirty="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4216287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Review Guidelines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283512" cy="4520410"/>
          </a:xfrm>
        </p:spPr>
        <p:txBody>
          <a:bodyPr vert="horz" lIns="91440" tIns="45720" rIns="91440" bIns="45720" rtlCol="0">
            <a:noAutofit/>
          </a:bodyPr>
          <a:lstStyle/>
          <a:p>
            <a:pPr marL="291600" indent="-291600">
              <a:lnSpc>
                <a:spcPct val="90000"/>
              </a:lnSpc>
              <a:spcBef>
                <a:spcPts val="1000"/>
              </a:spcBef>
              <a:spcAft>
                <a:spcPts val="0"/>
              </a:spcAft>
              <a:buFont typeface="Arial" panose="020B0604020202020204" pitchFamily="34" charset="0"/>
              <a:buChar char="•"/>
            </a:pPr>
            <a:r>
              <a:rPr lang="en-US" altLang="en-US" noProof="0" dirty="0">
                <a:latin typeface="Times New Roman" panose="02020603050405020304" pitchFamily="18" charset="0"/>
                <a:cs typeface="Times New Roman" panose="02020603050405020304" pitchFamily="18" charset="0"/>
              </a:rPr>
              <a:t>Review the product, not the producer. </a:t>
            </a:r>
          </a:p>
          <a:p>
            <a:pPr marL="291600" indent="-291600">
              <a:lnSpc>
                <a:spcPct val="90000"/>
              </a:lnSpc>
              <a:spcBef>
                <a:spcPts val="1000"/>
              </a:spcBef>
              <a:spcAft>
                <a:spcPts val="0"/>
              </a:spcAft>
              <a:buFont typeface="Arial" panose="020B0604020202020204" pitchFamily="34" charset="0"/>
              <a:buChar char="•"/>
            </a:pPr>
            <a:r>
              <a:rPr lang="en-US" altLang="en-US" noProof="0" dirty="0">
                <a:latin typeface="Times New Roman" panose="02020603050405020304" pitchFamily="18" charset="0"/>
                <a:cs typeface="Times New Roman" panose="02020603050405020304" pitchFamily="18" charset="0"/>
              </a:rPr>
              <a:t>Set an agenda and maintain it. </a:t>
            </a:r>
          </a:p>
          <a:p>
            <a:pPr marL="291600" indent="-291600">
              <a:lnSpc>
                <a:spcPct val="90000"/>
              </a:lnSpc>
              <a:spcBef>
                <a:spcPts val="1000"/>
              </a:spcBef>
              <a:spcAft>
                <a:spcPts val="0"/>
              </a:spcAft>
              <a:buFont typeface="Arial" panose="020B0604020202020204" pitchFamily="34" charset="0"/>
              <a:buChar char="•"/>
            </a:pPr>
            <a:r>
              <a:rPr lang="en-US" altLang="en-US" noProof="0" dirty="0">
                <a:latin typeface="Times New Roman" panose="02020603050405020304" pitchFamily="18" charset="0"/>
                <a:cs typeface="Times New Roman" panose="02020603050405020304" pitchFamily="18" charset="0"/>
              </a:rPr>
              <a:t>Limit debate and rebuttal. </a:t>
            </a:r>
          </a:p>
          <a:p>
            <a:pPr marL="291600" indent="-291600">
              <a:lnSpc>
                <a:spcPct val="90000"/>
              </a:lnSpc>
              <a:spcBef>
                <a:spcPts val="1000"/>
              </a:spcBef>
              <a:spcAft>
                <a:spcPts val="0"/>
              </a:spcAft>
              <a:buFont typeface="Arial" panose="020B0604020202020204" pitchFamily="34" charset="0"/>
              <a:buChar char="•"/>
            </a:pPr>
            <a:r>
              <a:rPr lang="en-US" altLang="en-US" noProof="0" dirty="0">
                <a:latin typeface="Times New Roman" panose="02020603050405020304" pitchFamily="18" charset="0"/>
                <a:cs typeface="Times New Roman" panose="02020603050405020304" pitchFamily="18" charset="0"/>
              </a:rPr>
              <a:t>Enunciate problem areas, but don’t try to solve every problem noted. </a:t>
            </a:r>
          </a:p>
          <a:p>
            <a:pPr marL="291600" indent="-291600">
              <a:lnSpc>
                <a:spcPct val="90000"/>
              </a:lnSpc>
              <a:spcBef>
                <a:spcPts val="1000"/>
              </a:spcBef>
              <a:spcAft>
                <a:spcPts val="0"/>
              </a:spcAft>
              <a:buFont typeface="Arial" panose="020B0604020202020204" pitchFamily="34" charset="0"/>
              <a:buChar char="•"/>
            </a:pPr>
            <a:r>
              <a:rPr lang="en-US" altLang="en-US" noProof="0" dirty="0">
                <a:latin typeface="Times New Roman" panose="02020603050405020304" pitchFamily="18" charset="0"/>
                <a:cs typeface="Times New Roman" panose="02020603050405020304" pitchFamily="18" charset="0"/>
              </a:rPr>
              <a:t>Take written notes. </a:t>
            </a:r>
          </a:p>
          <a:p>
            <a:pPr marL="291600" indent="-291600">
              <a:lnSpc>
                <a:spcPct val="90000"/>
              </a:lnSpc>
              <a:spcBef>
                <a:spcPts val="1000"/>
              </a:spcBef>
              <a:spcAft>
                <a:spcPts val="0"/>
              </a:spcAft>
              <a:buFont typeface="Arial" panose="020B0604020202020204" pitchFamily="34" charset="0"/>
              <a:buChar char="•"/>
            </a:pPr>
            <a:r>
              <a:rPr lang="en-US" altLang="en-US" noProof="0" dirty="0">
                <a:latin typeface="Times New Roman" panose="02020603050405020304" pitchFamily="18" charset="0"/>
                <a:cs typeface="Times New Roman" panose="02020603050405020304" pitchFamily="18" charset="0"/>
              </a:rPr>
              <a:t>Limit the number of participants and insist upon advance preparation. </a:t>
            </a:r>
          </a:p>
          <a:p>
            <a:pPr marL="291600" indent="-291600">
              <a:lnSpc>
                <a:spcPct val="90000"/>
              </a:lnSpc>
              <a:spcBef>
                <a:spcPts val="1000"/>
              </a:spcBef>
              <a:spcAft>
                <a:spcPts val="0"/>
              </a:spcAft>
              <a:buFont typeface="Arial" panose="020B0604020202020204" pitchFamily="34" charset="0"/>
              <a:buChar char="•"/>
            </a:pPr>
            <a:r>
              <a:rPr lang="en-US" altLang="en-US" noProof="0" dirty="0">
                <a:latin typeface="Times New Roman" panose="02020603050405020304" pitchFamily="18" charset="0"/>
                <a:cs typeface="Times New Roman" panose="02020603050405020304" pitchFamily="18" charset="0"/>
              </a:rPr>
              <a:t>Develop a checklist for each product that is likely to be reviewed. </a:t>
            </a:r>
          </a:p>
          <a:p>
            <a:pPr marL="291600" indent="-291600">
              <a:lnSpc>
                <a:spcPct val="90000"/>
              </a:lnSpc>
              <a:spcBef>
                <a:spcPts val="1000"/>
              </a:spcBef>
              <a:spcAft>
                <a:spcPts val="0"/>
              </a:spcAft>
              <a:buFont typeface="Arial" panose="020B0604020202020204" pitchFamily="34" charset="0"/>
              <a:buChar char="•"/>
            </a:pPr>
            <a:r>
              <a:rPr lang="en-US" altLang="en-US" noProof="0" dirty="0">
                <a:latin typeface="Times New Roman" panose="02020603050405020304" pitchFamily="18" charset="0"/>
                <a:cs typeface="Times New Roman" panose="02020603050405020304" pitchFamily="18" charset="0"/>
              </a:rPr>
              <a:t>Allocate resources and schedule time for F</a:t>
            </a:r>
            <a:r>
              <a:rPr lang="en-US" altLang="en-US" sz="100" noProof="0" dirty="0">
                <a:latin typeface="Times New Roman" panose="02020603050405020304" pitchFamily="18" charset="0"/>
                <a:cs typeface="Times New Roman" panose="02020603050405020304" pitchFamily="18" charset="0"/>
              </a:rPr>
              <a:t> </a:t>
            </a:r>
            <a:r>
              <a:rPr lang="en-US" altLang="en-US" noProof="0" dirty="0">
                <a:latin typeface="Times New Roman" panose="02020603050405020304" pitchFamily="18" charset="0"/>
                <a:cs typeface="Times New Roman" panose="02020603050405020304" pitchFamily="18" charset="0"/>
              </a:rPr>
              <a:t>T</a:t>
            </a:r>
            <a:r>
              <a:rPr lang="en-US" altLang="en-US" sz="100" noProof="0" dirty="0">
                <a:latin typeface="Times New Roman" panose="02020603050405020304" pitchFamily="18" charset="0"/>
                <a:cs typeface="Times New Roman" panose="02020603050405020304" pitchFamily="18" charset="0"/>
              </a:rPr>
              <a:t> </a:t>
            </a:r>
            <a:r>
              <a:rPr lang="en-US" altLang="en-US" noProof="0" dirty="0">
                <a:latin typeface="Times New Roman" panose="02020603050405020304" pitchFamily="18" charset="0"/>
                <a:cs typeface="Times New Roman" panose="02020603050405020304" pitchFamily="18" charset="0"/>
              </a:rPr>
              <a:t>Rs. </a:t>
            </a:r>
          </a:p>
          <a:p>
            <a:pPr marL="291600" indent="-291600">
              <a:lnSpc>
                <a:spcPct val="90000"/>
              </a:lnSpc>
              <a:spcBef>
                <a:spcPts val="1000"/>
              </a:spcBef>
              <a:spcAft>
                <a:spcPts val="0"/>
              </a:spcAft>
              <a:buFont typeface="Arial" panose="020B0604020202020204" pitchFamily="34" charset="0"/>
              <a:buChar char="•"/>
            </a:pPr>
            <a:r>
              <a:rPr lang="en-US" altLang="en-US" noProof="0" dirty="0">
                <a:latin typeface="Times New Roman" panose="02020603050405020304" pitchFamily="18" charset="0"/>
                <a:cs typeface="Times New Roman" panose="02020603050405020304" pitchFamily="18" charset="0"/>
              </a:rPr>
              <a:t>Conduct meaningful training for all reviewers. </a:t>
            </a:r>
          </a:p>
          <a:p>
            <a:pPr marL="291600" indent="-291600">
              <a:lnSpc>
                <a:spcPct val="90000"/>
              </a:lnSpc>
              <a:spcBef>
                <a:spcPts val="1000"/>
              </a:spcBef>
              <a:spcAft>
                <a:spcPts val="0"/>
              </a:spcAft>
              <a:buFont typeface="Arial" panose="020B0604020202020204" pitchFamily="34" charset="0"/>
              <a:buChar char="•"/>
            </a:pPr>
            <a:r>
              <a:rPr lang="en-US" altLang="en-US" noProof="0" dirty="0">
                <a:latin typeface="Times New Roman" panose="02020603050405020304" pitchFamily="18" charset="0"/>
                <a:cs typeface="Times New Roman" panose="02020603050405020304" pitchFamily="18" charset="0"/>
              </a:rPr>
              <a:t>Review your early reviews.</a:t>
            </a:r>
            <a:endParaRPr lang="en-US" altLang="en-US" sz="20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US" sz="800" b="0" i="0" u="none" strike="noStrike" kern="1200" cap="none" spc="0" normalizeH="0" baseline="0" noProof="0" dirty="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0015044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Elements of S</a:t>
            </a:r>
            <a:r>
              <a:rPr lang="en-US" sz="100" noProof="0" dirty="0">
                <a:latin typeface="Times New Roman" panose="02020603050405020304" pitchFamily="18" charset="0"/>
                <a:cs typeface="Times New Roman" panose="02020603050405020304" pitchFamily="18" charset="0"/>
              </a:rPr>
              <a:t> </a:t>
            </a:r>
            <a:r>
              <a:rPr lang="en-US" sz="4000" noProof="0" dirty="0">
                <a:latin typeface="Times New Roman" panose="02020603050405020304" pitchFamily="18" charset="0"/>
                <a:cs typeface="Times New Roman" panose="02020603050405020304" pitchFamily="18" charset="0"/>
              </a:rPr>
              <a:t>Q</a:t>
            </a:r>
            <a:r>
              <a:rPr lang="en-US" sz="100" noProof="0" dirty="0">
                <a:latin typeface="Times New Roman" panose="02020603050405020304" pitchFamily="18" charset="0"/>
                <a:cs typeface="Times New Roman" panose="02020603050405020304" pitchFamily="18" charset="0"/>
              </a:rPr>
              <a:t> </a:t>
            </a:r>
            <a:r>
              <a:rPr lang="en-US" sz="4000" noProof="0" dirty="0">
                <a:latin typeface="Times New Roman" panose="02020603050405020304" pitchFamily="18" charset="0"/>
                <a:cs typeface="Times New Roman" panose="02020603050405020304" pitchFamily="18" charset="0"/>
              </a:rPr>
              <a:t>A</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283512" cy="4626942"/>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noProof="0" dirty="0">
                <a:latin typeface="Times New Roman" panose="02020603050405020304" pitchFamily="18" charset="0"/>
                <a:cs typeface="Times New Roman" panose="02020603050405020304" pitchFamily="18" charset="0"/>
              </a:rPr>
              <a:t>Standards.</a:t>
            </a:r>
          </a:p>
          <a:p>
            <a:pPr marL="291600" indent="-291600">
              <a:spcBef>
                <a:spcPts val="1000"/>
              </a:spcBef>
              <a:spcAft>
                <a:spcPts val="0"/>
              </a:spcAft>
              <a:buFont typeface="Arial" panose="020B0604020202020204" pitchFamily="34" charset="0"/>
              <a:buChar char="•"/>
            </a:pPr>
            <a:r>
              <a:rPr lang="en-US" altLang="en-US" noProof="0" dirty="0">
                <a:latin typeface="Times New Roman" panose="02020603050405020304" pitchFamily="18" charset="0"/>
                <a:cs typeface="Times New Roman" panose="02020603050405020304" pitchFamily="18" charset="0"/>
              </a:rPr>
              <a:t>Reviews and Audits.</a:t>
            </a:r>
          </a:p>
          <a:p>
            <a:pPr marL="291600" indent="-291600">
              <a:spcBef>
                <a:spcPts val="1000"/>
              </a:spcBef>
              <a:spcAft>
                <a:spcPts val="0"/>
              </a:spcAft>
              <a:buFont typeface="Arial" panose="020B0604020202020204" pitchFamily="34" charset="0"/>
              <a:buChar char="•"/>
            </a:pPr>
            <a:r>
              <a:rPr lang="en-US" altLang="en-US" noProof="0" dirty="0">
                <a:latin typeface="Times New Roman" panose="02020603050405020304" pitchFamily="18" charset="0"/>
                <a:cs typeface="Times New Roman" panose="02020603050405020304" pitchFamily="18" charset="0"/>
              </a:rPr>
              <a:t>Testing.</a:t>
            </a:r>
          </a:p>
          <a:p>
            <a:pPr marL="291600" indent="-291600">
              <a:spcBef>
                <a:spcPts val="1000"/>
              </a:spcBef>
              <a:spcAft>
                <a:spcPts val="0"/>
              </a:spcAft>
              <a:buFont typeface="Arial" panose="020B0604020202020204" pitchFamily="34" charset="0"/>
              <a:buChar char="•"/>
            </a:pPr>
            <a:r>
              <a:rPr lang="en-US" altLang="en-US" noProof="0" dirty="0">
                <a:latin typeface="Times New Roman" panose="02020603050405020304" pitchFamily="18" charset="0"/>
                <a:cs typeface="Times New Roman" panose="02020603050405020304" pitchFamily="18" charset="0"/>
              </a:rPr>
              <a:t>Error/defect collection and analysis.</a:t>
            </a:r>
          </a:p>
          <a:p>
            <a:pPr marL="291600" indent="-291600">
              <a:spcBef>
                <a:spcPts val="1000"/>
              </a:spcBef>
              <a:spcAft>
                <a:spcPts val="0"/>
              </a:spcAft>
              <a:buFont typeface="Arial" panose="020B0604020202020204" pitchFamily="34" charset="0"/>
              <a:buChar char="•"/>
            </a:pPr>
            <a:r>
              <a:rPr lang="en-US" altLang="en-US" noProof="0" dirty="0">
                <a:latin typeface="Times New Roman" panose="02020603050405020304" pitchFamily="18" charset="0"/>
                <a:cs typeface="Times New Roman" panose="02020603050405020304" pitchFamily="18" charset="0"/>
              </a:rPr>
              <a:t>Change management.</a:t>
            </a:r>
          </a:p>
          <a:p>
            <a:pPr marL="291600" indent="-291600">
              <a:spcBef>
                <a:spcPts val="1000"/>
              </a:spcBef>
              <a:spcAft>
                <a:spcPts val="0"/>
              </a:spcAft>
              <a:buFont typeface="Arial" panose="020B0604020202020204" pitchFamily="34" charset="0"/>
              <a:buChar char="•"/>
            </a:pPr>
            <a:r>
              <a:rPr lang="en-US" altLang="en-US" noProof="0" dirty="0">
                <a:latin typeface="Times New Roman" panose="02020603050405020304" pitchFamily="18" charset="0"/>
                <a:cs typeface="Times New Roman" panose="02020603050405020304" pitchFamily="18" charset="0"/>
              </a:rPr>
              <a:t>Education.</a:t>
            </a:r>
          </a:p>
          <a:p>
            <a:pPr marL="291600" indent="-291600">
              <a:spcBef>
                <a:spcPts val="1000"/>
              </a:spcBef>
              <a:spcAft>
                <a:spcPts val="0"/>
              </a:spcAft>
              <a:buFont typeface="Arial" panose="020B0604020202020204" pitchFamily="34" charset="0"/>
              <a:buChar char="•"/>
            </a:pPr>
            <a:r>
              <a:rPr lang="en-US" altLang="en-US" noProof="0" dirty="0">
                <a:latin typeface="Times New Roman" panose="02020603050405020304" pitchFamily="18" charset="0"/>
                <a:cs typeface="Times New Roman" panose="02020603050405020304" pitchFamily="18" charset="0"/>
              </a:rPr>
              <a:t>Vendor management.</a:t>
            </a:r>
          </a:p>
          <a:p>
            <a:pPr marL="291600" indent="-291600">
              <a:spcBef>
                <a:spcPts val="1000"/>
              </a:spcBef>
              <a:spcAft>
                <a:spcPts val="0"/>
              </a:spcAft>
              <a:buFont typeface="Arial" panose="020B0604020202020204" pitchFamily="34" charset="0"/>
              <a:buChar char="•"/>
            </a:pPr>
            <a:r>
              <a:rPr lang="en-US" altLang="en-US" noProof="0" dirty="0">
                <a:latin typeface="Times New Roman" panose="02020603050405020304" pitchFamily="18" charset="0"/>
                <a:cs typeface="Times New Roman" panose="02020603050405020304" pitchFamily="18" charset="0"/>
              </a:rPr>
              <a:t>Security management.</a:t>
            </a:r>
          </a:p>
          <a:p>
            <a:pPr marL="291600" indent="-291600">
              <a:spcBef>
                <a:spcPts val="1000"/>
              </a:spcBef>
              <a:spcAft>
                <a:spcPts val="0"/>
              </a:spcAft>
              <a:buFont typeface="Arial" panose="020B0604020202020204" pitchFamily="34" charset="0"/>
              <a:buChar char="•"/>
            </a:pPr>
            <a:r>
              <a:rPr lang="en-US" altLang="en-US" noProof="0" dirty="0">
                <a:latin typeface="Times New Roman" panose="02020603050405020304" pitchFamily="18" charset="0"/>
                <a:cs typeface="Times New Roman" panose="02020603050405020304" pitchFamily="18" charset="0"/>
              </a:rPr>
              <a:t>Safety.</a:t>
            </a:r>
          </a:p>
          <a:p>
            <a:pPr marL="291600" indent="-291600">
              <a:spcBef>
                <a:spcPts val="1000"/>
              </a:spcBef>
              <a:spcAft>
                <a:spcPts val="0"/>
              </a:spcAft>
              <a:buFont typeface="Arial" panose="020B0604020202020204" pitchFamily="34" charset="0"/>
              <a:buChar char="•"/>
            </a:pPr>
            <a:r>
              <a:rPr lang="en-US" altLang="en-US" noProof="0" dirty="0">
                <a:latin typeface="Times New Roman" panose="02020603050405020304" pitchFamily="18" charset="0"/>
                <a:cs typeface="Times New Roman" panose="02020603050405020304" pitchFamily="18" charset="0"/>
              </a:rPr>
              <a:t>Risk management.</a:t>
            </a:r>
            <a:endParaRPr lang="en-US" sz="16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US" sz="800" b="0" i="0" u="none" strike="noStrike" kern="1200" cap="none" spc="0" normalizeH="0" baseline="0" noProof="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404486809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Role of S</a:t>
            </a:r>
            <a:r>
              <a:rPr lang="en-US" sz="100" noProof="0" dirty="0">
                <a:latin typeface="Times New Roman" panose="02020603050405020304" pitchFamily="18" charset="0"/>
                <a:cs typeface="Times New Roman" panose="02020603050405020304" pitchFamily="18" charset="0"/>
              </a:rPr>
              <a:t> </a:t>
            </a:r>
            <a:r>
              <a:rPr lang="en-US" sz="4000" noProof="0" dirty="0">
                <a:latin typeface="Times New Roman" panose="02020603050405020304" pitchFamily="18" charset="0"/>
                <a:cs typeface="Times New Roman" panose="02020603050405020304" pitchFamily="18" charset="0"/>
              </a:rPr>
              <a:t>Q</a:t>
            </a:r>
            <a:r>
              <a:rPr lang="en-US" sz="100" noProof="0" dirty="0">
                <a:latin typeface="Times New Roman" panose="02020603050405020304" pitchFamily="18" charset="0"/>
                <a:cs typeface="Times New Roman" panose="02020603050405020304" pitchFamily="18" charset="0"/>
              </a:rPr>
              <a:t> </a:t>
            </a:r>
            <a:r>
              <a:rPr lang="en-US" sz="4000" noProof="0" dirty="0">
                <a:latin typeface="Times New Roman" panose="02020603050405020304" pitchFamily="18" charset="0"/>
                <a:cs typeface="Times New Roman" panose="02020603050405020304" pitchFamily="18" charset="0"/>
              </a:rPr>
              <a:t>A Group 1</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2701904"/>
          </a:xfrm>
        </p:spPr>
        <p:txBody>
          <a:bodyPr vert="horz" lIns="91440" tIns="45720" rIns="91440" bIns="45720" rtlCol="0">
            <a:noAutofit/>
          </a:bodyPr>
          <a:lstStyle/>
          <a:p>
            <a:pPr>
              <a:spcBef>
                <a:spcPts val="1200"/>
              </a:spcBef>
              <a:spcAft>
                <a:spcPts val="0"/>
              </a:spcAft>
            </a:pPr>
            <a:r>
              <a:rPr lang="en-US" altLang="en-US" b="1" noProof="0" dirty="0">
                <a:latin typeface="Times New Roman" panose="02020603050405020304" pitchFamily="18" charset="0"/>
                <a:cs typeface="Times New Roman" panose="02020603050405020304" pitchFamily="18" charset="0"/>
              </a:rPr>
              <a:t>Prepares an S</a:t>
            </a:r>
            <a:r>
              <a:rPr lang="en-US" altLang="en-US" sz="100" b="1" noProof="0" dirty="0">
                <a:latin typeface="Times New Roman" panose="02020603050405020304" pitchFamily="18" charset="0"/>
                <a:cs typeface="Times New Roman" panose="02020603050405020304" pitchFamily="18" charset="0"/>
              </a:rPr>
              <a:t> </a:t>
            </a:r>
            <a:r>
              <a:rPr lang="en-US" altLang="en-US" b="1" noProof="0" dirty="0">
                <a:latin typeface="Times New Roman" panose="02020603050405020304" pitchFamily="18" charset="0"/>
                <a:cs typeface="Times New Roman" panose="02020603050405020304" pitchFamily="18" charset="0"/>
              </a:rPr>
              <a:t>Q</a:t>
            </a:r>
            <a:r>
              <a:rPr lang="en-US" altLang="en-US" sz="100" b="1" noProof="0" dirty="0">
                <a:latin typeface="Times New Roman" panose="02020603050405020304" pitchFamily="18" charset="0"/>
                <a:cs typeface="Times New Roman" panose="02020603050405020304" pitchFamily="18" charset="0"/>
              </a:rPr>
              <a:t> </a:t>
            </a:r>
            <a:r>
              <a:rPr lang="en-US" altLang="en-US" b="1" noProof="0" dirty="0">
                <a:latin typeface="Times New Roman" panose="02020603050405020304" pitchFamily="18" charset="0"/>
                <a:cs typeface="Times New Roman" panose="02020603050405020304" pitchFamily="18" charset="0"/>
              </a:rPr>
              <a:t>A plan for a project which identifies:</a:t>
            </a:r>
          </a:p>
          <a:p>
            <a:pPr marL="291600" lvl="2" indent="-291600">
              <a:spcBef>
                <a:spcPts val="1000"/>
              </a:spcBef>
              <a:spcAft>
                <a:spcPts val="0"/>
              </a:spcAft>
            </a:pPr>
            <a:r>
              <a:rPr lang="en-US" altLang="en-US" sz="1600" dirty="0">
                <a:latin typeface="Times New Roman" panose="02020603050405020304" pitchFamily="18" charset="0"/>
                <a:cs typeface="Times New Roman" panose="02020603050405020304" pitchFamily="18" charset="0"/>
              </a:rPr>
              <a:t>E</a:t>
            </a:r>
            <a:r>
              <a:rPr lang="en-US" altLang="en-US" sz="1600" noProof="0" dirty="0">
                <a:latin typeface="Times New Roman" panose="02020603050405020304" pitchFamily="18" charset="0"/>
                <a:cs typeface="Times New Roman" panose="02020603050405020304" pitchFamily="18" charset="0"/>
              </a:rPr>
              <a:t>valuations to be performed.</a:t>
            </a:r>
          </a:p>
          <a:p>
            <a:pPr marL="291600" lvl="2" indent="-291600">
              <a:spcBef>
                <a:spcPts val="1000"/>
              </a:spcBef>
              <a:spcAft>
                <a:spcPts val="0"/>
              </a:spcAft>
            </a:pPr>
            <a:r>
              <a:rPr lang="en-US" altLang="en-US" sz="1600" dirty="0">
                <a:latin typeface="Times New Roman" panose="02020603050405020304" pitchFamily="18" charset="0"/>
                <a:cs typeface="Times New Roman" panose="02020603050405020304" pitchFamily="18" charset="0"/>
              </a:rPr>
              <a:t>A</a:t>
            </a:r>
            <a:r>
              <a:rPr lang="en-US" altLang="en-US" sz="1600" noProof="0" dirty="0" err="1">
                <a:latin typeface="Times New Roman" panose="02020603050405020304" pitchFamily="18" charset="0"/>
                <a:cs typeface="Times New Roman" panose="02020603050405020304" pitchFamily="18" charset="0"/>
              </a:rPr>
              <a:t>udits</a:t>
            </a:r>
            <a:r>
              <a:rPr lang="en-US" altLang="en-US" sz="1600" noProof="0" dirty="0">
                <a:latin typeface="Times New Roman" panose="02020603050405020304" pitchFamily="18" charset="0"/>
                <a:cs typeface="Times New Roman" panose="02020603050405020304" pitchFamily="18" charset="0"/>
              </a:rPr>
              <a:t> and reviews to be performed.</a:t>
            </a:r>
          </a:p>
          <a:p>
            <a:pPr marL="291600" lvl="2" indent="-291600">
              <a:spcBef>
                <a:spcPts val="1000"/>
              </a:spcBef>
              <a:spcAft>
                <a:spcPts val="0"/>
              </a:spcAft>
            </a:pPr>
            <a:r>
              <a:rPr lang="en-US" altLang="en-US" sz="1600" dirty="0">
                <a:latin typeface="Times New Roman" panose="02020603050405020304" pitchFamily="18" charset="0"/>
                <a:cs typeface="Times New Roman" panose="02020603050405020304" pitchFamily="18" charset="0"/>
              </a:rPr>
              <a:t>S</a:t>
            </a:r>
            <a:r>
              <a:rPr lang="en-US" altLang="en-US" sz="1600" noProof="0" dirty="0" err="1">
                <a:latin typeface="Times New Roman" panose="02020603050405020304" pitchFamily="18" charset="0"/>
                <a:cs typeface="Times New Roman" panose="02020603050405020304" pitchFamily="18" charset="0"/>
              </a:rPr>
              <a:t>tandards</a:t>
            </a:r>
            <a:r>
              <a:rPr lang="en-US" altLang="en-US" sz="1600" noProof="0" dirty="0">
                <a:latin typeface="Times New Roman" panose="02020603050405020304" pitchFamily="18" charset="0"/>
                <a:cs typeface="Times New Roman" panose="02020603050405020304" pitchFamily="18" charset="0"/>
              </a:rPr>
              <a:t> that are applicable to the project.</a:t>
            </a:r>
          </a:p>
          <a:p>
            <a:pPr marL="291600" lvl="2" indent="-291600">
              <a:spcBef>
                <a:spcPts val="1000"/>
              </a:spcBef>
              <a:spcAft>
                <a:spcPts val="0"/>
              </a:spcAft>
            </a:pPr>
            <a:r>
              <a:rPr lang="en-US" altLang="en-US" sz="1600" dirty="0">
                <a:latin typeface="Times New Roman" panose="02020603050405020304" pitchFamily="18" charset="0"/>
                <a:cs typeface="Times New Roman" panose="02020603050405020304" pitchFamily="18" charset="0"/>
              </a:rPr>
              <a:t>P</a:t>
            </a:r>
            <a:r>
              <a:rPr lang="en-US" altLang="en-US" sz="1600" noProof="0" dirty="0" err="1">
                <a:latin typeface="Times New Roman" panose="02020603050405020304" pitchFamily="18" charset="0"/>
                <a:cs typeface="Times New Roman" panose="02020603050405020304" pitchFamily="18" charset="0"/>
              </a:rPr>
              <a:t>rocedures</a:t>
            </a:r>
            <a:r>
              <a:rPr lang="en-US" altLang="en-US" sz="1600" noProof="0" dirty="0">
                <a:latin typeface="Times New Roman" panose="02020603050405020304" pitchFamily="18" charset="0"/>
                <a:cs typeface="Times New Roman" panose="02020603050405020304" pitchFamily="18" charset="0"/>
              </a:rPr>
              <a:t> for error reporting and tracking.</a:t>
            </a:r>
          </a:p>
          <a:p>
            <a:pPr marL="291600" lvl="2" indent="-291600">
              <a:spcBef>
                <a:spcPts val="1000"/>
              </a:spcBef>
              <a:spcAft>
                <a:spcPts val="0"/>
              </a:spcAft>
            </a:pPr>
            <a:r>
              <a:rPr lang="en-US" altLang="en-US" sz="1600" noProof="0" dirty="0">
                <a:latin typeface="Times New Roman" panose="02020603050405020304" pitchFamily="18" charset="0"/>
                <a:cs typeface="Times New Roman" panose="02020603050405020304" pitchFamily="18" charset="0"/>
              </a:rPr>
              <a:t>Documents to be produced by the S</a:t>
            </a:r>
            <a:r>
              <a:rPr lang="en-US" altLang="en-US" sz="100" noProof="0" dirty="0">
                <a:latin typeface="Times New Roman" panose="02020603050405020304" pitchFamily="18" charset="0"/>
                <a:cs typeface="Times New Roman" panose="02020603050405020304" pitchFamily="18" charset="0"/>
              </a:rPr>
              <a:t> </a:t>
            </a:r>
            <a:r>
              <a:rPr lang="en-US" altLang="en-US" sz="1600" noProof="0" dirty="0">
                <a:latin typeface="Times New Roman" panose="02020603050405020304" pitchFamily="18" charset="0"/>
                <a:cs typeface="Times New Roman" panose="02020603050405020304" pitchFamily="18" charset="0"/>
              </a:rPr>
              <a:t>Q</a:t>
            </a:r>
            <a:r>
              <a:rPr lang="en-US" altLang="en-US" sz="100" noProof="0" dirty="0">
                <a:latin typeface="Times New Roman" panose="02020603050405020304" pitchFamily="18" charset="0"/>
                <a:cs typeface="Times New Roman" panose="02020603050405020304" pitchFamily="18" charset="0"/>
              </a:rPr>
              <a:t> </a:t>
            </a:r>
            <a:r>
              <a:rPr lang="en-US" altLang="en-US" sz="1600" noProof="0" dirty="0">
                <a:latin typeface="Times New Roman" panose="02020603050405020304" pitchFamily="18" charset="0"/>
                <a:cs typeface="Times New Roman" panose="02020603050405020304" pitchFamily="18" charset="0"/>
              </a:rPr>
              <a:t>A group.</a:t>
            </a:r>
          </a:p>
          <a:p>
            <a:pPr marL="291600" lvl="2" indent="-291600">
              <a:spcBef>
                <a:spcPts val="1000"/>
              </a:spcBef>
              <a:spcAft>
                <a:spcPts val="0"/>
              </a:spcAft>
            </a:pPr>
            <a:r>
              <a:rPr lang="en-US" altLang="en-US" sz="1600" dirty="0">
                <a:latin typeface="Times New Roman" panose="02020603050405020304" pitchFamily="18" charset="0"/>
                <a:cs typeface="Times New Roman" panose="02020603050405020304" pitchFamily="18" charset="0"/>
              </a:rPr>
              <a:t>A</a:t>
            </a:r>
            <a:r>
              <a:rPr lang="en-US" altLang="en-US" sz="1600" noProof="0" dirty="0">
                <a:latin typeface="Times New Roman" panose="02020603050405020304" pitchFamily="18" charset="0"/>
                <a:cs typeface="Times New Roman" panose="02020603050405020304" pitchFamily="18" charset="0"/>
              </a:rPr>
              <a:t>mount of feedback provided to the software project team.</a:t>
            </a:r>
          </a:p>
        </p:txBody>
      </p:sp>
      <p:sp>
        <p:nvSpPr>
          <p:cNvPr id="11" name="Content Placeholder 10"/>
          <p:cNvSpPr>
            <a:spLocks noGrp="1"/>
          </p:cNvSpPr>
          <p:nvPr>
            <p:ph sz="quarter" idx="16"/>
          </p:nvPr>
        </p:nvSpPr>
        <p:spPr>
          <a:xfrm>
            <a:off x="342900" y="4241259"/>
            <a:ext cx="8458200" cy="1828800"/>
          </a:xfrm>
        </p:spPr>
        <p:txBody>
          <a:bodyPr>
            <a:normAutofit/>
          </a:bodyPr>
          <a:lstStyle/>
          <a:p>
            <a:pPr>
              <a:spcBef>
                <a:spcPts val="600"/>
              </a:spcBef>
              <a:spcAft>
                <a:spcPts val="0"/>
              </a:spcAft>
            </a:pPr>
            <a:r>
              <a:rPr lang="en-US" altLang="en-US" b="1" noProof="0" dirty="0">
                <a:latin typeface="Times New Roman" panose="02020603050405020304" pitchFamily="18" charset="0"/>
                <a:cs typeface="Times New Roman" panose="02020603050405020304" pitchFamily="18" charset="0"/>
              </a:rPr>
              <a:t>Participates in the development of the project’s software process description.</a:t>
            </a:r>
            <a:endParaRPr lang="en-US" altLang="en-US" noProof="0" dirty="0">
              <a:latin typeface="Times New Roman" panose="02020603050405020304" pitchFamily="18" charset="0"/>
              <a:cs typeface="Times New Roman" panose="02020603050405020304" pitchFamily="18" charset="0"/>
            </a:endParaRPr>
          </a:p>
          <a:p>
            <a:pPr marL="291600" lvl="1" indent="-291600">
              <a:spcBef>
                <a:spcPts val="1000"/>
              </a:spcBef>
              <a:spcAft>
                <a:spcPts val="0"/>
              </a:spcAft>
            </a:pPr>
            <a:r>
              <a:rPr lang="en-US" altLang="en-US" sz="1800" noProof="0" dirty="0">
                <a:latin typeface="Times New Roman" panose="02020603050405020304" pitchFamily="18" charset="0"/>
                <a:cs typeface="Times New Roman" panose="02020603050405020304" pitchFamily="18" charset="0"/>
              </a:rPr>
              <a:t>Reviews the process description for compliance with organizational policy, internal software standards, externally imposed standards (for example, I</a:t>
            </a:r>
            <a:r>
              <a:rPr lang="en-US" altLang="en-US" sz="100" noProof="0" dirty="0">
                <a:latin typeface="Times New Roman" panose="02020603050405020304" pitchFamily="18" charset="0"/>
                <a:cs typeface="Times New Roman" panose="02020603050405020304" pitchFamily="18" charset="0"/>
              </a:rPr>
              <a:t> </a:t>
            </a:r>
            <a:r>
              <a:rPr lang="en-US" altLang="en-US" sz="1800" noProof="0" dirty="0">
                <a:latin typeface="Times New Roman" panose="02020603050405020304" pitchFamily="18" charset="0"/>
                <a:cs typeface="Times New Roman" panose="02020603050405020304" pitchFamily="18" charset="0"/>
              </a:rPr>
              <a:t>S</a:t>
            </a:r>
            <a:r>
              <a:rPr lang="en-US" altLang="en-US" sz="100" noProof="0" dirty="0">
                <a:latin typeface="Times New Roman" panose="02020603050405020304" pitchFamily="18" charset="0"/>
                <a:cs typeface="Times New Roman" panose="02020603050405020304" pitchFamily="18" charset="0"/>
              </a:rPr>
              <a:t> </a:t>
            </a:r>
            <a:r>
              <a:rPr lang="en-US" altLang="en-US" sz="1800" noProof="0" dirty="0">
                <a:latin typeface="Times New Roman" panose="02020603050405020304" pitchFamily="18" charset="0"/>
                <a:cs typeface="Times New Roman" panose="02020603050405020304" pitchFamily="18" charset="0"/>
              </a:rPr>
              <a:t>O-9001), and other parts of the software project plan.</a:t>
            </a:r>
            <a:endParaRPr lang="en-US" noProof="0" dirty="0"/>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US" sz="800" b="0" i="0" u="none" strike="noStrike" kern="1200" cap="none" spc="0" normalizeH="0" baseline="0" noProof="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55840628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Role of S</a:t>
            </a:r>
            <a:r>
              <a:rPr lang="en-US" sz="100" noProof="0" dirty="0">
                <a:latin typeface="Times New Roman" panose="02020603050405020304" pitchFamily="18" charset="0"/>
                <a:cs typeface="Times New Roman" panose="02020603050405020304" pitchFamily="18" charset="0"/>
              </a:rPr>
              <a:t> </a:t>
            </a:r>
            <a:r>
              <a:rPr lang="en-US" sz="4000" noProof="0" dirty="0">
                <a:latin typeface="Times New Roman" panose="02020603050405020304" pitchFamily="18" charset="0"/>
                <a:cs typeface="Times New Roman" panose="02020603050405020304" pitchFamily="18" charset="0"/>
              </a:rPr>
              <a:t>Q</a:t>
            </a:r>
            <a:r>
              <a:rPr lang="en-US" sz="100" noProof="0" dirty="0">
                <a:latin typeface="Times New Roman" panose="02020603050405020304" pitchFamily="18" charset="0"/>
                <a:cs typeface="Times New Roman" panose="02020603050405020304" pitchFamily="18" charset="0"/>
              </a:rPr>
              <a:t> </a:t>
            </a:r>
            <a:r>
              <a:rPr lang="en-US" sz="4000" noProof="0" dirty="0">
                <a:latin typeface="Times New Roman" panose="02020603050405020304" pitchFamily="18" charset="0"/>
                <a:cs typeface="Times New Roman" panose="02020603050405020304" pitchFamily="18" charset="0"/>
              </a:rPr>
              <a:t>A Group 2</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09"/>
            <a:ext cx="8458200" cy="1310847"/>
          </a:xfrm>
        </p:spPr>
        <p:txBody>
          <a:bodyPr vert="horz" lIns="91440" tIns="45720" rIns="91440" bIns="45720" rtlCol="0">
            <a:noAutofit/>
          </a:bodyPr>
          <a:lstStyle/>
          <a:p>
            <a:pPr>
              <a:spcBef>
                <a:spcPts val="600"/>
              </a:spcBef>
              <a:spcAft>
                <a:spcPts val="0"/>
              </a:spcAft>
            </a:pPr>
            <a:r>
              <a:rPr lang="en-US" altLang="en-US" sz="1800" b="1" noProof="0" dirty="0">
                <a:latin typeface="Times New Roman" panose="02020603050405020304" pitchFamily="18" charset="0"/>
                <a:cs typeface="Times New Roman" panose="02020603050405020304" pitchFamily="18" charset="0"/>
              </a:rPr>
              <a:t>Reviews software engineering activities to verify compliance with the defined software process.</a:t>
            </a:r>
            <a:r>
              <a:rPr lang="en-US" altLang="en-US" sz="1800" noProof="0" dirty="0">
                <a:latin typeface="Times New Roman" panose="02020603050405020304" pitchFamily="18" charset="0"/>
                <a:cs typeface="Times New Roman" panose="02020603050405020304" pitchFamily="18" charset="0"/>
              </a:rPr>
              <a:t> </a:t>
            </a:r>
          </a:p>
          <a:p>
            <a:pPr marL="291600" lvl="1" indent="-291600">
              <a:spcBef>
                <a:spcPts val="1000"/>
              </a:spcBef>
              <a:spcAft>
                <a:spcPts val="0"/>
              </a:spcAft>
            </a:pPr>
            <a:r>
              <a:rPr lang="en-US" altLang="en-US" sz="1600" dirty="0">
                <a:latin typeface="Times New Roman" panose="02020603050405020304" pitchFamily="18" charset="0"/>
                <a:cs typeface="Times New Roman" panose="02020603050405020304" pitchFamily="18" charset="0"/>
              </a:rPr>
              <a:t>I</a:t>
            </a:r>
            <a:r>
              <a:rPr lang="en-US" altLang="en-US" sz="1600" noProof="0" dirty="0" err="1">
                <a:latin typeface="Times New Roman" panose="02020603050405020304" pitchFamily="18" charset="0"/>
                <a:cs typeface="Times New Roman" panose="02020603050405020304" pitchFamily="18" charset="0"/>
              </a:rPr>
              <a:t>dentifies</a:t>
            </a:r>
            <a:r>
              <a:rPr lang="en-US" altLang="en-US" sz="1600" noProof="0" dirty="0">
                <a:latin typeface="Times New Roman" panose="02020603050405020304" pitchFamily="18" charset="0"/>
                <a:cs typeface="Times New Roman" panose="02020603050405020304" pitchFamily="18" charset="0"/>
              </a:rPr>
              <a:t>, documents, and tracks deviations from the process and verifies that corrections have been made.</a:t>
            </a:r>
          </a:p>
        </p:txBody>
      </p:sp>
      <p:sp>
        <p:nvSpPr>
          <p:cNvPr id="20" name="Content Placeholder 19"/>
          <p:cNvSpPr>
            <a:spLocks noGrp="1"/>
          </p:cNvSpPr>
          <p:nvPr>
            <p:ph sz="quarter" idx="15"/>
          </p:nvPr>
        </p:nvSpPr>
        <p:spPr>
          <a:xfrm>
            <a:off x="342900" y="2783512"/>
            <a:ext cx="8458200" cy="1662030"/>
          </a:xfrm>
        </p:spPr>
        <p:txBody>
          <a:bodyPr>
            <a:normAutofit/>
          </a:bodyPr>
          <a:lstStyle/>
          <a:p>
            <a:pPr>
              <a:spcBef>
                <a:spcPts val="600"/>
              </a:spcBef>
              <a:spcAft>
                <a:spcPts val="0"/>
              </a:spcAft>
            </a:pPr>
            <a:r>
              <a:rPr lang="en-US" altLang="en-US" sz="1800" b="1" noProof="0" dirty="0">
                <a:latin typeface="Times New Roman" panose="02020603050405020304" pitchFamily="18" charset="0"/>
                <a:cs typeface="Times New Roman" panose="02020603050405020304" pitchFamily="18" charset="0"/>
              </a:rPr>
              <a:t>Audits designated software work products to verify compliance with those defined as part of the software process.</a:t>
            </a:r>
            <a:r>
              <a:rPr lang="en-US" altLang="en-US" sz="1800" noProof="0" dirty="0">
                <a:latin typeface="Times New Roman" panose="02020603050405020304" pitchFamily="18" charset="0"/>
                <a:cs typeface="Times New Roman" panose="02020603050405020304" pitchFamily="18" charset="0"/>
              </a:rPr>
              <a:t> </a:t>
            </a:r>
          </a:p>
          <a:p>
            <a:pPr marL="291600" lvl="1" indent="-291600">
              <a:spcBef>
                <a:spcPts val="1000"/>
              </a:spcBef>
              <a:spcAft>
                <a:spcPts val="0"/>
              </a:spcAft>
            </a:pPr>
            <a:r>
              <a:rPr lang="en-US" altLang="en-US" sz="1600" dirty="0">
                <a:latin typeface="Times New Roman" panose="02020603050405020304" pitchFamily="18" charset="0"/>
                <a:cs typeface="Times New Roman" panose="02020603050405020304" pitchFamily="18" charset="0"/>
              </a:rPr>
              <a:t>R</a:t>
            </a:r>
            <a:r>
              <a:rPr lang="en-US" altLang="en-US" sz="1600" noProof="0" dirty="0" err="1">
                <a:latin typeface="Times New Roman" panose="02020603050405020304" pitchFamily="18" charset="0"/>
                <a:cs typeface="Times New Roman" panose="02020603050405020304" pitchFamily="18" charset="0"/>
              </a:rPr>
              <a:t>eviews</a:t>
            </a:r>
            <a:r>
              <a:rPr lang="en-US" altLang="en-US" sz="1600" noProof="0" dirty="0">
                <a:latin typeface="Times New Roman" panose="02020603050405020304" pitchFamily="18" charset="0"/>
                <a:cs typeface="Times New Roman" panose="02020603050405020304" pitchFamily="18" charset="0"/>
              </a:rPr>
              <a:t> selected work products; identifies, documents, and tracks deviations; verifies that corrections have been made.</a:t>
            </a:r>
          </a:p>
          <a:p>
            <a:pPr marL="291600" lvl="1" indent="-291600">
              <a:spcBef>
                <a:spcPts val="1000"/>
              </a:spcBef>
              <a:spcAft>
                <a:spcPts val="0"/>
              </a:spcAft>
            </a:pPr>
            <a:r>
              <a:rPr lang="en-US" altLang="en-US" sz="1600" dirty="0">
                <a:latin typeface="Times New Roman" panose="02020603050405020304" pitchFamily="18" charset="0"/>
                <a:cs typeface="Times New Roman" panose="02020603050405020304" pitchFamily="18" charset="0"/>
              </a:rPr>
              <a:t>P</a:t>
            </a:r>
            <a:r>
              <a:rPr lang="en-US" altLang="en-US" sz="1600" noProof="0" dirty="0" err="1">
                <a:latin typeface="Times New Roman" panose="02020603050405020304" pitchFamily="18" charset="0"/>
                <a:cs typeface="Times New Roman" panose="02020603050405020304" pitchFamily="18" charset="0"/>
              </a:rPr>
              <a:t>eriodically</a:t>
            </a:r>
            <a:r>
              <a:rPr lang="en-US" altLang="en-US" sz="1600" noProof="0" dirty="0">
                <a:latin typeface="Times New Roman" panose="02020603050405020304" pitchFamily="18" charset="0"/>
                <a:cs typeface="Times New Roman" panose="02020603050405020304" pitchFamily="18" charset="0"/>
              </a:rPr>
              <a:t> reports the results of its work to the project manager.</a:t>
            </a:r>
            <a:endParaRPr lang="en-US" noProof="0" dirty="0"/>
          </a:p>
        </p:txBody>
      </p:sp>
      <p:sp>
        <p:nvSpPr>
          <p:cNvPr id="22" name="Content Placeholder 21"/>
          <p:cNvSpPr>
            <a:spLocks noGrp="1"/>
          </p:cNvSpPr>
          <p:nvPr>
            <p:ph sz="quarter" idx="17"/>
          </p:nvPr>
        </p:nvSpPr>
        <p:spPr>
          <a:xfrm>
            <a:off x="342900" y="4655187"/>
            <a:ext cx="8458200" cy="1574844"/>
          </a:xfrm>
        </p:spPr>
        <p:txBody>
          <a:bodyPr>
            <a:normAutofit/>
          </a:bodyPr>
          <a:lstStyle/>
          <a:p>
            <a:pPr>
              <a:spcBef>
                <a:spcPts val="1000"/>
              </a:spcBef>
              <a:spcAft>
                <a:spcPts val="0"/>
              </a:spcAft>
            </a:pPr>
            <a:r>
              <a:rPr lang="en-US" altLang="en-US" sz="1800" b="1" noProof="0" dirty="0">
                <a:latin typeface="Times New Roman" panose="02020603050405020304" pitchFamily="18" charset="0"/>
                <a:cs typeface="Times New Roman" panose="02020603050405020304" pitchFamily="18" charset="0"/>
              </a:rPr>
              <a:t>Ensures that deviations in software work and work products are documented and handled according to a documented procedure.</a:t>
            </a:r>
          </a:p>
          <a:p>
            <a:pPr>
              <a:spcBef>
                <a:spcPts val="1000"/>
              </a:spcBef>
              <a:spcAft>
                <a:spcPts val="0"/>
              </a:spcAft>
            </a:pPr>
            <a:r>
              <a:rPr lang="en-US" altLang="en-US" sz="1800" b="1" noProof="0" dirty="0">
                <a:latin typeface="Times New Roman" panose="02020603050405020304" pitchFamily="18" charset="0"/>
                <a:cs typeface="Times New Roman" panose="02020603050405020304" pitchFamily="18" charset="0"/>
              </a:rPr>
              <a:t>Records any noncompliance and reports to senior management.</a:t>
            </a:r>
          </a:p>
          <a:p>
            <a:pPr marL="291600" lvl="1" indent="-291600">
              <a:spcBef>
                <a:spcPts val="1000"/>
              </a:spcBef>
              <a:spcAft>
                <a:spcPts val="0"/>
              </a:spcAft>
            </a:pPr>
            <a:r>
              <a:rPr lang="en-US" altLang="en-US" sz="1600" noProof="0" dirty="0">
                <a:latin typeface="Times New Roman" panose="02020603050405020304" pitchFamily="18" charset="0"/>
                <a:cs typeface="Times New Roman" panose="02020603050405020304" pitchFamily="18" charset="0"/>
              </a:rPr>
              <a:t>Noncompliance items are tracked until they are resolved.</a:t>
            </a:r>
            <a:endParaRPr lang="en-US" noProof="0" dirty="0"/>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US" sz="800" b="0" i="0" u="none" strike="noStrike" kern="1200" cap="none" spc="0" normalizeH="0" baseline="0" noProof="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99236390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Strategic Approach to Testing</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80048" y="1230988"/>
            <a:ext cx="8191500" cy="4630316"/>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You should conduct effective technical reviews this can eliminate many errors before testing begins.</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Testing begins at the component level and works "outward" toward the integration of the entire system.</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Different testing techniques are appropriate for different software engineering approaches and at different points in time.</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Testing is conducted by the developer of the software and (for large projects) an independent test group.</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Testing and debugging are different activities, but debugging must be accommodated in any testing strategy.</a:t>
            </a:r>
            <a:endParaRPr lang="en-US" sz="16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800" b="0" i="0" u="none" strike="noStrike" kern="1200" cap="none" spc="0" normalizeH="0" baseline="0" noProof="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5783245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Testing the Big Picture </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80048" y="1230988"/>
            <a:ext cx="8191500" cy="4612764"/>
          </a:xfrm>
        </p:spPr>
        <p:txBody>
          <a:bodyPr vert="horz" lIns="91440" tIns="45720" rIns="91440" bIns="45720" rtlCol="0">
            <a:noAutofit/>
          </a:bodyPr>
          <a:lstStyle/>
          <a:p>
            <a:pPr marL="306000" indent="-291600">
              <a:spcBef>
                <a:spcPts val="1000"/>
              </a:spcBef>
              <a:spcAft>
                <a:spcPts val="0"/>
              </a:spcAft>
              <a:buFont typeface="Arial" panose="020B0604020202020204" pitchFamily="34" charset="0"/>
              <a:buChar char="•"/>
            </a:pPr>
            <a:r>
              <a:rPr lang="en-US" sz="2400" b="1" i="1" noProof="0" dirty="0">
                <a:latin typeface="Times New Roman" panose="02020603050405020304" pitchFamily="18" charset="0"/>
                <a:cs typeface="Times New Roman" panose="02020603050405020304" pitchFamily="18" charset="0"/>
              </a:rPr>
              <a:t>Unit testing </a:t>
            </a:r>
            <a:r>
              <a:rPr lang="en-US" sz="2400" noProof="0" dirty="0">
                <a:latin typeface="Times New Roman" panose="02020603050405020304" pitchFamily="18" charset="0"/>
                <a:cs typeface="Times New Roman" panose="02020603050405020304" pitchFamily="18" charset="0"/>
              </a:rPr>
              <a:t>begins at the center of the spiral and concentrates on each unit (for example, component, class, or content object) as they are implemented in source code.</a:t>
            </a:r>
          </a:p>
          <a:p>
            <a:pPr marL="3060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Testing progresses to </a:t>
            </a:r>
            <a:r>
              <a:rPr lang="en-US" sz="2400" b="1" i="1" noProof="0" dirty="0">
                <a:latin typeface="Times New Roman" panose="02020603050405020304" pitchFamily="18" charset="0"/>
                <a:cs typeface="Times New Roman" panose="02020603050405020304" pitchFamily="18" charset="0"/>
              </a:rPr>
              <a:t>integration testing</a:t>
            </a:r>
            <a:r>
              <a:rPr lang="en-US" sz="2400" i="1"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where the focus is on design and the construction of the software architecture. Taking another turn outward on the spiral.</a:t>
            </a:r>
          </a:p>
          <a:p>
            <a:pPr marL="306000" indent="-291600">
              <a:spcBef>
                <a:spcPts val="1000"/>
              </a:spcBef>
              <a:spcAft>
                <a:spcPts val="0"/>
              </a:spcAft>
              <a:buFont typeface="Arial" panose="020B0604020202020204" pitchFamily="34" charset="0"/>
              <a:buChar char="•"/>
            </a:pPr>
            <a:r>
              <a:rPr lang="en-US" sz="2400" b="1" i="1" noProof="0" dirty="0">
                <a:latin typeface="Times New Roman" panose="02020603050405020304" pitchFamily="18" charset="0"/>
                <a:cs typeface="Times New Roman" panose="02020603050405020304" pitchFamily="18" charset="0"/>
              </a:rPr>
              <a:t>Validation testing</a:t>
            </a:r>
            <a:r>
              <a:rPr lang="en-US" sz="2400" i="1"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is where requirements established as part of requirements modeling are validated against the software that has been constructed.</a:t>
            </a:r>
          </a:p>
          <a:p>
            <a:pPr marL="3060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In </a:t>
            </a:r>
            <a:r>
              <a:rPr lang="en-US" sz="2400" b="1" i="1" noProof="0" dirty="0">
                <a:latin typeface="Times New Roman" panose="02020603050405020304" pitchFamily="18" charset="0"/>
                <a:cs typeface="Times New Roman" panose="02020603050405020304" pitchFamily="18" charset="0"/>
              </a:rPr>
              <a:t>system testing</a:t>
            </a:r>
            <a:r>
              <a:rPr lang="en-US" sz="2400" i="1"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the software and other system elements are tested as a whole.</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US" sz="800" b="0" i="0" u="none" strike="noStrike" kern="1200" cap="none" spc="0" normalizeH="0" baseline="0" noProof="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63671227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White Box Testing</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21844"/>
            <a:ext cx="8137208" cy="4201494"/>
          </a:xfrm>
        </p:spPr>
        <p:txBody>
          <a:bodyPr vert="horz" lIns="91440" tIns="45720" rIns="91440" bIns="45720" rtlCol="0">
            <a:noAutofit/>
          </a:bodyPr>
          <a:lstStyle/>
          <a:p>
            <a:pPr>
              <a:spcAft>
                <a:spcPts val="1500"/>
              </a:spcAft>
            </a:pPr>
            <a:r>
              <a:rPr lang="en-US" sz="2400" noProof="0" dirty="0">
                <a:latin typeface="Times New Roman" panose="02020603050405020304" pitchFamily="18" charset="0"/>
                <a:cs typeface="Times New Roman" panose="02020603050405020304" pitchFamily="18" charset="0"/>
              </a:rPr>
              <a:t>Using white-box testing methods, you can derive test cases that:</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Guarantee that all independent paths within a module have been exercised at least once.</a:t>
            </a:r>
          </a:p>
          <a:p>
            <a:pPr marL="403200" indent="-403200">
              <a:spcBef>
                <a:spcPts val="1000"/>
              </a:spcBef>
              <a:spcAft>
                <a:spcPts val="0"/>
              </a:spcAft>
              <a:buFont typeface="+mj-lt"/>
              <a:buAutoNum type="arabicPeriod"/>
            </a:pPr>
            <a:r>
              <a:rPr lang="en-US" sz="2400" dirty="0">
                <a:latin typeface="Times New Roman" panose="02020603050405020304" pitchFamily="18" charset="0"/>
                <a:cs typeface="Times New Roman" panose="02020603050405020304" pitchFamily="18" charset="0"/>
              </a:rPr>
              <a:t>E</a:t>
            </a:r>
            <a:r>
              <a:rPr lang="en-US" sz="2400" noProof="0" dirty="0" err="1">
                <a:latin typeface="Times New Roman" panose="02020603050405020304" pitchFamily="18" charset="0"/>
                <a:cs typeface="Times New Roman" panose="02020603050405020304" pitchFamily="18" charset="0"/>
              </a:rPr>
              <a:t>xercise</a:t>
            </a:r>
            <a:r>
              <a:rPr lang="en-US" sz="2400" noProof="0" dirty="0">
                <a:latin typeface="Times New Roman" panose="02020603050405020304" pitchFamily="18" charset="0"/>
                <a:cs typeface="Times New Roman" panose="02020603050405020304" pitchFamily="18" charset="0"/>
              </a:rPr>
              <a:t> all logical decisions on their true and false sides.</a:t>
            </a:r>
          </a:p>
          <a:p>
            <a:pPr marL="403200" indent="-403200">
              <a:spcBef>
                <a:spcPts val="1000"/>
              </a:spcBef>
              <a:spcAft>
                <a:spcPts val="0"/>
              </a:spcAft>
              <a:buFont typeface="+mj-lt"/>
              <a:buAutoNum type="arabicPeriod"/>
            </a:pPr>
            <a:r>
              <a:rPr lang="en-US" sz="2400" dirty="0">
                <a:latin typeface="Times New Roman" panose="02020603050405020304" pitchFamily="18" charset="0"/>
                <a:cs typeface="Times New Roman" panose="02020603050405020304" pitchFamily="18" charset="0"/>
              </a:rPr>
              <a:t>E</a:t>
            </a:r>
            <a:r>
              <a:rPr lang="en-US" sz="2400" noProof="0" dirty="0" err="1">
                <a:latin typeface="Times New Roman" panose="02020603050405020304" pitchFamily="18" charset="0"/>
                <a:cs typeface="Times New Roman" panose="02020603050405020304" pitchFamily="18" charset="0"/>
              </a:rPr>
              <a:t>xecute</a:t>
            </a:r>
            <a:r>
              <a:rPr lang="en-US" sz="2400" noProof="0" dirty="0">
                <a:latin typeface="Times New Roman" panose="02020603050405020304" pitchFamily="18" charset="0"/>
                <a:cs typeface="Times New Roman" panose="02020603050405020304" pitchFamily="18" charset="0"/>
              </a:rPr>
              <a:t> all loops at their boundaries and within their operational bounds.</a:t>
            </a:r>
          </a:p>
          <a:p>
            <a:pPr marL="403200" indent="-403200">
              <a:spcBef>
                <a:spcPts val="1000"/>
              </a:spcBef>
              <a:spcAft>
                <a:spcPts val="0"/>
              </a:spcAft>
              <a:buFont typeface="+mj-lt"/>
              <a:buAutoNum type="arabicPeriod"/>
            </a:pPr>
            <a:r>
              <a:rPr lang="en-US" sz="2400" dirty="0">
                <a:latin typeface="Times New Roman" panose="02020603050405020304" pitchFamily="18" charset="0"/>
                <a:cs typeface="Times New Roman" panose="02020603050405020304" pitchFamily="18" charset="0"/>
              </a:rPr>
              <a:t>E</a:t>
            </a:r>
            <a:r>
              <a:rPr lang="en-US" sz="2400" noProof="0" dirty="0" err="1">
                <a:latin typeface="Times New Roman" panose="02020603050405020304" pitchFamily="18" charset="0"/>
                <a:cs typeface="Times New Roman" panose="02020603050405020304" pitchFamily="18" charset="0"/>
              </a:rPr>
              <a:t>xercise</a:t>
            </a:r>
            <a:r>
              <a:rPr lang="en-US" sz="2400" noProof="0" dirty="0">
                <a:latin typeface="Times New Roman" panose="02020603050405020304" pitchFamily="18" charset="0"/>
                <a:cs typeface="Times New Roman" panose="02020603050405020304" pitchFamily="18" charset="0"/>
              </a:rPr>
              <a:t> internal data structures to ensure their validity.</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US" sz="800" b="0" i="0" u="none" strike="noStrike" kern="1200" cap="none" spc="0" normalizeH="0" baseline="0" noProof="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81179228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Black Box Testing </a:t>
            </a:r>
            <a:r>
              <a:rPr lang="en-US" sz="1000" noProof="0" dirty="0">
                <a:latin typeface="Times New Roman" panose="02020603050405020304" pitchFamily="18" charset="0"/>
                <a:cs typeface="Times New Roman" panose="02020603050405020304" pitchFamily="18" charset="0"/>
              </a:rPr>
              <a:t>1</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21844"/>
            <a:ext cx="8137208" cy="3465770"/>
          </a:xfrm>
        </p:spPr>
        <p:txBody>
          <a:bodyPr vert="horz" lIns="91440" tIns="45720" rIns="91440" bIns="45720" rtlCol="0">
            <a:noAutofit/>
          </a:bodyPr>
          <a:lstStyle/>
          <a:p>
            <a:r>
              <a:rPr lang="en-US" sz="2400" noProof="0" dirty="0">
                <a:latin typeface="Times New Roman" panose="02020603050405020304" pitchFamily="18" charset="0"/>
                <a:cs typeface="Times New Roman" panose="02020603050405020304" pitchFamily="18" charset="0"/>
              </a:rPr>
              <a:t>Black-box (functional) testing attempts to find errors in the following categories: </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Incorrect or missing functions.</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Interface errors.</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Errors in data structures or external database access.</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Behavior or performance errors.</a:t>
            </a:r>
          </a:p>
          <a:p>
            <a:pPr marL="403200" indent="-403200">
              <a:spcBef>
                <a:spcPts val="1000"/>
              </a:spcBef>
              <a:spcAft>
                <a:spcPts val="0"/>
              </a:spcAft>
              <a:buFont typeface="+mj-lt"/>
              <a:buAutoNum type="arabicPeriod"/>
            </a:pPr>
            <a:r>
              <a:rPr lang="en-US" sz="2400" noProof="0" dirty="0">
                <a:latin typeface="Times New Roman" panose="02020603050405020304" pitchFamily="18" charset="0"/>
                <a:cs typeface="Times New Roman" panose="02020603050405020304" pitchFamily="18" charset="0"/>
              </a:rPr>
              <a:t>Initialization and termination errors.</a:t>
            </a:r>
          </a:p>
        </p:txBody>
      </p:sp>
      <p:sp>
        <p:nvSpPr>
          <p:cNvPr id="9" name="Content Placeholder 5"/>
          <p:cNvSpPr>
            <a:spLocks noGrp="1"/>
          </p:cNvSpPr>
          <p:nvPr>
            <p:ph sz="quarter" idx="16"/>
          </p:nvPr>
        </p:nvSpPr>
        <p:spPr>
          <a:xfrm>
            <a:off x="342900" y="4926047"/>
            <a:ext cx="8458200" cy="1290918"/>
          </a:xfrm>
        </p:spPr>
        <p:txBody>
          <a:bodyPr>
            <a:normAutofit/>
          </a:bodyPr>
          <a:lstStyle/>
          <a:p>
            <a:r>
              <a:rPr lang="en-US" sz="2400" noProof="0" dirty="0">
                <a:latin typeface="Times New Roman" panose="02020603050405020304" pitchFamily="18" charset="0"/>
                <a:cs typeface="Times New Roman" panose="02020603050405020304" pitchFamily="18" charset="0"/>
              </a:rPr>
              <a:t>Unlike white-box testing, which is performed early in the testing process, black-box testing tends to be applied during later stages of testing.</a:t>
            </a:r>
            <a:endParaRPr lang="en-US" sz="2400" noProof="0" dirty="0"/>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sz="800" b="0" i="0" u="none" strike="noStrike" kern="1200" cap="none" spc="0" normalizeH="0" baseline="0" noProof="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426318279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Black Box Testing </a:t>
            </a:r>
            <a:r>
              <a:rPr lang="en-US" sz="1000" noProof="0" dirty="0">
                <a:latin typeface="Times New Roman" panose="02020603050405020304" pitchFamily="18" charset="0"/>
                <a:cs typeface="Times New Roman" panose="02020603050405020304" pitchFamily="18" charset="0"/>
              </a:rPr>
              <a:t>2</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21844"/>
            <a:ext cx="8137208" cy="4674459"/>
          </a:xfrm>
        </p:spPr>
        <p:txBody>
          <a:bodyPr vert="horz" lIns="91440" tIns="45720" rIns="91440" bIns="45720" rtlCol="0">
            <a:noAutofit/>
          </a:bodyPr>
          <a:lstStyle/>
          <a:p>
            <a:r>
              <a:rPr lang="en-US" sz="2400" noProof="0" dirty="0">
                <a:latin typeface="Times New Roman" panose="02020603050405020304" pitchFamily="18" charset="0"/>
                <a:cs typeface="Times New Roman" panose="02020603050405020304" pitchFamily="18" charset="0"/>
              </a:rPr>
              <a:t>Black-box test cases are created to answer questions like:</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How is functional validity tested?</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How are system behavior and performance tested?</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What classes of input will make good test cases?</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Is the system particularly sensitive to certain input values?</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How are the boundaries of a data class isolated?</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What data rates and data volume can the system tolerate?</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What effect will specific combinations of data have on system operation?</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US" sz="800" b="0" i="0" u="none" strike="noStrike" kern="1200" cap="none" spc="0" normalizeH="0" baseline="0" noProof="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361536407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4000" noProof="0" dirty="0">
                <a:latin typeface="Times New Roman" panose="02020603050405020304" pitchFamily="18" charset="0"/>
                <a:cs typeface="Times New Roman" panose="02020603050405020304" pitchFamily="18" charset="0"/>
              </a:rPr>
              <a:t>Role of Scaffolding</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297752" y="1230987"/>
            <a:ext cx="8191500" cy="5138281"/>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Components are not stand-alone program some type of </a:t>
            </a:r>
            <a:r>
              <a:rPr lang="en-US" sz="2400" b="1" i="1" noProof="0" dirty="0">
                <a:latin typeface="Times New Roman" panose="02020603050405020304" pitchFamily="18" charset="0"/>
                <a:cs typeface="Times New Roman" panose="02020603050405020304" pitchFamily="18" charset="0"/>
              </a:rPr>
              <a:t>scaffolding</a:t>
            </a:r>
            <a:r>
              <a:rPr lang="en-US" sz="2400" i="1"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is required to create a testing framework. </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As part of this framework, driver and/or stub software must often be developed for each unit test.</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A </a:t>
            </a:r>
            <a:r>
              <a:rPr lang="en-US" sz="2400" b="1" i="1" noProof="0" dirty="0">
                <a:latin typeface="Times New Roman" panose="02020603050405020304" pitchFamily="18" charset="0"/>
                <a:cs typeface="Times New Roman" panose="02020603050405020304" pitchFamily="18" charset="0"/>
              </a:rPr>
              <a:t>driver</a:t>
            </a:r>
            <a:r>
              <a:rPr lang="en-US" sz="2400" i="1"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is nothing more than a “main program” that accepts test-case data, passes such data to the component (to be tested), and prints relevant results.</a:t>
            </a:r>
          </a:p>
          <a:p>
            <a:pPr marL="291600" indent="-291600">
              <a:spcBef>
                <a:spcPts val="1000"/>
              </a:spcBef>
              <a:spcAft>
                <a:spcPts val="0"/>
              </a:spcAft>
              <a:buFont typeface="Arial" panose="020B0604020202020204" pitchFamily="34" charset="0"/>
              <a:buChar char="•"/>
            </a:pPr>
            <a:r>
              <a:rPr lang="en-US" sz="2400" b="1" i="1" noProof="0" dirty="0">
                <a:latin typeface="Times New Roman" panose="02020603050405020304" pitchFamily="18" charset="0"/>
                <a:cs typeface="Times New Roman" panose="02020603050405020304" pitchFamily="18" charset="0"/>
              </a:rPr>
              <a:t>Stubs</a:t>
            </a:r>
            <a:r>
              <a:rPr lang="en-US" sz="2400" i="1" noProof="0" dirty="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(dummy subprogram) serve to replace modules invoked by the component to be tested. </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A stub uses the module’s interface, may do minimal data manipulation, prints verification of entry, and returns control to the module undergoing testing.</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US" sz="800" b="0" i="0" u="none" strike="noStrike" kern="1200" cap="none" spc="0" normalizeH="0" baseline="0" noProof="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27967400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2800" noProof="0" dirty="0">
                <a:latin typeface="Times New Roman" panose="02020603050405020304" pitchFamily="18" charset="0"/>
                <a:cs typeface="Times New Roman" panose="02020603050405020304" pitchFamily="18" charset="0"/>
              </a:rPr>
              <a:t>Reactive Risk Management</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80048" y="1230989"/>
            <a:ext cx="8191500" cy="2906006"/>
          </a:xfrm>
        </p:spPr>
        <p:txBody>
          <a:bodyPr vert="horz" lIns="91440" tIns="45720" rIns="91440" bIns="45720" rtlCol="0">
            <a:noAutofit/>
          </a:bodyPr>
          <a:lstStyle/>
          <a:p>
            <a:pPr marL="291600" indent="-291600">
              <a:lnSpc>
                <a:spcPct val="90000"/>
              </a:lnSpc>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Project team reacts to risks when they occur.</a:t>
            </a:r>
          </a:p>
          <a:p>
            <a:pPr marL="291600" indent="-291600">
              <a:lnSpc>
                <a:spcPct val="90000"/>
              </a:lnSpc>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Mitigation—plan for additional resources in anticipation of fire fighting.</a:t>
            </a:r>
          </a:p>
          <a:p>
            <a:pPr marL="291600" indent="-291600">
              <a:lnSpc>
                <a:spcPct val="90000"/>
              </a:lnSpc>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Fix on failure—resource are found and applied when the risk strikes.</a:t>
            </a:r>
          </a:p>
          <a:p>
            <a:pPr marL="291600" indent="-291600">
              <a:lnSpc>
                <a:spcPct val="90000"/>
              </a:lnSpc>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Crisis management—failure does not respond to applied resources and project is in jeopardy.</a:t>
            </a:r>
            <a:endParaRPr lang="en-US" sz="16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800" b="0" i="0" u="none" strike="noStrike" kern="1200" cap="none" spc="0" normalizeH="0" baseline="0" noProof="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1191731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2800" noProof="0" dirty="0">
                <a:latin typeface="Times New Roman" panose="02020603050405020304" pitchFamily="18" charset="0"/>
                <a:cs typeface="Times New Roman" panose="02020603050405020304" pitchFamily="18" charset="0"/>
              </a:rPr>
              <a:t>Proactive Risk Management</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80048" y="1230988"/>
            <a:ext cx="8191500" cy="3589587"/>
          </a:xfrm>
        </p:spPr>
        <p:txBody>
          <a:bodyPr vert="horz" lIns="91440" tIns="45720" rIns="91440" bIns="45720" rtlCol="0">
            <a:noAutofit/>
          </a:bodyPr>
          <a:lstStyle/>
          <a:p>
            <a:pPr marL="291600" indent="-291600">
              <a:lnSpc>
                <a:spcPct val="90000"/>
              </a:lnSpc>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Potential risks are identified, their probability and impact are assessed, and they are ranked by importance.</a:t>
            </a:r>
          </a:p>
          <a:p>
            <a:pPr marL="291600" indent="-291600">
              <a:lnSpc>
                <a:spcPct val="90000"/>
              </a:lnSpc>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Software team establishes a plan for managing risk. </a:t>
            </a:r>
          </a:p>
          <a:p>
            <a:pPr marL="291600" indent="-291600">
              <a:lnSpc>
                <a:spcPct val="90000"/>
              </a:lnSpc>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Primary objective is to avoid risk, but because not all risks can be avoided.</a:t>
            </a:r>
          </a:p>
          <a:p>
            <a:pPr marL="291600" indent="-291600">
              <a:lnSpc>
                <a:spcPct val="90000"/>
              </a:lnSpc>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Team works to develop a contingency plans that will enable it to respond in a controlled and effective manner. </a:t>
            </a:r>
          </a:p>
          <a:p>
            <a:pPr marL="291600" indent="-291600">
              <a:lnSpc>
                <a:spcPct val="90000"/>
              </a:lnSpc>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Proactive risk management is a software engineering tools that can be used to reduce technical debt. </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151E55-6873-49E2-B8D5-2F265E6F1973}" type="slidenum">
              <a:rPr kumimoji="0" lang="en-US" sz="800" b="0" i="0" u="none" strike="noStrike" kern="1200" cap="none" spc="0" normalizeH="0" baseline="0" noProof="0" smtClean="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US" sz="800" b="0" i="0" u="none" strike="noStrike" kern="1200" cap="none" spc="0" normalizeH="0" baseline="0" noProof="0">
              <a:ln>
                <a:noFill/>
              </a:ln>
              <a:solidFill>
                <a:srgbClr val="000000">
                  <a:lumMod val="65000"/>
                  <a:lumOff val="35000"/>
                </a:srgbClr>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563762108"/>
      </p:ext>
    </p:extLst>
  </p:cSld>
  <p:clrMapOvr>
    <a:masterClrMapping/>
  </p:clrMapOvr>
</p:sld>
</file>

<file path=ppt/theme/theme1.xml><?xml version="1.0" encoding="utf-8"?>
<a:theme xmlns:a="http://schemas.openxmlformats.org/drawingml/2006/main" name="Title Slides 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9205645-1F2A-4B1E-9674-DA1B2F4D5ED6}"/>
    </a:ext>
  </a:extLst>
</a:theme>
</file>

<file path=ppt/theme/theme2.xml><?xml version="1.0" encoding="utf-8"?>
<a:theme xmlns:a="http://schemas.openxmlformats.org/drawingml/2006/main" name="MainContent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FF0FDA0-6894-4596-BDAC-FCF1DCFBA9AA}"/>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B82DCB52-FEF9-40CC-B3DC-F0115DBC3F82}"/>
    </a:ext>
  </a:extLst>
</a:theme>
</file>

<file path=ppt/theme/theme4.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38380B4B-557F-493C-8BD4-E5DEA4FEDAB0}"/>
    </a:ext>
  </a:extLst>
</a:theme>
</file>

<file path=ppt/theme/theme5.xml><?xml version="1.0" encoding="utf-8"?>
<a:theme xmlns:a="http://schemas.openxmlformats.org/drawingml/2006/main" name="ImageDescriptionAppendix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F0C5A687-89F8-48FC-8D59-8BA67B8E380E}"/>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1_MainContentSlideMaster">
  <a:themeElements>
    <a:clrScheme name="Custom 4">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FF0FDA0-6894-4596-BDAC-FCF1DCFBA9AA}"/>
    </a:ext>
  </a:extLst>
</a:theme>
</file>

<file path=ppt/theme/theme9.xml><?xml version="1.0" encoding="utf-8"?>
<a:theme xmlns:a="http://schemas.openxmlformats.org/drawingml/2006/main" name="2_MainContentSlideMaster">
  <a:themeElements>
    <a:clrScheme name="Custom 1">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FF0FDA0-6894-4596-BDAC-FCF1DCFBA9AA}"/>
    </a:ext>
  </a:extLst>
</a:theme>
</file>

<file path=ppt/theme/theme10.xml><?xml version="1.0" encoding="utf-8"?>
<a:theme xmlns:a="http://schemas.openxmlformats.org/drawingml/2006/main" name="3_MainContentSlideMaster">
  <a:themeElements>
    <a:clrScheme name="Custom 3">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FF0FDA0-6894-4596-BDAC-FCF1DCFBA9AA}"/>
    </a:ext>
  </a:extLst>
</a:theme>
</file>

<file path=ppt/theme/theme11.xml><?xml version="1.0" encoding="utf-8"?>
<a:theme xmlns:a="http://schemas.openxmlformats.org/drawingml/2006/main" name="4_MainContentSlideMaster">
  <a:themeElements>
    <a:clrScheme name="Custom 6">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FF0FDA0-6894-4596-BDAC-FCF1DCFBA9AA}"/>
    </a:ext>
  </a:extLst>
</a:theme>
</file>

<file path=ppt/theme/theme12.xml><?xml version="1.0" encoding="utf-8"?>
<a:theme xmlns:a="http://schemas.openxmlformats.org/drawingml/2006/main" name="5_MainContent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FF0FDA0-6894-4596-BDAC-FCF1DCFBA9AA}"/>
    </a:ext>
  </a:extLst>
</a:theme>
</file>

<file path=ppt/theme/theme13.xml><?xml version="1.0" encoding="utf-8"?>
<a:theme xmlns:a="http://schemas.openxmlformats.org/drawingml/2006/main" name="6_MainContentSlideMaster">
  <a:themeElements>
    <a:clrScheme name="Custom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FF0FDA0-6894-4596-BDAC-FCF1DCFBA9AA}"/>
    </a:ext>
  </a:extLst>
</a:theme>
</file>

<file path=ppt/theme/theme14.xml><?xml version="1.0" encoding="utf-8"?>
<a:theme xmlns:a="http://schemas.openxmlformats.org/drawingml/2006/main" name="7_MainContentSlideMaster">
  <a:themeElements>
    <a:clrScheme name="Custom 23">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FF0FDA0-6894-4596-BDAC-FCF1DCFBA9AA}"/>
    </a:ext>
  </a:extLst>
</a:theme>
</file>

<file path=ppt/theme/theme15.xml><?xml version="1.0" encoding="utf-8"?>
<a:theme xmlns:a="http://schemas.openxmlformats.org/drawingml/2006/main" name="8_MainContent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FF0FDA0-6894-4596-BDAC-FCF1DCFBA9AA}"/>
    </a:ext>
  </a:extLst>
</a:theme>
</file>

<file path=ppt/theme/theme16.xml><?xml version="1.0" encoding="utf-8"?>
<a:theme xmlns:a="http://schemas.openxmlformats.org/drawingml/2006/main" name="9_MainContentSlideMaster">
  <a:themeElements>
    <a:clrScheme name="Custom 2">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FF0FDA0-6894-4596-BDAC-FCF1DCFBA9AA}"/>
    </a:ext>
  </a:extLst>
</a:theme>
</file>

<file path=ppt/theme/theme17.xml><?xml version="1.0" encoding="utf-8"?>
<a:theme xmlns:a="http://schemas.openxmlformats.org/drawingml/2006/main" name="10_MainContent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FF0FDA0-6894-4596-BDAC-FCF1DCFBA9AA}"/>
    </a:ext>
  </a:extLst>
</a:theme>
</file>

<file path=ppt/theme/theme18.xml><?xml version="1.0" encoding="utf-8"?>
<a:theme xmlns:a="http://schemas.openxmlformats.org/drawingml/2006/main" name="11_MainContent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FF0FDA0-6894-4596-BDAC-FCF1DCFBA9AA}"/>
    </a:ext>
  </a:extLst>
</a:theme>
</file>

<file path=ppt/theme/theme19.xml><?xml version="1.0" encoding="utf-8"?>
<a:theme xmlns:a="http://schemas.openxmlformats.org/drawingml/2006/main" name="12_MainContentSlideMaster">
  <a:themeElements>
    <a:clrScheme name="Custom 4">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FF0FDA0-6894-4596-BDAC-FCF1DCFBA9AA}"/>
    </a:ext>
  </a:extLst>
</a:theme>
</file>

<file path=ppt/theme/theme20.xml><?xml version="1.0" encoding="utf-8"?>
<a:theme xmlns:a="http://schemas.openxmlformats.org/drawingml/2006/main" name="13_MainContent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FF0FDA0-6894-4596-BDAC-FCF1DCFBA9AA}"/>
    </a:ext>
  </a:extLst>
</a:theme>
</file>

<file path=ppt/theme/theme21.xml><?xml version="1.0" encoding="utf-8"?>
<a:theme xmlns:a="http://schemas.openxmlformats.org/drawingml/2006/main" name="14_MainContent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FF0FDA0-6894-4596-BDAC-FCF1DCFBA9AA}"/>
    </a:ext>
  </a:extLst>
</a:theme>
</file>

<file path=ppt/theme/theme22.xml><?xml version="1.0" encoding="utf-8"?>
<a:theme xmlns:a="http://schemas.openxmlformats.org/drawingml/2006/main" name="15_MainContent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FF0FDA0-6894-4596-BDAC-FCF1DCFBA9AA}"/>
    </a:ext>
  </a:extLst>
</a:theme>
</file>

<file path=ppt/theme/theme2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MHHE_Generic Accessible PPT Template_Editorial_v8_2018</Template>
  <TotalTime>816</TotalTime>
  <Words>9090</Words>
  <Application>Microsoft Office PowerPoint</Application>
  <PresentationFormat>全屏显示(4:3)</PresentationFormat>
  <Paragraphs>723</Paragraphs>
  <Slides>63</Slides>
  <Notes>19</Notes>
  <HiddenSlides>0</HiddenSlides>
  <MMClips>0</MMClips>
  <ScaleCrop>false</ScaleCrop>
  <HeadingPairs>
    <vt:vector size="6" baseType="variant">
      <vt:variant>
        <vt:lpstr>已用的字体</vt:lpstr>
      </vt:variant>
      <vt:variant>
        <vt:i4>6</vt:i4>
      </vt:variant>
      <vt:variant>
        <vt:lpstr>主题</vt:lpstr>
      </vt:variant>
      <vt:variant>
        <vt:i4>22</vt:i4>
      </vt:variant>
      <vt:variant>
        <vt:lpstr>幻灯片标题</vt:lpstr>
      </vt:variant>
      <vt:variant>
        <vt:i4>63</vt:i4>
      </vt:variant>
    </vt:vector>
  </HeadingPairs>
  <TitlesOfParts>
    <vt:vector size="91" baseType="lpstr">
      <vt:lpstr>Arial MT</vt:lpstr>
      <vt:lpstr>quote-cjk-patch</vt:lpstr>
      <vt:lpstr>等线</vt:lpstr>
      <vt:lpstr>Arial</vt:lpstr>
      <vt:lpstr>Calibri</vt:lpstr>
      <vt:lpstr>Times New Roman</vt:lpstr>
      <vt:lpstr>Title Slides Master</vt:lpstr>
      <vt:lpstr>MainContentSlideMaster</vt:lpstr>
      <vt:lpstr>ClosingMaster</vt:lpstr>
      <vt:lpstr>DividerSlideMaster</vt:lpstr>
      <vt:lpstr>ImageDescriptionAppendixSlideMaster</vt:lpstr>
      <vt:lpstr>Office Theme</vt:lpstr>
      <vt:lpstr>1_Office Theme</vt:lpstr>
      <vt:lpstr>1_MainContentSlideMaster</vt:lpstr>
      <vt:lpstr>2_MainContentSlideMaster</vt:lpstr>
      <vt:lpstr>3_MainContentSlideMaster</vt:lpstr>
      <vt:lpstr>4_MainContentSlideMaster</vt:lpstr>
      <vt:lpstr>5_MainContentSlideMaster</vt:lpstr>
      <vt:lpstr>6_MainContentSlideMaster</vt:lpstr>
      <vt:lpstr>7_MainContentSlideMaster</vt:lpstr>
      <vt:lpstr>8_MainContentSlideMaster</vt:lpstr>
      <vt:lpstr>9_MainContentSlideMaster</vt:lpstr>
      <vt:lpstr>10_MainContentSlideMaster</vt:lpstr>
      <vt:lpstr>11_MainContentSlideMaster</vt:lpstr>
      <vt:lpstr>12_MainContentSlideMaster</vt:lpstr>
      <vt:lpstr>13_MainContentSlideMaster</vt:lpstr>
      <vt:lpstr>14_MainContentSlideMaster</vt:lpstr>
      <vt:lpstr>15_MainContentSlideMaster</vt:lpstr>
      <vt:lpstr>Nature of Software – Defining Software</vt:lpstr>
      <vt:lpstr>What is Software?</vt:lpstr>
      <vt:lpstr>Software Application Domains</vt:lpstr>
      <vt:lpstr>Wear versus Deterioration</vt:lpstr>
      <vt:lpstr>Process Framework Activities</vt:lpstr>
      <vt:lpstr>Hooker’s General Principles for software engineering practice</vt:lpstr>
      <vt:lpstr>Identifying a Task Set</vt:lpstr>
      <vt:lpstr>Waterfall Process Model</vt:lpstr>
      <vt:lpstr>Prototyping Process Model</vt:lpstr>
      <vt:lpstr>Spiral Process Model</vt:lpstr>
      <vt:lpstr>Unified Process Model</vt:lpstr>
      <vt:lpstr>Prototype Evolution Process Model</vt:lpstr>
      <vt:lpstr>What is Agility?</vt:lpstr>
      <vt:lpstr>What is an Agile Process?</vt:lpstr>
      <vt:lpstr>Scrum Framework</vt:lpstr>
      <vt:lpstr>Scrum Details</vt:lpstr>
      <vt:lpstr>Agile Teams</vt:lpstr>
      <vt:lpstr>Agile Teams</vt:lpstr>
      <vt:lpstr>Traits of Successful Software Engineers</vt:lpstr>
      <vt:lpstr>Effective Software Team Attributes</vt:lpstr>
      <vt:lpstr>Factors Affecting Global Software Development Teams</vt:lpstr>
      <vt:lpstr>Factors Affecting Software Team Structure</vt:lpstr>
      <vt:lpstr>Team Toxicity Factors</vt:lpstr>
      <vt:lpstr>Agile Modeling Principles 1</vt:lpstr>
      <vt:lpstr>Agile Modeling Principles 2</vt:lpstr>
      <vt:lpstr>Agile Testing Principles 1</vt:lpstr>
      <vt:lpstr>Agile Testing Principles 2</vt:lpstr>
      <vt:lpstr>Requirements Engineering 1</vt:lpstr>
      <vt:lpstr>Requirements Engineering 2</vt:lpstr>
      <vt:lpstr>Validating Requirements 1</vt:lpstr>
      <vt:lpstr>Validating Requirements 2</vt:lpstr>
      <vt:lpstr>Non-functional Requirements</vt:lpstr>
      <vt:lpstr>Software Engineering Design</vt:lpstr>
      <vt:lpstr>Mapping Requirements Model to Design Model</vt:lpstr>
      <vt:lpstr>Design Concepts 1</vt:lpstr>
      <vt:lpstr>Modularity and Software Cost</vt:lpstr>
      <vt:lpstr>Design Concepts 2</vt:lpstr>
      <vt:lpstr>What is Software Architecture?</vt:lpstr>
      <vt:lpstr>Why is Software Architecture Important?</vt:lpstr>
      <vt:lpstr>Basic Component Design Principles</vt:lpstr>
      <vt:lpstr>Component-Level Design Guidelines</vt:lpstr>
      <vt:lpstr>Cohesion</vt:lpstr>
      <vt:lpstr>Coupling</vt:lpstr>
      <vt:lpstr>User Experience Design Elements 1</vt:lpstr>
      <vt:lpstr>User Experience Design Elements 2</vt:lpstr>
      <vt:lpstr>Golden Rule 1: Place User in Control</vt:lpstr>
      <vt:lpstr>Golden Rule 2: Reduce User’s Memory Load</vt:lpstr>
      <vt:lpstr>Golden Rule 3: Make Interface Consistent</vt:lpstr>
      <vt:lpstr>Context-Aware Apps</vt:lpstr>
      <vt:lpstr>Reviews</vt:lpstr>
      <vt:lpstr>Formal Technical Reviews</vt:lpstr>
      <vt:lpstr>Review Guidelines</vt:lpstr>
      <vt:lpstr>Elements of S Q A</vt:lpstr>
      <vt:lpstr>Role of S Q A Group 1</vt:lpstr>
      <vt:lpstr>Role of S Q A Group 2</vt:lpstr>
      <vt:lpstr>Strategic Approach to Testing</vt:lpstr>
      <vt:lpstr>Testing the Big Picture </vt:lpstr>
      <vt:lpstr>White Box Testing</vt:lpstr>
      <vt:lpstr>Black Box Testing 1</vt:lpstr>
      <vt:lpstr>Black Box Testing 2</vt:lpstr>
      <vt:lpstr>Role of Scaffolding</vt:lpstr>
      <vt:lpstr>Reactive Risk Management</vt:lpstr>
      <vt:lpstr>Proactive Risk Management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of Four Title Slide Options</dc:title>
  <dc:creator>Ervolino, Heather</dc:creator>
  <cp:keywords>PPT</cp:keywords>
  <cp:lastModifiedBy>尔里德 李</cp:lastModifiedBy>
  <cp:revision>32</cp:revision>
  <dcterms:created xsi:type="dcterms:W3CDTF">2019-01-22T22:04:31Z</dcterms:created>
  <dcterms:modified xsi:type="dcterms:W3CDTF">2026-01-13T03:24:44Z</dcterms:modified>
</cp:coreProperties>
</file>