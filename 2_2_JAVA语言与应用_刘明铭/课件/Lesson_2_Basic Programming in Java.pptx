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3.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4.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0"/>
  </p:notesMasterIdLst>
  <p:handoutMasterIdLst>
    <p:handoutMasterId r:id="rId121"/>
  </p:handoutMasterIdLst>
  <p:sldIdLst>
    <p:sldId id="435" r:id="rId2"/>
    <p:sldId id="2105" r:id="rId3"/>
    <p:sldId id="2233" r:id="rId4"/>
    <p:sldId id="2043" r:id="rId5"/>
    <p:sldId id="2227" r:id="rId6"/>
    <p:sldId id="2236" r:id="rId7"/>
    <p:sldId id="2237" r:id="rId8"/>
    <p:sldId id="2238" r:id="rId9"/>
    <p:sldId id="2239" r:id="rId10"/>
    <p:sldId id="2241" r:id="rId11"/>
    <p:sldId id="2242" r:id="rId12"/>
    <p:sldId id="2357" r:id="rId13"/>
    <p:sldId id="2244" r:id="rId14"/>
    <p:sldId id="2245" r:id="rId15"/>
    <p:sldId id="2246" r:id="rId16"/>
    <p:sldId id="2247" r:id="rId17"/>
    <p:sldId id="2249" r:id="rId18"/>
    <p:sldId id="2250" r:id="rId19"/>
    <p:sldId id="2251" r:id="rId20"/>
    <p:sldId id="2358" r:id="rId21"/>
    <p:sldId id="2253" r:id="rId22"/>
    <p:sldId id="2254" r:id="rId23"/>
    <p:sldId id="2255" r:id="rId24"/>
    <p:sldId id="2256" r:id="rId25"/>
    <p:sldId id="2257" r:id="rId26"/>
    <p:sldId id="2258" r:id="rId27"/>
    <p:sldId id="2259" r:id="rId28"/>
    <p:sldId id="2260" r:id="rId29"/>
    <p:sldId id="2261" r:id="rId30"/>
    <p:sldId id="2262" r:id="rId31"/>
    <p:sldId id="2263" r:id="rId32"/>
    <p:sldId id="2264" r:id="rId33"/>
    <p:sldId id="2265" r:id="rId34"/>
    <p:sldId id="2527" r:id="rId35"/>
    <p:sldId id="2359" r:id="rId36"/>
    <p:sldId id="2267" r:id="rId37"/>
    <p:sldId id="2268" r:id="rId38"/>
    <p:sldId id="2269" r:id="rId39"/>
    <p:sldId id="2270" r:id="rId40"/>
    <p:sldId id="2271" r:id="rId41"/>
    <p:sldId id="2272" r:id="rId42"/>
    <p:sldId id="2273" r:id="rId43"/>
    <p:sldId id="2274" r:id="rId44"/>
    <p:sldId id="2275" r:id="rId45"/>
    <p:sldId id="2276" r:id="rId46"/>
    <p:sldId id="2277" r:id="rId47"/>
    <p:sldId id="2278" r:id="rId48"/>
    <p:sldId id="2279" r:id="rId49"/>
    <p:sldId id="2280" r:id="rId50"/>
    <p:sldId id="2281" r:id="rId51"/>
    <p:sldId id="2282" r:id="rId52"/>
    <p:sldId id="2283" r:id="rId53"/>
    <p:sldId id="2284" r:id="rId54"/>
    <p:sldId id="2285" r:id="rId55"/>
    <p:sldId id="2286" r:id="rId56"/>
    <p:sldId id="2287" r:id="rId57"/>
    <p:sldId id="2288" r:id="rId58"/>
    <p:sldId id="2289" r:id="rId59"/>
    <p:sldId id="2290" r:id="rId60"/>
    <p:sldId id="2291" r:id="rId61"/>
    <p:sldId id="2292" r:id="rId62"/>
    <p:sldId id="2293" r:id="rId63"/>
    <p:sldId id="2294" r:id="rId64"/>
    <p:sldId id="2472" r:id="rId65"/>
    <p:sldId id="2296" r:id="rId66"/>
    <p:sldId id="2297" r:id="rId67"/>
    <p:sldId id="2299" r:id="rId68"/>
    <p:sldId id="2300" r:id="rId69"/>
    <p:sldId id="2301" r:id="rId70"/>
    <p:sldId id="2302" r:id="rId71"/>
    <p:sldId id="2303" r:id="rId72"/>
    <p:sldId id="2305" r:id="rId73"/>
    <p:sldId id="2306" r:id="rId74"/>
    <p:sldId id="2473" r:id="rId75"/>
    <p:sldId id="2308" r:id="rId76"/>
    <p:sldId id="2309" r:id="rId77"/>
    <p:sldId id="2311" r:id="rId78"/>
    <p:sldId id="2312" r:id="rId79"/>
    <p:sldId id="2313" r:id="rId80"/>
    <p:sldId id="2314" r:id="rId81"/>
    <p:sldId id="2316" r:id="rId82"/>
    <p:sldId id="2317" r:id="rId83"/>
    <p:sldId id="2318" r:id="rId84"/>
    <p:sldId id="2319" r:id="rId85"/>
    <p:sldId id="2320" r:id="rId86"/>
    <p:sldId id="2321" r:id="rId87"/>
    <p:sldId id="2322" r:id="rId88"/>
    <p:sldId id="2323" r:id="rId89"/>
    <p:sldId id="2474" r:id="rId90"/>
    <p:sldId id="2325" r:id="rId91"/>
    <p:sldId id="2326" r:id="rId92"/>
    <p:sldId id="2327" r:id="rId93"/>
    <p:sldId id="2328" r:id="rId94"/>
    <p:sldId id="2329" r:id="rId95"/>
    <p:sldId id="2330" r:id="rId96"/>
    <p:sldId id="2331" r:id="rId97"/>
    <p:sldId id="2332" r:id="rId98"/>
    <p:sldId id="2333" r:id="rId99"/>
    <p:sldId id="2334" r:id="rId100"/>
    <p:sldId id="2335" r:id="rId101"/>
    <p:sldId id="2336" r:id="rId102"/>
    <p:sldId id="2337" r:id="rId103"/>
    <p:sldId id="2338" r:id="rId104"/>
    <p:sldId id="2339" r:id="rId105"/>
    <p:sldId id="2340" r:id="rId106"/>
    <p:sldId id="2341" r:id="rId107"/>
    <p:sldId id="2342" r:id="rId108"/>
    <p:sldId id="2343" r:id="rId109"/>
    <p:sldId id="2344" r:id="rId110"/>
    <p:sldId id="2349" r:id="rId111"/>
    <p:sldId id="2350" r:id="rId112"/>
    <p:sldId id="2351" r:id="rId113"/>
    <p:sldId id="2352" r:id="rId114"/>
    <p:sldId id="2353" r:id="rId115"/>
    <p:sldId id="2475" r:id="rId116"/>
    <p:sldId id="2354" r:id="rId117"/>
    <p:sldId id="2355" r:id="rId118"/>
    <p:sldId id="309" r:id="rId119"/>
  </p:sldIdLst>
  <p:sldSz cx="10801350" cy="7200900"/>
  <p:notesSz cx="6858000" cy="9144000"/>
  <p:embeddedFontLst>
    <p:embeddedFont>
      <p:font typeface="Arial Black" panose="020B0A04020102020204" pitchFamily="34" charset="0"/>
      <p:bold r:id="rId122"/>
    </p:embeddedFont>
    <p:embeddedFont>
      <p:font typeface="Comic Sans MS" panose="030F0702030302020204" pitchFamily="66" charset="0"/>
      <p:regular r:id="rId123"/>
      <p:bold r:id="rId124"/>
      <p:italic r:id="rId125"/>
      <p:boldItalic r:id="rId126"/>
    </p:embeddedFont>
    <p:embeddedFont>
      <p:font typeface="Consolas" panose="020B0609020204030204" pitchFamily="49" charset="0"/>
      <p:regular r:id="rId127"/>
      <p:bold r:id="rId128"/>
      <p:italic r:id="rId129"/>
      <p:boldItalic r:id="rId130"/>
    </p:embeddedFont>
    <p:embeddedFont>
      <p:font typeface="Felix Titling" panose="04060505060202020A04" pitchFamily="82" charset="0"/>
      <p:regular r:id="rId131"/>
    </p:embeddedFont>
    <p:embeddedFont>
      <p:font typeface="FrankRuehl" panose="020E0503060101010101" pitchFamily="34" charset="-79"/>
      <p:regular r:id="rId132"/>
    </p:embeddedFont>
    <p:embeddedFont>
      <p:font typeface="Impact" panose="020B0806030902050204" pitchFamily="34" charset="0"/>
      <p:regular r:id="rId133"/>
    </p:embeddedFont>
    <p:embeddedFont>
      <p:font typeface="Latha" panose="020B0604020202020204" pitchFamily="34" charset="0"/>
      <p:regular r:id="rId134"/>
      <p:bold r:id="rId135"/>
    </p:embeddedFont>
    <p:embeddedFont>
      <p:font typeface="Tahoma" panose="020B0604030504040204" pitchFamily="34" charset="0"/>
      <p:regular r:id="rId136"/>
      <p:bold r:id="rId137"/>
    </p:embeddedFont>
    <p:embeddedFont>
      <p:font typeface="方正姚体" panose="02010601030101010101" pitchFamily="2" charset="-122"/>
      <p:regular r:id="rId138"/>
    </p:embeddedFont>
    <p:embeddedFont>
      <p:font typeface="微软雅黑" panose="020B0503020204020204" pitchFamily="34" charset="-122"/>
      <p:regular r:id="rId139"/>
      <p:bold r:id="rId140"/>
    </p:embeddedFont>
  </p:embeddedFontLst>
  <p:custDataLst>
    <p:tags r:id="rId141"/>
  </p:custDataLst>
  <p:defaultTextStyle>
    <a:defPPr>
      <a:defRPr lang="zh-CN"/>
    </a:defPPr>
    <a:lvl1pPr marL="0" lvl="0" indent="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1pPr>
    <a:lvl2pPr marL="514350" lvl="1" indent="-5715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2pPr>
    <a:lvl3pPr marL="1028700" lvl="2" indent="-1143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3pPr>
    <a:lvl4pPr marL="1543050" lvl="3" indent="-17145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4pPr>
    <a:lvl5pPr marL="2057400" lvl="4"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228600" algn="l" defTabSz="1028700" rtl="0" eaLnBrk="1" fontAlgn="base" latinLnBrk="0" hangingPunct="1">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58" userDrawn="1">
          <p15:clr>
            <a:srgbClr val="A4A3A4"/>
          </p15:clr>
        </p15:guide>
        <p15:guide id="2" pos="34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7"/>
    <p:restoredTop sz="86432"/>
  </p:normalViewPr>
  <p:slideViewPr>
    <p:cSldViewPr showGuides="1">
      <p:cViewPr varScale="1">
        <p:scale>
          <a:sx n="59" d="100"/>
          <a:sy n="59" d="100"/>
        </p:scale>
        <p:origin x="440" y="56"/>
      </p:cViewPr>
      <p:guideLst>
        <p:guide orient="horz" pos="2258"/>
        <p:guide pos="3462"/>
      </p:guideLst>
    </p:cSldViewPr>
  </p:slideViewPr>
  <p:outlineViewPr>
    <p:cViewPr>
      <p:scale>
        <a:sx n="33" d="100"/>
        <a:sy n="33" d="100"/>
      </p:scale>
      <p:origin x="0" y="61116"/>
    </p:cViewPr>
  </p:outlineViewPr>
  <p:notesTextViewPr>
    <p:cViewPr>
      <p:scale>
        <a:sx n="1" d="1"/>
        <a:sy n="1" d="1"/>
      </p:scale>
      <p:origin x="0" y="0"/>
    </p:cViewPr>
  </p:notesTextViewPr>
  <p:gridSpacing cx="45003" cy="45003"/>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17.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font" Target="fonts/font7.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13.fntdata"/><Relationship Id="rId139" Type="http://schemas.openxmlformats.org/officeDocument/2006/relationships/font" Target="fonts/font18.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3.fntdata"/><Relationship Id="rId129" Type="http://schemas.openxmlformats.org/officeDocument/2006/relationships/font" Target="fonts/font8.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19.fntdata"/><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9.fntdata"/><Relationship Id="rId135" Type="http://schemas.openxmlformats.org/officeDocument/2006/relationships/font" Target="fonts/font14.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125" Type="http://schemas.openxmlformats.org/officeDocument/2006/relationships/font" Target="fonts/font4.fntdata"/><Relationship Id="rId141"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10.fntdata"/><Relationship Id="rId136" Type="http://schemas.openxmlformats.org/officeDocument/2006/relationships/font" Target="fonts/font15.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handoutMaster" Target="handoutMasters/handoutMaster1.xml"/><Relationship Id="rId142"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1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1.fntdata"/><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12.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2.fntdata"/><Relationship Id="rId14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Java_Lesson 7_I/O</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None/>
              <a:defRPr sz="1200" noProof="1">
                <a:cs typeface="+mn-ea"/>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D05E5354-236C-43A4-9505-265C5F84D836}" type="slidenum">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rPr>
              <a:t>‹#›</a:t>
            </a:fld>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p:cNvSpPr>
          <p:nvPr>
            <p:ph type="hdr" sz="quarter"/>
          </p:nvPr>
        </p:nvSpPr>
        <p:spPr>
          <a:xfrm>
            <a:off x="0" y="0"/>
            <a:ext cx="2971800" cy="457200"/>
          </a:xfrm>
          <a:prstGeom prst="rect">
            <a:avLst/>
          </a:prstGeom>
          <a:noFill/>
          <a:ln w="9525">
            <a:noFill/>
            <a:miter/>
          </a:ln>
        </p:spPr>
        <p:txBody>
          <a:bodyPr vert="horz"/>
          <a:lstStyle>
            <a:lvl1pPr eaLnBrk="1" hangingPunct="1">
              <a:buFont typeface="Arial" panose="020B0604020202020204" pitchFamily="34" charset="0"/>
              <a:buNone/>
              <a:defRPr sz="1200" noProof="1"/>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Java_Lesson 7_I/O</a:t>
            </a:r>
            <a:endParaRPr kumimoji="0"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日期占位符 2"/>
          <p:cNvSpPr>
            <a:spLocks noGrp="1"/>
          </p:cNvSpPr>
          <p:nvPr>
            <p:ph type="dt" idx="1"/>
          </p:nvPr>
        </p:nvSpPr>
        <p:spPr>
          <a:xfrm>
            <a:off x="3884613" y="0"/>
            <a:ext cx="2971800" cy="457200"/>
          </a:xfrm>
          <a:prstGeom prst="rect">
            <a:avLst/>
          </a:prstGeom>
          <a:noFill/>
          <a:ln w="9525">
            <a:noFill/>
            <a:miter/>
          </a:ln>
        </p:spPr>
        <p:txBody>
          <a:bodyPr vert="horz"/>
          <a:lstStyle>
            <a:lvl1pPr algn="r" eaLnBrk="1" hangingPunct="1">
              <a:buFont typeface="Arial" panose="020B0604020202020204" pitchFamily="34" charset="0"/>
              <a:buNone/>
              <a:defRPr sz="1200" noProof="1"/>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388" name="幻灯片图像占位符 3"/>
          <p:cNvSpPr>
            <a:spLocks noGrp="1" noRot="1" noChangeAspect="1"/>
          </p:cNvSpPr>
          <p:nvPr>
            <p:ph type="sldImg"/>
          </p:nvPr>
        </p:nvSpPr>
        <p:spPr>
          <a:xfrm>
            <a:off x="857250" y="685800"/>
            <a:ext cx="5143500" cy="3429000"/>
          </a:xfrm>
          <a:prstGeom prst="rect">
            <a:avLst/>
          </a:prstGeom>
          <a:noFill/>
          <a:ln w="9525">
            <a:noFill/>
          </a:ln>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200">
                <a:solidFill>
                  <a:schemeClr val="tx1"/>
                </a:solidFill>
                <a:latin typeface="Arial" panose="020B0604020202020204" pitchFamily="34" charset="0"/>
                <a:ea typeface="宋体" panose="02010600030101010101" pitchFamily="2" charset="-122"/>
              </a:defRPr>
            </a:lvl1pPr>
            <a:lvl2pPr>
              <a:defRPr sz="1200">
                <a:solidFill>
                  <a:schemeClr val="tx1"/>
                </a:solidFill>
                <a:latin typeface="Arial" panose="020B0604020202020204" pitchFamily="34" charset="0"/>
                <a:ea typeface="宋体" panose="02010600030101010101" pitchFamily="2" charset="-122"/>
              </a:defRPr>
            </a:lvl2pPr>
            <a:lvl3pPr>
              <a:defRPr sz="1200">
                <a:solidFill>
                  <a:schemeClr val="tx1"/>
                </a:solidFill>
                <a:latin typeface="Arial" panose="020B0604020202020204" pitchFamily="34" charset="0"/>
                <a:ea typeface="宋体" panose="02010600030101010101" pitchFamily="2" charset="-122"/>
              </a:defRPr>
            </a:lvl3pPr>
            <a:lvl4pPr>
              <a:defRPr sz="1200">
                <a:solidFill>
                  <a:schemeClr val="tx1"/>
                </a:solidFill>
                <a:latin typeface="Arial" panose="020B0604020202020204" pitchFamily="34" charset="0"/>
                <a:ea typeface="宋体" panose="02010600030101010101" pitchFamily="2" charset="-122"/>
              </a:defRPr>
            </a:lvl4pPr>
            <a:lvl5pPr>
              <a:defRPr sz="12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单击此处编辑母版文本样式</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第二级</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第三级</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第四级</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第五级</a:t>
            </a:r>
          </a:p>
        </p:txBody>
      </p:sp>
      <p:sp>
        <p:nvSpPr>
          <p:cNvPr id="2054" name="页脚占位符 5"/>
          <p:cNvSpPr>
            <a:spLocks noGrp="1"/>
          </p:cNvSpPr>
          <p:nvPr>
            <p:ph type="ftr" sz="quarter" idx="4"/>
          </p:nvPr>
        </p:nvSpPr>
        <p:spPr>
          <a:xfrm>
            <a:off x="0" y="8685213"/>
            <a:ext cx="2971800" cy="457200"/>
          </a:xfrm>
          <a:prstGeom prst="rect">
            <a:avLst/>
          </a:prstGeom>
          <a:noFill/>
          <a:ln w="9525">
            <a:noFill/>
            <a:miter/>
          </a:ln>
        </p:spPr>
        <p:txBody>
          <a:bodyPr vert="horz" anchor="b"/>
          <a:lstStyle>
            <a:lvl1pPr eaLnBrk="1" hangingPunct="1">
              <a:buFont typeface="Arial" panose="020B0604020202020204" pitchFamily="34" charset="0"/>
              <a:buNone/>
              <a:defRPr sz="1200" noProof="1"/>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灯片编号占位符 6"/>
          <p:cNvSpPr>
            <a:spLocks noGrp="1"/>
          </p:cNvSpPr>
          <p:nvPr>
            <p:ph type="sldNum" sz="quarter" idx="5"/>
          </p:nvPr>
        </p:nvSpPr>
        <p:spPr>
          <a:xfrm>
            <a:off x="3884613" y="8685213"/>
            <a:ext cx="2971800" cy="457200"/>
          </a:xfrm>
          <a:prstGeom prst="rect">
            <a:avLst/>
          </a:prstGeom>
          <a:noFill/>
          <a:ln w="9525">
            <a:noFill/>
            <a:miter/>
          </a:ln>
        </p:spPr>
        <p:txBody>
          <a:bodyPr vert="horz" wrap="square" lIns="91440" tIns="45720" rIns="91440" bIns="45720" numCol="1" anchor="b" anchorCtr="0" compatLnSpc="1"/>
          <a:lstStyle>
            <a:lvl1pPr algn="r" eaLnBrk="1" hangingPunct="1">
              <a:buFont typeface="Arial" panose="020B0604020202020204" pitchFamily="34" charset="0"/>
              <a:buNone/>
              <a:defRPr noProof="1">
                <a:latin typeface="Calibri" panose="020F0502020204030204" pitchFamily="34" charset="0"/>
                <a:cs typeface="+mn-ea"/>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46DF28B4-3203-46B9-9E5A-9CF2DE0788FE}" type="slidenum">
              <a:rPr kumimoji="0" lang="zh-CN" altLang="en-US" sz="20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ea"/>
              </a:rPr>
              <a:t>‹#›</a:t>
            </a:fld>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lvl="1"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lvl="2"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lvl="3"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lvl="4"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lvl="5" indent="0">
      <a:defRPr sz="1200" kern="1200">
        <a:latin typeface="+mn-lt"/>
        <a:ea typeface="+mn-ea"/>
        <a:cs typeface="+mn-cs"/>
      </a:defRPr>
    </a:lvl6pPr>
    <a:lvl7pPr marL="2743200" lvl="6" indent="0">
      <a:defRPr sz="1200" kern="1200">
        <a:latin typeface="+mn-lt"/>
        <a:ea typeface="+mn-ea"/>
        <a:cs typeface="+mn-cs"/>
      </a:defRPr>
    </a:lvl7pPr>
    <a:lvl8pPr marL="3200400" lvl="7" indent="0">
      <a:defRPr sz="1200" kern="1200">
        <a:latin typeface="+mn-lt"/>
        <a:ea typeface="+mn-ea"/>
        <a:cs typeface="+mn-cs"/>
      </a:defRPr>
    </a:lvl8pPr>
    <a:lvl9pPr marL="3657600" lvl="8" indent="0">
      <a:defRPr sz="1200" kern="1200">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Rot="1" noChangeAspect="1" noTextEdit="1"/>
          </p:cNvSpPr>
          <p:nvPr>
            <p:ph type="sldImg"/>
          </p:nvPr>
        </p:nvSpPr>
        <p:spPr/>
      </p:sp>
      <p:sp>
        <p:nvSpPr>
          <p:cNvPr id="11267" name="Rectangle 3"/>
          <p:cNvSpPr>
            <a:spLocks noGrp="1" noRot="1"/>
          </p:cNvSpPr>
          <p:nvPr>
            <p:ph type="body" idx="1"/>
          </p:nvPr>
        </p:nvSpPr>
        <p:spPr/>
        <p:txBody>
          <a:bodyPr wrap="square" lIns="91440" tIns="45720" rIns="91440" bIns="45720" anchor="ctr"/>
          <a:lstStyle/>
          <a:p>
            <a:pPr lvl="0" eaLnBrk="1" hangingPunct="1"/>
            <a:r>
              <a:rPr lang="en-US" altLang="zh-CN" sz="1600" dirty="0"/>
              <a:t>Java </a:t>
            </a:r>
            <a:r>
              <a:rPr lang="zh-CN" altLang="en-US" sz="1600" dirty="0"/>
              <a:t>中的一维数组和多维数组在数组动态初始化和静态初始化时有何不同？</a:t>
            </a:r>
          </a:p>
          <a:p>
            <a:pPr lvl="0" eaLnBrk="1" hangingPunct="1"/>
            <a:r>
              <a:rPr lang="en-US" altLang="zh-CN" sz="1600" dirty="0"/>
              <a:t>Java</a:t>
            </a:r>
            <a:r>
              <a:rPr lang="zh-CN" altLang="en-US" sz="1600" dirty="0"/>
              <a:t>中的字符串有两种表示方法，这两种表示方法有什么不同？</a:t>
            </a:r>
          </a:p>
          <a:p>
            <a:pPr lvl="0" eaLnBrk="1" hangingPunct="1"/>
            <a:r>
              <a:rPr lang="zh-CN" altLang="en-US" sz="1600" dirty="0"/>
              <a:t>如何访问字符串？如何修改字符串？如何对两个字符串进行比较？</a:t>
            </a:r>
            <a:br>
              <a:rPr lang="zh-CN" altLang="en-US" sz="1400" dirty="0"/>
            </a:br>
            <a:endParaRPr lang="zh-CN" altLang="en-US" sz="1400"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p:sp>
      <p:sp>
        <p:nvSpPr>
          <p:cNvPr id="17411" name="Rectangle 3"/>
          <p:cNvSpPr>
            <a:spLocks noGrp="1" noRot="1"/>
          </p:cNvSpPr>
          <p:nvPr>
            <p:ph type="body" idx="1"/>
          </p:nvPr>
        </p:nvSpPr>
        <p:spPr/>
        <p:txBody>
          <a:bodyPr wrap="square" lIns="91440" tIns="45720" rIns="91440" bIns="45720" anchor="ctr"/>
          <a:lstStyle/>
          <a:p>
            <a:pPr lvl="0" eaLnBrk="1" hangingPunct="1"/>
            <a:r>
              <a:rPr lang="zh-CN" altLang="en-US" dirty="0"/>
              <a:t>比</a:t>
            </a:r>
            <a:r>
              <a:rPr lang="en-US" altLang="zh-CN" dirty="0"/>
              <a:t>c</a:t>
            </a:r>
            <a:r>
              <a:rPr lang="zh-CN" altLang="en-US" dirty="0"/>
              <a:t>多了</a:t>
            </a:r>
            <a:r>
              <a:rPr lang="en-US" altLang="zh-CN" dirty="0"/>
              <a:t>$</a:t>
            </a:r>
            <a:r>
              <a:rPr lang="zh-CN" altLang="en-US" dirty="0"/>
              <a:t>，</a:t>
            </a:r>
            <a:r>
              <a:rPr lang="en-US" altLang="zh-CN" dirty="0"/>
              <a:t>$</a:t>
            </a:r>
            <a:r>
              <a:rPr lang="zh-CN" altLang="en-US" dirty="0"/>
              <a:t>常用来表示系统变量。</a:t>
            </a: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sz="quarter"/>
          </p:nvPr>
        </p:nvSpPr>
        <p:spPr>
          <a:xfrm>
            <a:off x="662016" y="3931500"/>
            <a:ext cx="5296132" cy="3216682"/>
          </a:xfrm>
          <a:prstGeom prst="rect">
            <a:avLst/>
          </a:prstGeom>
        </p:spPr>
        <p:txBody>
          <a:bodyPr/>
          <a:lstStyle/>
          <a:p>
            <a:r>
              <a:rPr lang="zh-CN" altLang="en-US"/>
              <a:t>成员遍历</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sz="quarter"/>
          </p:nvPr>
        </p:nvSpPr>
        <p:spPr>
          <a:xfrm>
            <a:off x="662016" y="3931500"/>
            <a:ext cx="5296132" cy="3216682"/>
          </a:xfrm>
          <a:prstGeom prst="rect">
            <a:avLst/>
          </a:prstGeom>
        </p:spPr>
        <p:txBody>
          <a:bodyPr/>
          <a:lstStyle/>
          <a:p>
            <a:r>
              <a:rPr lang="en-US" altLang="zh-CN" u="heavy"/>
              <a:t>java</a:t>
            </a:r>
            <a:r>
              <a:rPr lang="zh-CN" altLang="en-US"/>
              <a:t>j</a:t>
            </a:r>
            <a:r>
              <a:rPr lang="en-US" altLang="zh-CN"/>
              <a:t>ava</a:t>
            </a:r>
          </a:p>
          <a:p>
            <a:r>
              <a:rPr lang="en-US" altLang="zh-CN"/>
              <a:t>17</a:t>
            </a:r>
            <a:r>
              <a:rPr lang="zh-CN" altLang="en-US"/>
              <a:t>为预览功能，</a:t>
            </a:r>
            <a:r>
              <a:rPr lang="en-US" altLang="zh-CN"/>
              <a:t>21</a:t>
            </a:r>
            <a:r>
              <a:rPr lang="zh-CN" altLang="en-US"/>
              <a:t>成为永久功能</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350169" y="1178481"/>
            <a:ext cx="8101013" cy="2506980"/>
          </a:xfrm>
        </p:spPr>
        <p:txBody>
          <a:bodyPr anchor="b"/>
          <a:lstStyle>
            <a:lvl1pPr algn="ctr">
              <a:defRPr sz="5315">
                <a:latin typeface="微软雅黑" panose="020B0503020204020204" pitchFamily="34" charset="-122"/>
                <a:ea typeface="微软雅黑" panose="020B0503020204020204" pitchFamily="34" charset="-122"/>
              </a:defRPr>
            </a:lvl1pPr>
          </a:lstStyle>
          <a:p>
            <a:pPr fontAlgn="base"/>
            <a:r>
              <a:rPr lang="zh-CN" altLang="en-US" sz="5315" strike="noStrike" noProof="1"/>
              <a:t>单击此处编辑母版标题样式</a:t>
            </a:r>
            <a:endParaRPr lang="zh-CN" altLang="en-US" strike="noStrike" noProof="1"/>
          </a:p>
        </p:txBody>
      </p:sp>
      <p:sp>
        <p:nvSpPr>
          <p:cNvPr id="3" name="副标题 2"/>
          <p:cNvSpPr>
            <a:spLocks noGrp="1"/>
          </p:cNvSpPr>
          <p:nvPr>
            <p:ph type="subTitle" idx="1"/>
          </p:nvPr>
        </p:nvSpPr>
        <p:spPr>
          <a:xfrm>
            <a:off x="1350169" y="3782140"/>
            <a:ext cx="8101013" cy="1738550"/>
          </a:xfrm>
        </p:spPr>
        <p:txBody>
          <a:bodyPr/>
          <a:lstStyle>
            <a:lvl1pPr marL="0" indent="0" algn="ctr">
              <a:buNone/>
              <a:defRPr sz="2125"/>
            </a:lvl1pPr>
            <a:lvl2pPr marL="405130" indent="0" algn="ctr">
              <a:buNone/>
              <a:defRPr sz="1770"/>
            </a:lvl2pPr>
            <a:lvl3pPr marL="810260" indent="0" algn="ctr">
              <a:buNone/>
              <a:defRPr sz="1595"/>
            </a:lvl3pPr>
            <a:lvl4pPr marL="1215390" indent="0" algn="ctr">
              <a:buNone/>
              <a:defRPr sz="1420"/>
            </a:lvl4pPr>
            <a:lvl5pPr marL="1620520" indent="0" algn="ctr">
              <a:buNone/>
              <a:defRPr sz="1420"/>
            </a:lvl5pPr>
            <a:lvl6pPr marL="2025015" indent="0" algn="ctr">
              <a:buNone/>
              <a:defRPr sz="1420"/>
            </a:lvl6pPr>
            <a:lvl7pPr marL="2430145" indent="0" algn="ctr">
              <a:buNone/>
              <a:defRPr sz="1420"/>
            </a:lvl7pPr>
            <a:lvl8pPr marL="2835275" indent="0" algn="ctr">
              <a:buNone/>
              <a:defRPr sz="1420"/>
            </a:lvl8pPr>
            <a:lvl9pPr marL="3240405" indent="0" algn="ctr">
              <a:buNone/>
              <a:defRPr sz="1420"/>
            </a:lvl9pPr>
          </a:lstStyle>
          <a:p>
            <a:pPr fontAlgn="base"/>
            <a:r>
              <a:rPr lang="zh-CN" altLang="en-US" sz="2125" strike="noStrike" noProof="1"/>
              <a:t>单击此处编辑母版副标题样式</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B04DEC44-81F5-402B-88E0-D0171ABF27A4}"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defRPr sz="3200"/>
            </a:lvl1pPr>
            <a:lvl2pPr>
              <a:defRPr sz="2800"/>
            </a:lvl2pPr>
            <a:lvl3pPr>
              <a:defRPr sz="2400"/>
            </a:lvl3pPr>
            <a:lvl4pPr>
              <a:defRPr sz="2000"/>
            </a:lvl4pPr>
            <a:lvl5pPr>
              <a:defRPr sz="1800"/>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E4ABA1E-F4A1-4B47-9AAE-69574FBD723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36967" y="1795225"/>
            <a:ext cx="9316164" cy="2995374"/>
          </a:xfrm>
        </p:spPr>
        <p:txBody>
          <a:bodyPr anchor="b"/>
          <a:lstStyle>
            <a:lvl1pPr>
              <a:defRPr sz="5315">
                <a:latin typeface="微软雅黑" panose="020B0503020204020204" pitchFamily="34" charset="-122"/>
                <a:ea typeface="微软雅黑" panose="020B0503020204020204" pitchFamily="34" charset="-122"/>
              </a:defRPr>
            </a:lvl1pPr>
          </a:lstStyle>
          <a:p>
            <a:pPr fontAlgn="base"/>
            <a:r>
              <a:rPr lang="zh-CN" altLang="en-US" sz="5315" strike="noStrike" noProof="1"/>
              <a:t>单击此处编辑母版标题样式</a:t>
            </a:r>
            <a:endParaRPr lang="zh-CN" altLang="en-US" strike="noStrike" noProof="1"/>
          </a:p>
        </p:txBody>
      </p:sp>
      <p:sp>
        <p:nvSpPr>
          <p:cNvPr id="3" name="文本占位符 2"/>
          <p:cNvSpPr>
            <a:spLocks noGrp="1"/>
          </p:cNvSpPr>
          <p:nvPr>
            <p:ph type="body" idx="1"/>
          </p:nvPr>
        </p:nvSpPr>
        <p:spPr>
          <a:xfrm>
            <a:off x="736967" y="4818936"/>
            <a:ext cx="9316164" cy="1575196"/>
          </a:xfrm>
        </p:spPr>
        <p:txBody>
          <a:bodyPr/>
          <a:lstStyle>
            <a:lvl1pPr marL="0" indent="0">
              <a:buNone/>
              <a:defRPr sz="2125">
                <a:solidFill>
                  <a:schemeClr val="tx1">
                    <a:tint val="75000"/>
                  </a:schemeClr>
                </a:solidFill>
              </a:defRPr>
            </a:lvl1pPr>
            <a:lvl2pPr marL="405130" indent="0">
              <a:buNone/>
              <a:defRPr sz="1770">
                <a:solidFill>
                  <a:schemeClr val="tx1">
                    <a:tint val="75000"/>
                  </a:schemeClr>
                </a:solidFill>
              </a:defRPr>
            </a:lvl2pPr>
            <a:lvl3pPr marL="810260" indent="0">
              <a:buNone/>
              <a:defRPr sz="1595">
                <a:solidFill>
                  <a:schemeClr val="tx1">
                    <a:tint val="75000"/>
                  </a:schemeClr>
                </a:solidFill>
              </a:defRPr>
            </a:lvl3pPr>
            <a:lvl4pPr marL="1215390" indent="0">
              <a:buNone/>
              <a:defRPr sz="1420">
                <a:solidFill>
                  <a:schemeClr val="tx1">
                    <a:tint val="75000"/>
                  </a:schemeClr>
                </a:solidFill>
              </a:defRPr>
            </a:lvl4pPr>
            <a:lvl5pPr marL="1620520" indent="0">
              <a:buNone/>
              <a:defRPr sz="1420">
                <a:solidFill>
                  <a:schemeClr val="tx1">
                    <a:tint val="75000"/>
                  </a:schemeClr>
                </a:solidFill>
              </a:defRPr>
            </a:lvl5pPr>
            <a:lvl6pPr marL="2025015" indent="0">
              <a:buNone/>
              <a:defRPr sz="1420">
                <a:solidFill>
                  <a:schemeClr val="tx1">
                    <a:tint val="75000"/>
                  </a:schemeClr>
                </a:solidFill>
              </a:defRPr>
            </a:lvl6pPr>
            <a:lvl7pPr marL="2430145" indent="0">
              <a:buNone/>
              <a:defRPr sz="1420">
                <a:solidFill>
                  <a:schemeClr val="tx1">
                    <a:tint val="75000"/>
                  </a:schemeClr>
                </a:solidFill>
              </a:defRPr>
            </a:lvl7pPr>
            <a:lvl8pPr marL="2835275" indent="0">
              <a:buNone/>
              <a:defRPr sz="1420">
                <a:solidFill>
                  <a:schemeClr val="tx1">
                    <a:tint val="75000"/>
                  </a:schemeClr>
                </a:solidFill>
              </a:defRPr>
            </a:lvl8pPr>
            <a:lvl9pPr marL="3240405" indent="0">
              <a:buNone/>
              <a:defRPr sz="1420">
                <a:solidFill>
                  <a:schemeClr val="tx1">
                    <a:tint val="75000"/>
                  </a:schemeClr>
                </a:solidFill>
              </a:defRPr>
            </a:lvl9pPr>
          </a:lstStyle>
          <a:p>
            <a:pPr lvl="0" fontAlgn="base"/>
            <a:r>
              <a:rPr lang="zh-CN" altLang="en-US" sz="2125" strike="noStrike" noProof="1"/>
              <a:t>单击此处编辑母版文本样式</a:t>
            </a:r>
            <a:endParaRPr lang="zh-CN" altLang="en-US" strike="noStrike" noProof="1"/>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5DA2773A-039E-4D0B-9FB6-870239BEDA7A}"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95300" y="1395413"/>
            <a:ext cx="4763707" cy="47513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5453444" y="1395413"/>
            <a:ext cx="4763707" cy="47513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04E050F0-2353-4035-9336-0D6E26FF3F0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4000" y="383381"/>
            <a:ext cx="9316164" cy="1391841"/>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1051408" y="1867360"/>
            <a:ext cx="4317682" cy="865108"/>
          </a:xfrm>
        </p:spPr>
        <p:txBody>
          <a:bodyPr anchor="ctr"/>
          <a:lstStyle>
            <a:lvl1pPr marL="0" indent="0">
              <a:buNone/>
              <a:defRPr sz="2480"/>
            </a:lvl1pPr>
            <a:lvl2pPr marL="405130" indent="0">
              <a:buNone/>
              <a:defRPr sz="2125"/>
            </a:lvl2pPr>
            <a:lvl3pPr marL="810260" indent="0">
              <a:buNone/>
              <a:defRPr sz="1770"/>
            </a:lvl3pPr>
            <a:lvl4pPr marL="1215390" indent="0">
              <a:buNone/>
              <a:defRPr sz="1595"/>
            </a:lvl4pPr>
            <a:lvl5pPr marL="1620520" indent="0">
              <a:buNone/>
              <a:defRPr sz="1595"/>
            </a:lvl5pPr>
            <a:lvl6pPr marL="2025015" indent="0">
              <a:buNone/>
              <a:defRPr sz="1595"/>
            </a:lvl6pPr>
            <a:lvl7pPr marL="2430145" indent="0">
              <a:buNone/>
              <a:defRPr sz="1595"/>
            </a:lvl7pPr>
            <a:lvl8pPr marL="2835275" indent="0">
              <a:buNone/>
              <a:defRPr sz="1595"/>
            </a:lvl8pPr>
            <a:lvl9pPr marL="3240405" indent="0">
              <a:buNone/>
              <a:defRPr sz="1595"/>
            </a:lvl9pPr>
          </a:lstStyle>
          <a:p>
            <a:pPr lvl="0" fontAlgn="base"/>
            <a:r>
              <a:rPr lang="zh-CN" altLang="en-US" sz="2480" strike="noStrike" noProof="1"/>
              <a:t>单击此处编辑母版文本样式</a:t>
            </a:r>
            <a:endParaRPr lang="zh-CN" altLang="en-US" strike="noStrike" noProof="1"/>
          </a:p>
        </p:txBody>
      </p:sp>
      <p:sp>
        <p:nvSpPr>
          <p:cNvPr id="4" name="内容占位符 3"/>
          <p:cNvSpPr>
            <a:spLocks noGrp="1"/>
          </p:cNvSpPr>
          <p:nvPr>
            <p:ph sz="half" idx="2"/>
          </p:nvPr>
        </p:nvSpPr>
        <p:spPr>
          <a:xfrm>
            <a:off x="1051408" y="2798648"/>
            <a:ext cx="4317682" cy="370049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5543256" y="1867360"/>
            <a:ext cx="4338946" cy="865108"/>
          </a:xfrm>
        </p:spPr>
        <p:txBody>
          <a:bodyPr anchor="ctr"/>
          <a:lstStyle>
            <a:lvl1pPr marL="0" indent="0">
              <a:buNone/>
              <a:defRPr sz="2480"/>
            </a:lvl1pPr>
            <a:lvl2pPr marL="405130" indent="0">
              <a:buNone/>
              <a:defRPr sz="2125"/>
            </a:lvl2pPr>
            <a:lvl3pPr marL="810260" indent="0">
              <a:buNone/>
              <a:defRPr sz="1770"/>
            </a:lvl3pPr>
            <a:lvl4pPr marL="1215390" indent="0">
              <a:buNone/>
              <a:defRPr sz="1595"/>
            </a:lvl4pPr>
            <a:lvl5pPr marL="1620520" indent="0">
              <a:buNone/>
              <a:defRPr sz="1595"/>
            </a:lvl5pPr>
            <a:lvl6pPr marL="2025015" indent="0">
              <a:buNone/>
              <a:defRPr sz="1595"/>
            </a:lvl6pPr>
            <a:lvl7pPr marL="2430145" indent="0">
              <a:buNone/>
              <a:defRPr sz="1595"/>
            </a:lvl7pPr>
            <a:lvl8pPr marL="2835275" indent="0">
              <a:buNone/>
              <a:defRPr sz="1595"/>
            </a:lvl8pPr>
            <a:lvl9pPr marL="3240405" indent="0">
              <a:buNone/>
              <a:defRPr sz="1595"/>
            </a:lvl9pPr>
          </a:lstStyle>
          <a:p>
            <a:pPr lvl="0" fontAlgn="base"/>
            <a:r>
              <a:rPr lang="zh-CN" altLang="en-US" sz="2480" strike="noStrike" noProof="1"/>
              <a:t>单击此处编辑母版文本样式</a:t>
            </a:r>
            <a:endParaRPr lang="zh-CN" altLang="en-US" strike="noStrike" noProof="1"/>
          </a:p>
        </p:txBody>
      </p:sp>
      <p:sp>
        <p:nvSpPr>
          <p:cNvPr id="6" name="内容占位符 5"/>
          <p:cNvSpPr>
            <a:spLocks noGrp="1"/>
          </p:cNvSpPr>
          <p:nvPr>
            <p:ph sz="quarter" idx="4"/>
          </p:nvPr>
        </p:nvSpPr>
        <p:spPr>
          <a:xfrm>
            <a:off x="5543256" y="2798648"/>
            <a:ext cx="4338946" cy="370049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1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1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C96AC177-BAFA-4737-87AF-3776919DE842}"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a:t>单击此处编辑母版标题样式</a:t>
            </a:r>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FB509E3B-15AE-44C4-A5B2-D5FF4FCB0DAE}"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CA08B262-9595-4FD8-97A0-F2BEE22F6F4A}"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4000" y="480060"/>
            <a:ext cx="3483716" cy="1680210"/>
          </a:xfrm>
        </p:spPr>
        <p:txBody>
          <a:bodyPr anchor="b"/>
          <a:lstStyle>
            <a:lvl1pPr>
              <a:defRPr sz="2835"/>
            </a:lvl1pPr>
          </a:lstStyle>
          <a:p>
            <a:pPr fontAlgn="base"/>
            <a:r>
              <a:rPr lang="zh-CN" altLang="en-US" sz="2835" strike="noStrike" noProof="1"/>
              <a:t>单击此处编辑母版标题样式</a:t>
            </a:r>
            <a:endParaRPr lang="zh-CN" altLang="en-US" strike="noStrike" noProof="1"/>
          </a:p>
        </p:txBody>
      </p:sp>
      <p:sp>
        <p:nvSpPr>
          <p:cNvPr id="3" name="内容占位符 2"/>
          <p:cNvSpPr>
            <a:spLocks noGrp="1"/>
          </p:cNvSpPr>
          <p:nvPr>
            <p:ph idx="1"/>
          </p:nvPr>
        </p:nvSpPr>
        <p:spPr>
          <a:xfrm>
            <a:off x="4591981" y="1036796"/>
            <a:ext cx="5468183" cy="5117306"/>
          </a:xfrm>
        </p:spPr>
        <p:txBody>
          <a:bodyPr/>
          <a:lstStyle>
            <a:lvl1pPr>
              <a:defRPr sz="2835"/>
            </a:lvl1pPr>
            <a:lvl2pPr>
              <a:defRPr sz="2480"/>
            </a:lvl2pPr>
            <a:lvl3pPr>
              <a:defRPr sz="2125"/>
            </a:lvl3pPr>
            <a:lvl4pPr>
              <a:defRPr sz="1770"/>
            </a:lvl4pPr>
            <a:lvl5pPr>
              <a:defRPr sz="1770"/>
            </a:lvl5pPr>
            <a:lvl6pPr>
              <a:defRPr sz="1770"/>
            </a:lvl6pPr>
            <a:lvl7pPr>
              <a:defRPr sz="1770"/>
            </a:lvl7pPr>
            <a:lvl8pPr>
              <a:defRPr sz="1770"/>
            </a:lvl8pPr>
            <a:lvl9pPr>
              <a:defRPr sz="1770"/>
            </a:lvl9pPr>
          </a:lstStyle>
          <a:p>
            <a:pPr lvl="0" fontAlgn="base"/>
            <a:r>
              <a:rPr lang="zh-CN" altLang="en-US" sz="2835" strike="noStrike" noProof="1"/>
              <a:t>单击此处编辑母版文本样式</a:t>
            </a:r>
            <a:endParaRPr lang="zh-CN" altLang="en-US" strike="noStrike" noProof="1"/>
          </a:p>
          <a:p>
            <a:pPr lvl="1" fontAlgn="base"/>
            <a:r>
              <a:rPr lang="zh-CN" altLang="en-US" sz="2480" strike="noStrike" noProof="1"/>
              <a:t>第二级</a:t>
            </a:r>
            <a:endParaRPr lang="zh-CN" altLang="en-US" strike="noStrike" noProof="1"/>
          </a:p>
          <a:p>
            <a:pPr lvl="2" fontAlgn="base"/>
            <a:r>
              <a:rPr lang="zh-CN" altLang="en-US" sz="2125" strike="noStrike" noProof="1"/>
              <a:t>第三级</a:t>
            </a:r>
            <a:endParaRPr lang="zh-CN" altLang="en-US" strike="noStrike" noProof="1"/>
          </a:p>
          <a:p>
            <a:pPr lvl="3" fontAlgn="base"/>
            <a:r>
              <a:rPr lang="zh-CN" altLang="en-US" sz="1770" strike="noStrike" noProof="1"/>
              <a:t>第四级</a:t>
            </a:r>
            <a:endParaRPr lang="zh-CN" altLang="en-US" strike="noStrike" noProof="1"/>
          </a:p>
          <a:p>
            <a:pPr lvl="4" fontAlgn="base"/>
            <a:r>
              <a:rPr lang="zh-CN" altLang="en-US" sz="1770" strike="noStrike" noProof="1"/>
              <a:t>第五级</a:t>
            </a:r>
            <a:endParaRPr lang="zh-CN" altLang="en-US" strike="noStrike" noProof="1"/>
          </a:p>
        </p:txBody>
      </p:sp>
      <p:sp>
        <p:nvSpPr>
          <p:cNvPr id="4" name="文本占位符 3"/>
          <p:cNvSpPr>
            <a:spLocks noGrp="1"/>
          </p:cNvSpPr>
          <p:nvPr>
            <p:ph type="body" sz="half" idx="2"/>
          </p:nvPr>
        </p:nvSpPr>
        <p:spPr>
          <a:xfrm>
            <a:off x="744000" y="2160270"/>
            <a:ext cx="3483716" cy="4002167"/>
          </a:xfrm>
        </p:spPr>
        <p:txBody>
          <a:bodyPr/>
          <a:lstStyle>
            <a:lvl1pPr marL="0" indent="0">
              <a:buNone/>
              <a:defRPr sz="1420"/>
            </a:lvl1pPr>
            <a:lvl2pPr marL="405130" indent="0">
              <a:buNone/>
              <a:defRPr sz="1240"/>
            </a:lvl2pPr>
            <a:lvl3pPr marL="810260" indent="0">
              <a:buNone/>
              <a:defRPr sz="1065"/>
            </a:lvl3pPr>
            <a:lvl4pPr marL="1215390" indent="0">
              <a:buNone/>
              <a:defRPr sz="885"/>
            </a:lvl4pPr>
            <a:lvl5pPr marL="1620520" indent="0">
              <a:buNone/>
              <a:defRPr sz="885"/>
            </a:lvl5pPr>
            <a:lvl6pPr marL="2025015" indent="0">
              <a:buNone/>
              <a:defRPr sz="885"/>
            </a:lvl6pPr>
            <a:lvl7pPr marL="2430145" indent="0">
              <a:buNone/>
              <a:defRPr sz="885"/>
            </a:lvl7pPr>
            <a:lvl8pPr marL="2835275" indent="0">
              <a:buNone/>
              <a:defRPr sz="885"/>
            </a:lvl8pPr>
            <a:lvl9pPr marL="3240405" indent="0">
              <a:buNone/>
              <a:defRPr sz="885"/>
            </a:lvl9pPr>
          </a:lstStyle>
          <a:p>
            <a:pPr lvl="0" fontAlgn="base"/>
            <a:r>
              <a:rPr lang="zh-CN" altLang="en-US" sz="1420" strike="noStrike" noProof="1"/>
              <a:t>单击此处编辑母版文本样式</a:t>
            </a:r>
            <a:endParaRPr lang="zh-CN" altLang="en-US" strike="noStrike" noProof="1"/>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BA4918B3-A6F1-48BA-8184-BEE8D7C6884E}"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4000" y="480060"/>
            <a:ext cx="3690239" cy="1680210"/>
          </a:xfrm>
        </p:spPr>
        <p:txBody>
          <a:bodyPr anchor="b"/>
          <a:lstStyle>
            <a:lvl1pPr>
              <a:defRPr sz="2835"/>
            </a:lvl1pPr>
          </a:lstStyle>
          <a:p>
            <a:pPr fontAlgn="base"/>
            <a:r>
              <a:rPr lang="zh-CN" altLang="en-US" sz="2835" strike="noStrike" noProof="1"/>
              <a:t>单击此处编辑母版标题样式</a:t>
            </a:r>
            <a:endParaRPr lang="zh-CN" altLang="en-US" strike="noStrike" noProof="1"/>
          </a:p>
        </p:txBody>
      </p:sp>
      <p:sp>
        <p:nvSpPr>
          <p:cNvPr id="3" name="图片占位符 2"/>
          <p:cNvSpPr>
            <a:spLocks noGrp="1"/>
          </p:cNvSpPr>
          <p:nvPr>
            <p:ph type="pic" idx="1"/>
          </p:nvPr>
        </p:nvSpPr>
        <p:spPr>
          <a:xfrm>
            <a:off x="4591981" y="480061"/>
            <a:ext cx="5468183" cy="5674043"/>
          </a:xfrm>
        </p:spPr>
        <p:txBody>
          <a:bodyPr vert="horz" wrap="square" lIns="102870" tIns="51435" rIns="102870" bIns="51435" numCol="1" anchor="t" anchorCtr="0" compatLnSpc="1"/>
          <a:lstStyle>
            <a:lvl1pPr marL="0" indent="0">
              <a:buNone/>
              <a:defRPr sz="2835"/>
            </a:lvl1pPr>
            <a:lvl2pPr marL="405130" indent="0">
              <a:buNone/>
              <a:defRPr sz="2480"/>
            </a:lvl2pPr>
            <a:lvl3pPr marL="810260" indent="0">
              <a:buNone/>
              <a:defRPr sz="2125"/>
            </a:lvl3pPr>
            <a:lvl4pPr marL="1215390" indent="0">
              <a:buNone/>
              <a:defRPr sz="1770"/>
            </a:lvl4pPr>
            <a:lvl5pPr marL="1620520" indent="0">
              <a:buNone/>
              <a:defRPr sz="1770"/>
            </a:lvl5pPr>
            <a:lvl6pPr marL="2025015" indent="0">
              <a:buNone/>
              <a:defRPr sz="1770"/>
            </a:lvl6pPr>
            <a:lvl7pPr marL="2430145" indent="0">
              <a:buNone/>
              <a:defRPr sz="1770"/>
            </a:lvl7pPr>
            <a:lvl8pPr marL="2835275" indent="0">
              <a:buNone/>
              <a:defRPr sz="1770"/>
            </a:lvl8pPr>
            <a:lvl9pPr marL="3240405" indent="0">
              <a:buNone/>
              <a:defRPr sz="1770"/>
            </a:lvl9pPr>
          </a:lstStyle>
          <a:p>
            <a:pPr marL="0" marR="0" lvl="0" indent="0" algn="l" defTabSz="10287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2835" b="0"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endParaRPr>
          </a:p>
        </p:txBody>
      </p:sp>
      <p:sp>
        <p:nvSpPr>
          <p:cNvPr id="4" name="文本占位符 3"/>
          <p:cNvSpPr>
            <a:spLocks noGrp="1"/>
          </p:cNvSpPr>
          <p:nvPr>
            <p:ph type="body" sz="half" idx="2"/>
          </p:nvPr>
        </p:nvSpPr>
        <p:spPr>
          <a:xfrm>
            <a:off x="744000" y="2160270"/>
            <a:ext cx="3690239" cy="4002167"/>
          </a:xfrm>
        </p:spPr>
        <p:txBody>
          <a:bodyPr/>
          <a:lstStyle>
            <a:lvl1pPr marL="0" indent="0">
              <a:buNone/>
              <a:defRPr sz="1770"/>
            </a:lvl1pPr>
            <a:lvl2pPr marL="405130" indent="0">
              <a:buNone/>
              <a:defRPr sz="1595"/>
            </a:lvl2pPr>
            <a:lvl3pPr marL="810260" indent="0">
              <a:buNone/>
              <a:defRPr sz="1420"/>
            </a:lvl3pPr>
            <a:lvl4pPr marL="1215390" indent="0">
              <a:buNone/>
              <a:defRPr sz="1240"/>
            </a:lvl4pPr>
            <a:lvl5pPr marL="1620520" indent="0">
              <a:buNone/>
              <a:defRPr sz="1240"/>
            </a:lvl5pPr>
            <a:lvl6pPr marL="2025015" indent="0">
              <a:buNone/>
              <a:defRPr sz="1240"/>
            </a:lvl6pPr>
            <a:lvl7pPr marL="2430145" indent="0">
              <a:buNone/>
              <a:defRPr sz="1240"/>
            </a:lvl7pPr>
            <a:lvl8pPr marL="2835275" indent="0">
              <a:buNone/>
              <a:defRPr sz="1240"/>
            </a:lvl8pPr>
            <a:lvl9pPr marL="3240405" indent="0">
              <a:buNone/>
              <a:defRPr sz="1240"/>
            </a:lvl9pPr>
          </a:lstStyle>
          <a:p>
            <a:pPr lvl="0" fontAlgn="base"/>
            <a:r>
              <a:rPr lang="zh-CN" altLang="en-US" sz="1770" strike="noStrike" noProof="1"/>
              <a:t>单击此处编辑母版文本样式</a:t>
            </a:r>
            <a:endParaRPr lang="zh-CN" altLang="en-US" strike="noStrike" noProof="1"/>
          </a:p>
        </p:txBody>
      </p:sp>
      <p:sp>
        <p:nvSpPr>
          <p:cNvPr id="12" name="日期占位符 3"/>
          <p:cNvSpPr>
            <a:spLocks noGrp="1"/>
          </p:cNvSpPr>
          <p:nvPr>
            <p:ph type="dt" sz="half" idx="1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2C44AEEF-2EA4-49FB-A4C6-AE4915F2818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7EAA3FC1-4343-4447-8791-CFAC0F972F3A}"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786688" y="450850"/>
            <a:ext cx="2430463" cy="5695950"/>
          </a:xfrm>
        </p:spPr>
        <p:txBody>
          <a:bodyPr vert="eaVert"/>
          <a:lstStyle>
            <a:lvl1pPr>
              <a:defRPr>
                <a:latin typeface="微软雅黑" panose="020B0503020204020204" pitchFamily="34" charset="-122"/>
                <a:ea typeface="微软雅黑" panose="020B0503020204020204" pitchFamily="34" charset="-122"/>
              </a:defRPr>
            </a:lvl1p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95300" y="450850"/>
            <a:ext cx="7150491" cy="569595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2"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B17F0989-DA08-4BD9-846C-C1F14FB8A3CB}"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230655" y="240030"/>
            <a:ext cx="9850606" cy="608076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2" name="日期占位符 2"/>
          <p:cNvSpPr>
            <a:spLocks noGrp="1"/>
          </p:cNvSpPr>
          <p:nvPr>
            <p:ph type="dt" sz="half" idx="2"/>
          </p:nvPr>
        </p:nvSpPr>
        <p:spPr>
          <a:xfrm>
            <a:off x="5397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fld id="{EA784135-762A-4035-8EE0-10B9542390D5}" type="datetime1">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rPr>
              <a:t>2025/2/19</a:t>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3"/>
          <p:cNvSpPr>
            <a:spLocks noGrp="1"/>
          </p:cNvSpPr>
          <p:nvPr>
            <p:ph type="ftr" sz="quarter" idx="3"/>
          </p:nvPr>
        </p:nvSpPr>
        <p:spPr>
          <a:xfrm>
            <a:off x="3690938" y="6561138"/>
            <a:ext cx="3419475"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4"/>
          <p:cNvSpPr>
            <a:spLocks noGrp="1"/>
          </p:cNvSpPr>
          <p:nvPr>
            <p:ph type="sldNum" sz="quarter" idx="4"/>
          </p:nvPr>
        </p:nvSpPr>
        <p:spPr>
          <a:xfrm>
            <a:off x="77406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5AB1899D-96FE-4D39-BDD1-90357FF6953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30655" y="240030"/>
            <a:ext cx="9468058" cy="96012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720090" y="1680210"/>
            <a:ext cx="4590574" cy="464058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5490686" y="1680210"/>
            <a:ext cx="4590574" cy="464058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2" name="日期占位符 4"/>
          <p:cNvSpPr>
            <a:spLocks noGrp="1"/>
          </p:cNvSpPr>
          <p:nvPr>
            <p:ph type="dt" sz="half" idx="12"/>
          </p:nvPr>
        </p:nvSpPr>
        <p:spPr>
          <a:xfrm>
            <a:off x="5397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fld id="{1FDD5721-E9EE-4D83-8C0D-0FC7C1A21609}" type="datetime1">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rPr>
              <a:t>2025/2/19</a:t>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3" name="页脚占位符 5"/>
          <p:cNvSpPr>
            <a:spLocks noGrp="1"/>
          </p:cNvSpPr>
          <p:nvPr>
            <p:ph type="ftr" sz="quarter" idx="3"/>
          </p:nvPr>
        </p:nvSpPr>
        <p:spPr>
          <a:xfrm>
            <a:off x="3690938" y="6561138"/>
            <a:ext cx="3419475"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4" name="灯片编号占位符 6"/>
          <p:cNvSpPr>
            <a:spLocks noGrp="1"/>
          </p:cNvSpPr>
          <p:nvPr>
            <p:ph type="sldNum" sz="quarter" idx="4"/>
          </p:nvPr>
        </p:nvSpPr>
        <p:spPr>
          <a:xfrm>
            <a:off x="7740650" y="6561138"/>
            <a:ext cx="2520950" cy="479425"/>
          </a:xfrm>
          <a:prstGeom prst="rect">
            <a:avLst/>
          </a:prstGeom>
          <a:noFill/>
          <a:ln w="9525">
            <a:noFill/>
            <a:miter/>
          </a:ln>
        </p:spPr>
        <p:txBody>
          <a:bodyPr vert="horz" wrap="square" lIns="102870" tIns="51435" rIns="102870" bIns="51435" numCol="1" anchor="ctr" anchorCtr="0" compatLnSpc="1"/>
          <a:lstStyle>
            <a:lvl1pPr>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00A02036-80E4-4490-812A-9D6B1EB1DF96}"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en-US"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95300" y="450850"/>
            <a:ext cx="9720263" cy="569913"/>
          </a:xfrm>
          <a:prstGeom prst="rect">
            <a:avLst/>
          </a:prstGeom>
          <a:noFill/>
          <a:ln w="9525">
            <a:noFill/>
          </a:ln>
        </p:spPr>
        <p:txBody>
          <a:bodyPr lIns="102870" tIns="51435" rIns="102870" bIns="51435" anchor="ctr"/>
          <a:lstStyle/>
          <a:p>
            <a:pPr lvl="0"/>
            <a:r>
              <a:rPr lang="zh-CN" altLang="en-US" dirty="0"/>
              <a:t>单击此处编辑母版标题样式</a:t>
            </a:r>
          </a:p>
        </p:txBody>
      </p:sp>
      <p:sp>
        <p:nvSpPr>
          <p:cNvPr id="1027" name="文本占位符 2"/>
          <p:cNvSpPr>
            <a:spLocks noGrp="1"/>
          </p:cNvSpPr>
          <p:nvPr>
            <p:ph type="body"/>
          </p:nvPr>
        </p:nvSpPr>
        <p:spPr>
          <a:xfrm>
            <a:off x="495300" y="1395413"/>
            <a:ext cx="9721850" cy="4751387"/>
          </a:xfrm>
          <a:prstGeom prst="rect">
            <a:avLst/>
          </a:prstGeom>
          <a:noFill/>
          <a:ln w="9525">
            <a:noFill/>
          </a:ln>
        </p:spPr>
        <p:txBody>
          <a:bodyPr lIns="102870" tIns="51435" rIns="102870" bIns="51435" anchor="t"/>
          <a:lstStyle/>
          <a:p>
            <a:pPr lvl="0" indent="-386080"/>
            <a:r>
              <a:rPr lang="zh-CN" altLang="en-US" dirty="0"/>
              <a:t>单击此处编辑母版文本样式</a:t>
            </a:r>
          </a:p>
          <a:p>
            <a:pPr lvl="1" indent="-320675"/>
            <a:r>
              <a:rPr lang="zh-CN" altLang="en-US" dirty="0"/>
              <a:t>第二级</a:t>
            </a:r>
          </a:p>
          <a:p>
            <a:pPr lvl="2" indent="-257175"/>
            <a:r>
              <a:rPr lang="zh-CN" altLang="en-US" dirty="0"/>
              <a:t>第三级</a:t>
            </a:r>
          </a:p>
          <a:p>
            <a:pPr lvl="3" indent="-257175"/>
            <a:r>
              <a:rPr lang="zh-CN" altLang="en-US" dirty="0"/>
              <a:t>第四级</a:t>
            </a:r>
          </a:p>
          <a:p>
            <a:pPr lvl="4" indent="-257175"/>
            <a:r>
              <a:rPr lang="zh-CN" altLang="en-US" dirty="0"/>
              <a:t>第五级</a:t>
            </a:r>
          </a:p>
        </p:txBody>
      </p:sp>
      <p:sp>
        <p:nvSpPr>
          <p:cNvPr id="1028" name="日期占位符 3"/>
          <p:cNvSpPr>
            <a:spLocks noGrp="1"/>
          </p:cNvSpPr>
          <p:nvPr>
            <p:ph type="dt" sz="half" idx="2"/>
          </p:nvPr>
        </p:nvSpPr>
        <p:spPr>
          <a:xfrm>
            <a:off x="539750" y="6673850"/>
            <a:ext cx="2520950" cy="384175"/>
          </a:xfrm>
          <a:prstGeom prst="rect">
            <a:avLst/>
          </a:prstGeom>
          <a:noFill/>
          <a:ln w="9525">
            <a:noFill/>
            <a:miter/>
          </a:ln>
        </p:spPr>
        <p:txBody>
          <a:bodyPr vert="horz" wrap="square" lIns="102870" tIns="51435" rIns="102870" bIns="51435" numCol="1" anchor="ctr" anchorCtr="0" compatLnSpc="1"/>
          <a:lstStyle>
            <a:lvl1pPr eaLnBrk="1" hangingPunct="1">
              <a:buFont typeface="Arial" panose="020B0604020202020204" pitchFamily="34" charset="0"/>
              <a:buNone/>
              <a:defRPr sz="1400" noProof="1">
                <a:solidFill>
                  <a:srgbClr val="898989"/>
                </a:solidFill>
                <a:latin typeface="Calibri" panose="020F0502020204030204" pitchFamily="34" charset="0"/>
                <a:sym typeface="Calibri" panose="020F0502020204030204" pitchFamily="34" charset="0"/>
              </a:defRPr>
            </a:lvl1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29" name="页脚占位符 4"/>
          <p:cNvSpPr>
            <a:spLocks noGrp="1"/>
          </p:cNvSpPr>
          <p:nvPr>
            <p:ph type="ftr" sz="quarter" idx="3"/>
          </p:nvPr>
        </p:nvSpPr>
        <p:spPr>
          <a:xfrm>
            <a:off x="3690938" y="6673850"/>
            <a:ext cx="3419475" cy="384175"/>
          </a:xfrm>
          <a:prstGeom prst="rect">
            <a:avLst/>
          </a:prstGeom>
          <a:noFill/>
          <a:ln w="9525">
            <a:noFill/>
            <a:miter/>
          </a:ln>
        </p:spPr>
        <p:txBody>
          <a:bodyPr vert="horz" wrap="square" lIns="102870" tIns="51435" rIns="102870" bIns="51435" numCol="1" anchor="ctr" anchorCtr="0" compatLnSpc="1"/>
          <a:lstStyle>
            <a:lvl1pPr algn="ctr" eaLnBrk="1" hangingPunct="1">
              <a:buFont typeface="Arial" panose="020B0604020202020204" pitchFamily="34" charset="0"/>
              <a:buNone/>
              <a:defRPr sz="1400" noProof="1">
                <a:solidFill>
                  <a:srgbClr val="898989"/>
                </a:solidFill>
                <a:latin typeface="Calibri" panose="020F0502020204030204" pitchFamily="34" charset="0"/>
                <a:sym typeface="Calibri" panose="020F0502020204030204" pitchFamily="34" charset="0"/>
              </a:defRPr>
            </a:lvl1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30" name="灯片编号占位符 5"/>
          <p:cNvSpPr>
            <a:spLocks noGrp="1"/>
          </p:cNvSpPr>
          <p:nvPr>
            <p:ph type="sldNum" sz="quarter" idx="4"/>
          </p:nvPr>
        </p:nvSpPr>
        <p:spPr>
          <a:xfrm>
            <a:off x="7740650" y="6673850"/>
            <a:ext cx="2520950" cy="384175"/>
          </a:xfrm>
          <a:prstGeom prst="rect">
            <a:avLst/>
          </a:prstGeom>
          <a:noFill/>
          <a:ln w="9525">
            <a:noFill/>
            <a:miter/>
          </a:ln>
        </p:spPr>
        <p:txBody>
          <a:bodyPr vert="horz" wrap="square" lIns="102870" tIns="51435" rIns="102870" bIns="51435" numCol="1" anchor="ctr" anchorCtr="0" compatLnSpc="1"/>
          <a:lstStyle>
            <a:lvl1pPr algn="r" eaLnBrk="1" hangingPunct="1">
              <a:buFont typeface="Arial" panose="020B0604020202020204" pitchFamily="34" charset="0"/>
              <a:buNone/>
              <a:defRPr sz="1400" noProof="1">
                <a:solidFill>
                  <a:srgbClr val="898989"/>
                </a:solidFill>
                <a:latin typeface="Calibri" panose="020F0502020204030204" pitchFamily="34" charset="0"/>
                <a:cs typeface="+mn-ea"/>
                <a:sym typeface="Calibri" panose="020F0502020204030204" pitchFamily="34" charset="0"/>
              </a:defRPr>
            </a:lvl1pPr>
          </a:lstStyle>
          <a:p>
            <a:pPr marL="0" marR="0" lvl="0" indent="0" algn="r" defTabSz="1028700" rtl="0" eaLnBrk="1" fontAlgn="base" latinLnBrk="0" hangingPunct="1">
              <a:lnSpc>
                <a:spcPct val="100000"/>
              </a:lnSpc>
              <a:spcBef>
                <a:spcPct val="0"/>
              </a:spcBef>
              <a:spcAft>
                <a:spcPct val="0"/>
              </a:spcAft>
              <a:buClrTx/>
              <a:buSzTx/>
              <a:buFont typeface="Arial" panose="020B0604020202020204" pitchFamily="34" charset="0"/>
              <a:buNone/>
              <a:defRPr/>
            </a:pPr>
            <a:fld id="{7761D1BB-FC42-4936-A86B-3CA890E1C33E}"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sym typeface="Calibri" panose="020F0502020204030204" pitchFamily="34" charset="0"/>
            </a:endParaRPr>
          </a:p>
        </p:txBody>
      </p:sp>
      <p:sp>
        <p:nvSpPr>
          <p:cNvPr id="1031" name="矩形 6"/>
          <p:cNvSpPr>
            <a:spLocks noChangeArrowheads="1"/>
          </p:cNvSpPr>
          <p:nvPr/>
        </p:nvSpPr>
        <p:spPr bwMode="auto">
          <a:xfrm>
            <a:off x="0" y="6526213"/>
            <a:ext cx="10801350" cy="9525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2870" tIns="51435" rIns="102870" bIns="51435" anchor="ct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32" name="TextBox 7"/>
          <p:cNvSpPr>
            <a:spLocks noChangeArrowheads="1"/>
          </p:cNvSpPr>
          <p:nvPr/>
        </p:nvSpPr>
        <p:spPr bwMode="auto">
          <a:xfrm>
            <a:off x="8731250" y="6319838"/>
            <a:ext cx="755650" cy="473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spAutoFit/>
          </a:bodyP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l" defTabSz="10287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rgbClr val="00B0F0"/>
                </a:solidFill>
                <a:effectLst/>
                <a:uLnTx/>
                <a:uFillTx/>
                <a:latin typeface="Impact" panose="020B0806030902050204" pitchFamily="34" charset="0"/>
                <a:ea typeface="宋体" panose="02010600030101010101" pitchFamily="2" charset="-122"/>
                <a:cs typeface="+mn-cs"/>
                <a:sym typeface="Impact" panose="020B0806030902050204" pitchFamily="34" charset="0"/>
              </a:rPr>
              <a:t>Java</a:t>
            </a:r>
            <a:endParaRPr kumimoji="0" lang="zh-CN" altLang="en-US" sz="2400" b="0" i="0" u="none" strike="noStrike" kern="1200" cap="none" spc="0" normalizeH="0" baseline="0" noProof="0">
              <a:ln>
                <a:noFill/>
              </a:ln>
              <a:solidFill>
                <a:srgbClr val="00B0F0"/>
              </a:solidFill>
              <a:effectLst/>
              <a:uLnTx/>
              <a:uFillTx/>
              <a:latin typeface="Impact" panose="020B0806030902050204" pitchFamily="34" charset="0"/>
              <a:ea typeface="宋体" panose="02010600030101010101" pitchFamily="2" charset="-122"/>
              <a:cs typeface="+mn-cs"/>
              <a:sym typeface="Impact" panose="020B0806030902050204" pitchFamily="34" charset="0"/>
            </a:endParaRPr>
          </a:p>
        </p:txBody>
      </p:sp>
      <p:sp>
        <p:nvSpPr>
          <p:cNvPr id="1033" name="矩形 6"/>
          <p:cNvSpPr>
            <a:spLocks noChangeArrowheads="1"/>
          </p:cNvSpPr>
          <p:nvPr/>
        </p:nvSpPr>
        <p:spPr bwMode="auto">
          <a:xfrm>
            <a:off x="0" y="1216025"/>
            <a:ext cx="10801350" cy="5397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4140" tIns="50165" rIns="104140" bIns="50165" anchor="ctr"/>
          <a:lstStyle>
            <a:lvl1pPr>
              <a:defRPr sz="2000">
                <a:solidFill>
                  <a:schemeClr val="tx1"/>
                </a:solidFill>
                <a:latin typeface="Arial" panose="020B0604020202020204" pitchFamily="34" charset="0"/>
                <a:ea typeface="宋体" panose="02010600030101010101" pitchFamily="2" charset="-122"/>
              </a:defRPr>
            </a:lvl1pPr>
            <a:lvl2pPr>
              <a:defRPr sz="2000">
                <a:solidFill>
                  <a:schemeClr val="tx1"/>
                </a:solidFill>
                <a:latin typeface="Arial" panose="020B0604020202020204" pitchFamily="34" charset="0"/>
                <a:ea typeface="宋体" panose="02010600030101010101" pitchFamily="2" charset="-122"/>
              </a:defRPr>
            </a:lvl2pPr>
            <a:lvl3pPr>
              <a:defRPr sz="20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marL="25146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6pPr>
            <a:lvl7pPr marL="29718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7pPr>
            <a:lvl8pPr marL="34290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8pPr>
            <a:lvl9pPr marL="3886200" indent="-228600" defTabSz="1028700" fontAlgn="base">
              <a:spcBef>
                <a:spcPct val="0"/>
              </a:spcBef>
              <a:spcAft>
                <a:spcPct val="0"/>
              </a:spcAft>
              <a:buFont typeface="Arial" panose="020B0604020202020204" pitchFamily="34" charset="0"/>
              <a:defRPr sz="2000">
                <a:solidFill>
                  <a:schemeClr val="tx1"/>
                </a:solidFill>
                <a:latin typeface="Arial" panose="020B0604020202020204" pitchFamily="34" charset="0"/>
                <a:ea typeface="宋体" panose="02010600030101010101" pitchFamily="2" charset="-122"/>
              </a:defRPr>
            </a:lvl9pPr>
          </a:lstStyle>
          <a:p>
            <a:pPr marL="0" marR="0" lvl="0" indent="0" algn="ctr" defTabSz="10287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34" name="TextBox 7"/>
          <p:cNvSpPr/>
          <p:nvPr/>
        </p:nvSpPr>
        <p:spPr>
          <a:xfrm>
            <a:off x="1125535" y="6301206"/>
            <a:ext cx="2190664" cy="473206"/>
          </a:xfrm>
          <a:prstGeom prst="rect">
            <a:avLst/>
          </a:prstGeom>
          <a:solidFill>
            <a:schemeClr val="bg1">
              <a:alpha val="100000"/>
            </a:schemeClr>
          </a:solidFill>
          <a:ln w="9525">
            <a:noFill/>
            <a:miter/>
          </a:ln>
        </p:spPr>
        <p:txBody>
          <a:bodyPr wrap="none" lIns="102870" tIns="51435" rIns="102870" bIns="51435">
            <a:spAutoFit/>
            <a:scene3d>
              <a:camera prst="orthographicFront"/>
              <a:lightRig rig="threePt" dir="t"/>
            </a:scene3d>
          </a:bodyPr>
          <a:lstStyle/>
          <a:p>
            <a:pPr marL="0" marR="0" lvl="0" indent="0" algn="l" defTabSz="10287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en-US" altLang="zh-CN" sz="2400" b="1" i="0" u="none" strike="noStrike" kern="1200" cap="none" spc="-100" normalizeH="0" baseline="0" noProof="1">
                <a:ln>
                  <a:noFill/>
                </a:ln>
                <a:solidFill>
                  <a:srgbClr val="00B0F0"/>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mn-ea"/>
              </a:rPr>
              <a:t>Java</a:t>
            </a:r>
            <a:r>
              <a:rPr kumimoji="0" lang="zh-CN" altLang="en-US" sz="2400" b="1" i="0" u="none" strike="noStrike" kern="1200" cap="none" spc="-100" normalizeH="0" baseline="0" noProof="1">
                <a:ln>
                  <a:noFill/>
                </a:ln>
                <a:solidFill>
                  <a:srgbClr val="00B0F0"/>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mn-ea"/>
              </a:rPr>
              <a:t>语言与应用</a:t>
            </a:r>
            <a:endParaRPr kumimoji="0" lang="zh-CN" altLang="en-US" sz="2400" b="1" i="0" u="none" strike="noStrike" kern="1200" cap="none" spc="-100" normalizeH="0" baseline="0" noProof="1">
              <a:ln>
                <a:noFill/>
              </a:ln>
              <a:solidFill>
                <a:schemeClr val="tx2">
                  <a:lumMod val="60000"/>
                  <a:lumOff val="40000"/>
                </a:schemeClr>
              </a:solidFill>
              <a:effectLst>
                <a:outerShdw blurRad="38100" dist="25400" dir="5400000" algn="ctr" rotWithShape="0">
                  <a:srgbClr val="6E747A">
                    <a:alpha val="43000"/>
                  </a:srgbClr>
                </a:outerShdw>
              </a:effectLst>
              <a:uLnTx/>
              <a:uFillTx/>
              <a:latin typeface="方正姚体" panose="02010601030101010101" charset="-122"/>
              <a:ea typeface="方正姚体" panose="02010601030101010101" charset="-122"/>
              <a:cs typeface="+mn-ea"/>
              <a:sym typeface="Impact" panose="020B0806030902050204" pitchFamily="34" charset="0"/>
            </a:endParaRPr>
          </a:p>
        </p:txBody>
      </p:sp>
      <p:pic>
        <p:nvPicPr>
          <p:cNvPr id="1035" name="图片 1"/>
          <p:cNvPicPr>
            <a:picLocks noChangeAspect="1"/>
          </p:cNvPicPr>
          <p:nvPr userDrawn="1"/>
        </p:nvPicPr>
        <p:blipFill>
          <a:blip r:embed="rId15"/>
          <a:srcRect l="10876" r="18822" b="17163"/>
          <a:stretch>
            <a:fillRect/>
          </a:stretch>
        </p:blipFill>
        <p:spPr>
          <a:xfrm>
            <a:off x="8453438" y="6216650"/>
            <a:ext cx="1095375" cy="59213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1028700" rtl="0" eaLnBrk="0" fontAlgn="base" hangingPunct="0">
        <a:spcBef>
          <a:spcPct val="0"/>
        </a:spcBef>
        <a:spcAft>
          <a:spcPct val="0"/>
        </a:spcAft>
        <a:buFont typeface="Arial" panose="020B0604020202020204" pitchFamily="34" charset="0"/>
        <a:defRPr sz="3600" b="1" kern="1200">
          <a:solidFill>
            <a:srgbClr val="00B0F0"/>
          </a:solidFill>
          <a:latin typeface="微软雅黑" panose="020B0503020204020204" pitchFamily="34" charset="-122"/>
          <a:ea typeface="微软雅黑" panose="020B0503020204020204" pitchFamily="34" charset="-122"/>
          <a:cs typeface="+mj-cs"/>
          <a:sym typeface="Calibri" panose="020F0502020204030204" pitchFamily="34" charset="0"/>
        </a:defRPr>
      </a:lvl1pPr>
      <a:lvl2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2pPr>
      <a:lvl3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3pPr>
      <a:lvl4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4pPr>
      <a:lvl5pPr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5pPr>
      <a:lvl6pPr marL="4572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6pPr>
      <a:lvl7pPr marL="9144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7pPr>
      <a:lvl8pPr marL="13716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8pPr>
      <a:lvl9pPr marL="1828800" algn="l" defTabSz="1028700" rtl="0" eaLnBrk="0" fontAlgn="base" hangingPunct="0">
        <a:spcBef>
          <a:spcPct val="0"/>
        </a:spcBef>
        <a:spcAft>
          <a:spcPct val="0"/>
        </a:spcAft>
        <a:buFont typeface="Arial" panose="020B0604020202020204" pitchFamily="34" charset="0"/>
        <a:defRPr sz="3600" b="1">
          <a:solidFill>
            <a:srgbClr val="00B0F0"/>
          </a:solidFill>
          <a:latin typeface="微软雅黑" panose="020B0503020204020204" pitchFamily="34" charset="-122"/>
          <a:ea typeface="微软雅黑" panose="020B0503020204020204" pitchFamily="34" charset="-122"/>
          <a:sym typeface="Calibri" panose="020F0502020204030204" pitchFamily="34" charset="0"/>
        </a:defRPr>
      </a:lvl9pPr>
    </p:titleStyle>
    <p:bodyStyle>
      <a:lvl1pPr marL="386080" indent="-386080" algn="l" defTabSz="1028700" rtl="0" eaLnBrk="0" fontAlgn="base" hangingPunct="0">
        <a:spcBef>
          <a:spcPct val="20000"/>
        </a:spcBef>
        <a:spcAft>
          <a:spcPct val="0"/>
        </a:spcAft>
        <a:buFont typeface="Arial" panose="020B0604020202020204" pitchFamily="34" charset="0"/>
        <a:buChar char="•"/>
        <a:defRPr sz="36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835025" lvl="1" indent="-320675" algn="l" defTabSz="1028700" rtl="0" eaLnBrk="0" fontAlgn="base" hangingPunct="0">
        <a:spcBef>
          <a:spcPct val="20000"/>
        </a:spcBef>
        <a:spcAft>
          <a:spcPct val="0"/>
        </a:spcAft>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2pPr>
      <a:lvl3pPr marL="1285875" lvl="2" indent="-257175" algn="l" defTabSz="1028700" rtl="0" eaLnBrk="0" fontAlgn="base" hangingPunct="0">
        <a:spcBef>
          <a:spcPct val="20000"/>
        </a:spcBef>
        <a:spcAft>
          <a:spcPct val="0"/>
        </a:spcAft>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3pPr>
      <a:lvl4pPr marL="1800225" lvl="3" indent="-257175" algn="l" defTabSz="1028700" rtl="0" eaLnBrk="0" fontAlgn="base" hangingPunct="0">
        <a:spcBef>
          <a:spcPct val="20000"/>
        </a:spcBef>
        <a:spcAft>
          <a:spcPct val="0"/>
        </a:spcAft>
        <a:buFont typeface="Arial" panose="020B0604020202020204" pitchFamily="34" charset="0"/>
        <a:buChar char="–"/>
        <a:defRPr sz="23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4pPr>
      <a:lvl5pPr marL="2314575" lvl="4" indent="-257175" algn="l" defTabSz="1028700" rtl="0" eaLnBrk="0" fontAlgn="base" hangingPunct="0">
        <a:spcBef>
          <a:spcPct val="20000"/>
        </a:spcBef>
        <a:spcAft>
          <a:spcPct val="0"/>
        </a:spcAft>
        <a:buFont typeface="Arial" panose="020B0604020202020204" pitchFamily="34" charset="0"/>
        <a:buChar char="»"/>
        <a:defRPr sz="2300" kern="120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5pPr>
      <a:lvl6pPr marL="2514600" lvl="5"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6pPr>
      <a:lvl7pPr marL="2971800" lvl="6"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7pPr>
      <a:lvl8pPr marL="3429000" lvl="7"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8pPr>
      <a:lvl9pPr marL="3886200" lvl="8" indent="-228600" algn="l" defTabSz="1028700" eaLnBrk="0" fontAlgn="base" latinLnBrk="0"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sym typeface="Calibri" panose="020F0502020204030204" pitchFamily="34" charset="0"/>
        </a:defRPr>
      </a:lvl9pPr>
    </p:bodyStyle>
    <p:otherStyle>
      <a:lvl1pPr lvl="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1pPr>
      <a:lvl2pPr marL="514350" lvl="1" indent="-5715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2pPr>
      <a:lvl3pPr marL="1028700" lvl="2" indent="-1143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3pPr>
      <a:lvl4pPr marL="1543050" lvl="3" indent="-17145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4pPr>
      <a:lvl5pPr marL="2057400" lvl="4"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5pPr>
      <a:lvl6pPr marL="2286000" lvl="5"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6pPr>
      <a:lvl7pPr marL="2743200" lvl="6"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7pPr>
      <a:lvl8pPr marL="3200400" lvl="7"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8pPr>
      <a:lvl9pPr marL="3657600" lvl="8" indent="-228600" algn="l" defTabSz="1028700" fontAlgn="base">
        <a:spcBef>
          <a:spcPct val="0"/>
        </a:spcBef>
        <a:spcAft>
          <a:spcPct val="0"/>
        </a:spcAft>
        <a:buClr>
          <a:srgbClr val="000000"/>
        </a:buClr>
        <a:buFont typeface="Arial" panose="020B0604020202020204" pitchFamily="34" charset="0"/>
        <a:defRPr sz="20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23.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28.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33.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39.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41.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61.xml.rels><?xml version="1.0" encoding="UTF-8" standalone="yes"?>
<Relationships xmlns="http://schemas.openxmlformats.org/package/2006/relationships"><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 Id="rId4"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73.xml.rels><?xml version="1.0" encoding="UTF-8" standalone="yes"?>
<Relationships xmlns="http://schemas.openxmlformats.org/package/2006/relationships"><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 Id="rId4"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 Id="rId4"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9.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0.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1.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3.xml"/></Relationships>
</file>

<file path=ppt/slides/_rels/slide81.xml.rels><?xml version="1.0" encoding="UTF-8" standalone="yes"?>
<Relationships xmlns="http://schemas.openxmlformats.org/package/2006/relationships"><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 Id="rId4"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83.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4"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audio" Target="../media/audio1.wav"/><Relationship Id="rId4"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4.xml"/></Relationships>
</file>

<file path=ppt/slides/_rels/slide86.xml.rels><?xml version="1.0" encoding="UTF-8" standalone="yes"?>
<Relationships xmlns="http://schemas.openxmlformats.org/package/2006/relationships"><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 Id="rId4"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88.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4"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 Id="rId4"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5.xml"/></Relationships>
</file>

<file path=ppt/slides/_rels/slide92.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4"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9.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0.xml"/></Relationships>
</file>

<file path=ppt/slides/_rels/slide95.xml.rels><?xml version="1.0" encoding="UTF-8" standalone="yes"?>
<Relationships xmlns="http://schemas.openxmlformats.org/package/2006/relationships"><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 Id="rId4"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4.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5.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6.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7.xml"/></Relationships>
</file>

<file path=ppt/slides/_rels/slide100.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4"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4"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4"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7.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8.xml"/></Relationships>
</file>

<file path=ppt/slides/_rels/slide105.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4"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 Id="rId4"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4"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 Id="rId4"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1.xml"/></Relationships>
</file>

<file path=ppt/slides/_rels/slide110.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4"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4"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8.xml"/></Relationships>
</file>

<file path=ppt/slides/_rels/slide113.xml.rels><?xml version="1.0" encoding="UTF-8" standalone="yes"?>
<Relationships xmlns="http://schemas.openxmlformats.org/package/2006/relationships"><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 Id="rId4"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 Id="rId4"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hyperlink" Target="../../../j2sdk1.4.1_01/docs/api/java/lang/Integer.html" TargetMode="External"/><Relationship Id="rId5" Type="http://schemas.openxmlformats.org/officeDocument/2006/relationships/hyperlink" Target="../../../j2sdk1.4.1_01/docs/api/java/lang/Byte.html" TargetMode="External"/><Relationship Id="rId4"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 Id="rId4"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 Id="rId4"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593263" y="2851150"/>
            <a:ext cx="1144587" cy="1430338"/>
            <a:chOff x="8564451" y="2716812"/>
            <a:chExt cx="579549" cy="1361673"/>
          </a:xfrm>
        </p:grpSpPr>
        <p:sp>
          <p:nvSpPr>
            <p:cNvPr id="12" name="矩形 11"/>
            <p:cNvSpPr/>
            <p:nvPr/>
          </p:nvSpPr>
          <p:spPr>
            <a:xfrm>
              <a:off x="8564451" y="2716812"/>
              <a:ext cx="579549" cy="99291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31" name="矩形 30"/>
            <p:cNvSpPr/>
            <p:nvPr/>
          </p:nvSpPr>
          <p:spPr>
            <a:xfrm>
              <a:off x="8564451" y="3804941"/>
              <a:ext cx="579549" cy="27354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2" name="组合 1"/>
          <p:cNvGrpSpPr/>
          <p:nvPr/>
        </p:nvGrpSpPr>
        <p:grpSpPr>
          <a:xfrm>
            <a:off x="125413" y="2852738"/>
            <a:ext cx="9469437" cy="1468754"/>
            <a:chOff x="0" y="2716812"/>
            <a:chExt cx="5991142" cy="1396393"/>
          </a:xfrm>
        </p:grpSpPr>
        <p:sp>
          <p:nvSpPr>
            <p:cNvPr id="30" name="矩形 29"/>
            <p:cNvSpPr/>
            <p:nvPr/>
          </p:nvSpPr>
          <p:spPr>
            <a:xfrm>
              <a:off x="0" y="3803897"/>
              <a:ext cx="5991142" cy="27328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0" y="2716812"/>
              <a:ext cx="5991142" cy="9919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ts val="0"/>
                </a:spcBef>
                <a:spcAft>
                  <a:spcPts val="0"/>
                </a:spcAft>
                <a:buClrTx/>
                <a:buSzTx/>
                <a:buFontTx/>
                <a:buNone/>
                <a:defRPr/>
              </a:pPr>
              <a:endParaRPr kumimoji="0" lang="zh-CN" altLang="en-US" sz="1890" b="0" i="0" u="none" strike="noStrike" kern="1200" cap="none" spc="0" normalizeH="0" baseline="0" noProof="0">
                <a:ln>
                  <a:noFill/>
                </a:ln>
                <a:solidFill>
                  <a:schemeClr val="lt1"/>
                </a:solidFill>
                <a:effectLst/>
                <a:uLnTx/>
                <a:uFillTx/>
                <a:latin typeface="+mn-lt"/>
                <a:ea typeface="+mn-ea"/>
                <a:cs typeface="+mn-cs"/>
              </a:endParaRPr>
            </a:p>
          </p:txBody>
        </p:sp>
        <p:sp>
          <p:nvSpPr>
            <p:cNvPr id="4112" name="文本框 6"/>
            <p:cNvSpPr txBox="1"/>
            <p:nvPr/>
          </p:nvSpPr>
          <p:spPr>
            <a:xfrm>
              <a:off x="3109569" y="2917620"/>
              <a:ext cx="2795197" cy="739551"/>
            </a:xfrm>
            <a:prstGeom prst="rect">
              <a:avLst/>
            </a:prstGeom>
            <a:noFill/>
            <a:ln w="9525">
              <a:noFill/>
              <a:miter/>
            </a:ln>
          </p:spPr>
          <p:txBody>
            <a:bodyPr>
              <a:spAutoFit/>
            </a:bodyPr>
            <a:lstStyle/>
            <a:p>
              <a:pPr marR="0" algn="ctr" defTabSz="1028700">
                <a:lnSpc>
                  <a:spcPct val="125000"/>
                </a:lnSpc>
                <a:buClrTx/>
                <a:buSzTx/>
                <a:buFont typeface="Arial" panose="020B0604020202020204" pitchFamily="34" charset="0"/>
                <a:buNone/>
                <a:defRPr/>
              </a:pPr>
              <a:r>
                <a:rPr kumimoji="0" lang="en-US" altLang="zh-CN" sz="3570" b="1" kern="1200" cap="none" spc="0" normalizeH="0" baseline="0" noProof="1">
                  <a:solidFill>
                    <a:schemeClr val="bg1"/>
                  </a:solidFill>
                  <a:latin typeface="微软雅黑" panose="020B0503020204020204" pitchFamily="34" charset="-122"/>
                  <a:ea typeface="微软雅黑" panose="020B0503020204020204" pitchFamily="34" charset="-122"/>
                  <a:cs typeface="+mn-cs"/>
                  <a:sym typeface="+mn-ea"/>
                </a:rPr>
                <a:t>Java</a:t>
              </a:r>
              <a:r>
                <a:rPr kumimoji="0" lang="zh-CN" altLang="en-US" sz="3570" b="1" kern="1200" cap="none" spc="0" normalizeH="0" baseline="0" noProof="1">
                  <a:solidFill>
                    <a:schemeClr val="bg1"/>
                  </a:solidFill>
                  <a:latin typeface="微软雅黑" panose="020B0503020204020204" pitchFamily="34" charset="-122"/>
                  <a:ea typeface="微软雅黑" panose="020B0503020204020204" pitchFamily="34" charset="-122"/>
                  <a:cs typeface="+mn-cs"/>
                  <a:sym typeface="+mn-ea"/>
                </a:rPr>
                <a:t>词法基础</a:t>
              </a:r>
            </a:p>
          </p:txBody>
        </p:sp>
        <p:sp>
          <p:nvSpPr>
            <p:cNvPr id="6152" name="文本框 32"/>
            <p:cNvSpPr txBox="1"/>
            <p:nvPr/>
          </p:nvSpPr>
          <p:spPr>
            <a:xfrm>
              <a:off x="3046895" y="3734072"/>
              <a:ext cx="2944046" cy="379133"/>
            </a:xfrm>
            <a:prstGeom prst="rect">
              <a:avLst/>
            </a:prstGeom>
            <a:noFill/>
            <a:ln w="9525">
              <a:noFill/>
            </a:ln>
          </p:spPr>
          <p:txBody>
            <a:bodyPr wrap="square">
              <a:spAutoFit/>
            </a:bodyPr>
            <a:lstStyle/>
            <a:p>
              <a:pPr marR="0" algn="ctr" defTabSz="1028700">
                <a:lnSpc>
                  <a:spcPct val="125000"/>
                </a:lnSpc>
                <a:buClrTx/>
                <a:buSzTx/>
                <a:buFont typeface="Arial" panose="020B0604020202020204" pitchFamily="34" charset="0"/>
                <a:buNone/>
                <a:defRPr/>
              </a:pPr>
              <a:r>
                <a:rPr kumimoji="0" lang="en-US" sz="1600" kern="1200" cap="none" spc="0" normalizeH="0" baseline="0" noProof="1">
                  <a:solidFill>
                    <a:schemeClr val="bg1"/>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mn-ea"/>
                </a:rPr>
                <a:t>Programming Basic</a:t>
              </a:r>
            </a:p>
          </p:txBody>
        </p:sp>
      </p:grpSp>
      <p:sp>
        <p:nvSpPr>
          <p:cNvPr id="13" name="椭圆 12"/>
          <p:cNvSpPr/>
          <p:nvPr/>
        </p:nvSpPr>
        <p:spPr>
          <a:xfrm>
            <a:off x="915988" y="3074988"/>
            <a:ext cx="3167063" cy="1082675"/>
          </a:xfrm>
          <a:prstGeom prst="ellipse">
            <a:avLst/>
          </a:prstGeom>
          <a:solidFill>
            <a:schemeClr val="bg1"/>
          </a:solidFill>
          <a:ln w="63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028700" rtl="0" eaLnBrk="1" fontAlgn="base" latinLnBrk="0" hangingPunct="1">
              <a:lnSpc>
                <a:spcPct val="100000"/>
              </a:lnSpc>
              <a:spcBef>
                <a:spcPts val="0"/>
              </a:spcBef>
              <a:spcAft>
                <a:spcPts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Impact" panose="020B0806030902050204" pitchFamily="34" charset="0"/>
              <a:ea typeface="+mn-ea"/>
              <a:cs typeface="+mn-cs"/>
            </a:endParaRPr>
          </a:p>
        </p:txBody>
      </p:sp>
      <p:sp>
        <p:nvSpPr>
          <p:cNvPr id="7" name="椭圆 6"/>
          <p:cNvSpPr/>
          <p:nvPr/>
        </p:nvSpPr>
        <p:spPr>
          <a:xfrm>
            <a:off x="1025525" y="3197225"/>
            <a:ext cx="2952750" cy="842963"/>
          </a:xfrm>
          <a:prstGeom prst="ellipse">
            <a:avLst/>
          </a:prstGeom>
          <a:solidFill>
            <a:srgbClr val="00B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028700" rtl="0" eaLnBrk="1" fontAlgn="base" latinLnBrk="0" hangingPunct="1">
              <a:lnSpc>
                <a:spcPct val="100000"/>
              </a:lnSpc>
              <a:spcBef>
                <a:spcPts val="0"/>
              </a:spcBef>
              <a:spcAft>
                <a:spcPts val="0"/>
              </a:spcAft>
              <a:buClrTx/>
              <a:buSzTx/>
              <a:buFont typeface="Arial" panose="020B0604020202020204" pitchFamily="34" charset="0"/>
              <a:buNone/>
              <a:defRPr/>
            </a:pPr>
            <a:r>
              <a:rPr lang="en-US" altLang="zh-CN" sz="4400">
                <a:ln>
                  <a:noFill/>
                </a:ln>
                <a:effectLst/>
                <a:uLnTx/>
                <a:uFillTx/>
                <a:latin typeface="Felix Titling" panose="04060505060202020A04" pitchFamily="82" charset="0"/>
                <a:sym typeface="+mn-ea"/>
              </a:rPr>
              <a:t>Java</a:t>
            </a:r>
            <a:endParaRPr kumimoji="0" lang="en-US" altLang="zh-CN" sz="4400" b="0" i="0" u="none" strike="noStrike" kern="1200" cap="none" spc="0" normalizeH="0" baseline="0" noProof="1">
              <a:ln>
                <a:noFill/>
              </a:ln>
              <a:solidFill>
                <a:schemeClr val="lt1"/>
              </a:solidFill>
              <a:effectLst/>
              <a:uLnTx/>
              <a:uFillTx/>
              <a:latin typeface="Felix Titling" panose="04060505060202020A04" pitchFamily="82" charset="0"/>
              <a:ea typeface="+mn-ea"/>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2"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custDataLst>
              <p:tags r:id="rId2"/>
            </p:custDataLst>
          </p:nvPr>
        </p:nvSpPr>
        <p:spPr/>
        <p:txBody>
          <a:bodyPr>
            <a:normAutofit fontScale="82500" lnSpcReduction="20000"/>
          </a:bodyPr>
          <a:lstStyle/>
          <a:p>
            <a:pPr eaLnBrk="1" hangingPunct="1">
              <a:lnSpc>
                <a:spcPct val="150000"/>
              </a:lnSpc>
              <a:spcBef>
                <a:spcPct val="50000"/>
              </a:spcBef>
              <a:spcAft>
                <a:spcPts val="0"/>
              </a:spcAft>
              <a:buClr>
                <a:srgbClr val="000000"/>
              </a:buClr>
              <a:buSzTx/>
            </a:pPr>
            <a:r>
              <a:rPr lang="en-US" altLang="zh-CN" dirty="0"/>
              <a:t>Java</a:t>
            </a:r>
            <a:r>
              <a:rPr lang="zh-CN" altLang="en-US" dirty="0"/>
              <a:t>中的标识符是由哪些字符组成的？</a:t>
            </a:r>
          </a:p>
          <a:p>
            <a:pPr eaLnBrk="1" hangingPunct="1">
              <a:lnSpc>
                <a:spcPct val="150000"/>
              </a:lnSpc>
              <a:spcBef>
                <a:spcPts val="50"/>
              </a:spcBef>
              <a:spcAft>
                <a:spcPts val="0"/>
              </a:spcAft>
              <a:buClr>
                <a:srgbClr val="000000"/>
              </a:buClr>
              <a:buSzTx/>
            </a:pPr>
            <a:r>
              <a:rPr lang="en-US" altLang="zh-CN" dirty="0"/>
              <a:t>Java</a:t>
            </a:r>
            <a:r>
              <a:rPr lang="zh-CN" altLang="en-US" dirty="0"/>
              <a:t>中有哪些保留字？简单数据类型包含哪几种？各种数据类型变量的定义方法和常量的表示方法及取值范围。</a:t>
            </a:r>
          </a:p>
          <a:p>
            <a:pPr eaLnBrk="1" hangingPunct="1">
              <a:lnSpc>
                <a:spcPct val="150000"/>
              </a:lnSpc>
              <a:spcBef>
                <a:spcPts val="50"/>
              </a:spcBef>
              <a:spcAft>
                <a:spcPts val="0"/>
              </a:spcAft>
              <a:buClr>
                <a:srgbClr val="000000"/>
              </a:buClr>
              <a:buSzTx/>
            </a:pPr>
            <a:r>
              <a:rPr lang="en-US" altLang="zh-CN" dirty="0"/>
              <a:t>Java </a:t>
            </a:r>
            <a:r>
              <a:rPr lang="zh-CN" altLang="en-US" dirty="0"/>
              <a:t>中各简单数据类型间的优先次序和自动转换规则是什么？各数据类型间在什么情况下，进行自动转换，在什么情况下使用强制转换？</a:t>
            </a:r>
          </a:p>
          <a:p>
            <a:pPr eaLnBrk="1" hangingPunct="1">
              <a:lnSpc>
                <a:spcPct val="150000"/>
              </a:lnSpc>
              <a:spcBef>
                <a:spcPts val="50"/>
              </a:spcBef>
              <a:spcAft>
                <a:spcPts val="0"/>
              </a:spcAft>
              <a:buClr>
                <a:srgbClr val="000000"/>
              </a:buClr>
              <a:buSzTx/>
            </a:pPr>
            <a:r>
              <a:rPr lang="en-US" altLang="zh-CN" dirty="0"/>
              <a:t>Java</a:t>
            </a:r>
            <a:r>
              <a:rPr lang="zh-CN" altLang="en-US" dirty="0"/>
              <a:t>中有哪些运算符？这些运算符的优先关系是怎样的？</a:t>
            </a:r>
          </a:p>
          <a:p>
            <a:pPr eaLnBrk="1" hangingPunct="1">
              <a:lnSpc>
                <a:spcPct val="150000"/>
              </a:lnSpc>
              <a:spcBef>
                <a:spcPts val="50"/>
              </a:spcBef>
              <a:buClr>
                <a:srgbClr val="000000"/>
              </a:buClr>
              <a:buSzTx/>
            </a:pPr>
            <a:r>
              <a:rPr lang="en-US" altLang="zh-CN" dirty="0"/>
              <a:t>Java </a:t>
            </a:r>
            <a:r>
              <a:rPr lang="zh-CN" altLang="en-US" dirty="0"/>
              <a:t>中有哪些控制语句？你了解每一种控制语句的语法规则吗？</a:t>
            </a:r>
          </a:p>
          <a:p>
            <a:pPr eaLnBrk="1" hangingPunct="1">
              <a:lnSpc>
                <a:spcPct val="150000"/>
              </a:lnSpc>
              <a:buClr>
                <a:schemeClr val="hlink"/>
              </a:buClr>
              <a:buSzTx/>
              <a:buNone/>
            </a:pPr>
            <a:endParaRPr lang="zh-CN" altLang="en-US" dirty="0"/>
          </a:p>
        </p:txBody>
      </p:sp>
      <p:sp>
        <p:nvSpPr>
          <p:cNvPr id="2" name="灯片编号占位符 5"/>
          <p:cNvSpPr txBox="1">
            <a:spLocks noGrp="1"/>
          </p:cNvSpPr>
          <p:nvPr>
            <p:ph type="sldNum" sz="quarter" idx="12"/>
          </p:nvPr>
        </p:nvSpPr>
        <p:spPr/>
        <p:txBody>
          <a:bodyPr anchor="b"/>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spcAft>
                <a:spcPts val="0"/>
              </a:spcAft>
            </a:pPr>
            <a:fld id="{9A0DB2DC-4C9A-4742-B13C-FB6460FD3503}" type="slidenum">
              <a:rPr lang="zh-CN" altLang="en-US" sz="1260" dirty="0">
                <a:latin typeface="Arial Black" panose="020B0A04020102020204" pitchFamily="34" charset="0"/>
              </a:rPr>
              <a:t>2</a:t>
            </a:fld>
            <a:endParaRPr lang="zh-CN" altLang="en-US" sz="1260" dirty="0">
              <a:latin typeface="Arial Black" panose="020B0A04020102020204" pitchFamily="34" charset="0"/>
            </a:endParaRPr>
          </a:p>
        </p:txBody>
      </p:sp>
      <p:sp>
        <p:nvSpPr>
          <p:cNvPr id="3" name="标题 2"/>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课前思考</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62500" lnSpcReduction="20000"/>
          </a:bodyPr>
          <a:lstStyle/>
          <a:p>
            <a:pPr marL="0" indent="0" eaLnBrk="1" hangingPunct="1">
              <a:lnSpc>
                <a:spcPct val="150000"/>
              </a:lnSpc>
              <a:spcAft>
                <a:spcPts val="0"/>
              </a:spcAft>
              <a:buClr>
                <a:schemeClr val="hlink"/>
              </a:buClr>
              <a:buSzTx/>
              <a:buNone/>
            </a:pPr>
            <a:r>
              <a:rPr lang="en-US" altLang="zh-CN" dirty="0"/>
              <a:t>【</a:t>
            </a:r>
            <a:r>
              <a:rPr lang="zh-CN" altLang="en-US" dirty="0"/>
              <a:t>学习目标</a:t>
            </a:r>
            <a:r>
              <a:rPr lang="en-US" altLang="zh-CN" dirty="0"/>
              <a:t>】</a:t>
            </a:r>
            <a:br>
              <a:rPr lang="en-US" altLang="zh-CN" dirty="0"/>
            </a:br>
            <a:r>
              <a:rPr lang="zh-CN" altLang="en-US" dirty="0"/>
              <a:t>　　本讲主要讲述</a:t>
            </a:r>
            <a:r>
              <a:rPr lang="en-US" altLang="zh-CN" dirty="0"/>
              <a:t>Java</a:t>
            </a:r>
            <a:r>
              <a:rPr lang="zh-CN" altLang="en-US" dirty="0"/>
              <a:t>编程语言的基本语法知识，如</a:t>
            </a:r>
            <a:r>
              <a:rPr lang="en-US" altLang="zh-CN" dirty="0"/>
              <a:t>Java </a:t>
            </a:r>
            <a:r>
              <a:rPr lang="zh-CN" altLang="en-US" dirty="0"/>
              <a:t>中的简单数据类型，运算符和表达式，控制语句，数组及字符串的处理。通过本讲的学习，同学们可以编写简单的</a:t>
            </a:r>
            <a:r>
              <a:rPr lang="en-US" altLang="zh-CN" dirty="0"/>
              <a:t>Java</a:t>
            </a:r>
            <a:r>
              <a:rPr lang="zh-CN" altLang="en-US" dirty="0"/>
              <a:t>程序。</a:t>
            </a:r>
          </a:p>
          <a:p>
            <a:pPr marL="0" indent="0" eaLnBrk="1" hangingPunct="1">
              <a:lnSpc>
                <a:spcPct val="150000"/>
              </a:lnSpc>
              <a:spcBef>
                <a:spcPts val="20"/>
              </a:spcBef>
              <a:spcAft>
                <a:spcPts val="0"/>
              </a:spcAft>
              <a:buClr>
                <a:schemeClr val="hlink"/>
              </a:buClr>
              <a:buSzTx/>
              <a:buNone/>
            </a:pPr>
            <a:r>
              <a:rPr lang="en-US" altLang="zh-CN" dirty="0"/>
              <a:t>【</a:t>
            </a:r>
            <a:r>
              <a:rPr lang="zh-CN" altLang="en-US" dirty="0"/>
              <a:t>学习指南</a:t>
            </a:r>
            <a:r>
              <a:rPr lang="en-US" altLang="zh-CN" dirty="0"/>
              <a:t>】</a:t>
            </a:r>
            <a:r>
              <a:rPr lang="zh-CN" altLang="en-US" dirty="0"/>
              <a:t>　　</a:t>
            </a:r>
            <a:br>
              <a:rPr lang="zh-CN" altLang="en-US" dirty="0"/>
            </a:br>
            <a:r>
              <a:rPr lang="zh-CN" altLang="en-US" dirty="0"/>
              <a:t>　　同任何一种编程语言一样，应深刻理解各知识点的概念，牢记一些</a:t>
            </a:r>
            <a:r>
              <a:rPr lang="en-US" altLang="zh-CN" dirty="0"/>
              <a:t>Java</a:t>
            </a:r>
            <a:r>
              <a:rPr lang="zh-CN" altLang="en-US" dirty="0"/>
              <a:t>的语法，从而达到学习的目的。</a:t>
            </a:r>
          </a:p>
          <a:p>
            <a:pPr marL="0" indent="0" eaLnBrk="1" hangingPunct="1">
              <a:lnSpc>
                <a:spcPct val="150000"/>
              </a:lnSpc>
              <a:spcBef>
                <a:spcPts val="20"/>
              </a:spcBef>
              <a:spcAft>
                <a:spcPts val="0"/>
              </a:spcAft>
              <a:buClr>
                <a:schemeClr val="hlink"/>
              </a:buClr>
              <a:buSzTx/>
              <a:buNone/>
            </a:pPr>
            <a:r>
              <a:rPr lang="en-US" altLang="zh-CN" dirty="0"/>
              <a:t>【</a:t>
            </a:r>
            <a:r>
              <a:rPr lang="zh-CN" altLang="en-US" dirty="0"/>
              <a:t>参考书</a:t>
            </a:r>
            <a:r>
              <a:rPr lang="en-US" altLang="zh-CN" dirty="0"/>
              <a:t>】</a:t>
            </a:r>
          </a:p>
          <a:p>
            <a:pPr marL="0" lvl="1" indent="0" eaLnBrk="1" hangingPunct="1">
              <a:lnSpc>
                <a:spcPct val="150000"/>
              </a:lnSpc>
              <a:spcBef>
                <a:spcPts val="20"/>
              </a:spcBef>
              <a:spcAft>
                <a:spcPts val="0"/>
              </a:spcAft>
              <a:buNone/>
            </a:pPr>
            <a:r>
              <a:rPr lang="zh-CN" altLang="en-US" dirty="0"/>
              <a:t>         《</a:t>
            </a:r>
            <a:r>
              <a:rPr lang="en-US" altLang="zh-CN" dirty="0"/>
              <a:t>Java</a:t>
            </a:r>
            <a:r>
              <a:rPr lang="zh-CN" altLang="en-US" dirty="0"/>
              <a:t>核心技术</a:t>
            </a:r>
            <a:r>
              <a:rPr lang="en-US" altLang="zh-CN" dirty="0"/>
              <a:t>I</a:t>
            </a:r>
            <a:r>
              <a:rPr lang="zh-CN" altLang="en-US" dirty="0"/>
              <a:t>》，</a:t>
            </a:r>
            <a:r>
              <a:rPr lang="en-US" altLang="zh-CN" dirty="0"/>
              <a:t>11</a:t>
            </a:r>
            <a:r>
              <a:rPr lang="en-US" altLang="zh-CN" baseline="30000" dirty="0"/>
              <a:t>th</a:t>
            </a:r>
            <a:r>
              <a:rPr lang="zh-CN" altLang="en-US" dirty="0">
                <a:sym typeface="+mn-ea"/>
              </a:rPr>
              <a:t>，第</a:t>
            </a:r>
            <a:r>
              <a:rPr lang="en-US" altLang="zh-CN" dirty="0">
                <a:sym typeface="+mn-ea"/>
              </a:rPr>
              <a:t>3</a:t>
            </a:r>
            <a:r>
              <a:rPr lang="zh-CN" altLang="en-US" dirty="0">
                <a:sym typeface="+mn-ea"/>
              </a:rPr>
              <a:t>章</a:t>
            </a:r>
            <a:endParaRPr lang="en-US" altLang="zh-CN" dirty="0"/>
          </a:p>
          <a:p>
            <a:pPr marL="514350" lvl="1" indent="0" eaLnBrk="1" hangingPunct="1">
              <a:lnSpc>
                <a:spcPct val="150000"/>
              </a:lnSpc>
              <a:spcBef>
                <a:spcPts val="20"/>
              </a:spcBef>
              <a:spcAft>
                <a:spcPts val="0"/>
              </a:spcAft>
              <a:buNone/>
            </a:pPr>
            <a:r>
              <a:rPr lang="en-US" altLang="zh-CN" dirty="0"/>
              <a:t>《Java</a:t>
            </a:r>
            <a:r>
              <a:rPr lang="zh-CN" altLang="en-US" dirty="0"/>
              <a:t>编程思想</a:t>
            </a:r>
            <a:r>
              <a:rPr lang="en-US" altLang="zh-CN" dirty="0"/>
              <a:t>》</a:t>
            </a:r>
            <a:r>
              <a:rPr lang="zh-CN" altLang="en-US" dirty="0"/>
              <a:t>，</a:t>
            </a:r>
            <a:r>
              <a:rPr lang="en-US" altLang="zh-CN" dirty="0"/>
              <a:t>4</a:t>
            </a:r>
            <a:r>
              <a:rPr lang="en-US" altLang="zh-CN" baseline="30000" dirty="0"/>
              <a:t>th</a:t>
            </a:r>
            <a:r>
              <a:rPr lang="zh-CN" altLang="en-US" dirty="0"/>
              <a:t>，第</a:t>
            </a:r>
            <a:r>
              <a:rPr lang="en-US" altLang="zh-CN" dirty="0"/>
              <a:t>3,4</a:t>
            </a:r>
            <a:r>
              <a:rPr lang="zh-CN" altLang="en-US" dirty="0"/>
              <a:t>章</a:t>
            </a:r>
          </a:p>
          <a:p>
            <a:pPr marL="514350" lvl="1" indent="0" eaLnBrk="1" hangingPunct="1">
              <a:lnSpc>
                <a:spcPct val="150000"/>
              </a:lnSpc>
              <a:spcBef>
                <a:spcPts val="20"/>
              </a:spcBef>
              <a:buNone/>
            </a:pPr>
            <a:r>
              <a:rPr lang="en-US" altLang="zh-CN" dirty="0"/>
              <a:t>《</a:t>
            </a:r>
            <a:r>
              <a:rPr lang="zh-CN" altLang="en-US" dirty="0"/>
              <a:t>疯狂</a:t>
            </a:r>
            <a:r>
              <a:rPr lang="en-US" altLang="zh-CN" dirty="0"/>
              <a:t>Java</a:t>
            </a:r>
            <a:r>
              <a:rPr lang="zh-CN" altLang="en-US" dirty="0"/>
              <a:t>讲义</a:t>
            </a:r>
            <a:r>
              <a:rPr lang="en-US" altLang="zh-CN" dirty="0"/>
              <a:t>》</a:t>
            </a:r>
            <a:r>
              <a:rPr lang="zh-CN" altLang="en-US" dirty="0"/>
              <a:t>，第</a:t>
            </a:r>
            <a:r>
              <a:rPr lang="en-US" altLang="zh-CN" dirty="0"/>
              <a:t>3,4</a:t>
            </a:r>
            <a:r>
              <a:rPr lang="zh-CN" altLang="en-US" dirty="0"/>
              <a:t>章</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en-US" altLang="zh-CN" dirty="0"/>
              <a:t>Java</a:t>
            </a:r>
            <a:r>
              <a:rPr lang="zh-CN" altLang="en-US" dirty="0"/>
              <a:t>语法基础</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p:cNvSpPr>
          <p:nvPr>
            <p:ph type="title"/>
          </p:nvPr>
        </p:nvSpPr>
        <p:spPr/>
        <p:txBody>
          <a:bodyPr wrap="square" lIns="102870" tIns="51435" rIns="102870" bIns="51435" anchor="ctr"/>
          <a:lstStyle/>
          <a:p>
            <a:pPr defTabSz="1028700">
              <a:spcAft>
                <a:spcPts val="0"/>
              </a:spcAft>
              <a:buFont typeface="Arial" panose="020B0604020202020204" pitchFamily="34" charset="0"/>
            </a:pPr>
            <a:r>
              <a:rPr lang="zh-CN" altLang="en-US" kern="1200" dirty="0">
                <a:latin typeface="微软雅黑" panose="020B0503020204020204" pitchFamily="34" charset="-122"/>
                <a:ea typeface="微软雅黑" panose="020B0503020204020204" pitchFamily="34" charset="-122"/>
                <a:cs typeface="+mj-cs"/>
                <a:sym typeface="Calibri" panose="020F0502020204030204" pitchFamily="34" charset="0"/>
              </a:rPr>
              <a:t>主要内容</a:t>
            </a:r>
          </a:p>
        </p:txBody>
      </p:sp>
      <p:sp>
        <p:nvSpPr>
          <p:cNvPr id="5122" name="Rectangle 3"/>
          <p:cNvSpPr>
            <a:spLocks noGrp="1"/>
          </p:cNvSpPr>
          <p:nvPr>
            <p:ph idx="1"/>
          </p:nvPr>
        </p:nvSpPr>
        <p:spPr/>
        <p:txBody>
          <a:bodyPr wrap="square" lIns="103584" tIns="51793" rIns="103584" bIns="51793" anchor="t"/>
          <a:lstStyle/>
          <a:p>
            <a:pPr marL="609600" indent="-609600" eaLnBrk="1" hangingPunct="1">
              <a:lnSpc>
                <a:spcPct val="140000"/>
              </a:lnSpc>
              <a:spcAft>
                <a:spcPts val="0"/>
              </a:spcAft>
              <a:buSzPct val="90000"/>
              <a:buFont typeface="Wingdings" panose="05000000000000000000" pitchFamily="2" charset="2"/>
              <a:buAutoNum type="arabicPeriod"/>
            </a:pPr>
            <a:r>
              <a:rPr lang="zh-CN" altLang="en-US" dirty="0">
                <a:sym typeface="+mn-ea"/>
              </a:rPr>
              <a:t>词法规则</a:t>
            </a:r>
            <a:endParaRPr lang="zh-CN" altLang="en-US" dirty="0"/>
          </a:p>
          <a:p>
            <a:pPr marL="609600" indent="-609600" eaLnBrk="1" hangingPunct="1">
              <a:lnSpc>
                <a:spcPct val="140000"/>
              </a:lnSpc>
              <a:spcBef>
                <a:spcPts val="20"/>
              </a:spcBef>
              <a:spcAft>
                <a:spcPts val="0"/>
              </a:spcAft>
              <a:buSzPct val="90000"/>
              <a:buFont typeface="Wingdings" panose="05000000000000000000" pitchFamily="2" charset="2"/>
              <a:buAutoNum type="arabicPeriod"/>
            </a:pPr>
            <a:r>
              <a:rPr lang="zh-CN" altLang="en-US" dirty="0">
                <a:sym typeface="+mn-ea"/>
              </a:rPr>
              <a:t>数据类型</a:t>
            </a:r>
            <a:endParaRPr lang="zh-CN" altLang="en-US" dirty="0"/>
          </a:p>
          <a:p>
            <a:pPr marL="609600" indent="-609600" eaLnBrk="1" hangingPunct="1">
              <a:lnSpc>
                <a:spcPct val="140000"/>
              </a:lnSpc>
              <a:spcBef>
                <a:spcPts val="20"/>
              </a:spcBef>
              <a:spcAft>
                <a:spcPts val="0"/>
              </a:spcAft>
              <a:buSzPct val="90000"/>
              <a:buFont typeface="Wingdings" panose="05000000000000000000" pitchFamily="2" charset="2"/>
              <a:buAutoNum type="arabicPeriod"/>
            </a:pPr>
            <a:r>
              <a:rPr lang="zh-CN" altLang="en-US" dirty="0">
                <a:sym typeface="+mn-ea"/>
              </a:rPr>
              <a:t>常量与变量</a:t>
            </a:r>
            <a:endParaRPr lang="zh-CN" altLang="en-US" dirty="0"/>
          </a:p>
          <a:p>
            <a:pPr marL="609600" indent="-609600" eaLnBrk="1" hangingPunct="1">
              <a:lnSpc>
                <a:spcPct val="140000"/>
              </a:lnSpc>
              <a:spcBef>
                <a:spcPts val="20"/>
              </a:spcBef>
              <a:spcAft>
                <a:spcPts val="0"/>
              </a:spcAft>
              <a:buSzPct val="90000"/>
              <a:buFont typeface="Wingdings" panose="05000000000000000000" pitchFamily="2" charset="2"/>
              <a:buAutoNum type="arabicPeriod"/>
            </a:pPr>
            <a:r>
              <a:rPr lang="zh-CN" altLang="en-US" dirty="0">
                <a:sym typeface="+mn-ea"/>
              </a:rPr>
              <a:t>运算符和表达式</a:t>
            </a:r>
            <a:endParaRPr lang="zh-CN" altLang="en-US" dirty="0"/>
          </a:p>
          <a:p>
            <a:pPr marL="609600" indent="-609600" eaLnBrk="1" hangingPunct="1">
              <a:lnSpc>
                <a:spcPct val="140000"/>
              </a:lnSpc>
              <a:spcBef>
                <a:spcPts val="20"/>
              </a:spcBef>
              <a:spcAft>
                <a:spcPts val="0"/>
              </a:spcAft>
              <a:buSzPct val="90000"/>
              <a:buFont typeface="Wingdings" panose="05000000000000000000" pitchFamily="2" charset="2"/>
              <a:buAutoNum type="arabicPeriod"/>
            </a:pPr>
            <a:r>
              <a:rPr lang="zh-CN" altLang="en-US" dirty="0">
                <a:sym typeface="+mn-ea"/>
              </a:rPr>
              <a:t>控制语句</a:t>
            </a:r>
            <a:endParaRPr lang="zh-CN" altLang="en-US" dirty="0"/>
          </a:p>
          <a:p>
            <a:pPr marL="609600" indent="-609600" eaLnBrk="1" hangingPunct="1">
              <a:lnSpc>
                <a:spcPct val="140000"/>
              </a:lnSpc>
              <a:spcBef>
                <a:spcPts val="20"/>
              </a:spcBef>
              <a:buSzPct val="90000"/>
              <a:buFont typeface="Wingdings" panose="05000000000000000000" pitchFamily="2" charset="2"/>
              <a:buAutoNum type="arabicPeriod"/>
            </a:pPr>
            <a:r>
              <a:rPr lang="zh-CN" altLang="en-US" dirty="0">
                <a:sym typeface="+mn-ea"/>
              </a:rPr>
              <a:t>数组和字符串</a:t>
            </a:r>
            <a:endParaRPr lang="en-US" altLang="zh-CN" kern="1200" dirty="0">
              <a:latin typeface="微软雅黑" panose="020B0503020204020204" pitchFamily="34" charset="-122"/>
              <a:ea typeface="微软雅黑" panose="020B0503020204020204" pitchFamily="34" charset="-122"/>
              <a:cs typeface="+mn-cs"/>
              <a:sym typeface="Calibri" panose="020F0502020204030204" pitchFamily="34" charset="0"/>
            </a:endParaRPr>
          </a:p>
          <a:p>
            <a:pPr defTabSz="1028700">
              <a:lnSpc>
                <a:spcPct val="95000"/>
              </a:lnSpc>
              <a:spcBef>
                <a:spcPct val="15000"/>
              </a:spcBef>
            </a:pPr>
            <a:endParaRPr lang="zh-CN" altLang="en-US" kern="1200" dirty="0">
              <a:latin typeface="微软雅黑" panose="020B0503020204020204" pitchFamily="34" charset="-122"/>
              <a:ea typeface="微软雅黑" panose="020B0503020204020204" pitchFamily="34" charset="-122"/>
              <a:cs typeface="+mn-cs"/>
              <a:sym typeface="Calibri" panose="020F0502020204030204" pitchFamily="34" charset="0"/>
            </a:endParaRPr>
          </a:p>
        </p:txBody>
      </p:sp>
      <p:pic>
        <p:nvPicPr>
          <p:cNvPr id="15363" name="图片 8" descr="java_duke.png"/>
          <p:cNvPicPr>
            <a:picLocks noChangeAspect="1"/>
          </p:cNvPicPr>
          <p:nvPr/>
        </p:nvPicPr>
        <p:blipFill>
          <a:blip r:embed="rId2"/>
          <a:stretch>
            <a:fillRect/>
          </a:stretch>
        </p:blipFill>
        <p:spPr>
          <a:xfrm>
            <a:off x="6772910" y="1553845"/>
            <a:ext cx="2550795" cy="459295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矩形 3"/>
          <p:cNvSpPr/>
          <p:nvPr/>
        </p:nvSpPr>
        <p:spPr>
          <a:xfrm>
            <a:off x="3690938" y="2613025"/>
            <a:ext cx="2621280" cy="829945"/>
          </a:xfrm>
          <a:prstGeom prst="rect">
            <a:avLst/>
          </a:prstGeom>
          <a:noFill/>
          <a:ln w="9525">
            <a:noFill/>
          </a:ln>
        </p:spPr>
        <p:txBody>
          <a:bodyPr wrap="none" anchor="t">
            <a:spAutoFit/>
          </a:bodyPr>
          <a:lstStyle/>
          <a:p>
            <a:pPr marL="0" lvl="1" indent="0" algn="l" eaLnBrk="1" fontAlgn="base" hangingPunct="1">
              <a:spcBef>
                <a:spcPct val="0"/>
              </a:spcBef>
              <a:spcAft>
                <a:spcPts val="0"/>
              </a:spcAft>
              <a:buNone/>
            </a:pP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词法规则</a:t>
            </a:r>
          </a:p>
        </p:txBody>
      </p:sp>
      <p:sp>
        <p:nvSpPr>
          <p:cNvPr id="6146" name="TextBox 4"/>
          <p:cNvSpPr/>
          <p:nvPr/>
        </p:nvSpPr>
        <p:spPr>
          <a:xfrm>
            <a:off x="1241425" y="1935163"/>
            <a:ext cx="2193290" cy="2753360"/>
          </a:xfrm>
          <a:prstGeom prst="rect">
            <a:avLst/>
          </a:prstGeom>
          <a:noFill/>
          <a:ln w="9525">
            <a:noFill/>
          </a:ln>
        </p:spPr>
        <p:txBody>
          <a:bodyPr wrap="none" anchor="t">
            <a:spAutoFit/>
          </a:bodyPr>
          <a:lstStyle/>
          <a:p>
            <a:pPr>
              <a:spcAft>
                <a:spcPts val="0"/>
              </a:spcAft>
            </a:pP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1</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lstStyle/>
          <a:p>
            <a:pPr>
              <a:spcAft>
                <a:spcPts val="0"/>
              </a:spcAft>
            </a:pPr>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75000" lnSpcReduction="20000"/>
          </a:bodyPr>
          <a:lstStyle/>
          <a:p>
            <a:pPr eaLnBrk="1" hangingPunct="1">
              <a:lnSpc>
                <a:spcPct val="150000"/>
              </a:lnSpc>
              <a:spcAft>
                <a:spcPts val="0"/>
              </a:spcAft>
              <a:buClr>
                <a:srgbClr val="000000"/>
              </a:buClr>
              <a:buSzTx/>
            </a:pPr>
            <a:r>
              <a:rPr lang="en-US" altLang="zh-CN" dirty="0"/>
              <a:t>Java</a:t>
            </a:r>
            <a:r>
              <a:rPr lang="zh-CN" altLang="en-US" dirty="0"/>
              <a:t>程序的运行体系</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Source code (.Java file)</a:t>
            </a:r>
          </a:p>
          <a:p>
            <a:pPr marL="990600" lvl="1" indent="-533400" eaLnBrk="1" hangingPunct="1">
              <a:lnSpc>
                <a:spcPct val="150000"/>
              </a:lnSpc>
              <a:spcBef>
                <a:spcPts val="0"/>
              </a:spcBef>
              <a:spcAft>
                <a:spcPts val="0"/>
              </a:spcAft>
              <a:buSzPct val="90000"/>
              <a:buFont typeface="Wingdings" panose="05000000000000000000" pitchFamily="2" charset="2"/>
              <a:buAutoNum type="arabicPeriod"/>
            </a:pPr>
            <a:r>
              <a:rPr lang="en-US" altLang="zh-CN" dirty="0"/>
              <a:t>Javac: Lexical Analysis &amp; Parsing + Type-checking </a:t>
            </a:r>
            <a:r>
              <a:rPr lang="en-US" altLang="zh-CN" dirty="0">
                <a:sym typeface="Wingdings" panose="05000000000000000000" pitchFamily="2" charset="2"/>
              </a:rPr>
              <a:t> </a:t>
            </a:r>
            <a:r>
              <a:rPr lang="en-US" altLang="zh-CN" dirty="0"/>
              <a:t>Byte code (.class file)</a:t>
            </a:r>
          </a:p>
          <a:p>
            <a:pPr marL="990600" lvl="1" indent="-533400" eaLnBrk="1" hangingPunct="1">
              <a:lnSpc>
                <a:spcPct val="150000"/>
              </a:lnSpc>
              <a:buSzPct val="90000"/>
              <a:buNone/>
            </a:pPr>
            <a:r>
              <a:rPr lang="en-US" altLang="zh-CN" dirty="0"/>
              <a:t>        Java</a:t>
            </a:r>
            <a:r>
              <a:rPr lang="zh-CN" altLang="en-US" dirty="0"/>
              <a:t>编译器对源代码进行词法分析和类型校验，生成字节码文件</a:t>
            </a:r>
          </a:p>
          <a:p>
            <a:pPr marL="990600" lvl="1" indent="-533400" eaLnBrk="1" hangingPunct="1">
              <a:lnSpc>
                <a:spcPct val="150000"/>
              </a:lnSpc>
              <a:buSzPct val="90000"/>
              <a:buFont typeface="Wingdings" panose="05000000000000000000" pitchFamily="2" charset="2"/>
              <a:buAutoNum type="arabicPeriod" startAt="3"/>
            </a:pPr>
            <a:r>
              <a:rPr lang="en-US" altLang="zh-CN" dirty="0"/>
              <a:t>JVM: Verification (essentially repeating static checks) + (Interpretation OR Compilation + Loading + Executing)</a:t>
            </a:r>
          </a:p>
          <a:p>
            <a:pPr marL="990600" lvl="1" indent="-533400" eaLnBrk="1" hangingPunct="1">
              <a:lnSpc>
                <a:spcPct val="150000"/>
              </a:lnSpc>
              <a:buSzPct val="90000"/>
              <a:buNone/>
            </a:pPr>
            <a:r>
              <a:rPr lang="en-US" altLang="zh-CN" dirty="0"/>
              <a:t>	Java</a:t>
            </a:r>
            <a:r>
              <a:rPr lang="zh-CN" altLang="en-US" dirty="0"/>
              <a:t>解释器执行字节码文件中的类，</a:t>
            </a:r>
            <a:r>
              <a:rPr lang="en-US" altLang="zh-CN" dirty="0"/>
              <a:t>Java</a:t>
            </a:r>
            <a:r>
              <a:rPr lang="zh-CN" altLang="en-US" dirty="0"/>
              <a:t>解释器在加载和执行类时验证类的完整性、正确操作和安全性，并与所在的操作系统、窗口环境和网络设备进行交互以产生所期望的程序行为</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词法规则</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latin typeface="Comic Sans MS" panose="030F0702030302020204" pitchFamily="66" charset="0"/>
              </a:rPr>
              <a:t>关键字</a:t>
            </a:r>
          </a:p>
        </p:txBody>
      </p:sp>
      <p:sp>
        <p:nvSpPr>
          <p:cNvPr id="14339" name="Rectangle 3"/>
          <p:cNvSpPr>
            <a:spLocks noGrp="1"/>
          </p:cNvSpPr>
          <p:nvPr>
            <p:ph idx="1"/>
          </p:nvPr>
        </p:nvSpPr>
        <p:spPr>
          <a:xfrm>
            <a:off x="2435860" y="6751482"/>
            <a:ext cx="7449502" cy="453861"/>
          </a:xfrm>
        </p:spPr>
        <p:txBody>
          <a:bodyPr vert="horz" wrap="square" lIns="96011" tIns="48005" rIns="96011" bIns="48005" anchor="t"/>
          <a:lstStyle/>
          <a:p>
            <a:pPr marL="990600" lvl="1" indent="-533400" eaLnBrk="1" hangingPunct="1">
              <a:lnSpc>
                <a:spcPct val="90000"/>
              </a:lnSpc>
              <a:spcAft>
                <a:spcPts val="0"/>
              </a:spcAft>
              <a:buSzPct val="90000"/>
              <a:buNone/>
            </a:pPr>
            <a:r>
              <a:rPr lang="zh-CN" altLang="en-US" sz="1800" dirty="0">
                <a:solidFill>
                  <a:srgbClr val="FF0000"/>
                </a:solidFill>
              </a:rPr>
              <a:t>注</a:t>
            </a:r>
            <a:r>
              <a:rPr lang="en-US" altLang="zh-CN" sz="1800" dirty="0">
                <a:solidFill>
                  <a:srgbClr val="FF0000"/>
                </a:solidFill>
              </a:rPr>
              <a:t>: *</a:t>
            </a:r>
            <a:r>
              <a:rPr lang="en-US" altLang="zh-CN" sz="1800" dirty="0">
                <a:solidFill>
                  <a:srgbClr val="FF0000"/>
                </a:solidFill>
                <a:sym typeface="Wingdings" panose="05000000000000000000" pitchFamily="2" charset="2"/>
              </a:rPr>
              <a:t></a:t>
            </a:r>
            <a:r>
              <a:rPr lang="zh-CN" altLang="en-US" sz="1800" dirty="0">
                <a:solidFill>
                  <a:srgbClr val="FF0000"/>
                </a:solidFill>
              </a:rPr>
              <a:t>当前未被使用      * *</a:t>
            </a:r>
            <a:r>
              <a:rPr lang="zh-CN" altLang="en-US" sz="1800" dirty="0">
                <a:solidFill>
                  <a:srgbClr val="FF0000"/>
                </a:solidFill>
                <a:sym typeface="Wingdings" panose="05000000000000000000" pitchFamily="2" charset="2"/>
              </a:rPr>
              <a:t></a:t>
            </a:r>
            <a:r>
              <a:rPr lang="zh-CN" altLang="en-US" sz="1800" dirty="0">
                <a:solidFill>
                  <a:srgbClr val="FF0000"/>
                </a:solidFill>
              </a:rPr>
              <a:t>使用于</a:t>
            </a:r>
            <a:r>
              <a:rPr lang="en-US" altLang="zh-CN" sz="1800" dirty="0">
                <a:solidFill>
                  <a:srgbClr val="FF0000"/>
                </a:solidFill>
              </a:rPr>
              <a:t>Java2</a:t>
            </a:r>
          </a:p>
        </p:txBody>
      </p:sp>
      <p:graphicFrame>
        <p:nvGraphicFramePr>
          <p:cNvPr id="2" name="表格 1"/>
          <p:cNvGraphicFramePr>
            <a:graphicFrameLocks noGrp="1"/>
          </p:cNvGraphicFramePr>
          <p:nvPr>
            <p:custDataLst>
              <p:tags r:id="rId2"/>
            </p:custDataLst>
          </p:nvPr>
        </p:nvGraphicFramePr>
        <p:xfrm>
          <a:off x="1279843" y="1282700"/>
          <a:ext cx="8241030" cy="4981575"/>
        </p:xfrm>
        <a:graphic>
          <a:graphicData uri="http://schemas.openxmlformats.org/drawingml/2006/table">
            <a:tbl>
              <a:tblPr firstRow="1" firstCol="1" bandRow="1">
                <a:tableStyleId>{5C22544A-7EE6-4342-B048-85BDC9FD1C3A}</a:tableStyleId>
              </a:tblPr>
              <a:tblGrid>
                <a:gridCol w="2058670">
                  <a:extLst>
                    <a:ext uri="{9D8B030D-6E8A-4147-A177-3AD203B41FA5}">
                      <a16:colId xmlns:a16="http://schemas.microsoft.com/office/drawing/2014/main" val="20000"/>
                    </a:ext>
                  </a:extLst>
                </a:gridCol>
                <a:gridCol w="2061210">
                  <a:extLst>
                    <a:ext uri="{9D8B030D-6E8A-4147-A177-3AD203B41FA5}">
                      <a16:colId xmlns:a16="http://schemas.microsoft.com/office/drawing/2014/main" val="20001"/>
                    </a:ext>
                  </a:extLst>
                </a:gridCol>
                <a:gridCol w="2061210">
                  <a:extLst>
                    <a:ext uri="{9D8B030D-6E8A-4147-A177-3AD203B41FA5}">
                      <a16:colId xmlns:a16="http://schemas.microsoft.com/office/drawing/2014/main" val="20002"/>
                    </a:ext>
                  </a:extLst>
                </a:gridCol>
                <a:gridCol w="2059940">
                  <a:extLst>
                    <a:ext uri="{9D8B030D-6E8A-4147-A177-3AD203B41FA5}">
                      <a16:colId xmlns:a16="http://schemas.microsoft.com/office/drawing/2014/main" val="20003"/>
                    </a:ext>
                  </a:extLst>
                </a:gridCol>
              </a:tblGrid>
              <a:tr h="383540">
                <a:tc>
                  <a:txBody>
                    <a:bodyPr/>
                    <a:lstStyle/>
                    <a:p>
                      <a:pPr algn="just">
                        <a:spcAft>
                          <a:spcPts val="0"/>
                        </a:spcAft>
                      </a:pPr>
                      <a:r>
                        <a:rPr lang="en-US" sz="2000" b="0" kern="100">
                          <a:solidFill>
                            <a:schemeClr val="tx1"/>
                          </a:solidFill>
                          <a:effectLst/>
                        </a:rPr>
                        <a:t>abstract</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double</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int</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rgbClr val="00B050"/>
                          </a:solidFill>
                          <a:effectLst/>
                        </a:rPr>
                        <a:t>strictfp</a:t>
                      </a:r>
                      <a:r>
                        <a:rPr lang="en-US" sz="2000" b="0" kern="100">
                          <a:solidFill>
                            <a:schemeClr val="tx1"/>
                          </a:solidFill>
                          <a:effectLst/>
                        </a:rPr>
                        <a:t>**</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00"/>
                  </a:ext>
                </a:extLst>
              </a:tr>
              <a:tr h="383540">
                <a:tc>
                  <a:txBody>
                    <a:bodyPr/>
                    <a:lstStyle/>
                    <a:p>
                      <a:pPr algn="just">
                        <a:spcAft>
                          <a:spcPts val="0"/>
                        </a:spcAft>
                      </a:pPr>
                      <a:r>
                        <a:rPr lang="en-US" sz="2000" b="0" kern="100">
                          <a:solidFill>
                            <a:schemeClr val="tx1"/>
                          </a:solidFill>
                          <a:effectLst/>
                        </a:rPr>
                        <a:t>boolean</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else</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rgbClr val="00B050"/>
                          </a:solidFill>
                          <a:effectLst/>
                        </a:rPr>
                        <a:t>interface</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super</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01"/>
                  </a:ext>
                </a:extLst>
              </a:tr>
              <a:tr h="383540">
                <a:tc>
                  <a:txBody>
                    <a:bodyPr/>
                    <a:lstStyle/>
                    <a:p>
                      <a:pPr algn="just">
                        <a:spcAft>
                          <a:spcPts val="0"/>
                        </a:spcAft>
                      </a:pPr>
                      <a:r>
                        <a:rPr lang="en-US" sz="2000" b="0" kern="100">
                          <a:solidFill>
                            <a:schemeClr val="tx1"/>
                          </a:solidFill>
                          <a:effectLst/>
                        </a:rPr>
                        <a:t>break</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rgbClr val="00B050"/>
                          </a:solidFill>
                          <a:effectLst/>
                        </a:rPr>
                        <a:t>extends</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long</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switch</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02"/>
                  </a:ext>
                </a:extLst>
              </a:tr>
              <a:tr h="379095">
                <a:tc>
                  <a:txBody>
                    <a:bodyPr/>
                    <a:lstStyle/>
                    <a:p>
                      <a:pPr algn="just">
                        <a:spcAft>
                          <a:spcPts val="0"/>
                        </a:spcAft>
                      </a:pPr>
                      <a:r>
                        <a:rPr lang="en-US" sz="2000" b="0" kern="100" dirty="0">
                          <a:solidFill>
                            <a:schemeClr val="tx1"/>
                          </a:solidFill>
                          <a:effectLst/>
                        </a:rPr>
                        <a:t>byte</a:t>
                      </a:r>
                      <a:endParaRPr lang="en-US" sz="20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dirty="0">
                          <a:solidFill>
                            <a:schemeClr val="tx1"/>
                          </a:solidFill>
                          <a:effectLst/>
                        </a:rPr>
                        <a:t>final</a:t>
                      </a:r>
                      <a:endParaRPr lang="en-US" sz="20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rgbClr val="00B050"/>
                          </a:solidFill>
                          <a:effectLst/>
                        </a:rPr>
                        <a:t>native</a:t>
                      </a:r>
                      <a:endParaRPr lang="en-US" sz="20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rgbClr val="00B050"/>
                          </a:solidFill>
                          <a:effectLst/>
                        </a:rPr>
                        <a:t>synchronized</a:t>
                      </a:r>
                      <a:endParaRPr lang="en-US" sz="2000" b="0" kern="100">
                        <a:solidFill>
                          <a:srgbClr val="00B050"/>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03"/>
                  </a:ext>
                </a:extLst>
              </a:tr>
              <a:tr h="383540">
                <a:tc>
                  <a:txBody>
                    <a:bodyPr/>
                    <a:lstStyle/>
                    <a:p>
                      <a:pPr algn="just">
                        <a:spcAft>
                          <a:spcPts val="0"/>
                        </a:spcAft>
                      </a:pPr>
                      <a:r>
                        <a:rPr lang="en-US" sz="2000" b="0" kern="100">
                          <a:solidFill>
                            <a:schemeClr val="tx1"/>
                          </a:solidFill>
                          <a:effectLst/>
                        </a:rPr>
                        <a:t>case</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finally</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new</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this</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04"/>
                  </a:ext>
                </a:extLst>
              </a:tr>
              <a:tr h="383540">
                <a:tc>
                  <a:txBody>
                    <a:bodyPr/>
                    <a:lstStyle/>
                    <a:p>
                      <a:pPr algn="just">
                        <a:spcAft>
                          <a:spcPts val="0"/>
                        </a:spcAft>
                      </a:pPr>
                      <a:r>
                        <a:rPr lang="en-US" sz="2000" b="0" kern="100">
                          <a:solidFill>
                            <a:schemeClr val="tx1"/>
                          </a:solidFill>
                          <a:effectLst/>
                        </a:rPr>
                        <a:t>catch</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float</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rgbClr val="00B050"/>
                          </a:solidFill>
                          <a:effectLst/>
                        </a:rPr>
                        <a:t>package</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dirty="0">
                          <a:solidFill>
                            <a:schemeClr val="tx1"/>
                          </a:solidFill>
                          <a:effectLst/>
                        </a:rPr>
                        <a:t>throw</a:t>
                      </a:r>
                      <a:endParaRPr lang="en-US" sz="20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05"/>
                  </a:ext>
                </a:extLst>
              </a:tr>
              <a:tr h="383540">
                <a:tc>
                  <a:txBody>
                    <a:bodyPr/>
                    <a:lstStyle/>
                    <a:p>
                      <a:pPr algn="just">
                        <a:spcAft>
                          <a:spcPts val="0"/>
                        </a:spcAft>
                      </a:pPr>
                      <a:r>
                        <a:rPr lang="en-US" sz="2000" b="0" kern="100">
                          <a:solidFill>
                            <a:schemeClr val="tx1"/>
                          </a:solidFill>
                          <a:effectLst/>
                        </a:rPr>
                        <a:t>char</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for</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private</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throws</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06"/>
                  </a:ext>
                </a:extLst>
              </a:tr>
              <a:tr h="383540">
                <a:tc>
                  <a:txBody>
                    <a:bodyPr/>
                    <a:lstStyle/>
                    <a:p>
                      <a:pPr algn="just">
                        <a:spcAft>
                          <a:spcPts val="0"/>
                        </a:spcAft>
                      </a:pPr>
                      <a:r>
                        <a:rPr lang="en-US" sz="2000" b="0" kern="100">
                          <a:solidFill>
                            <a:schemeClr val="tx1"/>
                          </a:solidFill>
                          <a:effectLst/>
                        </a:rPr>
                        <a:t>class</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goto*</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protected</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rgbClr val="00B050"/>
                          </a:solidFill>
                          <a:effectLst/>
                        </a:rPr>
                        <a:t>transient</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07"/>
                  </a:ext>
                </a:extLst>
              </a:tr>
              <a:tr h="383540">
                <a:tc>
                  <a:txBody>
                    <a:bodyPr/>
                    <a:lstStyle/>
                    <a:p>
                      <a:pPr algn="just">
                        <a:spcAft>
                          <a:spcPts val="0"/>
                        </a:spcAft>
                      </a:pPr>
                      <a:r>
                        <a:rPr lang="en-US" sz="2000" b="0" kern="100">
                          <a:solidFill>
                            <a:schemeClr val="tx1"/>
                          </a:solidFill>
                          <a:effectLst/>
                        </a:rPr>
                        <a:t>const*</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if</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public</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try</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08"/>
                  </a:ext>
                </a:extLst>
              </a:tr>
              <a:tr h="383540">
                <a:tc>
                  <a:txBody>
                    <a:bodyPr/>
                    <a:lstStyle/>
                    <a:p>
                      <a:pPr algn="just">
                        <a:spcAft>
                          <a:spcPts val="0"/>
                        </a:spcAft>
                      </a:pPr>
                      <a:r>
                        <a:rPr lang="en-US" sz="2000" b="0" kern="100">
                          <a:solidFill>
                            <a:schemeClr val="tx1"/>
                          </a:solidFill>
                          <a:effectLst/>
                        </a:rPr>
                        <a:t>continue</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rgbClr val="00B050"/>
                          </a:solidFill>
                          <a:effectLst/>
                        </a:rPr>
                        <a:t>implements</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return</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void</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09"/>
                  </a:ext>
                </a:extLst>
              </a:tr>
              <a:tr h="383540">
                <a:tc>
                  <a:txBody>
                    <a:bodyPr/>
                    <a:lstStyle/>
                    <a:p>
                      <a:pPr algn="just">
                        <a:spcAft>
                          <a:spcPts val="0"/>
                        </a:spcAft>
                      </a:pPr>
                      <a:r>
                        <a:rPr lang="en-US" sz="2000" b="0" kern="100">
                          <a:solidFill>
                            <a:schemeClr val="tx1"/>
                          </a:solidFill>
                          <a:effectLst/>
                        </a:rPr>
                        <a:t>default</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rgbClr val="00B050"/>
                          </a:solidFill>
                          <a:effectLst/>
                        </a:rPr>
                        <a:t>import</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short</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rgbClr val="00B050"/>
                          </a:solidFill>
                          <a:effectLst/>
                        </a:rPr>
                        <a:t>volatile</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10"/>
                  </a:ext>
                </a:extLst>
              </a:tr>
              <a:tr h="383540">
                <a:tc>
                  <a:txBody>
                    <a:bodyPr/>
                    <a:lstStyle/>
                    <a:p>
                      <a:pPr algn="just">
                        <a:spcAft>
                          <a:spcPts val="0"/>
                        </a:spcAft>
                      </a:pPr>
                      <a:r>
                        <a:rPr lang="en-US" sz="2000" b="0" kern="100">
                          <a:solidFill>
                            <a:schemeClr val="tx1"/>
                          </a:solidFill>
                          <a:effectLst/>
                        </a:rPr>
                        <a:t>do</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rgbClr val="00B050"/>
                          </a:solidFill>
                          <a:effectLst/>
                        </a:rPr>
                        <a:t>instanceof</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a:solidFill>
                            <a:schemeClr val="tx1"/>
                          </a:solidFill>
                          <a:effectLst/>
                        </a:rPr>
                        <a:t>static</a:t>
                      </a:r>
                      <a:endParaRPr 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pPr>
                      <a:r>
                        <a:rPr lang="en-US" sz="2000" b="0" kern="100" dirty="0">
                          <a:solidFill>
                            <a:schemeClr val="tx1"/>
                          </a:solidFill>
                          <a:effectLst/>
                        </a:rPr>
                        <a:t>while</a:t>
                      </a:r>
                      <a:endParaRPr lang="en-US" sz="20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11"/>
                  </a:ext>
                </a:extLst>
              </a:tr>
              <a:tr h="383540">
                <a:tc>
                  <a:txBody>
                    <a:bodyPr/>
                    <a:lstStyle/>
                    <a:p>
                      <a:pPr algn="just">
                        <a:spcAft>
                          <a:spcPts val="0"/>
                        </a:spcAft>
                        <a:buNone/>
                      </a:pPr>
                      <a:r>
                        <a:rPr lang="en-US" altLang="zh-CN"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var(jdk10)</a:t>
                      </a:r>
                    </a:p>
                  </a:txBody>
                  <a:tcPr marL="72008" marR="72008" marT="0" marB="0">
                    <a:solidFill>
                      <a:schemeClr val="bg1"/>
                    </a:solidFill>
                  </a:tcPr>
                </a:tc>
                <a:tc>
                  <a:txBody>
                    <a:bodyPr/>
                    <a:lstStyle/>
                    <a:p>
                      <a:pPr algn="just">
                        <a:spcAft>
                          <a:spcPts val="0"/>
                        </a:spcAft>
                        <a:buNone/>
                      </a:pPr>
                      <a:r>
                        <a:rPr lang="en-US" altLang="zh-CN"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record(jdk14)</a:t>
                      </a:r>
                    </a:p>
                  </a:txBody>
                  <a:tcPr marL="72008" marR="72008" marT="0" marB="0">
                    <a:solidFill>
                      <a:schemeClr val="bg1"/>
                    </a:solidFill>
                  </a:tcPr>
                </a:tc>
                <a:tc>
                  <a:txBody>
                    <a:bodyPr/>
                    <a:lstStyle/>
                    <a:p>
                      <a:pPr algn="just">
                        <a:spcAft>
                          <a:spcPts val="0"/>
                        </a:spcAft>
                        <a:buNone/>
                      </a:pPr>
                      <a:endParaRPr lang="zh-CN" altLang="en-US" sz="2000" b="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tc>
                  <a:txBody>
                    <a:bodyPr/>
                    <a:lstStyle/>
                    <a:p>
                      <a:pPr algn="just">
                        <a:spcAft>
                          <a:spcPts val="0"/>
                        </a:spcAft>
                        <a:buNone/>
                      </a:pPr>
                      <a:endParaRPr lang="zh-CN" altLang="en-US" sz="2000" b="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72008" marR="72008" marT="0" marB="0">
                    <a:solidFill>
                      <a:schemeClr val="bg1"/>
                    </a:solidFill>
                  </a:tcPr>
                </a:tc>
                <a:extLst>
                  <a:ext uri="{0D108BD9-81ED-4DB2-BD59-A6C34878D82A}">
                    <a16:rowId xmlns:a16="http://schemas.microsoft.com/office/drawing/2014/main" val="10012"/>
                  </a:ext>
                </a:extLst>
              </a:tr>
            </a:tbl>
          </a:graphicData>
        </a:graphic>
      </p:graphicFrame>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60000" lnSpcReduction="20000"/>
          </a:bodyPr>
          <a:lstStyle/>
          <a:p>
            <a:pPr eaLnBrk="1" hangingPunct="1">
              <a:lnSpc>
                <a:spcPct val="150000"/>
              </a:lnSpc>
              <a:spcAft>
                <a:spcPts val="0"/>
              </a:spcAft>
              <a:buClr>
                <a:srgbClr val="000000"/>
              </a:buClr>
              <a:buSzTx/>
            </a:pPr>
            <a:r>
              <a:rPr lang="zh-CN" altLang="en-US" sz="4200" dirty="0"/>
              <a:t>标识</a:t>
            </a:r>
            <a:r>
              <a:rPr lang="zh-CN" altLang="en-US" sz="4200" dirty="0">
                <a:sym typeface="Wingdings" panose="05000000000000000000" pitchFamily="2" charset="2"/>
              </a:rPr>
              <a:t></a:t>
            </a:r>
            <a:r>
              <a:rPr lang="zh-CN" altLang="en-US" sz="4200" dirty="0"/>
              <a:t>常量、变量、数据类型、类和方法</a:t>
            </a:r>
          </a:p>
          <a:p>
            <a:pPr marL="609600" indent="-609600" eaLnBrk="1" hangingPunct="1">
              <a:lnSpc>
                <a:spcPct val="150000"/>
              </a:lnSpc>
              <a:buSzPct val="90000"/>
              <a:buNone/>
            </a:pPr>
            <a:r>
              <a:rPr lang="zh-CN" altLang="en-US" dirty="0"/>
              <a:t>	</a:t>
            </a:r>
            <a:r>
              <a:rPr lang="en-US" altLang="zh-CN" dirty="0"/>
              <a:t>public class HelloWorld {</a:t>
            </a:r>
          </a:p>
          <a:p>
            <a:pPr marL="609600" indent="-609600" eaLnBrk="1" hangingPunct="1">
              <a:lnSpc>
                <a:spcPct val="150000"/>
              </a:lnSpc>
              <a:buSzPct val="90000"/>
              <a:buNone/>
            </a:pPr>
            <a:r>
              <a:rPr lang="en-US" altLang="zh-CN" dirty="0"/>
              <a:t>    		public static void main(String[] args) {</a:t>
            </a:r>
          </a:p>
          <a:p>
            <a:pPr marL="609600" indent="-609600" eaLnBrk="1" hangingPunct="1">
              <a:lnSpc>
                <a:spcPct val="150000"/>
              </a:lnSpc>
              <a:buSzPct val="90000"/>
              <a:buNone/>
            </a:pPr>
            <a:r>
              <a:rPr lang="en-US" altLang="zh-CN" dirty="0"/>
              <a:t>        		String message = "Hello World!";        			myPrint(message);	</a:t>
            </a:r>
          </a:p>
          <a:p>
            <a:pPr marL="609600" indent="-609600" eaLnBrk="1" hangingPunct="1">
              <a:lnSpc>
                <a:spcPct val="150000"/>
              </a:lnSpc>
              <a:buSzPct val="90000"/>
              <a:buNone/>
            </a:pPr>
            <a:r>
              <a:rPr lang="en-US" altLang="zh-CN" dirty="0"/>
              <a:t>		}</a:t>
            </a:r>
          </a:p>
          <a:p>
            <a:pPr marL="609600" indent="-609600" eaLnBrk="1" hangingPunct="1">
              <a:lnSpc>
                <a:spcPct val="150000"/>
              </a:lnSpc>
              <a:buSzPct val="90000"/>
              <a:buNone/>
            </a:pPr>
            <a:r>
              <a:rPr lang="en-US" altLang="zh-CN" dirty="0"/>
              <a:t>		private static void myPrint(String s) {</a:t>
            </a:r>
          </a:p>
          <a:p>
            <a:pPr marL="609600" indent="-609600" eaLnBrk="1" hangingPunct="1">
              <a:lnSpc>
                <a:spcPct val="150000"/>
              </a:lnSpc>
              <a:buSzPct val="90000"/>
              <a:buNone/>
            </a:pPr>
            <a:r>
              <a:rPr lang="en-US" altLang="zh-CN" dirty="0"/>
              <a:t>			System.out.println(s);</a:t>
            </a:r>
          </a:p>
          <a:p>
            <a:pPr marL="609600" indent="-609600" eaLnBrk="1" hangingPunct="1">
              <a:lnSpc>
                <a:spcPct val="150000"/>
              </a:lnSpc>
              <a:buSzPct val="90000"/>
              <a:buNone/>
            </a:pPr>
            <a:r>
              <a:rPr lang="en-US" altLang="zh-CN" dirty="0"/>
              <a:t>		}</a:t>
            </a:r>
          </a:p>
          <a:p>
            <a:pPr marL="609600" indent="-609600" eaLnBrk="1" hangingPunct="1">
              <a:lnSpc>
                <a:spcPct val="150000"/>
              </a:lnSpc>
              <a:buSzPct val="90000"/>
              <a:buNone/>
            </a:pPr>
            <a:r>
              <a:rPr lang="en-US" altLang="zh-CN" dirty="0"/>
              <a:t>	}</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标识符</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a:bodyPr>
          <a:lstStyle/>
          <a:p>
            <a:pPr eaLnBrk="1" hangingPunct="1">
              <a:lnSpc>
                <a:spcPct val="150000"/>
              </a:lnSpc>
              <a:spcAft>
                <a:spcPts val="0"/>
              </a:spcAft>
              <a:buClr>
                <a:srgbClr val="000000"/>
              </a:buClr>
              <a:buSzTx/>
            </a:pPr>
            <a:r>
              <a:rPr lang="zh-CN" altLang="en-US" dirty="0"/>
              <a:t>组成规则</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字母</a:t>
            </a:r>
            <a:r>
              <a:rPr lang="en-US" altLang="zh-CN" dirty="0"/>
              <a:t>(A~Z</a:t>
            </a:r>
            <a:r>
              <a:rPr lang="zh-CN" altLang="en-US" dirty="0"/>
              <a:t>、</a:t>
            </a:r>
            <a:r>
              <a:rPr lang="en-US" altLang="zh-CN" dirty="0"/>
              <a:t>a~z)</a:t>
            </a:r>
            <a:r>
              <a:rPr lang="zh-CN" altLang="en-US" dirty="0"/>
              <a:t>、特殊符号</a:t>
            </a:r>
            <a:r>
              <a:rPr lang="en-US" altLang="zh-CN" dirty="0"/>
              <a:t>(</a:t>
            </a:r>
            <a:r>
              <a:rPr lang="en-US" altLang="zh-CN" dirty="0">
                <a:solidFill>
                  <a:srgbClr val="FF0000"/>
                </a:solidFill>
              </a:rPr>
              <a:t>$</a:t>
            </a:r>
            <a:r>
              <a:rPr lang="zh-CN" altLang="en-US" dirty="0"/>
              <a:t>、</a:t>
            </a:r>
            <a:r>
              <a:rPr lang="en-US" altLang="zh-CN" dirty="0"/>
              <a:t>_)</a:t>
            </a:r>
            <a:r>
              <a:rPr lang="zh-CN" altLang="en-US" dirty="0"/>
              <a:t>和数字</a:t>
            </a:r>
            <a:r>
              <a:rPr lang="en-US" altLang="zh-CN" dirty="0"/>
              <a:t>(0~9)</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第</a:t>
            </a:r>
            <a:r>
              <a:rPr lang="en-US" altLang="zh-CN" dirty="0"/>
              <a:t>1</a:t>
            </a:r>
            <a:r>
              <a:rPr lang="zh-CN" altLang="en-US" dirty="0"/>
              <a:t>个符号不能为数字</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不能为关键词、</a:t>
            </a:r>
            <a:r>
              <a:rPr lang="en-US" altLang="zh-CN" dirty="0"/>
              <a:t>true</a:t>
            </a:r>
            <a:r>
              <a:rPr lang="zh-CN" altLang="en-US" dirty="0"/>
              <a:t>、</a:t>
            </a:r>
            <a:r>
              <a:rPr lang="en-US" altLang="zh-CN" dirty="0"/>
              <a:t>false</a:t>
            </a:r>
            <a:r>
              <a:rPr lang="zh-CN" altLang="en-US" dirty="0"/>
              <a:t>、</a:t>
            </a:r>
            <a:r>
              <a:rPr lang="en-US" altLang="zh-CN" dirty="0"/>
              <a:t>null</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区分大小写</a:t>
            </a:r>
          </a:p>
          <a:p>
            <a:pPr marL="990600" lvl="1" indent="-533400" eaLnBrk="1" hangingPunct="1">
              <a:lnSpc>
                <a:spcPct val="150000"/>
              </a:lnSpc>
              <a:spcBef>
                <a:spcPts val="20"/>
              </a:spcBef>
              <a:buSzPct val="90000"/>
              <a:buFont typeface="Wingdings" panose="05000000000000000000" pitchFamily="2" charset="2"/>
              <a:buAutoNum type="arabicPeriod"/>
            </a:pPr>
            <a:r>
              <a:rPr lang="en-US" altLang="zh-CN" dirty="0"/>
              <a:t>JDK9.0</a:t>
            </a:r>
            <a:r>
              <a:rPr lang="zh-CN" altLang="zh-CN" dirty="0"/>
              <a:t>支持</a:t>
            </a:r>
            <a:r>
              <a:rPr lang="en-US" altLang="zh-CN" dirty="0"/>
              <a:t>unicode</a:t>
            </a:r>
            <a:r>
              <a:rPr lang="zh-CN" altLang="en-US" dirty="0"/>
              <a:t>字符变量名类名（）      </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标识符</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a:bodyPr>
          <a:lstStyle/>
          <a:p>
            <a:pPr algn="l" eaLnBrk="1" hangingPunct="1">
              <a:lnSpc>
                <a:spcPct val="150000"/>
              </a:lnSpc>
              <a:spcAft>
                <a:spcPts val="0"/>
              </a:spcAft>
              <a:buClr>
                <a:srgbClr val="000000"/>
              </a:buClr>
              <a:buSzTx/>
            </a:pPr>
            <a:r>
              <a:rPr lang="zh-CN" altLang="en-US" dirty="0"/>
              <a:t>一般约定</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表示常量的标识符全部大写，如</a:t>
            </a:r>
            <a:r>
              <a:rPr lang="en-US" altLang="zh-CN" dirty="0"/>
              <a:t>RED</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表示类名的标识符用大写字母开始，如</a:t>
            </a:r>
            <a:r>
              <a:rPr lang="en-US" altLang="zh-CN" dirty="0"/>
              <a:t>MyCar</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表示公有方法和实例变量的标识符用小写字母开始，后面的描述性词以大写开始，如</a:t>
            </a:r>
            <a:r>
              <a:rPr lang="en-US" altLang="zh-CN" dirty="0"/>
              <a:t>getCurrentValue</a:t>
            </a:r>
          </a:p>
          <a:p>
            <a:pPr marL="990600" lvl="1" indent="-533400" eaLnBrk="1" hangingPunct="1">
              <a:lnSpc>
                <a:spcPct val="150000"/>
              </a:lnSpc>
              <a:spcBef>
                <a:spcPts val="20"/>
              </a:spcBef>
              <a:buSzPct val="90000"/>
              <a:buFont typeface="Wingdings" panose="05000000000000000000" pitchFamily="2" charset="2"/>
              <a:buAutoNum type="arabicPeriod"/>
            </a:pPr>
            <a:r>
              <a:rPr lang="zh-CN" altLang="en-US" dirty="0"/>
              <a:t>表示私有或局部变量的标识符全部用小写字母，如</a:t>
            </a:r>
            <a:r>
              <a:rPr lang="en-US" altLang="zh-CN" dirty="0"/>
              <a:t>next_value</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标识符</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70000" lnSpcReduction="20000"/>
          </a:bodyPr>
          <a:lstStyle/>
          <a:p>
            <a:pPr algn="l" eaLnBrk="1" hangingPunct="1">
              <a:lnSpc>
                <a:spcPct val="150000"/>
              </a:lnSpc>
              <a:spcAft>
                <a:spcPts val="0"/>
              </a:spcAft>
              <a:buClr>
                <a:srgbClr val="000000"/>
              </a:buClr>
              <a:buSzTx/>
            </a:pPr>
            <a:r>
              <a:rPr lang="zh-CN" altLang="en-US" dirty="0"/>
              <a:t>空白符</a:t>
            </a:r>
          </a:p>
          <a:p>
            <a:pPr marL="742950" lvl="1" indent="-285750" eaLnBrk="1" hangingPunct="1">
              <a:lnSpc>
                <a:spcPct val="150000"/>
              </a:lnSpc>
              <a:spcBef>
                <a:spcPts val="20"/>
              </a:spcBef>
              <a:spcAft>
                <a:spcPts val="0"/>
              </a:spcAft>
              <a:buClr>
                <a:schemeClr val="accent1"/>
              </a:buClr>
              <a:buSzTx/>
            </a:pPr>
            <a:r>
              <a:rPr lang="zh-CN" altLang="en-US" dirty="0"/>
              <a:t>空格、换行符、制表符</a:t>
            </a:r>
          </a:p>
          <a:p>
            <a:pPr algn="l" eaLnBrk="1" hangingPunct="1">
              <a:lnSpc>
                <a:spcPct val="150000"/>
              </a:lnSpc>
              <a:spcBef>
                <a:spcPts val="20"/>
              </a:spcBef>
              <a:spcAft>
                <a:spcPts val="0"/>
              </a:spcAft>
              <a:buClr>
                <a:srgbClr val="000000"/>
              </a:buClr>
              <a:buSzTx/>
            </a:pPr>
            <a:r>
              <a:rPr lang="zh-CN" altLang="en-US" dirty="0"/>
              <a:t>分号</a:t>
            </a:r>
          </a:p>
          <a:p>
            <a:pPr marL="742950" lvl="1" indent="-285750" eaLnBrk="1" hangingPunct="1">
              <a:lnSpc>
                <a:spcPct val="150000"/>
              </a:lnSpc>
              <a:spcBef>
                <a:spcPts val="20"/>
              </a:spcBef>
              <a:spcAft>
                <a:spcPts val="0"/>
              </a:spcAft>
              <a:buClr>
                <a:schemeClr val="accent1"/>
              </a:buClr>
              <a:buSzTx/>
            </a:pPr>
            <a:r>
              <a:rPr lang="zh-CN" altLang="en-US" dirty="0"/>
              <a:t>表示语句结束，或用于</a:t>
            </a:r>
            <a:r>
              <a:rPr lang="en-US" altLang="zh-CN" dirty="0"/>
              <a:t>for</a:t>
            </a:r>
            <a:r>
              <a:rPr lang="zh-CN" altLang="en-US" dirty="0"/>
              <a:t>循环语句中</a:t>
            </a:r>
          </a:p>
          <a:p>
            <a:pPr algn="l" eaLnBrk="1" hangingPunct="1">
              <a:lnSpc>
                <a:spcPct val="150000"/>
              </a:lnSpc>
              <a:spcBef>
                <a:spcPts val="20"/>
              </a:spcBef>
              <a:spcAft>
                <a:spcPts val="0"/>
              </a:spcAft>
              <a:buClr>
                <a:srgbClr val="000000"/>
              </a:buClr>
              <a:buSzTx/>
            </a:pPr>
            <a:r>
              <a:rPr lang="zh-CN" altLang="en-US" dirty="0"/>
              <a:t>逗号</a:t>
            </a:r>
          </a:p>
          <a:p>
            <a:pPr marL="742950" lvl="1" indent="-285750" eaLnBrk="1" hangingPunct="1">
              <a:lnSpc>
                <a:spcPct val="150000"/>
              </a:lnSpc>
              <a:spcBef>
                <a:spcPts val="20"/>
              </a:spcBef>
              <a:spcAft>
                <a:spcPts val="0"/>
              </a:spcAft>
              <a:buClr>
                <a:schemeClr val="accent1"/>
              </a:buClr>
              <a:buSzTx/>
            </a:pPr>
            <a:r>
              <a:rPr lang="zh-CN" altLang="en-US" dirty="0"/>
              <a:t>变量之间的分隔</a:t>
            </a:r>
          </a:p>
          <a:p>
            <a:pPr algn="l" eaLnBrk="1" hangingPunct="1">
              <a:lnSpc>
                <a:spcPct val="150000"/>
              </a:lnSpc>
              <a:spcBef>
                <a:spcPts val="20"/>
              </a:spcBef>
              <a:spcAft>
                <a:spcPts val="0"/>
              </a:spcAft>
              <a:buClr>
                <a:srgbClr val="000000"/>
              </a:buClr>
              <a:buSzTx/>
            </a:pPr>
            <a:r>
              <a:rPr lang="zh-CN" altLang="en-US" dirty="0"/>
              <a:t>冒号</a:t>
            </a:r>
          </a:p>
          <a:p>
            <a:pPr marL="742950" lvl="1" indent="-285750" eaLnBrk="1" hangingPunct="1">
              <a:lnSpc>
                <a:spcPct val="150000"/>
              </a:lnSpc>
              <a:spcBef>
                <a:spcPts val="20"/>
              </a:spcBef>
              <a:spcAft>
                <a:spcPts val="0"/>
              </a:spcAft>
              <a:buClr>
                <a:schemeClr val="accent1"/>
              </a:buClr>
              <a:buSzTx/>
            </a:pPr>
            <a:r>
              <a:rPr lang="en-US" altLang="zh-CN" dirty="0"/>
              <a:t>? :  /switch</a:t>
            </a:r>
            <a:r>
              <a:rPr lang="zh-CN" altLang="en-US" dirty="0"/>
              <a:t>循环中的</a:t>
            </a:r>
            <a:r>
              <a:rPr lang="en-US" altLang="zh-CN" dirty="0"/>
              <a:t>case</a:t>
            </a:r>
            <a:r>
              <a:rPr lang="zh-CN" altLang="en-US" dirty="0"/>
              <a:t>语句</a:t>
            </a:r>
          </a:p>
          <a:p>
            <a:pPr algn="l" eaLnBrk="1" hangingPunct="1">
              <a:lnSpc>
                <a:spcPct val="150000"/>
              </a:lnSpc>
              <a:spcBef>
                <a:spcPts val="20"/>
              </a:spcBef>
              <a:spcAft>
                <a:spcPts val="0"/>
              </a:spcAft>
              <a:buClr>
                <a:srgbClr val="000000"/>
              </a:buClr>
              <a:buSzTx/>
            </a:pPr>
            <a:r>
              <a:rPr lang="zh-CN" altLang="en-US" dirty="0"/>
              <a:t>花括号</a:t>
            </a:r>
          </a:p>
          <a:p>
            <a:pPr marL="742950" lvl="1" indent="-285750" eaLnBrk="1" hangingPunct="1">
              <a:lnSpc>
                <a:spcPct val="150000"/>
              </a:lnSpc>
              <a:spcBef>
                <a:spcPts val="20"/>
              </a:spcBef>
              <a:buClr>
                <a:schemeClr val="accent1"/>
              </a:buClr>
              <a:buSzTx/>
            </a:pPr>
            <a:r>
              <a:rPr lang="zh-CN" altLang="en-US" dirty="0"/>
              <a:t>类体、方法体、复合语句</a:t>
            </a:r>
            <a:r>
              <a:rPr lang="en-US" altLang="zh-CN" dirty="0"/>
              <a:t>(for/while/switch/if)</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分隔符</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矩形 3"/>
          <p:cNvSpPr/>
          <p:nvPr/>
        </p:nvSpPr>
        <p:spPr>
          <a:xfrm>
            <a:off x="3690938" y="2613025"/>
            <a:ext cx="2621280" cy="829945"/>
          </a:xfrm>
          <a:prstGeom prst="rect">
            <a:avLst/>
          </a:prstGeom>
          <a:noFill/>
          <a:ln w="9525">
            <a:noFill/>
          </a:ln>
        </p:spPr>
        <p:txBody>
          <a:bodyPr wrap="none" anchor="t">
            <a:spAutoFit/>
          </a:bodyPr>
          <a:lstStyle/>
          <a:p>
            <a:pPr marL="0" lvl="1" indent="0" algn="l" eaLnBrk="1" fontAlgn="base" hangingPunct="1">
              <a:spcBef>
                <a:spcPct val="0"/>
              </a:spcBef>
              <a:spcAft>
                <a:spcPts val="0"/>
              </a:spcAft>
              <a:buNone/>
            </a:pP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数据类型</a:t>
            </a:r>
          </a:p>
        </p:txBody>
      </p:sp>
      <p:sp>
        <p:nvSpPr>
          <p:cNvPr id="6146" name="TextBox 4"/>
          <p:cNvSpPr/>
          <p:nvPr/>
        </p:nvSpPr>
        <p:spPr>
          <a:xfrm>
            <a:off x="1241425" y="1935163"/>
            <a:ext cx="2193290" cy="2753360"/>
          </a:xfrm>
          <a:prstGeom prst="rect">
            <a:avLst/>
          </a:prstGeom>
          <a:noFill/>
          <a:ln w="9525">
            <a:noFill/>
          </a:ln>
        </p:spPr>
        <p:txBody>
          <a:bodyPr wrap="none" anchor="t">
            <a:spAutoFit/>
          </a:bodyPr>
          <a:lstStyle/>
          <a:p>
            <a:pPr>
              <a:spcAft>
                <a:spcPts val="0"/>
              </a:spcAft>
            </a:pP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2</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lstStyle/>
          <a:p>
            <a:pPr>
              <a:spcAft>
                <a:spcPts val="0"/>
              </a:spcAft>
            </a:pPr>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normAutofit fontScale="90000"/>
          </a:bodyPr>
          <a:lstStyle/>
          <a:p>
            <a:pPr eaLnBrk="1" hangingPunct="1">
              <a:spcAft>
                <a:spcPts val="0"/>
              </a:spcAft>
            </a:pPr>
            <a:r>
              <a:rPr lang="zh-CN" altLang="en-US" dirty="0"/>
              <a:t>数据类型</a:t>
            </a:r>
          </a:p>
        </p:txBody>
      </p:sp>
      <p:sp>
        <p:nvSpPr>
          <p:cNvPr id="3" name="内容占位符 2"/>
          <p:cNvSpPr>
            <a:spLocks noGrp="1"/>
          </p:cNvSpPr>
          <p:nvPr>
            <p:ph idx="1"/>
            <p:custDataLst>
              <p:tags r:id="rId3"/>
            </p:custDataLst>
          </p:nvPr>
        </p:nvSpPr>
        <p:spPr>
          <a:xfrm>
            <a:off x="539750" y="1224598"/>
            <a:ext cx="9721850" cy="4751387"/>
          </a:xfrm>
        </p:spPr>
        <p:txBody>
          <a:bodyPr>
            <a:noAutofit/>
          </a:bodyPr>
          <a:lstStyle/>
          <a:p>
            <a:pPr eaLnBrk="1" hangingPunct="1">
              <a:lnSpc>
                <a:spcPct val="140000"/>
              </a:lnSpc>
              <a:spcAft>
                <a:spcPts val="0"/>
              </a:spcAft>
              <a:buClr>
                <a:srgbClr val="000000"/>
              </a:buClr>
              <a:buSzTx/>
            </a:pPr>
            <a:r>
              <a:rPr lang="zh-CN" altLang="en-US" sz="2100" dirty="0"/>
              <a:t>基本数据类型</a:t>
            </a:r>
          </a:p>
          <a:p>
            <a:pPr marL="742950" lvl="1" indent="-285750" eaLnBrk="1" hangingPunct="1">
              <a:lnSpc>
                <a:spcPct val="140000"/>
              </a:lnSpc>
              <a:spcBef>
                <a:spcPts val="20"/>
              </a:spcBef>
              <a:spcAft>
                <a:spcPts val="0"/>
              </a:spcAft>
              <a:buClr>
                <a:schemeClr val="accent1"/>
              </a:buClr>
              <a:buSzTx/>
            </a:pPr>
            <a:r>
              <a:rPr lang="zh-CN" altLang="en-US" sz="1680" dirty="0"/>
              <a:t>数字 </a:t>
            </a:r>
            <a:r>
              <a:rPr lang="en-US" altLang="zh-CN" sz="1680" dirty="0"/>
              <a:t>(number)</a:t>
            </a:r>
          </a:p>
          <a:p>
            <a:pPr marL="1200150" lvl="2" indent="-285750" eaLnBrk="1" hangingPunct="1">
              <a:lnSpc>
                <a:spcPct val="140000"/>
              </a:lnSpc>
              <a:spcBef>
                <a:spcPts val="20"/>
              </a:spcBef>
              <a:spcAft>
                <a:spcPts val="0"/>
              </a:spcAft>
              <a:buClr>
                <a:schemeClr val="bg2"/>
              </a:buClr>
              <a:buSzTx/>
            </a:pPr>
            <a:r>
              <a:rPr lang="zh-CN" altLang="en-US" sz="1260" dirty="0"/>
              <a:t>整型 </a:t>
            </a:r>
            <a:r>
              <a:rPr lang="en-US" altLang="zh-CN" sz="1260" dirty="0"/>
              <a:t>(integers)</a:t>
            </a:r>
          </a:p>
          <a:p>
            <a:pPr marL="1657350" lvl="3" indent="-285750" eaLnBrk="1" hangingPunct="1">
              <a:lnSpc>
                <a:spcPct val="140000"/>
              </a:lnSpc>
              <a:spcBef>
                <a:spcPts val="20"/>
              </a:spcBef>
              <a:spcAft>
                <a:spcPts val="0"/>
              </a:spcAft>
              <a:buSzPct val="90000"/>
            </a:pPr>
            <a:r>
              <a:rPr lang="zh-CN" altLang="en-US" sz="1260" dirty="0"/>
              <a:t>字节整数 </a:t>
            </a:r>
            <a:r>
              <a:rPr lang="en-US" altLang="zh-CN" sz="1260" dirty="0"/>
              <a:t>(byte, 8 bits): -128 ~127, 0</a:t>
            </a:r>
          </a:p>
          <a:p>
            <a:pPr marL="1657350" lvl="3" indent="-285750" eaLnBrk="1" hangingPunct="1">
              <a:lnSpc>
                <a:spcPct val="140000"/>
              </a:lnSpc>
              <a:spcBef>
                <a:spcPts val="20"/>
              </a:spcBef>
              <a:spcAft>
                <a:spcPts val="0"/>
              </a:spcAft>
              <a:buSzPct val="90000"/>
            </a:pPr>
            <a:r>
              <a:rPr lang="zh-CN" altLang="en-US" sz="1260" dirty="0"/>
              <a:t>短整数 </a:t>
            </a:r>
            <a:r>
              <a:rPr lang="en-US" altLang="zh-CN" sz="1260" dirty="0"/>
              <a:t>(short, 16 bits): -32768 ~ 32767, 0</a:t>
            </a:r>
          </a:p>
          <a:p>
            <a:pPr marL="1657350" lvl="3" indent="-285750" eaLnBrk="1" hangingPunct="1">
              <a:lnSpc>
                <a:spcPct val="140000"/>
              </a:lnSpc>
              <a:spcBef>
                <a:spcPts val="20"/>
              </a:spcBef>
              <a:spcAft>
                <a:spcPts val="0"/>
              </a:spcAft>
              <a:buSzPct val="90000"/>
            </a:pPr>
            <a:r>
              <a:rPr lang="zh-CN" altLang="en-US" sz="1260" dirty="0"/>
              <a:t>整数 </a:t>
            </a:r>
            <a:r>
              <a:rPr lang="en-US" altLang="zh-CN" sz="1260" dirty="0"/>
              <a:t>(int, 32 bits):        -2147483648 ~ 2147483647, 0</a:t>
            </a:r>
          </a:p>
          <a:p>
            <a:pPr marL="1657350" lvl="3" indent="-285750" eaLnBrk="1" hangingPunct="1">
              <a:lnSpc>
                <a:spcPct val="140000"/>
              </a:lnSpc>
              <a:spcBef>
                <a:spcPts val="20"/>
              </a:spcBef>
              <a:spcAft>
                <a:spcPts val="0"/>
              </a:spcAft>
              <a:buSzPct val="90000"/>
            </a:pPr>
            <a:r>
              <a:rPr lang="zh-CN" altLang="en-US" sz="1260" dirty="0"/>
              <a:t>长整数 </a:t>
            </a:r>
            <a:r>
              <a:rPr lang="en-US" altLang="zh-CN" sz="1260" dirty="0"/>
              <a:t>(long, 64 bits):  … …, 0L</a:t>
            </a:r>
          </a:p>
          <a:p>
            <a:pPr marL="1200150" lvl="2" indent="-285750" eaLnBrk="1" hangingPunct="1">
              <a:lnSpc>
                <a:spcPct val="140000"/>
              </a:lnSpc>
              <a:spcBef>
                <a:spcPts val="20"/>
              </a:spcBef>
              <a:spcAft>
                <a:spcPts val="0"/>
              </a:spcAft>
              <a:buClr>
                <a:schemeClr val="bg2"/>
              </a:buClr>
              <a:buSzTx/>
            </a:pPr>
            <a:r>
              <a:rPr lang="zh-CN" altLang="en-US" sz="1260" dirty="0"/>
              <a:t>实型 </a:t>
            </a:r>
            <a:r>
              <a:rPr lang="en-US" altLang="zh-CN" sz="1260" dirty="0"/>
              <a:t>(real numbers): </a:t>
            </a:r>
            <a:r>
              <a:rPr lang="zh-CN" altLang="en-US" sz="1260" dirty="0"/>
              <a:t>浮点型 </a:t>
            </a:r>
            <a:r>
              <a:rPr lang="en-US" altLang="zh-CN" sz="1260" dirty="0"/>
              <a:t>(</a:t>
            </a:r>
            <a:r>
              <a:rPr lang="zh-CN" altLang="en-US" sz="1260" dirty="0"/>
              <a:t>有效位数不同</a:t>
            </a:r>
            <a:r>
              <a:rPr lang="en-US" altLang="zh-CN" sz="1260" dirty="0"/>
              <a:t>)</a:t>
            </a:r>
          </a:p>
          <a:p>
            <a:pPr marL="1657350" lvl="3" indent="-285750" eaLnBrk="1" hangingPunct="1">
              <a:lnSpc>
                <a:spcPct val="140000"/>
              </a:lnSpc>
              <a:spcBef>
                <a:spcPts val="20"/>
              </a:spcBef>
              <a:spcAft>
                <a:spcPts val="0"/>
              </a:spcAft>
              <a:buSzPct val="90000"/>
            </a:pPr>
            <a:r>
              <a:rPr lang="zh-CN" altLang="en-US" sz="1260" dirty="0"/>
              <a:t>单精度</a:t>
            </a:r>
            <a:r>
              <a:rPr lang="en-US" altLang="zh-CN" sz="1260" dirty="0"/>
              <a:t>(float, 32 bits): 0.0F(1</a:t>
            </a:r>
            <a:r>
              <a:rPr lang="zh-CN" altLang="en-US" sz="1260" dirty="0"/>
              <a:t>符号位，</a:t>
            </a:r>
            <a:r>
              <a:rPr lang="en-US" altLang="zh-CN" sz="1260" dirty="0"/>
              <a:t>8</a:t>
            </a:r>
            <a:r>
              <a:rPr lang="zh-CN" altLang="en-US" sz="1260" dirty="0"/>
              <a:t>位指数位，</a:t>
            </a:r>
            <a:r>
              <a:rPr lang="en-US" altLang="zh-CN" sz="1260" dirty="0"/>
              <a:t>23</a:t>
            </a:r>
            <a:r>
              <a:rPr lang="zh-CN" altLang="en-US" sz="1260" dirty="0"/>
              <a:t>位尾数</a:t>
            </a:r>
            <a:r>
              <a:rPr lang="en-US" altLang="zh-CN" sz="1260" dirty="0"/>
              <a:t>)</a:t>
            </a:r>
          </a:p>
          <a:p>
            <a:pPr marL="1657350" lvl="3" indent="-285750" eaLnBrk="1" hangingPunct="1">
              <a:lnSpc>
                <a:spcPct val="140000"/>
              </a:lnSpc>
              <a:spcBef>
                <a:spcPts val="20"/>
              </a:spcBef>
              <a:spcAft>
                <a:spcPts val="0"/>
              </a:spcAft>
              <a:buSzPct val="90000"/>
            </a:pPr>
            <a:r>
              <a:rPr lang="zh-CN" altLang="en-US" sz="1260" dirty="0"/>
              <a:t>双精度</a:t>
            </a:r>
            <a:r>
              <a:rPr lang="en-US" altLang="zh-CN" sz="1260" dirty="0"/>
              <a:t>(double, 64 bits): 0.0D (1</a:t>
            </a:r>
            <a:r>
              <a:rPr lang="zh-CN" altLang="en-US" sz="1260" dirty="0"/>
              <a:t>符号位，</a:t>
            </a:r>
            <a:r>
              <a:rPr lang="en-US" altLang="zh-CN" sz="1260" dirty="0"/>
              <a:t>11</a:t>
            </a:r>
            <a:r>
              <a:rPr lang="zh-CN" altLang="en-US" sz="1260" dirty="0"/>
              <a:t>位指数位，</a:t>
            </a:r>
            <a:r>
              <a:rPr lang="en-US" altLang="zh-CN" sz="1260" dirty="0"/>
              <a:t>52</a:t>
            </a:r>
            <a:r>
              <a:rPr lang="zh-CN" altLang="en-US" sz="1260" dirty="0"/>
              <a:t>位尾数</a:t>
            </a:r>
            <a:r>
              <a:rPr lang="en-US" altLang="zh-CN" sz="1260" dirty="0"/>
              <a:t>)</a:t>
            </a:r>
          </a:p>
          <a:p>
            <a:pPr marL="742950" lvl="1" indent="-285750" eaLnBrk="1" hangingPunct="1">
              <a:lnSpc>
                <a:spcPct val="140000"/>
              </a:lnSpc>
              <a:spcBef>
                <a:spcPts val="20"/>
              </a:spcBef>
              <a:spcAft>
                <a:spcPts val="0"/>
              </a:spcAft>
              <a:buClr>
                <a:schemeClr val="accent1"/>
              </a:buClr>
              <a:buSzTx/>
            </a:pPr>
            <a:r>
              <a:rPr lang="zh-CN" altLang="en-US" sz="1680" dirty="0"/>
              <a:t>字符 </a:t>
            </a:r>
            <a:r>
              <a:rPr lang="en-US" altLang="zh-CN" sz="1680" dirty="0"/>
              <a:t>(char, 16-bit Unicode</a:t>
            </a:r>
            <a:r>
              <a:rPr lang="zh-CN" altLang="en-US" sz="1680" dirty="0"/>
              <a:t>字符</a:t>
            </a:r>
            <a:r>
              <a:rPr lang="en-US" altLang="zh-CN" sz="1680" dirty="0"/>
              <a:t>): \u0000 ~ \</a:t>
            </a:r>
            <a:r>
              <a:rPr lang="en-US" altLang="zh-CN" sz="1680" dirty="0" err="1"/>
              <a:t>uffff</a:t>
            </a:r>
            <a:endParaRPr lang="en-US" altLang="zh-CN" sz="1680" dirty="0"/>
          </a:p>
          <a:p>
            <a:pPr marL="742950" lvl="1" indent="-285750" eaLnBrk="1" hangingPunct="1">
              <a:lnSpc>
                <a:spcPct val="140000"/>
              </a:lnSpc>
              <a:spcBef>
                <a:spcPts val="20"/>
              </a:spcBef>
              <a:spcAft>
                <a:spcPts val="0"/>
              </a:spcAft>
              <a:buClr>
                <a:schemeClr val="accent1"/>
              </a:buClr>
              <a:buSzTx/>
            </a:pPr>
            <a:r>
              <a:rPr lang="zh-CN" altLang="en-US" sz="1680" dirty="0"/>
              <a:t>布尔 </a:t>
            </a:r>
            <a:r>
              <a:rPr lang="en-US" altLang="zh-CN" sz="1680" dirty="0"/>
              <a:t>(boolean): true, false</a:t>
            </a:r>
          </a:p>
          <a:p>
            <a:pPr eaLnBrk="1" hangingPunct="1">
              <a:lnSpc>
                <a:spcPct val="140000"/>
              </a:lnSpc>
              <a:spcBef>
                <a:spcPts val="20"/>
              </a:spcBef>
              <a:spcAft>
                <a:spcPts val="0"/>
              </a:spcAft>
              <a:buClr>
                <a:srgbClr val="000000"/>
              </a:buClr>
              <a:buSzTx/>
            </a:pPr>
            <a:r>
              <a:rPr lang="zh-CN" altLang="en-US" sz="2100" dirty="0"/>
              <a:t>复合数据类型</a:t>
            </a:r>
          </a:p>
          <a:p>
            <a:pPr marL="742950" lvl="1" indent="-285750" eaLnBrk="1" hangingPunct="1">
              <a:lnSpc>
                <a:spcPct val="140000"/>
              </a:lnSpc>
              <a:spcBef>
                <a:spcPts val="20"/>
              </a:spcBef>
              <a:buClr>
                <a:schemeClr val="accent1"/>
              </a:buClr>
              <a:buSzTx/>
            </a:pPr>
            <a:r>
              <a:rPr lang="zh-CN" altLang="en-US" sz="1680" dirty="0"/>
              <a:t>数组</a:t>
            </a:r>
            <a:r>
              <a:rPr lang="en-US" altLang="zh-CN" sz="1680" dirty="0"/>
              <a:t>(Array), </a:t>
            </a:r>
            <a:r>
              <a:rPr lang="zh-CN" altLang="en-US" sz="1680" dirty="0"/>
              <a:t>类</a:t>
            </a:r>
            <a:r>
              <a:rPr lang="en-US" altLang="zh-CN" sz="1680" dirty="0"/>
              <a:t>(class), </a:t>
            </a:r>
            <a:r>
              <a:rPr lang="zh-CN" altLang="en-US" sz="1680" dirty="0"/>
              <a:t>接口</a:t>
            </a:r>
            <a:r>
              <a:rPr lang="en-US" altLang="zh-CN" sz="1680" dirty="0"/>
              <a:t>(interface)</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75000" lnSpcReduction="20000"/>
          </a:bodyPr>
          <a:lstStyle/>
          <a:p>
            <a:pPr algn="l" eaLnBrk="1" hangingPunct="1">
              <a:lnSpc>
                <a:spcPct val="150000"/>
              </a:lnSpc>
              <a:spcAft>
                <a:spcPts val="0"/>
              </a:spcAft>
              <a:buClr>
                <a:srgbClr val="000000"/>
              </a:buClr>
              <a:buSzTx/>
            </a:pPr>
            <a:r>
              <a:rPr lang="zh-CN" altLang="en-US" dirty="0"/>
              <a:t>示例</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int  i = 178;</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long l = 8864L;   (8864l)</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double d1 = 37.266;    </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double d2 = 37.266D;   (37.266d)</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double d3 = 26.77e3; </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float f = 87.363F;      (87.363f)</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char c = ‘d‘; </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boolean b1 = true; </a:t>
            </a:r>
          </a:p>
          <a:p>
            <a:pPr marL="990600" lvl="1" indent="-533400" eaLnBrk="1" hangingPunct="1">
              <a:lnSpc>
                <a:spcPct val="150000"/>
              </a:lnSpc>
              <a:spcBef>
                <a:spcPts val="20"/>
              </a:spcBef>
              <a:buSzPct val="90000"/>
              <a:buFont typeface="Wingdings" panose="05000000000000000000" pitchFamily="2" charset="2"/>
              <a:buAutoNum type="arabicPeriod"/>
            </a:pPr>
            <a:r>
              <a:rPr lang="en-US" altLang="zh-CN" dirty="0"/>
              <a:t>boolean b2 = false; </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数据类型</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0000" lnSpcReduction="20000"/>
          </a:bodyPr>
          <a:lstStyle/>
          <a:p>
            <a:pPr eaLnBrk="1" hangingPunct="1">
              <a:lnSpc>
                <a:spcPct val="150000"/>
              </a:lnSpc>
              <a:spcAft>
                <a:spcPts val="0"/>
              </a:spcAft>
              <a:buClr>
                <a:srgbClr val="000000"/>
              </a:buClr>
              <a:buSzTx/>
            </a:pPr>
            <a:r>
              <a:rPr lang="zh-CN" altLang="en-US" dirty="0"/>
              <a:t>将一种类型的数据转换为另一种类型的数据</a:t>
            </a:r>
          </a:p>
          <a:p>
            <a:pPr marL="800100" lvl="1" indent="-342900" eaLnBrk="1" hangingPunct="1">
              <a:lnSpc>
                <a:spcPct val="150000"/>
              </a:lnSpc>
              <a:spcBef>
                <a:spcPts val="20"/>
              </a:spcBef>
              <a:spcAft>
                <a:spcPts val="0"/>
              </a:spcAft>
              <a:buClr>
                <a:schemeClr val="accent1"/>
              </a:buClr>
              <a:buSzTx/>
            </a:pPr>
            <a:r>
              <a:rPr lang="zh-CN" altLang="en-US" dirty="0"/>
              <a:t>操作数转换为同种类型，然后运算</a:t>
            </a:r>
          </a:p>
          <a:p>
            <a:pPr marL="800100" lvl="1" indent="-342900" eaLnBrk="1" hangingPunct="1">
              <a:lnSpc>
                <a:spcPct val="150000"/>
              </a:lnSpc>
              <a:spcBef>
                <a:spcPts val="20"/>
              </a:spcBef>
              <a:spcAft>
                <a:spcPts val="0"/>
              </a:spcAft>
              <a:buClr>
                <a:schemeClr val="accent1"/>
              </a:buClr>
              <a:buSzTx/>
            </a:pPr>
            <a:r>
              <a:rPr lang="zh-CN" altLang="en-US" dirty="0"/>
              <a:t>整数型、实数型和字符型</a:t>
            </a:r>
          </a:p>
          <a:p>
            <a:pPr marL="800100" lvl="1" indent="-342900" eaLnBrk="1" hangingPunct="1">
              <a:lnSpc>
                <a:spcPct val="150000"/>
              </a:lnSpc>
              <a:spcBef>
                <a:spcPts val="20"/>
              </a:spcBef>
              <a:spcAft>
                <a:spcPts val="0"/>
              </a:spcAft>
              <a:buClr>
                <a:schemeClr val="accent1"/>
              </a:buClr>
              <a:buSzTx/>
            </a:pPr>
            <a:r>
              <a:rPr lang="zh-CN" altLang="en-US" dirty="0"/>
              <a:t>表达形式</a:t>
            </a:r>
            <a:r>
              <a:rPr lang="en-US" altLang="zh-CN" dirty="0"/>
              <a:t>:   (</a:t>
            </a:r>
            <a:r>
              <a:rPr lang="zh-CN" altLang="en-US" dirty="0"/>
              <a:t>类型</a:t>
            </a:r>
            <a:r>
              <a:rPr lang="en-US" altLang="zh-CN" dirty="0"/>
              <a:t>) </a:t>
            </a:r>
            <a:r>
              <a:rPr lang="zh-CN" altLang="en-US" dirty="0"/>
              <a:t>操作数</a:t>
            </a:r>
          </a:p>
          <a:p>
            <a:pPr algn="l" eaLnBrk="1" hangingPunct="1">
              <a:lnSpc>
                <a:spcPct val="150000"/>
              </a:lnSpc>
              <a:spcBef>
                <a:spcPts val="20"/>
              </a:spcBef>
              <a:spcAft>
                <a:spcPts val="0"/>
              </a:spcAft>
              <a:buClr>
                <a:srgbClr val="000000"/>
              </a:buClr>
              <a:buSzTx/>
            </a:pPr>
            <a:r>
              <a:rPr lang="zh-CN" altLang="en-US" dirty="0"/>
              <a:t>应用场合</a:t>
            </a:r>
          </a:p>
          <a:p>
            <a:pPr marL="800100" lvl="1" indent="-342900" eaLnBrk="1" hangingPunct="1">
              <a:lnSpc>
                <a:spcPct val="150000"/>
              </a:lnSpc>
              <a:spcBef>
                <a:spcPts val="20"/>
              </a:spcBef>
              <a:spcAft>
                <a:spcPts val="0"/>
              </a:spcAft>
              <a:buSzPct val="90000"/>
            </a:pPr>
            <a:r>
              <a:rPr lang="zh-CN" altLang="en-US" dirty="0"/>
              <a:t>二元运算符的二个操作数类型不同</a:t>
            </a:r>
          </a:p>
          <a:p>
            <a:pPr marL="800100" lvl="1" indent="-342900" eaLnBrk="1" hangingPunct="1">
              <a:lnSpc>
                <a:spcPct val="150000"/>
              </a:lnSpc>
              <a:spcBef>
                <a:spcPts val="20"/>
              </a:spcBef>
              <a:spcAft>
                <a:spcPts val="0"/>
              </a:spcAft>
              <a:buSzPct val="90000"/>
            </a:pPr>
            <a:r>
              <a:rPr lang="zh-CN" altLang="en-US" dirty="0"/>
              <a:t>表达式值的类型与变量的类型不同</a:t>
            </a:r>
          </a:p>
          <a:p>
            <a:pPr algn="l" eaLnBrk="1" hangingPunct="1">
              <a:lnSpc>
                <a:spcPct val="150000"/>
              </a:lnSpc>
              <a:spcBef>
                <a:spcPts val="20"/>
              </a:spcBef>
              <a:spcAft>
                <a:spcPts val="0"/>
              </a:spcAft>
              <a:buClr>
                <a:srgbClr val="000000"/>
              </a:buClr>
              <a:buSzTx/>
            </a:pPr>
            <a:r>
              <a:rPr lang="zh-CN" altLang="en-US" dirty="0"/>
              <a:t>两种方法</a:t>
            </a:r>
          </a:p>
          <a:p>
            <a:pPr marL="800100" lvl="1" indent="-342900" eaLnBrk="1" hangingPunct="1">
              <a:lnSpc>
                <a:spcPct val="150000"/>
              </a:lnSpc>
              <a:spcBef>
                <a:spcPts val="20"/>
              </a:spcBef>
              <a:spcAft>
                <a:spcPts val="0"/>
              </a:spcAft>
              <a:buSzPct val="90000"/>
            </a:pPr>
            <a:r>
              <a:rPr lang="zh-CN" altLang="en-US" dirty="0"/>
              <a:t>隐型类型转换</a:t>
            </a:r>
            <a:r>
              <a:rPr lang="en-US" altLang="zh-CN" dirty="0"/>
              <a:t>: </a:t>
            </a:r>
            <a:r>
              <a:rPr lang="zh-CN" altLang="en-US" dirty="0"/>
              <a:t>自动类型转换</a:t>
            </a:r>
            <a:r>
              <a:rPr lang="en-US" altLang="zh-CN" dirty="0"/>
              <a:t>(</a:t>
            </a:r>
            <a:r>
              <a:rPr lang="zh-CN" altLang="en-US" dirty="0"/>
              <a:t>系统完成</a:t>
            </a:r>
            <a:r>
              <a:rPr lang="en-US" altLang="zh-CN" dirty="0"/>
              <a:t>)</a:t>
            </a:r>
          </a:p>
          <a:p>
            <a:pPr marL="800100" lvl="1" indent="-342900" eaLnBrk="1" hangingPunct="1">
              <a:lnSpc>
                <a:spcPct val="150000"/>
              </a:lnSpc>
              <a:spcBef>
                <a:spcPts val="20"/>
              </a:spcBef>
              <a:buSzPct val="90000"/>
            </a:pPr>
            <a:r>
              <a:rPr lang="zh-CN" altLang="en-US" dirty="0"/>
              <a:t>显型类型转换</a:t>
            </a:r>
            <a:r>
              <a:rPr lang="en-US" altLang="zh-CN" dirty="0"/>
              <a:t>: </a:t>
            </a:r>
            <a:r>
              <a:rPr lang="zh-CN" altLang="en-US" dirty="0"/>
              <a:t>强制类型转换</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类型转换 </a:t>
            </a:r>
            <a:r>
              <a:rPr lang="en-US" altLang="zh-CN" dirty="0"/>
              <a:t>(casting)</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p:txBody>
          <a:bodyPr>
            <a:normAutofit fontScale="62500"/>
          </a:bodyPr>
          <a:lstStyle/>
          <a:p>
            <a:pPr eaLnBrk="1" hangingPunct="1">
              <a:lnSpc>
                <a:spcPct val="150000"/>
              </a:lnSpc>
              <a:spcAft>
                <a:spcPts val="0"/>
              </a:spcAft>
              <a:buClr>
                <a:srgbClr val="000000"/>
              </a:buClr>
              <a:buSzTx/>
            </a:pPr>
            <a:r>
              <a:rPr lang="zh-CN" altLang="en-US" dirty="0"/>
              <a:t>隐型类型转换</a:t>
            </a:r>
            <a:r>
              <a:rPr lang="en-US" altLang="zh-CN" dirty="0"/>
              <a:t>:</a:t>
            </a:r>
            <a:r>
              <a:rPr lang="zh-CN" altLang="en-US" dirty="0"/>
              <a:t>自动类型转换</a:t>
            </a:r>
            <a:r>
              <a:rPr lang="en-US" altLang="zh-CN" dirty="0"/>
              <a:t>(</a:t>
            </a:r>
            <a:r>
              <a:rPr lang="zh-CN" altLang="en-US" dirty="0"/>
              <a:t>系统完成</a:t>
            </a:r>
            <a:r>
              <a:rPr lang="en-US" altLang="zh-CN" dirty="0"/>
              <a:t>)</a:t>
            </a:r>
          </a:p>
          <a:p>
            <a:pPr marL="800100" lvl="1" indent="-342900" eaLnBrk="1" hangingPunct="1">
              <a:lnSpc>
                <a:spcPct val="150000"/>
              </a:lnSpc>
              <a:spcBef>
                <a:spcPts val="20"/>
              </a:spcBef>
              <a:spcAft>
                <a:spcPts val="0"/>
              </a:spcAft>
              <a:buClr>
                <a:schemeClr val="accent1"/>
              </a:buClr>
              <a:buSzTx/>
            </a:pPr>
            <a:r>
              <a:rPr lang="zh-CN" altLang="en-US" dirty="0"/>
              <a:t>宽化转换</a:t>
            </a:r>
            <a:r>
              <a:rPr lang="en-US" altLang="zh-CN" dirty="0"/>
              <a:t>(widening conversion)</a:t>
            </a:r>
          </a:p>
          <a:p>
            <a:pPr marL="1200150" lvl="2" indent="-285750" eaLnBrk="1" hangingPunct="1">
              <a:lnSpc>
                <a:spcPct val="150000"/>
              </a:lnSpc>
              <a:spcBef>
                <a:spcPts val="20"/>
              </a:spcBef>
              <a:spcAft>
                <a:spcPts val="0"/>
              </a:spcAft>
              <a:buSzPct val="90000"/>
            </a:pPr>
            <a:r>
              <a:rPr lang="en-US" altLang="zh-CN" dirty="0"/>
              <a:t>byte j=60; short k=4; int l=31; long m=4l;</a:t>
            </a:r>
          </a:p>
          <a:p>
            <a:pPr marL="1200150" lvl="2" indent="-285750" eaLnBrk="1" hangingPunct="1">
              <a:lnSpc>
                <a:spcPct val="150000"/>
              </a:lnSpc>
              <a:spcBef>
                <a:spcPts val="20"/>
              </a:spcBef>
              <a:spcAft>
                <a:spcPts val="0"/>
              </a:spcAft>
              <a:buSzPct val="90000"/>
            </a:pPr>
            <a:r>
              <a:rPr lang="en-US" altLang="zh-CN" dirty="0"/>
              <a:t>long result=0l;</a:t>
            </a:r>
          </a:p>
          <a:p>
            <a:pPr marL="1200150" lvl="2" indent="-285750" eaLnBrk="1" hangingPunct="1">
              <a:lnSpc>
                <a:spcPct val="150000"/>
              </a:lnSpc>
              <a:spcBef>
                <a:spcPts val="20"/>
              </a:spcBef>
              <a:spcAft>
                <a:spcPts val="0"/>
              </a:spcAft>
              <a:buSzPct val="90000"/>
            </a:pPr>
            <a:r>
              <a:rPr lang="en-US" altLang="zh-CN" dirty="0"/>
              <a:t>result +=j-8;</a:t>
            </a:r>
          </a:p>
          <a:p>
            <a:pPr marL="1200150" lvl="2" indent="-285750" eaLnBrk="1" hangingPunct="1">
              <a:lnSpc>
                <a:spcPct val="150000"/>
              </a:lnSpc>
              <a:spcBef>
                <a:spcPts val="20"/>
              </a:spcBef>
              <a:spcAft>
                <a:spcPts val="0"/>
              </a:spcAft>
              <a:buSzPct val="90000"/>
            </a:pPr>
            <a:r>
              <a:rPr lang="en-US" altLang="zh-CN" dirty="0"/>
              <a:t>result *=k+2;</a:t>
            </a:r>
          </a:p>
          <a:p>
            <a:pPr marL="1200150" lvl="2" indent="-285750" eaLnBrk="1" hangingPunct="1">
              <a:lnSpc>
                <a:spcPct val="150000"/>
              </a:lnSpc>
              <a:spcBef>
                <a:spcPts val="20"/>
              </a:spcBef>
              <a:spcAft>
                <a:spcPts val="0"/>
              </a:spcAft>
              <a:buSzPct val="90000"/>
            </a:pPr>
            <a:r>
              <a:rPr lang="en-US" altLang="zh-CN" dirty="0"/>
              <a:t>result /=m+1;</a:t>
            </a:r>
          </a:p>
          <a:p>
            <a:pPr marL="1200150" lvl="2" indent="-285750" eaLnBrk="1" hangingPunct="1">
              <a:lnSpc>
                <a:spcPct val="150000"/>
              </a:lnSpc>
              <a:spcBef>
                <a:spcPts val="20"/>
              </a:spcBef>
              <a:spcAft>
                <a:spcPts val="0"/>
              </a:spcAft>
              <a:buSzPct val="90000"/>
            </a:pPr>
            <a:r>
              <a:rPr lang="en-US" altLang="zh-CN" dirty="0"/>
              <a:t>result -=l;</a:t>
            </a:r>
          </a:p>
          <a:p>
            <a:pPr marL="1200150" lvl="2" indent="-285750" eaLnBrk="1" hangingPunct="1">
              <a:lnSpc>
                <a:spcPct val="150000"/>
              </a:lnSpc>
              <a:spcBef>
                <a:spcPts val="20"/>
              </a:spcBef>
              <a:buSzPct val="90000"/>
            </a:pPr>
            <a:r>
              <a:rPr lang="en-US" altLang="zh-CN" dirty="0"/>
              <a:t>result %=m;</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类型转换 </a:t>
            </a:r>
            <a:r>
              <a:rPr lang="en-US" altLang="zh-CN" dirty="0"/>
              <a:t>(casting)</a:t>
            </a:r>
          </a:p>
        </p:txBody>
      </p:sp>
      <p:sp>
        <p:nvSpPr>
          <p:cNvPr id="5" name="内容占位符 4"/>
          <p:cNvSpPr>
            <a:spLocks noGrp="1"/>
          </p:cNvSpPr>
          <p:nvPr>
            <p:ph sz="half" idx="2"/>
          </p:nvPr>
        </p:nvSpPr>
        <p:spPr>
          <a:xfrm>
            <a:off x="5361940" y="2478405"/>
            <a:ext cx="5089525" cy="3147060"/>
          </a:xfrm>
        </p:spPr>
        <p:txBody>
          <a:bodyPr/>
          <a:lstStyle/>
          <a:p>
            <a:pPr marL="1371600" lvl="2" indent="-1371600" algn="ctr" eaLnBrk="1" hangingPunct="1">
              <a:spcAft>
                <a:spcPts val="0"/>
              </a:spcAft>
              <a:buSzPct val="90000"/>
              <a:buNone/>
            </a:pPr>
            <a:r>
              <a:rPr lang="zh-CN" altLang="en-US" sz="2800" dirty="0">
                <a:solidFill>
                  <a:schemeClr val="hlink"/>
                </a:solidFill>
                <a:sym typeface="+mn-ea"/>
              </a:rPr>
              <a:t>类型转换表</a:t>
            </a:r>
            <a:endParaRPr lang="zh-CN" altLang="en-US" sz="1600" dirty="0">
              <a:solidFill>
                <a:schemeClr val="hlink"/>
              </a:solidFill>
              <a:sym typeface="+mn-ea"/>
            </a:endParaRPr>
          </a:p>
          <a:p>
            <a:pPr marL="1371600" lvl="2" indent="-1371600" algn="ctr" eaLnBrk="1" hangingPunct="1">
              <a:buSzPct val="90000"/>
              <a:buNone/>
            </a:pPr>
            <a:endParaRPr lang="zh-CN" altLang="en-US" sz="1600" dirty="0">
              <a:solidFill>
                <a:schemeClr val="hlink"/>
              </a:solidFill>
            </a:endParaRPr>
          </a:p>
          <a:p>
            <a:pPr marL="990600" lvl="1" indent="-533400" eaLnBrk="1" hangingPunct="1">
              <a:spcBef>
                <a:spcPts val="20"/>
              </a:spcBef>
              <a:spcAft>
                <a:spcPts val="0"/>
              </a:spcAft>
              <a:buSzPct val="90000"/>
              <a:buNone/>
            </a:pPr>
            <a:r>
              <a:rPr lang="zh-CN" altLang="en-US" sz="1600" dirty="0">
                <a:sym typeface="+mn-ea"/>
              </a:rPr>
              <a:t>源类型     转换后不会丢失数据的目的类型</a:t>
            </a:r>
            <a:endParaRPr lang="zh-CN" altLang="en-US" sz="1600" dirty="0"/>
          </a:p>
          <a:p>
            <a:pPr marL="990600" lvl="1" indent="-533400" eaLnBrk="1" hangingPunct="1">
              <a:spcBef>
                <a:spcPts val="20"/>
              </a:spcBef>
              <a:spcAft>
                <a:spcPts val="0"/>
              </a:spcAft>
              <a:buSzPct val="90000"/>
              <a:buNone/>
            </a:pPr>
            <a:r>
              <a:rPr lang="en-US" altLang="zh-CN" sz="1600" dirty="0">
                <a:sym typeface="+mn-ea"/>
              </a:rPr>
              <a:t>byte	      short, char, int, long, float, double</a:t>
            </a:r>
            <a:endParaRPr lang="en-US" altLang="zh-CN" sz="1600" dirty="0"/>
          </a:p>
          <a:p>
            <a:pPr marL="990600" lvl="1" indent="-533400" eaLnBrk="1" hangingPunct="1">
              <a:spcBef>
                <a:spcPts val="20"/>
              </a:spcBef>
              <a:spcAft>
                <a:spcPts val="0"/>
              </a:spcAft>
              <a:buSzPct val="90000"/>
              <a:buNone/>
            </a:pPr>
            <a:r>
              <a:rPr lang="en-US" altLang="zh-CN" sz="1600" dirty="0">
                <a:sym typeface="+mn-ea"/>
              </a:rPr>
              <a:t>short	      char, int, long, float, double</a:t>
            </a:r>
            <a:endParaRPr lang="en-US" altLang="zh-CN" sz="1600" dirty="0"/>
          </a:p>
          <a:p>
            <a:pPr marL="990600" lvl="1" indent="-533400" eaLnBrk="1" hangingPunct="1">
              <a:spcBef>
                <a:spcPts val="20"/>
              </a:spcBef>
              <a:spcAft>
                <a:spcPts val="0"/>
              </a:spcAft>
              <a:buSzPct val="90000"/>
              <a:buNone/>
            </a:pPr>
            <a:r>
              <a:rPr lang="en-US" altLang="zh-CN" sz="1600" dirty="0">
                <a:sym typeface="+mn-ea"/>
              </a:rPr>
              <a:t>char	      int, long, float, double</a:t>
            </a:r>
            <a:endParaRPr lang="en-US" altLang="zh-CN" sz="1600" dirty="0"/>
          </a:p>
          <a:p>
            <a:pPr marL="990600" lvl="1" indent="-533400" eaLnBrk="1" hangingPunct="1">
              <a:spcBef>
                <a:spcPts val="20"/>
              </a:spcBef>
              <a:spcAft>
                <a:spcPts val="0"/>
              </a:spcAft>
              <a:buSzPct val="90000"/>
              <a:buNone/>
            </a:pPr>
            <a:r>
              <a:rPr lang="en-US" altLang="zh-CN" sz="1600" dirty="0">
                <a:sym typeface="+mn-ea"/>
              </a:rPr>
              <a:t>int		      long, float, double</a:t>
            </a:r>
            <a:endParaRPr lang="en-US" altLang="zh-CN" sz="1600" dirty="0"/>
          </a:p>
          <a:p>
            <a:pPr marL="990600" lvl="1" indent="-533400" eaLnBrk="1" hangingPunct="1">
              <a:spcBef>
                <a:spcPts val="20"/>
              </a:spcBef>
              <a:spcAft>
                <a:spcPts val="0"/>
              </a:spcAft>
              <a:buSzPct val="90000"/>
              <a:buNone/>
            </a:pPr>
            <a:r>
              <a:rPr lang="en-US" altLang="zh-CN" sz="1600" dirty="0">
                <a:sym typeface="+mn-ea"/>
              </a:rPr>
              <a:t>long	      float, double</a:t>
            </a:r>
            <a:endParaRPr lang="en-US" altLang="zh-CN" sz="1600" dirty="0"/>
          </a:p>
          <a:p>
            <a:pPr marL="990600" lvl="1" indent="-533400" eaLnBrk="1" hangingPunct="1">
              <a:spcBef>
                <a:spcPts val="20"/>
              </a:spcBef>
              <a:buSzPct val="90000"/>
              <a:buNone/>
            </a:pPr>
            <a:r>
              <a:rPr lang="en-US" altLang="zh-CN" sz="1600" dirty="0">
                <a:sym typeface="+mn-ea"/>
              </a:rPr>
              <a:t>float	      double</a:t>
            </a:r>
            <a:endParaRPr lang="zh-CN" altLang="en-US" sz="1600"/>
          </a:p>
          <a:p>
            <a:endParaRPr lang="zh-CN" altLang="en-US" sz="1600"/>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5000" lnSpcReduction="20000"/>
          </a:bodyPr>
          <a:lstStyle/>
          <a:p>
            <a:pPr algn="l" eaLnBrk="1" hangingPunct="1">
              <a:lnSpc>
                <a:spcPct val="150000"/>
              </a:lnSpc>
              <a:spcAft>
                <a:spcPts val="0"/>
              </a:spcAft>
              <a:buClr>
                <a:srgbClr val="000000"/>
              </a:buClr>
              <a:buSzTx/>
            </a:pPr>
            <a:r>
              <a:rPr lang="zh-CN" altLang="en-US" dirty="0"/>
              <a:t>显型类型转换: 强制类型转换</a:t>
            </a:r>
          </a:p>
          <a:p>
            <a:pPr marL="800100" lvl="1" indent="-342900" eaLnBrk="1" hangingPunct="1">
              <a:lnSpc>
                <a:spcPct val="150000"/>
              </a:lnSpc>
              <a:spcBef>
                <a:spcPts val="20"/>
              </a:spcBef>
              <a:spcAft>
                <a:spcPts val="0"/>
              </a:spcAft>
              <a:buClr>
                <a:schemeClr val="accent1"/>
              </a:buClr>
              <a:buSzTx/>
            </a:pPr>
            <a:r>
              <a:rPr lang="zh-CN" altLang="en-US" dirty="0"/>
              <a:t>窄化转换 </a:t>
            </a:r>
            <a:r>
              <a:rPr lang="en-US" altLang="zh-CN" dirty="0"/>
              <a:t>(narrowing conversion)</a:t>
            </a:r>
          </a:p>
          <a:p>
            <a:pPr marL="1371600" lvl="2" indent="-457200" eaLnBrk="1" hangingPunct="1">
              <a:lnSpc>
                <a:spcPct val="150000"/>
              </a:lnSpc>
              <a:spcBef>
                <a:spcPts val="20"/>
              </a:spcBef>
              <a:spcAft>
                <a:spcPts val="0"/>
              </a:spcAft>
              <a:buSzPct val="90000"/>
              <a:buNone/>
            </a:pPr>
            <a:r>
              <a:rPr lang="en-US" altLang="zh-CN" dirty="0"/>
              <a:t>double a = 1.5;</a:t>
            </a:r>
          </a:p>
          <a:p>
            <a:pPr marL="1371600" lvl="2" indent="-457200" eaLnBrk="1" hangingPunct="1">
              <a:lnSpc>
                <a:spcPct val="150000"/>
              </a:lnSpc>
              <a:spcBef>
                <a:spcPts val="20"/>
              </a:spcBef>
              <a:spcAft>
                <a:spcPts val="0"/>
              </a:spcAft>
              <a:buSzPct val="90000"/>
              <a:buNone/>
            </a:pPr>
            <a:r>
              <a:rPr lang="en-US" altLang="zh-CN" dirty="0"/>
              <a:t>float b = a;</a:t>
            </a:r>
          </a:p>
          <a:p>
            <a:pPr marL="1371600" lvl="2" indent="-457200" eaLnBrk="1" hangingPunct="1">
              <a:lnSpc>
                <a:spcPct val="150000"/>
              </a:lnSpc>
              <a:spcBef>
                <a:spcPts val="20"/>
              </a:spcBef>
              <a:spcAft>
                <a:spcPts val="0"/>
              </a:spcAft>
              <a:buSzPct val="90000"/>
              <a:buNone/>
            </a:pPr>
            <a:r>
              <a:rPr lang="en-US" altLang="zh-CN" dirty="0"/>
              <a:t>System.out.println("b=" + b);</a:t>
            </a:r>
          </a:p>
          <a:p>
            <a:pPr marL="1371600" lvl="2" indent="-457200" eaLnBrk="1" hangingPunct="1">
              <a:lnSpc>
                <a:spcPct val="150000"/>
              </a:lnSpc>
              <a:spcBef>
                <a:spcPts val="20"/>
              </a:spcBef>
              <a:spcAft>
                <a:spcPts val="0"/>
              </a:spcAft>
              <a:buSzPct val="90000"/>
              <a:buNone/>
            </a:pPr>
            <a:r>
              <a:rPr lang="zh-CN" altLang="en-US" dirty="0"/>
              <a:t>编译</a:t>
            </a:r>
            <a:r>
              <a:rPr lang="en-US" altLang="zh-CN" dirty="0"/>
              <a:t>: "possible loss of precision"</a:t>
            </a:r>
          </a:p>
          <a:p>
            <a:pPr marL="1371600" lvl="2" indent="-457200" eaLnBrk="1" hangingPunct="1">
              <a:lnSpc>
                <a:spcPct val="150000"/>
              </a:lnSpc>
              <a:spcBef>
                <a:spcPts val="0"/>
              </a:spcBef>
              <a:spcAft>
                <a:spcPts val="0"/>
              </a:spcAft>
              <a:buSzPct val="90000"/>
              <a:buNone/>
            </a:pPr>
            <a:r>
              <a:rPr lang="zh-CN" altLang="en-US" dirty="0"/>
              <a:t>数据精度丢失</a:t>
            </a:r>
            <a:r>
              <a:rPr lang="zh-CN" altLang="en-US" dirty="0">
                <a:sym typeface="Wingdings" panose="05000000000000000000" pitchFamily="2" charset="2"/>
              </a:rPr>
              <a:t>数据丢失</a:t>
            </a:r>
          </a:p>
          <a:p>
            <a:pPr marL="1371600" lvl="2" indent="-457200" eaLnBrk="1" hangingPunct="1">
              <a:lnSpc>
                <a:spcPct val="150000"/>
              </a:lnSpc>
              <a:buSzPct val="90000"/>
              <a:buNone/>
            </a:pPr>
            <a:r>
              <a:rPr lang="en-US" altLang="zh-CN" dirty="0"/>
              <a:t>double a = 1.5;</a:t>
            </a:r>
          </a:p>
          <a:p>
            <a:pPr marL="1371600" lvl="2" indent="-457200" eaLnBrk="1" hangingPunct="1">
              <a:lnSpc>
                <a:spcPct val="150000"/>
              </a:lnSpc>
              <a:buSzPct val="90000"/>
              <a:buNone/>
            </a:pPr>
            <a:r>
              <a:rPr lang="en-US" altLang="zh-CN" dirty="0"/>
              <a:t>float b = (float)a;</a:t>
            </a:r>
          </a:p>
          <a:p>
            <a:pPr marL="1371600" lvl="2" indent="-457200" eaLnBrk="1" hangingPunct="1">
              <a:lnSpc>
                <a:spcPct val="150000"/>
              </a:lnSpc>
              <a:buSzPct val="90000"/>
              <a:buNone/>
            </a:pPr>
            <a:r>
              <a:rPr lang="en-US" altLang="zh-CN" dirty="0"/>
              <a:t>System.out.println("b=" + b);</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类型转换 </a:t>
            </a:r>
            <a:r>
              <a:rPr lang="en-US" altLang="zh-CN" dirty="0"/>
              <a:t>(casting)</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5000" lnSpcReduction="20000"/>
          </a:bodyPr>
          <a:lstStyle/>
          <a:p>
            <a:pPr algn="l" eaLnBrk="1" hangingPunct="1">
              <a:lnSpc>
                <a:spcPct val="150000"/>
              </a:lnSpc>
              <a:spcAft>
                <a:spcPts val="0"/>
              </a:spcAft>
              <a:buClr>
                <a:srgbClr val="000000"/>
              </a:buClr>
              <a:buSzTx/>
            </a:pPr>
            <a:r>
              <a:rPr lang="zh-CN" altLang="en-US" dirty="0"/>
              <a:t>显型类型转换: 强制类型转换</a:t>
            </a:r>
          </a:p>
          <a:p>
            <a:pPr marL="1371600" lvl="2" indent="-457200" eaLnBrk="1" hangingPunct="1">
              <a:lnSpc>
                <a:spcPct val="150000"/>
              </a:lnSpc>
              <a:spcBef>
                <a:spcPts val="20"/>
              </a:spcBef>
              <a:spcAft>
                <a:spcPts val="0"/>
              </a:spcAft>
              <a:buSzPct val="90000"/>
              <a:buNone/>
            </a:pPr>
            <a:r>
              <a:rPr lang="en-US" altLang="zh-CN" dirty="0"/>
              <a:t>class Test {</a:t>
            </a:r>
          </a:p>
          <a:p>
            <a:pPr marL="1371600" lvl="2" indent="-457200" eaLnBrk="1" hangingPunct="1">
              <a:lnSpc>
                <a:spcPct val="150000"/>
              </a:lnSpc>
              <a:spcBef>
                <a:spcPts val="20"/>
              </a:spcBef>
              <a:spcAft>
                <a:spcPts val="0"/>
              </a:spcAft>
              <a:buSzPct val="90000"/>
              <a:buNone/>
            </a:pPr>
            <a:r>
              <a:rPr lang="en-US" altLang="x-none" dirty="0"/>
              <a:t>	</a:t>
            </a:r>
            <a:r>
              <a:rPr lang="en-US" altLang="zh-CN" dirty="0"/>
              <a:t>public static void main(String args[]) {</a:t>
            </a:r>
          </a:p>
          <a:p>
            <a:pPr marL="1371600" lvl="2" indent="-457200" eaLnBrk="1" hangingPunct="1">
              <a:lnSpc>
                <a:spcPct val="150000"/>
              </a:lnSpc>
              <a:spcBef>
                <a:spcPts val="20"/>
              </a:spcBef>
              <a:spcAft>
                <a:spcPts val="0"/>
              </a:spcAft>
              <a:buSzPct val="90000"/>
              <a:buNone/>
            </a:pPr>
            <a:r>
              <a:rPr lang="en-US" altLang="x-none" dirty="0"/>
              <a:t>		</a:t>
            </a:r>
            <a:r>
              <a:rPr lang="en-US" altLang="zh-CN" dirty="0"/>
              <a:t>int a = 257;</a:t>
            </a:r>
          </a:p>
          <a:p>
            <a:pPr marL="1371600" lvl="2" indent="-457200" eaLnBrk="1" hangingPunct="1">
              <a:lnSpc>
                <a:spcPct val="150000"/>
              </a:lnSpc>
              <a:spcBef>
                <a:spcPts val="20"/>
              </a:spcBef>
              <a:spcAft>
                <a:spcPts val="0"/>
              </a:spcAft>
              <a:buSzPct val="90000"/>
              <a:buNone/>
            </a:pPr>
            <a:r>
              <a:rPr lang="en-US" altLang="x-none" dirty="0"/>
              <a:t>		</a:t>
            </a:r>
            <a:r>
              <a:rPr lang="en-US" altLang="zh-CN" dirty="0"/>
              <a:t>byte b = (byte)a;</a:t>
            </a:r>
          </a:p>
          <a:p>
            <a:pPr marL="1371600" lvl="2" indent="-457200" eaLnBrk="1" hangingPunct="1">
              <a:lnSpc>
                <a:spcPct val="150000"/>
              </a:lnSpc>
              <a:spcBef>
                <a:spcPts val="20"/>
              </a:spcBef>
              <a:spcAft>
                <a:spcPts val="0"/>
              </a:spcAft>
              <a:buSzPct val="90000"/>
              <a:buNone/>
            </a:pPr>
            <a:r>
              <a:rPr lang="en-US" altLang="x-none" dirty="0"/>
              <a:t>		</a:t>
            </a:r>
            <a:r>
              <a:rPr lang="en-US" altLang="zh-CN" dirty="0"/>
              <a:t>System.out.println("a=" + a);</a:t>
            </a:r>
          </a:p>
          <a:p>
            <a:pPr marL="1371600" lvl="2" indent="-457200" eaLnBrk="1" hangingPunct="1">
              <a:lnSpc>
                <a:spcPct val="150000"/>
              </a:lnSpc>
              <a:spcBef>
                <a:spcPts val="20"/>
              </a:spcBef>
              <a:spcAft>
                <a:spcPts val="0"/>
              </a:spcAft>
              <a:buSzPct val="90000"/>
              <a:buNone/>
            </a:pPr>
            <a:r>
              <a:rPr lang="en-US" altLang="x-none" dirty="0"/>
              <a:t>		</a:t>
            </a:r>
            <a:r>
              <a:rPr lang="en-US" altLang="zh-CN" dirty="0"/>
              <a:t>System.out.println("b=" + b);</a:t>
            </a:r>
          </a:p>
          <a:p>
            <a:pPr marL="1371600" lvl="2" indent="-457200" eaLnBrk="1" hangingPunct="1">
              <a:lnSpc>
                <a:spcPct val="150000"/>
              </a:lnSpc>
              <a:spcBef>
                <a:spcPts val="20"/>
              </a:spcBef>
              <a:spcAft>
                <a:spcPts val="0"/>
              </a:spcAft>
              <a:buSzPct val="90000"/>
              <a:buNone/>
            </a:pPr>
            <a:r>
              <a:rPr lang="en-US" altLang="x-none" dirty="0"/>
              <a:t>	</a:t>
            </a:r>
            <a:r>
              <a:rPr lang="en-US" altLang="zh-CN" dirty="0"/>
              <a:t>}</a:t>
            </a:r>
          </a:p>
          <a:p>
            <a:pPr marL="1371600" lvl="2" indent="-457200" eaLnBrk="1" hangingPunct="1">
              <a:lnSpc>
                <a:spcPct val="150000"/>
              </a:lnSpc>
              <a:spcBef>
                <a:spcPts val="20"/>
              </a:spcBef>
              <a:spcAft>
                <a:spcPts val="0"/>
              </a:spcAft>
              <a:buSzPct val="90000"/>
              <a:buNone/>
            </a:pPr>
            <a:r>
              <a:rPr lang="en-US" altLang="zh-CN" dirty="0"/>
              <a:t>}</a:t>
            </a:r>
          </a:p>
          <a:p>
            <a:pPr marL="1371600" lvl="2" indent="-457200" eaLnBrk="1" hangingPunct="1">
              <a:lnSpc>
                <a:spcPct val="150000"/>
              </a:lnSpc>
              <a:spcBef>
                <a:spcPts val="20"/>
              </a:spcBef>
              <a:spcAft>
                <a:spcPts val="0"/>
              </a:spcAft>
              <a:buSzPct val="90000"/>
              <a:buNone/>
            </a:pPr>
            <a:r>
              <a:rPr lang="en-US" altLang="zh-CN" dirty="0"/>
              <a:t>257    00000000 00000000 00000001 00000001</a:t>
            </a:r>
          </a:p>
          <a:p>
            <a:pPr marL="1371600" lvl="2" indent="-457200" eaLnBrk="1" hangingPunct="1">
              <a:lnSpc>
                <a:spcPct val="150000"/>
              </a:lnSpc>
              <a:spcBef>
                <a:spcPts val="20"/>
              </a:spcBef>
              <a:buSzPct val="90000"/>
              <a:buNone/>
            </a:pPr>
            <a:r>
              <a:rPr lang="en-US" altLang="zh-CN" dirty="0"/>
              <a:t>1                                                          00000001</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类型转换 </a:t>
            </a:r>
            <a:r>
              <a:rPr lang="en-US" altLang="zh-CN" dirty="0"/>
              <a:t>(casting)</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类型转换 (casting)</a:t>
            </a:r>
          </a:p>
        </p:txBody>
      </p:sp>
      <p:sp>
        <p:nvSpPr>
          <p:cNvPr id="29698" name="Rectangle 2"/>
          <p:cNvSpPr>
            <a:spLocks noGrp="1"/>
          </p:cNvSpPr>
          <p:nvPr>
            <p:ph idx="1"/>
          </p:nvPr>
        </p:nvSpPr>
        <p:spPr/>
        <p:txBody>
          <a:bodyPr vert="horz" wrap="square" lIns="96011" tIns="48005" rIns="96011" bIns="48005" anchor="t"/>
          <a:lstStyle/>
          <a:p>
            <a:pPr marL="609600" indent="-609600" eaLnBrk="1" hangingPunct="1">
              <a:lnSpc>
                <a:spcPct val="80000"/>
              </a:lnSpc>
              <a:spcAft>
                <a:spcPts val="0"/>
              </a:spcAft>
              <a:buSzPct val="90000"/>
            </a:pPr>
            <a:r>
              <a:rPr lang="zh-CN" altLang="en-US" sz="2520" dirty="0"/>
              <a:t>显型类型转换</a:t>
            </a:r>
            <a:r>
              <a:rPr lang="en-US" altLang="zh-CN" sz="2520" dirty="0"/>
              <a:t>: </a:t>
            </a:r>
            <a:r>
              <a:rPr lang="zh-CN" altLang="en-US" sz="2520" dirty="0"/>
              <a:t>强制类型转换</a:t>
            </a:r>
          </a:p>
          <a:p>
            <a:pPr marL="1371600" lvl="2" indent="-457200" eaLnBrk="1" hangingPunct="1">
              <a:lnSpc>
                <a:spcPct val="100000"/>
              </a:lnSpc>
              <a:spcBef>
                <a:spcPts val="20"/>
              </a:spcBef>
              <a:spcAft>
                <a:spcPts val="0"/>
              </a:spcAft>
              <a:buSzPct val="90000"/>
              <a:buNone/>
            </a:pPr>
            <a:r>
              <a:rPr lang="en-US" altLang="zh-CN" sz="2100" dirty="0">
                <a:latin typeface="Tahoma" panose="020B0604030504040204" pitchFamily="34" charset="0"/>
              </a:rPr>
              <a:t>class Test {</a:t>
            </a:r>
          </a:p>
          <a:p>
            <a:pPr marL="1371600" lvl="2" indent="-457200" eaLnBrk="1" hangingPunct="1">
              <a:lnSpc>
                <a:spcPct val="100000"/>
              </a:lnSpc>
              <a:spcBef>
                <a:spcPts val="20"/>
              </a:spcBef>
              <a:spcAft>
                <a:spcPts val="0"/>
              </a:spcAft>
              <a:buSzPct val="90000"/>
              <a:buNone/>
            </a:pPr>
            <a:r>
              <a:rPr lang="en-US" altLang="zh-CN" sz="2100" dirty="0">
                <a:latin typeface="Tahoma" panose="020B0604030504040204" pitchFamily="34" charset="0"/>
              </a:rPr>
              <a:t>	public static  void main(String args[]) {</a:t>
            </a:r>
          </a:p>
          <a:p>
            <a:pPr marL="1371600" lvl="2" indent="-457200" eaLnBrk="1" hangingPunct="1">
              <a:lnSpc>
                <a:spcPct val="100000"/>
              </a:lnSpc>
              <a:spcBef>
                <a:spcPts val="20"/>
              </a:spcBef>
              <a:spcAft>
                <a:spcPts val="0"/>
              </a:spcAft>
              <a:buSzPct val="90000"/>
              <a:buNone/>
            </a:pPr>
            <a:r>
              <a:rPr lang="en-US" altLang="zh-CN" sz="2100" dirty="0">
                <a:latin typeface="Tahoma" panose="020B0604030504040204" pitchFamily="34" charset="0"/>
              </a:rPr>
              <a:t>		</a:t>
            </a:r>
            <a:r>
              <a:rPr lang="zh-CN" altLang="en-US" sz="2100" dirty="0">
                <a:latin typeface="Tahoma" panose="020B0604030504040204" pitchFamily="34" charset="0"/>
              </a:rPr>
              <a:t>char c1 = 'A',c2;     // A的ASCII值为65</a:t>
            </a:r>
          </a:p>
          <a:p>
            <a:pPr marL="1371600" lvl="2" indent="-457200" eaLnBrk="1" hangingPunct="1">
              <a:lnSpc>
                <a:spcPct val="100000"/>
              </a:lnSpc>
              <a:spcBef>
                <a:spcPts val="20"/>
              </a:spcBef>
              <a:spcAft>
                <a:spcPts val="0"/>
              </a:spcAft>
              <a:buSzPct val="90000"/>
              <a:buNone/>
            </a:pPr>
            <a:r>
              <a:rPr lang="zh-CN" altLang="en-US" sz="2100" dirty="0">
                <a:latin typeface="Tahoma" panose="020B0604030504040204" pitchFamily="34" charset="0"/>
              </a:rPr>
              <a:t>			int i;</a:t>
            </a:r>
          </a:p>
          <a:p>
            <a:pPr marL="1371600" lvl="2" indent="-457200" eaLnBrk="1" hangingPunct="1">
              <a:lnSpc>
                <a:spcPct val="100000"/>
              </a:lnSpc>
              <a:spcBef>
                <a:spcPts val="20"/>
              </a:spcBef>
              <a:spcAft>
                <a:spcPts val="0"/>
              </a:spcAft>
              <a:buSzPct val="90000"/>
              <a:buNone/>
            </a:pPr>
            <a:r>
              <a:rPr lang="zh-CN" altLang="en-US" sz="2100" dirty="0">
                <a:latin typeface="Tahoma" panose="020B0604030504040204" pitchFamily="34" charset="0"/>
              </a:rPr>
              <a:t>			i = (int) c1 + 1;</a:t>
            </a:r>
          </a:p>
          <a:p>
            <a:pPr marL="1371600" lvl="2" indent="-457200" eaLnBrk="1" hangingPunct="1">
              <a:lnSpc>
                <a:spcPct val="100000"/>
              </a:lnSpc>
              <a:spcBef>
                <a:spcPts val="20"/>
              </a:spcBef>
              <a:spcAft>
                <a:spcPts val="0"/>
              </a:spcAft>
              <a:buSzPct val="90000"/>
              <a:buNone/>
            </a:pPr>
            <a:r>
              <a:rPr lang="zh-CN" altLang="en-US" sz="2100" dirty="0">
                <a:latin typeface="Tahoma" panose="020B0604030504040204" pitchFamily="34" charset="0"/>
              </a:rPr>
              <a:t>			c2 = (char) i;</a:t>
            </a:r>
          </a:p>
          <a:p>
            <a:pPr marL="1371600" lvl="2" indent="-457200" eaLnBrk="1" hangingPunct="1">
              <a:lnSpc>
                <a:spcPct val="100000"/>
              </a:lnSpc>
              <a:spcBef>
                <a:spcPts val="20"/>
              </a:spcBef>
              <a:spcAft>
                <a:spcPts val="0"/>
              </a:spcAft>
              <a:buSzPct val="90000"/>
              <a:buNone/>
            </a:pPr>
            <a:r>
              <a:rPr lang="zh-CN" altLang="en-US" sz="2100" dirty="0">
                <a:latin typeface="Tahoma" panose="020B0604030504040204" pitchFamily="34" charset="0"/>
              </a:rPr>
              <a:t>			System.out.println(c1 + c2);</a:t>
            </a:r>
          </a:p>
          <a:p>
            <a:pPr marL="1371600" lvl="2" indent="-457200" eaLnBrk="1" hangingPunct="1">
              <a:lnSpc>
                <a:spcPct val="100000"/>
              </a:lnSpc>
              <a:spcBef>
                <a:spcPts val="20"/>
              </a:spcBef>
              <a:spcAft>
                <a:spcPts val="0"/>
              </a:spcAft>
              <a:buSzPct val="90000"/>
              <a:buNone/>
            </a:pPr>
            <a:r>
              <a:rPr lang="zh-CN" altLang="en-US" sz="2100" dirty="0">
                <a:latin typeface="Tahoma" panose="020B0604030504040204" pitchFamily="34" charset="0"/>
              </a:rPr>
              <a:t>			System.out.println(c1 + "," +c2); </a:t>
            </a:r>
          </a:p>
          <a:p>
            <a:pPr marL="1371600" lvl="2" indent="-457200" eaLnBrk="1" hangingPunct="1">
              <a:lnSpc>
                <a:spcPct val="100000"/>
              </a:lnSpc>
              <a:spcBef>
                <a:spcPts val="20"/>
              </a:spcBef>
              <a:spcAft>
                <a:spcPts val="0"/>
              </a:spcAft>
              <a:buSzPct val="90000"/>
              <a:buNone/>
            </a:pPr>
            <a:r>
              <a:rPr lang="en-US" altLang="zh-CN" sz="2100" dirty="0">
                <a:latin typeface="Tahoma" panose="020B0604030504040204" pitchFamily="34" charset="0"/>
              </a:rPr>
              <a:t>	}</a:t>
            </a:r>
          </a:p>
          <a:p>
            <a:pPr marL="1371600" lvl="2" indent="-457200" eaLnBrk="1" hangingPunct="1">
              <a:lnSpc>
                <a:spcPct val="100000"/>
              </a:lnSpc>
              <a:spcBef>
                <a:spcPts val="20"/>
              </a:spcBef>
              <a:buSzPct val="90000"/>
              <a:buNone/>
            </a:pPr>
            <a:r>
              <a:rPr lang="en-US" altLang="zh-CN" sz="2100" dirty="0">
                <a:latin typeface="Tahoma" panose="020B0604030504040204" pitchFamily="34" charset="0"/>
              </a:rPr>
              <a:t>}</a:t>
            </a:r>
          </a:p>
          <a:p>
            <a:pPr marL="1371600" lvl="2" indent="-457200" eaLnBrk="1" hangingPunct="1">
              <a:lnSpc>
                <a:spcPct val="80000"/>
              </a:lnSpc>
              <a:buSzPct val="90000"/>
              <a:buNone/>
            </a:pPr>
            <a:endParaRPr lang="en-US" altLang="zh-CN" sz="2100" dirty="0">
              <a:latin typeface="Tahoma" panose="020B0604030504040204" pitchFamily="34" charset="0"/>
            </a:endParaRPr>
          </a:p>
        </p:txBody>
      </p:sp>
      <p:sp>
        <p:nvSpPr>
          <p:cNvPr id="29699"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
        <p:nvSpPr>
          <p:cNvPr id="29701" name="Text Box 5"/>
          <p:cNvSpPr txBox="1"/>
          <p:nvPr/>
        </p:nvSpPr>
        <p:spPr>
          <a:xfrm>
            <a:off x="2703275" y="4711462"/>
            <a:ext cx="4385548" cy="1060450"/>
          </a:xfrm>
          <a:prstGeom prst="rect">
            <a:avLst/>
          </a:prstGeom>
          <a:noFill/>
          <a:ln w="9525">
            <a:noFill/>
          </a:ln>
        </p:spPr>
        <p:txBody>
          <a:bodyPr>
            <a:spAutoFit/>
          </a:bodyPr>
          <a:lstStyle/>
          <a:p>
            <a:pPr eaLnBrk="1" hangingPunct="1">
              <a:spcAft>
                <a:spcPts val="0"/>
              </a:spcAft>
            </a:pPr>
            <a:r>
              <a:rPr lang="zh-CN" altLang="en-US" sz="2100" dirty="0">
                <a:latin typeface="Arial" panose="020B0604020202020204" pitchFamily="34" charset="0"/>
              </a:rPr>
              <a:t>输出:</a:t>
            </a:r>
          </a:p>
          <a:p>
            <a:pPr eaLnBrk="1" hangingPunct="1">
              <a:spcBef>
                <a:spcPts val="0"/>
              </a:spcBef>
              <a:spcAft>
                <a:spcPts val="0"/>
              </a:spcAft>
            </a:pPr>
            <a:r>
              <a:rPr lang="zh-CN" altLang="en-US" sz="2100" dirty="0">
                <a:solidFill>
                  <a:srgbClr val="FF3300"/>
                </a:solidFill>
                <a:latin typeface="Arial" panose="020B0604020202020204" pitchFamily="34" charset="0"/>
              </a:rPr>
              <a:t>131</a:t>
            </a:r>
          </a:p>
          <a:p>
            <a:pPr eaLnBrk="1" hangingPunct="1">
              <a:spcBef>
                <a:spcPts val="0"/>
              </a:spcBef>
            </a:pPr>
            <a:r>
              <a:rPr lang="zh-CN" altLang="en-US" sz="2100" dirty="0">
                <a:solidFill>
                  <a:srgbClr val="FF3300"/>
                </a:solidFill>
                <a:latin typeface="Arial" panose="020B0604020202020204" pitchFamily="34" charset="0"/>
              </a:rPr>
              <a:t>A,B</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701"/>
                                        </p:tgtEl>
                                        <p:attrNameLst>
                                          <p:attrName>style.visibility</p:attrName>
                                        </p:attrNameLst>
                                      </p:cBhvr>
                                      <p:to>
                                        <p:strVal val="visible"/>
                                      </p:to>
                                    </p:set>
                                    <p:anim calcmode="lin" valueType="num">
                                      <p:cBhvr additive="base">
                                        <p:cTn id="7" dur="500" fill="hold"/>
                                        <p:tgtEl>
                                          <p:spTgt spid="29701"/>
                                        </p:tgtEl>
                                        <p:attrNameLst>
                                          <p:attrName>ppt_x</p:attrName>
                                        </p:attrNameLst>
                                      </p:cBhvr>
                                      <p:tavLst>
                                        <p:tav tm="0">
                                          <p:val>
                                            <p:strVal val="#ppt_x"/>
                                          </p:val>
                                        </p:tav>
                                        <p:tav tm="100000">
                                          <p:val>
                                            <p:strVal val="#ppt_x"/>
                                          </p:val>
                                        </p:tav>
                                      </p:tavLst>
                                    </p:anim>
                                    <p:anim calcmode="lin" valueType="num">
                                      <p:cBhvr additive="base">
                                        <p:cTn id="8" dur="500" fill="hold"/>
                                        <p:tgtEl>
                                          <p:spTgt spid="297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bldLvl="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矩形 3"/>
          <p:cNvSpPr/>
          <p:nvPr/>
        </p:nvSpPr>
        <p:spPr>
          <a:xfrm>
            <a:off x="3690938" y="2613025"/>
            <a:ext cx="3230880" cy="829945"/>
          </a:xfrm>
          <a:prstGeom prst="rect">
            <a:avLst/>
          </a:prstGeom>
          <a:noFill/>
          <a:ln w="9525">
            <a:noFill/>
          </a:ln>
        </p:spPr>
        <p:txBody>
          <a:bodyPr wrap="none" anchor="t">
            <a:spAutoFit/>
          </a:bodyPr>
          <a:lstStyle/>
          <a:p>
            <a:pPr marL="0" lvl="1" indent="0" algn="l" eaLnBrk="1" fontAlgn="base" hangingPunct="1">
              <a:spcBef>
                <a:spcPct val="0"/>
              </a:spcBef>
              <a:spcAft>
                <a:spcPts val="0"/>
              </a:spcAft>
              <a:buNone/>
            </a:pP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常量与变量</a:t>
            </a:r>
          </a:p>
        </p:txBody>
      </p:sp>
      <p:sp>
        <p:nvSpPr>
          <p:cNvPr id="6146" name="TextBox 4"/>
          <p:cNvSpPr/>
          <p:nvPr/>
        </p:nvSpPr>
        <p:spPr>
          <a:xfrm>
            <a:off x="1241425" y="1935163"/>
            <a:ext cx="2193290" cy="2753360"/>
          </a:xfrm>
          <a:prstGeom prst="rect">
            <a:avLst/>
          </a:prstGeom>
          <a:noFill/>
          <a:ln w="9525">
            <a:noFill/>
          </a:ln>
        </p:spPr>
        <p:txBody>
          <a:bodyPr wrap="none" anchor="t">
            <a:spAutoFit/>
          </a:bodyPr>
          <a:lstStyle/>
          <a:p>
            <a:pPr>
              <a:spcAft>
                <a:spcPts val="0"/>
              </a:spcAft>
            </a:pP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3</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lstStyle/>
          <a:p>
            <a:pPr>
              <a:spcAft>
                <a:spcPts val="0"/>
              </a:spcAft>
            </a:pPr>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a:bodyPr>
          <a:lstStyle/>
          <a:p>
            <a:pPr algn="l" eaLnBrk="1" hangingPunct="1">
              <a:lnSpc>
                <a:spcPct val="150000"/>
              </a:lnSpc>
              <a:spcAft>
                <a:spcPts val="0"/>
              </a:spcAft>
              <a:buClr>
                <a:srgbClr val="000000"/>
              </a:buClr>
              <a:buSzTx/>
            </a:pPr>
            <a:r>
              <a:rPr lang="zh-CN" altLang="en-US" dirty="0"/>
              <a:t>程序执行过程中，值保持不变的量</a:t>
            </a:r>
          </a:p>
          <a:p>
            <a:pPr lvl="1" eaLnBrk="1" hangingPunct="1">
              <a:lnSpc>
                <a:spcPct val="150000"/>
              </a:lnSpc>
              <a:spcBef>
                <a:spcPts val="20"/>
              </a:spcBef>
              <a:spcAft>
                <a:spcPts val="0"/>
              </a:spcAft>
              <a:buClr>
                <a:srgbClr val="000000"/>
              </a:buClr>
              <a:buSzTx/>
            </a:pPr>
            <a:r>
              <a:rPr lang="zh-CN" altLang="en-US" dirty="0"/>
              <a:t>整型常量</a:t>
            </a:r>
          </a:p>
          <a:p>
            <a:pPr lvl="1" eaLnBrk="1" hangingPunct="1">
              <a:lnSpc>
                <a:spcPct val="150000"/>
              </a:lnSpc>
              <a:spcBef>
                <a:spcPts val="20"/>
              </a:spcBef>
              <a:spcAft>
                <a:spcPts val="0"/>
              </a:spcAft>
              <a:buClr>
                <a:srgbClr val="000000"/>
              </a:buClr>
              <a:buSzTx/>
            </a:pPr>
            <a:r>
              <a:rPr lang="zh-CN" altLang="en-US" dirty="0"/>
              <a:t>实型常量</a:t>
            </a:r>
          </a:p>
          <a:p>
            <a:pPr lvl="1" eaLnBrk="1" hangingPunct="1">
              <a:lnSpc>
                <a:spcPct val="150000"/>
              </a:lnSpc>
              <a:spcBef>
                <a:spcPts val="20"/>
              </a:spcBef>
              <a:spcAft>
                <a:spcPts val="0"/>
              </a:spcAft>
              <a:buClr>
                <a:srgbClr val="000000"/>
              </a:buClr>
              <a:buSzTx/>
            </a:pPr>
            <a:r>
              <a:rPr lang="zh-CN" altLang="en-US" dirty="0"/>
              <a:t>布尔型常量</a:t>
            </a:r>
          </a:p>
          <a:p>
            <a:pPr lvl="1" eaLnBrk="1" hangingPunct="1">
              <a:lnSpc>
                <a:spcPct val="150000"/>
              </a:lnSpc>
              <a:spcBef>
                <a:spcPts val="20"/>
              </a:spcBef>
              <a:spcAft>
                <a:spcPts val="0"/>
              </a:spcAft>
              <a:buClr>
                <a:srgbClr val="000000"/>
              </a:buClr>
              <a:buSzTx/>
            </a:pPr>
            <a:r>
              <a:rPr lang="zh-CN" altLang="en-US" dirty="0"/>
              <a:t>字符型常量</a:t>
            </a:r>
          </a:p>
          <a:p>
            <a:pPr lvl="1" eaLnBrk="1" hangingPunct="1">
              <a:lnSpc>
                <a:spcPct val="150000"/>
              </a:lnSpc>
              <a:spcBef>
                <a:spcPts val="20"/>
              </a:spcBef>
              <a:buClr>
                <a:srgbClr val="000000"/>
              </a:buClr>
              <a:buSzTx/>
            </a:pPr>
            <a:r>
              <a:rPr lang="zh-CN" altLang="en-US" dirty="0"/>
              <a:t>字符串常量</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常量</a:t>
            </a: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常量</a:t>
            </a:r>
          </a:p>
        </p:txBody>
      </p:sp>
      <p:sp>
        <p:nvSpPr>
          <p:cNvPr id="32771" name="Rectangle 3"/>
          <p:cNvSpPr>
            <a:spLocks noGrp="1" noChangeArrowheads="1"/>
          </p:cNvSpPr>
          <p:nvPr>
            <p:ph idx="1"/>
          </p:nvPr>
        </p:nvSpPr>
        <p:spPr>
          <a:xfrm>
            <a:off x="495300" y="1224598"/>
            <a:ext cx="9721850" cy="4751387"/>
          </a:xfrm>
        </p:spPr>
        <p:txBody>
          <a:bodyPr vert="horz" wrap="square" lIns="96011" tIns="48005" rIns="96011" bIns="48005" numCol="1" anchor="t" anchorCtr="0" compatLnSpc="1"/>
          <a:lstStyle/>
          <a:p>
            <a:pPr marR="0" lvl="0" algn="l" defTabSz="1028700" rtl="0" eaLnBrk="1" fontAlgn="base" latinLnBrk="0" hangingPunct="1">
              <a:lnSpc>
                <a:spcPct val="150000"/>
              </a:lnSpc>
              <a:spcBef>
                <a:spcPct val="20000"/>
              </a:spcBef>
              <a:spcAft>
                <a:spcPts val="0"/>
              </a:spcAft>
              <a:buClr>
                <a:srgbClr val="000000"/>
              </a:buClr>
              <a:buSzTx/>
            </a:pPr>
            <a:r>
              <a:rPr kumimoji="0" lang="zh-CN" altLang="en-US" sz="2800" b="0" i="0" u="none" strike="noStrike" kern="1200" cap="none" spc="0" normalizeH="0" baseline="0" dirty="0">
                <a:solidFill>
                  <a:schemeClr val="tx1"/>
                </a:solidFill>
                <a:cs typeface="+mn-cs"/>
              </a:rPr>
              <a:t>整型常量</a:t>
            </a:r>
          </a:p>
          <a:p>
            <a:pPr marL="914400" marR="0" lvl="1" indent="-457200" algn="l" defTabSz="914400" rtl="0" eaLnBrk="1" fontAlgn="base" latinLnBrk="0" hangingPunct="1">
              <a:lnSpc>
                <a:spcPct val="90000"/>
              </a:lnSpc>
              <a:spcBef>
                <a:spcPts val="20"/>
              </a:spcBef>
              <a:spcAft>
                <a:spcPts val="0"/>
              </a:spcAft>
              <a:buClr>
                <a:schemeClr val="accent1"/>
              </a:buClr>
              <a:buSzPct val="90000"/>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常用十进制、八进制、十六进制表示</a:t>
            </a:r>
          </a:p>
          <a:p>
            <a:pPr marL="914400" marR="0" lvl="1" indent="-457200" algn="l" defTabSz="914400" rtl="0" eaLnBrk="1" fontAlgn="base" latinLnBrk="0" hangingPunct="1">
              <a:lnSpc>
                <a:spcPct val="90000"/>
              </a:lnSpc>
              <a:spcBef>
                <a:spcPts val="20"/>
              </a:spcBef>
              <a:spcAft>
                <a:spcPts val="0"/>
              </a:spcAft>
              <a:buClr>
                <a:schemeClr val="accent1"/>
              </a:buClr>
              <a:buSzPct val="90000"/>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有正负号</a:t>
            </a:r>
          </a:p>
          <a:p>
            <a:pPr marL="914400" marR="0" lvl="1" indent="-457200" algn="l" defTabSz="914400" rtl="0" eaLnBrk="1" fontAlgn="base" latinLnBrk="0" hangingPunct="1">
              <a:lnSpc>
                <a:spcPct val="90000"/>
              </a:lnSpc>
              <a:spcBef>
                <a:spcPct val="20000"/>
              </a:spcBef>
              <a:spcAft>
                <a:spcPct val="0"/>
              </a:spcAft>
              <a:buClr>
                <a:schemeClr val="accent1"/>
              </a:buClr>
              <a:buSzPct val="90000"/>
              <a:defRPr/>
            </a:pP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base" latinLnBrk="0" hangingPunct="1">
              <a:lnSpc>
                <a:spcPct val="90000"/>
              </a:lnSpc>
              <a:spcBef>
                <a:spcPct val="20000"/>
              </a:spcBef>
              <a:spcAft>
                <a:spcPct val="0"/>
              </a:spcAft>
              <a:buClr>
                <a:schemeClr val="accent1"/>
              </a:buClr>
              <a:buSzPct val="90000"/>
              <a:defRPr/>
            </a:pPr>
            <a:endParaRPr kumimoji="0" lang="zh-CN" altLang="en-US" sz="2520" b="0"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base" latinLnBrk="0" hangingPunct="1">
              <a:lnSpc>
                <a:spcPct val="90000"/>
              </a:lnSpc>
              <a:spcBef>
                <a:spcPct val="20000"/>
              </a:spcBef>
              <a:spcAft>
                <a:spcPct val="0"/>
              </a:spcAft>
              <a:buClr>
                <a:schemeClr val="accent1"/>
              </a:buClr>
              <a:buSzPct val="90000"/>
              <a:defRPr/>
            </a:pPr>
            <a:endParaRPr kumimoji="0" lang="zh-CN" altLang="en-US" sz="2520" b="0"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base" latinLnBrk="0" hangingPunct="1">
              <a:lnSpc>
                <a:spcPct val="90000"/>
              </a:lnSpc>
              <a:spcBef>
                <a:spcPct val="20000"/>
              </a:spcBef>
              <a:spcAft>
                <a:spcPct val="0"/>
              </a:spcAft>
              <a:buClr>
                <a:schemeClr val="accent1"/>
              </a:buClr>
              <a:buSzPct val="90000"/>
              <a:defRPr/>
            </a:pPr>
            <a:endParaRPr kumimoji="0" lang="zh-CN" altLang="en-US" sz="2520" b="0"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base" latinLnBrk="0" hangingPunct="1">
              <a:lnSpc>
                <a:spcPct val="90000"/>
              </a:lnSpc>
              <a:spcBef>
                <a:spcPct val="20000"/>
              </a:spcBef>
              <a:spcAft>
                <a:spcPct val="0"/>
              </a:spcAft>
              <a:buClr>
                <a:schemeClr val="accent1"/>
              </a:buClr>
              <a:buSzPct val="90000"/>
              <a:defRPr/>
            </a:pPr>
            <a:endParaRPr kumimoji="0" lang="zh-CN" altLang="en-US" sz="2520" b="0"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base" latinLnBrk="0" hangingPunct="1">
              <a:lnSpc>
                <a:spcPct val="90000"/>
              </a:lnSpc>
              <a:spcBef>
                <a:spcPct val="20000"/>
              </a:spcBef>
              <a:spcAft>
                <a:spcPct val="0"/>
              </a:spcAft>
              <a:buClr>
                <a:schemeClr val="accent1"/>
              </a:buClr>
              <a:buSzPct val="90000"/>
              <a:defRPr/>
            </a:pPr>
            <a:endParaRPr kumimoji="0" lang="zh-CN" altLang="en-US" sz="2520" b="0"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base" latinLnBrk="0" hangingPunct="1">
              <a:lnSpc>
                <a:spcPct val="90000"/>
              </a:lnSpc>
              <a:spcBef>
                <a:spcPct val="20000"/>
              </a:spcBef>
              <a:spcAft>
                <a:spcPct val="0"/>
              </a:spcAft>
              <a:buClr>
                <a:schemeClr val="accent1"/>
              </a:buClr>
              <a:buSzPct val="90000"/>
              <a:defRPr/>
            </a:pPr>
            <a:endParaRPr kumimoji="0" lang="zh-CN" altLang="en-US" sz="2520" b="0" i="0" u="none" strike="noStrike" kern="1200" cap="none" spc="0" normalizeH="0" baseline="0" noProof="0" dirty="0">
              <a:ln>
                <a:noFill/>
              </a:ln>
              <a:solidFill>
                <a:schemeClr val="tx1"/>
              </a:solidFill>
              <a:effectLst/>
              <a:uLnTx/>
              <a:uFillTx/>
              <a:latin typeface="+mn-lt"/>
              <a:ea typeface="+mn-ea"/>
              <a:cs typeface="+mn-cs"/>
            </a:endParaRPr>
          </a:p>
          <a:p>
            <a:pPr marL="914400" marR="0" lvl="1" indent="-457200" algn="l" defTabSz="914400" rtl="0" eaLnBrk="1" fontAlgn="base" latinLnBrk="0" hangingPunct="1">
              <a:lnSpc>
                <a:spcPct val="90000"/>
              </a:lnSpc>
              <a:spcBef>
                <a:spcPts val="20"/>
              </a:spcBef>
              <a:spcAft>
                <a:spcPts val="0"/>
              </a:spcAft>
              <a:buClr>
                <a:schemeClr val="accent1"/>
              </a:buClr>
              <a:buSzPct val="90000"/>
              <a:defRPr/>
            </a:pPr>
            <a:r>
              <a:rPr kumimoji="0" lang="en-US" sz="2100" b="0" i="0" u="none" strike="noStrike" kern="1200" cap="none" spc="0" normalizeH="0" baseline="0" noProof="0" dirty="0">
                <a:ln>
                  <a:noFill/>
                </a:ln>
                <a:solidFill>
                  <a:schemeClr val="tx1"/>
                </a:solidFill>
                <a:effectLst/>
                <a:uLnTx/>
                <a:uFillTx/>
                <a:latin typeface="+mn-lt"/>
                <a:ea typeface="+mn-ea"/>
                <a:cs typeface="+mn-cs"/>
              </a:rPr>
              <a:t>JDK 7.0</a:t>
            </a:r>
            <a:r>
              <a:rPr kumimoji="0" lang="zh-CN" altLang="en-US" sz="2100" b="0" i="0" u="none" strike="noStrike" kern="1200" cap="none" spc="0" normalizeH="0" baseline="0" noProof="0" dirty="0">
                <a:ln>
                  <a:noFill/>
                </a:ln>
                <a:solidFill>
                  <a:schemeClr val="tx1"/>
                </a:solidFill>
                <a:effectLst/>
                <a:uLnTx/>
                <a:uFillTx/>
                <a:latin typeface="+mn-lt"/>
                <a:ea typeface="+mn-ea"/>
                <a:cs typeface="+mn-cs"/>
              </a:rPr>
              <a:t>提供了二进制整数，二进制整数以</a:t>
            </a:r>
            <a:r>
              <a:rPr kumimoji="0" lang="en-US" sz="2100" b="0" i="0" u="none" strike="noStrike" kern="1200" cap="none" spc="0" normalizeH="0" baseline="0" noProof="0" dirty="0">
                <a:ln>
                  <a:noFill/>
                </a:ln>
                <a:solidFill>
                  <a:schemeClr val="tx1"/>
                </a:solidFill>
                <a:effectLst/>
                <a:uLnTx/>
                <a:uFillTx/>
                <a:latin typeface="+mn-lt"/>
                <a:ea typeface="+mn-ea"/>
                <a:cs typeface="+mn-cs"/>
              </a:rPr>
              <a:t>0B</a:t>
            </a:r>
            <a:r>
              <a:rPr kumimoji="0" lang="zh-CN" altLang="en-US" sz="2100" b="0" i="0" u="none" strike="noStrike" kern="1200" cap="none" spc="0" normalizeH="0" baseline="0" noProof="0" dirty="0">
                <a:ln>
                  <a:noFill/>
                </a:ln>
                <a:solidFill>
                  <a:schemeClr val="tx1"/>
                </a:solidFill>
                <a:effectLst/>
                <a:uLnTx/>
                <a:uFillTx/>
                <a:latin typeface="+mn-lt"/>
                <a:ea typeface="+mn-ea"/>
                <a:cs typeface="+mn-cs"/>
              </a:rPr>
              <a:t>或者</a:t>
            </a:r>
            <a:r>
              <a:rPr kumimoji="0" lang="en-US" sz="2100" b="0" i="0" u="none" strike="noStrike" kern="1200" cap="none" spc="0" normalizeH="0" baseline="0" noProof="0" dirty="0">
                <a:ln>
                  <a:noFill/>
                </a:ln>
                <a:solidFill>
                  <a:schemeClr val="tx1"/>
                </a:solidFill>
                <a:effectLst/>
                <a:uLnTx/>
                <a:uFillTx/>
                <a:latin typeface="+mn-lt"/>
                <a:ea typeface="+mn-ea"/>
                <a:cs typeface="+mn-cs"/>
              </a:rPr>
              <a:t>0b</a:t>
            </a:r>
            <a:r>
              <a:rPr kumimoji="0" lang="zh-CN" altLang="en-US" sz="2100" b="0" i="0" u="none" strike="noStrike" kern="1200" cap="none" spc="0" normalizeH="0" baseline="0" noProof="0" dirty="0">
                <a:ln>
                  <a:noFill/>
                </a:ln>
                <a:solidFill>
                  <a:schemeClr val="tx1"/>
                </a:solidFill>
                <a:effectLst/>
                <a:uLnTx/>
                <a:uFillTx/>
                <a:latin typeface="+mn-lt"/>
                <a:ea typeface="+mn-ea"/>
                <a:cs typeface="+mn-cs"/>
              </a:rPr>
              <a:t>起始</a:t>
            </a:r>
          </a:p>
          <a:p>
            <a:pPr marL="800100" marR="0" lvl="1" indent="-342900" algn="l" defTabSz="914400" rtl="0" eaLnBrk="1" fontAlgn="base" latinLnBrk="0" hangingPunct="1">
              <a:lnSpc>
                <a:spcPct val="90000"/>
              </a:lnSpc>
              <a:spcBef>
                <a:spcPts val="20"/>
              </a:spcBef>
              <a:spcAft>
                <a:spcPct val="0"/>
              </a:spcAft>
              <a:buClr>
                <a:schemeClr val="accent1"/>
              </a:buClr>
              <a:buSzPct val="90000"/>
              <a:defRPr/>
            </a:pPr>
            <a:r>
              <a:rPr kumimoji="0" lang="zh-CN" altLang="en-US" sz="1890" b="0" i="0" u="none" strike="noStrike" kern="1200" cap="none" spc="0" normalizeH="0" baseline="0" noProof="0" dirty="0">
                <a:ln>
                  <a:noFill/>
                </a:ln>
                <a:solidFill>
                  <a:srgbClr val="FF3300"/>
                </a:solidFill>
                <a:effectLst/>
                <a:uLnTx/>
                <a:uFillTx/>
                <a:latin typeface="+mn-lt"/>
                <a:ea typeface="+mn-ea"/>
                <a:cs typeface="+mn-cs"/>
              </a:rPr>
              <a:t>备注：</a:t>
            </a:r>
            <a:r>
              <a:rPr kumimoji="0" lang="zh-CN" altLang="en-US" sz="1890" b="0" i="0" u="none" strike="noStrike" kern="1200" cap="none" spc="0" normalizeH="0" baseline="0" noProof="0" dirty="0">
                <a:ln>
                  <a:noFill/>
                </a:ln>
                <a:solidFill>
                  <a:schemeClr val="tx1"/>
                </a:solidFill>
                <a:effectLst/>
                <a:uLnTx/>
                <a:uFillTx/>
                <a:latin typeface="+mn-lt"/>
                <a:ea typeface="+mn-ea"/>
                <a:cs typeface="+mn-cs"/>
              </a:rPr>
              <a:t>08的表示方法会出现编译异常</a:t>
            </a:r>
            <a:br>
              <a:rPr kumimoji="0" lang="zh-CN" altLang="en-US" sz="1890" b="0" i="0" u="none" strike="noStrike" kern="1200" cap="none" spc="0" normalizeH="0" baseline="0" noProof="0" dirty="0">
                <a:ln>
                  <a:noFill/>
                </a:ln>
                <a:solidFill>
                  <a:schemeClr val="tx1"/>
                </a:solidFill>
                <a:effectLst/>
                <a:uLnTx/>
                <a:uFillTx/>
                <a:latin typeface="+mn-lt"/>
                <a:ea typeface="+mn-ea"/>
                <a:cs typeface="+mn-cs"/>
              </a:rPr>
            </a:br>
            <a:r>
              <a:rPr kumimoji="0" lang="zh-CN" altLang="en-US" sz="189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890" b="0" i="0" u="none" strike="noStrike" kern="1200" cap="none" spc="0" normalizeH="0" baseline="0" noProof="0" dirty="0">
                <a:ln>
                  <a:noFill/>
                </a:ln>
                <a:solidFill>
                  <a:srgbClr val="FF3300"/>
                </a:solidFill>
                <a:effectLst/>
                <a:uLnTx/>
                <a:uFillTx/>
                <a:latin typeface="+mn-lt"/>
                <a:ea typeface="+mn-ea"/>
                <a:cs typeface="+mn-cs"/>
              </a:rPr>
              <a:t>The literal 08 of type int is out of range</a:t>
            </a:r>
          </a:p>
        </p:txBody>
      </p:sp>
      <p:graphicFrame>
        <p:nvGraphicFramePr>
          <p:cNvPr id="32772" name="Group 4"/>
          <p:cNvGraphicFramePr>
            <a:graphicFrameLocks noGrp="1"/>
          </p:cNvGraphicFramePr>
          <p:nvPr/>
        </p:nvGraphicFramePr>
        <p:xfrm>
          <a:off x="1106805" y="2693670"/>
          <a:ext cx="8543925" cy="2721610"/>
        </p:xfrm>
        <a:graphic>
          <a:graphicData uri="http://schemas.openxmlformats.org/drawingml/2006/table">
            <a:tbl>
              <a:tblPr/>
              <a:tblGrid>
                <a:gridCol w="158877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gridCol w="2073275">
                  <a:extLst>
                    <a:ext uri="{9D8B030D-6E8A-4147-A177-3AD203B41FA5}">
                      <a16:colId xmlns:a16="http://schemas.microsoft.com/office/drawing/2014/main" val="20002"/>
                    </a:ext>
                  </a:extLst>
                </a:gridCol>
                <a:gridCol w="2041525">
                  <a:extLst>
                    <a:ext uri="{9D8B030D-6E8A-4147-A177-3AD203B41FA5}">
                      <a16:colId xmlns:a16="http://schemas.microsoft.com/office/drawing/2014/main" val="20003"/>
                    </a:ext>
                  </a:extLst>
                </a:gridCol>
                <a:gridCol w="1586865">
                  <a:extLst>
                    <a:ext uri="{9D8B030D-6E8A-4147-A177-3AD203B41FA5}">
                      <a16:colId xmlns:a16="http://schemas.microsoft.com/office/drawing/2014/main" val="20004"/>
                    </a:ext>
                  </a:extLst>
                </a:gridCol>
              </a:tblGrid>
              <a:tr h="539115">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endParaRPr kumimoji="0" lang="zh-CN" altLang="zh-CN" sz="189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011" marR="96011" marT="48005" marB="480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起 始</a:t>
                      </a: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最大整数</a:t>
                      </a: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正</a:t>
                      </a: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alt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最大长整数</a:t>
                      </a: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正</a:t>
                      </a: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举 例</a:t>
                      </a:r>
                    </a:p>
                  </a:txBody>
                  <a:tcPr marL="96011" marR="96011" marT="48005" marB="480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6125">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十进制</a:t>
                      </a:r>
                    </a:p>
                  </a:txBody>
                  <a:tcPr marL="96011" marR="96011" marT="48005" marB="480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0,1~9</a:t>
                      </a: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2147483647</a:t>
                      </a: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9223372036854775807L</a:t>
                      </a: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23, +567,</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-12,0,1234</a:t>
                      </a:r>
                    </a:p>
                  </a:txBody>
                  <a:tcPr marL="96011" marR="96011" marT="48005" marB="480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5490">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八进制</a:t>
                      </a:r>
                    </a:p>
                  </a:txBody>
                  <a:tcPr marL="96011" marR="96011" marT="48005" marB="480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017777777777</a:t>
                      </a: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0777777777777777777777L</a:t>
                      </a: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hlink"/>
                          </a:solidFill>
                          <a:effectLst/>
                          <a:latin typeface="Arial" panose="020B0604020202020204" pitchFamily="34" charset="0"/>
                          <a:ea typeface="宋体" panose="02010600030101010101" pitchFamily="2" charset="-122"/>
                        </a:rPr>
                        <a:t>034,0175,</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hlink"/>
                          </a:solidFill>
                          <a:effectLst/>
                          <a:latin typeface="Arial" panose="020B0604020202020204" pitchFamily="34" charset="0"/>
                          <a:ea typeface="宋体" panose="02010600030101010101" pitchFamily="2" charset="-122"/>
                        </a:rPr>
                        <a:t>-0777L</a:t>
                      </a:r>
                    </a:p>
                  </a:txBody>
                  <a:tcPr marL="96011" marR="96011" marT="48005" marB="480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90880">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zh-CN"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十六进制</a:t>
                      </a:r>
                    </a:p>
                  </a:txBody>
                  <a:tcPr marL="96011" marR="96011" marT="48005" marB="480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0x</a:t>
                      </a: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0x7FFFFFFF</a:t>
                      </a: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0x7FFFFFFFFFFFFFFFL</a:t>
                      </a:r>
                    </a:p>
                  </a:txBody>
                  <a:tcPr marL="96011" marR="96011" marT="48005" marB="480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1890" b="0" i="0" u="none" strike="noStrike" cap="none" normalizeH="0" baseline="0">
                          <a:ln>
                            <a:noFill/>
                          </a:ln>
                          <a:solidFill>
                            <a:schemeClr val="tx1"/>
                          </a:solidFill>
                          <a:effectLst/>
                          <a:latin typeface="Arial" panose="020B0604020202020204" pitchFamily="34" charset="0"/>
                          <a:ea typeface="宋体" panose="02010600030101010101" pitchFamily="2" charset="-122"/>
                        </a:rPr>
                        <a:t>0xFF, 0x45L</a:t>
                      </a:r>
                    </a:p>
                  </a:txBody>
                  <a:tcPr marL="96011" marR="96011" marT="48005" marB="480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7500"/>
          </a:bodyPr>
          <a:lstStyle/>
          <a:p>
            <a:pPr algn="l" eaLnBrk="1" hangingPunct="1">
              <a:lnSpc>
                <a:spcPct val="150000"/>
              </a:lnSpc>
              <a:spcAft>
                <a:spcPts val="0"/>
              </a:spcAft>
              <a:buClr>
                <a:srgbClr val="000000"/>
              </a:buClr>
              <a:buSzTx/>
            </a:pPr>
            <a:r>
              <a:rPr lang="zh-CN" altLang="en-US" dirty="0"/>
              <a:t>实型常量</a:t>
            </a:r>
          </a:p>
          <a:p>
            <a:pPr marL="800100" lvl="1" indent="-342900" eaLnBrk="1" hangingPunct="1">
              <a:lnSpc>
                <a:spcPct val="150000"/>
              </a:lnSpc>
              <a:spcBef>
                <a:spcPts val="20"/>
              </a:spcBef>
              <a:spcAft>
                <a:spcPts val="0"/>
              </a:spcAft>
              <a:buClr>
                <a:schemeClr val="accent1"/>
              </a:buClr>
              <a:buSzTx/>
            </a:pPr>
            <a:r>
              <a:rPr lang="zh-CN" altLang="en-US" dirty="0"/>
              <a:t>双精度实数</a:t>
            </a:r>
            <a:r>
              <a:rPr lang="en-US" altLang="zh-CN" dirty="0"/>
              <a:t>(double, 8</a:t>
            </a:r>
            <a:r>
              <a:rPr lang="zh-CN" altLang="en-US" dirty="0"/>
              <a:t>个字节</a:t>
            </a:r>
            <a:r>
              <a:rPr lang="en-US" altLang="zh-CN" dirty="0"/>
              <a:t>, </a:t>
            </a:r>
            <a:r>
              <a:rPr lang="zh-CN" altLang="en-US" dirty="0"/>
              <a:t>数字后加字母</a:t>
            </a:r>
            <a:r>
              <a:rPr lang="en-US" altLang="zh-CN" dirty="0"/>
              <a:t>D</a:t>
            </a:r>
            <a:r>
              <a:rPr lang="zh-CN" altLang="en-US" dirty="0"/>
              <a:t>或</a:t>
            </a:r>
            <a:r>
              <a:rPr lang="en-US" altLang="zh-CN" dirty="0"/>
              <a:t>d)</a:t>
            </a:r>
          </a:p>
          <a:p>
            <a:pPr marL="800100" lvl="1" indent="-342900" eaLnBrk="1" hangingPunct="1">
              <a:lnSpc>
                <a:spcPct val="150000"/>
              </a:lnSpc>
              <a:spcBef>
                <a:spcPts val="20"/>
              </a:spcBef>
              <a:spcAft>
                <a:spcPts val="0"/>
              </a:spcAft>
              <a:buClr>
                <a:schemeClr val="accent1"/>
              </a:buClr>
              <a:buSzTx/>
            </a:pPr>
            <a:r>
              <a:rPr lang="zh-CN" altLang="en-US" dirty="0"/>
              <a:t>浮点实数</a:t>
            </a:r>
            <a:r>
              <a:rPr lang="en-US" altLang="zh-CN" dirty="0"/>
              <a:t>(float, 4</a:t>
            </a:r>
            <a:r>
              <a:rPr lang="zh-CN" altLang="en-US" dirty="0"/>
              <a:t>个字节</a:t>
            </a:r>
            <a:r>
              <a:rPr lang="en-US" altLang="zh-CN" dirty="0"/>
              <a:t>,</a:t>
            </a:r>
            <a:r>
              <a:rPr lang="zh-CN" altLang="en-US" dirty="0"/>
              <a:t>数字后加字母</a:t>
            </a:r>
            <a:r>
              <a:rPr lang="en-US" altLang="zh-CN" dirty="0"/>
              <a:t>F</a:t>
            </a:r>
            <a:r>
              <a:rPr lang="zh-CN" altLang="en-US" dirty="0"/>
              <a:t>或</a:t>
            </a:r>
            <a:r>
              <a:rPr lang="en-US" altLang="zh-CN" dirty="0"/>
              <a:t>f)</a:t>
            </a:r>
          </a:p>
          <a:p>
            <a:pPr marL="800100" lvl="1" indent="-342900" eaLnBrk="1" hangingPunct="1">
              <a:lnSpc>
                <a:spcPct val="150000"/>
              </a:lnSpc>
              <a:spcBef>
                <a:spcPts val="20"/>
              </a:spcBef>
              <a:spcAft>
                <a:spcPts val="0"/>
              </a:spcAft>
              <a:buClr>
                <a:schemeClr val="accent1"/>
              </a:buClr>
              <a:buSzTx/>
            </a:pPr>
            <a:r>
              <a:rPr lang="zh-CN" altLang="en-US" dirty="0"/>
              <a:t>若无明确字母标识，则系统默认为双精度实数</a:t>
            </a:r>
          </a:p>
          <a:p>
            <a:pPr marL="800100" lvl="1" indent="-342900" eaLnBrk="1" hangingPunct="1">
              <a:lnSpc>
                <a:spcPct val="150000"/>
              </a:lnSpc>
              <a:spcBef>
                <a:spcPts val="20"/>
              </a:spcBef>
              <a:spcAft>
                <a:spcPts val="0"/>
              </a:spcAft>
              <a:buClr>
                <a:schemeClr val="accent1"/>
              </a:buClr>
              <a:buSzTx/>
            </a:pPr>
            <a:r>
              <a:rPr lang="zh-CN" altLang="en-US" dirty="0"/>
              <a:t>两种表示方法</a:t>
            </a:r>
          </a:p>
          <a:p>
            <a:pPr marL="1143000" lvl="2" indent="-228600" eaLnBrk="1" hangingPunct="1">
              <a:lnSpc>
                <a:spcPct val="150000"/>
              </a:lnSpc>
              <a:spcBef>
                <a:spcPts val="20"/>
              </a:spcBef>
              <a:spcAft>
                <a:spcPts val="0"/>
              </a:spcAft>
              <a:buClr>
                <a:schemeClr val="bg2"/>
              </a:buClr>
              <a:buSzTx/>
              <a:buFont typeface="Wingdings" panose="05000000000000000000" pitchFamily="2" charset="2"/>
              <a:buChar char="l"/>
            </a:pPr>
            <a:r>
              <a:rPr lang="zh-CN" altLang="en-US" dirty="0"/>
              <a:t>十进制</a:t>
            </a:r>
            <a:r>
              <a:rPr lang="en-US" altLang="zh-CN" dirty="0"/>
              <a:t>: </a:t>
            </a:r>
            <a:r>
              <a:rPr lang="zh-CN" altLang="en-US" dirty="0"/>
              <a:t>数字和小数点组成，必须有小数点，例  </a:t>
            </a:r>
            <a:r>
              <a:rPr lang="en-US" altLang="zh-CN" dirty="0"/>
              <a:t>0.12,  .12,  12.,  12.0</a:t>
            </a:r>
          </a:p>
          <a:p>
            <a:pPr marL="1143000" lvl="2" indent="-228600" eaLnBrk="1" hangingPunct="1">
              <a:lnSpc>
                <a:spcPct val="150000"/>
              </a:lnSpc>
              <a:spcBef>
                <a:spcPts val="20"/>
              </a:spcBef>
              <a:spcAft>
                <a:spcPts val="0"/>
              </a:spcAft>
              <a:buClr>
                <a:schemeClr val="bg2"/>
              </a:buClr>
              <a:buSzTx/>
              <a:buFont typeface="Wingdings" panose="05000000000000000000" pitchFamily="2" charset="2"/>
              <a:buChar char="l"/>
            </a:pPr>
            <a:r>
              <a:rPr lang="zh-CN" altLang="en-US" dirty="0"/>
              <a:t>科学计数法</a:t>
            </a:r>
            <a:r>
              <a:rPr lang="en-US" altLang="zh-CN" dirty="0"/>
              <a:t>: 123e3, 123E3, 0.4e8D, -5e9</a:t>
            </a:r>
          </a:p>
          <a:p>
            <a:pPr marL="1143000" lvl="2" indent="-228600" eaLnBrk="1" hangingPunct="1">
              <a:lnSpc>
                <a:spcPct val="150000"/>
              </a:lnSpc>
              <a:spcBef>
                <a:spcPts val="20"/>
              </a:spcBef>
              <a:buClr>
                <a:schemeClr val="bg2"/>
              </a:buClr>
              <a:buSzTx/>
              <a:buFont typeface="Wingdings" panose="05000000000000000000" pitchFamily="2" charset="2"/>
              <a:buChar char="l"/>
            </a:pPr>
            <a:r>
              <a:rPr lang="en-US" altLang="zh-CN" dirty="0"/>
              <a:t>JDK7.0</a:t>
            </a:r>
            <a:r>
              <a:rPr lang="zh-CN" altLang="en-US" dirty="0"/>
              <a:t>之后支持下划线分割表示：</a:t>
            </a:r>
            <a:r>
              <a:rPr lang="en-US" altLang="zh-CN" dirty="0"/>
              <a:t>123_456, 1.23_45_56</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常量</a:t>
            </a: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a:bodyPr>
          <a:lstStyle/>
          <a:p>
            <a:pPr algn="l" eaLnBrk="1" hangingPunct="1">
              <a:lnSpc>
                <a:spcPct val="150000"/>
              </a:lnSpc>
              <a:spcAft>
                <a:spcPts val="0"/>
              </a:spcAft>
              <a:buClr>
                <a:srgbClr val="000000"/>
              </a:buClr>
              <a:buSzTx/>
            </a:pPr>
            <a:r>
              <a:rPr lang="zh-CN" altLang="en-US" dirty="0"/>
              <a:t>布尔型常量</a:t>
            </a:r>
          </a:p>
          <a:p>
            <a:pPr marL="914400" lvl="1" indent="-457200" eaLnBrk="1" hangingPunct="1">
              <a:lnSpc>
                <a:spcPct val="150000"/>
              </a:lnSpc>
              <a:spcBef>
                <a:spcPts val="20"/>
              </a:spcBef>
              <a:spcAft>
                <a:spcPts val="0"/>
              </a:spcAft>
              <a:buClr>
                <a:schemeClr val="accent1"/>
              </a:buClr>
              <a:buSzTx/>
            </a:pPr>
            <a:r>
              <a:rPr lang="en-US" altLang="zh-CN" dirty="0"/>
              <a:t>true</a:t>
            </a:r>
          </a:p>
          <a:p>
            <a:pPr marL="914400" lvl="1" indent="-457200" eaLnBrk="1" hangingPunct="1">
              <a:lnSpc>
                <a:spcPct val="150000"/>
              </a:lnSpc>
              <a:spcBef>
                <a:spcPts val="20"/>
              </a:spcBef>
              <a:buClr>
                <a:schemeClr val="accent1"/>
              </a:buClr>
              <a:buSzTx/>
            </a:pPr>
            <a:r>
              <a:rPr lang="en-US" altLang="zh-CN" dirty="0"/>
              <a:t>false</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常量</a:t>
            </a: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5000" lnSpcReduction="20000"/>
          </a:bodyPr>
          <a:lstStyle/>
          <a:p>
            <a:pPr algn="l" eaLnBrk="1" hangingPunct="1">
              <a:lnSpc>
                <a:spcPct val="150000"/>
              </a:lnSpc>
              <a:spcAft>
                <a:spcPts val="0"/>
              </a:spcAft>
              <a:buClr>
                <a:srgbClr val="000000"/>
              </a:buClr>
              <a:buSzTx/>
            </a:pPr>
            <a:r>
              <a:rPr lang="zh-CN" altLang="en-US" dirty="0"/>
              <a:t>字符型常量</a:t>
            </a:r>
          </a:p>
          <a:p>
            <a:pPr marL="800100" lvl="1" indent="-342900" eaLnBrk="1" hangingPunct="1">
              <a:lnSpc>
                <a:spcPct val="150000"/>
              </a:lnSpc>
              <a:spcBef>
                <a:spcPts val="20"/>
              </a:spcBef>
              <a:spcAft>
                <a:spcPts val="0"/>
              </a:spcAft>
              <a:buClr>
                <a:schemeClr val="accent1"/>
              </a:buClr>
              <a:buSzTx/>
            </a:pPr>
            <a:r>
              <a:rPr lang="zh-CN" altLang="en-US" dirty="0"/>
              <a:t>用单引号括起来的单个字符</a:t>
            </a:r>
          </a:p>
          <a:p>
            <a:pPr marL="1200150" lvl="2" indent="-285750" eaLnBrk="1" hangingPunct="1">
              <a:lnSpc>
                <a:spcPct val="150000"/>
              </a:lnSpc>
              <a:spcBef>
                <a:spcPts val="20"/>
              </a:spcBef>
              <a:spcAft>
                <a:spcPts val="0"/>
              </a:spcAft>
              <a:buClr>
                <a:schemeClr val="bg2"/>
              </a:buClr>
              <a:buSzTx/>
            </a:pPr>
            <a:r>
              <a:rPr lang="zh-CN" altLang="en-US" dirty="0"/>
              <a:t>例</a:t>
            </a:r>
            <a:r>
              <a:rPr lang="en-US" altLang="zh-CN" dirty="0"/>
              <a:t>:  ‘a’,     ‘A’,    ‘@’,    ‘’,    ‘&amp;’</a:t>
            </a:r>
          </a:p>
          <a:p>
            <a:pPr marL="1200150" lvl="2" indent="-285750" eaLnBrk="1" hangingPunct="1">
              <a:lnSpc>
                <a:spcPct val="150000"/>
              </a:lnSpc>
              <a:spcBef>
                <a:spcPts val="20"/>
              </a:spcBef>
              <a:spcAft>
                <a:spcPts val="0"/>
              </a:spcAft>
              <a:buClr>
                <a:schemeClr val="bg2"/>
              </a:buClr>
              <a:buSzTx/>
            </a:pPr>
            <a:r>
              <a:rPr lang="zh-CN" altLang="en-US" dirty="0"/>
              <a:t>例</a:t>
            </a:r>
            <a:r>
              <a:rPr lang="en-US" altLang="zh-CN" dirty="0"/>
              <a:t>:  ‘’’,    ‘\’,    "a"</a:t>
            </a:r>
            <a:r>
              <a:rPr lang="zh-CN" altLang="en-US" dirty="0"/>
              <a:t>   -错误的表示</a:t>
            </a:r>
          </a:p>
          <a:p>
            <a:pPr marL="800100" lvl="1" indent="-342900" eaLnBrk="1" hangingPunct="1">
              <a:lnSpc>
                <a:spcPct val="150000"/>
              </a:lnSpc>
              <a:spcBef>
                <a:spcPts val="20"/>
              </a:spcBef>
              <a:spcAft>
                <a:spcPts val="0"/>
              </a:spcAft>
              <a:buClr>
                <a:schemeClr val="accent1"/>
              </a:buClr>
              <a:buSzTx/>
            </a:pPr>
            <a:r>
              <a:rPr lang="en-US" altLang="zh-CN" dirty="0"/>
              <a:t>Java</a:t>
            </a:r>
            <a:r>
              <a:rPr lang="zh-CN" altLang="en-US" dirty="0"/>
              <a:t>中的字符为</a:t>
            </a:r>
            <a:r>
              <a:rPr lang="en-US" altLang="zh-CN" dirty="0"/>
              <a:t>Unicode</a:t>
            </a:r>
            <a:r>
              <a:rPr lang="zh-CN" altLang="en-US" dirty="0"/>
              <a:t>字符</a:t>
            </a:r>
          </a:p>
          <a:p>
            <a:pPr marL="1200150" lvl="2" indent="-285750" eaLnBrk="1" hangingPunct="1">
              <a:lnSpc>
                <a:spcPct val="150000"/>
              </a:lnSpc>
              <a:spcBef>
                <a:spcPts val="20"/>
              </a:spcBef>
              <a:spcAft>
                <a:spcPts val="0"/>
              </a:spcAft>
              <a:buClr>
                <a:schemeClr val="bg2"/>
              </a:buClr>
              <a:buSzTx/>
            </a:pPr>
            <a:r>
              <a:rPr lang="zh-CN" altLang="en-US" dirty="0"/>
              <a:t>双字节，范围‘</a:t>
            </a:r>
            <a:r>
              <a:rPr lang="en-US" altLang="zh-CN" dirty="0"/>
              <a:t>\u0000’~‘\uFFFF’</a:t>
            </a:r>
          </a:p>
          <a:p>
            <a:pPr marL="1200150" lvl="2" indent="-285750" eaLnBrk="1" hangingPunct="1">
              <a:lnSpc>
                <a:spcPct val="150000"/>
              </a:lnSpc>
              <a:spcBef>
                <a:spcPts val="20"/>
              </a:spcBef>
              <a:spcAft>
                <a:spcPts val="0"/>
              </a:spcAft>
              <a:buClr>
                <a:schemeClr val="bg2"/>
              </a:buClr>
              <a:buSzTx/>
            </a:pPr>
            <a:r>
              <a:rPr lang="zh-CN" altLang="en-US" dirty="0"/>
              <a:t>转义字符序列</a:t>
            </a:r>
          </a:p>
          <a:p>
            <a:pPr marL="1657350" lvl="3" indent="-285750" eaLnBrk="1" hangingPunct="1">
              <a:lnSpc>
                <a:spcPct val="150000"/>
              </a:lnSpc>
              <a:spcBef>
                <a:spcPts val="20"/>
              </a:spcBef>
              <a:spcAft>
                <a:spcPts val="0"/>
              </a:spcAft>
              <a:buClr>
                <a:schemeClr val="hlink"/>
              </a:buClr>
              <a:buSzTx/>
            </a:pPr>
            <a:r>
              <a:rPr lang="en-US" altLang="zh-CN" dirty="0"/>
              <a:t>\b  </a:t>
            </a:r>
            <a:r>
              <a:rPr lang="zh-CN" altLang="en-US" dirty="0"/>
              <a:t>退格        </a:t>
            </a:r>
            <a:r>
              <a:rPr lang="en-US" altLang="zh-CN" dirty="0"/>
              <a:t>\t   </a:t>
            </a:r>
            <a:r>
              <a:rPr lang="zh-CN" altLang="en-US" dirty="0"/>
              <a:t>制表符</a:t>
            </a:r>
          </a:p>
          <a:p>
            <a:pPr marL="1657350" lvl="3" indent="-285750" eaLnBrk="1" hangingPunct="1">
              <a:lnSpc>
                <a:spcPct val="150000"/>
              </a:lnSpc>
              <a:spcBef>
                <a:spcPts val="20"/>
              </a:spcBef>
              <a:spcAft>
                <a:spcPts val="0"/>
              </a:spcAft>
              <a:buClr>
                <a:schemeClr val="hlink"/>
              </a:buClr>
              <a:buSzTx/>
            </a:pPr>
            <a:r>
              <a:rPr lang="en-US" altLang="zh-CN" dirty="0"/>
              <a:t>\n  </a:t>
            </a:r>
            <a:r>
              <a:rPr lang="zh-CN" altLang="en-US" dirty="0"/>
              <a:t>换行 </a:t>
            </a:r>
            <a:r>
              <a:rPr lang="en-US" altLang="zh-CN" dirty="0"/>
              <a:t>(Newline)    </a:t>
            </a:r>
          </a:p>
          <a:p>
            <a:pPr marL="1657350" lvl="3" indent="-285750" eaLnBrk="1" hangingPunct="1">
              <a:lnSpc>
                <a:spcPct val="150000"/>
              </a:lnSpc>
              <a:spcBef>
                <a:spcPts val="20"/>
              </a:spcBef>
              <a:spcAft>
                <a:spcPts val="0"/>
              </a:spcAft>
              <a:buClr>
                <a:schemeClr val="hlink"/>
              </a:buClr>
              <a:buSzTx/>
            </a:pPr>
            <a:r>
              <a:rPr lang="en-US" altLang="zh-CN" dirty="0"/>
              <a:t>\r  </a:t>
            </a:r>
            <a:r>
              <a:rPr lang="zh-CN" altLang="en-US" dirty="0"/>
              <a:t>回车 </a:t>
            </a:r>
            <a:r>
              <a:rPr lang="en-US" altLang="zh-CN" dirty="0"/>
              <a:t>(Carriage return)</a:t>
            </a:r>
          </a:p>
          <a:p>
            <a:pPr marL="1657350" lvl="3" indent="-285750" eaLnBrk="1" hangingPunct="1">
              <a:lnSpc>
                <a:spcPct val="150000"/>
              </a:lnSpc>
              <a:spcBef>
                <a:spcPts val="20"/>
              </a:spcBef>
              <a:buClr>
                <a:schemeClr val="hlink"/>
              </a:buClr>
              <a:buSzTx/>
            </a:pPr>
            <a:r>
              <a:rPr lang="en-US" altLang="zh-CN" dirty="0"/>
              <a:t>\’   </a:t>
            </a:r>
            <a:r>
              <a:rPr lang="zh-CN" altLang="en-US" dirty="0"/>
              <a:t>单引号    </a:t>
            </a:r>
            <a:r>
              <a:rPr lang="en-US" altLang="zh-CN" dirty="0"/>
              <a:t>\"  </a:t>
            </a:r>
            <a:r>
              <a:rPr lang="zh-CN" altLang="en-US" dirty="0"/>
              <a:t>双引号    </a:t>
            </a:r>
            <a:r>
              <a:rPr lang="en-US" altLang="zh-CN" dirty="0"/>
              <a:t>\\  </a:t>
            </a:r>
            <a:r>
              <a:rPr lang="zh-CN" altLang="en-US" dirty="0"/>
              <a:t>反斜杠</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常量</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a:bodyPr>
          <a:lstStyle/>
          <a:p>
            <a:pPr algn="l" eaLnBrk="1" hangingPunct="1">
              <a:lnSpc>
                <a:spcPct val="150000"/>
              </a:lnSpc>
              <a:spcAft>
                <a:spcPts val="0"/>
              </a:spcAft>
              <a:buClr>
                <a:srgbClr val="000000"/>
              </a:buClr>
              <a:buSzTx/>
            </a:pPr>
            <a:r>
              <a:rPr lang="zh-CN" altLang="en-US" dirty="0"/>
              <a:t>字符串常量</a:t>
            </a:r>
          </a:p>
          <a:p>
            <a:pPr marL="914400" lvl="1" indent="-457200" eaLnBrk="1" hangingPunct="1">
              <a:lnSpc>
                <a:spcPct val="150000"/>
              </a:lnSpc>
              <a:spcBef>
                <a:spcPts val="20"/>
              </a:spcBef>
              <a:spcAft>
                <a:spcPts val="0"/>
              </a:spcAft>
              <a:buClr>
                <a:schemeClr val="accent1"/>
              </a:buClr>
              <a:buSzTx/>
            </a:pPr>
            <a:r>
              <a:rPr lang="zh-CN" altLang="en-US" dirty="0"/>
              <a:t>用双引号括起来的若干个字符</a:t>
            </a:r>
          </a:p>
          <a:p>
            <a:pPr marL="914400" lvl="1" indent="-457200" eaLnBrk="1" hangingPunct="1">
              <a:lnSpc>
                <a:spcPct val="150000"/>
              </a:lnSpc>
              <a:spcBef>
                <a:spcPts val="20"/>
              </a:spcBef>
              <a:spcAft>
                <a:spcPts val="0"/>
              </a:spcAft>
              <a:buClr>
                <a:schemeClr val="accent1"/>
              </a:buClr>
              <a:buSzTx/>
            </a:pPr>
            <a:r>
              <a:rPr lang="zh-CN" altLang="en-US" dirty="0"/>
              <a:t>例</a:t>
            </a:r>
            <a:r>
              <a:rPr lang="en-US" altLang="zh-CN" dirty="0"/>
              <a:t>, "I am a student", "Java</a:t>
            </a:r>
            <a:r>
              <a:rPr lang="zh-CN" altLang="en-US" dirty="0"/>
              <a:t>语言"</a:t>
            </a:r>
            <a:r>
              <a:rPr lang="en-US" altLang="zh-CN" dirty="0"/>
              <a:t>, "A"</a:t>
            </a:r>
          </a:p>
          <a:p>
            <a:pPr marL="914400" lvl="1" indent="-457200" eaLnBrk="1" hangingPunct="1">
              <a:lnSpc>
                <a:spcPct val="150000"/>
              </a:lnSpc>
              <a:spcBef>
                <a:spcPts val="20"/>
              </a:spcBef>
              <a:spcAft>
                <a:spcPts val="0"/>
              </a:spcAft>
              <a:buClr>
                <a:schemeClr val="accent1"/>
              </a:buClr>
              <a:buSzTx/>
            </a:pPr>
            <a:r>
              <a:rPr lang="zh-CN" altLang="en-US" dirty="0"/>
              <a:t>转义字符序列表示</a:t>
            </a:r>
          </a:p>
          <a:p>
            <a:pPr marL="1257300" lvl="2" indent="-342900" eaLnBrk="1" hangingPunct="1">
              <a:lnSpc>
                <a:spcPct val="150000"/>
              </a:lnSpc>
              <a:spcBef>
                <a:spcPts val="20"/>
              </a:spcBef>
              <a:spcAft>
                <a:spcPts val="0"/>
              </a:spcAft>
              <a:buClr>
                <a:schemeClr val="bg2"/>
              </a:buClr>
              <a:buSzTx/>
            </a:pPr>
            <a:r>
              <a:rPr lang="zh-CN" altLang="en-US" dirty="0"/>
              <a:t>"    </a:t>
            </a:r>
            <a:r>
              <a:rPr lang="en-US" altLang="zh-CN" dirty="0"/>
              <a:t>\"    " </a:t>
            </a:r>
          </a:p>
          <a:p>
            <a:pPr marL="1257300" lvl="2" indent="-342900" eaLnBrk="1" hangingPunct="1">
              <a:lnSpc>
                <a:spcPct val="150000"/>
              </a:lnSpc>
              <a:spcBef>
                <a:spcPts val="20"/>
              </a:spcBef>
              <a:buClr>
                <a:schemeClr val="bg2"/>
              </a:buClr>
              <a:buSzTx/>
            </a:pPr>
            <a:r>
              <a:rPr lang="en-US" altLang="zh-CN" dirty="0"/>
              <a:t>"    \’     "</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常量</a:t>
            </a: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sz="3200" dirty="0"/>
              <a:t>常量</a:t>
            </a:r>
          </a:p>
        </p:txBody>
      </p:sp>
      <p:sp>
        <p:nvSpPr>
          <p:cNvPr id="37891" name="Rectangle 3"/>
          <p:cNvSpPr>
            <a:spLocks noGrp="1"/>
          </p:cNvSpPr>
          <p:nvPr>
            <p:ph idx="1"/>
          </p:nvPr>
        </p:nvSpPr>
        <p:spPr/>
        <p:txBody>
          <a:bodyPr vert="horz" wrap="square" lIns="96011" tIns="48005" rIns="96011" bIns="48005" anchor="t"/>
          <a:lstStyle/>
          <a:p>
            <a:pPr marL="609600" indent="-609600" eaLnBrk="1" hangingPunct="1">
              <a:buSzPct val="90000"/>
            </a:pPr>
            <a:endParaRPr lang="zh-CN" altLang="en-US" dirty="0"/>
          </a:p>
        </p:txBody>
      </p:sp>
      <p:sp>
        <p:nvSpPr>
          <p:cNvPr id="37893" name="Rectangle 5"/>
          <p:cNvSpPr/>
          <p:nvPr/>
        </p:nvSpPr>
        <p:spPr>
          <a:xfrm>
            <a:off x="8041005" y="1920240"/>
            <a:ext cx="2592705" cy="4320540"/>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eaLnBrk="1" hangingPunct="1">
              <a:spcAft>
                <a:spcPts val="0"/>
              </a:spcAft>
            </a:pPr>
            <a:r>
              <a:rPr lang="en-US" altLang="zh-CN" sz="2520" dirty="0">
                <a:solidFill>
                  <a:schemeClr val="bg1"/>
                </a:solidFill>
                <a:latin typeface="Tahoma" panose="020B0604030504040204" pitchFamily="34" charset="0"/>
                <a:ea typeface="华文中宋" panose="02010600040101010101" pitchFamily="2" charset="-122"/>
              </a:rPr>
              <a:t>C:\&gt;Java Test</a:t>
            </a:r>
          </a:p>
          <a:p>
            <a:pPr eaLnBrk="1" hangingPunct="1">
              <a:spcBef>
                <a:spcPts val="0"/>
              </a:spcBef>
              <a:spcAft>
                <a:spcPts val="0"/>
              </a:spcAft>
            </a:pPr>
            <a:r>
              <a:rPr lang="en-US" altLang="zh-CN" sz="2520" dirty="0">
                <a:solidFill>
                  <a:schemeClr val="bg1"/>
                </a:solidFill>
                <a:latin typeface="Tahoma" panose="020B0604030504040204" pitchFamily="34" charset="0"/>
                <a:ea typeface="华文中宋" panose="02010600040101010101" pitchFamily="2" charset="-122"/>
              </a:rPr>
              <a:t>Java</a:t>
            </a:r>
          </a:p>
          <a:p>
            <a:pPr eaLnBrk="1" hangingPunct="1">
              <a:spcBef>
                <a:spcPts val="0"/>
              </a:spcBef>
              <a:spcAft>
                <a:spcPts val="0"/>
              </a:spcAft>
            </a:pPr>
            <a:r>
              <a:rPr lang="zh-CN" altLang="en-US" sz="2520" dirty="0">
                <a:solidFill>
                  <a:schemeClr val="bg1"/>
                </a:solidFill>
                <a:latin typeface="Tahoma" panose="020B0604030504040204" pitchFamily="34" charset="0"/>
                <a:ea typeface="华文中宋" panose="02010600040101010101" pitchFamily="2" charset="-122"/>
              </a:rPr>
              <a:t>言</a:t>
            </a:r>
          </a:p>
          <a:p>
            <a:pPr eaLnBrk="1" hangingPunct="1">
              <a:spcBef>
                <a:spcPts val="0"/>
              </a:spcBef>
              <a:spcAft>
                <a:spcPts val="0"/>
              </a:spcAft>
            </a:pPr>
            <a:r>
              <a:rPr lang="zh-CN" altLang="en-US" sz="2520" dirty="0">
                <a:solidFill>
                  <a:schemeClr val="bg1"/>
                </a:solidFill>
                <a:latin typeface="Tahoma" panose="020B0604030504040204" pitchFamily="34" charset="0"/>
                <a:ea typeface="华文中宋" panose="02010600040101010101" pitchFamily="2" charset="-122"/>
              </a:rPr>
              <a:t>语言</a:t>
            </a:r>
          </a:p>
          <a:p>
            <a:pPr eaLnBrk="1" hangingPunct="1">
              <a:spcBef>
                <a:spcPts val="0"/>
              </a:spcBef>
              <a:spcAft>
                <a:spcPts val="0"/>
              </a:spcAft>
            </a:pPr>
            <a:r>
              <a:rPr lang="en-US" altLang="zh-CN" sz="2520" dirty="0">
                <a:solidFill>
                  <a:schemeClr val="bg1"/>
                </a:solidFill>
                <a:latin typeface="Tahoma" panose="020B0604030504040204" pitchFamily="34" charset="0"/>
                <a:ea typeface="华文中宋" panose="02010600040101010101" pitchFamily="2" charset="-122"/>
              </a:rPr>
              <a:t>Java	</a:t>
            </a:r>
            <a:r>
              <a:rPr lang="zh-CN" altLang="en-US" sz="2520" dirty="0">
                <a:solidFill>
                  <a:schemeClr val="bg1"/>
                </a:solidFill>
                <a:latin typeface="Tahoma" panose="020B0604030504040204" pitchFamily="34" charset="0"/>
                <a:ea typeface="华文中宋" panose="02010600040101010101" pitchFamily="2" charset="-122"/>
              </a:rPr>
              <a:t>语言</a:t>
            </a:r>
          </a:p>
          <a:p>
            <a:pPr eaLnBrk="1" hangingPunct="1">
              <a:spcBef>
                <a:spcPts val="0"/>
              </a:spcBef>
              <a:spcAft>
                <a:spcPts val="0"/>
              </a:spcAft>
            </a:pPr>
            <a:r>
              <a:rPr lang="en-US" altLang="zh-CN" sz="2520" dirty="0">
                <a:solidFill>
                  <a:schemeClr val="bg1"/>
                </a:solidFill>
                <a:latin typeface="Tahoma" panose="020B0604030504040204" pitchFamily="34" charset="0"/>
                <a:ea typeface="华文中宋" panose="02010600040101010101" pitchFamily="2" charset="-122"/>
              </a:rPr>
              <a:t>\Java</a:t>
            </a:r>
            <a:r>
              <a:rPr lang="zh-CN" altLang="en-US" sz="2520" dirty="0">
                <a:solidFill>
                  <a:schemeClr val="bg1"/>
                </a:solidFill>
                <a:latin typeface="Tahoma" panose="020B0604030504040204" pitchFamily="34" charset="0"/>
                <a:ea typeface="华文中宋" panose="02010600040101010101" pitchFamily="2" charset="-122"/>
              </a:rPr>
              <a:t>语言</a:t>
            </a:r>
            <a:r>
              <a:rPr lang="en-US" altLang="zh-CN" sz="2520" dirty="0">
                <a:solidFill>
                  <a:schemeClr val="bg1"/>
                </a:solidFill>
                <a:latin typeface="Tahoma" panose="020B0604030504040204" pitchFamily="34" charset="0"/>
                <a:ea typeface="华文中宋" panose="02010600040101010101" pitchFamily="2" charset="-122"/>
              </a:rPr>
              <a:t>\</a:t>
            </a:r>
          </a:p>
          <a:p>
            <a:pPr eaLnBrk="1" hangingPunct="1">
              <a:spcBef>
                <a:spcPts val="0"/>
              </a:spcBef>
              <a:spcAft>
                <a:spcPts val="0"/>
              </a:spcAft>
            </a:pPr>
            <a:r>
              <a:rPr lang="en-US" altLang="x-none" sz="2520" dirty="0">
                <a:solidFill>
                  <a:schemeClr val="bg1"/>
                </a:solidFill>
                <a:latin typeface="Tahoma" panose="020B0604030504040204" pitchFamily="34" charset="0"/>
                <a:ea typeface="华文中宋" panose="02010600040101010101" pitchFamily="2" charset="-122"/>
              </a:rPr>
              <a:t>‘</a:t>
            </a:r>
            <a:r>
              <a:rPr lang="en-US" altLang="zh-CN" sz="2520" dirty="0">
                <a:solidFill>
                  <a:schemeClr val="bg1"/>
                </a:solidFill>
                <a:latin typeface="Tahoma" panose="020B0604030504040204" pitchFamily="34" charset="0"/>
                <a:ea typeface="华文中宋" panose="02010600040101010101" pitchFamily="2" charset="-122"/>
              </a:rPr>
              <a:t>Java</a:t>
            </a:r>
            <a:r>
              <a:rPr lang="zh-CN" altLang="en-US" sz="2520" dirty="0">
                <a:solidFill>
                  <a:schemeClr val="bg1"/>
                </a:solidFill>
                <a:latin typeface="Tahoma" panose="020B0604030504040204" pitchFamily="34" charset="0"/>
                <a:ea typeface="华文中宋" panose="02010600040101010101" pitchFamily="2" charset="-122"/>
              </a:rPr>
              <a:t>语言</a:t>
            </a:r>
            <a:r>
              <a:rPr lang="en-US" altLang="zh-CN" sz="2520" dirty="0">
                <a:solidFill>
                  <a:schemeClr val="bg1"/>
                </a:solidFill>
                <a:latin typeface="Tahoma" panose="020B0604030504040204" pitchFamily="34" charset="0"/>
                <a:ea typeface="华文中宋" panose="02010600040101010101" pitchFamily="2" charset="-122"/>
              </a:rPr>
              <a:t>'</a:t>
            </a:r>
            <a:endParaRPr lang="zh-CN" altLang="en-US" sz="2520" dirty="0">
              <a:solidFill>
                <a:schemeClr val="bg1"/>
              </a:solidFill>
              <a:latin typeface="Tahoma" panose="020B0604030504040204" pitchFamily="34" charset="0"/>
              <a:ea typeface="华文中宋" panose="02010600040101010101" pitchFamily="2" charset="-122"/>
            </a:endParaRPr>
          </a:p>
          <a:p>
            <a:pPr eaLnBrk="1" hangingPunct="1">
              <a:spcBef>
                <a:spcPts val="0"/>
              </a:spcBef>
              <a:spcAft>
                <a:spcPts val="0"/>
              </a:spcAft>
            </a:pPr>
            <a:r>
              <a:rPr lang="en-US" altLang="zh-CN" sz="2520" dirty="0">
                <a:solidFill>
                  <a:schemeClr val="bg1"/>
                </a:solidFill>
                <a:latin typeface="Tahoma" panose="020B0604030504040204" pitchFamily="34" charset="0"/>
                <a:ea typeface="华文中宋" panose="02010600040101010101" pitchFamily="2" charset="-122"/>
              </a:rPr>
              <a:t>"Java</a:t>
            </a:r>
            <a:r>
              <a:rPr lang="zh-CN" altLang="en-US" sz="2520" dirty="0">
                <a:solidFill>
                  <a:schemeClr val="bg1"/>
                </a:solidFill>
                <a:latin typeface="Tahoma" panose="020B0604030504040204" pitchFamily="34" charset="0"/>
                <a:ea typeface="华文中宋" panose="02010600040101010101" pitchFamily="2" charset="-122"/>
              </a:rPr>
              <a:t>语言</a:t>
            </a:r>
            <a:r>
              <a:rPr lang="en-US" altLang="zh-CN" sz="2520" dirty="0">
                <a:solidFill>
                  <a:schemeClr val="bg1"/>
                </a:solidFill>
                <a:latin typeface="Tahoma" panose="020B0604030504040204" pitchFamily="34" charset="0"/>
                <a:ea typeface="华文中宋" panose="02010600040101010101" pitchFamily="2" charset="-122"/>
              </a:rPr>
              <a:t>"</a:t>
            </a:r>
            <a:endParaRPr lang="zh-CN" altLang="en-US" sz="2520" dirty="0">
              <a:solidFill>
                <a:schemeClr val="bg1"/>
              </a:solidFill>
              <a:latin typeface="Tahoma" panose="020B0604030504040204" pitchFamily="34" charset="0"/>
              <a:ea typeface="华文中宋" panose="02010600040101010101" pitchFamily="2" charset="-122"/>
            </a:endParaRPr>
          </a:p>
          <a:p>
            <a:pPr eaLnBrk="1" hangingPunct="1"/>
            <a:endParaRPr lang="zh-CN" altLang="en-US" sz="2520" dirty="0">
              <a:solidFill>
                <a:schemeClr val="bg1"/>
              </a:solidFill>
              <a:latin typeface="Tahoma" panose="020B0604030504040204" pitchFamily="34" charset="0"/>
              <a:ea typeface="华文中宋" panose="02010600040101010101" pitchFamily="2" charset="-122"/>
            </a:endParaRPr>
          </a:p>
          <a:p>
            <a:pPr eaLnBrk="1" hangingPunct="1">
              <a:spcBef>
                <a:spcPts val="0"/>
              </a:spcBef>
            </a:pPr>
            <a:r>
              <a:rPr lang="en-US" altLang="zh-CN" sz="2520" dirty="0">
                <a:solidFill>
                  <a:schemeClr val="bg1"/>
                </a:solidFill>
                <a:latin typeface="Tahoma" panose="020B0604030504040204" pitchFamily="34" charset="0"/>
                <a:ea typeface="华文中宋" panose="02010600040101010101" pitchFamily="2" charset="-122"/>
              </a:rPr>
              <a:t>C:\&gt;</a:t>
            </a:r>
          </a:p>
        </p:txBody>
      </p:sp>
      <p:sp>
        <p:nvSpPr>
          <p:cNvPr id="4" name="文本框 3"/>
          <p:cNvSpPr txBox="1"/>
          <p:nvPr/>
        </p:nvSpPr>
        <p:spPr>
          <a:xfrm>
            <a:off x="495300" y="1920240"/>
            <a:ext cx="7647940" cy="3784600"/>
          </a:xfrm>
          <a:prstGeom prst="rect">
            <a:avLst/>
          </a:prstGeom>
          <a:noFill/>
          <a:ln w="9525">
            <a:noFill/>
          </a:ln>
        </p:spPr>
        <p:txBody>
          <a:bodyPr wrap="square">
            <a:spAutoFit/>
          </a:bodyPr>
          <a:lstStyle/>
          <a:p>
            <a:pPr>
              <a:spcAft>
                <a:spcPts val="0"/>
              </a:spcAft>
            </a:pPr>
            <a:r>
              <a:rPr lang="en-US" sz="2400" b="1">
                <a:solidFill>
                  <a:srgbClr val="7F0055"/>
                </a:solidFill>
                <a:latin typeface="Consolas" panose="020B0609020204030204" charset="0"/>
                <a:ea typeface="宋体" panose="02010600030101010101" pitchFamily="2" charset="-122"/>
              </a:rPr>
              <a:t>class</a:t>
            </a:r>
            <a:r>
              <a:rPr lang="en-US" sz="2400">
                <a:solidFill>
                  <a:srgbClr val="000000"/>
                </a:solidFill>
                <a:latin typeface="Consolas" panose="020B0609020204030204" charset="0"/>
                <a:ea typeface="宋体" panose="02010600030101010101" pitchFamily="2" charset="-122"/>
              </a:rPr>
              <a:t> Test {</a:t>
            </a:r>
          </a:p>
          <a:p>
            <a:pPr>
              <a:spcAft>
                <a:spcPts val="0"/>
              </a:spcAft>
            </a:pPr>
            <a:r>
              <a:rPr lang="en-US" sz="2400">
                <a:solidFill>
                  <a:srgbClr val="000000"/>
                </a:solidFill>
                <a:latin typeface="Consolas" panose="020B0609020204030204" charset="0"/>
                <a:ea typeface="宋体" panose="02010600030101010101" pitchFamily="2" charset="-122"/>
              </a:rPr>
              <a:t>    </a:t>
            </a:r>
            <a:r>
              <a:rPr lang="en-US" sz="2400" b="1">
                <a:solidFill>
                  <a:srgbClr val="7F0055"/>
                </a:solidFill>
                <a:latin typeface="Consolas" panose="020B0609020204030204" charset="0"/>
                <a:ea typeface="宋体" panose="02010600030101010101" pitchFamily="2" charset="-122"/>
              </a:rPr>
              <a:t>public</a:t>
            </a:r>
            <a:r>
              <a:rPr lang="en-US" sz="2400">
                <a:solidFill>
                  <a:srgbClr val="000000"/>
                </a:solidFill>
                <a:latin typeface="Consolas" panose="020B0609020204030204" charset="0"/>
                <a:ea typeface="宋体" panose="02010600030101010101" pitchFamily="2" charset="-122"/>
              </a:rPr>
              <a:t> </a:t>
            </a:r>
            <a:r>
              <a:rPr lang="en-US" sz="2400" b="1">
                <a:solidFill>
                  <a:srgbClr val="7F0055"/>
                </a:solidFill>
                <a:latin typeface="Consolas" panose="020B0609020204030204" charset="0"/>
                <a:ea typeface="宋体" panose="02010600030101010101" pitchFamily="2" charset="-122"/>
              </a:rPr>
              <a:t>static</a:t>
            </a:r>
            <a:r>
              <a:rPr lang="en-US" sz="2400">
                <a:solidFill>
                  <a:srgbClr val="000000"/>
                </a:solidFill>
                <a:latin typeface="Consolas" panose="020B0609020204030204" charset="0"/>
                <a:ea typeface="宋体" panose="02010600030101010101" pitchFamily="2" charset="-122"/>
              </a:rPr>
              <a:t> </a:t>
            </a:r>
            <a:r>
              <a:rPr lang="en-US" sz="2400" b="1">
                <a:solidFill>
                  <a:srgbClr val="7F0055"/>
                </a:solidFill>
                <a:latin typeface="Consolas" panose="020B0609020204030204" charset="0"/>
                <a:ea typeface="宋体" panose="02010600030101010101" pitchFamily="2" charset="-122"/>
              </a:rPr>
              <a:t>void</a:t>
            </a:r>
            <a:r>
              <a:rPr lang="en-US" sz="2400">
                <a:solidFill>
                  <a:srgbClr val="000000"/>
                </a:solidFill>
                <a:latin typeface="Consolas" panose="020B0609020204030204" charset="0"/>
                <a:ea typeface="宋体" panose="02010600030101010101" pitchFamily="2" charset="-122"/>
              </a:rPr>
              <a:t> main(String </a:t>
            </a:r>
            <a:r>
              <a:rPr lang="en-US" sz="2400">
                <a:solidFill>
                  <a:srgbClr val="6A3E3E"/>
                </a:solidFill>
                <a:latin typeface="Consolas" panose="020B0609020204030204" charset="0"/>
                <a:ea typeface="宋体" panose="02010600030101010101" pitchFamily="2" charset="-122"/>
              </a:rPr>
              <a:t>args</a:t>
            </a:r>
            <a:r>
              <a:rPr lang="en-US" sz="2400">
                <a:solidFill>
                  <a:srgbClr val="000000"/>
                </a:solidFill>
                <a:latin typeface="Consolas" panose="020B0609020204030204" charset="0"/>
                <a:ea typeface="宋体" panose="02010600030101010101" pitchFamily="2" charset="-122"/>
              </a:rPr>
              <a:t>[]) {</a:t>
            </a:r>
          </a:p>
          <a:p>
            <a:pPr>
              <a:spcAft>
                <a:spcPts val="0"/>
              </a:spcAft>
            </a:pPr>
            <a:r>
              <a:rPr lang="en-US" sz="2400">
                <a:solidFill>
                  <a:srgbClr val="000000"/>
                </a:solidFill>
                <a:latin typeface="Consolas" panose="020B0609020204030204" charset="0"/>
                <a:ea typeface="宋体" panose="02010600030101010101" pitchFamily="2" charset="-122"/>
              </a:rPr>
              <a:t>	System.</a:t>
            </a:r>
            <a:r>
              <a:rPr lang="en-US" sz="2400" b="1" i="1">
                <a:solidFill>
                  <a:srgbClr val="0000C0"/>
                </a:solidFill>
                <a:latin typeface="Consolas" panose="020B0609020204030204" charset="0"/>
                <a:ea typeface="宋体" panose="02010600030101010101" pitchFamily="2" charset="-122"/>
              </a:rPr>
              <a:t>out</a:t>
            </a:r>
            <a:r>
              <a:rPr lang="en-US" sz="2400">
                <a:solidFill>
                  <a:srgbClr val="000000"/>
                </a:solidFill>
                <a:latin typeface="Consolas" panose="020B0609020204030204" charset="0"/>
                <a:ea typeface="宋体" panose="02010600030101010101" pitchFamily="2" charset="-122"/>
              </a:rPr>
              <a:t>.println(</a:t>
            </a:r>
            <a:r>
              <a:rPr lang="zh-CN" sz="2400">
                <a:solidFill>
                  <a:srgbClr val="2A00FF"/>
                </a:solidFill>
                <a:ea typeface="宋体" panose="02010600030101010101" pitchFamily="2" charset="-122"/>
              </a:rPr>
              <a:t>"Java\n语\b言"</a:t>
            </a:r>
            <a:r>
              <a:rPr lang="en-US" sz="2400">
                <a:solidFill>
                  <a:srgbClr val="000000"/>
                </a:solidFill>
                <a:latin typeface="Consolas" panose="020B0609020204030204" charset="0"/>
                <a:ea typeface="宋体" panose="02010600030101010101" pitchFamily="2" charset="-122"/>
              </a:rPr>
              <a:t>);</a:t>
            </a:r>
          </a:p>
          <a:p>
            <a:pPr>
              <a:spcAft>
                <a:spcPts val="0"/>
              </a:spcAft>
            </a:pPr>
            <a:r>
              <a:rPr lang="en-US" sz="2400">
                <a:solidFill>
                  <a:srgbClr val="000000"/>
                </a:solidFill>
                <a:latin typeface="Consolas" panose="020B0609020204030204" charset="0"/>
                <a:ea typeface="宋体" panose="02010600030101010101" pitchFamily="2" charset="-122"/>
              </a:rPr>
              <a:t>	System.</a:t>
            </a:r>
            <a:r>
              <a:rPr lang="en-US" sz="2400" b="1" i="1">
                <a:solidFill>
                  <a:srgbClr val="0000C0"/>
                </a:solidFill>
                <a:latin typeface="Consolas" panose="020B0609020204030204" charset="0"/>
                <a:ea typeface="宋体" panose="02010600030101010101" pitchFamily="2" charset="-122"/>
              </a:rPr>
              <a:t>out</a:t>
            </a:r>
            <a:r>
              <a:rPr lang="en-US" sz="2400">
                <a:solidFill>
                  <a:srgbClr val="000000"/>
                </a:solidFill>
                <a:latin typeface="Consolas" panose="020B0609020204030204" charset="0"/>
                <a:ea typeface="宋体" panose="02010600030101010101" pitchFamily="2" charset="-122"/>
              </a:rPr>
              <a:t>.println(</a:t>
            </a:r>
            <a:r>
              <a:rPr lang="zh-CN" sz="2400">
                <a:solidFill>
                  <a:srgbClr val="2A00FF"/>
                </a:solidFill>
                <a:ea typeface="宋体" panose="02010600030101010101" pitchFamily="2" charset="-122"/>
              </a:rPr>
              <a:t>"Java\r语言"</a:t>
            </a:r>
            <a:r>
              <a:rPr lang="en-US" sz="2400">
                <a:solidFill>
                  <a:srgbClr val="000000"/>
                </a:solidFill>
                <a:latin typeface="Consolas" panose="020B0609020204030204" charset="0"/>
                <a:ea typeface="宋体" panose="02010600030101010101" pitchFamily="2" charset="-122"/>
              </a:rPr>
              <a:t>);</a:t>
            </a:r>
          </a:p>
          <a:p>
            <a:pPr>
              <a:spcAft>
                <a:spcPts val="0"/>
              </a:spcAft>
            </a:pPr>
            <a:r>
              <a:rPr lang="en-US" sz="2400">
                <a:solidFill>
                  <a:srgbClr val="000000"/>
                </a:solidFill>
                <a:latin typeface="Consolas" panose="020B0609020204030204" charset="0"/>
                <a:ea typeface="宋体" panose="02010600030101010101" pitchFamily="2" charset="-122"/>
              </a:rPr>
              <a:t>	System.</a:t>
            </a:r>
            <a:r>
              <a:rPr lang="en-US" sz="2400" b="1" i="1">
                <a:solidFill>
                  <a:srgbClr val="0000C0"/>
                </a:solidFill>
                <a:latin typeface="Consolas" panose="020B0609020204030204" charset="0"/>
                <a:ea typeface="宋体" panose="02010600030101010101" pitchFamily="2" charset="-122"/>
              </a:rPr>
              <a:t>out</a:t>
            </a:r>
            <a:r>
              <a:rPr lang="en-US" sz="2400">
                <a:solidFill>
                  <a:srgbClr val="000000"/>
                </a:solidFill>
                <a:latin typeface="Consolas" panose="020B0609020204030204" charset="0"/>
                <a:ea typeface="宋体" panose="02010600030101010101" pitchFamily="2" charset="-122"/>
              </a:rPr>
              <a:t>.println(</a:t>
            </a:r>
            <a:r>
              <a:rPr lang="zh-CN" sz="2400">
                <a:solidFill>
                  <a:srgbClr val="2A00FF"/>
                </a:solidFill>
                <a:ea typeface="宋体" panose="02010600030101010101" pitchFamily="2" charset="-122"/>
              </a:rPr>
              <a:t>"Java\t语言"</a:t>
            </a:r>
            <a:r>
              <a:rPr lang="en-US" sz="2400">
                <a:solidFill>
                  <a:srgbClr val="000000"/>
                </a:solidFill>
                <a:latin typeface="Consolas" panose="020B0609020204030204" charset="0"/>
                <a:ea typeface="宋体" panose="02010600030101010101" pitchFamily="2" charset="-122"/>
              </a:rPr>
              <a:t>);</a:t>
            </a:r>
          </a:p>
          <a:p>
            <a:pPr>
              <a:spcAft>
                <a:spcPts val="0"/>
              </a:spcAft>
            </a:pPr>
            <a:r>
              <a:rPr lang="en-US" sz="2400">
                <a:solidFill>
                  <a:srgbClr val="000000"/>
                </a:solidFill>
                <a:latin typeface="Consolas" panose="020B0609020204030204" charset="0"/>
                <a:ea typeface="宋体" panose="02010600030101010101" pitchFamily="2" charset="-122"/>
              </a:rPr>
              <a:t>	System.</a:t>
            </a:r>
            <a:r>
              <a:rPr lang="en-US" sz="2400" b="1" i="1">
                <a:solidFill>
                  <a:srgbClr val="0000C0"/>
                </a:solidFill>
                <a:latin typeface="Consolas" panose="020B0609020204030204" charset="0"/>
                <a:ea typeface="宋体" panose="02010600030101010101" pitchFamily="2" charset="-122"/>
              </a:rPr>
              <a:t>out</a:t>
            </a:r>
            <a:r>
              <a:rPr lang="en-US" sz="2400">
                <a:solidFill>
                  <a:srgbClr val="000000"/>
                </a:solidFill>
                <a:latin typeface="Consolas" panose="020B0609020204030204" charset="0"/>
                <a:ea typeface="宋体" panose="02010600030101010101" pitchFamily="2" charset="-122"/>
              </a:rPr>
              <a:t>.println(</a:t>
            </a:r>
            <a:r>
              <a:rPr lang="zh-CN" sz="2400">
                <a:solidFill>
                  <a:srgbClr val="2A00FF"/>
                </a:solidFill>
                <a:ea typeface="宋体" panose="02010600030101010101" pitchFamily="2" charset="-122"/>
              </a:rPr>
              <a:t>"\\Java语言\\"</a:t>
            </a:r>
            <a:r>
              <a:rPr lang="en-US" sz="2400">
                <a:solidFill>
                  <a:srgbClr val="000000"/>
                </a:solidFill>
                <a:latin typeface="Consolas" panose="020B0609020204030204" charset="0"/>
                <a:ea typeface="宋体" panose="02010600030101010101" pitchFamily="2" charset="-122"/>
              </a:rPr>
              <a:t>);</a:t>
            </a:r>
          </a:p>
          <a:p>
            <a:pPr>
              <a:spcAft>
                <a:spcPts val="0"/>
              </a:spcAft>
            </a:pPr>
            <a:r>
              <a:rPr lang="en-US" sz="2400">
                <a:solidFill>
                  <a:srgbClr val="000000"/>
                </a:solidFill>
                <a:latin typeface="Consolas" panose="020B0609020204030204" charset="0"/>
                <a:ea typeface="宋体" panose="02010600030101010101" pitchFamily="2" charset="-122"/>
              </a:rPr>
              <a:t>	System.</a:t>
            </a:r>
            <a:r>
              <a:rPr lang="en-US" sz="2400" b="1" i="1">
                <a:solidFill>
                  <a:srgbClr val="0000C0"/>
                </a:solidFill>
                <a:latin typeface="Consolas" panose="020B0609020204030204" charset="0"/>
                <a:ea typeface="宋体" panose="02010600030101010101" pitchFamily="2" charset="-122"/>
              </a:rPr>
              <a:t>out</a:t>
            </a:r>
            <a:r>
              <a:rPr lang="en-US" sz="2400">
                <a:solidFill>
                  <a:srgbClr val="000000"/>
                </a:solidFill>
                <a:latin typeface="Consolas" panose="020B0609020204030204" charset="0"/>
                <a:ea typeface="宋体" panose="02010600030101010101" pitchFamily="2" charset="-122"/>
              </a:rPr>
              <a:t>.println(</a:t>
            </a:r>
            <a:r>
              <a:rPr lang="zh-CN" sz="2400">
                <a:solidFill>
                  <a:srgbClr val="2A00FF"/>
                </a:solidFill>
                <a:ea typeface="宋体" panose="02010600030101010101" pitchFamily="2" charset="-122"/>
              </a:rPr>
              <a:t>"\'Java语言\'"</a:t>
            </a:r>
            <a:r>
              <a:rPr lang="en-US" sz="2400">
                <a:solidFill>
                  <a:srgbClr val="000000"/>
                </a:solidFill>
                <a:latin typeface="Consolas" panose="020B0609020204030204" charset="0"/>
                <a:ea typeface="宋体" panose="02010600030101010101" pitchFamily="2" charset="-122"/>
              </a:rPr>
              <a:t>);</a:t>
            </a:r>
          </a:p>
          <a:p>
            <a:pPr>
              <a:spcAft>
                <a:spcPts val="0"/>
              </a:spcAft>
            </a:pPr>
            <a:r>
              <a:rPr lang="en-US" sz="2400">
                <a:solidFill>
                  <a:srgbClr val="000000"/>
                </a:solidFill>
                <a:latin typeface="Consolas" panose="020B0609020204030204" charset="0"/>
                <a:ea typeface="宋体" panose="02010600030101010101" pitchFamily="2" charset="-122"/>
              </a:rPr>
              <a:t>	System.</a:t>
            </a:r>
            <a:r>
              <a:rPr lang="en-US" sz="2400" b="1" i="1">
                <a:solidFill>
                  <a:srgbClr val="0000C0"/>
                </a:solidFill>
                <a:latin typeface="Consolas" panose="020B0609020204030204" charset="0"/>
                <a:ea typeface="宋体" panose="02010600030101010101" pitchFamily="2" charset="-122"/>
              </a:rPr>
              <a:t>out</a:t>
            </a:r>
            <a:r>
              <a:rPr lang="en-US" sz="2400">
                <a:solidFill>
                  <a:srgbClr val="000000"/>
                </a:solidFill>
                <a:latin typeface="Consolas" panose="020B0609020204030204" charset="0"/>
                <a:ea typeface="宋体" panose="02010600030101010101" pitchFamily="2" charset="-122"/>
              </a:rPr>
              <a:t>.println(</a:t>
            </a:r>
            <a:r>
              <a:rPr lang="zh-CN" sz="2400">
                <a:solidFill>
                  <a:srgbClr val="2A00FF"/>
                </a:solidFill>
                <a:ea typeface="宋体" panose="02010600030101010101" pitchFamily="2" charset="-122"/>
              </a:rPr>
              <a:t>"\"Java语言\""</a:t>
            </a:r>
            <a:r>
              <a:rPr lang="en-US" sz="2400">
                <a:solidFill>
                  <a:srgbClr val="000000"/>
                </a:solidFill>
                <a:latin typeface="Consolas" panose="020B0609020204030204" charset="0"/>
                <a:ea typeface="宋体" panose="02010600030101010101" pitchFamily="2" charset="-122"/>
              </a:rPr>
              <a:t>);</a:t>
            </a:r>
          </a:p>
          <a:p>
            <a:pPr>
              <a:spcAft>
                <a:spcPts val="0"/>
              </a:spcAft>
            </a:pPr>
            <a:r>
              <a:rPr lang="en-US" sz="2400">
                <a:solidFill>
                  <a:srgbClr val="000000"/>
                </a:solidFill>
                <a:latin typeface="Consolas" panose="020B0609020204030204" charset="0"/>
                <a:ea typeface="宋体" panose="02010600030101010101" pitchFamily="2" charset="-122"/>
              </a:rPr>
              <a:t>    }</a:t>
            </a:r>
          </a:p>
          <a:p>
            <a:pPr>
              <a:spcAft>
                <a:spcPts val="0"/>
              </a:spcAft>
            </a:pPr>
            <a:r>
              <a:rPr lang="en-US" sz="2400">
                <a:solidFill>
                  <a:srgbClr val="000000"/>
                </a:solidFill>
                <a:latin typeface="Consolas" panose="020B0609020204030204" charset="0"/>
                <a:ea typeface="宋体" panose="02010600030101010101" pitchFamily="2" charset="-122"/>
              </a:rPr>
              <a:t>}</a:t>
            </a:r>
            <a:r>
              <a:rPr lang="zh-CN" sz="2400">
                <a:solidFill>
                  <a:srgbClr val="3F7F5F"/>
                </a:solidFill>
                <a:ea typeface="宋体" panose="02010600030101010101" pitchFamily="2" charset="-122"/>
              </a:rPr>
              <a:t>//在命令行窗口下运行</a:t>
            </a:r>
            <a:endParaRPr lang="zh-CN" altLang="en-US" sz="2400">
              <a:solidFill>
                <a:srgbClr val="3F7F5F"/>
              </a:solidFill>
              <a:ea typeface="宋体" panose="0201060003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nodePh="1">
                                  <p:stCondLst>
                                    <p:cond delay="0"/>
                                  </p:stCondLst>
                                  <p:endCondLst>
                                    <p:cond evt="begin" delay="0">
                                      <p:tn val="5"/>
                                    </p:cond>
                                  </p:end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barn(outHorizontal)">
                                      <p:cBhvr>
                                        <p:cTn id="7" dur="500"/>
                                        <p:tgtEl>
                                          <p:spTgt spid="37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7893"/>
                                        </p:tgtEl>
                                        <p:attrNameLst>
                                          <p:attrName>style.visibility</p:attrName>
                                        </p:attrNameLst>
                                      </p:cBhvr>
                                      <p:to>
                                        <p:strVal val="visible"/>
                                      </p:to>
                                    </p:set>
                                    <p:animEffect transition="in" filter="barn(outHorizontal)">
                                      <p:cBhvr>
                                        <p:cTn id="12" dur="500"/>
                                        <p:tgtEl>
                                          <p:spTgt spid="37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advAuto="1000"/>
      <p:bldP spid="37893"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Autofit/>
          </a:bodyPr>
          <a:lstStyle/>
          <a:p>
            <a:pPr algn="l" eaLnBrk="1" hangingPunct="1">
              <a:lnSpc>
                <a:spcPct val="150000"/>
              </a:lnSpc>
              <a:spcAft>
                <a:spcPts val="0"/>
              </a:spcAft>
              <a:buClr>
                <a:srgbClr val="000000"/>
              </a:buClr>
              <a:buSzTx/>
            </a:pPr>
            <a:r>
              <a:rPr lang="zh-CN" altLang="en-US" sz="2400" dirty="0"/>
              <a:t>程序执行过程中，值可以改变的量</a:t>
            </a:r>
          </a:p>
          <a:p>
            <a:pPr algn="l" eaLnBrk="1" hangingPunct="1">
              <a:lnSpc>
                <a:spcPct val="150000"/>
              </a:lnSpc>
              <a:spcBef>
                <a:spcPts val="20"/>
              </a:spcBef>
              <a:spcAft>
                <a:spcPts val="0"/>
              </a:spcAft>
              <a:buClr>
                <a:srgbClr val="000000"/>
              </a:buClr>
              <a:buSzTx/>
            </a:pPr>
            <a:r>
              <a:rPr lang="zh-CN" altLang="en-US" sz="2400" dirty="0"/>
              <a:t>整型变量、实型变量、字符型变量、字符串变量、布尔变量等</a:t>
            </a:r>
          </a:p>
          <a:p>
            <a:pPr algn="l" eaLnBrk="1" hangingPunct="1">
              <a:lnSpc>
                <a:spcPct val="150000"/>
              </a:lnSpc>
              <a:spcBef>
                <a:spcPts val="20"/>
              </a:spcBef>
              <a:spcAft>
                <a:spcPts val="0"/>
              </a:spcAft>
              <a:buClr>
                <a:srgbClr val="000000"/>
              </a:buClr>
              <a:buSzTx/>
            </a:pPr>
            <a:r>
              <a:rPr lang="zh-CN" altLang="en-US" sz="2400" dirty="0"/>
              <a:t>变量定义</a:t>
            </a:r>
          </a:p>
          <a:p>
            <a:pPr marL="800100" lvl="1" indent="-342900" eaLnBrk="1" hangingPunct="1">
              <a:lnSpc>
                <a:spcPct val="100000"/>
              </a:lnSpc>
              <a:spcBef>
                <a:spcPts val="20"/>
              </a:spcBef>
              <a:spcAft>
                <a:spcPts val="0"/>
              </a:spcAft>
              <a:buClr>
                <a:schemeClr val="accent1"/>
              </a:buClr>
              <a:buSzTx/>
            </a:pPr>
            <a:r>
              <a:rPr lang="zh-CN" altLang="en-US" sz="2100" dirty="0"/>
              <a:t>类型  变量名 </a:t>
            </a:r>
            <a:r>
              <a:rPr lang="en-US" altLang="zh-CN" sz="2100" dirty="0"/>
              <a:t>[=</a:t>
            </a:r>
            <a:r>
              <a:rPr lang="zh-CN" altLang="en-US" sz="2100" dirty="0"/>
              <a:t>初值</a:t>
            </a:r>
            <a:r>
              <a:rPr lang="en-US" altLang="zh-CN" sz="2100" dirty="0"/>
              <a:t>][, </a:t>
            </a:r>
            <a:r>
              <a:rPr lang="zh-CN" altLang="en-US" sz="2100" dirty="0"/>
              <a:t>变量名</a:t>
            </a:r>
            <a:r>
              <a:rPr lang="en-US" altLang="zh-CN" sz="2100" dirty="0"/>
              <a:t>[=</a:t>
            </a:r>
            <a:r>
              <a:rPr lang="zh-CN" altLang="en-US" sz="2100" dirty="0"/>
              <a:t>初值</a:t>
            </a:r>
            <a:r>
              <a:rPr lang="en-US" altLang="zh-CN" sz="2100" dirty="0"/>
              <a:t>] …]</a:t>
            </a:r>
          </a:p>
          <a:p>
            <a:pPr marL="800100" lvl="1" indent="-342900" eaLnBrk="1" hangingPunct="1">
              <a:lnSpc>
                <a:spcPct val="100000"/>
              </a:lnSpc>
              <a:spcBef>
                <a:spcPts val="20"/>
              </a:spcBef>
              <a:spcAft>
                <a:spcPts val="0"/>
              </a:spcAft>
              <a:buClr>
                <a:schemeClr val="accent1"/>
              </a:buClr>
              <a:buSzTx/>
            </a:pPr>
            <a:r>
              <a:rPr lang="zh-CN" altLang="en-US" sz="2100" dirty="0"/>
              <a:t>类型</a:t>
            </a:r>
            <a:r>
              <a:rPr lang="en-US" altLang="zh-CN" sz="2100" dirty="0"/>
              <a:t>: </a:t>
            </a:r>
            <a:r>
              <a:rPr lang="zh-CN" altLang="en-US" sz="2100" dirty="0"/>
              <a:t>基本数据类型或引用类型</a:t>
            </a:r>
          </a:p>
          <a:p>
            <a:pPr marL="990600" lvl="1" indent="-533400" eaLnBrk="1" hangingPunct="1">
              <a:lnSpc>
                <a:spcPct val="100000"/>
              </a:lnSpc>
              <a:spcBef>
                <a:spcPts val="20"/>
              </a:spcBef>
              <a:spcAft>
                <a:spcPts val="0"/>
              </a:spcAft>
              <a:buSzPct val="90000"/>
              <a:buNone/>
            </a:pPr>
            <a:r>
              <a:rPr lang="zh-CN" altLang="en-US" sz="2100" dirty="0"/>
              <a:t>	</a:t>
            </a:r>
            <a:r>
              <a:rPr lang="en-US" altLang="zh-CN" sz="2100" dirty="0"/>
              <a:t>int          x, y, z;</a:t>
            </a:r>
          </a:p>
          <a:p>
            <a:pPr marL="990600" lvl="1" indent="-533400" eaLnBrk="1" hangingPunct="1">
              <a:lnSpc>
                <a:spcPct val="100000"/>
              </a:lnSpc>
              <a:spcBef>
                <a:spcPts val="20"/>
              </a:spcBef>
              <a:spcAft>
                <a:spcPts val="0"/>
              </a:spcAft>
              <a:buSzPct val="90000"/>
              <a:buNone/>
            </a:pPr>
            <a:r>
              <a:rPr lang="en-US" altLang="zh-CN" sz="2100" dirty="0"/>
              <a:t>	float       a, b;</a:t>
            </a:r>
          </a:p>
          <a:p>
            <a:pPr marL="990600" lvl="1" indent="-533400" eaLnBrk="1" hangingPunct="1">
              <a:lnSpc>
                <a:spcPct val="100000"/>
              </a:lnSpc>
              <a:spcBef>
                <a:spcPts val="20"/>
              </a:spcBef>
              <a:spcAft>
                <a:spcPts val="0"/>
              </a:spcAft>
              <a:buSzPct val="90000"/>
              <a:buNone/>
            </a:pPr>
            <a:r>
              <a:rPr lang="en-US" altLang="zh-CN" sz="2100" dirty="0"/>
              <a:t>	char       c1, c2, c3;</a:t>
            </a:r>
          </a:p>
          <a:p>
            <a:pPr marL="990600" lvl="1" indent="-533400" eaLnBrk="1" hangingPunct="1">
              <a:lnSpc>
                <a:spcPct val="100000"/>
              </a:lnSpc>
              <a:spcBef>
                <a:spcPts val="20"/>
              </a:spcBef>
              <a:spcAft>
                <a:spcPts val="0"/>
              </a:spcAft>
              <a:buSzPct val="90000"/>
              <a:buNone/>
            </a:pPr>
            <a:r>
              <a:rPr lang="en-US" altLang="zh-CN" sz="2100" dirty="0"/>
              <a:t>	double    d1;</a:t>
            </a:r>
          </a:p>
          <a:p>
            <a:pPr marL="990600" lvl="1" indent="-533400" eaLnBrk="1" hangingPunct="1">
              <a:lnSpc>
                <a:spcPct val="100000"/>
              </a:lnSpc>
              <a:spcBef>
                <a:spcPts val="20"/>
              </a:spcBef>
              <a:buSzPct val="90000"/>
              <a:buNone/>
            </a:pPr>
            <a:r>
              <a:rPr lang="en-US" altLang="zh-CN" sz="2100" dirty="0"/>
              <a:t>	boolean  mycom;</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变量</a:t>
            </a: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2500" lnSpcReduction="20000"/>
          </a:bodyPr>
          <a:lstStyle/>
          <a:p>
            <a:pPr algn="l" eaLnBrk="1" hangingPunct="1">
              <a:lnSpc>
                <a:spcPct val="150000"/>
              </a:lnSpc>
              <a:spcAft>
                <a:spcPts val="0"/>
              </a:spcAft>
              <a:buClr>
                <a:srgbClr val="000000"/>
              </a:buClr>
              <a:buSzTx/>
              <a:buChar char="•"/>
            </a:pPr>
            <a:r>
              <a:rPr lang="zh-CN" altLang="en-US" dirty="0"/>
              <a:t>变量赋初值/初始化 </a:t>
            </a:r>
          </a:p>
          <a:p>
            <a:pPr algn="l" eaLnBrk="1" hangingPunct="1">
              <a:lnSpc>
                <a:spcPct val="150000"/>
              </a:lnSpc>
              <a:spcBef>
                <a:spcPts val="20"/>
              </a:spcBef>
              <a:spcAft>
                <a:spcPts val="0"/>
              </a:spcAft>
              <a:buClr>
                <a:srgbClr val="000000"/>
              </a:buClr>
              <a:buSzTx/>
              <a:buChar char="•"/>
            </a:pPr>
            <a:r>
              <a:rPr lang="zh-CN" altLang="en-US" dirty="0"/>
              <a:t>在变量声明时赋值</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类型  变量名 </a:t>
            </a:r>
            <a:r>
              <a:rPr lang="en-US" altLang="zh-CN" dirty="0"/>
              <a:t>[=</a:t>
            </a:r>
            <a:r>
              <a:rPr lang="zh-CN" altLang="en-US" dirty="0"/>
              <a:t>初值</a:t>
            </a:r>
            <a:r>
              <a:rPr lang="en-US" altLang="zh-CN" dirty="0"/>
              <a:t>][, </a:t>
            </a:r>
            <a:r>
              <a:rPr lang="zh-CN" altLang="en-US" dirty="0"/>
              <a:t>变量名</a:t>
            </a:r>
            <a:r>
              <a:rPr lang="en-US" altLang="zh-CN" dirty="0"/>
              <a:t>[=</a:t>
            </a:r>
            <a:r>
              <a:rPr lang="zh-CN" altLang="en-US" dirty="0"/>
              <a:t>初值</a:t>
            </a:r>
            <a:r>
              <a:rPr lang="en-US" altLang="zh-CN" dirty="0"/>
              <a:t>] …]</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int  x=1, y=2, z=3;</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float e = 2.718281828f;</a:t>
            </a:r>
          </a:p>
          <a:p>
            <a:pPr algn="l" eaLnBrk="1" hangingPunct="1">
              <a:lnSpc>
                <a:spcPct val="150000"/>
              </a:lnSpc>
              <a:spcBef>
                <a:spcPts val="20"/>
              </a:spcBef>
              <a:spcAft>
                <a:spcPts val="0"/>
              </a:spcAft>
              <a:buClr>
                <a:srgbClr val="000000"/>
              </a:buClr>
              <a:buSzTx/>
              <a:buChar char="•"/>
            </a:pPr>
            <a:r>
              <a:rPr lang="zh-CN" altLang="en-US" dirty="0"/>
              <a:t>采用赋值语句</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float  pi, y;</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pi = 3.1415926f;</a:t>
            </a:r>
          </a:p>
          <a:p>
            <a:pPr marL="990600" lvl="1" indent="-533400" eaLnBrk="1" hangingPunct="1">
              <a:lnSpc>
                <a:spcPct val="150000"/>
              </a:lnSpc>
              <a:spcBef>
                <a:spcPts val="20"/>
              </a:spcBef>
              <a:buSzPct val="90000"/>
              <a:buFont typeface="Wingdings" panose="05000000000000000000" pitchFamily="2" charset="2"/>
              <a:buAutoNum type="arabicPeriod"/>
            </a:pPr>
            <a:r>
              <a:rPr lang="en-US" altLang="zh-CN" dirty="0"/>
              <a:t>y = 2.71828f;</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sz="3200" dirty="0"/>
              <a:t>变量</a:t>
            </a: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5"/>
          <p:cNvSpPr/>
          <p:nvPr/>
        </p:nvSpPr>
        <p:spPr>
          <a:xfrm>
            <a:off x="2440305" y="2000250"/>
            <a:ext cx="6240780" cy="4720590"/>
          </a:xfrm>
          <a:prstGeom prst="rect">
            <a:avLst/>
          </a:prstGeom>
          <a:noFill/>
          <a:ln w="9525">
            <a:noFill/>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342900" lvl="0" indent="-342900" eaLnBrk="1" hangingPunct="1">
              <a:lnSpc>
                <a:spcPct val="90000"/>
              </a:lnSpc>
              <a:spcAft>
                <a:spcPts val="0"/>
              </a:spcAft>
              <a:buClr>
                <a:schemeClr val="folHlink"/>
              </a:buClr>
              <a:buSzPct val="60000"/>
              <a:buNone/>
            </a:pPr>
            <a:r>
              <a:rPr lang="en-US" altLang="zh-CN" sz="2520" dirty="0">
                <a:latin typeface="Tahoma" panose="020B0604030504040204" pitchFamily="34" charset="0"/>
                <a:ea typeface="华文中宋" panose="02010600040101010101" pitchFamily="2" charset="-122"/>
              </a:rPr>
              <a:t>class MyClass {</a:t>
            </a:r>
          </a:p>
          <a:p>
            <a:pPr marL="342900" lvl="0" indent="-342900" eaLnBrk="1" hangingPunct="1">
              <a:lnSpc>
                <a:spcPct val="90000"/>
              </a:lnSpc>
              <a:spcBef>
                <a:spcPts val="20"/>
              </a:spcBef>
              <a:spcAft>
                <a:spcPts val="0"/>
              </a:spcAft>
              <a:buClr>
                <a:schemeClr val="folHlink"/>
              </a:buClr>
              <a:buSzPct val="60000"/>
              <a:buNone/>
            </a:pPr>
            <a:r>
              <a:rPr lang="en-US" altLang="zh-CN" sz="2520" dirty="0">
                <a:latin typeface="Tahoma" panose="020B0604030504040204" pitchFamily="34" charset="0"/>
                <a:ea typeface="华文中宋" panose="02010600040101010101" pitchFamily="2" charset="-122"/>
              </a:rPr>
              <a:t>		……</a:t>
            </a:r>
          </a:p>
          <a:p>
            <a:pPr marL="342900" lvl="0" indent="-342900" eaLnBrk="1" hangingPunct="1">
              <a:lnSpc>
                <a:spcPct val="90000"/>
              </a:lnSpc>
              <a:spcBef>
                <a:spcPts val="20"/>
              </a:spcBef>
              <a:spcAft>
                <a:spcPts val="0"/>
              </a:spcAft>
              <a:buClr>
                <a:schemeClr val="folHlink"/>
              </a:buClr>
              <a:buSzPct val="60000"/>
              <a:buNone/>
            </a:pPr>
            <a:r>
              <a:rPr lang="en-US" altLang="zh-CN" sz="2520" dirty="0">
                <a:latin typeface="Tahoma" panose="020B0604030504040204" pitchFamily="34" charset="0"/>
                <a:ea typeface="华文中宋" panose="02010600040101010101" pitchFamily="2" charset="-122"/>
              </a:rPr>
              <a:t>		</a:t>
            </a:r>
            <a:r>
              <a:rPr lang="zh-CN" altLang="en-US" sz="2520" dirty="0">
                <a:latin typeface="Tahoma" panose="020B0604030504040204" pitchFamily="34" charset="0"/>
                <a:ea typeface="华文中宋" panose="02010600040101010101" pitchFamily="2" charset="-122"/>
              </a:rPr>
              <a:t>成员变量申明</a:t>
            </a:r>
          </a:p>
          <a:p>
            <a:pPr marL="342900" lvl="0" indent="-342900" eaLnBrk="1" hangingPunct="1">
              <a:lnSpc>
                <a:spcPct val="90000"/>
              </a:lnSpc>
              <a:spcBef>
                <a:spcPts val="20"/>
              </a:spcBef>
              <a:spcAft>
                <a:spcPts val="0"/>
              </a:spcAft>
              <a:buClr>
                <a:schemeClr val="folHlink"/>
              </a:buClr>
              <a:buSzPct val="60000"/>
              <a:buNone/>
            </a:pPr>
            <a:r>
              <a:rPr lang="zh-CN" altLang="en-US" sz="2520" dirty="0">
                <a:latin typeface="Tahoma" panose="020B0604030504040204" pitchFamily="34" charset="0"/>
                <a:ea typeface="华文中宋" panose="02010600040101010101" pitchFamily="2" charset="-122"/>
              </a:rPr>
              <a:t>		</a:t>
            </a:r>
            <a:r>
              <a:rPr lang="en-US" altLang="zh-CN" sz="2520" dirty="0">
                <a:latin typeface="Tahoma" panose="020B0604030504040204" pitchFamily="34" charset="0"/>
                <a:ea typeface="华文中宋" panose="02010600040101010101" pitchFamily="2" charset="-122"/>
              </a:rPr>
              <a:t>……</a:t>
            </a:r>
          </a:p>
          <a:p>
            <a:pPr marL="342900" lvl="0" indent="-342900" eaLnBrk="1" hangingPunct="1">
              <a:lnSpc>
                <a:spcPct val="90000"/>
              </a:lnSpc>
              <a:spcBef>
                <a:spcPts val="20"/>
              </a:spcBef>
              <a:spcAft>
                <a:spcPts val="0"/>
              </a:spcAft>
              <a:buClr>
                <a:schemeClr val="folHlink"/>
              </a:buClr>
              <a:buSzPct val="60000"/>
              <a:buNone/>
            </a:pPr>
            <a:r>
              <a:rPr lang="en-US" altLang="zh-CN" sz="2520" dirty="0">
                <a:latin typeface="Tahoma" panose="020B0604030504040204" pitchFamily="34" charset="0"/>
                <a:ea typeface="华文中宋" panose="02010600040101010101" pitchFamily="2" charset="-122"/>
              </a:rPr>
              <a:t>		public void aMethod(</a:t>
            </a:r>
            <a:r>
              <a:rPr lang="zh-CN" altLang="en-US" sz="2520" dirty="0">
                <a:latin typeface="Tahoma" panose="020B0604030504040204" pitchFamily="34" charset="0"/>
                <a:ea typeface="华文中宋" panose="02010600040101010101" pitchFamily="2" charset="-122"/>
              </a:rPr>
              <a:t>方法参数</a:t>
            </a:r>
            <a:r>
              <a:rPr lang="en-US" altLang="zh-CN" sz="2520" dirty="0">
                <a:latin typeface="Tahoma" panose="020B0604030504040204" pitchFamily="34" charset="0"/>
                <a:ea typeface="华文中宋" panose="02010600040101010101" pitchFamily="2" charset="-122"/>
              </a:rPr>
              <a:t>) {</a:t>
            </a:r>
          </a:p>
          <a:p>
            <a:pPr marL="342900" lvl="0" indent="-342900" eaLnBrk="1" hangingPunct="1">
              <a:lnSpc>
                <a:spcPct val="90000"/>
              </a:lnSpc>
              <a:spcBef>
                <a:spcPts val="20"/>
              </a:spcBef>
              <a:spcAft>
                <a:spcPts val="0"/>
              </a:spcAft>
              <a:buClr>
                <a:schemeClr val="folHlink"/>
              </a:buClr>
              <a:buSzPct val="60000"/>
              <a:buNone/>
            </a:pPr>
            <a:r>
              <a:rPr lang="en-US" altLang="x-none" sz="2520" dirty="0">
                <a:latin typeface="Tahoma" panose="020B0604030504040204" pitchFamily="34" charset="0"/>
                <a:ea typeface="华文中宋" panose="02010600040101010101" pitchFamily="2" charset="-122"/>
              </a:rPr>
              <a:t>		    </a:t>
            </a:r>
            <a:r>
              <a:rPr lang="en-US" altLang="zh-CN" sz="2520" dirty="0">
                <a:latin typeface="Tahoma" panose="020B0604030504040204" pitchFamily="34" charset="0"/>
                <a:ea typeface="华文中宋" panose="02010600040101010101" pitchFamily="2" charset="-122"/>
              </a:rPr>
              <a:t>……		    </a:t>
            </a:r>
          </a:p>
          <a:p>
            <a:pPr marL="342900" lvl="0" indent="-342900" eaLnBrk="1" hangingPunct="1">
              <a:lnSpc>
                <a:spcPct val="90000"/>
              </a:lnSpc>
              <a:spcBef>
                <a:spcPts val="20"/>
              </a:spcBef>
              <a:spcAft>
                <a:spcPts val="0"/>
              </a:spcAft>
              <a:buClr>
                <a:schemeClr val="folHlink"/>
              </a:buClr>
              <a:buSzPct val="60000"/>
              <a:buNone/>
            </a:pPr>
            <a:r>
              <a:rPr lang="en-US" altLang="x-none" sz="2520" dirty="0">
                <a:latin typeface="Tahoma" panose="020B0604030504040204" pitchFamily="34" charset="0"/>
                <a:ea typeface="华文中宋" panose="02010600040101010101" pitchFamily="2" charset="-122"/>
              </a:rPr>
              <a:t>		    </a:t>
            </a:r>
            <a:r>
              <a:rPr lang="zh-CN" altLang="en-US" sz="2520" dirty="0">
                <a:latin typeface="Tahoma" panose="020B0604030504040204" pitchFamily="34" charset="0"/>
                <a:ea typeface="华文中宋" panose="02010600040101010101" pitchFamily="2" charset="-122"/>
              </a:rPr>
              <a:t>局部变量申明</a:t>
            </a:r>
          </a:p>
          <a:p>
            <a:pPr marL="342900" lvl="0" indent="-342900" eaLnBrk="1" hangingPunct="1">
              <a:lnSpc>
                <a:spcPct val="90000"/>
              </a:lnSpc>
              <a:spcBef>
                <a:spcPts val="20"/>
              </a:spcBef>
              <a:spcAft>
                <a:spcPts val="0"/>
              </a:spcAft>
              <a:buClr>
                <a:schemeClr val="folHlink"/>
              </a:buClr>
              <a:buSzPct val="60000"/>
              <a:buNone/>
            </a:pPr>
            <a:r>
              <a:rPr lang="zh-CN" altLang="en-US" sz="2520" dirty="0">
                <a:latin typeface="Tahoma" panose="020B0604030504040204" pitchFamily="34" charset="0"/>
                <a:ea typeface="华文中宋" panose="02010600040101010101" pitchFamily="2" charset="-122"/>
              </a:rPr>
              <a:t>		    </a:t>
            </a:r>
            <a:r>
              <a:rPr lang="en-US" altLang="zh-CN" sz="2520" dirty="0">
                <a:latin typeface="Tahoma" panose="020B0604030504040204" pitchFamily="34" charset="0"/>
                <a:ea typeface="华文中宋" panose="02010600040101010101" pitchFamily="2" charset="-122"/>
              </a:rPr>
              <a:t>……</a:t>
            </a:r>
          </a:p>
          <a:p>
            <a:pPr marL="342900" lvl="0" indent="-342900" eaLnBrk="1" hangingPunct="1">
              <a:lnSpc>
                <a:spcPct val="90000"/>
              </a:lnSpc>
              <a:spcBef>
                <a:spcPts val="20"/>
              </a:spcBef>
              <a:spcAft>
                <a:spcPts val="0"/>
              </a:spcAft>
              <a:buClr>
                <a:schemeClr val="folHlink"/>
              </a:buClr>
              <a:buSzPct val="60000"/>
              <a:buNone/>
            </a:pPr>
            <a:r>
              <a:rPr lang="en-US" altLang="x-none" sz="2520" dirty="0">
                <a:latin typeface="Tahoma" panose="020B0604030504040204" pitchFamily="34" charset="0"/>
                <a:ea typeface="华文中宋" panose="02010600040101010101" pitchFamily="2" charset="-122"/>
              </a:rPr>
              <a:t>		</a:t>
            </a:r>
          </a:p>
          <a:p>
            <a:pPr marL="342900" lvl="0" indent="-342900" eaLnBrk="1" hangingPunct="1">
              <a:lnSpc>
                <a:spcPct val="90000"/>
              </a:lnSpc>
              <a:spcBef>
                <a:spcPts val="20"/>
              </a:spcBef>
              <a:spcAft>
                <a:spcPts val="0"/>
              </a:spcAft>
              <a:buClr>
                <a:schemeClr val="folHlink"/>
              </a:buClr>
              <a:buSzPct val="60000"/>
              <a:buNone/>
            </a:pPr>
            <a:r>
              <a:rPr lang="en-US" altLang="x-none" sz="2520" dirty="0">
                <a:latin typeface="Tahoma" panose="020B0604030504040204" pitchFamily="34" charset="0"/>
                <a:ea typeface="华文中宋" panose="02010600040101010101" pitchFamily="2" charset="-122"/>
              </a:rPr>
              <a:t>  </a:t>
            </a:r>
          </a:p>
          <a:p>
            <a:pPr marL="342900" lvl="0" indent="-342900" eaLnBrk="1" hangingPunct="1">
              <a:lnSpc>
                <a:spcPct val="90000"/>
              </a:lnSpc>
              <a:spcBef>
                <a:spcPts val="20"/>
              </a:spcBef>
              <a:spcAft>
                <a:spcPts val="0"/>
              </a:spcAft>
              <a:buClr>
                <a:schemeClr val="folHlink"/>
              </a:buClr>
              <a:buSzPct val="60000"/>
              <a:buNone/>
            </a:pPr>
            <a:r>
              <a:rPr lang="en-US" altLang="x-none" sz="2520" dirty="0">
                <a:latin typeface="Tahoma" panose="020B0604030504040204" pitchFamily="34" charset="0"/>
                <a:ea typeface="华文中宋" panose="02010600040101010101" pitchFamily="2" charset="-122"/>
              </a:rPr>
              <a:t>            </a:t>
            </a:r>
            <a:r>
              <a:rPr lang="en-US" altLang="zh-CN" sz="2520" dirty="0">
                <a:latin typeface="Tahoma" panose="020B0604030504040204" pitchFamily="34" charset="0"/>
                <a:ea typeface="华文中宋" panose="02010600040101010101" pitchFamily="2" charset="-122"/>
              </a:rPr>
              <a:t>}</a:t>
            </a:r>
          </a:p>
          <a:p>
            <a:pPr marL="342900" lvl="0" indent="-342900" eaLnBrk="1" hangingPunct="1">
              <a:lnSpc>
                <a:spcPct val="90000"/>
              </a:lnSpc>
              <a:spcBef>
                <a:spcPts val="20"/>
              </a:spcBef>
              <a:spcAft>
                <a:spcPts val="0"/>
              </a:spcAft>
              <a:buClr>
                <a:schemeClr val="folHlink"/>
              </a:buClr>
              <a:buSzPct val="60000"/>
              <a:buNone/>
            </a:pPr>
            <a:r>
              <a:rPr lang="en-US" altLang="x-none" sz="2520" dirty="0">
                <a:latin typeface="Tahoma" panose="020B0604030504040204" pitchFamily="34" charset="0"/>
                <a:ea typeface="华文中宋" panose="02010600040101010101" pitchFamily="2" charset="-122"/>
              </a:rPr>
              <a:t>		</a:t>
            </a:r>
            <a:r>
              <a:rPr lang="en-US" altLang="zh-CN" sz="2520" dirty="0">
                <a:latin typeface="Tahoma" panose="020B0604030504040204" pitchFamily="34" charset="0"/>
                <a:ea typeface="华文中宋" panose="02010600040101010101" pitchFamily="2" charset="-122"/>
              </a:rPr>
              <a:t>……</a:t>
            </a:r>
          </a:p>
          <a:p>
            <a:pPr marL="342900" lvl="0" indent="-342900" eaLnBrk="1" hangingPunct="1">
              <a:lnSpc>
                <a:spcPct val="90000"/>
              </a:lnSpc>
              <a:spcBef>
                <a:spcPts val="20"/>
              </a:spcBef>
              <a:buClr>
                <a:schemeClr val="folHlink"/>
              </a:buClr>
              <a:buSzPct val="60000"/>
              <a:buNone/>
            </a:pPr>
            <a:r>
              <a:rPr lang="en-US" altLang="zh-CN" sz="2520" dirty="0">
                <a:latin typeface="Tahoma" panose="020B0604030504040204" pitchFamily="34" charset="0"/>
                <a:ea typeface="华文中宋" panose="02010600040101010101" pitchFamily="2" charset="-122"/>
              </a:rPr>
              <a:t>}</a:t>
            </a:r>
          </a:p>
        </p:txBody>
      </p:sp>
      <p:sp>
        <p:nvSpPr>
          <p:cNvPr id="40966" name="Rectangle 6"/>
          <p:cNvSpPr/>
          <p:nvPr/>
        </p:nvSpPr>
        <p:spPr>
          <a:xfrm>
            <a:off x="2760345" y="2480310"/>
            <a:ext cx="5920740" cy="3772535"/>
          </a:xfrm>
          <a:prstGeom prst="rect">
            <a:avLst/>
          </a:prstGeom>
          <a:noFill/>
          <a:ln w="9525" cap="flat" cmpd="sng">
            <a:solidFill>
              <a:schemeClr val="tx1"/>
            </a:solidFill>
            <a:prstDash val="solid"/>
            <a:miter/>
            <a:headEnd type="none" w="med" len="med"/>
            <a:tailEnd type="none" w="med" len="med"/>
          </a:ln>
        </p:spPr>
        <p:txBody>
          <a:bodyPr wrap="none" anchor="ctr"/>
          <a:lstStyle/>
          <a:p>
            <a:pPr eaLnBrk="1" hangingPunct="1"/>
            <a:endParaRPr lang="zh-CN" altLang="en-US" sz="2100" dirty="0">
              <a:latin typeface="Arial" panose="020B0604020202020204" pitchFamily="34" charset="0"/>
            </a:endParaRPr>
          </a:p>
        </p:txBody>
      </p:sp>
      <p:sp>
        <p:nvSpPr>
          <p:cNvPr id="40962" name="Rectangle 2"/>
          <p:cNvSpPr/>
          <p:nvPr/>
        </p:nvSpPr>
        <p:spPr>
          <a:xfrm>
            <a:off x="3560445" y="3836670"/>
            <a:ext cx="4800600" cy="1604010"/>
          </a:xfrm>
          <a:prstGeom prst="rect">
            <a:avLst/>
          </a:prstGeom>
          <a:noFill/>
          <a:ln w="9525" cap="flat" cmpd="sng">
            <a:solidFill>
              <a:schemeClr val="tx1"/>
            </a:solidFill>
            <a:prstDash val="solid"/>
            <a:miter/>
            <a:headEnd type="none" w="med" len="med"/>
            <a:tailEnd type="none" w="med" len="med"/>
          </a:ln>
        </p:spPr>
        <p:txBody>
          <a:bodyPr wrap="none" anchor="ctr"/>
          <a:lstStyle/>
          <a:p>
            <a:pPr eaLnBrk="1" hangingPunct="1"/>
            <a:endParaRPr lang="zh-CN" altLang="en-US" sz="2100" dirty="0">
              <a:latin typeface="Arial" panose="020B0604020202020204" pitchFamily="34" charset="0"/>
            </a:endParaRPr>
          </a:p>
        </p:txBody>
      </p:sp>
      <p:sp>
        <p:nvSpPr>
          <p:cNvPr id="40963" name="Rectangle 3"/>
          <p:cNvSpPr>
            <a:spLocks noGrp="1"/>
          </p:cNvSpPr>
          <p:nvPr>
            <p:ph type="title"/>
          </p:nvPr>
        </p:nvSpPr>
        <p:spPr/>
        <p:txBody>
          <a:bodyPr vert="horz" wrap="square" lIns="96011" tIns="48005" rIns="96011" bIns="48005" anchor="ctr"/>
          <a:lstStyle/>
          <a:p>
            <a:pPr eaLnBrk="1" hangingPunct="1">
              <a:spcAft>
                <a:spcPts val="0"/>
              </a:spcAft>
            </a:pPr>
            <a:r>
              <a:rPr lang="zh-CN" altLang="en-US" sz="3200" dirty="0"/>
              <a:t>变量</a:t>
            </a:r>
          </a:p>
        </p:txBody>
      </p:sp>
      <p:sp>
        <p:nvSpPr>
          <p:cNvPr id="40964" name="Rectangle 4"/>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highlight>
                  <a:srgbClr val="FFFF00"/>
                </a:highlight>
              </a:rPr>
              <a:t>变量的作用域</a:t>
            </a:r>
          </a:p>
        </p:txBody>
      </p:sp>
      <p:sp>
        <p:nvSpPr>
          <p:cNvPr id="40967" name="Rectangle 7"/>
          <p:cNvSpPr/>
          <p:nvPr/>
        </p:nvSpPr>
        <p:spPr>
          <a:xfrm>
            <a:off x="891362" y="2640330"/>
            <a:ext cx="1520190" cy="960120"/>
          </a:xfrm>
          <a:prstGeom prst="rect">
            <a:avLst/>
          </a:prstGeom>
          <a:noFill/>
          <a:ln w="9525">
            <a:noFill/>
          </a:ln>
        </p:spPr>
        <p:txBody>
          <a:bodyPr wrap="none" anchor="ctr"/>
          <a:lstStyle/>
          <a:p>
            <a:pPr eaLnBrk="1" hangingPunct="1">
              <a:lnSpc>
                <a:spcPct val="90000"/>
              </a:lnSpc>
              <a:spcBef>
                <a:spcPct val="20000"/>
              </a:spcBef>
              <a:spcAft>
                <a:spcPts val="0"/>
              </a:spcAft>
              <a:buClr>
                <a:schemeClr val="folHlink"/>
              </a:buClr>
              <a:buSzPct val="6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成员变量</a:t>
            </a:r>
          </a:p>
          <a:p>
            <a:pPr eaLnBrk="1" hangingPunct="1">
              <a:lnSpc>
                <a:spcPct val="90000"/>
              </a:lnSpc>
              <a:spcBef>
                <a:spcPts val="20"/>
              </a:spcBef>
              <a:buClr>
                <a:schemeClr val="folHlink"/>
              </a:buClr>
              <a:buSzPct val="6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范围</a:t>
            </a:r>
          </a:p>
        </p:txBody>
      </p:sp>
      <p:sp>
        <p:nvSpPr>
          <p:cNvPr id="40968" name="Line 8"/>
          <p:cNvSpPr/>
          <p:nvPr/>
        </p:nvSpPr>
        <p:spPr>
          <a:xfrm>
            <a:off x="2200275" y="2960370"/>
            <a:ext cx="560070" cy="0"/>
          </a:xfrm>
          <a:prstGeom prst="line">
            <a:avLst/>
          </a:prstGeom>
          <a:ln w="9525" cap="flat" cmpd="sng">
            <a:solidFill>
              <a:schemeClr val="tx1"/>
            </a:solidFill>
            <a:prstDash val="solid"/>
            <a:headEnd type="none" w="med" len="med"/>
            <a:tailEnd type="triangle" w="med" len="med"/>
          </a:ln>
        </p:spPr>
      </p:sp>
      <p:sp>
        <p:nvSpPr>
          <p:cNvPr id="40969" name="Rectangle 9"/>
          <p:cNvSpPr/>
          <p:nvPr/>
        </p:nvSpPr>
        <p:spPr>
          <a:xfrm>
            <a:off x="880110" y="4080510"/>
            <a:ext cx="1520190" cy="800100"/>
          </a:xfrm>
          <a:prstGeom prst="rect">
            <a:avLst/>
          </a:prstGeom>
          <a:noFill/>
          <a:ln w="9525">
            <a:noFill/>
          </a:ln>
        </p:spPr>
        <p:txBody>
          <a:bodyPr wrap="none" anchor="ctr"/>
          <a:lstStyle/>
          <a:p>
            <a:pPr eaLnBrk="1" hangingPunct="1">
              <a:lnSpc>
                <a:spcPct val="90000"/>
              </a:lnSpc>
              <a:spcBef>
                <a:spcPct val="20000"/>
              </a:spcBef>
              <a:spcAft>
                <a:spcPts val="0"/>
              </a:spcAft>
              <a:buClr>
                <a:schemeClr val="folHlink"/>
              </a:buClr>
              <a:buSzPct val="6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方法参数</a:t>
            </a:r>
          </a:p>
          <a:p>
            <a:pPr eaLnBrk="1" hangingPunct="1">
              <a:lnSpc>
                <a:spcPct val="90000"/>
              </a:lnSpc>
              <a:spcBef>
                <a:spcPts val="20"/>
              </a:spcBef>
              <a:buClr>
                <a:schemeClr val="folHlink"/>
              </a:buClr>
              <a:buSzPct val="6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范围</a:t>
            </a:r>
          </a:p>
        </p:txBody>
      </p:sp>
      <p:sp>
        <p:nvSpPr>
          <p:cNvPr id="40970" name="Line 10"/>
          <p:cNvSpPr/>
          <p:nvPr/>
        </p:nvSpPr>
        <p:spPr>
          <a:xfrm>
            <a:off x="2280285" y="4320540"/>
            <a:ext cx="1280160" cy="0"/>
          </a:xfrm>
          <a:prstGeom prst="line">
            <a:avLst/>
          </a:prstGeom>
          <a:ln w="9525" cap="flat" cmpd="sng">
            <a:solidFill>
              <a:schemeClr val="tx1"/>
            </a:solidFill>
            <a:prstDash val="solid"/>
            <a:headEnd type="none" w="med" len="med"/>
            <a:tailEnd type="triangle" w="med" len="med"/>
          </a:ln>
        </p:spPr>
      </p:sp>
      <p:sp>
        <p:nvSpPr>
          <p:cNvPr id="40971" name="Rectangle 11"/>
          <p:cNvSpPr/>
          <p:nvPr/>
        </p:nvSpPr>
        <p:spPr>
          <a:xfrm>
            <a:off x="3800475" y="4560570"/>
            <a:ext cx="4400550" cy="800100"/>
          </a:xfrm>
          <a:prstGeom prst="rect">
            <a:avLst/>
          </a:prstGeom>
          <a:noFill/>
          <a:ln w="9525" cap="flat" cmpd="sng">
            <a:solidFill>
              <a:schemeClr val="tx1"/>
            </a:solidFill>
            <a:prstDash val="solid"/>
            <a:miter/>
            <a:headEnd type="none" w="med" len="med"/>
            <a:tailEnd type="none" w="med" len="med"/>
          </a:ln>
        </p:spPr>
        <p:txBody>
          <a:bodyPr wrap="none" anchor="ctr"/>
          <a:lstStyle/>
          <a:p>
            <a:pPr eaLnBrk="1" hangingPunct="1"/>
            <a:endParaRPr lang="zh-CN" altLang="en-US" sz="2100" dirty="0">
              <a:latin typeface="Arial" panose="020B0604020202020204" pitchFamily="34" charset="0"/>
            </a:endParaRPr>
          </a:p>
        </p:txBody>
      </p:sp>
      <p:sp>
        <p:nvSpPr>
          <p:cNvPr id="40972" name="Line 12"/>
          <p:cNvSpPr/>
          <p:nvPr/>
        </p:nvSpPr>
        <p:spPr>
          <a:xfrm>
            <a:off x="2280285" y="5120640"/>
            <a:ext cx="1520190" cy="0"/>
          </a:xfrm>
          <a:prstGeom prst="line">
            <a:avLst/>
          </a:prstGeom>
          <a:ln w="9525" cap="flat" cmpd="sng">
            <a:solidFill>
              <a:schemeClr val="tx1"/>
            </a:solidFill>
            <a:prstDash val="solid"/>
            <a:headEnd type="none" w="med" len="med"/>
            <a:tailEnd type="triangle" w="med" len="med"/>
          </a:ln>
        </p:spPr>
      </p:sp>
      <p:sp>
        <p:nvSpPr>
          <p:cNvPr id="40973" name="Rectangle 13"/>
          <p:cNvSpPr/>
          <p:nvPr/>
        </p:nvSpPr>
        <p:spPr>
          <a:xfrm>
            <a:off x="840105" y="4960620"/>
            <a:ext cx="1520190" cy="800100"/>
          </a:xfrm>
          <a:prstGeom prst="rect">
            <a:avLst/>
          </a:prstGeom>
          <a:noFill/>
          <a:ln w="9525">
            <a:noFill/>
          </a:ln>
        </p:spPr>
        <p:txBody>
          <a:bodyPr wrap="none" anchor="ctr"/>
          <a:lstStyle/>
          <a:p>
            <a:pPr eaLnBrk="1" hangingPunct="1">
              <a:lnSpc>
                <a:spcPct val="90000"/>
              </a:lnSpc>
              <a:spcBef>
                <a:spcPct val="20000"/>
              </a:spcBef>
              <a:spcAft>
                <a:spcPts val="0"/>
              </a:spcAft>
              <a:buClr>
                <a:schemeClr val="folHlink"/>
              </a:buClr>
              <a:buSzPct val="6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局部变量</a:t>
            </a:r>
          </a:p>
          <a:p>
            <a:pPr eaLnBrk="1" hangingPunct="1">
              <a:lnSpc>
                <a:spcPct val="90000"/>
              </a:lnSpc>
              <a:spcBef>
                <a:spcPts val="20"/>
              </a:spcBef>
              <a:buClr>
                <a:schemeClr val="folHlink"/>
              </a:buClr>
              <a:buSzPct val="6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范围</a:t>
            </a: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p:nvPr/>
        </p:nvSpPr>
        <p:spPr>
          <a:xfrm>
            <a:off x="3400425" y="4480560"/>
            <a:ext cx="5200650" cy="176022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lstStyle/>
          <a:p>
            <a:pPr eaLnBrk="1" hangingPunct="1"/>
            <a:endParaRPr lang="zh-CN" altLang="en-US" sz="2100" dirty="0">
              <a:latin typeface="Arial" panose="020B0604020202020204" pitchFamily="34" charset="0"/>
            </a:endParaRPr>
          </a:p>
        </p:txBody>
      </p:sp>
      <p:sp>
        <p:nvSpPr>
          <p:cNvPr id="41987" name="Rectangle 3"/>
          <p:cNvSpPr>
            <a:spLocks noGrp="1"/>
          </p:cNvSpPr>
          <p:nvPr>
            <p:ph type="title"/>
          </p:nvPr>
        </p:nvSpPr>
        <p:spPr/>
        <p:txBody>
          <a:bodyPr vert="horz" wrap="square" lIns="96011" tIns="48005" rIns="96011" bIns="48005" anchor="ctr"/>
          <a:lstStyle/>
          <a:p>
            <a:pPr eaLnBrk="1" hangingPunct="1">
              <a:spcAft>
                <a:spcPts val="0"/>
              </a:spcAft>
            </a:pPr>
            <a:r>
              <a:rPr lang="zh-CN" altLang="en-US" sz="3200" dirty="0"/>
              <a:t>变量</a:t>
            </a:r>
          </a:p>
        </p:txBody>
      </p:sp>
      <p:sp>
        <p:nvSpPr>
          <p:cNvPr id="41988" name="Rectangle 4"/>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变量的作用域</a:t>
            </a:r>
            <a:r>
              <a:rPr lang="en-US" altLang="zh-CN" dirty="0"/>
              <a:t>—</a:t>
            </a:r>
            <a:r>
              <a:rPr lang="zh-CN" altLang="en-US" dirty="0"/>
              <a:t>变量的使用范围</a:t>
            </a:r>
          </a:p>
        </p:txBody>
      </p:sp>
      <p:sp>
        <p:nvSpPr>
          <p:cNvPr id="41989" name="Rectangle 5"/>
          <p:cNvSpPr/>
          <p:nvPr/>
        </p:nvSpPr>
        <p:spPr>
          <a:xfrm>
            <a:off x="2440305" y="2000250"/>
            <a:ext cx="6240780" cy="4720590"/>
          </a:xfrm>
          <a:prstGeom prst="rect">
            <a:avLst/>
          </a:prstGeom>
          <a:noFill/>
          <a:ln w="9525">
            <a:noFill/>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342900" lvl="0" indent="-342900" eaLnBrk="1" hangingPunct="1">
              <a:lnSpc>
                <a:spcPct val="90000"/>
              </a:lnSpc>
              <a:spcAft>
                <a:spcPts val="0"/>
              </a:spcAft>
              <a:buClr>
                <a:schemeClr val="folHlink"/>
              </a:buClr>
              <a:buSzPct val="60000"/>
              <a:buNone/>
            </a:pPr>
            <a:r>
              <a:rPr lang="en-US" altLang="zh-CN" sz="2400" dirty="0">
                <a:latin typeface="Tahoma" panose="020B0604030504040204" pitchFamily="34" charset="0"/>
                <a:ea typeface="华文中宋" panose="02010600040101010101" pitchFamily="2" charset="-122"/>
              </a:rPr>
              <a:t>class Spot {</a:t>
            </a:r>
          </a:p>
          <a:p>
            <a:pPr marL="342900" lvl="0" indent="-342900" eaLnBrk="1" hangingPunct="1">
              <a:lnSpc>
                <a:spcPct val="90000"/>
              </a:lnSpc>
              <a:spcBef>
                <a:spcPts val="20"/>
              </a:spcBef>
              <a:spcAft>
                <a:spcPts val="0"/>
              </a:spcAft>
              <a:buClr>
                <a:schemeClr val="folHlink"/>
              </a:buClr>
              <a:buSzPct val="60000"/>
              <a:buNone/>
            </a:pPr>
            <a:r>
              <a:rPr lang="en-US" altLang="zh-CN" sz="2400" dirty="0">
                <a:latin typeface="Tahoma" panose="020B0604030504040204" pitchFamily="34" charset="0"/>
                <a:ea typeface="华文中宋" panose="02010600040101010101" pitchFamily="2" charset="-122"/>
              </a:rPr>
              <a:t>		final static Spot st = new Spot(1, 2);</a:t>
            </a:r>
          </a:p>
          <a:p>
            <a:pPr marL="342900" lvl="0" indent="-342900" eaLnBrk="1" hangingPunct="1">
              <a:lnSpc>
                <a:spcPct val="90000"/>
              </a:lnSpc>
              <a:spcBef>
                <a:spcPts val="20"/>
              </a:spcBef>
              <a:spcAft>
                <a:spcPts val="0"/>
              </a:spcAft>
              <a:buClr>
                <a:schemeClr val="folHlink"/>
              </a:buClr>
              <a:buSzPct val="60000"/>
              <a:buNone/>
            </a:pPr>
            <a:r>
              <a:rPr lang="en-US" altLang="zh-CN" sz="2400" dirty="0">
                <a:latin typeface="Tahoma" panose="020B0604030504040204" pitchFamily="34" charset="0"/>
                <a:ea typeface="华文中宋" panose="02010600040101010101" pitchFamily="2" charset="-122"/>
              </a:rPr>
              <a:t>	</a:t>
            </a:r>
          </a:p>
          <a:p>
            <a:pPr marL="342900" lvl="0" indent="-342900" eaLnBrk="1" hangingPunct="1">
              <a:lnSpc>
                <a:spcPct val="90000"/>
              </a:lnSpc>
              <a:spcBef>
                <a:spcPts val="20"/>
              </a:spcBef>
              <a:spcAft>
                <a:spcPts val="0"/>
              </a:spcAft>
              <a:buClr>
                <a:schemeClr val="folHlink"/>
              </a:buClr>
              <a:buSzPct val="60000"/>
              <a:buNone/>
            </a:pPr>
            <a:r>
              <a:rPr lang="en-US" altLang="zh-CN" sz="2400" dirty="0">
                <a:latin typeface="Tahoma" panose="020B0604030504040204" pitchFamily="34" charset="0"/>
                <a:ea typeface="华文中宋" panose="02010600040101010101" pitchFamily="2" charset="-122"/>
              </a:rPr>
              <a:t>		int a, b;</a:t>
            </a:r>
          </a:p>
          <a:p>
            <a:pPr marL="342900" lvl="0" indent="-342900" eaLnBrk="1" hangingPunct="1">
              <a:lnSpc>
                <a:spcPct val="90000"/>
              </a:lnSpc>
              <a:spcBef>
                <a:spcPts val="20"/>
              </a:spcBef>
              <a:spcAft>
                <a:spcPts val="0"/>
              </a:spcAft>
              <a:buClr>
                <a:schemeClr val="folHlink"/>
              </a:buClr>
              <a:buSzPct val="60000"/>
              <a:buNone/>
            </a:pPr>
            <a:r>
              <a:rPr lang="en-US" altLang="zh-CN" sz="2400" dirty="0">
                <a:latin typeface="Tahoma" panose="020B0604030504040204" pitchFamily="34" charset="0"/>
                <a:ea typeface="华文中宋" panose="02010600040101010101" pitchFamily="2" charset="-122"/>
              </a:rPr>
              <a:t>		int Count;</a:t>
            </a:r>
          </a:p>
          <a:p>
            <a:pPr marL="342900" lvl="0" indent="-342900" eaLnBrk="1" hangingPunct="1">
              <a:lnSpc>
                <a:spcPct val="90000"/>
              </a:lnSpc>
              <a:buClr>
                <a:schemeClr val="folHlink"/>
              </a:buClr>
              <a:buSzPct val="60000"/>
              <a:buNone/>
            </a:pPr>
            <a:endParaRPr lang="en-US" altLang="zh-CN" sz="2400" dirty="0">
              <a:latin typeface="Tahoma" panose="020B0604030504040204" pitchFamily="34" charset="0"/>
              <a:ea typeface="华文中宋" panose="02010600040101010101" pitchFamily="2" charset="-122"/>
            </a:endParaRPr>
          </a:p>
          <a:p>
            <a:pPr marL="342900" lvl="0" indent="-342900" eaLnBrk="1" hangingPunct="1">
              <a:lnSpc>
                <a:spcPct val="90000"/>
              </a:lnSpc>
              <a:buClr>
                <a:schemeClr val="folHlink"/>
              </a:buClr>
              <a:buSzPct val="60000"/>
              <a:buNone/>
            </a:pPr>
            <a:endParaRPr lang="en-US" altLang="zh-CN" sz="2400" dirty="0">
              <a:latin typeface="Tahoma" panose="020B0604030504040204" pitchFamily="34" charset="0"/>
              <a:ea typeface="华文中宋" panose="02010600040101010101" pitchFamily="2" charset="-122"/>
            </a:endParaRPr>
          </a:p>
          <a:p>
            <a:pPr marL="342900" lvl="0" indent="-342900" eaLnBrk="1" hangingPunct="1">
              <a:lnSpc>
                <a:spcPct val="90000"/>
              </a:lnSpc>
              <a:spcBef>
                <a:spcPts val="20"/>
              </a:spcBef>
              <a:spcAft>
                <a:spcPts val="0"/>
              </a:spcAft>
              <a:buClr>
                <a:schemeClr val="folHlink"/>
              </a:buClr>
              <a:buSzPct val="60000"/>
              <a:buNone/>
            </a:pPr>
            <a:r>
              <a:rPr lang="en-US" altLang="zh-CN" sz="2400" dirty="0">
                <a:latin typeface="Tahoma" panose="020B0604030504040204" pitchFamily="34" charset="0"/>
                <a:ea typeface="华文中宋" panose="02010600040101010101" pitchFamily="2" charset="-122"/>
              </a:rPr>
              <a:t>		Spot(int a, int b) {</a:t>
            </a:r>
          </a:p>
          <a:p>
            <a:pPr marL="342900" lvl="0" indent="-342900" eaLnBrk="1" hangingPunct="1">
              <a:lnSpc>
                <a:spcPct val="90000"/>
              </a:lnSpc>
              <a:spcBef>
                <a:spcPts val="20"/>
              </a:spcBef>
              <a:spcAft>
                <a:spcPts val="0"/>
              </a:spcAft>
              <a:buClr>
                <a:schemeClr val="folHlink"/>
              </a:buClr>
              <a:buSzPct val="60000"/>
              <a:buNone/>
            </a:pPr>
            <a:r>
              <a:rPr lang="en-US" altLang="zh-CN" sz="2400" dirty="0">
                <a:latin typeface="Tahoma" panose="020B0604030504040204" pitchFamily="34" charset="0"/>
                <a:ea typeface="华文中宋" panose="02010600040101010101" pitchFamily="2" charset="-122"/>
              </a:rPr>
              <a:t>			this.a = a;</a:t>
            </a:r>
          </a:p>
          <a:p>
            <a:pPr marL="342900" lvl="0" indent="-342900" eaLnBrk="1" hangingPunct="1">
              <a:lnSpc>
                <a:spcPct val="90000"/>
              </a:lnSpc>
              <a:spcBef>
                <a:spcPts val="20"/>
              </a:spcBef>
              <a:spcAft>
                <a:spcPts val="0"/>
              </a:spcAft>
              <a:buClr>
                <a:schemeClr val="folHlink"/>
              </a:buClr>
              <a:buSzPct val="60000"/>
              <a:buNone/>
            </a:pPr>
            <a:r>
              <a:rPr lang="en-US" altLang="zh-CN" sz="2400" dirty="0">
                <a:latin typeface="Tahoma" panose="020B0604030504040204" pitchFamily="34" charset="0"/>
                <a:ea typeface="华文中宋" panose="02010600040101010101" pitchFamily="2" charset="-122"/>
              </a:rPr>
              <a:t>			this.b = b;</a:t>
            </a:r>
          </a:p>
          <a:p>
            <a:pPr marL="342900" lvl="0" indent="-342900" eaLnBrk="1" hangingPunct="1">
              <a:lnSpc>
                <a:spcPct val="90000"/>
              </a:lnSpc>
              <a:spcBef>
                <a:spcPts val="20"/>
              </a:spcBef>
              <a:spcAft>
                <a:spcPts val="0"/>
              </a:spcAft>
              <a:buClr>
                <a:schemeClr val="folHlink"/>
              </a:buClr>
              <a:buSzPct val="60000"/>
              <a:buNone/>
            </a:pPr>
            <a:r>
              <a:rPr lang="en-US" altLang="zh-CN" sz="2400" dirty="0">
                <a:latin typeface="Tahoma" panose="020B0604030504040204" pitchFamily="34" charset="0"/>
                <a:ea typeface="华文中宋" panose="02010600040101010101" pitchFamily="2" charset="-122"/>
              </a:rPr>
              <a:t>		}</a:t>
            </a:r>
          </a:p>
          <a:p>
            <a:pPr marL="342900" lvl="0" indent="-342900" eaLnBrk="1" hangingPunct="1">
              <a:lnSpc>
                <a:spcPct val="90000"/>
              </a:lnSpc>
              <a:spcBef>
                <a:spcPts val="20"/>
              </a:spcBef>
              <a:buClr>
                <a:schemeClr val="folHlink"/>
              </a:buClr>
              <a:buSzPct val="60000"/>
              <a:buNone/>
            </a:pPr>
            <a:r>
              <a:rPr lang="en-US" altLang="zh-CN" sz="2400" dirty="0">
                <a:latin typeface="Tahoma" panose="020B0604030504040204" pitchFamily="34" charset="0"/>
                <a:ea typeface="华文中宋" panose="02010600040101010101" pitchFamily="2" charset="-122"/>
              </a:rPr>
              <a:t>}</a:t>
            </a:r>
          </a:p>
        </p:txBody>
      </p:sp>
      <p:sp>
        <p:nvSpPr>
          <p:cNvPr id="41990" name="Rectangle 6"/>
          <p:cNvSpPr/>
          <p:nvPr/>
        </p:nvSpPr>
        <p:spPr>
          <a:xfrm>
            <a:off x="2760345" y="2400300"/>
            <a:ext cx="5920740" cy="3840480"/>
          </a:xfrm>
          <a:prstGeom prst="rect">
            <a:avLst/>
          </a:prstGeom>
          <a:noFill/>
          <a:ln w="9525" cap="flat" cmpd="sng">
            <a:solidFill>
              <a:schemeClr val="tx1"/>
            </a:solidFill>
            <a:prstDash val="solid"/>
            <a:miter/>
            <a:headEnd type="none" w="med" len="med"/>
            <a:tailEnd type="none" w="med" len="med"/>
          </a:ln>
        </p:spPr>
        <p:txBody>
          <a:bodyPr wrap="none" anchor="ctr"/>
          <a:lstStyle/>
          <a:p>
            <a:pPr eaLnBrk="1" hangingPunct="1"/>
            <a:endParaRPr lang="zh-CN" altLang="en-US" sz="1800" dirty="0">
              <a:latin typeface="Arial" panose="020B0604020202020204" pitchFamily="34" charset="0"/>
            </a:endParaRPr>
          </a:p>
        </p:txBody>
      </p:sp>
      <p:sp>
        <p:nvSpPr>
          <p:cNvPr id="41991" name="Rectangle 7"/>
          <p:cNvSpPr/>
          <p:nvPr/>
        </p:nvSpPr>
        <p:spPr>
          <a:xfrm>
            <a:off x="840105" y="2240280"/>
            <a:ext cx="1520190" cy="1200150"/>
          </a:xfrm>
          <a:prstGeom prst="rect">
            <a:avLst/>
          </a:prstGeom>
          <a:noFill/>
          <a:ln w="9525">
            <a:noFill/>
          </a:ln>
        </p:spPr>
        <p:txBody>
          <a:bodyPr wrap="none" anchor="ctr"/>
          <a:lstStyle/>
          <a:p>
            <a:pPr eaLnBrk="1" hangingPunct="1">
              <a:lnSpc>
                <a:spcPct val="90000"/>
              </a:lnSpc>
              <a:spcBef>
                <a:spcPct val="20000"/>
              </a:spcBef>
              <a:spcAft>
                <a:spcPts val="0"/>
              </a:spcAft>
              <a:buClr>
                <a:schemeClr val="folHlink"/>
              </a:buClr>
              <a:buSzPct val="6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成员变量</a:t>
            </a:r>
          </a:p>
          <a:p>
            <a:pPr eaLnBrk="1" hangingPunct="1">
              <a:lnSpc>
                <a:spcPct val="90000"/>
              </a:lnSpc>
              <a:spcBef>
                <a:spcPts val="20"/>
              </a:spcBef>
              <a:spcAft>
                <a:spcPts val="0"/>
              </a:spcAft>
              <a:buClr>
                <a:schemeClr val="folHlink"/>
              </a:buClr>
              <a:buSzPct val="6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a,b,Count</a:t>
            </a:r>
          </a:p>
          <a:p>
            <a:pPr eaLnBrk="1" hangingPunct="1">
              <a:lnSpc>
                <a:spcPct val="90000"/>
              </a:lnSpc>
              <a:spcBef>
                <a:spcPts val="20"/>
              </a:spcBef>
              <a:buClr>
                <a:schemeClr val="folHlink"/>
              </a:buClr>
              <a:buSzPct val="6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范围</a:t>
            </a:r>
          </a:p>
        </p:txBody>
      </p:sp>
      <p:sp>
        <p:nvSpPr>
          <p:cNvPr id="41992" name="Line 8"/>
          <p:cNvSpPr/>
          <p:nvPr/>
        </p:nvSpPr>
        <p:spPr>
          <a:xfrm>
            <a:off x="2360295" y="2640330"/>
            <a:ext cx="400050" cy="0"/>
          </a:xfrm>
          <a:prstGeom prst="line">
            <a:avLst/>
          </a:prstGeom>
          <a:ln w="9525" cap="flat" cmpd="sng">
            <a:solidFill>
              <a:schemeClr val="tx1"/>
            </a:solidFill>
            <a:prstDash val="solid"/>
            <a:headEnd type="none" w="med" len="med"/>
            <a:tailEnd type="triangle" w="med" len="med"/>
          </a:ln>
        </p:spPr>
      </p:sp>
      <p:sp>
        <p:nvSpPr>
          <p:cNvPr id="41993" name="Rectangle 9"/>
          <p:cNvSpPr/>
          <p:nvPr/>
        </p:nvSpPr>
        <p:spPr>
          <a:xfrm>
            <a:off x="840105" y="4560570"/>
            <a:ext cx="1520190" cy="1200150"/>
          </a:xfrm>
          <a:prstGeom prst="rect">
            <a:avLst/>
          </a:prstGeom>
          <a:noFill/>
          <a:ln w="9525">
            <a:noFill/>
          </a:ln>
        </p:spPr>
        <p:txBody>
          <a:bodyPr wrap="none" anchor="ctr"/>
          <a:lstStyle/>
          <a:p>
            <a:pPr eaLnBrk="1" hangingPunct="1">
              <a:lnSpc>
                <a:spcPct val="90000"/>
              </a:lnSpc>
              <a:spcBef>
                <a:spcPct val="20000"/>
              </a:spcBef>
              <a:spcAft>
                <a:spcPts val="0"/>
              </a:spcAft>
              <a:buClr>
                <a:schemeClr val="folHlink"/>
              </a:buClr>
              <a:buSzPct val="6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方法参数</a:t>
            </a:r>
          </a:p>
          <a:p>
            <a:pPr eaLnBrk="1" hangingPunct="1">
              <a:lnSpc>
                <a:spcPct val="90000"/>
              </a:lnSpc>
              <a:spcBef>
                <a:spcPts val="20"/>
              </a:spcBef>
              <a:spcAft>
                <a:spcPts val="0"/>
              </a:spcAft>
              <a:buClr>
                <a:schemeClr val="folHlink"/>
              </a:buClr>
              <a:buSzPct val="6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a,b</a:t>
            </a:r>
          </a:p>
          <a:p>
            <a:pPr eaLnBrk="1" hangingPunct="1">
              <a:lnSpc>
                <a:spcPct val="90000"/>
              </a:lnSpc>
              <a:spcBef>
                <a:spcPts val="20"/>
              </a:spcBef>
              <a:buClr>
                <a:schemeClr val="folHlink"/>
              </a:buClr>
              <a:buSzPct val="6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范围</a:t>
            </a:r>
          </a:p>
        </p:txBody>
      </p:sp>
      <p:sp>
        <p:nvSpPr>
          <p:cNvPr id="41994" name="Line 10"/>
          <p:cNvSpPr/>
          <p:nvPr/>
        </p:nvSpPr>
        <p:spPr>
          <a:xfrm>
            <a:off x="2280285" y="4720590"/>
            <a:ext cx="1040130" cy="0"/>
          </a:xfrm>
          <a:prstGeom prst="line">
            <a:avLst/>
          </a:prstGeom>
          <a:ln w="9525" cap="flat" cmpd="sng">
            <a:solidFill>
              <a:schemeClr val="tx1"/>
            </a:solidFill>
            <a:prstDash val="solid"/>
            <a:headEnd type="none" w="med" len="med"/>
            <a:tailEnd type="triangle" w="med" len="med"/>
          </a:ln>
        </p:spPr>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变量</a:t>
            </a:r>
          </a:p>
        </p:txBody>
      </p:sp>
      <p:sp>
        <p:nvSpPr>
          <p:cNvPr id="43011" name="Rectangle 3"/>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作用域</a:t>
            </a:r>
            <a:r>
              <a:rPr lang="en-US" altLang="zh-CN" dirty="0"/>
              <a:t>(Scope)</a:t>
            </a:r>
          </a:p>
          <a:p>
            <a:pPr marL="609600" indent="-609600" eaLnBrk="1" hangingPunct="1">
              <a:buSzPct val="90000"/>
            </a:pPr>
            <a:endParaRPr lang="en-US" altLang="zh-CN" dirty="0"/>
          </a:p>
          <a:p>
            <a:pPr marL="609600" indent="-609600" eaLnBrk="1" hangingPunct="1">
              <a:buSzPct val="90000"/>
            </a:pPr>
            <a:endParaRPr lang="en-US" altLang="zh-CN" dirty="0"/>
          </a:p>
          <a:p>
            <a:pPr marL="609600" indent="-609600" eaLnBrk="1" hangingPunct="1">
              <a:buSzPct val="90000"/>
            </a:pPr>
            <a:endParaRPr lang="en-US" altLang="zh-CN" dirty="0"/>
          </a:p>
          <a:p>
            <a:pPr marL="0" indent="0" eaLnBrk="1" hangingPunct="1">
              <a:spcBef>
                <a:spcPts val="20"/>
              </a:spcBef>
              <a:buSzPct val="90000"/>
              <a:buNone/>
            </a:pPr>
            <a:r>
              <a:rPr lang="zh-CN" altLang="en-US" sz="1800" dirty="0">
                <a:solidFill>
                  <a:srgbClr val="FF0000"/>
                </a:solidFill>
              </a:rPr>
              <a:t>注意：</a:t>
            </a:r>
            <a:r>
              <a:rPr lang="en-US" altLang="zh-CN" sz="1800" dirty="0">
                <a:solidFill>
                  <a:srgbClr val="FF0000"/>
                </a:solidFill>
              </a:rPr>
              <a:t>Java</a:t>
            </a:r>
            <a:r>
              <a:rPr lang="zh-CN" altLang="en-US" sz="1800" dirty="0">
                <a:solidFill>
                  <a:srgbClr val="FF0000"/>
                </a:solidFill>
              </a:rPr>
              <a:t>中不允许</a:t>
            </a:r>
            <a:r>
              <a:rPr lang="zh-CN" altLang="en-US" sz="2000" b="1" dirty="0">
                <a:solidFill>
                  <a:srgbClr val="FF0000"/>
                </a:solidFill>
              </a:rPr>
              <a:t>局部</a:t>
            </a:r>
            <a:r>
              <a:rPr lang="zh-CN" altLang="en-US" sz="1800" dirty="0">
                <a:solidFill>
                  <a:srgbClr val="FF0000"/>
                </a:solidFill>
              </a:rPr>
              <a:t>变量的嵌套定义，以下代码</a:t>
            </a:r>
            <a:r>
              <a:rPr lang="en-US" altLang="zh-CN" sz="1800" dirty="0">
                <a:solidFill>
                  <a:srgbClr val="FF0000"/>
                </a:solidFill>
              </a:rPr>
              <a:t>c</a:t>
            </a:r>
            <a:r>
              <a:rPr lang="zh-CN" altLang="en-US" sz="1800" dirty="0">
                <a:solidFill>
                  <a:srgbClr val="FF0000"/>
                </a:solidFill>
              </a:rPr>
              <a:t>允许，</a:t>
            </a:r>
            <a:r>
              <a:rPr lang="en-US" altLang="zh-CN" sz="1800" dirty="0">
                <a:solidFill>
                  <a:srgbClr val="FF0000"/>
                </a:solidFill>
              </a:rPr>
              <a:t>Java</a:t>
            </a:r>
            <a:r>
              <a:rPr lang="zh-CN" altLang="en-US" sz="1800" dirty="0">
                <a:solidFill>
                  <a:srgbClr val="FF0000"/>
                </a:solidFill>
              </a:rPr>
              <a:t>不允许。</a:t>
            </a:r>
          </a:p>
        </p:txBody>
      </p:sp>
      <p:sp>
        <p:nvSpPr>
          <p:cNvPr id="43012" name="Rectangle 4"/>
          <p:cNvSpPr/>
          <p:nvPr/>
        </p:nvSpPr>
        <p:spPr>
          <a:xfrm>
            <a:off x="1968500" y="2066290"/>
            <a:ext cx="6480810" cy="1790700"/>
          </a:xfrm>
          <a:prstGeom prst="rect">
            <a:avLst/>
          </a:prstGeom>
          <a:noFill/>
          <a:ln w="9525">
            <a:noFill/>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342900" lvl="0" indent="-342900" eaLnBrk="1" hangingPunct="1">
              <a:lnSpc>
                <a:spcPct val="90000"/>
              </a:lnSpc>
              <a:spcAft>
                <a:spcPts val="0"/>
              </a:spcAft>
              <a:buClr>
                <a:schemeClr val="folHlink"/>
              </a:buClr>
              <a:buSzPct val="60000"/>
              <a:buNone/>
            </a:pPr>
            <a:r>
              <a:rPr lang="en-US" altLang="zh-CN" sz="1800" dirty="0">
                <a:latin typeface="Tahoma" panose="020B0604030504040204" pitchFamily="34" charset="0"/>
                <a:ea typeface="华文中宋" panose="02010600040101010101" pitchFamily="2" charset="-122"/>
              </a:rPr>
              <a:t>if ( ... ) {</a:t>
            </a:r>
          </a:p>
          <a:p>
            <a:pPr marL="342900" lvl="0" indent="-342900" eaLnBrk="1" hangingPunct="1">
              <a:lnSpc>
                <a:spcPct val="90000"/>
              </a:lnSpc>
              <a:spcBef>
                <a:spcPts val="20"/>
              </a:spcBef>
              <a:spcAft>
                <a:spcPts val="0"/>
              </a:spcAft>
              <a:buClr>
                <a:schemeClr val="folHlink"/>
              </a:buClr>
              <a:buSzPct val="60000"/>
              <a:buNone/>
            </a:pPr>
            <a:r>
              <a:rPr lang="en-US" altLang="zh-CN" sz="1800" dirty="0">
                <a:latin typeface="Tahoma" panose="020B0604030504040204" pitchFamily="34" charset="0"/>
                <a:ea typeface="华文中宋" panose="02010600040101010101" pitchFamily="2" charset="-122"/>
              </a:rPr>
              <a:t>    int i = 17;</a:t>
            </a:r>
          </a:p>
          <a:p>
            <a:pPr marL="342900" lvl="0" indent="-342900" eaLnBrk="1" hangingPunct="1">
              <a:lnSpc>
                <a:spcPct val="90000"/>
              </a:lnSpc>
              <a:spcBef>
                <a:spcPts val="20"/>
              </a:spcBef>
              <a:spcAft>
                <a:spcPts val="0"/>
              </a:spcAft>
              <a:buClr>
                <a:schemeClr val="folHlink"/>
              </a:buClr>
              <a:buSzPct val="60000"/>
              <a:buNone/>
            </a:pPr>
            <a:r>
              <a:rPr lang="en-US" altLang="zh-CN" sz="1800" dirty="0">
                <a:latin typeface="Tahoma" panose="020B0604030504040204" pitchFamily="34" charset="0"/>
                <a:ea typeface="华文中宋" panose="02010600040101010101" pitchFamily="2" charset="-122"/>
              </a:rPr>
              <a:t>    ...</a:t>
            </a:r>
          </a:p>
          <a:p>
            <a:pPr marL="342900" lvl="0" indent="-342900" eaLnBrk="1" hangingPunct="1">
              <a:lnSpc>
                <a:spcPct val="90000"/>
              </a:lnSpc>
              <a:spcBef>
                <a:spcPts val="20"/>
              </a:spcBef>
              <a:spcAft>
                <a:spcPts val="0"/>
              </a:spcAft>
              <a:buClr>
                <a:schemeClr val="folHlink"/>
              </a:buClr>
              <a:buSzPct val="60000"/>
              <a:buNone/>
            </a:pPr>
            <a:r>
              <a:rPr lang="en-US" altLang="zh-CN" sz="1800" dirty="0">
                <a:latin typeface="Tahoma" panose="020B0604030504040204" pitchFamily="34" charset="0"/>
                <a:ea typeface="华文中宋" panose="02010600040101010101" pitchFamily="2" charset="-122"/>
              </a:rPr>
              <a:t>}</a:t>
            </a:r>
          </a:p>
          <a:p>
            <a:pPr marL="342900" lvl="0" indent="-342900" eaLnBrk="1" hangingPunct="1">
              <a:lnSpc>
                <a:spcPct val="90000"/>
              </a:lnSpc>
              <a:spcBef>
                <a:spcPts val="20"/>
              </a:spcBef>
              <a:buClr>
                <a:schemeClr val="folHlink"/>
              </a:buClr>
              <a:buSzPct val="60000"/>
              <a:buNone/>
            </a:pPr>
            <a:r>
              <a:rPr lang="en-US" altLang="zh-CN" sz="1800" dirty="0">
                <a:latin typeface="Tahoma" panose="020B0604030504040204" pitchFamily="34" charset="0"/>
                <a:ea typeface="华文中宋" panose="02010600040101010101" pitchFamily="2" charset="-122"/>
              </a:rPr>
              <a:t>System.out.println("The value of i = " + </a:t>
            </a:r>
            <a:r>
              <a:rPr lang="en-US" altLang="zh-CN" sz="1800" u="sng" dirty="0">
                <a:solidFill>
                  <a:srgbClr val="FF0000"/>
                </a:solidFill>
                <a:latin typeface="Tahoma" panose="020B0604030504040204" pitchFamily="34" charset="0"/>
                <a:ea typeface="华文中宋" panose="02010600040101010101" pitchFamily="2" charset="-122"/>
              </a:rPr>
              <a:t>i</a:t>
            </a:r>
            <a:r>
              <a:rPr lang="en-US" altLang="zh-CN" sz="1800" dirty="0">
                <a:latin typeface="Tahoma" panose="020B0604030504040204" pitchFamily="34" charset="0"/>
                <a:ea typeface="华文中宋" panose="02010600040101010101" pitchFamily="2" charset="-122"/>
              </a:rPr>
              <a:t>); </a:t>
            </a:r>
          </a:p>
        </p:txBody>
      </p:sp>
      <p:sp>
        <p:nvSpPr>
          <p:cNvPr id="2" name="Rectangle 4"/>
          <p:cNvSpPr/>
          <p:nvPr/>
        </p:nvSpPr>
        <p:spPr>
          <a:xfrm>
            <a:off x="1188720" y="4093845"/>
            <a:ext cx="6480810" cy="1790700"/>
          </a:xfrm>
          <a:prstGeom prst="rect">
            <a:avLst/>
          </a:prstGeom>
          <a:noFill/>
          <a:ln w="9525">
            <a:noFill/>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342900" lvl="0" indent="-342900" eaLnBrk="1" hangingPunct="1">
              <a:lnSpc>
                <a:spcPct val="90000"/>
              </a:lnSpc>
              <a:spcAft>
                <a:spcPts val="0"/>
              </a:spcAft>
              <a:buClr>
                <a:schemeClr val="folHlink"/>
              </a:buClr>
              <a:buSzPct val="60000"/>
              <a:buNone/>
            </a:pPr>
            <a:r>
              <a:rPr lang="en-US" altLang="zh-CN" sz="1800" dirty="0">
                <a:solidFill>
                  <a:srgbClr val="FF0000"/>
                </a:solidFill>
                <a:latin typeface="Tahoma" panose="020B0604030504040204" pitchFamily="34" charset="0"/>
                <a:ea typeface="华文中宋" panose="02010600040101010101" pitchFamily="2" charset="-122"/>
              </a:rPr>
              <a:t>int i=10;</a:t>
            </a:r>
          </a:p>
          <a:p>
            <a:pPr marL="342900" lvl="0" indent="-342900" eaLnBrk="1" hangingPunct="1">
              <a:lnSpc>
                <a:spcPct val="90000"/>
              </a:lnSpc>
              <a:spcBef>
                <a:spcPts val="20"/>
              </a:spcBef>
              <a:spcAft>
                <a:spcPts val="0"/>
              </a:spcAft>
              <a:buClr>
                <a:schemeClr val="folHlink"/>
              </a:buClr>
              <a:buSzPct val="60000"/>
              <a:buNone/>
            </a:pPr>
            <a:r>
              <a:rPr lang="en-US" altLang="zh-CN" sz="1800" dirty="0">
                <a:latin typeface="Tahoma" panose="020B0604030504040204" pitchFamily="34" charset="0"/>
                <a:ea typeface="华文中宋" panose="02010600040101010101" pitchFamily="2" charset="-122"/>
              </a:rPr>
              <a:t>if ( ... ) {</a:t>
            </a:r>
          </a:p>
          <a:p>
            <a:pPr marL="342900" lvl="0" indent="-342900" eaLnBrk="1" hangingPunct="1">
              <a:lnSpc>
                <a:spcPct val="90000"/>
              </a:lnSpc>
              <a:spcBef>
                <a:spcPts val="20"/>
              </a:spcBef>
              <a:spcAft>
                <a:spcPts val="0"/>
              </a:spcAft>
              <a:buClr>
                <a:schemeClr val="folHlink"/>
              </a:buClr>
              <a:buSzPct val="60000"/>
              <a:buNone/>
            </a:pPr>
            <a:r>
              <a:rPr lang="en-US" altLang="zh-CN" sz="1800" dirty="0">
                <a:latin typeface="Tahoma" panose="020B0604030504040204" pitchFamily="34" charset="0"/>
                <a:ea typeface="华文中宋" panose="02010600040101010101" pitchFamily="2" charset="-122"/>
              </a:rPr>
              <a:t>    </a:t>
            </a:r>
            <a:r>
              <a:rPr lang="en-US" altLang="zh-CN" sz="1800" dirty="0">
                <a:solidFill>
                  <a:srgbClr val="FF0000"/>
                </a:solidFill>
                <a:latin typeface="Tahoma" panose="020B0604030504040204" pitchFamily="34" charset="0"/>
                <a:ea typeface="华文中宋" panose="02010600040101010101" pitchFamily="2" charset="-122"/>
              </a:rPr>
              <a:t>int i = 17;</a:t>
            </a:r>
          </a:p>
          <a:p>
            <a:pPr marL="342900" lvl="0" indent="-342900" eaLnBrk="1" hangingPunct="1">
              <a:lnSpc>
                <a:spcPct val="90000"/>
              </a:lnSpc>
              <a:spcBef>
                <a:spcPts val="20"/>
              </a:spcBef>
              <a:spcAft>
                <a:spcPts val="0"/>
              </a:spcAft>
              <a:buClr>
                <a:schemeClr val="folHlink"/>
              </a:buClr>
              <a:buSzPct val="60000"/>
              <a:buNone/>
            </a:pPr>
            <a:r>
              <a:rPr lang="en-US" altLang="zh-CN" sz="1800" dirty="0">
                <a:latin typeface="Tahoma" panose="020B0604030504040204" pitchFamily="34" charset="0"/>
                <a:ea typeface="华文中宋" panose="02010600040101010101" pitchFamily="2" charset="-122"/>
              </a:rPr>
              <a:t>    ...</a:t>
            </a:r>
          </a:p>
          <a:p>
            <a:pPr marL="342900" lvl="0" indent="-342900" eaLnBrk="1" hangingPunct="1">
              <a:lnSpc>
                <a:spcPct val="90000"/>
              </a:lnSpc>
              <a:spcBef>
                <a:spcPts val="20"/>
              </a:spcBef>
              <a:spcAft>
                <a:spcPts val="0"/>
              </a:spcAft>
              <a:buClr>
                <a:schemeClr val="folHlink"/>
              </a:buClr>
              <a:buSzPct val="60000"/>
              <a:buNone/>
            </a:pPr>
            <a:r>
              <a:rPr lang="en-US" altLang="zh-CN" sz="1800" dirty="0">
                <a:latin typeface="Tahoma" panose="020B0604030504040204" pitchFamily="34" charset="0"/>
                <a:ea typeface="华文中宋" panose="02010600040101010101" pitchFamily="2" charset="-122"/>
              </a:rPr>
              <a:t>}</a:t>
            </a:r>
          </a:p>
          <a:p>
            <a:pPr marL="342900" lvl="0" indent="-342900" eaLnBrk="1" hangingPunct="1">
              <a:lnSpc>
                <a:spcPct val="90000"/>
              </a:lnSpc>
              <a:spcBef>
                <a:spcPts val="20"/>
              </a:spcBef>
              <a:buClr>
                <a:schemeClr val="folHlink"/>
              </a:buClr>
              <a:buSzPct val="60000"/>
              <a:buNone/>
            </a:pPr>
            <a:r>
              <a:rPr lang="en-US" altLang="zh-CN" sz="1800" dirty="0">
                <a:latin typeface="Tahoma" panose="020B0604030504040204" pitchFamily="34" charset="0"/>
                <a:ea typeface="华文中宋" panose="02010600040101010101" pitchFamily="2" charset="-122"/>
              </a:rPr>
              <a:t> </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p:txBody>
          <a:bodyPr>
            <a:normAutofit fontScale="65000" lnSpcReduction="20000"/>
          </a:bodyPr>
          <a:lstStyle/>
          <a:p>
            <a:pPr algn="l" eaLnBrk="1" hangingPunct="1">
              <a:lnSpc>
                <a:spcPct val="150000"/>
              </a:lnSpc>
              <a:spcAft>
                <a:spcPts val="0"/>
              </a:spcAft>
              <a:buClr>
                <a:srgbClr val="000000"/>
              </a:buClr>
              <a:buSzTx/>
            </a:pPr>
            <a:r>
              <a:rPr lang="zh-CN" altLang="en-US" sz="3200" dirty="0"/>
              <a:t>final变量</a:t>
            </a:r>
          </a:p>
          <a:p>
            <a:pPr marL="800100" lvl="1" indent="-342900" eaLnBrk="1" hangingPunct="1">
              <a:lnSpc>
                <a:spcPct val="150000"/>
              </a:lnSpc>
              <a:spcBef>
                <a:spcPts val="20"/>
              </a:spcBef>
              <a:spcAft>
                <a:spcPts val="0"/>
              </a:spcAft>
              <a:buClr>
                <a:schemeClr val="accent1"/>
              </a:buClr>
              <a:buSzTx/>
            </a:pPr>
            <a:r>
              <a:rPr lang="zh-CN" altLang="en-US" dirty="0"/>
              <a:t>带有关键字</a:t>
            </a:r>
            <a:r>
              <a:rPr lang="en-US" altLang="zh-CN" dirty="0"/>
              <a:t>final</a:t>
            </a:r>
            <a:r>
              <a:rPr lang="zh-CN" altLang="en-US" dirty="0"/>
              <a:t>的变量</a:t>
            </a:r>
          </a:p>
          <a:p>
            <a:pPr marL="990600" lvl="1" indent="-533400" eaLnBrk="1" hangingPunct="1">
              <a:lnSpc>
                <a:spcPct val="150000"/>
              </a:lnSpc>
              <a:spcBef>
                <a:spcPts val="20"/>
              </a:spcBef>
              <a:spcAft>
                <a:spcPts val="0"/>
              </a:spcAft>
              <a:buSzPct val="90000"/>
              <a:buNone/>
            </a:pPr>
            <a:r>
              <a:rPr lang="zh-CN" altLang="en-US" dirty="0"/>
              <a:t>	</a:t>
            </a:r>
            <a:r>
              <a:rPr lang="en-US" altLang="zh-CN" dirty="0"/>
              <a:t>final int aFinalVar = 0;</a:t>
            </a:r>
          </a:p>
          <a:p>
            <a:pPr marL="800100" lvl="1" indent="-342900" eaLnBrk="1" hangingPunct="1">
              <a:lnSpc>
                <a:spcPct val="150000"/>
              </a:lnSpc>
              <a:spcBef>
                <a:spcPts val="20"/>
              </a:spcBef>
              <a:spcAft>
                <a:spcPts val="0"/>
              </a:spcAft>
              <a:buClr>
                <a:schemeClr val="accent1"/>
              </a:buClr>
              <a:buSzTx/>
            </a:pPr>
            <a:r>
              <a:rPr lang="en-US" altLang="zh-CN" dirty="0"/>
              <a:t>final</a:t>
            </a:r>
            <a:r>
              <a:rPr lang="zh-CN" altLang="en-US" dirty="0"/>
              <a:t>变量初始化后不能再改变</a:t>
            </a:r>
          </a:p>
          <a:p>
            <a:pPr marL="990600" lvl="1" indent="-533400" eaLnBrk="1" hangingPunct="1">
              <a:lnSpc>
                <a:spcPct val="150000"/>
              </a:lnSpc>
              <a:spcBef>
                <a:spcPts val="20"/>
              </a:spcBef>
              <a:spcAft>
                <a:spcPts val="0"/>
              </a:spcAft>
              <a:buSzPct val="90000"/>
              <a:buNone/>
            </a:pPr>
            <a:r>
              <a:rPr lang="zh-CN" altLang="en-US" dirty="0"/>
              <a:t>	</a:t>
            </a:r>
            <a:r>
              <a:rPr lang="en-US" altLang="zh-CN" dirty="0"/>
              <a:t>final int blankfinal;</a:t>
            </a:r>
          </a:p>
          <a:p>
            <a:pPr marL="990600" lvl="1" indent="-533400" eaLnBrk="1" hangingPunct="1">
              <a:lnSpc>
                <a:spcPct val="150000"/>
              </a:lnSpc>
              <a:spcBef>
                <a:spcPts val="20"/>
              </a:spcBef>
              <a:spcAft>
                <a:spcPts val="0"/>
              </a:spcAft>
              <a:buSzPct val="90000"/>
              <a:buNone/>
            </a:pPr>
            <a:r>
              <a:rPr lang="en-US" altLang="zh-CN" dirty="0"/>
              <a:t>	. . .</a:t>
            </a:r>
          </a:p>
          <a:p>
            <a:pPr marL="990600" lvl="1" indent="-533400" eaLnBrk="1" hangingPunct="1">
              <a:lnSpc>
                <a:spcPct val="150000"/>
              </a:lnSpc>
              <a:spcBef>
                <a:spcPts val="20"/>
              </a:spcBef>
              <a:spcAft>
                <a:spcPts val="0"/>
              </a:spcAft>
              <a:buSzPct val="90000"/>
              <a:buNone/>
            </a:pPr>
            <a:r>
              <a:rPr lang="en-US" altLang="zh-CN" dirty="0"/>
              <a:t>	blankfinal = 0;</a:t>
            </a:r>
          </a:p>
          <a:p>
            <a:pPr marL="990600" lvl="1" indent="-533400" eaLnBrk="1" hangingPunct="1">
              <a:lnSpc>
                <a:spcPct val="150000"/>
              </a:lnSpc>
              <a:spcBef>
                <a:spcPts val="20"/>
              </a:spcBef>
              <a:spcAft>
                <a:spcPts val="0"/>
              </a:spcAft>
              <a:buSzPct val="90000"/>
              <a:buNone/>
            </a:pPr>
            <a:r>
              <a:rPr lang="en-US" altLang="zh-CN" dirty="0"/>
              <a:t>	… </a:t>
            </a:r>
          </a:p>
          <a:p>
            <a:pPr marL="990600" lvl="1" indent="-533400" eaLnBrk="1" hangingPunct="1">
              <a:lnSpc>
                <a:spcPct val="150000"/>
              </a:lnSpc>
              <a:spcBef>
                <a:spcPts val="20"/>
              </a:spcBef>
              <a:buSzPct val="90000"/>
              <a:buNone/>
            </a:pPr>
            <a:r>
              <a:rPr lang="en-US" altLang="zh-CN" dirty="0"/>
              <a:t>	blankfinal = 3;</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变量</a:t>
            </a:r>
          </a:p>
        </p:txBody>
      </p:sp>
      <p:sp>
        <p:nvSpPr>
          <p:cNvPr id="4" name="内容占位符 3"/>
          <p:cNvSpPr>
            <a:spLocks noGrp="1"/>
          </p:cNvSpPr>
          <p:nvPr>
            <p:ph sz="half" idx="2"/>
          </p:nvPr>
        </p:nvSpPr>
        <p:spPr>
          <a:xfrm>
            <a:off x="5453380" y="4812665"/>
            <a:ext cx="4763770" cy="1334135"/>
          </a:xfrm>
        </p:spPr>
        <p:txBody>
          <a:bodyPr/>
          <a:lstStyle/>
          <a:p>
            <a:pPr>
              <a:spcAft>
                <a:spcPts val="0"/>
              </a:spcAft>
            </a:pPr>
            <a:r>
              <a:rPr lang="en-US" altLang="zh-CN" sz="2000">
                <a:solidFill>
                  <a:srgbClr val="FF0000"/>
                </a:solidFill>
              </a:rPr>
              <a:t>final</a:t>
            </a:r>
            <a:r>
              <a:rPr lang="zh-CN" altLang="zh-CN" sz="2000">
                <a:solidFill>
                  <a:srgbClr val="FF0000"/>
                </a:solidFill>
              </a:rPr>
              <a:t>修饰的成员变量，必须在构造函数中进行初始化</a:t>
            </a:r>
          </a:p>
          <a:p>
            <a:pPr>
              <a:spcBef>
                <a:spcPts val="20"/>
              </a:spcBef>
            </a:pPr>
            <a:r>
              <a:rPr lang="en-US" altLang="zh-CN" sz="2000">
                <a:solidFill>
                  <a:srgbClr val="FF0000"/>
                </a:solidFill>
              </a:rPr>
              <a:t>final</a:t>
            </a:r>
            <a:r>
              <a:rPr lang="zh-CN" altLang="en-US" sz="2000">
                <a:solidFill>
                  <a:srgbClr val="FF0000"/>
                </a:solidFill>
              </a:rPr>
              <a:t>修饰的静态成员变量必须在静态语句块中初始化</a:t>
            </a: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spcAft>
                <a:spcPts val="0"/>
              </a:spcAft>
            </a:pPr>
            <a:r>
              <a:rPr lang="en-US" altLang="zh-CN"/>
              <a:t>var</a:t>
            </a:r>
          </a:p>
        </p:txBody>
      </p:sp>
      <p:sp>
        <p:nvSpPr>
          <p:cNvPr id="7" name="内容占位符 6"/>
          <p:cNvSpPr>
            <a:spLocks noGrp="1"/>
          </p:cNvSpPr>
          <p:nvPr>
            <p:ph idx="1"/>
          </p:nvPr>
        </p:nvSpPr>
        <p:spPr/>
        <p:txBody>
          <a:bodyPr/>
          <a:lstStyle/>
          <a:p>
            <a:pPr>
              <a:spcAft>
                <a:spcPts val="0"/>
              </a:spcAft>
            </a:pPr>
            <a:r>
              <a:rPr lang="en-US" altLang="zh-CN"/>
              <a:t>Jdk10</a:t>
            </a:r>
            <a:r>
              <a:rPr lang="zh-CN" altLang="en-US"/>
              <a:t>之后支持</a:t>
            </a:r>
            <a:r>
              <a:rPr lang="zh-CN" altLang="en-US">
                <a:solidFill>
                  <a:srgbClr val="FF0000"/>
                </a:solidFill>
              </a:rPr>
              <a:t>局部变量</a:t>
            </a:r>
            <a:r>
              <a:rPr lang="zh-CN" altLang="en-US"/>
              <a:t>的</a:t>
            </a:r>
            <a:r>
              <a:rPr lang="en-US" altLang="zh-CN"/>
              <a:t>var</a:t>
            </a:r>
            <a:r>
              <a:rPr lang="zh-CN" altLang="en-US"/>
              <a:t>类型推断</a:t>
            </a:r>
          </a:p>
          <a:p>
            <a:pPr>
              <a:spcBef>
                <a:spcPts val="20"/>
              </a:spcBef>
              <a:spcAft>
                <a:spcPts val="0"/>
              </a:spcAft>
            </a:pPr>
            <a:r>
              <a:rPr lang="zh-CN" altLang="en-US"/>
              <a:t>通过第一次初始化，编译器自动判断变量类型</a:t>
            </a:r>
          </a:p>
          <a:p>
            <a:pPr marL="0" indent="0">
              <a:spcBef>
                <a:spcPts val="20"/>
              </a:spcBef>
              <a:spcAft>
                <a:spcPts val="0"/>
              </a:spcAft>
              <a:buNone/>
            </a:pPr>
            <a:r>
              <a:rPr lang="zh-CN" altLang="en-US"/>
              <a:t>例如： </a:t>
            </a:r>
            <a:r>
              <a:rPr lang="en-US" altLang="zh-CN"/>
              <a:t>var s1=new String(“test”);</a:t>
            </a:r>
          </a:p>
          <a:p>
            <a:pPr>
              <a:spcBef>
                <a:spcPts val="20"/>
              </a:spcBef>
              <a:spcAft>
                <a:spcPts val="0"/>
              </a:spcAft>
            </a:pPr>
            <a:r>
              <a:rPr lang="zh-CN" altLang="en-US"/>
              <a:t>通过</a:t>
            </a:r>
            <a:r>
              <a:rPr lang="en-US" altLang="zh-CN"/>
              <a:t>new String</a:t>
            </a:r>
            <a:r>
              <a:rPr lang="zh-CN" altLang="en-US"/>
              <a:t>，或者其他赋值对象获取当前引用的类型，第一次赋值之后，只能接受该类型可以接受的类型进行赋值。</a:t>
            </a:r>
          </a:p>
          <a:p>
            <a:pPr marL="0" indent="0">
              <a:spcBef>
                <a:spcPts val="20"/>
              </a:spcBef>
              <a:spcAft>
                <a:spcPts val="0"/>
              </a:spcAft>
              <a:buNone/>
            </a:pPr>
            <a:r>
              <a:rPr lang="en-US" altLang="zh-CN" sz="2400"/>
              <a:t>var s1=new String(“test”);</a:t>
            </a:r>
          </a:p>
          <a:p>
            <a:pPr marL="0" indent="0">
              <a:spcBef>
                <a:spcPts val="20"/>
              </a:spcBef>
              <a:spcAft>
                <a:spcPts val="0"/>
              </a:spcAft>
              <a:buNone/>
            </a:pPr>
            <a:r>
              <a:rPr lang="en-US" altLang="zh-CN" sz="2400"/>
              <a:t>s1=new String(“abc”);</a:t>
            </a:r>
          </a:p>
          <a:p>
            <a:pPr marL="0" indent="0">
              <a:spcBef>
                <a:spcPts val="20"/>
              </a:spcBef>
              <a:buNone/>
            </a:pPr>
            <a:r>
              <a:rPr lang="en-US" altLang="zh-CN" sz="2400"/>
              <a:t>s1=new Object();      </a:t>
            </a:r>
            <a:r>
              <a:rPr lang="en-US" altLang="zh-CN" sz="2400">
                <a:solidFill>
                  <a:srgbClr val="FF0000"/>
                </a:solidFill>
              </a:rPr>
              <a:t>X</a:t>
            </a:r>
          </a:p>
        </p:txBody>
      </p:sp>
      <p:sp>
        <p:nvSpPr>
          <p:cNvPr id="5" name="灯片编号占位符 4"/>
          <p:cNvSpPr>
            <a:spLocks noGrp="1"/>
          </p:cNvSpPr>
          <p:nvPr>
            <p:ph type="sldNum" sz="quarter" idx="4"/>
          </p:nvPr>
        </p:nvSpPr>
        <p:spPr/>
        <p:txBody>
          <a:bodyPr/>
          <a:lstStyle/>
          <a:p>
            <a:pPr marL="0" marR="0" lvl="0" indent="0" algn="r" defTabSz="1028700" rtl="0" eaLnBrk="1" fontAlgn="base" latinLnBrk="0" hangingPunct="1">
              <a:lnSpc>
                <a:spcPct val="100000"/>
              </a:lnSpc>
              <a:spcBef>
                <a:spcPct val="0"/>
              </a:spcBef>
              <a:spcAft>
                <a:spcPts val="0"/>
              </a:spcAft>
              <a:buClrTx/>
              <a:buSzTx/>
              <a:buFont typeface="Arial" panose="020B0604020202020204" pitchFamily="34" charset="0"/>
              <a:buNone/>
              <a:defRPr/>
            </a:pPr>
            <a:fld id="{04E050F0-2353-4035-9336-0D6E26FF3F01}" type="slidenum">
              <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rPr>
              <a:t>34</a:t>
            </a:fld>
            <a:endParaRPr kumimoji="0" lang="zh-CN" altLang="en-US" sz="14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ea"/>
              <a:sym typeface="Calibri" panose="020F0502020204030204" pitchFamily="34" charset="0"/>
            </a:endParaRPr>
          </a:p>
        </p:txBody>
      </p:sp>
      <p:sp>
        <p:nvSpPr>
          <p:cNvPr id="8" name="文本框 7"/>
          <p:cNvSpPr txBox="1"/>
          <p:nvPr/>
        </p:nvSpPr>
        <p:spPr>
          <a:xfrm>
            <a:off x="5500370" y="4747895"/>
            <a:ext cx="4598035" cy="1198880"/>
          </a:xfrm>
          <a:prstGeom prst="rect">
            <a:avLst/>
          </a:prstGeom>
          <a:noFill/>
        </p:spPr>
        <p:txBody>
          <a:bodyPr wrap="square" rtlCol="0" anchor="t">
            <a:spAutoFit/>
          </a:bodyPr>
          <a:lstStyle/>
          <a:p>
            <a:pPr marL="0" indent="0">
              <a:spcAft>
                <a:spcPts val="0"/>
              </a:spcAft>
              <a:buNone/>
            </a:pPr>
            <a:r>
              <a:rPr lang="en-US" altLang="zh-CN" sz="2400">
                <a:sym typeface="+mn-ea"/>
              </a:rPr>
              <a:t>var s1=new Object();</a:t>
            </a:r>
          </a:p>
          <a:p>
            <a:pPr marL="0" indent="0">
              <a:spcBef>
                <a:spcPts val="0"/>
              </a:spcBef>
              <a:spcAft>
                <a:spcPts val="0"/>
              </a:spcAft>
              <a:buNone/>
            </a:pPr>
            <a:r>
              <a:rPr lang="en-US" altLang="zh-CN" sz="2400">
                <a:sym typeface="+mn-ea"/>
              </a:rPr>
              <a:t>s1=new String(“abc”);</a:t>
            </a:r>
            <a:endParaRPr lang="en-US" altLang="zh-CN" sz="2400"/>
          </a:p>
          <a:p>
            <a:pPr marL="0" indent="0">
              <a:spcBef>
                <a:spcPts val="0"/>
              </a:spcBef>
              <a:buNone/>
            </a:pPr>
            <a:r>
              <a:rPr lang="en-US" altLang="zh-CN" sz="2400">
                <a:sym typeface="+mn-ea"/>
              </a:rPr>
              <a:t>s1=new String(“test”);     </a:t>
            </a:r>
            <a:r>
              <a:rPr lang="en-US" altLang="zh-CN" sz="2400">
                <a:solidFill>
                  <a:srgbClr val="FF0000"/>
                </a:solidFill>
                <a:sym typeface="+mn-ea"/>
              </a:rPr>
              <a:t> </a:t>
            </a:r>
            <a:r>
              <a:rPr lang="en-US" altLang="zh-CN" sz="2400">
                <a:solidFill>
                  <a:srgbClr val="FF0000"/>
                </a:solidFill>
                <a:latin typeface="Consolas" panose="020B0609020204030204" charset="0"/>
                <a:cs typeface="Consolas" panose="020B0609020204030204" charset="0"/>
                <a:sym typeface="+mn-ea"/>
              </a:rPr>
              <a:t>√</a:t>
            </a: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矩形 3"/>
          <p:cNvSpPr/>
          <p:nvPr/>
        </p:nvSpPr>
        <p:spPr>
          <a:xfrm>
            <a:off x="3690938" y="2613025"/>
            <a:ext cx="4450080" cy="829945"/>
          </a:xfrm>
          <a:prstGeom prst="rect">
            <a:avLst/>
          </a:prstGeom>
          <a:noFill/>
          <a:ln w="9525">
            <a:noFill/>
          </a:ln>
        </p:spPr>
        <p:txBody>
          <a:bodyPr wrap="none" anchor="t">
            <a:spAutoFit/>
          </a:bodyPr>
          <a:lstStyle/>
          <a:p>
            <a:pPr marL="0" lvl="1" indent="0" algn="l" eaLnBrk="1" fontAlgn="base" hangingPunct="1">
              <a:spcBef>
                <a:spcPct val="0"/>
              </a:spcBef>
              <a:spcAft>
                <a:spcPts val="0"/>
              </a:spcAft>
              <a:buNone/>
            </a:pPr>
            <a:r>
              <a:rPr lang="zh-CN" altLang="en-US"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运算符和表达式</a:t>
            </a:r>
          </a:p>
        </p:txBody>
      </p:sp>
      <p:sp>
        <p:nvSpPr>
          <p:cNvPr id="6146" name="TextBox 4"/>
          <p:cNvSpPr/>
          <p:nvPr/>
        </p:nvSpPr>
        <p:spPr>
          <a:xfrm>
            <a:off x="1241425" y="1935163"/>
            <a:ext cx="2193290" cy="2753360"/>
          </a:xfrm>
          <a:prstGeom prst="rect">
            <a:avLst/>
          </a:prstGeom>
          <a:noFill/>
          <a:ln w="9525">
            <a:noFill/>
          </a:ln>
        </p:spPr>
        <p:txBody>
          <a:bodyPr wrap="none" anchor="t">
            <a:spAutoFit/>
          </a:bodyPr>
          <a:lstStyle/>
          <a:p>
            <a:pPr>
              <a:spcAft>
                <a:spcPts val="0"/>
              </a:spcAft>
            </a:pP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4</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lstStyle/>
          <a:p>
            <a:pPr>
              <a:spcAft>
                <a:spcPts val="0"/>
              </a:spcAft>
            </a:pPr>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75000" lnSpcReduction="20000"/>
          </a:bodyPr>
          <a:lstStyle/>
          <a:p>
            <a:pPr eaLnBrk="1" hangingPunct="1">
              <a:lnSpc>
                <a:spcPct val="150000"/>
              </a:lnSpc>
              <a:spcAft>
                <a:spcPts val="0"/>
              </a:spcAft>
              <a:buClr>
                <a:srgbClr val="000000"/>
              </a:buClr>
              <a:buSzTx/>
            </a:pPr>
            <a:r>
              <a:rPr lang="zh-CN" altLang="en-US" dirty="0"/>
              <a:t>一元</a:t>
            </a:r>
            <a:r>
              <a:rPr lang="en-US" altLang="zh-CN" dirty="0"/>
              <a:t>/</a:t>
            </a:r>
            <a:r>
              <a:rPr lang="zh-CN" altLang="en-US" dirty="0"/>
              <a:t>单目运算符</a:t>
            </a:r>
          </a:p>
          <a:p>
            <a:pPr marL="800100" lvl="1" indent="-342900" eaLnBrk="1" hangingPunct="1">
              <a:lnSpc>
                <a:spcPct val="150000"/>
              </a:lnSpc>
              <a:spcBef>
                <a:spcPts val="20"/>
              </a:spcBef>
              <a:spcAft>
                <a:spcPts val="0"/>
              </a:spcAft>
              <a:buClr>
                <a:schemeClr val="accent1"/>
              </a:buClr>
              <a:buSzTx/>
            </a:pPr>
            <a:r>
              <a:rPr lang="en-US" altLang="zh-CN" dirty="0"/>
              <a:t>operator op</a:t>
            </a:r>
          </a:p>
          <a:p>
            <a:pPr marL="800100" lvl="1" indent="-342900" eaLnBrk="1" hangingPunct="1">
              <a:lnSpc>
                <a:spcPct val="150000"/>
              </a:lnSpc>
              <a:spcBef>
                <a:spcPts val="20"/>
              </a:spcBef>
              <a:spcAft>
                <a:spcPts val="0"/>
              </a:spcAft>
              <a:buClr>
                <a:schemeClr val="accent1"/>
              </a:buClr>
              <a:buSzTx/>
            </a:pPr>
            <a:r>
              <a:rPr lang="en-US" altLang="zh-CN" dirty="0"/>
              <a:t>op operator</a:t>
            </a:r>
          </a:p>
          <a:p>
            <a:pPr algn="l" eaLnBrk="1" hangingPunct="1">
              <a:lnSpc>
                <a:spcPct val="150000"/>
              </a:lnSpc>
              <a:spcBef>
                <a:spcPts val="20"/>
              </a:spcBef>
              <a:spcAft>
                <a:spcPts val="0"/>
              </a:spcAft>
              <a:buClr>
                <a:srgbClr val="000000"/>
              </a:buClr>
              <a:buSzTx/>
            </a:pPr>
            <a:r>
              <a:rPr lang="zh-CN" altLang="en-US" dirty="0"/>
              <a:t>二元/双目运算符</a:t>
            </a:r>
          </a:p>
          <a:p>
            <a:pPr marL="800100" lvl="1" indent="-342900" eaLnBrk="1" hangingPunct="1">
              <a:lnSpc>
                <a:spcPct val="150000"/>
              </a:lnSpc>
              <a:spcBef>
                <a:spcPts val="20"/>
              </a:spcBef>
              <a:spcAft>
                <a:spcPts val="0"/>
              </a:spcAft>
              <a:buClr>
                <a:schemeClr val="accent1"/>
              </a:buClr>
              <a:buSzTx/>
            </a:pPr>
            <a:r>
              <a:rPr lang="en-US" altLang="zh-CN" dirty="0"/>
              <a:t>op1 operator op2</a:t>
            </a:r>
          </a:p>
          <a:p>
            <a:pPr algn="l" eaLnBrk="1" hangingPunct="1">
              <a:lnSpc>
                <a:spcPct val="150000"/>
              </a:lnSpc>
              <a:spcBef>
                <a:spcPts val="20"/>
              </a:spcBef>
              <a:spcAft>
                <a:spcPts val="0"/>
              </a:spcAft>
              <a:buClr>
                <a:srgbClr val="000000"/>
              </a:buClr>
              <a:buSzTx/>
            </a:pPr>
            <a:r>
              <a:rPr lang="zh-CN" altLang="en-US" dirty="0"/>
              <a:t>三元/三目运算符</a:t>
            </a:r>
          </a:p>
          <a:p>
            <a:pPr marL="800100" lvl="1" indent="-342900" eaLnBrk="1" hangingPunct="1">
              <a:lnSpc>
                <a:spcPct val="150000"/>
              </a:lnSpc>
              <a:spcBef>
                <a:spcPts val="20"/>
              </a:spcBef>
              <a:spcAft>
                <a:spcPts val="0"/>
              </a:spcAft>
              <a:buClr>
                <a:schemeClr val="accent1"/>
              </a:buClr>
              <a:buSzTx/>
            </a:pPr>
            <a:r>
              <a:rPr lang="en-US" altLang="zh-CN" dirty="0"/>
              <a:t>op1 ? op2 : op3</a:t>
            </a:r>
          </a:p>
          <a:p>
            <a:pPr eaLnBrk="1" hangingPunct="1">
              <a:lnSpc>
                <a:spcPct val="150000"/>
              </a:lnSpc>
              <a:buClr>
                <a:schemeClr val="hlink"/>
              </a:buClr>
              <a:buSzTx/>
            </a:pPr>
            <a:endParaRPr lang="en-US" altLang="zh-CN" dirty="0"/>
          </a:p>
          <a:p>
            <a:pPr marL="0" indent="0" eaLnBrk="1" hangingPunct="1">
              <a:lnSpc>
                <a:spcPct val="150000"/>
              </a:lnSpc>
              <a:spcBef>
                <a:spcPts val="20"/>
              </a:spcBef>
              <a:buSzPct val="90000"/>
              <a:buNone/>
            </a:pPr>
            <a:r>
              <a:rPr lang="zh-CN" altLang="en-US" dirty="0"/>
              <a:t>注</a:t>
            </a:r>
            <a:r>
              <a:rPr lang="en-US" altLang="zh-CN" dirty="0"/>
              <a:t>: op</a:t>
            </a:r>
            <a:r>
              <a:rPr lang="zh-CN" altLang="en-US" dirty="0"/>
              <a:t>表示操作数</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运算符 </a:t>
            </a:r>
            <a:r>
              <a:rPr lang="en-US" altLang="zh-CN" dirty="0"/>
              <a:t>(operator)</a:t>
            </a: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495300" y="1395730"/>
            <a:ext cx="9721850" cy="5211445"/>
          </a:xfrm>
        </p:spPr>
        <p:txBody>
          <a:bodyPr>
            <a:normAutofit fontScale="52500"/>
          </a:bodyPr>
          <a:lstStyle/>
          <a:p>
            <a:pPr marL="609600" indent="-609600" eaLnBrk="1" hangingPunct="1">
              <a:lnSpc>
                <a:spcPct val="150000"/>
              </a:lnSpc>
              <a:spcAft>
                <a:spcPts val="0"/>
              </a:spcAft>
              <a:buSzPct val="90000"/>
              <a:buFont typeface="Wingdings" panose="05000000000000000000" pitchFamily="2" charset="2"/>
              <a:buAutoNum type="arabicPeriod"/>
            </a:pPr>
            <a:r>
              <a:rPr lang="zh-CN" altLang="en-US" dirty="0"/>
              <a:t>算术运算符 </a:t>
            </a:r>
            <a:r>
              <a:rPr lang="en-US" altLang="zh-CN" dirty="0"/>
              <a:t>(Arithmetic Operators)</a:t>
            </a:r>
          </a:p>
          <a:p>
            <a:pPr marL="1066800" lvl="1" indent="-609600" eaLnBrk="1" hangingPunct="1">
              <a:lnSpc>
                <a:spcPct val="150000"/>
              </a:lnSpc>
              <a:spcBef>
                <a:spcPts val="20"/>
              </a:spcBef>
              <a:spcAft>
                <a:spcPts val="0"/>
              </a:spcAft>
              <a:buSzPct val="90000"/>
            </a:pPr>
            <a:r>
              <a:rPr lang="en-US" altLang="zh-CN" dirty="0"/>
              <a:t>+-*/% c</a:t>
            </a:r>
            <a:r>
              <a:rPr lang="zh-CN" altLang="en-US" dirty="0"/>
              <a:t>相同整数相除返回整数 </a:t>
            </a:r>
            <a:r>
              <a:rPr lang="zh-CN" altLang="en-US" dirty="0">
                <a:highlight>
                  <a:srgbClr val="FFFF00"/>
                </a:highlight>
              </a:rPr>
              <a:t>与</a:t>
            </a:r>
            <a:r>
              <a:rPr lang="en-US" altLang="zh-CN" dirty="0">
                <a:highlight>
                  <a:srgbClr val="FFFF00"/>
                </a:highlight>
              </a:rPr>
              <a:t>c</a:t>
            </a:r>
            <a:r>
              <a:rPr lang="zh-CN" altLang="en-US" dirty="0">
                <a:highlight>
                  <a:srgbClr val="FFFF00"/>
                </a:highlight>
              </a:rPr>
              <a:t>不同小数也可以模除</a:t>
            </a:r>
            <a:endParaRPr lang="en-US" altLang="zh-CN" dirty="0"/>
          </a:p>
          <a:p>
            <a:pPr marL="609600" indent="-6096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关系运算符 </a:t>
            </a:r>
            <a:r>
              <a:rPr lang="en-US" altLang="zh-CN" dirty="0"/>
              <a:t>(Relational Operators)</a:t>
            </a:r>
          </a:p>
          <a:p>
            <a:pPr marL="1066800" lvl="1" indent="-609600" algn="l" eaLnBrk="1" hangingPunct="1">
              <a:lnSpc>
                <a:spcPct val="150000"/>
              </a:lnSpc>
              <a:spcBef>
                <a:spcPts val="20"/>
              </a:spcBef>
              <a:spcAft>
                <a:spcPts val="0"/>
              </a:spcAft>
              <a:buSzPct val="90000"/>
            </a:pPr>
            <a:r>
              <a:rPr lang="en-US" altLang="zh-CN" sz="2800" dirty="0">
                <a:sym typeface="+mn-ea"/>
              </a:rPr>
              <a:t>&gt;、&gt;=、&lt;、&lt;=</a:t>
            </a:r>
            <a:r>
              <a:rPr lang="zh-CN" altLang="en-US" sz="2800" dirty="0">
                <a:sym typeface="+mn-ea"/>
              </a:rPr>
              <a:t>、</a:t>
            </a:r>
            <a:r>
              <a:rPr lang="en-US" altLang="zh-CN" sz="2800" dirty="0">
                <a:sym typeface="+mn-ea"/>
              </a:rPr>
              <a:t>==、!=</a:t>
            </a:r>
            <a:endParaRPr lang="en-US" altLang="zh-CN" dirty="0"/>
          </a:p>
          <a:p>
            <a:pPr marL="609600" indent="-6096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逻辑运算符 </a:t>
            </a:r>
            <a:r>
              <a:rPr lang="en-US" altLang="zh-CN" dirty="0"/>
              <a:t>(Logical Operators)</a:t>
            </a:r>
          </a:p>
          <a:p>
            <a:pPr marL="1066800" lvl="1" indent="-609600" eaLnBrk="1" hangingPunct="1">
              <a:lnSpc>
                <a:spcPct val="150000"/>
              </a:lnSpc>
              <a:spcBef>
                <a:spcPts val="20"/>
              </a:spcBef>
              <a:spcAft>
                <a:spcPts val="0"/>
              </a:spcAft>
              <a:buSzPct val="90000"/>
            </a:pPr>
            <a:r>
              <a:rPr lang="en-US" altLang="zh-CN" dirty="0">
                <a:sym typeface="+mn-ea"/>
              </a:rPr>
              <a:t>&amp;&amp;</a:t>
            </a:r>
            <a:r>
              <a:rPr lang="zh-CN" altLang="en-US" sz="2800" dirty="0"/>
              <a:t>，</a:t>
            </a:r>
            <a:r>
              <a:rPr lang="en-US" altLang="zh-CN" sz="2800" dirty="0"/>
              <a:t>||, !  </a:t>
            </a:r>
            <a:r>
              <a:rPr lang="zh-CN" altLang="en-US" sz="2800" dirty="0">
                <a:highlight>
                  <a:srgbClr val="FFFF00"/>
                </a:highlight>
              </a:rPr>
              <a:t>与</a:t>
            </a:r>
            <a:r>
              <a:rPr lang="en-US" altLang="zh-CN" sz="2800" dirty="0">
                <a:highlight>
                  <a:srgbClr val="FFFF00"/>
                </a:highlight>
              </a:rPr>
              <a:t>c</a:t>
            </a:r>
            <a:r>
              <a:rPr lang="zh-CN" altLang="en-US" sz="2800" dirty="0">
                <a:highlight>
                  <a:srgbClr val="FFFF00"/>
                </a:highlight>
              </a:rPr>
              <a:t>一样短路运算</a:t>
            </a:r>
            <a:r>
              <a:rPr lang="zh-CN" altLang="en-US" sz="2800" dirty="0"/>
              <a:t>，第一个表达式能得到最后结果，不会运算第二个表达式</a:t>
            </a:r>
            <a:endParaRPr lang="en-US" altLang="zh-CN" dirty="0"/>
          </a:p>
          <a:p>
            <a:pPr marL="609600" indent="-6096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位运算符 </a:t>
            </a:r>
            <a:r>
              <a:rPr lang="en-US" altLang="zh-CN" dirty="0"/>
              <a:t>(Bitwise Operators)</a:t>
            </a:r>
          </a:p>
          <a:p>
            <a:pPr marL="1066800" lvl="1" indent="-609600" eaLnBrk="1" hangingPunct="1">
              <a:lnSpc>
                <a:spcPct val="150000"/>
              </a:lnSpc>
              <a:spcBef>
                <a:spcPts val="20"/>
              </a:spcBef>
              <a:spcAft>
                <a:spcPts val="0"/>
              </a:spcAft>
              <a:buSzPct val="90000"/>
            </a:pPr>
            <a:r>
              <a:rPr lang="en-US" altLang="zh-CN" sz="2800" dirty="0"/>
              <a:t>~</a:t>
            </a:r>
            <a:r>
              <a:rPr lang="zh-CN" altLang="en-US" sz="2800" dirty="0"/>
              <a:t>，</a:t>
            </a:r>
            <a:r>
              <a:rPr lang="en-US" altLang="zh-CN" sz="2800" dirty="0"/>
              <a:t>&amp;,|,^</a:t>
            </a:r>
            <a:endParaRPr lang="en-US" altLang="zh-CN" dirty="0"/>
          </a:p>
          <a:p>
            <a:pPr marL="609600" indent="-6096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移位运算符 </a:t>
            </a:r>
            <a:r>
              <a:rPr lang="en-US" altLang="zh-CN" dirty="0"/>
              <a:t>(Shift Operators)</a:t>
            </a:r>
          </a:p>
          <a:p>
            <a:pPr marL="1066800" lvl="1" indent="-609600" eaLnBrk="1" hangingPunct="1">
              <a:lnSpc>
                <a:spcPct val="150000"/>
              </a:lnSpc>
              <a:spcBef>
                <a:spcPts val="20"/>
              </a:spcBef>
              <a:spcAft>
                <a:spcPts val="0"/>
              </a:spcAft>
              <a:buSzPct val="90000"/>
            </a:pPr>
            <a:r>
              <a:rPr lang="en-US" altLang="zh-CN" sz="2800" dirty="0"/>
              <a:t>&gt;&gt;&gt;(</a:t>
            </a:r>
            <a:r>
              <a:rPr lang="zh-CN" altLang="en-US" sz="2800" dirty="0"/>
              <a:t>无符号右移，高位补</a:t>
            </a:r>
            <a:r>
              <a:rPr lang="en-US" altLang="zh-CN" sz="2800" dirty="0"/>
              <a:t>0),&gt;&gt;</a:t>
            </a:r>
            <a:r>
              <a:rPr lang="zh-CN" altLang="en-US" sz="2800" dirty="0"/>
              <a:t>（高位补符号位）</a:t>
            </a:r>
            <a:r>
              <a:rPr lang="en-US" altLang="zh-CN" sz="2800" dirty="0"/>
              <a:t>,&lt;&lt;</a:t>
            </a:r>
            <a:r>
              <a:rPr lang="zh-CN" altLang="en-US" sz="2800" dirty="0"/>
              <a:t>（低位补</a:t>
            </a:r>
            <a:r>
              <a:rPr lang="en-US" altLang="zh-CN" sz="2800" dirty="0"/>
              <a:t>0</a:t>
            </a:r>
            <a:r>
              <a:rPr lang="zh-CN" altLang="en-US" sz="2800" dirty="0"/>
              <a:t>）</a:t>
            </a:r>
            <a:r>
              <a:rPr lang="en-US" altLang="zh-CN" sz="2800" dirty="0"/>
              <a:t>,</a:t>
            </a:r>
            <a:endParaRPr lang="en-US" altLang="zh-CN" dirty="0"/>
          </a:p>
          <a:p>
            <a:pPr marL="609600" indent="-6096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条件运算符 </a:t>
            </a:r>
            <a:r>
              <a:rPr lang="en-US" altLang="zh-CN" dirty="0"/>
              <a:t>(Conditional Operator)</a:t>
            </a:r>
          </a:p>
          <a:p>
            <a:pPr marL="1066800" lvl="1" indent="-609600" eaLnBrk="1" hangingPunct="1">
              <a:lnSpc>
                <a:spcPct val="150000"/>
              </a:lnSpc>
              <a:spcBef>
                <a:spcPts val="20"/>
              </a:spcBef>
              <a:buSzPct val="90000"/>
            </a:pPr>
            <a:r>
              <a:rPr lang="en-US" altLang="zh-CN" dirty="0">
                <a:sym typeface="+mn-ea"/>
              </a:rPr>
              <a:t>op1 ? op2 : op3</a:t>
            </a:r>
            <a:endParaRPr lang="zh-CN" altLang="en-US" dirty="0"/>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运算符 </a:t>
            </a:r>
            <a:r>
              <a:rPr lang="en-US" altLang="zh-CN" dirty="0"/>
              <a:t>(operator)</a:t>
            </a: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7" name="Rectangle 9"/>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48130" name="Rectangle 2"/>
          <p:cNvSpPr>
            <a:spLocks noGrp="1"/>
          </p:cNvSpPr>
          <p:nvPr>
            <p:ph idx="1"/>
          </p:nvPr>
        </p:nvSpPr>
        <p:spPr/>
        <p:txBody>
          <a:bodyPr vert="horz" wrap="square" lIns="96011" tIns="48005" rIns="96011" bIns="48005" anchor="t">
            <a:normAutofit/>
          </a:bodyPr>
          <a:lstStyle/>
          <a:p>
            <a:pPr marL="609600" indent="-609600" eaLnBrk="1" hangingPunct="1">
              <a:lnSpc>
                <a:spcPct val="90000"/>
              </a:lnSpc>
              <a:spcAft>
                <a:spcPts val="0"/>
              </a:spcAft>
              <a:buSzPct val="90000"/>
            </a:pPr>
            <a:r>
              <a:rPr lang="zh-CN" altLang="en-US" sz="2800" dirty="0"/>
              <a:t>算术运算符</a:t>
            </a:r>
            <a:r>
              <a:rPr lang="en-US" altLang="zh-CN" sz="2800" dirty="0"/>
              <a:t>(Arithmetic Operators)</a:t>
            </a:r>
          </a:p>
          <a:p>
            <a:pPr marL="990600" lvl="1" indent="-533400" eaLnBrk="1" hangingPunct="1">
              <a:lnSpc>
                <a:spcPct val="90000"/>
              </a:lnSpc>
              <a:spcBef>
                <a:spcPts val="20"/>
              </a:spcBef>
              <a:spcAft>
                <a:spcPts val="0"/>
              </a:spcAft>
              <a:buSzPct val="90000"/>
              <a:buFont typeface="Wingdings" panose="05000000000000000000" pitchFamily="2" charset="2"/>
              <a:buAutoNum type="arabicPeriod"/>
            </a:pPr>
            <a:r>
              <a:rPr lang="zh-CN" altLang="en-US" sz="2400" dirty="0"/>
              <a:t>加法运算符 </a:t>
            </a:r>
            <a:r>
              <a:rPr lang="en-US" altLang="zh-CN" sz="2400" dirty="0"/>
              <a:t>+  "op1 + op2"</a:t>
            </a:r>
          </a:p>
          <a:p>
            <a:pPr marL="990600" lvl="1" indent="-533400" eaLnBrk="1" hangingPunct="1">
              <a:lnSpc>
                <a:spcPct val="90000"/>
              </a:lnSpc>
              <a:spcBef>
                <a:spcPts val="20"/>
              </a:spcBef>
              <a:spcAft>
                <a:spcPts val="0"/>
              </a:spcAft>
              <a:buSzPct val="90000"/>
              <a:buFont typeface="Wingdings" panose="05000000000000000000" pitchFamily="2" charset="2"/>
              <a:buAutoNum type="arabicPeriod"/>
            </a:pPr>
            <a:r>
              <a:rPr lang="zh-CN" altLang="en-US" sz="2400" dirty="0"/>
              <a:t>减法运算符 </a:t>
            </a:r>
            <a:r>
              <a:rPr lang="en-US" altLang="zh-CN" sz="2400" dirty="0"/>
              <a:t>-  "op1 - op2"</a:t>
            </a:r>
          </a:p>
          <a:p>
            <a:pPr marL="990600" lvl="1" indent="-533400" eaLnBrk="1" hangingPunct="1">
              <a:lnSpc>
                <a:spcPct val="90000"/>
              </a:lnSpc>
              <a:spcBef>
                <a:spcPts val="20"/>
              </a:spcBef>
              <a:spcAft>
                <a:spcPts val="0"/>
              </a:spcAft>
              <a:buSzPct val="90000"/>
              <a:buFont typeface="Wingdings" panose="05000000000000000000" pitchFamily="2" charset="2"/>
              <a:buAutoNum type="arabicPeriod"/>
            </a:pPr>
            <a:r>
              <a:rPr lang="zh-CN" altLang="en-US" sz="2400" dirty="0"/>
              <a:t>乘法运算符 *  "</a:t>
            </a:r>
            <a:r>
              <a:rPr lang="en-US" altLang="zh-CN" sz="2400" dirty="0"/>
              <a:t>op1 * op2"</a:t>
            </a:r>
          </a:p>
          <a:p>
            <a:pPr marL="990600" lvl="1" indent="-533400" eaLnBrk="1" hangingPunct="1">
              <a:lnSpc>
                <a:spcPct val="90000"/>
              </a:lnSpc>
              <a:spcBef>
                <a:spcPts val="20"/>
              </a:spcBef>
              <a:spcAft>
                <a:spcPts val="0"/>
              </a:spcAft>
              <a:buSzPct val="90000"/>
              <a:buFont typeface="Wingdings" panose="05000000000000000000" pitchFamily="2" charset="2"/>
              <a:buAutoNum type="arabicPeriod"/>
            </a:pPr>
            <a:r>
              <a:rPr lang="zh-CN" altLang="en-US" sz="2400" dirty="0"/>
              <a:t>除法运算符 </a:t>
            </a:r>
            <a:r>
              <a:rPr lang="en-US" altLang="zh-CN" sz="2400" dirty="0"/>
              <a:t>/  "op1 / op2"</a:t>
            </a:r>
          </a:p>
          <a:p>
            <a:pPr marL="990600" lvl="1" indent="-533400" eaLnBrk="1" hangingPunct="1">
              <a:lnSpc>
                <a:spcPct val="90000"/>
              </a:lnSpc>
              <a:spcBef>
                <a:spcPts val="20"/>
              </a:spcBef>
              <a:buSzPct val="90000"/>
              <a:buFont typeface="Wingdings" panose="05000000000000000000" pitchFamily="2" charset="2"/>
              <a:buAutoNum type="arabicPeriod"/>
            </a:pPr>
            <a:r>
              <a:rPr lang="zh-CN" altLang="en-US" sz="2400" dirty="0"/>
              <a:t>求模运算符</a:t>
            </a:r>
            <a:r>
              <a:rPr lang="en-US" altLang="zh-CN" sz="2400" dirty="0"/>
              <a:t>%  "op1 % op2" </a:t>
            </a:r>
            <a:r>
              <a:rPr lang="zh-CN" altLang="en-US" sz="2400" dirty="0"/>
              <a:t>计算余数</a:t>
            </a:r>
          </a:p>
        </p:txBody>
      </p:sp>
      <p:sp>
        <p:nvSpPr>
          <p:cNvPr id="48131" name="Rectangle 3"/>
          <p:cNvSpPr/>
          <p:nvPr/>
        </p:nvSpPr>
        <p:spPr>
          <a:xfrm>
            <a:off x="1056005" y="3897154"/>
            <a:ext cx="2400300" cy="1680210"/>
          </a:xfrm>
          <a:prstGeom prst="rect">
            <a:avLst/>
          </a:prstGeom>
          <a:noFill/>
          <a:ln w="9525">
            <a:noFill/>
          </a:ln>
        </p:spPr>
        <p:txBody>
          <a:bodyPr wrap="none" anchor="ctr"/>
          <a:lstStyle/>
          <a:p>
            <a:pPr eaLnBrk="1" hangingPunct="1">
              <a:lnSpc>
                <a:spcPct val="90000"/>
              </a:lnSpc>
              <a:spcBef>
                <a:spcPct val="2000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int i = 37</a:t>
            </a:r>
          </a:p>
          <a:p>
            <a:pPr eaLnBrk="1" hangingPunct="1">
              <a:lnSpc>
                <a:spcPct val="90000"/>
              </a:lnSpc>
              <a:spcBef>
                <a:spcPts val="2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int j = 42</a:t>
            </a:r>
          </a:p>
          <a:p>
            <a:pPr eaLnBrk="1" hangingPunct="1">
              <a:lnSpc>
                <a:spcPct val="90000"/>
              </a:lnSpc>
              <a:spcBef>
                <a:spcPts val="2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double x = 27.475</a:t>
            </a:r>
          </a:p>
          <a:p>
            <a:pPr eaLnBrk="1" hangingPunct="1">
              <a:lnSpc>
                <a:spcPct val="90000"/>
              </a:lnSpc>
              <a:spcBef>
                <a:spcPts val="20"/>
              </a:spcBef>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double y = 7.22</a:t>
            </a:r>
            <a:endParaRPr lang="en-US" altLang="zh-CN" sz="2520" dirty="0">
              <a:latin typeface="Tahoma" panose="020B0604030504040204" pitchFamily="34" charset="0"/>
              <a:ea typeface="华文中宋" panose="02010600040101010101" pitchFamily="2" charset="-122"/>
            </a:endParaRPr>
          </a:p>
        </p:txBody>
      </p:sp>
      <p:sp>
        <p:nvSpPr>
          <p:cNvPr id="48132" name="Rectangle 4"/>
          <p:cNvSpPr/>
          <p:nvPr/>
        </p:nvSpPr>
        <p:spPr>
          <a:xfrm>
            <a:off x="3640455" y="4014629"/>
            <a:ext cx="2320290" cy="1280160"/>
          </a:xfrm>
          <a:prstGeom prst="rect">
            <a:avLst/>
          </a:prstGeom>
          <a:noFill/>
          <a:ln w="9525">
            <a:noFill/>
          </a:ln>
        </p:spPr>
        <p:txBody>
          <a:bodyPr wrap="none" anchor="ctr"/>
          <a:lstStyle/>
          <a:p>
            <a:pPr eaLnBrk="1" hangingPunct="1">
              <a:lnSpc>
                <a:spcPct val="90000"/>
              </a:lnSpc>
              <a:spcBef>
                <a:spcPct val="2000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Adding...</a:t>
            </a:r>
          </a:p>
          <a:p>
            <a:pPr eaLnBrk="1" hangingPunct="1">
              <a:lnSpc>
                <a:spcPct val="90000"/>
              </a:lnSpc>
              <a:spcBef>
                <a:spcPts val="2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i + j = 79</a:t>
            </a:r>
          </a:p>
          <a:p>
            <a:pPr eaLnBrk="1" hangingPunct="1">
              <a:lnSpc>
                <a:spcPct val="90000"/>
              </a:lnSpc>
              <a:spcBef>
                <a:spcPts val="20"/>
              </a:spcBef>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x + y = 34.695</a:t>
            </a:r>
          </a:p>
        </p:txBody>
      </p:sp>
      <p:sp>
        <p:nvSpPr>
          <p:cNvPr id="48133" name="Rectangle 5"/>
          <p:cNvSpPr/>
          <p:nvPr/>
        </p:nvSpPr>
        <p:spPr>
          <a:xfrm>
            <a:off x="1720215" y="5268754"/>
            <a:ext cx="2240280" cy="1280160"/>
          </a:xfrm>
          <a:prstGeom prst="rect">
            <a:avLst/>
          </a:prstGeom>
          <a:noFill/>
          <a:ln w="9525">
            <a:noFill/>
          </a:ln>
        </p:spPr>
        <p:txBody>
          <a:bodyPr wrap="none" anchor="ctr"/>
          <a:lstStyle/>
          <a:p>
            <a:pPr eaLnBrk="1" hangingPunct="1">
              <a:lnSpc>
                <a:spcPct val="90000"/>
              </a:lnSpc>
              <a:spcBef>
                <a:spcPct val="2000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Subtracting...</a:t>
            </a:r>
          </a:p>
          <a:p>
            <a:pPr eaLnBrk="1" hangingPunct="1">
              <a:lnSpc>
                <a:spcPct val="90000"/>
              </a:lnSpc>
              <a:spcBef>
                <a:spcPts val="2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i - j = -5</a:t>
            </a:r>
          </a:p>
          <a:p>
            <a:pPr eaLnBrk="1" hangingPunct="1">
              <a:lnSpc>
                <a:spcPct val="90000"/>
              </a:lnSpc>
              <a:spcBef>
                <a:spcPts val="20"/>
              </a:spcBef>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x - y = 20.255</a:t>
            </a:r>
          </a:p>
        </p:txBody>
      </p:sp>
      <p:sp>
        <p:nvSpPr>
          <p:cNvPr id="48134" name="Rectangle 6"/>
          <p:cNvSpPr/>
          <p:nvPr/>
        </p:nvSpPr>
        <p:spPr>
          <a:xfrm>
            <a:off x="4200525" y="5268754"/>
            <a:ext cx="2320290" cy="1280160"/>
          </a:xfrm>
          <a:prstGeom prst="rect">
            <a:avLst/>
          </a:prstGeom>
          <a:noFill/>
          <a:ln w="9525">
            <a:noFill/>
          </a:ln>
        </p:spPr>
        <p:txBody>
          <a:bodyPr wrap="none" anchor="ctr"/>
          <a:lstStyle/>
          <a:p>
            <a:pPr eaLnBrk="1" hangingPunct="1">
              <a:lnSpc>
                <a:spcPct val="90000"/>
              </a:lnSpc>
              <a:spcBef>
                <a:spcPct val="2000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Multiplying...</a:t>
            </a:r>
          </a:p>
          <a:p>
            <a:pPr eaLnBrk="1" hangingPunct="1">
              <a:lnSpc>
                <a:spcPct val="90000"/>
              </a:lnSpc>
              <a:spcBef>
                <a:spcPts val="2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i * j = 1554</a:t>
            </a:r>
          </a:p>
          <a:p>
            <a:pPr eaLnBrk="1" hangingPunct="1">
              <a:lnSpc>
                <a:spcPct val="90000"/>
              </a:lnSpc>
              <a:spcBef>
                <a:spcPts val="20"/>
              </a:spcBef>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x * y = 198.37</a:t>
            </a:r>
          </a:p>
        </p:txBody>
      </p:sp>
      <p:sp>
        <p:nvSpPr>
          <p:cNvPr id="48135" name="Rectangle 7"/>
          <p:cNvSpPr/>
          <p:nvPr/>
        </p:nvSpPr>
        <p:spPr>
          <a:xfrm>
            <a:off x="6840855" y="5268754"/>
            <a:ext cx="2240280" cy="1303496"/>
          </a:xfrm>
          <a:prstGeom prst="rect">
            <a:avLst/>
          </a:prstGeom>
          <a:noFill/>
          <a:ln w="9525">
            <a:noFill/>
          </a:ln>
        </p:spPr>
        <p:txBody>
          <a:bodyPr wrap="none" anchor="ctr"/>
          <a:lstStyle/>
          <a:p>
            <a:pPr eaLnBrk="1" hangingPunct="1">
              <a:lnSpc>
                <a:spcPct val="90000"/>
              </a:lnSpc>
              <a:spcBef>
                <a:spcPct val="2000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Dividing...</a:t>
            </a:r>
          </a:p>
          <a:p>
            <a:pPr eaLnBrk="1" hangingPunct="1">
              <a:lnSpc>
                <a:spcPct val="90000"/>
              </a:lnSpc>
              <a:spcBef>
                <a:spcPts val="2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a:t>
            </a:r>
            <a:r>
              <a:rPr lang="en-US" altLang="zh-CN" sz="2100" dirty="0">
                <a:solidFill>
                  <a:schemeClr val="hlink"/>
                </a:solidFill>
                <a:latin typeface="Tahoma" panose="020B0604030504040204" pitchFamily="34" charset="0"/>
                <a:ea typeface="华文中宋" panose="02010600040101010101" pitchFamily="2" charset="-122"/>
              </a:rPr>
              <a:t>i / j = 0</a:t>
            </a:r>
          </a:p>
          <a:p>
            <a:pPr eaLnBrk="1" hangingPunct="1">
              <a:lnSpc>
                <a:spcPct val="90000"/>
              </a:lnSpc>
              <a:spcBef>
                <a:spcPts val="20"/>
              </a:spcBef>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x / y = 3.8054</a:t>
            </a:r>
          </a:p>
        </p:txBody>
      </p:sp>
      <p:sp>
        <p:nvSpPr>
          <p:cNvPr id="48136" name="Rectangle 8"/>
          <p:cNvSpPr/>
          <p:nvPr/>
        </p:nvSpPr>
        <p:spPr>
          <a:xfrm>
            <a:off x="5960745" y="4014629"/>
            <a:ext cx="3440430" cy="1280160"/>
          </a:xfrm>
          <a:prstGeom prst="rect">
            <a:avLst/>
          </a:prstGeom>
          <a:noFill/>
          <a:ln w="9525">
            <a:noFill/>
          </a:ln>
        </p:spPr>
        <p:txBody>
          <a:bodyPr wrap="none" anchor="ctr"/>
          <a:lstStyle/>
          <a:p>
            <a:pPr eaLnBrk="1" hangingPunct="1">
              <a:lnSpc>
                <a:spcPct val="90000"/>
              </a:lnSpc>
              <a:spcBef>
                <a:spcPct val="2000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Computing the remainder...</a:t>
            </a:r>
          </a:p>
          <a:p>
            <a:pPr eaLnBrk="1" hangingPunct="1">
              <a:lnSpc>
                <a:spcPct val="90000"/>
              </a:lnSpc>
              <a:spcBef>
                <a:spcPts val="20"/>
              </a:spcBef>
              <a:spcAft>
                <a:spcPts val="0"/>
              </a:spcAft>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i % j = 37</a:t>
            </a:r>
          </a:p>
          <a:p>
            <a:pPr eaLnBrk="1" hangingPunct="1">
              <a:lnSpc>
                <a:spcPct val="90000"/>
              </a:lnSpc>
              <a:spcBef>
                <a:spcPts val="20"/>
              </a:spcBef>
              <a:buClr>
                <a:schemeClr val="folHlink"/>
              </a:buClr>
              <a:buSzPct val="9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x % y = 5.815</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animEffect transition="in" filter="barn(outHorizontal)">
                                      <p:cBhvr>
                                        <p:cTn id="7" dur="500"/>
                                        <p:tgtEl>
                                          <p:spTgt spid="4813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48132"/>
                                        </p:tgtEl>
                                        <p:attrNameLst>
                                          <p:attrName>style.visibility</p:attrName>
                                        </p:attrNameLst>
                                      </p:cBhvr>
                                      <p:to>
                                        <p:strVal val="visible"/>
                                      </p:to>
                                    </p:set>
                                    <p:animEffect transition="in" filter="barn(outHorizontal)">
                                      <p:cBhvr>
                                        <p:cTn id="12" dur="500"/>
                                        <p:tgtEl>
                                          <p:spTgt spid="4813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48133"/>
                                        </p:tgtEl>
                                        <p:attrNameLst>
                                          <p:attrName>style.visibility</p:attrName>
                                        </p:attrNameLst>
                                      </p:cBhvr>
                                      <p:to>
                                        <p:strVal val="visible"/>
                                      </p:to>
                                    </p:set>
                                    <p:animEffect transition="in" filter="barn(outHorizontal)">
                                      <p:cBhvr>
                                        <p:cTn id="17" dur="500"/>
                                        <p:tgtEl>
                                          <p:spTgt spid="4813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48134"/>
                                        </p:tgtEl>
                                        <p:attrNameLst>
                                          <p:attrName>style.visibility</p:attrName>
                                        </p:attrNameLst>
                                      </p:cBhvr>
                                      <p:to>
                                        <p:strVal val="visible"/>
                                      </p:to>
                                    </p:set>
                                    <p:animEffect transition="in" filter="barn(outHorizontal)">
                                      <p:cBhvr>
                                        <p:cTn id="22" dur="500"/>
                                        <p:tgtEl>
                                          <p:spTgt spid="4813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48136"/>
                                        </p:tgtEl>
                                        <p:attrNameLst>
                                          <p:attrName>style.visibility</p:attrName>
                                        </p:attrNameLst>
                                      </p:cBhvr>
                                      <p:to>
                                        <p:strVal val="visible"/>
                                      </p:to>
                                    </p:set>
                                    <p:animEffect transition="in" filter="barn(outHorizontal)">
                                      <p:cBhvr>
                                        <p:cTn id="27" dur="500"/>
                                        <p:tgtEl>
                                          <p:spTgt spid="4813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48135"/>
                                        </p:tgtEl>
                                        <p:attrNameLst>
                                          <p:attrName>style.visibility</p:attrName>
                                        </p:attrNameLst>
                                      </p:cBhvr>
                                      <p:to>
                                        <p:strVal val="visible"/>
                                      </p:to>
                                    </p:set>
                                    <p:animEffect transition="in" filter="barn(outHorizontal)">
                                      <p:cBhvr>
                                        <p:cTn id="32" dur="500"/>
                                        <p:tgtEl>
                                          <p:spTgt spid="48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P spid="48132" grpId="0"/>
      <p:bldP spid="48133" grpId="0"/>
      <p:bldP spid="48134" grpId="0"/>
      <p:bldP spid="48135" grpId="0"/>
      <p:bldP spid="4813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75000" lnSpcReduction="20000"/>
          </a:bodyPr>
          <a:lstStyle/>
          <a:p>
            <a:pPr eaLnBrk="1" hangingPunct="1">
              <a:lnSpc>
                <a:spcPct val="150000"/>
              </a:lnSpc>
              <a:spcAft>
                <a:spcPts val="0"/>
              </a:spcAft>
              <a:buClr>
                <a:srgbClr val="000000"/>
              </a:buClr>
              <a:buSzTx/>
            </a:pPr>
            <a:r>
              <a:rPr lang="zh-CN" altLang="en-US" dirty="0"/>
              <a:t>关系运算符</a:t>
            </a:r>
            <a:r>
              <a:rPr lang="en-US" altLang="zh-CN" dirty="0"/>
              <a:t>(Relational Operators)</a:t>
            </a:r>
          </a:p>
          <a:p>
            <a:pPr marL="742950" lvl="1" indent="-285750" eaLnBrk="1" hangingPunct="1">
              <a:lnSpc>
                <a:spcPct val="150000"/>
              </a:lnSpc>
              <a:spcBef>
                <a:spcPts val="20"/>
              </a:spcBef>
              <a:spcAft>
                <a:spcPts val="0"/>
              </a:spcAft>
              <a:buClr>
                <a:schemeClr val="accent1"/>
              </a:buClr>
              <a:buSzTx/>
            </a:pPr>
            <a:r>
              <a:rPr lang="zh-CN" altLang="en-US" dirty="0"/>
              <a:t>比较运算，计算结果"</a:t>
            </a:r>
            <a:r>
              <a:rPr lang="en-US" altLang="zh-CN" dirty="0"/>
              <a:t>true"</a:t>
            </a:r>
            <a:r>
              <a:rPr lang="zh-CN" altLang="en-US" dirty="0"/>
              <a:t>或"</a:t>
            </a:r>
            <a:r>
              <a:rPr lang="en-US" altLang="zh-CN" dirty="0"/>
              <a:t>false"</a:t>
            </a:r>
          </a:p>
          <a:p>
            <a:pPr marL="1371600" lvl="2" indent="-4572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大于       </a:t>
            </a:r>
            <a:r>
              <a:rPr lang="en-US" altLang="zh-CN" dirty="0"/>
              <a:t>&gt;     "op1 &gt; op2"  </a:t>
            </a:r>
          </a:p>
          <a:p>
            <a:pPr marL="1371600" lvl="2" indent="-4572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大于等于 </a:t>
            </a:r>
            <a:r>
              <a:rPr lang="en-US" altLang="zh-CN" dirty="0"/>
              <a:t>&gt;=  "op1 &gt;= op2"  </a:t>
            </a:r>
          </a:p>
          <a:p>
            <a:pPr marL="1371600" lvl="2" indent="-4572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小于       </a:t>
            </a:r>
            <a:r>
              <a:rPr lang="en-US" altLang="zh-CN" dirty="0"/>
              <a:t>&lt;     "op1 &lt; op2"  </a:t>
            </a:r>
          </a:p>
          <a:p>
            <a:pPr marL="1371600" lvl="2" indent="-4572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小于等于 </a:t>
            </a:r>
            <a:r>
              <a:rPr lang="en-US" altLang="zh-CN" dirty="0"/>
              <a:t>&lt;=  "op1 &lt;= op2"  </a:t>
            </a:r>
          </a:p>
          <a:p>
            <a:pPr marL="1371600" lvl="2" indent="-4572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等于       </a:t>
            </a:r>
            <a:r>
              <a:rPr lang="en-US" altLang="zh-CN" dirty="0"/>
              <a:t>==  "op1 == op2"  </a:t>
            </a:r>
          </a:p>
          <a:p>
            <a:pPr marL="1371600" lvl="2" indent="-4572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不等于    </a:t>
            </a:r>
            <a:r>
              <a:rPr lang="en-US" altLang="zh-CN" dirty="0"/>
              <a:t>!=   "op1 != op2"</a:t>
            </a:r>
          </a:p>
          <a:p>
            <a:pPr marL="742950" lvl="1" indent="-285750" eaLnBrk="1" hangingPunct="1">
              <a:lnSpc>
                <a:spcPct val="150000"/>
              </a:lnSpc>
              <a:spcBef>
                <a:spcPts val="20"/>
              </a:spcBef>
              <a:spcAft>
                <a:spcPts val="0"/>
              </a:spcAft>
              <a:buClr>
                <a:schemeClr val="accent1"/>
              </a:buClr>
              <a:buSzTx/>
            </a:pPr>
            <a:r>
              <a:rPr lang="zh-CN" altLang="en-US" dirty="0"/>
              <a:t>优先级</a:t>
            </a:r>
          </a:p>
          <a:p>
            <a:pPr marL="1143000" lvl="2" indent="-228600" eaLnBrk="1" hangingPunct="1">
              <a:lnSpc>
                <a:spcPct val="150000"/>
              </a:lnSpc>
              <a:spcBef>
                <a:spcPts val="20"/>
              </a:spcBef>
              <a:spcAft>
                <a:spcPts val="0"/>
              </a:spcAft>
              <a:buClr>
                <a:schemeClr val="bg2"/>
              </a:buClr>
              <a:buSzTx/>
              <a:buFont typeface="Wingdings" panose="05000000000000000000" pitchFamily="2" charset="2"/>
              <a:buChar char="l"/>
            </a:pPr>
            <a:r>
              <a:rPr lang="en-US" altLang="zh-CN" dirty="0"/>
              <a:t>(&gt;</a:t>
            </a:r>
            <a:r>
              <a:rPr lang="zh-CN" altLang="en-US" dirty="0"/>
              <a:t>、</a:t>
            </a:r>
            <a:r>
              <a:rPr lang="en-US" altLang="zh-CN" dirty="0"/>
              <a:t>&gt;=</a:t>
            </a:r>
            <a:r>
              <a:rPr lang="zh-CN" altLang="en-US" dirty="0"/>
              <a:t>、</a:t>
            </a:r>
            <a:r>
              <a:rPr lang="en-US" altLang="zh-CN" dirty="0"/>
              <a:t>&lt;</a:t>
            </a:r>
            <a:r>
              <a:rPr lang="zh-CN" altLang="en-US" dirty="0"/>
              <a:t>、</a:t>
            </a:r>
            <a:r>
              <a:rPr lang="en-US" altLang="zh-CN" dirty="0"/>
              <a:t>&lt;=) &gt; (==</a:t>
            </a:r>
            <a:r>
              <a:rPr lang="zh-CN" altLang="en-US" dirty="0"/>
              <a:t>、</a:t>
            </a:r>
            <a:r>
              <a:rPr lang="en-US" altLang="zh-CN" dirty="0"/>
              <a:t>!=)</a:t>
            </a:r>
          </a:p>
          <a:p>
            <a:pPr marL="1143000" lvl="2" indent="-228600" eaLnBrk="1" hangingPunct="1">
              <a:lnSpc>
                <a:spcPct val="150000"/>
              </a:lnSpc>
              <a:spcBef>
                <a:spcPts val="20"/>
              </a:spcBef>
              <a:buClr>
                <a:schemeClr val="bg2"/>
              </a:buClr>
              <a:buSzTx/>
              <a:buFont typeface="Wingdings" panose="05000000000000000000" pitchFamily="2" charset="2"/>
              <a:buChar char="l"/>
            </a:pPr>
            <a:r>
              <a:rPr lang="zh-CN" altLang="en-US" dirty="0"/>
              <a:t>关系运算符低于算术运算符</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运算符 </a:t>
            </a:r>
            <a:r>
              <a:rPr lang="en-US" altLang="zh-CN" dirty="0"/>
              <a:t>(operator)</a:t>
            </a: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50178" name="Rectangle 2"/>
          <p:cNvSpPr>
            <a:spLocks noGrp="1"/>
          </p:cNvSpPr>
          <p:nvPr>
            <p:ph idx="1"/>
          </p:nvPr>
        </p:nvSpPr>
        <p:spPr/>
        <p:txBody>
          <a:bodyPr vert="horz" wrap="square" lIns="96011" tIns="48005" rIns="96011" bIns="48005" anchor="t"/>
          <a:lstStyle/>
          <a:p>
            <a:pPr marL="609600" indent="-609600" eaLnBrk="1" hangingPunct="1">
              <a:lnSpc>
                <a:spcPct val="90000"/>
              </a:lnSpc>
              <a:spcAft>
                <a:spcPts val="0"/>
              </a:spcAft>
              <a:buSzPct val="90000"/>
            </a:pPr>
            <a:r>
              <a:rPr lang="zh-CN" altLang="en-US" sz="2940" dirty="0"/>
              <a:t>关系运算符</a:t>
            </a:r>
            <a:r>
              <a:rPr lang="en-US" altLang="zh-CN" sz="2940" dirty="0"/>
              <a:t>(Relational Operators)</a:t>
            </a:r>
          </a:p>
          <a:p>
            <a:pPr marL="990600" lvl="1" indent="-533400" eaLnBrk="1" hangingPunct="1">
              <a:lnSpc>
                <a:spcPct val="90000"/>
              </a:lnSpc>
              <a:spcBef>
                <a:spcPts val="20"/>
              </a:spcBef>
              <a:spcAft>
                <a:spcPts val="0"/>
              </a:spcAft>
              <a:buSzPct val="90000"/>
              <a:buNone/>
            </a:pPr>
            <a:r>
              <a:rPr lang="en-US" altLang="zh-CN" sz="2520" dirty="0"/>
              <a:t>class Test {</a:t>
            </a:r>
          </a:p>
          <a:p>
            <a:pPr marL="990600" lvl="1" indent="-533400" eaLnBrk="1" hangingPunct="1">
              <a:lnSpc>
                <a:spcPct val="90000"/>
              </a:lnSpc>
              <a:spcBef>
                <a:spcPts val="20"/>
              </a:spcBef>
              <a:spcAft>
                <a:spcPts val="0"/>
              </a:spcAft>
              <a:buSzPct val="90000"/>
              <a:buNone/>
            </a:pPr>
            <a:r>
              <a:rPr lang="en-US" altLang="x-none" sz="2520" dirty="0"/>
              <a:t>	</a:t>
            </a:r>
            <a:r>
              <a:rPr lang="en-US" altLang="zh-CN" sz="2520" dirty="0"/>
              <a:t>public static void main(String args[]) {</a:t>
            </a:r>
          </a:p>
          <a:p>
            <a:pPr marL="990600" lvl="1" indent="-533400" eaLnBrk="1" hangingPunct="1">
              <a:lnSpc>
                <a:spcPct val="90000"/>
              </a:lnSpc>
              <a:spcBef>
                <a:spcPts val="20"/>
              </a:spcBef>
              <a:spcAft>
                <a:spcPts val="0"/>
              </a:spcAft>
              <a:buSzPct val="90000"/>
              <a:buNone/>
            </a:pPr>
            <a:r>
              <a:rPr lang="en-US" altLang="x-none" sz="2520" dirty="0"/>
              <a:t>		</a:t>
            </a:r>
            <a:r>
              <a:rPr lang="en-US" altLang="zh-CN" sz="2520" dirty="0"/>
              <a:t>int w=25, x=3;</a:t>
            </a:r>
          </a:p>
          <a:p>
            <a:pPr marL="990600" lvl="1" indent="-533400" eaLnBrk="1" hangingPunct="1">
              <a:lnSpc>
                <a:spcPct val="90000"/>
              </a:lnSpc>
              <a:spcBef>
                <a:spcPts val="20"/>
              </a:spcBef>
              <a:spcAft>
                <a:spcPts val="0"/>
              </a:spcAft>
              <a:buSzPct val="90000"/>
              <a:buNone/>
            </a:pPr>
            <a:r>
              <a:rPr lang="en-US" altLang="x-none" sz="2520" dirty="0"/>
              <a:t>		</a:t>
            </a:r>
            <a:r>
              <a:rPr lang="en-US" altLang="zh-CN" sz="2520" dirty="0"/>
              <a:t>boolean y = w &lt; x;</a:t>
            </a:r>
          </a:p>
          <a:p>
            <a:pPr marL="990600" lvl="1" indent="-533400" eaLnBrk="1" hangingPunct="1">
              <a:lnSpc>
                <a:spcPct val="90000"/>
              </a:lnSpc>
              <a:spcBef>
                <a:spcPts val="20"/>
              </a:spcBef>
              <a:spcAft>
                <a:spcPts val="0"/>
              </a:spcAft>
              <a:buSzPct val="90000"/>
              <a:buNone/>
            </a:pPr>
            <a:r>
              <a:rPr lang="en-US" altLang="x-none" sz="2520" dirty="0"/>
              <a:t>		</a:t>
            </a:r>
            <a:r>
              <a:rPr lang="en-US" altLang="zh-CN" sz="2520" dirty="0"/>
              <a:t>boolean z = w &gt;= w * 2 – x * 9;</a:t>
            </a:r>
          </a:p>
          <a:p>
            <a:pPr marL="990600" lvl="1" indent="-533400" eaLnBrk="1" hangingPunct="1">
              <a:lnSpc>
                <a:spcPct val="90000"/>
              </a:lnSpc>
              <a:spcBef>
                <a:spcPts val="20"/>
              </a:spcBef>
              <a:spcAft>
                <a:spcPts val="0"/>
              </a:spcAft>
              <a:buSzPct val="90000"/>
              <a:buNone/>
            </a:pPr>
            <a:r>
              <a:rPr lang="en-US" altLang="x-none" sz="2520" dirty="0"/>
              <a:t>		</a:t>
            </a:r>
            <a:r>
              <a:rPr lang="en-US" altLang="zh-CN" sz="2520" dirty="0"/>
              <a:t>boolean cc = ‘b’ &gt; ‘a’;</a:t>
            </a:r>
          </a:p>
          <a:p>
            <a:pPr marL="990600" lvl="1" indent="-533400" eaLnBrk="1" hangingPunct="1">
              <a:lnSpc>
                <a:spcPct val="90000"/>
              </a:lnSpc>
              <a:spcBef>
                <a:spcPts val="20"/>
              </a:spcBef>
              <a:spcAft>
                <a:spcPts val="0"/>
              </a:spcAft>
              <a:buSzPct val="90000"/>
              <a:buNone/>
            </a:pPr>
            <a:r>
              <a:rPr lang="en-US" altLang="x-none" sz="2520" dirty="0"/>
              <a:t>		</a:t>
            </a:r>
            <a:r>
              <a:rPr lang="en-US" altLang="zh-CN" sz="2520" dirty="0"/>
              <a:t>System.out.println("w &lt; x = " + y);</a:t>
            </a:r>
          </a:p>
          <a:p>
            <a:pPr marL="990600" lvl="1" indent="-533400" eaLnBrk="1" hangingPunct="1">
              <a:lnSpc>
                <a:spcPct val="90000"/>
              </a:lnSpc>
              <a:spcBef>
                <a:spcPts val="20"/>
              </a:spcBef>
              <a:spcAft>
                <a:spcPts val="0"/>
              </a:spcAft>
              <a:buSzPct val="90000"/>
              <a:buNone/>
            </a:pPr>
            <a:r>
              <a:rPr lang="en-US" altLang="x-none" sz="2520" dirty="0"/>
              <a:t>		</a:t>
            </a:r>
            <a:r>
              <a:rPr lang="en-US" altLang="zh-CN" sz="2520" dirty="0"/>
              <a:t>System.out.println("z = " + z);</a:t>
            </a:r>
          </a:p>
          <a:p>
            <a:pPr marL="990600" lvl="1" indent="-533400" eaLnBrk="1" hangingPunct="1">
              <a:lnSpc>
                <a:spcPct val="90000"/>
              </a:lnSpc>
              <a:spcBef>
                <a:spcPts val="20"/>
              </a:spcBef>
              <a:spcAft>
                <a:spcPts val="0"/>
              </a:spcAft>
              <a:buSzPct val="90000"/>
              <a:buNone/>
            </a:pPr>
            <a:r>
              <a:rPr lang="en-US" altLang="x-none" sz="2520" dirty="0"/>
              <a:t>		</a:t>
            </a:r>
            <a:r>
              <a:rPr lang="en-US" altLang="zh-CN" sz="2520" dirty="0"/>
              <a:t>System.out.println("cc = " + cc);</a:t>
            </a:r>
          </a:p>
          <a:p>
            <a:pPr marL="990600" lvl="1" indent="-533400" eaLnBrk="1" hangingPunct="1">
              <a:lnSpc>
                <a:spcPct val="90000"/>
              </a:lnSpc>
              <a:spcBef>
                <a:spcPts val="20"/>
              </a:spcBef>
              <a:spcAft>
                <a:spcPts val="0"/>
              </a:spcAft>
              <a:buSzPct val="90000"/>
              <a:buNone/>
            </a:pPr>
            <a:r>
              <a:rPr lang="en-US" altLang="x-none" sz="2520" dirty="0"/>
              <a:t>	</a:t>
            </a:r>
            <a:r>
              <a:rPr lang="en-US" altLang="zh-CN" sz="2520" dirty="0"/>
              <a:t>}</a:t>
            </a:r>
          </a:p>
          <a:p>
            <a:pPr marL="990600" lvl="1" indent="-533400" eaLnBrk="1" hangingPunct="1">
              <a:lnSpc>
                <a:spcPct val="90000"/>
              </a:lnSpc>
              <a:spcBef>
                <a:spcPts val="20"/>
              </a:spcBef>
              <a:buSzPct val="90000"/>
              <a:buNone/>
            </a:pPr>
            <a:r>
              <a:rPr lang="en-US" altLang="zh-CN" sz="2520" dirty="0"/>
              <a:t>}</a:t>
            </a:r>
          </a:p>
        </p:txBody>
      </p:sp>
      <p:sp>
        <p:nvSpPr>
          <p:cNvPr id="50179"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67500" lnSpcReduction="20000"/>
          </a:bodyPr>
          <a:lstStyle/>
          <a:p>
            <a:pPr eaLnBrk="1" hangingPunct="1">
              <a:lnSpc>
                <a:spcPct val="150000"/>
              </a:lnSpc>
              <a:spcAft>
                <a:spcPts val="0"/>
              </a:spcAft>
              <a:buClr>
                <a:srgbClr val="000000"/>
              </a:buClr>
              <a:buSzTx/>
            </a:pPr>
            <a:r>
              <a:rPr lang="zh-CN" altLang="en-US" dirty="0"/>
              <a:t>逻辑运算符</a:t>
            </a:r>
            <a:r>
              <a:rPr lang="en-US" altLang="zh-CN" dirty="0"/>
              <a:t>(Logical Operators)</a:t>
            </a:r>
          </a:p>
          <a:p>
            <a:pPr marL="742950" lvl="1" indent="-285750" eaLnBrk="1" hangingPunct="1">
              <a:lnSpc>
                <a:spcPct val="150000"/>
              </a:lnSpc>
              <a:spcBef>
                <a:spcPts val="20"/>
              </a:spcBef>
              <a:spcAft>
                <a:spcPts val="0"/>
              </a:spcAft>
              <a:buClr>
                <a:schemeClr val="accent1"/>
              </a:buClr>
              <a:buSzTx/>
            </a:pPr>
            <a:r>
              <a:rPr lang="zh-CN" altLang="en-US" dirty="0"/>
              <a:t>操作数的逻辑关系，计算结果"</a:t>
            </a:r>
            <a:r>
              <a:rPr lang="en-US" altLang="zh-CN" dirty="0"/>
              <a:t>true"</a:t>
            </a:r>
            <a:r>
              <a:rPr lang="zh-CN" altLang="en-US" dirty="0"/>
              <a:t>或"</a:t>
            </a:r>
            <a:r>
              <a:rPr lang="en-US" altLang="zh-CN" dirty="0"/>
              <a:t>false"</a:t>
            </a:r>
          </a:p>
          <a:p>
            <a:pPr marL="1200150" lvl="2" indent="-285750" eaLnBrk="1" hangingPunct="1">
              <a:lnSpc>
                <a:spcPct val="150000"/>
              </a:lnSpc>
              <a:spcBef>
                <a:spcPts val="20"/>
              </a:spcBef>
              <a:spcAft>
                <a:spcPts val="0"/>
              </a:spcAft>
              <a:buClr>
                <a:schemeClr val="bg2"/>
              </a:buClr>
              <a:buSzTx/>
            </a:pPr>
            <a:r>
              <a:rPr lang="zh-CN" altLang="en-US" dirty="0"/>
              <a:t>逻辑与  </a:t>
            </a:r>
            <a:r>
              <a:rPr lang="en-US" altLang="zh-CN" dirty="0"/>
              <a:t>&amp;&amp;  "op1 &amp;&amp; op2"</a:t>
            </a:r>
          </a:p>
          <a:p>
            <a:pPr marL="1543050" lvl="3" indent="-171450" eaLnBrk="1" hangingPunct="1">
              <a:lnSpc>
                <a:spcPct val="150000"/>
              </a:lnSpc>
              <a:spcBef>
                <a:spcPts val="20"/>
              </a:spcBef>
              <a:spcAft>
                <a:spcPts val="0"/>
              </a:spcAft>
              <a:buSzPct val="90000"/>
            </a:pPr>
            <a:r>
              <a:rPr lang="zh-CN" altLang="en-US" dirty="0"/>
              <a:t>操作数都为真"</a:t>
            </a:r>
            <a:r>
              <a:rPr lang="en-US" altLang="zh-CN" dirty="0"/>
              <a:t>true"</a:t>
            </a:r>
            <a:r>
              <a:rPr lang="zh-CN" altLang="en-US" dirty="0"/>
              <a:t>，结果为真"</a:t>
            </a:r>
            <a:r>
              <a:rPr lang="en-US" altLang="zh-CN" dirty="0"/>
              <a:t>true"</a:t>
            </a:r>
          </a:p>
          <a:p>
            <a:pPr marL="1543050" lvl="3" indent="-171450" eaLnBrk="1" hangingPunct="1">
              <a:lnSpc>
                <a:spcPct val="150000"/>
              </a:lnSpc>
              <a:spcBef>
                <a:spcPts val="20"/>
              </a:spcBef>
              <a:spcAft>
                <a:spcPts val="0"/>
              </a:spcAft>
              <a:buSzPct val="90000"/>
            </a:pPr>
            <a:r>
              <a:rPr lang="zh-CN" altLang="en-US" dirty="0"/>
              <a:t>否则结果为假"</a:t>
            </a:r>
            <a:r>
              <a:rPr lang="en-US" altLang="zh-CN" dirty="0"/>
              <a:t>false"</a:t>
            </a:r>
          </a:p>
          <a:p>
            <a:pPr marL="1200150" lvl="2" indent="-285750" eaLnBrk="1" hangingPunct="1">
              <a:lnSpc>
                <a:spcPct val="150000"/>
              </a:lnSpc>
              <a:spcBef>
                <a:spcPts val="20"/>
              </a:spcBef>
              <a:spcAft>
                <a:spcPts val="0"/>
              </a:spcAft>
              <a:buClr>
                <a:schemeClr val="bg2"/>
              </a:buClr>
              <a:buSzTx/>
            </a:pPr>
            <a:r>
              <a:rPr lang="zh-CN" altLang="en-US" dirty="0"/>
              <a:t>逻辑或  </a:t>
            </a:r>
            <a:r>
              <a:rPr lang="en-US" altLang="zh-CN" dirty="0"/>
              <a:t>||    "op1 || op2"</a:t>
            </a:r>
          </a:p>
          <a:p>
            <a:pPr marL="1543050" lvl="3" indent="-171450" eaLnBrk="1" hangingPunct="1">
              <a:lnSpc>
                <a:spcPct val="150000"/>
              </a:lnSpc>
              <a:spcBef>
                <a:spcPts val="20"/>
              </a:spcBef>
              <a:spcAft>
                <a:spcPts val="0"/>
              </a:spcAft>
              <a:buSzPct val="90000"/>
            </a:pPr>
            <a:r>
              <a:rPr lang="zh-CN" altLang="en-US" dirty="0"/>
              <a:t>有一个操作数为真"</a:t>
            </a:r>
            <a:r>
              <a:rPr lang="en-US" altLang="zh-CN" dirty="0"/>
              <a:t>true"</a:t>
            </a:r>
            <a:r>
              <a:rPr lang="zh-CN" altLang="en-US" dirty="0"/>
              <a:t>，结果为真"</a:t>
            </a:r>
            <a:r>
              <a:rPr lang="en-US" altLang="zh-CN" dirty="0"/>
              <a:t>true"</a:t>
            </a:r>
          </a:p>
          <a:p>
            <a:pPr marL="1543050" lvl="3" indent="-171450" eaLnBrk="1" hangingPunct="1">
              <a:lnSpc>
                <a:spcPct val="150000"/>
              </a:lnSpc>
              <a:spcBef>
                <a:spcPts val="20"/>
              </a:spcBef>
              <a:spcAft>
                <a:spcPts val="0"/>
              </a:spcAft>
              <a:buSzPct val="90000"/>
            </a:pPr>
            <a:r>
              <a:rPr lang="zh-CN" altLang="en-US" dirty="0"/>
              <a:t>否则结果为假"</a:t>
            </a:r>
            <a:r>
              <a:rPr lang="en-US" altLang="zh-CN" dirty="0"/>
              <a:t>false"</a:t>
            </a:r>
          </a:p>
          <a:p>
            <a:pPr marL="1200150" lvl="2" indent="-285750" eaLnBrk="1" hangingPunct="1">
              <a:lnSpc>
                <a:spcPct val="150000"/>
              </a:lnSpc>
              <a:spcBef>
                <a:spcPts val="20"/>
              </a:spcBef>
              <a:spcAft>
                <a:spcPts val="0"/>
              </a:spcAft>
              <a:buClr>
                <a:schemeClr val="bg2"/>
              </a:buClr>
              <a:buSzTx/>
            </a:pPr>
            <a:r>
              <a:rPr lang="zh-CN" altLang="en-US" dirty="0"/>
              <a:t>逻辑非  </a:t>
            </a:r>
            <a:r>
              <a:rPr lang="en-US" altLang="zh-CN" dirty="0"/>
              <a:t>!     "! op"</a:t>
            </a:r>
          </a:p>
          <a:p>
            <a:pPr marL="1543050" lvl="3" indent="-171450" eaLnBrk="1" hangingPunct="1">
              <a:lnSpc>
                <a:spcPct val="150000"/>
              </a:lnSpc>
              <a:spcBef>
                <a:spcPts val="20"/>
              </a:spcBef>
              <a:spcAft>
                <a:spcPts val="0"/>
              </a:spcAft>
              <a:buSzPct val="90000"/>
            </a:pPr>
            <a:r>
              <a:rPr lang="zh-CN" altLang="en-US" dirty="0"/>
              <a:t>取反，操作数为真"</a:t>
            </a:r>
            <a:r>
              <a:rPr lang="en-US" altLang="zh-CN" dirty="0"/>
              <a:t>true"</a:t>
            </a:r>
            <a:r>
              <a:rPr lang="zh-CN" altLang="en-US" dirty="0"/>
              <a:t>，结果为真"</a:t>
            </a:r>
            <a:r>
              <a:rPr lang="en-US" altLang="zh-CN" dirty="0"/>
              <a:t>false"</a:t>
            </a:r>
            <a:r>
              <a:rPr lang="zh-CN" altLang="en-US" dirty="0"/>
              <a:t>，反之</a:t>
            </a:r>
            <a:r>
              <a:rPr lang="en-US" altLang="zh-CN" dirty="0"/>
              <a:t>……</a:t>
            </a:r>
          </a:p>
          <a:p>
            <a:pPr marL="1200150" lvl="2" indent="-285750" eaLnBrk="1" hangingPunct="1">
              <a:lnSpc>
                <a:spcPct val="150000"/>
              </a:lnSpc>
              <a:spcBef>
                <a:spcPts val="20"/>
              </a:spcBef>
              <a:spcAft>
                <a:spcPts val="0"/>
              </a:spcAft>
              <a:buSzPct val="90000"/>
            </a:pPr>
            <a:r>
              <a:rPr lang="zh-CN" altLang="en-US" dirty="0"/>
              <a:t>例</a:t>
            </a:r>
            <a:r>
              <a:rPr lang="en-US" altLang="zh-CN" dirty="0"/>
              <a:t>: 0 &lt;= index &amp;&amp; index &lt; NUM_ENTRIES </a:t>
            </a:r>
          </a:p>
          <a:p>
            <a:pPr marL="742950" lvl="1" indent="-285750" eaLnBrk="1" hangingPunct="1">
              <a:lnSpc>
                <a:spcPct val="150000"/>
              </a:lnSpc>
              <a:spcBef>
                <a:spcPts val="20"/>
              </a:spcBef>
              <a:spcAft>
                <a:spcPts val="0"/>
              </a:spcAft>
              <a:buClr>
                <a:schemeClr val="accent1"/>
              </a:buClr>
              <a:buSzTx/>
            </a:pPr>
            <a:r>
              <a:rPr lang="zh-CN" altLang="en-US" dirty="0"/>
              <a:t>优先级</a:t>
            </a:r>
          </a:p>
          <a:p>
            <a:pPr marL="1200150" lvl="2" indent="-285750" eaLnBrk="1" hangingPunct="1">
              <a:lnSpc>
                <a:spcPct val="150000"/>
              </a:lnSpc>
              <a:spcBef>
                <a:spcPts val="20"/>
              </a:spcBef>
              <a:spcAft>
                <a:spcPts val="0"/>
              </a:spcAft>
              <a:buClr>
                <a:schemeClr val="bg2"/>
              </a:buClr>
              <a:buSzTx/>
            </a:pPr>
            <a:r>
              <a:rPr lang="en-US" altLang="zh-CN" dirty="0"/>
              <a:t>(!) &gt; (&amp;&amp;) &gt; (||)</a:t>
            </a:r>
          </a:p>
          <a:p>
            <a:pPr marL="1200150" lvl="2" indent="-285750" eaLnBrk="1" hangingPunct="1">
              <a:lnSpc>
                <a:spcPct val="150000"/>
              </a:lnSpc>
              <a:spcBef>
                <a:spcPts val="20"/>
              </a:spcBef>
              <a:buClr>
                <a:schemeClr val="bg2"/>
              </a:buClr>
              <a:buSzTx/>
            </a:pPr>
            <a:r>
              <a:rPr lang="en-US" altLang="zh-CN" dirty="0"/>
              <a:t>(!)&gt;</a:t>
            </a:r>
            <a:r>
              <a:rPr lang="zh-CN" altLang="en-US" dirty="0"/>
              <a:t>算术运算符</a:t>
            </a:r>
            <a:r>
              <a:rPr lang="en-US" altLang="zh-CN" dirty="0"/>
              <a:t>&gt;</a:t>
            </a:r>
            <a:r>
              <a:rPr lang="zh-CN" altLang="en-US" dirty="0"/>
              <a:t>关系运算符</a:t>
            </a:r>
            <a:r>
              <a:rPr lang="en-US" altLang="zh-CN" dirty="0"/>
              <a:t>&gt;(&amp;&amp;) &gt; (||)</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运算符 </a:t>
            </a:r>
            <a:r>
              <a:rPr lang="en-US" altLang="zh-CN" dirty="0"/>
              <a:t>(operator)</a:t>
            </a: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位运算符</a:t>
            </a:r>
            <a:r>
              <a:rPr lang="en-US" altLang="zh-CN" dirty="0"/>
              <a:t>(Bitwise Operators)</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按位取反    </a:t>
            </a:r>
            <a:r>
              <a:rPr lang="en-US" altLang="zh-CN" dirty="0"/>
              <a:t>~    "~op2"</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按位与       </a:t>
            </a:r>
            <a:r>
              <a:rPr lang="en-US" altLang="zh-CN" dirty="0"/>
              <a:t>&amp;     "op1 &amp; op2"  </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按位或       </a:t>
            </a:r>
            <a:r>
              <a:rPr lang="en-US" altLang="zh-CN" dirty="0"/>
              <a:t>|      "op1 | op2"</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按位异或    </a:t>
            </a:r>
            <a:r>
              <a:rPr lang="en-US" altLang="zh-CN" dirty="0"/>
              <a:t>^     "op1 ^ op2"</a:t>
            </a:r>
          </a:p>
          <a:p>
            <a:pPr marL="990600" lvl="1" indent="-533400" eaLnBrk="1" hangingPunct="1">
              <a:buSzPct val="90000"/>
              <a:buFont typeface="Wingdings" panose="05000000000000000000" pitchFamily="2" charset="2"/>
              <a:buAutoNum type="arabicPeriod"/>
            </a:pPr>
            <a:endParaRPr lang="en-US" altLang="x-none" dirty="0"/>
          </a:p>
          <a:p>
            <a:pPr marL="990600" lvl="1" indent="-533400" eaLnBrk="1" hangingPunct="1">
              <a:spcBef>
                <a:spcPts val="20"/>
              </a:spcBef>
              <a:buSzPct val="90000"/>
              <a:buNone/>
            </a:pPr>
            <a:r>
              <a:rPr lang="zh-CN" altLang="en-US" dirty="0"/>
              <a:t>通常</a:t>
            </a:r>
            <a:r>
              <a:rPr lang="en-US" altLang="zh-CN" dirty="0"/>
              <a:t>: </a:t>
            </a:r>
            <a:r>
              <a:rPr lang="zh-CN" altLang="en-US" dirty="0"/>
              <a:t>操作数为整数</a:t>
            </a:r>
          </a:p>
        </p:txBody>
      </p:sp>
      <p:sp>
        <p:nvSpPr>
          <p:cNvPr id="52227"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
        <p:nvSpPr>
          <p:cNvPr id="52228"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53250" name="Rectangle 2"/>
          <p:cNvSpPr>
            <a:spLocks noGrp="1"/>
          </p:cNvSpPr>
          <p:nvPr>
            <p:ph idx="1"/>
          </p:nvPr>
        </p:nvSpPr>
        <p:spPr/>
        <p:txBody>
          <a:bodyPr vert="horz" wrap="square" lIns="96011" tIns="48005" rIns="96011" bIns="48005" anchor="t">
            <a:normAutofit/>
          </a:bodyPr>
          <a:lstStyle/>
          <a:p>
            <a:pPr marL="609600" indent="-609600" eaLnBrk="1" hangingPunct="1">
              <a:spcAft>
                <a:spcPts val="0"/>
              </a:spcAft>
              <a:buSzPct val="90000"/>
            </a:pPr>
            <a:r>
              <a:rPr lang="zh-CN" altLang="en-US" dirty="0"/>
              <a:t>补码</a:t>
            </a:r>
          </a:p>
          <a:p>
            <a:pPr marL="990600" lvl="1" indent="-533400" eaLnBrk="1" hangingPunct="1">
              <a:spcBef>
                <a:spcPts val="20"/>
              </a:spcBef>
              <a:spcAft>
                <a:spcPts val="0"/>
              </a:spcAft>
              <a:buSzPct val="90000"/>
            </a:pPr>
            <a:r>
              <a:rPr lang="zh-CN" altLang="en-US" dirty="0"/>
              <a:t>采用补码表示二进制数</a:t>
            </a:r>
          </a:p>
          <a:p>
            <a:pPr marL="990600" lvl="1" indent="-533400" eaLnBrk="1" hangingPunct="1">
              <a:spcBef>
                <a:spcPts val="20"/>
              </a:spcBef>
              <a:spcAft>
                <a:spcPts val="0"/>
              </a:spcAft>
              <a:buSzPct val="90000"/>
            </a:pPr>
            <a:r>
              <a:rPr lang="zh-CN" altLang="en-US" dirty="0"/>
              <a:t>最高位是符号位</a:t>
            </a:r>
          </a:p>
          <a:p>
            <a:pPr marL="1371600" lvl="2" indent="-457200" eaLnBrk="1" hangingPunct="1">
              <a:spcBef>
                <a:spcPts val="20"/>
              </a:spcBef>
              <a:spcAft>
                <a:spcPts val="0"/>
              </a:spcAft>
              <a:buSzPct val="90000"/>
            </a:pPr>
            <a:r>
              <a:rPr lang="zh-CN" altLang="en-US" dirty="0"/>
              <a:t>正数的符号位是</a:t>
            </a:r>
            <a:r>
              <a:rPr lang="en-US" altLang="zh-CN" dirty="0"/>
              <a:t>0</a:t>
            </a:r>
            <a:r>
              <a:rPr lang="zh-CN" altLang="en-US" dirty="0"/>
              <a:t>，</a:t>
            </a:r>
          </a:p>
          <a:p>
            <a:pPr marL="1371600" lvl="2" indent="-457200" eaLnBrk="1" hangingPunct="1">
              <a:spcBef>
                <a:spcPts val="20"/>
              </a:spcBef>
              <a:spcAft>
                <a:spcPts val="0"/>
              </a:spcAft>
              <a:buSzPct val="90000"/>
              <a:buNone/>
            </a:pPr>
            <a:r>
              <a:rPr lang="zh-CN" altLang="en-US" dirty="0"/>
              <a:t>	例，十进制＋</a:t>
            </a:r>
            <a:r>
              <a:rPr lang="en-US" altLang="zh-CN" dirty="0"/>
              <a:t>42</a:t>
            </a:r>
            <a:r>
              <a:rPr lang="zh-CN" altLang="en-US" dirty="0"/>
              <a:t>的补码为</a:t>
            </a:r>
            <a:r>
              <a:rPr lang="en-US" altLang="zh-CN" dirty="0"/>
              <a:t>00101010</a:t>
            </a:r>
          </a:p>
          <a:p>
            <a:pPr marL="1371600" lvl="2" indent="-457200" eaLnBrk="1" hangingPunct="1">
              <a:spcBef>
                <a:spcPts val="20"/>
              </a:spcBef>
              <a:spcAft>
                <a:spcPts val="0"/>
              </a:spcAft>
              <a:buSzPct val="90000"/>
            </a:pPr>
            <a:r>
              <a:rPr lang="zh-CN" altLang="en-US" dirty="0"/>
              <a:t>负数的符号位是</a:t>
            </a:r>
            <a:r>
              <a:rPr lang="en-US" altLang="zh-CN" dirty="0"/>
              <a:t>1</a:t>
            </a:r>
          </a:p>
          <a:p>
            <a:pPr marL="1371600" lvl="2" indent="-457200" eaLnBrk="1" hangingPunct="1">
              <a:spcBef>
                <a:spcPts val="20"/>
              </a:spcBef>
              <a:spcAft>
                <a:spcPts val="0"/>
              </a:spcAft>
              <a:buSzPct val="90000"/>
              <a:buNone/>
            </a:pPr>
            <a:r>
              <a:rPr lang="en-US" altLang="x-none" dirty="0"/>
              <a:t>	</a:t>
            </a:r>
            <a:r>
              <a:rPr lang="zh-CN" altLang="en-US" sz="2205" dirty="0"/>
              <a:t>该负数绝对值的补码按位取反，然后加</a:t>
            </a:r>
            <a:r>
              <a:rPr lang="en-US" altLang="zh-CN" sz="2205" dirty="0"/>
              <a:t>1</a:t>
            </a:r>
            <a:r>
              <a:rPr lang="zh-CN" altLang="en-US" sz="2205" dirty="0"/>
              <a:t>，为该负数的补码</a:t>
            </a:r>
          </a:p>
          <a:p>
            <a:pPr marL="1371600" lvl="2" indent="-457200" eaLnBrk="1" hangingPunct="1">
              <a:spcBef>
                <a:spcPts val="20"/>
              </a:spcBef>
              <a:spcAft>
                <a:spcPts val="0"/>
              </a:spcAft>
              <a:buSzPct val="90000"/>
              <a:buNone/>
            </a:pPr>
            <a:r>
              <a:rPr lang="zh-CN" altLang="en-US" dirty="0"/>
              <a:t>	例，十进制</a:t>
            </a:r>
            <a:r>
              <a:rPr lang="en-US" altLang="zh-CN" dirty="0"/>
              <a:t>-42</a:t>
            </a:r>
            <a:r>
              <a:rPr lang="zh-CN" altLang="en-US" dirty="0"/>
              <a:t>的补码</a:t>
            </a:r>
            <a:r>
              <a:rPr lang="en-US" altLang="zh-CN" dirty="0"/>
              <a:t>—</a:t>
            </a:r>
            <a:r>
              <a:rPr lang="zh-CN" altLang="en-US" dirty="0"/>
              <a:t>负数的绝对值</a:t>
            </a:r>
            <a:r>
              <a:rPr lang="en-US" altLang="zh-CN" dirty="0"/>
              <a:t>42</a:t>
            </a:r>
          </a:p>
          <a:p>
            <a:pPr marL="1371600" lvl="2" indent="-457200" eaLnBrk="1" hangingPunct="1">
              <a:spcBef>
                <a:spcPts val="20"/>
              </a:spcBef>
              <a:spcAft>
                <a:spcPts val="0"/>
              </a:spcAft>
              <a:buSzPct val="90000"/>
              <a:buNone/>
            </a:pPr>
            <a:r>
              <a:rPr lang="en-US" altLang="x-none" dirty="0"/>
              <a:t>			                     </a:t>
            </a:r>
            <a:r>
              <a:rPr lang="zh-CN" altLang="en-US" dirty="0"/>
              <a:t>绝对值的补码</a:t>
            </a:r>
            <a:r>
              <a:rPr lang="en-US" altLang="zh-CN" dirty="0"/>
              <a:t>00101010</a:t>
            </a:r>
          </a:p>
          <a:p>
            <a:pPr marL="1371600" lvl="2" indent="-457200" eaLnBrk="1" hangingPunct="1">
              <a:spcBef>
                <a:spcPts val="20"/>
              </a:spcBef>
              <a:spcAft>
                <a:spcPts val="0"/>
              </a:spcAft>
              <a:buSzPct val="90000"/>
              <a:buNone/>
            </a:pPr>
            <a:r>
              <a:rPr lang="en-US" altLang="x-none" dirty="0"/>
              <a:t>			                             </a:t>
            </a:r>
            <a:r>
              <a:rPr lang="zh-CN" altLang="en-US" dirty="0"/>
              <a:t>按位取反</a:t>
            </a:r>
            <a:r>
              <a:rPr lang="en-US" altLang="zh-CN" dirty="0"/>
              <a:t>11010101</a:t>
            </a:r>
          </a:p>
          <a:p>
            <a:pPr marL="1371600" lvl="2" indent="-457200" eaLnBrk="1" hangingPunct="1">
              <a:spcBef>
                <a:spcPts val="20"/>
              </a:spcBef>
              <a:buSzPct val="90000"/>
              <a:buNone/>
            </a:pPr>
            <a:r>
              <a:rPr lang="en-US" altLang="x-none" dirty="0"/>
              <a:t>						    </a:t>
            </a:r>
            <a:r>
              <a:rPr lang="zh-CN" altLang="en-US" dirty="0"/>
              <a:t>加</a:t>
            </a:r>
            <a:r>
              <a:rPr lang="en-US" altLang="zh-CN" dirty="0"/>
              <a:t>1</a:t>
            </a:r>
            <a:r>
              <a:rPr lang="zh-CN" altLang="en-US" dirty="0"/>
              <a:t>得</a:t>
            </a:r>
            <a:r>
              <a:rPr lang="en-US" altLang="zh-CN" dirty="0"/>
              <a:t>11010110</a:t>
            </a:r>
          </a:p>
        </p:txBody>
      </p:sp>
      <p:sp>
        <p:nvSpPr>
          <p:cNvPr id="53251"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54274"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sz="2940" dirty="0"/>
              <a:t>按位取反 </a:t>
            </a:r>
            <a:r>
              <a:rPr lang="en-US" altLang="zh-CN" sz="2940" dirty="0">
                <a:solidFill>
                  <a:schemeClr val="hlink"/>
                </a:solidFill>
              </a:rPr>
              <a:t>~</a:t>
            </a:r>
            <a:r>
              <a:rPr lang="en-US" altLang="zh-CN" sz="2940" dirty="0"/>
              <a:t>    "</a:t>
            </a:r>
            <a:r>
              <a:rPr lang="en-US" altLang="zh-CN" sz="2940" dirty="0">
                <a:solidFill>
                  <a:schemeClr val="hlink"/>
                </a:solidFill>
              </a:rPr>
              <a:t>~op2</a:t>
            </a:r>
            <a:r>
              <a:rPr lang="en-US" altLang="zh-CN" sz="2940" dirty="0"/>
              <a:t>"</a:t>
            </a:r>
          </a:p>
          <a:p>
            <a:pPr marL="990600" lvl="1" indent="-533400" eaLnBrk="1" hangingPunct="1">
              <a:spcBef>
                <a:spcPts val="20"/>
              </a:spcBef>
              <a:spcAft>
                <a:spcPts val="0"/>
              </a:spcAft>
              <a:buSzPct val="90000"/>
              <a:buNone/>
            </a:pPr>
            <a:r>
              <a:rPr lang="zh-CN" altLang="en-US" dirty="0"/>
              <a:t>对操作数的每一个二进制位进行"取反"操作</a:t>
            </a:r>
          </a:p>
          <a:p>
            <a:pPr marL="990600" lvl="1" indent="-533400" eaLnBrk="1" hangingPunct="1">
              <a:spcBef>
                <a:spcPts val="20"/>
              </a:spcBef>
              <a:spcAft>
                <a:spcPts val="0"/>
              </a:spcAft>
              <a:buSzPct val="90000"/>
            </a:pPr>
            <a:r>
              <a:rPr lang="en-US" altLang="zh-CN" dirty="0"/>
              <a:t>int  a = 42;</a:t>
            </a:r>
          </a:p>
          <a:p>
            <a:pPr marL="990600" lvl="1" indent="-533400" eaLnBrk="1" hangingPunct="1">
              <a:spcBef>
                <a:spcPts val="20"/>
              </a:spcBef>
              <a:spcAft>
                <a:spcPts val="0"/>
              </a:spcAft>
              <a:buSzPct val="90000"/>
            </a:pPr>
            <a:r>
              <a:rPr lang="en-US" altLang="zh-CN" dirty="0"/>
              <a:t>int aa = ~a;</a:t>
            </a:r>
          </a:p>
          <a:p>
            <a:pPr marL="990600" lvl="1" indent="-533400" eaLnBrk="1" hangingPunct="1">
              <a:spcBef>
                <a:spcPts val="20"/>
              </a:spcBef>
              <a:spcAft>
                <a:spcPts val="0"/>
              </a:spcAft>
              <a:buSzPct val="90000"/>
            </a:pPr>
            <a:r>
              <a:rPr lang="en-US" altLang="zh-CN" dirty="0"/>
              <a:t>System.out.println("aa=" + aa);</a:t>
            </a:r>
          </a:p>
          <a:p>
            <a:pPr marL="990600" lvl="1" indent="-533400" eaLnBrk="1" hangingPunct="1">
              <a:buSzPct val="90000"/>
            </a:pPr>
            <a:endParaRPr lang="en-US" altLang="zh-CN" dirty="0"/>
          </a:p>
          <a:p>
            <a:pPr marL="1371600" lvl="2" indent="-457200" eaLnBrk="1" hangingPunct="1">
              <a:spcBef>
                <a:spcPts val="20"/>
              </a:spcBef>
              <a:spcAft>
                <a:spcPts val="0"/>
              </a:spcAft>
              <a:buSzPct val="90000"/>
              <a:buNone/>
            </a:pPr>
            <a:r>
              <a:rPr lang="en-US" altLang="zh-CN" sz="2940" dirty="0"/>
              <a:t>42     00101010</a:t>
            </a:r>
          </a:p>
          <a:p>
            <a:pPr marL="1371600" lvl="2" indent="-457200" eaLnBrk="1" hangingPunct="1">
              <a:spcBef>
                <a:spcPts val="20"/>
              </a:spcBef>
              <a:spcAft>
                <a:spcPts val="0"/>
              </a:spcAft>
              <a:buSzPct val="90000"/>
              <a:buNone/>
            </a:pPr>
            <a:r>
              <a:rPr lang="en-US" altLang="zh-CN" sz="2940" dirty="0"/>
              <a:t>      ~	</a:t>
            </a:r>
          </a:p>
          <a:p>
            <a:pPr marL="1371600" lvl="2" indent="-457200" eaLnBrk="1" hangingPunct="1">
              <a:spcBef>
                <a:spcPts val="20"/>
              </a:spcBef>
              <a:buSzPct val="90000"/>
              <a:buNone/>
            </a:pPr>
            <a:r>
              <a:rPr lang="en-US" altLang="zh-CN" sz="2940" dirty="0"/>
              <a:t>-43    11010101</a:t>
            </a:r>
          </a:p>
          <a:p>
            <a:pPr marL="1371600" lvl="2" indent="-457200" eaLnBrk="1" hangingPunct="1">
              <a:buSzPct val="90000"/>
              <a:buNone/>
            </a:pPr>
            <a:endParaRPr lang="zh-CN" altLang="en-US" sz="2940" dirty="0"/>
          </a:p>
        </p:txBody>
      </p:sp>
      <p:sp>
        <p:nvSpPr>
          <p:cNvPr id="54275"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55298"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按位与    </a:t>
            </a:r>
            <a:r>
              <a:rPr lang="en-US" altLang="zh-CN" dirty="0">
                <a:solidFill>
                  <a:schemeClr val="hlink"/>
                </a:solidFill>
              </a:rPr>
              <a:t>&amp;</a:t>
            </a:r>
            <a:r>
              <a:rPr lang="en-US" altLang="zh-CN" dirty="0"/>
              <a:t>     "</a:t>
            </a:r>
            <a:r>
              <a:rPr lang="en-US" altLang="zh-CN" dirty="0">
                <a:solidFill>
                  <a:schemeClr val="hlink"/>
                </a:solidFill>
              </a:rPr>
              <a:t>op1 &amp; op2</a:t>
            </a:r>
            <a:r>
              <a:rPr lang="en-US" altLang="zh-CN" dirty="0"/>
              <a:t>"</a:t>
            </a:r>
          </a:p>
          <a:p>
            <a:pPr marL="990600" lvl="1" indent="-533400" eaLnBrk="1" hangingPunct="1">
              <a:spcBef>
                <a:spcPts val="20"/>
              </a:spcBef>
              <a:spcAft>
                <a:spcPts val="0"/>
              </a:spcAft>
              <a:buSzPct val="90000"/>
              <a:buNone/>
            </a:pPr>
            <a:r>
              <a:rPr lang="zh-CN" altLang="en-US" sz="2400" dirty="0"/>
              <a:t>将操作数的对应位逐位进行位逻辑与运算</a:t>
            </a:r>
          </a:p>
          <a:p>
            <a:pPr marL="990600" lvl="1" indent="-533400" eaLnBrk="1" hangingPunct="1">
              <a:spcBef>
                <a:spcPts val="0"/>
              </a:spcBef>
              <a:spcAft>
                <a:spcPts val="0"/>
              </a:spcAft>
              <a:buSzPct val="90000"/>
              <a:buNone/>
            </a:pPr>
            <a:r>
              <a:rPr lang="en-US" altLang="zh-CN" sz="2400" dirty="0">
                <a:solidFill>
                  <a:schemeClr val="hlink"/>
                </a:solidFill>
              </a:rPr>
              <a:t>1  1 </a:t>
            </a:r>
            <a:r>
              <a:rPr lang="en-US" altLang="zh-CN" sz="2400" dirty="0">
                <a:solidFill>
                  <a:schemeClr val="hlink"/>
                </a:solidFill>
                <a:sym typeface="Wingdings" panose="05000000000000000000" pitchFamily="2" charset="2"/>
              </a:rPr>
              <a:t> 1</a:t>
            </a:r>
            <a:r>
              <a:rPr lang="zh-CN" altLang="en-US" sz="2400" dirty="0">
                <a:solidFill>
                  <a:schemeClr val="hlink"/>
                </a:solidFill>
                <a:sym typeface="Wingdings" panose="05000000000000000000" pitchFamily="2" charset="2"/>
              </a:rPr>
              <a:t>，其余为</a:t>
            </a:r>
            <a:r>
              <a:rPr lang="en-US" altLang="zh-CN" sz="2400" dirty="0">
                <a:solidFill>
                  <a:schemeClr val="hlink"/>
                </a:solidFill>
                <a:sym typeface="Wingdings" panose="05000000000000000000" pitchFamily="2" charset="2"/>
              </a:rPr>
              <a:t>0</a:t>
            </a:r>
            <a:endParaRPr lang="en-US" altLang="zh-CN" sz="2400" dirty="0">
              <a:solidFill>
                <a:schemeClr val="hlink"/>
              </a:solidFill>
            </a:endParaRPr>
          </a:p>
          <a:p>
            <a:pPr marL="990600" lvl="1" indent="-533400" eaLnBrk="1" hangingPunct="1">
              <a:buSzPct val="90000"/>
              <a:buNone/>
            </a:pPr>
            <a:r>
              <a:rPr lang="zh-CN" altLang="en-US" sz="2400" dirty="0"/>
              <a:t>用途</a:t>
            </a:r>
          </a:p>
          <a:p>
            <a:pPr marL="990600" lvl="1" indent="-533400" eaLnBrk="1" hangingPunct="1">
              <a:buSzPct val="90000"/>
              <a:buFont typeface="Wingdings" panose="05000000000000000000" pitchFamily="2" charset="2"/>
              <a:buAutoNum type="arabicPeriod"/>
            </a:pPr>
            <a:r>
              <a:rPr lang="zh-CN" altLang="en-US" sz="2400" dirty="0"/>
              <a:t>取某一整数中指定的几个二进制位</a:t>
            </a:r>
          </a:p>
          <a:p>
            <a:pPr marL="990600" lvl="1" indent="-533400" eaLnBrk="1" hangingPunct="1">
              <a:buSzPct val="90000"/>
              <a:buNone/>
            </a:pPr>
            <a:r>
              <a:rPr lang="en-US" altLang="zh-CN" sz="2400" dirty="0"/>
              <a:t>42 &amp; 15         00101010</a:t>
            </a:r>
          </a:p>
          <a:p>
            <a:pPr marL="990600" lvl="1" indent="-533400" eaLnBrk="1" hangingPunct="1">
              <a:buSzPct val="90000"/>
              <a:buNone/>
            </a:pPr>
            <a:r>
              <a:rPr lang="en-US" altLang="zh-CN" sz="2400" dirty="0"/>
              <a:t>                &amp;  00001111</a:t>
            </a:r>
          </a:p>
          <a:p>
            <a:pPr marL="990600" lvl="1" indent="-533400" eaLnBrk="1" hangingPunct="1">
              <a:buSzPct val="90000"/>
              <a:buNone/>
            </a:pPr>
            <a:r>
              <a:rPr lang="en-US" altLang="zh-CN" sz="2400" dirty="0"/>
              <a:t>                    0000</a:t>
            </a:r>
            <a:r>
              <a:rPr lang="en-US" altLang="zh-CN" sz="2400" dirty="0">
                <a:solidFill>
                  <a:schemeClr val="hlink"/>
                </a:solidFill>
              </a:rPr>
              <a:t>1010</a:t>
            </a:r>
          </a:p>
          <a:p>
            <a:pPr marL="990600" lvl="1" indent="-533400" eaLnBrk="1" hangingPunct="1">
              <a:buSzPct val="90000"/>
              <a:buNone/>
            </a:pPr>
            <a:r>
              <a:rPr lang="en-US" altLang="zh-CN" sz="2400" dirty="0"/>
              <a:t>			  </a:t>
            </a:r>
            <a:r>
              <a:rPr lang="zh-CN" altLang="en-US" sz="2400" dirty="0"/>
              <a:t>取后四位</a:t>
            </a:r>
          </a:p>
        </p:txBody>
      </p:sp>
      <p:sp>
        <p:nvSpPr>
          <p:cNvPr id="55299"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56322"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按位与    </a:t>
            </a:r>
            <a:r>
              <a:rPr lang="en-US" altLang="zh-CN" dirty="0">
                <a:solidFill>
                  <a:schemeClr val="hlink"/>
                </a:solidFill>
              </a:rPr>
              <a:t>&amp;</a:t>
            </a:r>
            <a:r>
              <a:rPr lang="en-US" altLang="zh-CN" dirty="0"/>
              <a:t>     "</a:t>
            </a:r>
            <a:r>
              <a:rPr lang="en-US" altLang="zh-CN" dirty="0">
                <a:solidFill>
                  <a:schemeClr val="hlink"/>
                </a:solidFill>
              </a:rPr>
              <a:t>op1 &amp; op2</a:t>
            </a:r>
            <a:r>
              <a:rPr lang="en-US" altLang="zh-CN" dirty="0"/>
              <a:t>"</a:t>
            </a:r>
          </a:p>
          <a:p>
            <a:pPr marL="990600" lvl="1" indent="-533400" eaLnBrk="1" hangingPunct="1">
              <a:spcBef>
                <a:spcPts val="20"/>
              </a:spcBef>
              <a:spcAft>
                <a:spcPts val="0"/>
              </a:spcAft>
              <a:buSzPct val="90000"/>
              <a:buNone/>
            </a:pPr>
            <a:r>
              <a:rPr lang="zh-CN" altLang="en-US" dirty="0"/>
              <a:t>用途</a:t>
            </a:r>
          </a:p>
          <a:p>
            <a:pPr marL="990600" lvl="1" indent="-533400" eaLnBrk="1" hangingPunct="1">
              <a:spcBef>
                <a:spcPts val="20"/>
              </a:spcBef>
              <a:spcAft>
                <a:spcPts val="0"/>
              </a:spcAft>
              <a:buSzPct val="90000"/>
              <a:buFont typeface="Wingdings" panose="05000000000000000000" pitchFamily="2" charset="2"/>
              <a:buAutoNum type="arabicPeriod" startAt="2"/>
            </a:pPr>
            <a:r>
              <a:rPr lang="zh-CN" altLang="en-US" dirty="0"/>
              <a:t>将某一整数的最后一位置</a:t>
            </a:r>
            <a:r>
              <a:rPr lang="en-US" altLang="zh-CN" dirty="0"/>
              <a:t>0</a:t>
            </a:r>
          </a:p>
          <a:p>
            <a:pPr marL="990600" lvl="1" indent="-533400" eaLnBrk="1" hangingPunct="1">
              <a:spcBef>
                <a:spcPts val="20"/>
              </a:spcBef>
              <a:spcAft>
                <a:spcPts val="0"/>
              </a:spcAft>
              <a:buSzPct val="90000"/>
              <a:buNone/>
            </a:pPr>
            <a:r>
              <a:rPr lang="en-US" altLang="x-none" dirty="0"/>
              <a:t>                    </a:t>
            </a:r>
            <a:r>
              <a:rPr lang="en-US" altLang="zh-CN" dirty="0"/>
              <a:t>00101011</a:t>
            </a:r>
          </a:p>
          <a:p>
            <a:pPr marL="990600" lvl="1" indent="-533400" eaLnBrk="1" hangingPunct="1">
              <a:spcBef>
                <a:spcPts val="20"/>
              </a:spcBef>
              <a:spcAft>
                <a:spcPts val="0"/>
              </a:spcAft>
              <a:buSzPct val="90000"/>
              <a:buNone/>
            </a:pPr>
            <a:r>
              <a:rPr lang="en-US" altLang="x-none" dirty="0"/>
              <a:t>                </a:t>
            </a:r>
            <a:r>
              <a:rPr lang="en-US" altLang="zh-CN" dirty="0"/>
              <a:t>&amp;  11111110</a:t>
            </a:r>
          </a:p>
          <a:p>
            <a:pPr marL="990600" lvl="1" indent="-533400" eaLnBrk="1" hangingPunct="1">
              <a:spcBef>
                <a:spcPts val="20"/>
              </a:spcBef>
              <a:spcAft>
                <a:spcPts val="0"/>
              </a:spcAft>
              <a:buSzPct val="90000"/>
              <a:buNone/>
            </a:pPr>
            <a:r>
              <a:rPr lang="en-US" altLang="x-none" dirty="0"/>
              <a:t>                    </a:t>
            </a:r>
            <a:r>
              <a:rPr lang="en-US" altLang="zh-CN" dirty="0"/>
              <a:t>00101010</a:t>
            </a:r>
          </a:p>
          <a:p>
            <a:pPr marL="990600" lvl="1" indent="-533400" eaLnBrk="1" hangingPunct="1">
              <a:spcBef>
                <a:spcPts val="20"/>
              </a:spcBef>
              <a:buSzPct val="90000"/>
              <a:buNone/>
            </a:pPr>
            <a:r>
              <a:rPr lang="en-US" altLang="zh-CN" dirty="0"/>
              <a:t>43 &amp; ~1</a:t>
            </a:r>
          </a:p>
        </p:txBody>
      </p:sp>
      <p:sp>
        <p:nvSpPr>
          <p:cNvPr id="56323"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57346"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按位或    </a:t>
            </a:r>
            <a:r>
              <a:rPr lang="en-US" altLang="zh-CN" dirty="0">
                <a:solidFill>
                  <a:schemeClr val="hlink"/>
                </a:solidFill>
              </a:rPr>
              <a:t>|</a:t>
            </a:r>
            <a:r>
              <a:rPr lang="en-US" altLang="zh-CN" dirty="0"/>
              <a:t>      "</a:t>
            </a:r>
            <a:r>
              <a:rPr lang="en-US" altLang="zh-CN" dirty="0">
                <a:solidFill>
                  <a:schemeClr val="hlink"/>
                </a:solidFill>
              </a:rPr>
              <a:t>op1 | op2</a:t>
            </a:r>
            <a:r>
              <a:rPr lang="en-US" altLang="zh-CN" dirty="0"/>
              <a:t>"</a:t>
            </a:r>
          </a:p>
          <a:p>
            <a:pPr marL="990600" lvl="1" indent="-533400" eaLnBrk="1" hangingPunct="1">
              <a:spcBef>
                <a:spcPts val="20"/>
              </a:spcBef>
              <a:spcAft>
                <a:spcPts val="0"/>
              </a:spcAft>
              <a:buSzPct val="90000"/>
              <a:buNone/>
            </a:pPr>
            <a:r>
              <a:rPr lang="zh-CN" altLang="en-US" sz="3360" dirty="0"/>
              <a:t>将操作数的对应位逐位进行位逻辑或运算</a:t>
            </a:r>
          </a:p>
          <a:p>
            <a:pPr marL="990600" lvl="1" indent="-533400" eaLnBrk="1" hangingPunct="1">
              <a:spcBef>
                <a:spcPts val="0"/>
              </a:spcBef>
              <a:spcAft>
                <a:spcPts val="0"/>
              </a:spcAft>
              <a:buSzPct val="90000"/>
              <a:buNone/>
            </a:pPr>
            <a:r>
              <a:rPr lang="zh-CN" altLang="en-US" sz="3360" dirty="0">
                <a:solidFill>
                  <a:schemeClr val="hlink"/>
                </a:solidFill>
              </a:rPr>
              <a:t>有</a:t>
            </a:r>
            <a:r>
              <a:rPr lang="en-US" altLang="zh-CN" sz="3360" dirty="0">
                <a:solidFill>
                  <a:schemeClr val="hlink"/>
                </a:solidFill>
              </a:rPr>
              <a:t>1 </a:t>
            </a:r>
            <a:r>
              <a:rPr lang="en-US" altLang="zh-CN" sz="3360" dirty="0">
                <a:solidFill>
                  <a:schemeClr val="hlink"/>
                </a:solidFill>
                <a:sym typeface="Wingdings" panose="05000000000000000000" pitchFamily="2" charset="2"/>
              </a:rPr>
              <a:t> 1</a:t>
            </a:r>
            <a:r>
              <a:rPr lang="zh-CN" altLang="en-US" sz="3360" dirty="0">
                <a:solidFill>
                  <a:schemeClr val="hlink"/>
                </a:solidFill>
                <a:sym typeface="Wingdings" panose="05000000000000000000" pitchFamily="2" charset="2"/>
              </a:rPr>
              <a:t>，其余为</a:t>
            </a:r>
            <a:r>
              <a:rPr lang="en-US" altLang="zh-CN" sz="3360" dirty="0">
                <a:solidFill>
                  <a:schemeClr val="hlink"/>
                </a:solidFill>
                <a:sym typeface="Wingdings" panose="05000000000000000000" pitchFamily="2" charset="2"/>
              </a:rPr>
              <a:t>0</a:t>
            </a:r>
            <a:endParaRPr lang="en-US" altLang="zh-CN" sz="3360" dirty="0">
              <a:solidFill>
                <a:schemeClr val="hlink"/>
              </a:solidFill>
            </a:endParaRPr>
          </a:p>
          <a:p>
            <a:pPr marL="990600" lvl="1" indent="-533400" eaLnBrk="1" hangingPunct="1">
              <a:buSzPct val="90000"/>
              <a:buNone/>
            </a:pPr>
            <a:endParaRPr lang="en-US" altLang="zh-CN" dirty="0"/>
          </a:p>
          <a:p>
            <a:pPr marL="990600" lvl="1" indent="-533400" eaLnBrk="1" hangingPunct="1">
              <a:buSzPct val="90000"/>
              <a:buNone/>
            </a:pPr>
            <a:r>
              <a:rPr lang="en-US" altLang="zh-CN" sz="2000" dirty="0"/>
              <a:t>42 | 15</a:t>
            </a:r>
          </a:p>
          <a:p>
            <a:pPr marL="990600" lvl="1" indent="-533400" eaLnBrk="1" hangingPunct="1">
              <a:buSzPct val="90000"/>
              <a:buNone/>
            </a:pPr>
            <a:r>
              <a:rPr lang="en-US" altLang="zh-CN" sz="2000" dirty="0"/>
              <a:t>                    00101010</a:t>
            </a:r>
          </a:p>
          <a:p>
            <a:pPr marL="990600" lvl="1" indent="-533400" eaLnBrk="1" hangingPunct="1">
              <a:buSzPct val="90000"/>
              <a:buNone/>
            </a:pPr>
            <a:r>
              <a:rPr lang="en-US" altLang="zh-CN" sz="2000" dirty="0"/>
              <a:t>                |   00001111</a:t>
            </a:r>
          </a:p>
          <a:p>
            <a:pPr marL="990600" lvl="1" indent="-533400" eaLnBrk="1" hangingPunct="1">
              <a:buSzPct val="90000"/>
              <a:buNone/>
            </a:pPr>
            <a:r>
              <a:rPr lang="en-US" altLang="zh-CN" sz="2000" dirty="0"/>
              <a:t>                    0010</a:t>
            </a:r>
            <a:r>
              <a:rPr lang="en-US" altLang="zh-CN" sz="2000" dirty="0">
                <a:solidFill>
                  <a:schemeClr val="hlink"/>
                </a:solidFill>
              </a:rPr>
              <a:t>1111</a:t>
            </a:r>
          </a:p>
          <a:p>
            <a:pPr marL="990600" lvl="1" indent="-533400" eaLnBrk="1" hangingPunct="1">
              <a:buSzPct val="90000"/>
              <a:buNone/>
            </a:pPr>
            <a:r>
              <a:rPr lang="zh-CN" altLang="en-US" dirty="0"/>
              <a:t>用途</a:t>
            </a:r>
            <a:r>
              <a:rPr lang="en-US" altLang="zh-CN" dirty="0"/>
              <a:t>: </a:t>
            </a:r>
            <a:r>
              <a:rPr lang="zh-CN" altLang="en-US" dirty="0"/>
              <a:t>将一个整数的某一位或几位置</a:t>
            </a:r>
            <a:r>
              <a:rPr lang="en-US" altLang="zh-CN" dirty="0"/>
              <a:t>1</a:t>
            </a:r>
          </a:p>
        </p:txBody>
      </p:sp>
      <p:sp>
        <p:nvSpPr>
          <p:cNvPr id="57347"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58370"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按位异或  </a:t>
            </a:r>
            <a:r>
              <a:rPr lang="en-US" altLang="zh-CN" dirty="0">
                <a:solidFill>
                  <a:schemeClr val="hlink"/>
                </a:solidFill>
              </a:rPr>
              <a:t>^</a:t>
            </a:r>
            <a:r>
              <a:rPr lang="en-US" altLang="zh-CN" dirty="0"/>
              <a:t>     "</a:t>
            </a:r>
            <a:r>
              <a:rPr lang="en-US" altLang="zh-CN" dirty="0">
                <a:solidFill>
                  <a:schemeClr val="hlink"/>
                </a:solidFill>
              </a:rPr>
              <a:t>op1 ^ op2</a:t>
            </a:r>
            <a:r>
              <a:rPr lang="en-US" altLang="zh-CN" dirty="0"/>
              <a:t>"</a:t>
            </a:r>
          </a:p>
          <a:p>
            <a:pPr marL="990600" lvl="1" indent="-533400" eaLnBrk="1" hangingPunct="1">
              <a:spcBef>
                <a:spcPts val="20"/>
              </a:spcBef>
              <a:spcAft>
                <a:spcPts val="0"/>
              </a:spcAft>
              <a:buSzPct val="90000"/>
              <a:buNone/>
            </a:pPr>
            <a:r>
              <a:rPr lang="zh-CN" altLang="en-US" dirty="0"/>
              <a:t>将操作数的对应位逐位进行位异或运算</a:t>
            </a:r>
          </a:p>
          <a:p>
            <a:pPr marL="990600" lvl="1" indent="-533400" eaLnBrk="1" hangingPunct="1">
              <a:spcBef>
                <a:spcPts val="0"/>
              </a:spcBef>
              <a:spcAft>
                <a:spcPts val="0"/>
              </a:spcAft>
              <a:buSzPct val="90000"/>
              <a:buNone/>
            </a:pPr>
            <a:r>
              <a:rPr lang="zh-CN" altLang="en-US" sz="3360" dirty="0">
                <a:solidFill>
                  <a:schemeClr val="hlink"/>
                </a:solidFill>
              </a:rPr>
              <a:t>对应位不同</a:t>
            </a:r>
            <a:r>
              <a:rPr lang="zh-CN" altLang="en-US" sz="3360" dirty="0">
                <a:solidFill>
                  <a:schemeClr val="hlink"/>
                </a:solidFill>
                <a:sym typeface="Wingdings" panose="05000000000000000000" pitchFamily="2" charset="2"/>
              </a:rPr>
              <a:t></a:t>
            </a:r>
            <a:r>
              <a:rPr lang="en-US" altLang="zh-CN" sz="3360" dirty="0">
                <a:solidFill>
                  <a:schemeClr val="hlink"/>
                </a:solidFill>
                <a:sym typeface="Wingdings" panose="05000000000000000000" pitchFamily="2" charset="2"/>
              </a:rPr>
              <a:t>1</a:t>
            </a:r>
            <a:r>
              <a:rPr lang="zh-CN" altLang="en-US" sz="3360" dirty="0">
                <a:solidFill>
                  <a:schemeClr val="hlink"/>
                </a:solidFill>
                <a:sym typeface="Wingdings" panose="05000000000000000000" pitchFamily="2" charset="2"/>
              </a:rPr>
              <a:t>，其余为</a:t>
            </a:r>
            <a:r>
              <a:rPr lang="en-US" altLang="zh-CN" sz="3360" dirty="0">
                <a:solidFill>
                  <a:schemeClr val="hlink"/>
                </a:solidFill>
                <a:sym typeface="Wingdings" panose="05000000000000000000" pitchFamily="2" charset="2"/>
              </a:rPr>
              <a:t>0</a:t>
            </a:r>
            <a:endParaRPr lang="en-US" altLang="zh-CN" sz="3360" dirty="0">
              <a:solidFill>
                <a:schemeClr val="hlink"/>
              </a:solidFill>
            </a:endParaRPr>
          </a:p>
          <a:p>
            <a:pPr marL="990600" lvl="1" indent="-533400" eaLnBrk="1" hangingPunct="1">
              <a:buSzPct val="90000"/>
              <a:buNone/>
            </a:pPr>
            <a:r>
              <a:rPr lang="en-US" altLang="zh-CN" sz="2000" dirty="0"/>
              <a:t>42 ^ 15</a:t>
            </a:r>
          </a:p>
          <a:p>
            <a:pPr marL="990600" lvl="1" indent="-533400" eaLnBrk="1" hangingPunct="1">
              <a:buSzPct val="90000"/>
              <a:buNone/>
            </a:pPr>
            <a:r>
              <a:rPr lang="en-US" altLang="zh-CN" sz="2000" dirty="0"/>
              <a:t>                    00101010</a:t>
            </a:r>
          </a:p>
          <a:p>
            <a:pPr marL="990600" lvl="1" indent="-533400" eaLnBrk="1" hangingPunct="1">
              <a:buSzPct val="90000"/>
              <a:buNone/>
            </a:pPr>
            <a:r>
              <a:rPr lang="en-US" altLang="zh-CN" sz="2000" dirty="0"/>
              <a:t>                ^  00001111</a:t>
            </a:r>
          </a:p>
          <a:p>
            <a:pPr marL="990600" lvl="1" indent="-533400" eaLnBrk="1" hangingPunct="1">
              <a:buSzPct val="90000"/>
              <a:buNone/>
            </a:pPr>
            <a:r>
              <a:rPr lang="en-US" altLang="zh-CN" sz="2000" dirty="0"/>
              <a:t>                    0010</a:t>
            </a:r>
            <a:r>
              <a:rPr lang="en-US" altLang="zh-CN" sz="2000" dirty="0">
                <a:solidFill>
                  <a:schemeClr val="hlink"/>
                </a:solidFill>
              </a:rPr>
              <a:t>0101</a:t>
            </a:r>
          </a:p>
          <a:p>
            <a:pPr marL="990600" lvl="1" indent="-533400" eaLnBrk="1" hangingPunct="1">
              <a:buSzPct val="90000"/>
              <a:buNone/>
            </a:pPr>
            <a:endParaRPr lang="en-US" altLang="zh-CN" sz="2000" dirty="0"/>
          </a:p>
          <a:p>
            <a:pPr marL="990600" lvl="1" indent="-533400" eaLnBrk="1" hangingPunct="1">
              <a:buSzPct val="90000"/>
              <a:buNone/>
            </a:pPr>
            <a:r>
              <a:rPr lang="zh-CN" altLang="en-US" dirty="0"/>
              <a:t>用途</a:t>
            </a:r>
            <a:r>
              <a:rPr lang="en-US" altLang="zh-CN" dirty="0"/>
              <a:t>: </a:t>
            </a:r>
            <a:r>
              <a:rPr lang="zh-CN" altLang="en-US" dirty="0"/>
              <a:t>将一个整数的某一位或几位取反</a:t>
            </a:r>
          </a:p>
        </p:txBody>
      </p:sp>
      <p:sp>
        <p:nvSpPr>
          <p:cNvPr id="58371"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59394"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移位运算符</a:t>
            </a:r>
            <a:r>
              <a:rPr lang="en-US" altLang="zh-CN" dirty="0"/>
              <a:t>(Shift Operators)</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左移               </a:t>
            </a:r>
            <a:r>
              <a:rPr lang="en-US" altLang="zh-CN" dirty="0"/>
              <a:t>&lt;&lt;       "op1 &lt;&lt; op2"</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右移               </a:t>
            </a:r>
            <a:r>
              <a:rPr lang="en-US" altLang="zh-CN" dirty="0"/>
              <a:t>&gt;&gt;       "op1 &gt;&gt; op2"</a:t>
            </a:r>
          </a:p>
          <a:p>
            <a:pPr marL="990600" lvl="1" indent="-533400" eaLnBrk="1" hangingPunct="1">
              <a:spcBef>
                <a:spcPts val="20"/>
              </a:spcBef>
              <a:buSzPct val="90000"/>
              <a:buFont typeface="Wingdings" panose="05000000000000000000" pitchFamily="2" charset="2"/>
              <a:buAutoNum type="arabicPeriod"/>
            </a:pPr>
            <a:r>
              <a:rPr lang="zh-CN" altLang="en-US" dirty="0"/>
              <a:t>无符号右移     </a:t>
            </a:r>
            <a:r>
              <a:rPr lang="en-US" altLang="zh-CN" dirty="0"/>
              <a:t>&gt;&gt;&gt;    "op1 &gt;&gt;&gt; op2"</a:t>
            </a:r>
          </a:p>
        </p:txBody>
      </p:sp>
      <p:sp>
        <p:nvSpPr>
          <p:cNvPr id="59395"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60418"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sz="2940" dirty="0"/>
              <a:t>左移   </a:t>
            </a:r>
            <a:r>
              <a:rPr lang="en-US" altLang="zh-CN" sz="2940" dirty="0">
                <a:solidFill>
                  <a:schemeClr val="hlink"/>
                </a:solidFill>
              </a:rPr>
              <a:t>&lt;&lt;</a:t>
            </a:r>
            <a:r>
              <a:rPr lang="en-US" altLang="zh-CN" sz="2940" dirty="0"/>
              <a:t>   "</a:t>
            </a:r>
            <a:r>
              <a:rPr lang="en-US" altLang="zh-CN" sz="2940" dirty="0">
                <a:solidFill>
                  <a:schemeClr val="hlink"/>
                </a:solidFill>
              </a:rPr>
              <a:t>op1 &lt;&lt; op2</a:t>
            </a:r>
            <a:r>
              <a:rPr lang="en-US" altLang="zh-CN" sz="2940" dirty="0"/>
              <a:t>"</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sz="2520" dirty="0"/>
              <a:t>将操作数</a:t>
            </a:r>
            <a:r>
              <a:rPr lang="en-US" altLang="zh-CN" sz="2520" dirty="0"/>
              <a:t>op1</a:t>
            </a:r>
            <a:r>
              <a:rPr lang="zh-CN" altLang="en-US" sz="2520" dirty="0"/>
              <a:t>的二进制位向左移</a:t>
            </a:r>
            <a:r>
              <a:rPr lang="en-US" altLang="zh-CN" sz="2520" dirty="0"/>
              <a:t>op2(</a:t>
            </a:r>
            <a:r>
              <a:rPr lang="zh-CN" altLang="en-US" sz="2520" dirty="0"/>
              <a:t>正整数</a:t>
            </a:r>
            <a:r>
              <a:rPr lang="en-US" altLang="zh-CN" sz="2520" dirty="0"/>
              <a:t>)</a:t>
            </a:r>
            <a:r>
              <a:rPr lang="zh-CN" altLang="en-US" sz="2520" dirty="0"/>
              <a:t>位</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sz="2520" dirty="0"/>
              <a:t>低位补零</a:t>
            </a:r>
          </a:p>
          <a:p>
            <a:pPr marL="1447800" lvl="2" indent="-533400" eaLnBrk="1" hangingPunct="1">
              <a:spcBef>
                <a:spcPts val="20"/>
              </a:spcBef>
              <a:spcAft>
                <a:spcPts val="0"/>
              </a:spcAft>
              <a:buSzPct val="90000"/>
            </a:pPr>
            <a:r>
              <a:rPr lang="en-US" altLang="zh-CN" sz="2160" dirty="0"/>
              <a:t>int  a = 42;</a:t>
            </a:r>
          </a:p>
          <a:p>
            <a:pPr marL="1447800" lvl="2" indent="-533400" eaLnBrk="1" hangingPunct="1">
              <a:spcBef>
                <a:spcPts val="20"/>
              </a:spcBef>
              <a:spcAft>
                <a:spcPts val="0"/>
              </a:spcAft>
              <a:buSzPct val="90000"/>
            </a:pPr>
            <a:r>
              <a:rPr lang="en-US" altLang="zh-CN" sz="2160" dirty="0"/>
              <a:t>int aa = a &lt;&lt; 2;</a:t>
            </a:r>
          </a:p>
          <a:p>
            <a:pPr marL="1447800" lvl="2" indent="-533400" eaLnBrk="1" hangingPunct="1">
              <a:spcBef>
                <a:spcPts val="20"/>
              </a:spcBef>
              <a:spcAft>
                <a:spcPts val="0"/>
              </a:spcAft>
              <a:buSzPct val="90000"/>
            </a:pPr>
            <a:r>
              <a:rPr lang="en-US" altLang="zh-CN" sz="2160" dirty="0"/>
              <a:t>System.out.println("aa=" + aa);</a:t>
            </a:r>
          </a:p>
          <a:p>
            <a:pPr marL="1447800" lvl="2" indent="-533400" eaLnBrk="1" hangingPunct="1">
              <a:spcBef>
                <a:spcPts val="20"/>
              </a:spcBef>
              <a:spcAft>
                <a:spcPts val="0"/>
              </a:spcAft>
              <a:buSzPct val="90000"/>
              <a:buNone/>
            </a:pPr>
            <a:r>
              <a:rPr lang="en-US" altLang="zh-CN" sz="2160" dirty="0"/>
              <a:t>42     00101010</a:t>
            </a:r>
          </a:p>
          <a:p>
            <a:pPr marL="1447800" lvl="2" indent="-533400" eaLnBrk="1" hangingPunct="1">
              <a:spcBef>
                <a:spcPts val="20"/>
              </a:spcBef>
              <a:spcAft>
                <a:spcPts val="0"/>
              </a:spcAft>
              <a:buSzPct val="90000"/>
              <a:buNone/>
            </a:pPr>
            <a:r>
              <a:rPr lang="en-US" altLang="zh-CN" sz="2160" dirty="0"/>
              <a:t>   &lt;&lt;2	</a:t>
            </a:r>
          </a:p>
          <a:p>
            <a:pPr marL="1447800" lvl="2" indent="-533400" eaLnBrk="1" hangingPunct="1">
              <a:spcBef>
                <a:spcPts val="20"/>
              </a:spcBef>
              <a:spcAft>
                <a:spcPts val="0"/>
              </a:spcAft>
              <a:buSzPct val="90000"/>
              <a:buNone/>
            </a:pPr>
            <a:r>
              <a:rPr lang="en-US" altLang="zh-CN" sz="2160" dirty="0"/>
              <a:t>168    10101000  </a:t>
            </a:r>
            <a:r>
              <a:rPr lang="zh-CN" altLang="en-US" sz="2160" dirty="0"/>
              <a:t>相当于  </a:t>
            </a:r>
            <a:r>
              <a:rPr lang="en-US" altLang="zh-CN" sz="2160" dirty="0"/>
              <a:t>42*2</a:t>
            </a:r>
            <a:r>
              <a:rPr lang="en-US" altLang="zh-CN" sz="2160" b="1" baseline="30000" dirty="0"/>
              <a:t>2</a:t>
            </a:r>
            <a:r>
              <a:rPr lang="en-US" altLang="zh-CN" sz="2160" baseline="30000" dirty="0"/>
              <a:t> </a:t>
            </a:r>
            <a:r>
              <a:rPr lang="en-US" altLang="zh-CN" sz="2160" dirty="0"/>
              <a:t>= 168</a:t>
            </a:r>
          </a:p>
          <a:p>
            <a:pPr marL="1447800" lvl="2" indent="-533400" eaLnBrk="1" hangingPunct="1">
              <a:spcBef>
                <a:spcPts val="20"/>
              </a:spcBef>
              <a:spcAft>
                <a:spcPts val="0"/>
              </a:spcAft>
              <a:buSzPct val="90000"/>
              <a:buNone/>
            </a:pPr>
            <a:r>
              <a:rPr lang="zh-CN" altLang="en-US" sz="2160" dirty="0"/>
              <a:t>运算速度比乘法快</a:t>
            </a:r>
          </a:p>
          <a:p>
            <a:pPr marL="990600" lvl="1" indent="-533400" eaLnBrk="1" hangingPunct="1">
              <a:spcBef>
                <a:spcPts val="20"/>
              </a:spcBef>
              <a:buSzPct val="90000"/>
              <a:buNone/>
            </a:pPr>
            <a:r>
              <a:rPr lang="zh-CN" altLang="en-US" sz="2520" dirty="0"/>
              <a:t>注意</a:t>
            </a:r>
            <a:r>
              <a:rPr lang="en-US" altLang="zh-CN" sz="2520" dirty="0"/>
              <a:t>: </a:t>
            </a:r>
            <a:r>
              <a:rPr lang="zh-CN" altLang="en-US" sz="2520" dirty="0"/>
              <a:t>溢出</a:t>
            </a:r>
          </a:p>
          <a:p>
            <a:pPr marL="1371600" lvl="2" indent="-457200" eaLnBrk="1" hangingPunct="1">
              <a:buSzPct val="90000"/>
              <a:buNone/>
            </a:pPr>
            <a:endParaRPr lang="zh-CN" altLang="en-US" sz="2100" dirty="0"/>
          </a:p>
        </p:txBody>
      </p:sp>
      <p:sp>
        <p:nvSpPr>
          <p:cNvPr id="60419"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61442" name="Rectangle 2"/>
          <p:cNvSpPr>
            <a:spLocks noGrp="1"/>
          </p:cNvSpPr>
          <p:nvPr>
            <p:ph idx="1"/>
          </p:nvPr>
        </p:nvSpPr>
        <p:spPr/>
        <p:txBody>
          <a:bodyPr vert="horz" wrap="square" lIns="96011" tIns="48005" rIns="96011" bIns="48005" anchor="t">
            <a:normAutofit fontScale="90000" lnSpcReduction="20000"/>
          </a:bodyPr>
          <a:lstStyle/>
          <a:p>
            <a:pPr marL="609600" indent="-609600" eaLnBrk="1" hangingPunct="1">
              <a:lnSpc>
                <a:spcPct val="90000"/>
              </a:lnSpc>
              <a:spcAft>
                <a:spcPts val="0"/>
              </a:spcAft>
              <a:buSzPct val="90000"/>
            </a:pPr>
            <a:r>
              <a:rPr lang="zh-CN" altLang="en-US" sz="2940" dirty="0"/>
              <a:t>左移   </a:t>
            </a:r>
            <a:r>
              <a:rPr lang="en-US" altLang="zh-CN" sz="2940" dirty="0">
                <a:solidFill>
                  <a:schemeClr val="hlink"/>
                </a:solidFill>
              </a:rPr>
              <a:t>&lt;&lt;</a:t>
            </a:r>
            <a:r>
              <a:rPr lang="en-US" altLang="zh-CN" sz="2940" dirty="0"/>
              <a:t>   "</a:t>
            </a:r>
            <a:r>
              <a:rPr lang="en-US" altLang="zh-CN" sz="2940" dirty="0">
                <a:solidFill>
                  <a:schemeClr val="hlink"/>
                </a:solidFill>
              </a:rPr>
              <a:t>op1 &lt;&lt; op2</a:t>
            </a:r>
            <a:r>
              <a:rPr lang="en-US" altLang="zh-CN" sz="2940" dirty="0"/>
              <a:t>"</a:t>
            </a:r>
          </a:p>
          <a:p>
            <a:pPr marL="990600" lvl="1" indent="-533400" eaLnBrk="1" hangingPunct="1">
              <a:lnSpc>
                <a:spcPct val="120000"/>
              </a:lnSpc>
              <a:spcBef>
                <a:spcPts val="20"/>
              </a:spcBef>
              <a:spcAft>
                <a:spcPts val="0"/>
              </a:spcAft>
              <a:buSzPct val="90000"/>
              <a:buNone/>
            </a:pPr>
            <a:r>
              <a:rPr lang="zh-CN" altLang="en-US" sz="2520" dirty="0">
                <a:solidFill>
                  <a:schemeClr val="hlink"/>
                </a:solidFill>
              </a:rPr>
              <a:t>溢出</a:t>
            </a:r>
          </a:p>
          <a:p>
            <a:pPr marL="990600" lvl="1" indent="-533400" eaLnBrk="1" hangingPunct="1">
              <a:lnSpc>
                <a:spcPct val="120000"/>
              </a:lnSpc>
              <a:spcBef>
                <a:spcPts val="20"/>
              </a:spcBef>
              <a:spcAft>
                <a:spcPts val="0"/>
              </a:spcAft>
              <a:buSzPct val="90000"/>
              <a:buNone/>
            </a:pPr>
            <a:r>
              <a:rPr lang="en-US" altLang="zh-CN" sz="2400" dirty="0"/>
              <a:t>byte j = 42;</a:t>
            </a:r>
          </a:p>
          <a:p>
            <a:pPr marL="990600" lvl="1" indent="-533400" eaLnBrk="1" hangingPunct="1">
              <a:lnSpc>
                <a:spcPct val="120000"/>
              </a:lnSpc>
              <a:spcBef>
                <a:spcPts val="20"/>
              </a:spcBef>
              <a:spcAft>
                <a:spcPts val="0"/>
              </a:spcAft>
              <a:buSzPct val="90000"/>
              <a:buNone/>
            </a:pPr>
            <a:r>
              <a:rPr lang="en-US" altLang="zh-CN" sz="2400" dirty="0"/>
              <a:t>byte j1 = (byte) (j &lt;&lt; 1); 	          //84</a:t>
            </a:r>
          </a:p>
          <a:p>
            <a:pPr marL="990600" lvl="1" indent="-533400" eaLnBrk="1" hangingPunct="1">
              <a:lnSpc>
                <a:spcPct val="120000"/>
              </a:lnSpc>
              <a:spcBef>
                <a:spcPts val="20"/>
              </a:spcBef>
              <a:spcAft>
                <a:spcPts val="0"/>
              </a:spcAft>
              <a:buSzPct val="90000"/>
              <a:buNone/>
            </a:pPr>
            <a:r>
              <a:rPr lang="en-US" altLang="zh-CN" sz="2400" dirty="0"/>
              <a:t>byte j2 = (byte) (j &lt;&lt; 2); 	          //168 </a:t>
            </a:r>
          </a:p>
          <a:p>
            <a:pPr marL="990600" lvl="1" indent="-533400" eaLnBrk="1" hangingPunct="1">
              <a:lnSpc>
                <a:spcPct val="120000"/>
              </a:lnSpc>
              <a:spcBef>
                <a:spcPts val="20"/>
              </a:spcBef>
              <a:spcAft>
                <a:spcPts val="0"/>
              </a:spcAft>
              <a:buSzPct val="90000"/>
              <a:buNone/>
            </a:pPr>
            <a:r>
              <a:rPr lang="en-US" altLang="zh-CN" sz="2400" dirty="0"/>
              <a:t>byte j3 = (byte) (j &lt;&lt; 3); 	          //336</a:t>
            </a:r>
          </a:p>
          <a:p>
            <a:pPr marL="990600" lvl="1" indent="-533400" eaLnBrk="1" hangingPunct="1">
              <a:lnSpc>
                <a:spcPct val="120000"/>
              </a:lnSpc>
              <a:spcBef>
                <a:spcPts val="20"/>
              </a:spcBef>
              <a:spcAft>
                <a:spcPts val="0"/>
              </a:spcAft>
              <a:buSzPct val="90000"/>
              <a:buNone/>
            </a:pPr>
            <a:r>
              <a:rPr lang="en-US" altLang="zh-CN" sz="2400" dirty="0"/>
              <a:t>System.out.println("j1=" + j1);</a:t>
            </a:r>
          </a:p>
          <a:p>
            <a:pPr marL="990600" lvl="1" indent="-533400" eaLnBrk="1" hangingPunct="1">
              <a:lnSpc>
                <a:spcPct val="120000"/>
              </a:lnSpc>
              <a:spcBef>
                <a:spcPts val="20"/>
              </a:spcBef>
              <a:spcAft>
                <a:spcPts val="0"/>
              </a:spcAft>
              <a:buSzPct val="90000"/>
              <a:buNone/>
            </a:pPr>
            <a:r>
              <a:rPr lang="en-US" altLang="zh-CN" sz="2400" dirty="0"/>
              <a:t>System.out.println("j2=" + j2);</a:t>
            </a:r>
          </a:p>
          <a:p>
            <a:pPr marL="990600" lvl="1" indent="-533400" eaLnBrk="1" hangingPunct="1">
              <a:lnSpc>
                <a:spcPct val="120000"/>
              </a:lnSpc>
              <a:spcBef>
                <a:spcPts val="20"/>
              </a:spcBef>
              <a:spcAft>
                <a:spcPts val="0"/>
              </a:spcAft>
              <a:buSzPct val="90000"/>
              <a:buNone/>
            </a:pPr>
            <a:r>
              <a:rPr lang="en-US" altLang="zh-CN" sz="2400" dirty="0"/>
              <a:t>System.out.println("j3=" + j3);</a:t>
            </a:r>
          </a:p>
          <a:p>
            <a:pPr marL="990600" lvl="1" indent="-533400" eaLnBrk="1" hangingPunct="1">
              <a:lnSpc>
                <a:spcPct val="120000"/>
              </a:lnSpc>
              <a:spcBef>
                <a:spcPts val="20"/>
              </a:spcBef>
              <a:spcAft>
                <a:spcPts val="0"/>
              </a:spcAft>
              <a:buSzPct val="90000"/>
              <a:buNone/>
            </a:pPr>
            <a:r>
              <a:rPr lang="en-US" altLang="zh-CN" sz="2400" dirty="0"/>
              <a:t>00101010  //42</a:t>
            </a:r>
          </a:p>
          <a:p>
            <a:pPr marL="990600" lvl="1" indent="-533400" eaLnBrk="1" hangingPunct="1">
              <a:lnSpc>
                <a:spcPct val="120000"/>
              </a:lnSpc>
              <a:spcBef>
                <a:spcPts val="20"/>
              </a:spcBef>
              <a:spcAft>
                <a:spcPts val="0"/>
              </a:spcAft>
              <a:buSzPct val="90000"/>
              <a:buNone/>
            </a:pPr>
            <a:r>
              <a:rPr lang="en-US" altLang="zh-CN" sz="2400" dirty="0"/>
              <a:t>01010100  //84</a:t>
            </a:r>
          </a:p>
          <a:p>
            <a:pPr marL="990600" lvl="1" indent="-533400" eaLnBrk="1" hangingPunct="1">
              <a:lnSpc>
                <a:spcPct val="120000"/>
              </a:lnSpc>
              <a:spcBef>
                <a:spcPts val="20"/>
              </a:spcBef>
              <a:spcAft>
                <a:spcPts val="0"/>
              </a:spcAft>
              <a:buSzPct val="90000"/>
              <a:buNone/>
            </a:pPr>
            <a:r>
              <a:rPr lang="en-US" altLang="zh-CN" sz="2400" dirty="0"/>
              <a:t>10101000  //-88</a:t>
            </a:r>
          </a:p>
          <a:p>
            <a:pPr marL="990600" lvl="1" indent="-533400" eaLnBrk="1" hangingPunct="1">
              <a:lnSpc>
                <a:spcPct val="120000"/>
              </a:lnSpc>
              <a:spcBef>
                <a:spcPts val="20"/>
              </a:spcBef>
              <a:buSzPct val="90000"/>
              <a:buNone/>
            </a:pPr>
            <a:r>
              <a:rPr lang="en-US" altLang="zh-CN" sz="2400" dirty="0"/>
              <a:t>01010000  //80</a:t>
            </a:r>
          </a:p>
        </p:txBody>
      </p:sp>
      <p:sp>
        <p:nvSpPr>
          <p:cNvPr id="61443"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62466"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sz="2520" dirty="0"/>
              <a:t>右移   </a:t>
            </a:r>
            <a:r>
              <a:rPr lang="en-US" altLang="zh-CN" sz="2520" dirty="0">
                <a:solidFill>
                  <a:schemeClr val="hlink"/>
                </a:solidFill>
              </a:rPr>
              <a:t>&gt;&gt;</a:t>
            </a:r>
            <a:r>
              <a:rPr lang="en-US" altLang="zh-CN" sz="2520" dirty="0"/>
              <a:t>   "</a:t>
            </a:r>
            <a:r>
              <a:rPr lang="en-US" altLang="zh-CN" sz="2520" dirty="0">
                <a:solidFill>
                  <a:schemeClr val="hlink"/>
                </a:solidFill>
              </a:rPr>
              <a:t>op1 &gt;&gt; op2</a:t>
            </a:r>
            <a:r>
              <a:rPr lang="en-US" altLang="zh-CN" sz="2520" dirty="0"/>
              <a:t>"</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sz="2520" dirty="0"/>
              <a:t>将操作数</a:t>
            </a:r>
            <a:r>
              <a:rPr lang="en-US" altLang="zh-CN" sz="2520" dirty="0"/>
              <a:t>op1</a:t>
            </a:r>
            <a:r>
              <a:rPr lang="zh-CN" altLang="en-US" sz="2520" dirty="0"/>
              <a:t>的二进制位向右移</a:t>
            </a:r>
            <a:r>
              <a:rPr lang="en-US" altLang="zh-CN" sz="2520" dirty="0"/>
              <a:t>op2(</a:t>
            </a:r>
            <a:r>
              <a:rPr lang="zh-CN" altLang="en-US" sz="2520" dirty="0"/>
              <a:t>正整数</a:t>
            </a:r>
            <a:r>
              <a:rPr lang="en-US" altLang="zh-CN" sz="2520" dirty="0"/>
              <a:t>)</a:t>
            </a:r>
            <a:r>
              <a:rPr lang="zh-CN" altLang="en-US" sz="2520" dirty="0"/>
              <a:t>位</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sz="2520" dirty="0"/>
              <a:t>高位补零</a:t>
            </a:r>
            <a:r>
              <a:rPr lang="en-US" altLang="zh-CN" sz="2520" dirty="0"/>
              <a:t>(</a:t>
            </a:r>
            <a:r>
              <a:rPr lang="zh-CN" altLang="en-US" sz="2520" dirty="0"/>
              <a:t>原为正数</a:t>
            </a:r>
            <a:r>
              <a:rPr lang="en-US" altLang="zh-CN" sz="2520" dirty="0"/>
              <a:t>)</a:t>
            </a:r>
            <a:r>
              <a:rPr lang="zh-CN" altLang="en-US" sz="2520" dirty="0"/>
              <a:t>、高位补</a:t>
            </a:r>
            <a:r>
              <a:rPr lang="en-US" altLang="zh-CN" sz="2520" dirty="0"/>
              <a:t>1(</a:t>
            </a:r>
            <a:r>
              <a:rPr lang="zh-CN" altLang="en-US" sz="2520" dirty="0"/>
              <a:t>原为负数</a:t>
            </a:r>
            <a:r>
              <a:rPr lang="en-US" altLang="zh-CN" sz="2520" dirty="0"/>
              <a:t>)</a:t>
            </a:r>
          </a:p>
          <a:p>
            <a:pPr marL="990600" lvl="1" indent="-533400" eaLnBrk="1" hangingPunct="1">
              <a:spcBef>
                <a:spcPts val="20"/>
              </a:spcBef>
              <a:spcAft>
                <a:spcPts val="0"/>
              </a:spcAft>
              <a:buSzPct val="90000"/>
              <a:buNone/>
            </a:pPr>
            <a:r>
              <a:rPr lang="en-US" altLang="zh-CN" sz="2000" dirty="0"/>
              <a:t>int  a = 42;</a:t>
            </a:r>
          </a:p>
          <a:p>
            <a:pPr marL="990600" lvl="1" indent="-533400" eaLnBrk="1" hangingPunct="1">
              <a:spcBef>
                <a:spcPts val="20"/>
              </a:spcBef>
              <a:spcAft>
                <a:spcPts val="0"/>
              </a:spcAft>
              <a:buSzPct val="90000"/>
              <a:buNone/>
            </a:pPr>
            <a:r>
              <a:rPr lang="en-US" altLang="zh-CN" sz="2000" dirty="0"/>
              <a:t>int aa = a &gt;&gt; 2;</a:t>
            </a:r>
          </a:p>
          <a:p>
            <a:pPr marL="990600" lvl="1" indent="-533400" eaLnBrk="1" hangingPunct="1">
              <a:spcBef>
                <a:spcPts val="20"/>
              </a:spcBef>
              <a:spcAft>
                <a:spcPts val="0"/>
              </a:spcAft>
              <a:buSzPct val="90000"/>
              <a:buNone/>
            </a:pPr>
            <a:r>
              <a:rPr lang="en-US" altLang="zh-CN" sz="2000" dirty="0"/>
              <a:t>System.out.println("aa=" + aa);</a:t>
            </a:r>
          </a:p>
          <a:p>
            <a:pPr marL="990600" lvl="1" indent="-533400" eaLnBrk="1" hangingPunct="1">
              <a:spcBef>
                <a:spcPts val="20"/>
              </a:spcBef>
              <a:spcAft>
                <a:spcPts val="0"/>
              </a:spcAft>
              <a:buSzPct val="90000"/>
              <a:buNone/>
            </a:pPr>
            <a:r>
              <a:rPr lang="en-US" altLang="x-none" sz="2000" dirty="0"/>
              <a:t>	</a:t>
            </a:r>
          </a:p>
          <a:p>
            <a:pPr marL="990600" lvl="1" indent="-533400" eaLnBrk="1" hangingPunct="1">
              <a:spcBef>
                <a:spcPts val="20"/>
              </a:spcBef>
              <a:spcAft>
                <a:spcPts val="0"/>
              </a:spcAft>
              <a:buSzPct val="90000"/>
              <a:buNone/>
            </a:pPr>
            <a:r>
              <a:rPr lang="en-US" altLang="zh-CN" sz="2000" dirty="0"/>
              <a:t>42     00101010</a:t>
            </a:r>
          </a:p>
          <a:p>
            <a:pPr marL="990600" lvl="1" indent="-533400" eaLnBrk="1" hangingPunct="1">
              <a:spcBef>
                <a:spcPts val="20"/>
              </a:spcBef>
              <a:spcAft>
                <a:spcPts val="0"/>
              </a:spcAft>
              <a:buSzPct val="90000"/>
              <a:buNone/>
            </a:pPr>
            <a:r>
              <a:rPr lang="en-US" altLang="x-none" sz="2000" dirty="0"/>
              <a:t>   </a:t>
            </a:r>
            <a:r>
              <a:rPr lang="en-US" altLang="zh-CN" sz="2000" dirty="0"/>
              <a:t>&gt;&gt;2	</a:t>
            </a:r>
          </a:p>
          <a:p>
            <a:pPr marL="990600" lvl="1" indent="-533400" eaLnBrk="1" hangingPunct="1">
              <a:spcBef>
                <a:spcPts val="20"/>
              </a:spcBef>
              <a:spcAft>
                <a:spcPts val="0"/>
              </a:spcAft>
              <a:buSzPct val="90000"/>
              <a:buNone/>
            </a:pPr>
            <a:r>
              <a:rPr lang="en-US" altLang="zh-CN" sz="2000" dirty="0"/>
              <a:t>10     00001010  </a:t>
            </a:r>
            <a:r>
              <a:rPr lang="zh-CN" altLang="en-US" sz="2000" dirty="0"/>
              <a:t>相当于  </a:t>
            </a:r>
            <a:r>
              <a:rPr lang="en-US" altLang="zh-CN" sz="2000" dirty="0"/>
              <a:t>42/2</a:t>
            </a:r>
            <a:r>
              <a:rPr lang="en-US" altLang="zh-CN" sz="2000" b="1" baseline="30000" dirty="0"/>
              <a:t>2</a:t>
            </a:r>
            <a:r>
              <a:rPr lang="en-US" altLang="zh-CN" sz="2000" baseline="30000" dirty="0"/>
              <a:t> </a:t>
            </a:r>
            <a:r>
              <a:rPr lang="en-US" altLang="zh-CN" sz="2000" dirty="0"/>
              <a:t>= </a:t>
            </a:r>
            <a:r>
              <a:rPr lang="en-US" altLang="zh-CN" sz="2000" dirty="0">
                <a:solidFill>
                  <a:schemeClr val="hlink"/>
                </a:solidFill>
              </a:rPr>
              <a:t>10</a:t>
            </a:r>
            <a:r>
              <a:rPr lang="en-US" altLang="zh-CN" sz="2000" dirty="0"/>
              <a:t>.5</a:t>
            </a:r>
          </a:p>
          <a:p>
            <a:pPr marL="990600" lvl="1" indent="-533400" eaLnBrk="1" hangingPunct="1">
              <a:spcBef>
                <a:spcPts val="20"/>
              </a:spcBef>
              <a:buSzPct val="90000"/>
              <a:buNone/>
            </a:pPr>
            <a:r>
              <a:rPr lang="zh-CN" altLang="en-US" sz="2000" dirty="0"/>
              <a:t>运算速度比除法快</a:t>
            </a:r>
          </a:p>
        </p:txBody>
      </p:sp>
      <p:sp>
        <p:nvSpPr>
          <p:cNvPr id="62467"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63490"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sz="2520" dirty="0"/>
              <a:t>无符号右移   </a:t>
            </a:r>
            <a:r>
              <a:rPr lang="en-US" altLang="zh-CN" sz="2520" dirty="0">
                <a:solidFill>
                  <a:schemeClr val="hlink"/>
                </a:solidFill>
              </a:rPr>
              <a:t>&gt;&gt;&gt;</a:t>
            </a:r>
            <a:r>
              <a:rPr lang="en-US" altLang="zh-CN" sz="2520" dirty="0"/>
              <a:t>   "</a:t>
            </a:r>
            <a:r>
              <a:rPr lang="en-US" altLang="zh-CN" sz="2520" dirty="0">
                <a:solidFill>
                  <a:schemeClr val="hlink"/>
                </a:solidFill>
              </a:rPr>
              <a:t>op1 &gt;&gt;&gt; op2</a:t>
            </a:r>
            <a:r>
              <a:rPr lang="en-US" altLang="zh-CN" sz="2520" dirty="0"/>
              <a:t>"</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sz="2520" dirty="0"/>
              <a:t>将操作数</a:t>
            </a:r>
            <a:r>
              <a:rPr lang="en-US" altLang="zh-CN" sz="2520" dirty="0"/>
              <a:t>op1</a:t>
            </a:r>
            <a:r>
              <a:rPr lang="zh-CN" altLang="en-US" sz="2520" dirty="0"/>
              <a:t>的二进制位向右移</a:t>
            </a:r>
            <a:r>
              <a:rPr lang="en-US" altLang="zh-CN" sz="2520" dirty="0"/>
              <a:t>op2(</a:t>
            </a:r>
            <a:r>
              <a:rPr lang="zh-CN" altLang="en-US" sz="2520" dirty="0"/>
              <a:t>正整数</a:t>
            </a:r>
            <a:r>
              <a:rPr lang="en-US" altLang="zh-CN" sz="2520" dirty="0"/>
              <a:t>)</a:t>
            </a:r>
            <a:r>
              <a:rPr lang="zh-CN" altLang="en-US" sz="2520" dirty="0"/>
              <a:t>位</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sz="2520" dirty="0"/>
              <a:t>高位补零，零扩展</a:t>
            </a:r>
            <a:r>
              <a:rPr lang="en-US" altLang="zh-CN" sz="2520" dirty="0"/>
              <a:t>(zero-extension)</a:t>
            </a:r>
          </a:p>
          <a:p>
            <a:pPr marL="990600" lvl="1" indent="-533400" eaLnBrk="1" hangingPunct="1">
              <a:spcBef>
                <a:spcPts val="20"/>
              </a:spcBef>
              <a:spcAft>
                <a:spcPts val="0"/>
              </a:spcAft>
              <a:buSzPct val="90000"/>
              <a:buNone/>
            </a:pPr>
            <a:r>
              <a:rPr lang="en-US" altLang="zh-CN" sz="2000" dirty="0"/>
              <a:t>int  a = 42;</a:t>
            </a:r>
          </a:p>
          <a:p>
            <a:pPr marL="990600" lvl="1" indent="-533400" eaLnBrk="1" hangingPunct="1">
              <a:spcBef>
                <a:spcPts val="20"/>
              </a:spcBef>
              <a:spcAft>
                <a:spcPts val="0"/>
              </a:spcAft>
              <a:buSzPct val="90000"/>
              <a:buNone/>
            </a:pPr>
            <a:r>
              <a:rPr lang="en-US" altLang="zh-CN" sz="2000" dirty="0"/>
              <a:t>int aa = a &gt;&gt;&gt; 2;</a:t>
            </a:r>
          </a:p>
          <a:p>
            <a:pPr marL="990600" lvl="1" indent="-533400" eaLnBrk="1" hangingPunct="1">
              <a:spcBef>
                <a:spcPts val="20"/>
              </a:spcBef>
              <a:spcAft>
                <a:spcPts val="0"/>
              </a:spcAft>
              <a:buSzPct val="90000"/>
              <a:buNone/>
            </a:pPr>
            <a:r>
              <a:rPr lang="en-US" altLang="zh-CN" sz="2000" dirty="0"/>
              <a:t>System.out.println("aa=" + aa);</a:t>
            </a:r>
          </a:p>
          <a:p>
            <a:pPr marL="990600" lvl="1" indent="-533400" eaLnBrk="1" hangingPunct="1">
              <a:spcBef>
                <a:spcPts val="20"/>
              </a:spcBef>
              <a:spcAft>
                <a:spcPts val="0"/>
              </a:spcAft>
              <a:buSzPct val="90000"/>
              <a:buNone/>
            </a:pPr>
            <a:r>
              <a:rPr lang="en-US" altLang="x-none" sz="2000" dirty="0"/>
              <a:t>	</a:t>
            </a:r>
          </a:p>
          <a:p>
            <a:pPr marL="990600" lvl="1" indent="-533400" eaLnBrk="1" hangingPunct="1">
              <a:spcBef>
                <a:spcPts val="20"/>
              </a:spcBef>
              <a:spcAft>
                <a:spcPts val="0"/>
              </a:spcAft>
              <a:buSzPct val="90000"/>
              <a:buNone/>
            </a:pPr>
            <a:r>
              <a:rPr lang="en-US" altLang="zh-CN" sz="2000" dirty="0"/>
              <a:t>42     00101010</a:t>
            </a:r>
          </a:p>
          <a:p>
            <a:pPr marL="990600" lvl="1" indent="-533400" eaLnBrk="1" hangingPunct="1">
              <a:spcBef>
                <a:spcPts val="20"/>
              </a:spcBef>
              <a:spcAft>
                <a:spcPts val="0"/>
              </a:spcAft>
              <a:buSzPct val="90000"/>
              <a:buNone/>
            </a:pPr>
            <a:r>
              <a:rPr lang="en-US" altLang="x-none" sz="2000" dirty="0"/>
              <a:t>   </a:t>
            </a:r>
            <a:r>
              <a:rPr lang="en-US" altLang="zh-CN" sz="2000" dirty="0"/>
              <a:t>&gt;&gt;2	</a:t>
            </a:r>
          </a:p>
          <a:p>
            <a:pPr marL="990600" lvl="1" indent="-533400" eaLnBrk="1" hangingPunct="1">
              <a:spcBef>
                <a:spcPts val="20"/>
              </a:spcBef>
              <a:spcAft>
                <a:spcPts val="0"/>
              </a:spcAft>
              <a:buSzPct val="90000"/>
              <a:buNone/>
            </a:pPr>
            <a:r>
              <a:rPr lang="en-US" altLang="zh-CN" sz="2000" dirty="0"/>
              <a:t>10     00001010  </a:t>
            </a:r>
            <a:r>
              <a:rPr lang="zh-CN" altLang="en-US" sz="2000" dirty="0"/>
              <a:t>相当于  </a:t>
            </a:r>
            <a:r>
              <a:rPr lang="en-US" altLang="zh-CN" sz="2000" dirty="0"/>
              <a:t>42/2</a:t>
            </a:r>
            <a:r>
              <a:rPr lang="en-US" altLang="zh-CN" sz="2000" b="1" baseline="30000" dirty="0"/>
              <a:t>2</a:t>
            </a:r>
            <a:r>
              <a:rPr lang="en-US" altLang="zh-CN" sz="2000" baseline="30000" dirty="0"/>
              <a:t> </a:t>
            </a:r>
            <a:r>
              <a:rPr lang="en-US" altLang="zh-CN" sz="2000" dirty="0"/>
              <a:t>= </a:t>
            </a:r>
            <a:r>
              <a:rPr lang="en-US" altLang="zh-CN" sz="2000" dirty="0">
                <a:solidFill>
                  <a:schemeClr val="hlink"/>
                </a:solidFill>
              </a:rPr>
              <a:t>10</a:t>
            </a:r>
            <a:r>
              <a:rPr lang="en-US" altLang="zh-CN" sz="2000" dirty="0"/>
              <a:t>.5</a:t>
            </a:r>
          </a:p>
          <a:p>
            <a:pPr marL="990600" lvl="1" indent="-533400" eaLnBrk="1" hangingPunct="1">
              <a:spcBef>
                <a:spcPts val="20"/>
              </a:spcBef>
              <a:spcAft>
                <a:spcPts val="0"/>
              </a:spcAft>
              <a:buSzPct val="90000"/>
              <a:buNone/>
            </a:pPr>
            <a:r>
              <a:rPr lang="zh-CN" altLang="en-US" sz="2000" dirty="0"/>
              <a:t>运算速度比除法快</a:t>
            </a:r>
          </a:p>
          <a:p>
            <a:pPr marL="990600" lvl="1" indent="-533400" eaLnBrk="1" hangingPunct="1">
              <a:spcBef>
                <a:spcPts val="20"/>
              </a:spcBef>
              <a:buSzPct val="90000"/>
              <a:buNone/>
            </a:pPr>
            <a:r>
              <a:rPr lang="zh-CN" altLang="en-US" sz="2000" dirty="0"/>
              <a:t>实现数的拼接</a:t>
            </a:r>
          </a:p>
        </p:txBody>
      </p:sp>
      <p:sp>
        <p:nvSpPr>
          <p:cNvPr id="63491"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运算符 (operator)</a:t>
            </a:r>
          </a:p>
        </p:txBody>
      </p:sp>
      <p:sp>
        <p:nvSpPr>
          <p:cNvPr id="64514"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条件运算符</a:t>
            </a:r>
          </a:p>
          <a:p>
            <a:pPr marL="990600" lvl="1" indent="-533400" eaLnBrk="1" hangingPunct="1">
              <a:spcBef>
                <a:spcPts val="20"/>
              </a:spcBef>
              <a:spcAft>
                <a:spcPts val="0"/>
              </a:spcAft>
              <a:buSzPct val="90000"/>
            </a:pPr>
            <a:r>
              <a:rPr lang="en-US" altLang="zh-CN" dirty="0"/>
              <a:t>op1 ? op2 : op3</a:t>
            </a:r>
          </a:p>
          <a:p>
            <a:pPr marL="990600" lvl="1" indent="-533400" eaLnBrk="1" hangingPunct="1">
              <a:spcBef>
                <a:spcPts val="20"/>
              </a:spcBef>
              <a:spcAft>
                <a:spcPts val="0"/>
              </a:spcAft>
              <a:buSzPct val="90000"/>
            </a:pPr>
            <a:r>
              <a:rPr lang="zh-CN" altLang="en-US" dirty="0"/>
              <a:t>若</a:t>
            </a:r>
            <a:r>
              <a:rPr lang="en-US" altLang="zh-CN" dirty="0"/>
              <a:t>op1</a:t>
            </a:r>
            <a:r>
              <a:rPr lang="zh-CN" altLang="en-US" dirty="0"/>
              <a:t>为真，则运算结果为</a:t>
            </a:r>
            <a:r>
              <a:rPr lang="en-US" altLang="zh-CN" dirty="0"/>
              <a:t>op2</a:t>
            </a:r>
            <a:r>
              <a:rPr lang="zh-CN" altLang="en-US" dirty="0"/>
              <a:t>，否则为</a:t>
            </a:r>
            <a:r>
              <a:rPr lang="en-US" altLang="zh-CN" dirty="0"/>
              <a:t>op3</a:t>
            </a:r>
          </a:p>
          <a:p>
            <a:pPr marL="990600" lvl="1" indent="-533400" eaLnBrk="1" hangingPunct="1">
              <a:spcBef>
                <a:spcPts val="20"/>
              </a:spcBef>
              <a:spcAft>
                <a:spcPts val="0"/>
              </a:spcAft>
              <a:buSzPct val="90000"/>
              <a:buNone/>
            </a:pPr>
            <a:r>
              <a:rPr lang="zh-CN" altLang="en-US" dirty="0"/>
              <a:t>例</a:t>
            </a:r>
          </a:p>
          <a:p>
            <a:pPr marL="990600" lvl="1" indent="-533400" eaLnBrk="1" hangingPunct="1">
              <a:spcBef>
                <a:spcPts val="20"/>
              </a:spcBef>
              <a:spcAft>
                <a:spcPts val="0"/>
              </a:spcAft>
              <a:buSzPct val="90000"/>
              <a:buNone/>
            </a:pPr>
            <a:r>
              <a:rPr lang="en-US" altLang="zh-CN" dirty="0"/>
              <a:t>z = a &gt; 0 ? a : -a;</a:t>
            </a:r>
          </a:p>
          <a:p>
            <a:pPr marL="990600" lvl="1" indent="-533400" eaLnBrk="1" hangingPunct="1">
              <a:spcBef>
                <a:spcPts val="20"/>
              </a:spcBef>
              <a:buSzPct val="90000"/>
              <a:buNone/>
            </a:pPr>
            <a:r>
              <a:rPr lang="en-US" altLang="zh-CN" dirty="0"/>
              <a:t>z = a &gt; b ? a : b;</a:t>
            </a:r>
          </a:p>
        </p:txBody>
      </p:sp>
      <p:sp>
        <p:nvSpPr>
          <p:cNvPr id="64515"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自增、自减运算符</a:t>
            </a:r>
          </a:p>
        </p:txBody>
      </p:sp>
      <p:sp>
        <p:nvSpPr>
          <p:cNvPr id="65539" name="Rectangle 3"/>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变量赋值，一元运算符</a:t>
            </a:r>
          </a:p>
          <a:p>
            <a:pPr marL="609600" indent="-609600" eaLnBrk="1" hangingPunct="1">
              <a:spcBef>
                <a:spcPts val="20"/>
              </a:spcBef>
              <a:spcAft>
                <a:spcPts val="0"/>
              </a:spcAft>
              <a:buSzPct val="90000"/>
            </a:pPr>
            <a:r>
              <a:rPr lang="zh-CN" altLang="en-US" dirty="0"/>
              <a:t>自增运算符</a:t>
            </a:r>
            <a:r>
              <a:rPr lang="en-US" altLang="zh-CN" dirty="0"/>
              <a:t>(++)</a:t>
            </a:r>
            <a:r>
              <a:rPr lang="zh-CN" altLang="en-US" dirty="0"/>
              <a:t>、自减运算符</a:t>
            </a:r>
            <a:r>
              <a:rPr lang="en-US" altLang="zh-CN" dirty="0"/>
              <a:t>(--)</a:t>
            </a:r>
          </a:p>
          <a:p>
            <a:pPr marL="990600" lvl="1" indent="-533400" eaLnBrk="1" hangingPunct="1">
              <a:spcBef>
                <a:spcPts val="20"/>
              </a:spcBef>
              <a:spcAft>
                <a:spcPts val="0"/>
              </a:spcAft>
              <a:buSzPct val="90000"/>
            </a:pPr>
            <a:r>
              <a:rPr lang="en-US" altLang="zh-CN" dirty="0"/>
              <a:t>int i=5; i++; ++i; i--; --i;</a:t>
            </a:r>
          </a:p>
          <a:p>
            <a:pPr marL="990600" lvl="1" indent="-533400" eaLnBrk="1" hangingPunct="1">
              <a:spcBef>
                <a:spcPts val="20"/>
              </a:spcBef>
              <a:buSzPct val="90000"/>
            </a:pPr>
            <a:r>
              <a:rPr lang="en-US" altLang="x-none" dirty="0"/>
              <a:t> "</a:t>
            </a:r>
            <a:r>
              <a:rPr lang="zh-CN" altLang="en-US" dirty="0"/>
              <a:t>赋值"和"运算"的先后顺序</a:t>
            </a:r>
          </a:p>
        </p:txBody>
      </p:sp>
      <p:sp>
        <p:nvSpPr>
          <p:cNvPr id="65540" name="Rectangle 4"/>
          <p:cNvSpPr/>
          <p:nvPr/>
        </p:nvSpPr>
        <p:spPr>
          <a:xfrm>
            <a:off x="4920615" y="3600450"/>
            <a:ext cx="2480310" cy="960120"/>
          </a:xfrm>
          <a:prstGeom prst="rect">
            <a:avLst/>
          </a:prstGeom>
          <a:solidFill>
            <a:srgbClr val="99CCFF"/>
          </a:solidFill>
          <a:ln w="9525">
            <a:noFill/>
          </a:ln>
        </p:spPr>
        <p:txBody>
          <a:bodyPr wrap="none" anchor="ctr"/>
          <a:lstStyle/>
          <a:p>
            <a:pPr marL="457200" indent="-457200" eaLnBrk="1" hangingPunct="1">
              <a:lnSpc>
                <a:spcPct val="90000"/>
              </a:lnSpc>
              <a:spcBef>
                <a:spcPct val="20000"/>
              </a:spcBef>
              <a:spcAft>
                <a:spcPts val="0"/>
              </a:spcAft>
              <a:buClr>
                <a:schemeClr val="folHlink"/>
              </a:buClr>
              <a:buSzPct val="6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int i = 10; </a:t>
            </a:r>
          </a:p>
          <a:p>
            <a:pPr marL="457200" indent="-457200" eaLnBrk="1" hangingPunct="1">
              <a:lnSpc>
                <a:spcPct val="90000"/>
              </a:lnSpc>
              <a:spcBef>
                <a:spcPts val="20"/>
              </a:spcBef>
              <a:buClr>
                <a:schemeClr val="folHlink"/>
              </a:buClr>
              <a:buSzPct val="6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int n = i++%5; </a:t>
            </a:r>
          </a:p>
        </p:txBody>
      </p:sp>
      <p:sp>
        <p:nvSpPr>
          <p:cNvPr id="65541" name="Rectangle 5"/>
          <p:cNvSpPr/>
          <p:nvPr/>
        </p:nvSpPr>
        <p:spPr>
          <a:xfrm>
            <a:off x="920115" y="3600450"/>
            <a:ext cx="3840480" cy="1600200"/>
          </a:xfrm>
          <a:prstGeom prst="rect">
            <a:avLst/>
          </a:prstGeom>
          <a:solidFill>
            <a:srgbClr val="CCFFFF"/>
          </a:solidFill>
          <a:ln w="9525">
            <a:noFill/>
          </a:ln>
        </p:spPr>
        <p:txBody>
          <a:bodyPr wrap="none" anchor="ctr"/>
          <a:lstStyle/>
          <a:p>
            <a:pPr eaLnBrk="1" hangingPunct="1">
              <a:spcBef>
                <a:spcPct val="20000"/>
              </a:spcBef>
              <a:spcAft>
                <a:spcPts val="0"/>
              </a:spcAft>
              <a:buClr>
                <a:schemeClr va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float x =7, y=15, v1, v2;</a:t>
            </a:r>
          </a:p>
          <a:p>
            <a:pPr eaLnBrk="1" hangingPunct="1">
              <a:spcBef>
                <a:spcPts val="20"/>
              </a:spcBef>
              <a:spcAft>
                <a:spcPts val="0"/>
              </a:spcAft>
              <a:buClr>
                <a:schemeClr va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v1 = x++;</a:t>
            </a:r>
          </a:p>
          <a:p>
            <a:pPr eaLnBrk="1" hangingPunct="1">
              <a:spcBef>
                <a:spcPts val="20"/>
              </a:spcBef>
              <a:buClr>
                <a:schemeClr va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v2 = ++y</a:t>
            </a:r>
            <a:r>
              <a:rPr lang="en-US" altLang="zh-CN" sz="2940" dirty="0">
                <a:latin typeface="Tahoma" panose="020B0604030504040204" pitchFamily="34" charset="0"/>
                <a:ea typeface="华文中宋" panose="02010600040101010101" pitchFamily="2" charset="-122"/>
              </a:rPr>
              <a:t>;</a:t>
            </a:r>
            <a:endParaRPr lang="en-US" altLang="zh-CN" sz="2520" dirty="0">
              <a:latin typeface="Tahoma" panose="020B0604030504040204" pitchFamily="34" charset="0"/>
              <a:ea typeface="华文中宋" panose="02010600040101010101" pitchFamily="2" charset="-122"/>
            </a:endParaRPr>
          </a:p>
        </p:txBody>
      </p:sp>
      <p:sp>
        <p:nvSpPr>
          <p:cNvPr id="65542" name="Rectangle 6"/>
          <p:cNvSpPr/>
          <p:nvPr/>
        </p:nvSpPr>
        <p:spPr>
          <a:xfrm>
            <a:off x="7560945" y="3600450"/>
            <a:ext cx="2400300" cy="960120"/>
          </a:xfrm>
          <a:prstGeom prst="rect">
            <a:avLst/>
          </a:prstGeom>
          <a:solidFill>
            <a:srgbClr val="C0C0C0"/>
          </a:solidFill>
          <a:ln w="9525">
            <a:noFill/>
          </a:ln>
        </p:spPr>
        <p:txBody>
          <a:bodyPr wrap="none" anchor="ctr"/>
          <a:lstStyle/>
          <a:p>
            <a:pPr marL="457200" indent="-457200" eaLnBrk="1" hangingPunct="1">
              <a:lnSpc>
                <a:spcPct val="90000"/>
              </a:lnSpc>
              <a:spcBef>
                <a:spcPct val="20000"/>
              </a:spcBef>
              <a:spcAft>
                <a:spcPts val="0"/>
              </a:spcAft>
              <a:buClr>
                <a:schemeClr val="folHlink"/>
              </a:buClr>
              <a:buSzPct val="6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int i = 10; </a:t>
            </a:r>
          </a:p>
          <a:p>
            <a:pPr marL="457200" indent="-457200" eaLnBrk="1" hangingPunct="1">
              <a:lnSpc>
                <a:spcPct val="90000"/>
              </a:lnSpc>
              <a:spcBef>
                <a:spcPts val="20"/>
              </a:spcBef>
              <a:buClr>
                <a:schemeClr val="folHlink"/>
              </a:buClr>
              <a:buSzPct val="6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int n = ++i%5; </a:t>
            </a:r>
          </a:p>
        </p:txBody>
      </p:sp>
      <p:sp>
        <p:nvSpPr>
          <p:cNvPr id="65543" name="Rectangle 7"/>
          <p:cNvSpPr/>
          <p:nvPr/>
        </p:nvSpPr>
        <p:spPr>
          <a:xfrm>
            <a:off x="920115" y="5280660"/>
            <a:ext cx="3840480" cy="880110"/>
          </a:xfrm>
          <a:prstGeom prst="rect">
            <a:avLst/>
          </a:prstGeom>
          <a:solidFill>
            <a:srgbClr val="CCFFFF"/>
          </a:solidFill>
          <a:ln w="9525">
            <a:noFill/>
          </a:ln>
        </p:spPr>
        <p:txBody>
          <a:bodyPr wrap="none" anchor="ctr"/>
          <a:lstStyle/>
          <a:p>
            <a:pPr eaLnBrk="1" hangingPunct="1">
              <a:spcBef>
                <a:spcPct val="20000"/>
              </a:spcBef>
              <a:spcAft>
                <a:spcPts val="0"/>
              </a:spcAft>
              <a:buClr>
                <a:schemeClr va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x=8    y=16</a:t>
            </a:r>
          </a:p>
          <a:p>
            <a:pPr eaLnBrk="1" hangingPunct="1">
              <a:spcBef>
                <a:spcPts val="20"/>
              </a:spcBef>
              <a:buClr>
                <a:schemeClr va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v1=7  v2=16</a:t>
            </a:r>
          </a:p>
        </p:txBody>
      </p:sp>
      <p:sp>
        <p:nvSpPr>
          <p:cNvPr id="65544" name="Rectangle 8"/>
          <p:cNvSpPr/>
          <p:nvPr/>
        </p:nvSpPr>
        <p:spPr>
          <a:xfrm>
            <a:off x="4920615" y="4640580"/>
            <a:ext cx="2480310" cy="560070"/>
          </a:xfrm>
          <a:prstGeom prst="rect">
            <a:avLst/>
          </a:prstGeom>
          <a:solidFill>
            <a:srgbClr val="99CCFF"/>
          </a:solidFill>
          <a:ln w="9525">
            <a:noFill/>
          </a:ln>
        </p:spPr>
        <p:txBody>
          <a:bodyPr wrap="none" anchor="ctr"/>
          <a:lstStyle/>
          <a:p>
            <a:pPr marL="457200" indent="-457200" eaLnBrk="1" hangingPunct="1">
              <a:lnSpc>
                <a:spcPct val="90000"/>
              </a:lnSpc>
              <a:spcBef>
                <a:spcPct val="20000"/>
              </a:spcBef>
              <a:spcAft>
                <a:spcPts val="0"/>
              </a:spcAft>
              <a:buClr>
                <a:schemeClr val="folHlink"/>
              </a:buClr>
              <a:buSzPct val="6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i = 11, n = 0</a:t>
            </a:r>
          </a:p>
        </p:txBody>
      </p:sp>
      <p:sp>
        <p:nvSpPr>
          <p:cNvPr id="65545" name="Rectangle 9"/>
          <p:cNvSpPr/>
          <p:nvPr/>
        </p:nvSpPr>
        <p:spPr>
          <a:xfrm>
            <a:off x="7560945" y="4640580"/>
            <a:ext cx="2320290" cy="560070"/>
          </a:xfrm>
          <a:prstGeom prst="rect">
            <a:avLst/>
          </a:prstGeom>
          <a:solidFill>
            <a:srgbClr val="C0C0C0"/>
          </a:solidFill>
          <a:ln w="9525">
            <a:noFill/>
          </a:ln>
        </p:spPr>
        <p:txBody>
          <a:bodyPr wrap="none" anchor="ctr"/>
          <a:lstStyle/>
          <a:p>
            <a:pPr marL="457200" indent="-457200" eaLnBrk="1" hangingPunct="1">
              <a:lnSpc>
                <a:spcPct val="90000"/>
              </a:lnSpc>
              <a:spcBef>
                <a:spcPct val="20000"/>
              </a:spcBef>
              <a:spcAft>
                <a:spcPts val="0"/>
              </a:spcAft>
              <a:buClr>
                <a:schemeClr val="folHlink"/>
              </a:buClr>
              <a:buSzPct val="6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i = 11, n = 1</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65541"/>
                                        </p:tgtEl>
                                        <p:attrNameLst>
                                          <p:attrName>style.visibility</p:attrName>
                                        </p:attrNameLst>
                                      </p:cBhvr>
                                      <p:to>
                                        <p:strVal val="visible"/>
                                      </p:to>
                                    </p:set>
                                    <p:animEffect transition="in" filter="barn(outHorizontal)">
                                      <p:cBhvr>
                                        <p:cTn id="7" dur="500"/>
                                        <p:tgtEl>
                                          <p:spTgt spid="6554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65543"/>
                                        </p:tgtEl>
                                        <p:attrNameLst>
                                          <p:attrName>style.visibility</p:attrName>
                                        </p:attrNameLst>
                                      </p:cBhvr>
                                      <p:to>
                                        <p:strVal val="visible"/>
                                      </p:to>
                                    </p:set>
                                    <p:animEffect transition="in" filter="barn(outHorizontal)">
                                      <p:cBhvr>
                                        <p:cTn id="12" dur="500"/>
                                        <p:tgtEl>
                                          <p:spTgt spid="6554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65540"/>
                                        </p:tgtEl>
                                        <p:attrNameLst>
                                          <p:attrName>style.visibility</p:attrName>
                                        </p:attrNameLst>
                                      </p:cBhvr>
                                      <p:to>
                                        <p:strVal val="visible"/>
                                      </p:to>
                                    </p:set>
                                    <p:animEffect transition="in" filter="barn(outHorizontal)">
                                      <p:cBhvr>
                                        <p:cTn id="17" dur="500"/>
                                        <p:tgtEl>
                                          <p:spTgt spid="6554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65544"/>
                                        </p:tgtEl>
                                        <p:attrNameLst>
                                          <p:attrName>style.visibility</p:attrName>
                                        </p:attrNameLst>
                                      </p:cBhvr>
                                      <p:to>
                                        <p:strVal val="visible"/>
                                      </p:to>
                                    </p:set>
                                    <p:animEffect transition="in" filter="barn(outHorizontal)">
                                      <p:cBhvr>
                                        <p:cTn id="22" dur="500"/>
                                        <p:tgtEl>
                                          <p:spTgt spid="6554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65542"/>
                                        </p:tgtEl>
                                        <p:attrNameLst>
                                          <p:attrName>style.visibility</p:attrName>
                                        </p:attrNameLst>
                                      </p:cBhvr>
                                      <p:to>
                                        <p:strVal val="visible"/>
                                      </p:to>
                                    </p:set>
                                    <p:animEffect transition="in" filter="barn(outHorizontal)">
                                      <p:cBhvr>
                                        <p:cTn id="27" dur="500"/>
                                        <p:tgtEl>
                                          <p:spTgt spid="6554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65545"/>
                                        </p:tgtEl>
                                        <p:attrNameLst>
                                          <p:attrName>style.visibility</p:attrName>
                                        </p:attrNameLst>
                                      </p:cBhvr>
                                      <p:to>
                                        <p:strVal val="visible"/>
                                      </p:to>
                                    </p:set>
                                    <p:animEffect transition="in" filter="barn(outHorizontal)">
                                      <p:cBhvr>
                                        <p:cTn id="32" dur="500"/>
                                        <p:tgtEl>
                                          <p:spTgt spid="655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bldLvl="0" animBg="1"/>
      <p:bldP spid="65541" grpId="0" bldLvl="0" animBg="1"/>
      <p:bldP spid="65542" grpId="0" bldLvl="0" animBg="1"/>
      <p:bldP spid="65543" grpId="0" bldLvl="0" animBg="1"/>
      <p:bldP spid="65544" grpId="0" bldLvl="0" animBg="1"/>
      <p:bldP spid="65545"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运算符的优先级</a:t>
            </a:r>
          </a:p>
        </p:txBody>
      </p:sp>
      <p:sp>
        <p:nvSpPr>
          <p:cNvPr id="66563" name="Rectangle 3"/>
          <p:cNvSpPr>
            <a:spLocks noGrp="1"/>
          </p:cNvSpPr>
          <p:nvPr>
            <p:ph idx="1"/>
          </p:nvPr>
        </p:nvSpPr>
        <p:spPr/>
        <p:txBody>
          <a:bodyPr vert="horz" wrap="square" lIns="96011" tIns="48005" rIns="96011" bIns="48005" anchor="t"/>
          <a:lstStyle/>
          <a:p>
            <a:pPr marL="609600" indent="-609600" eaLnBrk="1" hangingPunct="1">
              <a:buSzPct val="90000"/>
            </a:pPr>
            <a:endParaRPr lang="zh-CN" altLang="en-US" dirty="0"/>
          </a:p>
          <a:p>
            <a:pPr marL="990600" lvl="1" indent="-533400" eaLnBrk="1" hangingPunct="1">
              <a:buSzPct val="90000"/>
              <a:buNone/>
            </a:pPr>
            <a:endParaRPr lang="zh-CN" altLang="en-US" dirty="0"/>
          </a:p>
        </p:txBody>
      </p:sp>
      <p:sp>
        <p:nvSpPr>
          <p:cNvPr id="66564" name="Rectangle 4"/>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
        <p:nvSpPr>
          <p:cNvPr id="66565" name="Rectangle 5"/>
          <p:cNvSpPr/>
          <p:nvPr/>
        </p:nvSpPr>
        <p:spPr>
          <a:xfrm>
            <a:off x="600075" y="953452"/>
            <a:ext cx="9601200" cy="5760720"/>
          </a:xfrm>
          <a:prstGeom prst="rect">
            <a:avLst/>
          </a:prstGeom>
          <a:solidFill>
            <a:schemeClr val="bg1"/>
          </a:solidFill>
          <a:ln w="9525">
            <a:noFill/>
          </a:ln>
        </p:spPr>
        <p:txBody>
          <a:bodyPr/>
          <a:lstStyle/>
          <a:p>
            <a:pPr marL="609600" indent="-609600" eaLnBrk="1" hangingPunct="1">
              <a:spcBef>
                <a:spcPct val="2000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后缀运算符 </a:t>
            </a:r>
            <a:r>
              <a:rPr lang="en-US" altLang="zh-CN" sz="2100" dirty="0">
                <a:latin typeface="Tahoma" panose="020B0604030504040204" pitchFamily="34" charset="0"/>
                <a:ea typeface="华文中宋" panose="02010600040101010101" pitchFamily="2" charset="-122"/>
              </a:rPr>
              <a:t>postfix operators         [] . (params) expr++ expr--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一元运算符 </a:t>
            </a:r>
            <a:r>
              <a:rPr lang="en-US" altLang="zh-CN" sz="2100" dirty="0">
                <a:latin typeface="Tahoma" panose="020B0604030504040204" pitchFamily="34" charset="0"/>
                <a:ea typeface="华文中宋" panose="02010600040101010101" pitchFamily="2" charset="-122"/>
              </a:rPr>
              <a:t>unary operators          ++expr --expr +expr -expr ~ !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构造或类型转换</a:t>
            </a:r>
            <a:r>
              <a:rPr lang="en-US" altLang="zh-CN" sz="2100" dirty="0">
                <a:latin typeface="Tahoma" panose="020B0604030504040204" pitchFamily="34" charset="0"/>
                <a:ea typeface="华文中宋" panose="02010600040101010101" pitchFamily="2" charset="-122"/>
              </a:rPr>
              <a:t>creation or cast    new (type)expr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乘法 </a:t>
            </a:r>
            <a:r>
              <a:rPr lang="en-US" altLang="zh-CN" sz="2100" dirty="0">
                <a:latin typeface="Tahoma" panose="020B0604030504040204" pitchFamily="34" charset="0"/>
                <a:ea typeface="华文中宋" panose="02010600040101010101" pitchFamily="2" charset="-122"/>
              </a:rPr>
              <a:t>multiplicative                        * / %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加法 </a:t>
            </a:r>
            <a:r>
              <a:rPr lang="en-US" altLang="zh-CN" sz="2100" dirty="0">
                <a:latin typeface="Tahoma" panose="020B0604030504040204" pitchFamily="34" charset="0"/>
                <a:ea typeface="华文中宋" panose="02010600040101010101" pitchFamily="2" charset="-122"/>
              </a:rPr>
              <a:t>additive                               + -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移位 </a:t>
            </a:r>
            <a:r>
              <a:rPr lang="en-US" altLang="zh-CN" sz="2100" dirty="0">
                <a:latin typeface="Tahoma" panose="020B0604030504040204" pitchFamily="34" charset="0"/>
                <a:ea typeface="华文中宋" panose="02010600040101010101" pitchFamily="2" charset="-122"/>
              </a:rPr>
              <a:t>shift                                    &lt;&lt; &gt;&gt; &gt;&gt;&gt;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关系 </a:t>
            </a:r>
            <a:r>
              <a:rPr lang="en-US" altLang="zh-CN" sz="2100" dirty="0">
                <a:latin typeface="Tahoma" panose="020B0604030504040204" pitchFamily="34" charset="0"/>
                <a:ea typeface="华文中宋" panose="02010600040101010101" pitchFamily="2" charset="-122"/>
              </a:rPr>
              <a:t>relational                             &lt; &gt; &lt;= &gt;= instanceof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相等 </a:t>
            </a:r>
            <a:r>
              <a:rPr lang="en-US" altLang="zh-CN" sz="2100" dirty="0">
                <a:latin typeface="Tahoma" panose="020B0604030504040204" pitchFamily="34" charset="0"/>
                <a:ea typeface="华文中宋" panose="02010600040101010101" pitchFamily="2" charset="-122"/>
              </a:rPr>
              <a:t>equality                               ==  !=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按位与 </a:t>
            </a:r>
            <a:r>
              <a:rPr lang="en-US" altLang="zh-CN" sz="2100" dirty="0">
                <a:latin typeface="Tahoma" panose="020B0604030504040204" pitchFamily="34" charset="0"/>
                <a:ea typeface="华文中宋" panose="02010600040101010101" pitchFamily="2" charset="-122"/>
              </a:rPr>
              <a:t>bitwise AND                     &amp;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按位异或 </a:t>
            </a:r>
            <a:r>
              <a:rPr lang="en-US" altLang="zh-CN" sz="2100" dirty="0">
                <a:latin typeface="Tahoma" panose="020B0604030504040204" pitchFamily="34" charset="0"/>
                <a:ea typeface="华文中宋" panose="02010600040101010101" pitchFamily="2" charset="-122"/>
              </a:rPr>
              <a:t>bitwise exclusive OR      ^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按位或 </a:t>
            </a:r>
            <a:r>
              <a:rPr lang="en-US" altLang="zh-CN" sz="2100" dirty="0">
                <a:latin typeface="Tahoma" panose="020B0604030504040204" pitchFamily="34" charset="0"/>
                <a:ea typeface="华文中宋" panose="02010600040101010101" pitchFamily="2" charset="-122"/>
              </a:rPr>
              <a:t>bitwise inclusive OR          |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逻辑与 </a:t>
            </a:r>
            <a:r>
              <a:rPr lang="en-US" altLang="zh-CN" sz="2100" dirty="0">
                <a:latin typeface="Tahoma" panose="020B0604030504040204" pitchFamily="34" charset="0"/>
                <a:ea typeface="华文中宋" panose="02010600040101010101" pitchFamily="2" charset="-122"/>
              </a:rPr>
              <a:t>logical AND                      &amp;&amp;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逻辑或 </a:t>
            </a:r>
            <a:r>
              <a:rPr lang="en-US" altLang="zh-CN" sz="2100" dirty="0">
                <a:latin typeface="Tahoma" panose="020B0604030504040204" pitchFamily="34" charset="0"/>
                <a:ea typeface="华文中宋" panose="02010600040101010101" pitchFamily="2" charset="-122"/>
              </a:rPr>
              <a:t>logical OR                        || </a:t>
            </a:r>
          </a:p>
          <a:p>
            <a:pPr marL="609600" indent="-609600" eaLnBrk="1" hangingPunct="1">
              <a:spcBef>
                <a:spcPts val="20"/>
              </a:spcBef>
              <a:spcAft>
                <a:spcPts val="0"/>
              </a:spcAft>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条件 </a:t>
            </a:r>
            <a:r>
              <a:rPr lang="en-US" altLang="zh-CN" sz="2100" dirty="0">
                <a:latin typeface="Tahoma" panose="020B0604030504040204" pitchFamily="34" charset="0"/>
                <a:ea typeface="华文中宋" panose="02010600040101010101" pitchFamily="2" charset="-122"/>
              </a:rPr>
              <a:t>conditional                          ? : </a:t>
            </a:r>
          </a:p>
          <a:p>
            <a:pPr marL="609600" indent="-609600" eaLnBrk="1" hangingPunct="1">
              <a:spcBef>
                <a:spcPts val="20"/>
              </a:spcBef>
              <a:buClr>
                <a:schemeClr val="folHlink"/>
              </a:buClr>
              <a:buSzPct val="90000"/>
              <a:buFont typeface="Wingdings" panose="05000000000000000000" pitchFamily="2" charset="2"/>
            </a:pPr>
            <a:r>
              <a:rPr lang="zh-CN" altLang="en-US" sz="2100" dirty="0">
                <a:latin typeface="Tahoma" panose="020B0604030504040204" pitchFamily="34" charset="0"/>
                <a:ea typeface="华文中宋" panose="02010600040101010101" pitchFamily="2" charset="-122"/>
              </a:rPr>
              <a:t>赋值 </a:t>
            </a:r>
            <a:r>
              <a:rPr lang="en-US" altLang="zh-CN" sz="2100" dirty="0">
                <a:latin typeface="Tahoma" panose="020B0604030504040204" pitchFamily="34" charset="0"/>
                <a:ea typeface="华文中宋" panose="02010600040101010101" pitchFamily="2" charset="-122"/>
              </a:rPr>
              <a:t>assignment             = += -= *= /= %= &amp;= ^= |= &lt;&lt;= &gt;&gt;= &gt;&gt;&gt;= </a:t>
            </a: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表达式 (expression)</a:t>
            </a:r>
          </a:p>
        </p:txBody>
      </p:sp>
      <p:sp>
        <p:nvSpPr>
          <p:cNvPr id="67587" name="Rectangle 3"/>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用运算符和括号将操作数连接起来求值的式子</a:t>
            </a:r>
          </a:p>
          <a:p>
            <a:pPr marL="990600" lvl="1" indent="-533400" eaLnBrk="1" hangingPunct="1">
              <a:spcBef>
                <a:spcPts val="20"/>
              </a:spcBef>
              <a:spcAft>
                <a:spcPts val="0"/>
              </a:spcAft>
              <a:buSzPct val="90000"/>
            </a:pPr>
            <a:r>
              <a:rPr lang="zh-CN" altLang="en-US" dirty="0"/>
              <a:t>操作数</a:t>
            </a:r>
            <a:r>
              <a:rPr lang="en-US" altLang="zh-CN" dirty="0"/>
              <a:t>(</a:t>
            </a:r>
            <a:r>
              <a:rPr lang="zh-CN" altLang="en-US" dirty="0"/>
              <a:t>常量、变量和函数</a:t>
            </a:r>
            <a:r>
              <a:rPr lang="en-US" altLang="zh-CN" dirty="0"/>
              <a:t>)</a:t>
            </a:r>
          </a:p>
          <a:p>
            <a:pPr marL="990600" lvl="1" indent="-533400" eaLnBrk="1" hangingPunct="1">
              <a:spcBef>
                <a:spcPts val="20"/>
              </a:spcBef>
              <a:spcAft>
                <a:spcPts val="0"/>
              </a:spcAft>
              <a:buSzPct val="90000"/>
            </a:pPr>
            <a:r>
              <a:rPr lang="zh-CN" altLang="en-US" dirty="0"/>
              <a:t>算术表达式</a:t>
            </a:r>
          </a:p>
          <a:p>
            <a:pPr marL="990600" lvl="1" indent="-533400" eaLnBrk="1" hangingPunct="1">
              <a:spcBef>
                <a:spcPts val="20"/>
              </a:spcBef>
              <a:spcAft>
                <a:spcPts val="0"/>
              </a:spcAft>
              <a:buSzPct val="90000"/>
            </a:pPr>
            <a:r>
              <a:rPr lang="zh-CN" altLang="en-US" dirty="0"/>
              <a:t>关系表达式</a:t>
            </a:r>
          </a:p>
          <a:p>
            <a:pPr marL="990600" lvl="1" indent="-533400" eaLnBrk="1" hangingPunct="1">
              <a:spcBef>
                <a:spcPts val="20"/>
              </a:spcBef>
              <a:spcAft>
                <a:spcPts val="0"/>
              </a:spcAft>
              <a:buSzPct val="90000"/>
            </a:pPr>
            <a:r>
              <a:rPr lang="zh-CN" altLang="en-US" dirty="0"/>
              <a:t>逻辑表达式</a:t>
            </a:r>
          </a:p>
          <a:p>
            <a:pPr marL="990600" lvl="1" indent="-533400" eaLnBrk="1" hangingPunct="1">
              <a:spcBef>
                <a:spcPts val="20"/>
              </a:spcBef>
              <a:spcAft>
                <a:spcPts val="0"/>
              </a:spcAft>
              <a:buSzPct val="90000"/>
            </a:pPr>
            <a:r>
              <a:rPr lang="zh-CN" altLang="en-US" dirty="0"/>
              <a:t>赋值表达式</a:t>
            </a:r>
          </a:p>
          <a:p>
            <a:pPr marL="990600" lvl="1" indent="-533400" eaLnBrk="1" hangingPunct="1">
              <a:spcBef>
                <a:spcPts val="20"/>
              </a:spcBef>
              <a:buSzPct val="90000"/>
            </a:pPr>
            <a:r>
              <a:rPr lang="zh-CN" altLang="en-US" dirty="0"/>
              <a:t>复合赋值运算</a:t>
            </a:r>
          </a:p>
        </p:txBody>
      </p:sp>
      <p:sp>
        <p:nvSpPr>
          <p:cNvPr id="67588" name="Rectangle 4"/>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4"/>
          <p:cNvSpPr>
            <a:spLocks noGrp="1"/>
          </p:cNvSpPr>
          <p:nvPr>
            <p:ph type="title"/>
          </p:nvPr>
        </p:nvSpPr>
        <p:spPr>
          <a:xfrm>
            <a:off x="495300" y="450215"/>
            <a:ext cx="9720263" cy="569913"/>
          </a:xfrm>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表达式 (expression)</a:t>
            </a:r>
          </a:p>
        </p:txBody>
      </p:sp>
      <p:sp>
        <p:nvSpPr>
          <p:cNvPr id="68610" name="Rectangle 2"/>
          <p:cNvSpPr>
            <a:spLocks noGrp="1"/>
          </p:cNvSpPr>
          <p:nvPr>
            <p:ph idx="1"/>
          </p:nvPr>
        </p:nvSpPr>
        <p:spPr/>
        <p:txBody>
          <a:bodyPr vert="horz" wrap="square" lIns="96011" tIns="48005" rIns="96011" bIns="48005" anchor="t">
            <a:normAutofit/>
          </a:bodyPr>
          <a:lstStyle/>
          <a:p>
            <a:pPr marL="609600" indent="-609600" eaLnBrk="1" hangingPunct="1">
              <a:spcAft>
                <a:spcPts val="0"/>
              </a:spcAft>
              <a:buSzPct val="90000"/>
            </a:pPr>
            <a:r>
              <a:rPr lang="zh-CN" altLang="en-US" dirty="0"/>
              <a:t>算术表达式</a:t>
            </a:r>
          </a:p>
          <a:p>
            <a:pPr marL="990600" lvl="1" indent="-533400" eaLnBrk="1" hangingPunct="1">
              <a:spcBef>
                <a:spcPts val="20"/>
              </a:spcBef>
              <a:spcAft>
                <a:spcPts val="0"/>
              </a:spcAft>
              <a:buSzPct val="90000"/>
            </a:pPr>
            <a:r>
              <a:rPr lang="zh-CN" altLang="en-US" dirty="0"/>
              <a:t>用算术运算符和括号将操作数连接起来，求整数或实数</a:t>
            </a:r>
          </a:p>
          <a:p>
            <a:pPr marL="1371600" lvl="2" indent="-457200" eaLnBrk="1" hangingPunct="1">
              <a:spcBef>
                <a:spcPts val="20"/>
              </a:spcBef>
              <a:spcAft>
                <a:spcPts val="0"/>
              </a:spcAft>
              <a:buSzPct val="90000"/>
            </a:pPr>
            <a:r>
              <a:rPr lang="zh-CN" altLang="en-US" dirty="0"/>
              <a:t>运算符的优先级和结合性</a:t>
            </a:r>
          </a:p>
          <a:p>
            <a:pPr marL="990600" lvl="1" indent="-533400" eaLnBrk="1" hangingPunct="1">
              <a:spcBef>
                <a:spcPts val="20"/>
              </a:spcBef>
              <a:spcAft>
                <a:spcPts val="0"/>
              </a:spcAft>
              <a:buSzPct val="90000"/>
            </a:pPr>
            <a:r>
              <a:rPr lang="zh-CN" altLang="en-US" dirty="0"/>
              <a:t>例</a:t>
            </a:r>
          </a:p>
          <a:p>
            <a:pPr marL="1371600" lvl="2" indent="-457200" eaLnBrk="1" hangingPunct="1">
              <a:spcBef>
                <a:spcPts val="20"/>
              </a:spcBef>
              <a:spcAft>
                <a:spcPts val="0"/>
              </a:spcAft>
              <a:buSzPct val="90000"/>
            </a:pPr>
            <a:r>
              <a:rPr lang="en-US" altLang="zh-CN" dirty="0"/>
              <a:t>int x=20, y=3, z=5;</a:t>
            </a:r>
          </a:p>
          <a:p>
            <a:pPr marL="1371600" lvl="2" indent="-457200" eaLnBrk="1" hangingPunct="1">
              <a:spcBef>
                <a:spcPts val="20"/>
              </a:spcBef>
              <a:spcAft>
                <a:spcPts val="0"/>
              </a:spcAft>
              <a:buSzPct val="90000"/>
            </a:pPr>
            <a:r>
              <a:rPr lang="en-US" altLang="zh-CN" dirty="0"/>
              <a:t>x+y*z    (x+y)*z  </a:t>
            </a:r>
          </a:p>
          <a:p>
            <a:pPr marL="1371600" lvl="2" indent="-457200" eaLnBrk="1" hangingPunct="1">
              <a:spcBef>
                <a:spcPts val="20"/>
              </a:spcBef>
              <a:spcAft>
                <a:spcPts val="0"/>
              </a:spcAft>
              <a:buSzPct val="90000"/>
            </a:pPr>
            <a:r>
              <a:rPr lang="en-US" altLang="zh-CN" dirty="0"/>
              <a:t>x*-y</a:t>
            </a:r>
          </a:p>
          <a:p>
            <a:pPr marL="990600" lvl="1" indent="-533400" eaLnBrk="1" hangingPunct="1">
              <a:spcBef>
                <a:spcPts val="20"/>
              </a:spcBef>
              <a:spcAft>
                <a:spcPts val="0"/>
              </a:spcAft>
              <a:buSzPct val="90000"/>
            </a:pPr>
            <a:r>
              <a:rPr lang="zh-CN" altLang="en-US" dirty="0"/>
              <a:t>说明</a:t>
            </a:r>
          </a:p>
          <a:p>
            <a:pPr marL="1371600" lvl="2" indent="-457200" eaLnBrk="1" hangingPunct="1">
              <a:spcBef>
                <a:spcPts val="20"/>
              </a:spcBef>
              <a:spcAft>
                <a:spcPts val="0"/>
              </a:spcAft>
              <a:buSzPct val="90000"/>
            </a:pPr>
            <a:r>
              <a:rPr lang="zh-CN" altLang="en-US" dirty="0"/>
              <a:t>表达式力求简单明了</a:t>
            </a:r>
          </a:p>
          <a:p>
            <a:pPr marL="1371600" lvl="2" indent="-457200" eaLnBrk="1" hangingPunct="1">
              <a:spcBef>
                <a:spcPts val="20"/>
              </a:spcBef>
              <a:buSzPct val="90000"/>
            </a:pPr>
            <a:r>
              <a:rPr lang="zh-CN" altLang="en-US" dirty="0"/>
              <a:t>表达式中的变量必须赋值</a:t>
            </a:r>
          </a:p>
        </p:txBody>
      </p:sp>
      <p:sp>
        <p:nvSpPr>
          <p:cNvPr id="68611"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表达式 (expression)</a:t>
            </a:r>
          </a:p>
        </p:txBody>
      </p:sp>
      <p:sp>
        <p:nvSpPr>
          <p:cNvPr id="69634"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关系表达式</a:t>
            </a:r>
          </a:p>
          <a:p>
            <a:pPr marL="990600" lvl="1" indent="-533400" eaLnBrk="1" hangingPunct="1">
              <a:spcBef>
                <a:spcPts val="20"/>
              </a:spcBef>
              <a:spcAft>
                <a:spcPts val="0"/>
              </a:spcAft>
              <a:buSzPct val="90000"/>
            </a:pPr>
            <a:r>
              <a:rPr lang="zh-CN" altLang="en-US" dirty="0"/>
              <a:t>将两个表达式连接起来的式子</a:t>
            </a:r>
          </a:p>
          <a:p>
            <a:pPr marL="1371600" lvl="2" indent="-457200" eaLnBrk="1" hangingPunct="1">
              <a:spcBef>
                <a:spcPts val="20"/>
              </a:spcBef>
              <a:spcAft>
                <a:spcPts val="0"/>
              </a:spcAft>
              <a:buSzPct val="90000"/>
            </a:pPr>
            <a:r>
              <a:rPr lang="zh-CN" altLang="en-US" dirty="0"/>
              <a:t>算术表达式、赋值表达式、字符表达式</a:t>
            </a:r>
          </a:p>
          <a:p>
            <a:pPr marL="1752600" lvl="3" indent="-381000" eaLnBrk="1" hangingPunct="1">
              <a:spcBef>
                <a:spcPts val="20"/>
              </a:spcBef>
              <a:spcAft>
                <a:spcPts val="0"/>
              </a:spcAft>
              <a:buSzPct val="90000"/>
            </a:pPr>
            <a:r>
              <a:rPr lang="en-US" altLang="zh-CN" sz="2520" dirty="0"/>
              <a:t>a&gt;b;  </a:t>
            </a:r>
            <a:r>
              <a:rPr lang="en-US" altLang="zh-CN" sz="2520" dirty="0">
                <a:solidFill>
                  <a:schemeClr val="hlink"/>
                </a:solidFill>
              </a:rPr>
              <a:t>a+b&gt;b-c</a:t>
            </a:r>
            <a:r>
              <a:rPr lang="en-US" altLang="zh-CN" sz="2520" dirty="0"/>
              <a:t>;  (a=3)&gt;(b=5);  ‘b’&gt;’a’;</a:t>
            </a:r>
          </a:p>
          <a:p>
            <a:pPr marL="1371600" lvl="2" indent="-457200" eaLnBrk="1" hangingPunct="1">
              <a:spcBef>
                <a:spcPts val="20"/>
              </a:spcBef>
              <a:spcAft>
                <a:spcPts val="0"/>
              </a:spcAft>
              <a:buSzPct val="90000"/>
            </a:pPr>
            <a:r>
              <a:rPr lang="zh-CN" altLang="en-US" dirty="0"/>
              <a:t>返回结果为一个布尔类型的值</a:t>
            </a:r>
          </a:p>
          <a:p>
            <a:pPr marL="990600" lvl="1" indent="-533400" eaLnBrk="1" hangingPunct="1">
              <a:spcBef>
                <a:spcPts val="20"/>
              </a:spcBef>
              <a:spcAft>
                <a:spcPts val="0"/>
              </a:spcAft>
              <a:buSzPct val="90000"/>
            </a:pPr>
            <a:r>
              <a:rPr lang="zh-CN" altLang="en-US" dirty="0"/>
              <a:t>例</a:t>
            </a:r>
          </a:p>
          <a:p>
            <a:pPr marL="1371600" lvl="2" indent="-457200" eaLnBrk="1" hangingPunct="1">
              <a:spcBef>
                <a:spcPts val="20"/>
              </a:spcBef>
              <a:spcAft>
                <a:spcPts val="0"/>
              </a:spcAft>
              <a:buSzPct val="90000"/>
            </a:pPr>
            <a:r>
              <a:rPr lang="zh-CN" altLang="en-US" dirty="0"/>
              <a:t>若 </a:t>
            </a:r>
            <a:r>
              <a:rPr lang="en-US" altLang="zh-CN" dirty="0"/>
              <a:t>int a=3, b=2, c=1; boolean d, f;</a:t>
            </a:r>
          </a:p>
          <a:p>
            <a:pPr marL="1371600" lvl="2" indent="-457200" eaLnBrk="1" hangingPunct="1">
              <a:spcBef>
                <a:spcPts val="20"/>
              </a:spcBef>
              <a:spcAft>
                <a:spcPts val="0"/>
              </a:spcAft>
              <a:buSzPct val="90000"/>
            </a:pPr>
            <a:r>
              <a:rPr lang="en-US" altLang="zh-CN" dirty="0"/>
              <a:t>d=a&gt;b;</a:t>
            </a:r>
          </a:p>
          <a:p>
            <a:pPr marL="1371600" lvl="2" indent="-457200" eaLnBrk="1" hangingPunct="1">
              <a:spcBef>
                <a:spcPts val="20"/>
              </a:spcBef>
              <a:buSzPct val="90000"/>
            </a:pPr>
            <a:r>
              <a:rPr lang="en-US" altLang="zh-CN" dirty="0"/>
              <a:t>f=(a+b)&gt;(b+5);</a:t>
            </a:r>
          </a:p>
        </p:txBody>
      </p:sp>
      <p:sp>
        <p:nvSpPr>
          <p:cNvPr id="69635"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4"/>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表达式 (expression)</a:t>
            </a:r>
          </a:p>
        </p:txBody>
      </p:sp>
      <p:sp>
        <p:nvSpPr>
          <p:cNvPr id="70658"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逻辑表达式</a:t>
            </a:r>
          </a:p>
          <a:p>
            <a:pPr marL="990600" lvl="1" indent="-533400" eaLnBrk="1" hangingPunct="1">
              <a:spcBef>
                <a:spcPts val="20"/>
              </a:spcBef>
              <a:spcAft>
                <a:spcPts val="0"/>
              </a:spcAft>
              <a:buSzPct val="90000"/>
            </a:pPr>
            <a:r>
              <a:rPr lang="zh-CN" altLang="en-US" dirty="0"/>
              <a:t>用逻辑运算符将</a:t>
            </a:r>
            <a:r>
              <a:rPr lang="zh-CN" altLang="en-US" dirty="0">
                <a:solidFill>
                  <a:schemeClr val="hlink"/>
                </a:solidFill>
              </a:rPr>
              <a:t>关系表达式</a:t>
            </a:r>
            <a:r>
              <a:rPr lang="zh-CN" altLang="en-US" dirty="0"/>
              <a:t>和</a:t>
            </a:r>
            <a:r>
              <a:rPr lang="zh-CN" altLang="en-US" dirty="0">
                <a:solidFill>
                  <a:schemeClr val="hlink"/>
                </a:solidFill>
              </a:rPr>
              <a:t>布尔值</a:t>
            </a:r>
            <a:r>
              <a:rPr lang="zh-CN" altLang="en-US" dirty="0"/>
              <a:t>连接起来的式子</a:t>
            </a:r>
          </a:p>
          <a:p>
            <a:pPr marL="990600" lvl="1" indent="-533400" eaLnBrk="1" hangingPunct="1">
              <a:spcBef>
                <a:spcPts val="20"/>
              </a:spcBef>
              <a:spcAft>
                <a:spcPts val="0"/>
              </a:spcAft>
              <a:buSzPct val="90000"/>
            </a:pPr>
            <a:r>
              <a:rPr lang="zh-CN" altLang="en-US" dirty="0"/>
              <a:t>例</a:t>
            </a:r>
          </a:p>
          <a:p>
            <a:pPr marL="1371600" lvl="2" indent="-457200" eaLnBrk="1" hangingPunct="1">
              <a:spcBef>
                <a:spcPts val="20"/>
              </a:spcBef>
              <a:spcAft>
                <a:spcPts val="0"/>
              </a:spcAft>
              <a:buSzPct val="90000"/>
            </a:pPr>
            <a:r>
              <a:rPr lang="en-US" altLang="zh-CN" dirty="0"/>
              <a:t>int x=23, y=98;</a:t>
            </a:r>
          </a:p>
          <a:p>
            <a:pPr marL="1371600" lvl="2" indent="-457200" eaLnBrk="1" hangingPunct="1">
              <a:spcBef>
                <a:spcPts val="20"/>
              </a:spcBef>
              <a:spcAft>
                <a:spcPts val="0"/>
              </a:spcAft>
              <a:buSzPct val="90000"/>
            </a:pPr>
            <a:r>
              <a:rPr lang="en-US" altLang="zh-CN" dirty="0"/>
              <a:t>boolean a = true, b=false, c, d;</a:t>
            </a:r>
          </a:p>
          <a:p>
            <a:pPr marL="1371600" lvl="2" indent="-457200" eaLnBrk="1" hangingPunct="1">
              <a:spcBef>
                <a:spcPts val="20"/>
              </a:spcBef>
              <a:spcAft>
                <a:spcPts val="0"/>
              </a:spcAft>
              <a:buSzPct val="90000"/>
            </a:pPr>
            <a:r>
              <a:rPr lang="en-US" altLang="zh-CN" dirty="0"/>
              <a:t>c=(x&gt;y)&amp;a;</a:t>
            </a:r>
          </a:p>
          <a:p>
            <a:pPr marL="1371600" lvl="2" indent="-457200" eaLnBrk="1" hangingPunct="1">
              <a:spcBef>
                <a:spcPts val="20"/>
              </a:spcBef>
              <a:buSzPct val="90000"/>
            </a:pPr>
            <a:r>
              <a:rPr lang="en-US" altLang="zh-CN" dirty="0"/>
              <a:t>d=!a&amp;&amp;(x&lt;=y);</a:t>
            </a:r>
          </a:p>
        </p:txBody>
      </p:sp>
      <p:sp>
        <p:nvSpPr>
          <p:cNvPr id="70659"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77500" lnSpcReduction="20000"/>
          </a:bodyPr>
          <a:lstStyle/>
          <a:p>
            <a:pPr eaLnBrk="1" hangingPunct="1">
              <a:lnSpc>
                <a:spcPct val="150000"/>
              </a:lnSpc>
              <a:spcAft>
                <a:spcPts val="0"/>
              </a:spcAft>
              <a:buClr>
                <a:srgbClr val="000000"/>
              </a:buClr>
              <a:buSzTx/>
            </a:pPr>
            <a:r>
              <a:rPr lang="zh-CN" altLang="en-US" dirty="0"/>
              <a:t>逻辑表达式</a:t>
            </a:r>
          </a:p>
          <a:p>
            <a:pPr marL="800100" lvl="1" indent="-342900" eaLnBrk="1" hangingPunct="1">
              <a:lnSpc>
                <a:spcPct val="150000"/>
              </a:lnSpc>
              <a:spcBef>
                <a:spcPts val="20"/>
              </a:spcBef>
              <a:spcAft>
                <a:spcPts val="0"/>
              </a:spcAft>
              <a:buClr>
                <a:schemeClr val="accent1"/>
              </a:buClr>
              <a:buSzTx/>
            </a:pPr>
            <a:r>
              <a:rPr lang="zh-CN" altLang="en-US" dirty="0"/>
              <a:t>例</a:t>
            </a:r>
            <a:r>
              <a:rPr lang="en-US" altLang="zh-CN" dirty="0"/>
              <a:t>: </a:t>
            </a:r>
            <a:r>
              <a:rPr lang="zh-CN" altLang="en-US" dirty="0"/>
              <a:t>闰年</a:t>
            </a:r>
            <a:r>
              <a:rPr lang="en-US" altLang="zh-CN" dirty="0"/>
              <a:t>(leap year)</a:t>
            </a:r>
          </a:p>
          <a:p>
            <a:pPr marL="990600" lvl="1" indent="-533400" eaLnBrk="1" hangingPunct="1">
              <a:lnSpc>
                <a:spcPct val="150000"/>
              </a:lnSpc>
              <a:spcBef>
                <a:spcPts val="20"/>
              </a:spcBef>
              <a:spcAft>
                <a:spcPts val="0"/>
              </a:spcAft>
              <a:buSzPct val="90000"/>
              <a:buNone/>
            </a:pPr>
            <a:r>
              <a:rPr lang="en-US" altLang="x-none" dirty="0"/>
              <a:t>     </a:t>
            </a:r>
            <a:r>
              <a:rPr lang="en-US" altLang="zh-CN" dirty="0"/>
              <a:t>A year in the Gregorian calendar having 366 days, with the extra day, February 29, intercalated to compensate for the quarter-day difference between an ordinary year and the astronomical year.</a:t>
            </a:r>
          </a:p>
          <a:p>
            <a:pPr marL="990600" lvl="1" indent="-533400" eaLnBrk="1" hangingPunct="1">
              <a:lnSpc>
                <a:spcPct val="150000"/>
              </a:lnSpc>
              <a:spcBef>
                <a:spcPts val="20"/>
              </a:spcBef>
              <a:spcAft>
                <a:spcPts val="0"/>
              </a:spcAft>
              <a:buSzPct val="90000"/>
              <a:buNone/>
            </a:pPr>
            <a:r>
              <a:rPr lang="zh-CN" altLang="en-US" dirty="0"/>
              <a:t>条件符合下例两者之一</a:t>
            </a:r>
          </a:p>
          <a:p>
            <a:pPr marL="1371600" lvl="2" indent="-4572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能被</a:t>
            </a:r>
            <a:r>
              <a:rPr lang="en-US" altLang="zh-CN" dirty="0"/>
              <a:t>4</a:t>
            </a:r>
            <a:r>
              <a:rPr lang="zh-CN" altLang="en-US" dirty="0"/>
              <a:t>整除，但不能被</a:t>
            </a:r>
            <a:r>
              <a:rPr lang="en-US" altLang="zh-CN" dirty="0"/>
              <a:t>100</a:t>
            </a:r>
            <a:r>
              <a:rPr lang="zh-CN" altLang="en-US" dirty="0"/>
              <a:t>整除</a:t>
            </a:r>
          </a:p>
          <a:p>
            <a:pPr marL="1371600" lvl="2" indent="-4572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能被</a:t>
            </a:r>
            <a:r>
              <a:rPr lang="en-US" altLang="zh-CN" dirty="0"/>
              <a:t>4</a:t>
            </a:r>
            <a:r>
              <a:rPr lang="zh-CN" altLang="en-US" dirty="0"/>
              <a:t>整除，又能被</a:t>
            </a:r>
            <a:r>
              <a:rPr lang="en-US" altLang="zh-CN" dirty="0"/>
              <a:t>400</a:t>
            </a:r>
            <a:r>
              <a:rPr lang="zh-CN" altLang="en-US" dirty="0"/>
              <a:t>整除</a:t>
            </a:r>
          </a:p>
          <a:p>
            <a:pPr marL="1371600" lvl="2" indent="-457200" eaLnBrk="1" hangingPunct="1">
              <a:lnSpc>
                <a:spcPct val="150000"/>
              </a:lnSpc>
              <a:spcBef>
                <a:spcPts val="20"/>
              </a:spcBef>
              <a:spcAft>
                <a:spcPts val="0"/>
              </a:spcAft>
              <a:buSzPct val="90000"/>
              <a:buNone/>
            </a:pPr>
            <a:r>
              <a:rPr lang="en-US" altLang="zh-CN" dirty="0"/>
              <a:t>(year%4==0 &amp;&amp; year%100!=0) || year%400==0</a:t>
            </a:r>
          </a:p>
          <a:p>
            <a:pPr marL="1371600" lvl="2" indent="-457200" eaLnBrk="1" hangingPunct="1">
              <a:lnSpc>
                <a:spcPct val="150000"/>
              </a:lnSpc>
              <a:spcBef>
                <a:spcPts val="20"/>
              </a:spcBef>
              <a:buSzPct val="90000"/>
              <a:buNone/>
            </a:pPr>
            <a:r>
              <a:rPr lang="en-US" altLang="zh-CN" dirty="0"/>
              <a:t>(year%4!=0) || (year%100==0 &amp;&amp; year%400!=0)</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表达式 </a:t>
            </a:r>
            <a:r>
              <a:rPr lang="en-US" altLang="zh-CN" dirty="0"/>
              <a:t>(expression)</a:t>
            </a:r>
          </a:p>
        </p:txBody>
      </p:sp>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4"/>
          <p:cNvSpPr>
            <a:spLocks noGrp="1"/>
          </p:cNvSpPr>
          <p:nvPr>
            <p:ph type="title"/>
          </p:nvPr>
        </p:nvSpPr>
        <p:spPr/>
        <p:txBody>
          <a:bodyPr vert="horz" wrap="square" lIns="96011" tIns="48005" rIns="96011" bIns="48005" anchor="b"/>
          <a:lstStyle/>
          <a:p>
            <a:pPr eaLnBrk="1" hangingPunct="1">
              <a:spcAft>
                <a:spcPts val="0"/>
              </a:spcAft>
            </a:pPr>
            <a:r>
              <a:rPr lang="zh-CN" altLang="en-US" dirty="0">
                <a:latin typeface="Comic Sans MS" panose="030F0702030302020204" pitchFamily="66" charset="0"/>
              </a:rPr>
              <a:t>表达式 </a:t>
            </a:r>
            <a:r>
              <a:rPr lang="en-US" altLang="zh-CN" dirty="0">
                <a:latin typeface="Comic Sans MS" panose="030F0702030302020204" pitchFamily="66" charset="0"/>
              </a:rPr>
              <a:t>(expression)</a:t>
            </a:r>
          </a:p>
        </p:txBody>
      </p:sp>
      <p:sp>
        <p:nvSpPr>
          <p:cNvPr id="72706" name="Rectangle 2"/>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赋值表达式</a:t>
            </a:r>
          </a:p>
          <a:p>
            <a:pPr marL="990600" lvl="1" indent="-533400" eaLnBrk="1" hangingPunct="1">
              <a:spcBef>
                <a:spcPts val="20"/>
              </a:spcBef>
              <a:spcAft>
                <a:spcPts val="0"/>
              </a:spcAft>
              <a:buSzPct val="90000"/>
            </a:pPr>
            <a:r>
              <a:rPr lang="zh-CN" altLang="en-US" dirty="0"/>
              <a:t>用赋值运算符将一个变量和一个表达式连接起来的式子</a:t>
            </a:r>
          </a:p>
          <a:p>
            <a:pPr marL="1371600" lvl="2" indent="-457200" eaLnBrk="1" hangingPunct="1">
              <a:spcBef>
                <a:spcPts val="20"/>
              </a:spcBef>
              <a:spcAft>
                <a:spcPts val="0"/>
              </a:spcAft>
              <a:buSzPct val="90000"/>
            </a:pPr>
            <a:r>
              <a:rPr lang="en-US" altLang="zh-CN" dirty="0"/>
              <a:t>&lt;</a:t>
            </a:r>
            <a:r>
              <a:rPr lang="zh-CN" altLang="en-US" dirty="0"/>
              <a:t>变量</a:t>
            </a:r>
            <a:r>
              <a:rPr lang="en-US" altLang="zh-CN" dirty="0"/>
              <a:t>&gt; &lt;</a:t>
            </a:r>
            <a:r>
              <a:rPr lang="zh-CN" altLang="en-US" dirty="0"/>
              <a:t>赋值运算符</a:t>
            </a:r>
            <a:r>
              <a:rPr lang="en-US" altLang="zh-CN" dirty="0"/>
              <a:t>&gt; &lt;</a:t>
            </a:r>
            <a:r>
              <a:rPr lang="zh-CN" altLang="en-US" dirty="0"/>
              <a:t>表达式</a:t>
            </a:r>
            <a:r>
              <a:rPr lang="en-US" altLang="zh-CN" dirty="0"/>
              <a:t>&gt;</a:t>
            </a:r>
          </a:p>
          <a:p>
            <a:pPr marL="1371600" lvl="2" indent="-457200" eaLnBrk="1" hangingPunct="1">
              <a:spcBef>
                <a:spcPts val="20"/>
              </a:spcBef>
              <a:spcAft>
                <a:spcPts val="0"/>
              </a:spcAft>
              <a:buSzPct val="90000"/>
            </a:pPr>
            <a:r>
              <a:rPr lang="zh-CN" altLang="en-US" dirty="0"/>
              <a:t>优先级</a:t>
            </a:r>
            <a:r>
              <a:rPr lang="en-US" altLang="zh-CN" dirty="0"/>
              <a:t>: </a:t>
            </a:r>
            <a:r>
              <a:rPr lang="zh-CN" altLang="en-US" dirty="0"/>
              <a:t>赋值运算符 </a:t>
            </a:r>
            <a:r>
              <a:rPr lang="en-US" altLang="zh-CN" dirty="0"/>
              <a:t>&lt; </a:t>
            </a:r>
            <a:r>
              <a:rPr lang="zh-CN" altLang="en-US" dirty="0"/>
              <a:t>算术、关系和逻辑运算符</a:t>
            </a:r>
          </a:p>
          <a:p>
            <a:pPr marL="1371600" lvl="2" indent="-457200" eaLnBrk="1" hangingPunct="1">
              <a:spcBef>
                <a:spcPts val="20"/>
              </a:spcBef>
              <a:spcAft>
                <a:spcPts val="0"/>
              </a:spcAft>
              <a:buSzPct val="90000"/>
            </a:pPr>
            <a:r>
              <a:rPr lang="en-US" altLang="zh-CN" dirty="0"/>
              <a:t>a=5+6;</a:t>
            </a:r>
          </a:p>
          <a:p>
            <a:pPr marL="1371600" lvl="2" indent="-457200" eaLnBrk="1" hangingPunct="1">
              <a:spcBef>
                <a:spcPts val="20"/>
              </a:spcBef>
              <a:spcAft>
                <a:spcPts val="0"/>
              </a:spcAft>
              <a:buSzPct val="90000"/>
            </a:pPr>
            <a:r>
              <a:rPr lang="en-US" altLang="zh-CN" dirty="0"/>
              <a:t>b=c=d=a+5;</a:t>
            </a:r>
          </a:p>
          <a:p>
            <a:pPr marL="1371600" lvl="2" indent="-457200" eaLnBrk="1" hangingPunct="1">
              <a:spcBef>
                <a:spcPts val="20"/>
              </a:spcBef>
              <a:spcAft>
                <a:spcPts val="0"/>
              </a:spcAft>
              <a:buSzPct val="90000"/>
            </a:pPr>
            <a:r>
              <a:rPr lang="en-US" altLang="zh-CN" dirty="0">
                <a:solidFill>
                  <a:schemeClr val="hlink"/>
                </a:solidFill>
              </a:rPr>
              <a:t>a=5+c=5;</a:t>
            </a:r>
          </a:p>
          <a:p>
            <a:pPr marL="1371600" lvl="2" indent="-457200" eaLnBrk="1" hangingPunct="1">
              <a:spcBef>
                <a:spcPts val="20"/>
              </a:spcBef>
              <a:buSzPct val="90000"/>
            </a:pPr>
            <a:r>
              <a:rPr lang="en-US" altLang="zh-CN" dirty="0"/>
              <a:t>a=(b=4)+(c=6);</a:t>
            </a:r>
          </a:p>
        </p:txBody>
      </p:sp>
      <p:sp>
        <p:nvSpPr>
          <p:cNvPr id="72707"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p:cNvSpPr>
          <p:nvPr>
            <p:ph type="title"/>
          </p:nvPr>
        </p:nvSpPr>
        <p:spPr/>
        <p:txBody>
          <a:bodyPr vert="horz" wrap="square" lIns="96011" tIns="48005" rIns="96011" bIns="48005" anchor="b"/>
          <a:lstStyle/>
          <a:p>
            <a:pPr eaLnBrk="1" hangingPunct="1">
              <a:spcAft>
                <a:spcPts val="0"/>
              </a:spcAft>
            </a:pPr>
            <a:r>
              <a:rPr lang="zh-CN" altLang="en-US" dirty="0">
                <a:latin typeface="Comic Sans MS" panose="030F0702030302020204" pitchFamily="66" charset="0"/>
              </a:rPr>
              <a:t>表达式 </a:t>
            </a:r>
            <a:r>
              <a:rPr lang="en-US" altLang="zh-CN" dirty="0">
                <a:latin typeface="Comic Sans MS" panose="030F0702030302020204" pitchFamily="66" charset="0"/>
              </a:rPr>
              <a:t>(expression)</a:t>
            </a:r>
          </a:p>
        </p:txBody>
      </p:sp>
      <p:sp>
        <p:nvSpPr>
          <p:cNvPr id="73730" name="Rectangle 2"/>
          <p:cNvSpPr>
            <a:spLocks noGrp="1"/>
          </p:cNvSpPr>
          <p:nvPr>
            <p:ph idx="1"/>
          </p:nvPr>
        </p:nvSpPr>
        <p:spPr/>
        <p:txBody>
          <a:bodyPr vert="horz" wrap="square" lIns="96011" tIns="48005" rIns="96011" bIns="48005" anchor="t">
            <a:normAutofit lnSpcReduction="10000"/>
          </a:bodyPr>
          <a:lstStyle/>
          <a:p>
            <a:pPr marL="609600" indent="-609600" eaLnBrk="1" hangingPunct="1">
              <a:spcAft>
                <a:spcPts val="0"/>
              </a:spcAft>
              <a:buSzPct val="90000"/>
            </a:pPr>
            <a:r>
              <a:rPr lang="zh-CN" altLang="en-US" dirty="0"/>
              <a:t>复合赋值运算</a:t>
            </a:r>
          </a:p>
          <a:p>
            <a:pPr marL="990600" lvl="1" indent="-533400" eaLnBrk="1" hangingPunct="1">
              <a:spcBef>
                <a:spcPts val="20"/>
              </a:spcBef>
              <a:spcAft>
                <a:spcPts val="0"/>
              </a:spcAft>
              <a:buSzPct val="90000"/>
            </a:pPr>
            <a:r>
              <a:rPr lang="zh-CN" altLang="en-US" dirty="0"/>
              <a:t>复合赋值运算符</a:t>
            </a:r>
          </a:p>
          <a:p>
            <a:pPr marL="1371600" lvl="2" indent="-457200" eaLnBrk="1" hangingPunct="1">
              <a:spcBef>
                <a:spcPts val="20"/>
              </a:spcBef>
              <a:spcAft>
                <a:spcPts val="0"/>
              </a:spcAft>
              <a:buSzPct val="90000"/>
            </a:pPr>
            <a:r>
              <a:rPr lang="en-US" altLang="zh-CN" dirty="0"/>
              <a:t>+=</a:t>
            </a:r>
            <a:r>
              <a:rPr lang="zh-CN" altLang="en-US" dirty="0"/>
              <a:t>、   </a:t>
            </a:r>
            <a:r>
              <a:rPr lang="en-US" altLang="zh-CN" dirty="0"/>
              <a:t>-=</a:t>
            </a:r>
            <a:r>
              <a:rPr lang="zh-CN" altLang="en-US" dirty="0"/>
              <a:t>、   *</a:t>
            </a:r>
            <a:r>
              <a:rPr lang="en-US" altLang="zh-CN" dirty="0"/>
              <a:t>=</a:t>
            </a:r>
            <a:r>
              <a:rPr lang="zh-CN" altLang="en-US" dirty="0"/>
              <a:t>、 </a:t>
            </a:r>
            <a:r>
              <a:rPr lang="en-US" altLang="zh-CN" dirty="0"/>
              <a:t>/=</a:t>
            </a:r>
            <a:r>
              <a:rPr lang="zh-CN" altLang="en-US" dirty="0"/>
              <a:t>、</a:t>
            </a:r>
            <a:r>
              <a:rPr lang="en-US" altLang="zh-CN" dirty="0"/>
              <a:t>%=</a:t>
            </a:r>
          </a:p>
          <a:p>
            <a:pPr marL="1371600" lvl="2" indent="-457200" eaLnBrk="1" hangingPunct="1">
              <a:spcBef>
                <a:spcPts val="20"/>
              </a:spcBef>
              <a:spcAft>
                <a:spcPts val="0"/>
              </a:spcAft>
              <a:buSzPct val="90000"/>
            </a:pPr>
            <a:r>
              <a:rPr lang="en-US" altLang="zh-CN" dirty="0"/>
              <a:t>&lt;&lt;=</a:t>
            </a:r>
            <a:r>
              <a:rPr lang="zh-CN" altLang="en-US" dirty="0"/>
              <a:t>、</a:t>
            </a:r>
            <a:r>
              <a:rPr lang="en-US" altLang="zh-CN" dirty="0"/>
              <a:t>&gt;&gt;=</a:t>
            </a:r>
            <a:r>
              <a:rPr lang="zh-CN" altLang="en-US" dirty="0"/>
              <a:t>、</a:t>
            </a:r>
            <a:r>
              <a:rPr lang="en-US" altLang="zh-CN" dirty="0"/>
              <a:t>&amp;=</a:t>
            </a:r>
            <a:r>
              <a:rPr lang="zh-CN" altLang="en-US" dirty="0"/>
              <a:t>、</a:t>
            </a:r>
            <a:r>
              <a:rPr lang="en-US" altLang="zh-CN" dirty="0"/>
              <a:t>^=</a:t>
            </a:r>
            <a:r>
              <a:rPr lang="zh-CN" altLang="en-US" dirty="0"/>
              <a:t>、</a:t>
            </a:r>
            <a:r>
              <a:rPr lang="en-US" altLang="zh-CN" dirty="0"/>
              <a:t>|=</a:t>
            </a:r>
          </a:p>
          <a:p>
            <a:pPr marL="1371600" lvl="2" indent="-457200" eaLnBrk="1" hangingPunct="1">
              <a:spcBef>
                <a:spcPts val="20"/>
              </a:spcBef>
              <a:spcAft>
                <a:spcPts val="0"/>
              </a:spcAft>
              <a:buSzPct val="90000"/>
            </a:pPr>
            <a:r>
              <a:rPr lang="en-US" altLang="zh-CN" dirty="0"/>
              <a:t>&lt;</a:t>
            </a:r>
            <a:r>
              <a:rPr lang="zh-CN" altLang="en-US" dirty="0"/>
              <a:t>变量</a:t>
            </a:r>
            <a:r>
              <a:rPr lang="en-US" altLang="zh-CN" dirty="0"/>
              <a:t>&gt; &lt;</a:t>
            </a:r>
            <a:r>
              <a:rPr lang="zh-CN" altLang="en-US" dirty="0"/>
              <a:t>复合赋值运算符</a:t>
            </a:r>
            <a:r>
              <a:rPr lang="en-US" altLang="zh-CN" dirty="0"/>
              <a:t>&gt; &lt;</a:t>
            </a:r>
            <a:r>
              <a:rPr lang="zh-CN" altLang="en-US" dirty="0"/>
              <a:t>表达式</a:t>
            </a:r>
            <a:r>
              <a:rPr lang="en-US" altLang="zh-CN" dirty="0"/>
              <a:t>&gt;</a:t>
            </a:r>
          </a:p>
          <a:p>
            <a:pPr marL="1371600" lvl="2" indent="-457200" eaLnBrk="1" hangingPunct="1">
              <a:spcBef>
                <a:spcPts val="20"/>
              </a:spcBef>
              <a:spcAft>
                <a:spcPts val="0"/>
              </a:spcAft>
              <a:buSzPct val="90000"/>
            </a:pPr>
            <a:r>
              <a:rPr lang="zh-CN" altLang="en-US" dirty="0"/>
              <a:t>例</a:t>
            </a:r>
          </a:p>
          <a:p>
            <a:pPr marL="1752600" lvl="3" indent="-381000" eaLnBrk="1" hangingPunct="1">
              <a:spcBef>
                <a:spcPts val="20"/>
              </a:spcBef>
              <a:spcAft>
                <a:spcPts val="0"/>
              </a:spcAft>
              <a:buSzPct val="90000"/>
            </a:pPr>
            <a:r>
              <a:rPr lang="en-US" altLang="zh-CN" sz="2520" dirty="0"/>
              <a:t>a += b+5;    </a:t>
            </a:r>
            <a:r>
              <a:rPr lang="zh-CN" altLang="en-US" sz="2520" dirty="0"/>
              <a:t>等价于  </a:t>
            </a:r>
            <a:r>
              <a:rPr lang="en-US" altLang="zh-CN" sz="2520" dirty="0"/>
              <a:t>a=a+(b+5);</a:t>
            </a:r>
          </a:p>
          <a:p>
            <a:pPr marL="1752600" lvl="3" indent="-381000" eaLnBrk="1" hangingPunct="1">
              <a:spcBef>
                <a:spcPts val="20"/>
              </a:spcBef>
              <a:spcAft>
                <a:spcPts val="0"/>
              </a:spcAft>
              <a:buSzPct val="90000"/>
            </a:pPr>
            <a:r>
              <a:rPr lang="en-US" altLang="zh-CN" sz="2520" dirty="0"/>
              <a:t>a *= b;       </a:t>
            </a:r>
            <a:r>
              <a:rPr lang="zh-CN" altLang="en-US" sz="2520" dirty="0"/>
              <a:t>等价于  </a:t>
            </a:r>
            <a:r>
              <a:rPr lang="en-US" altLang="zh-CN" sz="2520" dirty="0"/>
              <a:t>a=a*b;</a:t>
            </a:r>
          </a:p>
          <a:p>
            <a:pPr marL="1752600" lvl="3" indent="-381000" eaLnBrk="1" hangingPunct="1">
              <a:spcBef>
                <a:spcPts val="20"/>
              </a:spcBef>
              <a:spcAft>
                <a:spcPts val="0"/>
              </a:spcAft>
              <a:buSzPct val="90000"/>
            </a:pPr>
            <a:r>
              <a:rPr lang="en-US" altLang="zh-CN" sz="2520" dirty="0"/>
              <a:t>a *= b-c;    </a:t>
            </a:r>
            <a:r>
              <a:rPr lang="zh-CN" altLang="en-US" sz="2520" dirty="0"/>
              <a:t>等价于  </a:t>
            </a:r>
            <a:r>
              <a:rPr lang="en-US" altLang="zh-CN" sz="2520" dirty="0"/>
              <a:t>a=a*(b-c);</a:t>
            </a:r>
          </a:p>
          <a:p>
            <a:pPr marL="1371600" lvl="2" indent="-457200" eaLnBrk="1" hangingPunct="1">
              <a:spcBef>
                <a:spcPts val="20"/>
              </a:spcBef>
              <a:buSzPct val="90000"/>
            </a:pPr>
            <a:r>
              <a:rPr lang="en-US" altLang="zh-CN" dirty="0"/>
              <a:t>&lt;</a:t>
            </a:r>
            <a:r>
              <a:rPr lang="zh-CN" altLang="en-US" dirty="0"/>
              <a:t>变量</a:t>
            </a:r>
            <a:r>
              <a:rPr lang="en-US" altLang="zh-CN" dirty="0"/>
              <a:t>&gt; =&lt;</a:t>
            </a:r>
            <a:r>
              <a:rPr lang="zh-CN" altLang="en-US" dirty="0"/>
              <a:t>变量</a:t>
            </a:r>
            <a:r>
              <a:rPr lang="en-US" altLang="zh-CN" dirty="0"/>
              <a:t>&gt;&lt;</a:t>
            </a:r>
            <a:r>
              <a:rPr lang="zh-CN" altLang="en-US" dirty="0"/>
              <a:t>运算符</a:t>
            </a:r>
            <a:r>
              <a:rPr lang="en-US" altLang="zh-CN" dirty="0"/>
              <a:t>&gt; (&lt;</a:t>
            </a:r>
            <a:r>
              <a:rPr lang="zh-CN" altLang="en-US" dirty="0"/>
              <a:t>表达式</a:t>
            </a:r>
            <a:r>
              <a:rPr lang="en-US" altLang="zh-CN" dirty="0"/>
              <a:t>&gt;)</a:t>
            </a:r>
          </a:p>
        </p:txBody>
      </p:sp>
      <p:sp>
        <p:nvSpPr>
          <p:cNvPr id="73731" name="Rectangle 3"/>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矩形 3"/>
          <p:cNvSpPr/>
          <p:nvPr/>
        </p:nvSpPr>
        <p:spPr>
          <a:xfrm>
            <a:off x="3690938" y="2613025"/>
            <a:ext cx="2621280" cy="829945"/>
          </a:xfrm>
          <a:prstGeom prst="rect">
            <a:avLst/>
          </a:prstGeom>
          <a:noFill/>
          <a:ln w="9525">
            <a:noFill/>
          </a:ln>
        </p:spPr>
        <p:txBody>
          <a:bodyPr wrap="none" anchor="t">
            <a:spAutoFit/>
          </a:bodyPr>
          <a:lstStyle/>
          <a:p>
            <a:pPr marL="0" lvl="1" indent="0" algn="l" eaLnBrk="1" fontAlgn="base" hangingPunct="1">
              <a:spcBef>
                <a:spcPct val="0"/>
              </a:spcBef>
              <a:spcAft>
                <a:spcPts val="0"/>
              </a:spcAft>
              <a:buNone/>
            </a:pPr>
            <a:r>
              <a:rPr lang="zh-CN" altLang="zh-CN"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控制语句</a:t>
            </a:r>
          </a:p>
        </p:txBody>
      </p:sp>
      <p:sp>
        <p:nvSpPr>
          <p:cNvPr id="6146" name="TextBox 4"/>
          <p:cNvSpPr/>
          <p:nvPr/>
        </p:nvSpPr>
        <p:spPr>
          <a:xfrm>
            <a:off x="1241425" y="1935163"/>
            <a:ext cx="2193290" cy="2753360"/>
          </a:xfrm>
          <a:prstGeom prst="rect">
            <a:avLst/>
          </a:prstGeom>
          <a:noFill/>
          <a:ln w="9525">
            <a:noFill/>
          </a:ln>
        </p:spPr>
        <p:txBody>
          <a:bodyPr wrap="none" anchor="t">
            <a:spAutoFit/>
          </a:bodyPr>
          <a:lstStyle/>
          <a:p>
            <a:pPr>
              <a:spcAft>
                <a:spcPts val="0"/>
              </a:spcAft>
            </a:pP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5</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lstStyle/>
          <a:p>
            <a:pPr>
              <a:spcAft>
                <a:spcPts val="0"/>
              </a:spcAft>
            </a:pPr>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a:noFill/>
          <a:ln w="9525">
            <a:noFill/>
          </a:ln>
        </p:spPr>
        <p:txBody>
          <a:bodyPr vert="horz" wrap="square" lIns="102870" tIns="51435" rIns="102870" bIns="51435" rtlCol="0" anchor="ctr">
            <a:normAutofit fontScale="90000"/>
          </a:bodyPr>
          <a:lstStyle/>
          <a:p>
            <a:pPr lvl="0" algn="l" eaLnBrk="1" hangingPunct="1">
              <a:spcAft>
                <a:spcPts val="0"/>
              </a:spcAft>
              <a:buClrTx/>
              <a:buSzTx/>
            </a:pPr>
            <a:r>
              <a:rPr lang="zh-CN" altLang="en-US" dirty="0">
                <a:sym typeface="+mn-ea"/>
              </a:rPr>
              <a:t>语句 (statement)</a:t>
            </a:r>
          </a:p>
        </p:txBody>
      </p:sp>
      <p:sp>
        <p:nvSpPr>
          <p:cNvPr id="75779" name="Rectangle 3"/>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表达式 </a:t>
            </a:r>
            <a:r>
              <a:rPr lang="en-US" altLang="zh-CN" dirty="0"/>
              <a:t>+ </a:t>
            </a:r>
            <a:r>
              <a:rPr lang="zh-CN" altLang="en-US" dirty="0"/>
              <a:t>分号"</a:t>
            </a:r>
            <a:r>
              <a:rPr lang="en-US" altLang="zh-CN" dirty="0"/>
              <a:t>;"</a:t>
            </a:r>
            <a:r>
              <a:rPr lang="en-US" altLang="zh-CN" dirty="0">
                <a:sym typeface="Wingdings" panose="05000000000000000000" pitchFamily="2" charset="2"/>
              </a:rPr>
              <a:t></a:t>
            </a:r>
            <a:r>
              <a:rPr lang="zh-CN" altLang="en-US" dirty="0">
                <a:sym typeface="Wingdings" panose="05000000000000000000" pitchFamily="2" charset="2"/>
              </a:rPr>
              <a:t>表达式语句</a:t>
            </a:r>
          </a:p>
          <a:p>
            <a:pPr marL="990600" lvl="1" indent="-533400" eaLnBrk="1" hangingPunct="1">
              <a:buSzPct val="90000"/>
            </a:pPr>
            <a:r>
              <a:rPr lang="en-US" altLang="zh-CN" dirty="0"/>
              <a:t>x = 25;</a:t>
            </a:r>
          </a:p>
          <a:p>
            <a:pPr marL="990600" lvl="1" indent="-533400" eaLnBrk="1" hangingPunct="1">
              <a:buSzPct val="90000"/>
            </a:pPr>
            <a:r>
              <a:rPr lang="en-US" altLang="zh-CN" dirty="0"/>
              <a:t>y += a*b+c;</a:t>
            </a:r>
          </a:p>
          <a:p>
            <a:pPr marL="990600" lvl="1" indent="-533400" eaLnBrk="1" hangingPunct="1">
              <a:buSzPct val="90000"/>
            </a:pPr>
            <a:r>
              <a:rPr lang="en-US" altLang="zh-CN" dirty="0"/>
              <a:t>a+b;</a:t>
            </a:r>
          </a:p>
          <a:p>
            <a:pPr marL="609600" indent="-609600" eaLnBrk="1" hangingPunct="1">
              <a:buSzPct val="90000"/>
            </a:pPr>
            <a:r>
              <a:rPr lang="zh-CN" altLang="en-US" dirty="0"/>
              <a:t>只有分号</a:t>
            </a:r>
            <a:r>
              <a:rPr lang="zh-CN" altLang="en-US" dirty="0">
                <a:sym typeface="Wingdings" panose="05000000000000000000" pitchFamily="2" charset="2"/>
              </a:rPr>
              <a:t>空语句</a:t>
            </a:r>
          </a:p>
          <a:p>
            <a:pPr marL="990600" lvl="1" indent="-533400" eaLnBrk="1" hangingPunct="1">
              <a:buSzPct val="90000"/>
            </a:pPr>
            <a:r>
              <a:rPr lang="en-US" altLang="zh-CN" dirty="0"/>
              <a:t>i = 5; ; ;</a:t>
            </a:r>
          </a:p>
          <a:p>
            <a:pPr marL="990600" lvl="1" indent="-533400" eaLnBrk="1" hangingPunct="1">
              <a:buSzPct val="90000"/>
            </a:pPr>
            <a:r>
              <a:rPr lang="zh-CN" altLang="en-US" dirty="0"/>
              <a:t>符合语法规则</a:t>
            </a:r>
            <a:r>
              <a:rPr lang="en-US" altLang="zh-CN" dirty="0"/>
              <a:t>(</a:t>
            </a:r>
            <a:r>
              <a:rPr lang="zh-CN" altLang="en-US" dirty="0"/>
              <a:t>程序设计的初始阶段</a:t>
            </a:r>
            <a:r>
              <a:rPr lang="en-US" altLang="zh-CN" dirty="0"/>
              <a:t>)</a:t>
            </a:r>
          </a:p>
        </p:txBody>
      </p:sp>
      <p:sp>
        <p:nvSpPr>
          <p:cNvPr id="75780" name="Rectangle 4"/>
          <p:cNvSpPr/>
          <p:nvPr/>
        </p:nvSpPr>
        <p:spPr>
          <a:xfrm>
            <a:off x="6680835" y="3920490"/>
            <a:ext cx="2480310" cy="2320290"/>
          </a:xfrm>
          <a:prstGeom prst="rect">
            <a:avLst/>
          </a:prstGeom>
          <a:noFill/>
          <a:ln w="9525">
            <a:noFill/>
          </a:ln>
        </p:spPr>
        <p:txBody>
          <a:bodyPr wrap="none" anchor="ctr"/>
          <a:lstStyle/>
          <a:p>
            <a:pPr eaLnBrk="1" hangingPunct="1"/>
            <a:endParaRPr lang="zh-CN" altLang="en-US" sz="2100" dirty="0">
              <a:latin typeface="Arial" panose="020B0604020202020204" pitchFamily="34" charset="0"/>
            </a:endParaRPr>
          </a:p>
        </p:txBody>
      </p:sp>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条件选择语句</a:t>
            </a:r>
          </a:p>
        </p:txBody>
      </p:sp>
      <p:sp>
        <p:nvSpPr>
          <p:cNvPr id="76803" name="Rectangle 3"/>
          <p:cNvSpPr>
            <a:spLocks noGrp="1"/>
          </p:cNvSpPr>
          <p:nvPr>
            <p:ph idx="1"/>
          </p:nvPr>
        </p:nvSpPr>
        <p:spPr/>
        <p:txBody>
          <a:bodyPr vert="horz" wrap="square" lIns="96011" tIns="48005" rIns="96011" bIns="48005" anchor="t">
            <a:normAutofit fontScale="90000"/>
          </a:bodyPr>
          <a:lstStyle/>
          <a:p>
            <a:pPr marL="609600" indent="-609600" eaLnBrk="1" hangingPunct="1">
              <a:lnSpc>
                <a:spcPct val="90000"/>
              </a:lnSpc>
              <a:spcAft>
                <a:spcPts val="0"/>
              </a:spcAft>
              <a:buSzPct val="90000"/>
            </a:pPr>
            <a:r>
              <a:rPr lang="en-US" altLang="zh-CN" sz="3780" dirty="0"/>
              <a:t>if </a:t>
            </a:r>
            <a:r>
              <a:rPr lang="zh-CN" altLang="en-US" sz="3780" dirty="0"/>
              <a:t>语句</a:t>
            </a:r>
          </a:p>
          <a:p>
            <a:pPr marL="800100" lvl="1" indent="-342900" eaLnBrk="1" hangingPunct="1">
              <a:lnSpc>
                <a:spcPct val="120000"/>
              </a:lnSpc>
              <a:spcBef>
                <a:spcPts val="20"/>
              </a:spcBef>
              <a:spcAft>
                <a:spcPts val="0"/>
              </a:spcAft>
              <a:buSzPct val="90000"/>
            </a:pPr>
            <a:r>
              <a:rPr lang="en-US" altLang="zh-CN" dirty="0"/>
              <a:t>if</a:t>
            </a:r>
            <a:r>
              <a:rPr lang="zh-CN" altLang="en-US" dirty="0"/>
              <a:t>语句是一个条件表达式，若条件表达式为真，则执行下面的代码块，否则跳过该代码块</a:t>
            </a:r>
          </a:p>
          <a:p>
            <a:pPr marL="800100" lvl="1" indent="-342900" eaLnBrk="1" hangingPunct="1">
              <a:lnSpc>
                <a:spcPct val="100000"/>
              </a:lnSpc>
              <a:spcBef>
                <a:spcPts val="20"/>
              </a:spcBef>
              <a:spcAft>
                <a:spcPts val="0"/>
              </a:spcAft>
              <a:buSzPct val="90000"/>
            </a:pPr>
            <a:r>
              <a:rPr lang="zh-CN" altLang="en-US" dirty="0"/>
              <a:t>单行代码</a:t>
            </a:r>
          </a:p>
          <a:p>
            <a:pPr marL="457200" lvl="1" indent="0" eaLnBrk="1" hangingPunct="1">
              <a:lnSpc>
                <a:spcPct val="100000"/>
              </a:lnSpc>
              <a:spcBef>
                <a:spcPts val="20"/>
              </a:spcBef>
              <a:spcAft>
                <a:spcPts val="0"/>
              </a:spcAft>
              <a:buSzPct val="90000"/>
              <a:buNone/>
            </a:pPr>
            <a:r>
              <a:rPr lang="zh-CN" altLang="en-US" dirty="0"/>
              <a:t>	</a:t>
            </a:r>
            <a:r>
              <a:rPr lang="en-US" altLang="zh-CN" dirty="0"/>
              <a:t>if (</a:t>
            </a:r>
            <a:r>
              <a:rPr lang="zh-CN" altLang="en-US" dirty="0"/>
              <a:t>布尔表达式</a:t>
            </a:r>
            <a:r>
              <a:rPr lang="en-US" altLang="zh-CN" dirty="0"/>
              <a:t>) </a:t>
            </a:r>
          </a:p>
          <a:p>
            <a:pPr marL="457200" lvl="1" indent="0" eaLnBrk="1" hangingPunct="1">
              <a:lnSpc>
                <a:spcPct val="100000"/>
              </a:lnSpc>
              <a:spcBef>
                <a:spcPts val="20"/>
              </a:spcBef>
              <a:spcAft>
                <a:spcPts val="0"/>
              </a:spcAft>
              <a:buSzPct val="90000"/>
              <a:buNone/>
            </a:pPr>
            <a:r>
              <a:rPr lang="en-US" altLang="x-none" dirty="0"/>
              <a:t>		</a:t>
            </a:r>
            <a:r>
              <a:rPr lang="zh-CN" altLang="en-US" dirty="0"/>
              <a:t>语句；</a:t>
            </a:r>
          </a:p>
          <a:p>
            <a:pPr marL="800100" lvl="1" indent="-342900" eaLnBrk="1" hangingPunct="1">
              <a:lnSpc>
                <a:spcPct val="100000"/>
              </a:lnSpc>
              <a:spcBef>
                <a:spcPts val="20"/>
              </a:spcBef>
              <a:spcAft>
                <a:spcPts val="0"/>
              </a:spcAft>
              <a:buSzPct val="90000"/>
            </a:pPr>
            <a:r>
              <a:rPr lang="zh-CN" altLang="en-US" dirty="0"/>
              <a:t>多行代码</a:t>
            </a:r>
          </a:p>
          <a:p>
            <a:pPr marL="457200" lvl="1" indent="0" eaLnBrk="1" hangingPunct="1">
              <a:lnSpc>
                <a:spcPct val="100000"/>
              </a:lnSpc>
              <a:spcBef>
                <a:spcPts val="20"/>
              </a:spcBef>
              <a:spcAft>
                <a:spcPts val="0"/>
              </a:spcAft>
              <a:buSzPct val="90000"/>
              <a:buNone/>
            </a:pPr>
            <a:r>
              <a:rPr lang="zh-CN" altLang="en-US" dirty="0"/>
              <a:t>	</a:t>
            </a:r>
            <a:r>
              <a:rPr lang="en-US" altLang="zh-CN" dirty="0"/>
              <a:t>if (</a:t>
            </a:r>
            <a:r>
              <a:rPr lang="zh-CN" altLang="en-US" dirty="0"/>
              <a:t>布尔表达式</a:t>
            </a:r>
            <a:r>
              <a:rPr lang="en-US" altLang="zh-CN" dirty="0"/>
              <a:t>) {</a:t>
            </a:r>
          </a:p>
          <a:p>
            <a:pPr marL="457200" lvl="1" indent="0" eaLnBrk="1" hangingPunct="1">
              <a:lnSpc>
                <a:spcPct val="100000"/>
              </a:lnSpc>
              <a:spcBef>
                <a:spcPts val="20"/>
              </a:spcBef>
              <a:spcAft>
                <a:spcPts val="0"/>
              </a:spcAft>
              <a:buSzPct val="90000"/>
              <a:buNone/>
            </a:pPr>
            <a:r>
              <a:rPr lang="en-US" altLang="x-none" dirty="0"/>
              <a:t>		</a:t>
            </a:r>
            <a:r>
              <a:rPr lang="en-US" altLang="zh-CN" dirty="0"/>
              <a:t>… …;	</a:t>
            </a:r>
          </a:p>
          <a:p>
            <a:pPr marL="457200" lvl="1" indent="0" eaLnBrk="1" hangingPunct="1">
              <a:lnSpc>
                <a:spcPct val="100000"/>
              </a:lnSpc>
              <a:spcBef>
                <a:spcPts val="20"/>
              </a:spcBef>
              <a:spcAft>
                <a:spcPts val="0"/>
              </a:spcAft>
              <a:buSzPct val="90000"/>
              <a:buNone/>
            </a:pPr>
            <a:r>
              <a:rPr lang="en-US" altLang="x-none" dirty="0"/>
              <a:t>		</a:t>
            </a:r>
            <a:r>
              <a:rPr lang="zh-CN" altLang="en-US" dirty="0"/>
              <a:t>语句</a:t>
            </a:r>
            <a:r>
              <a:rPr lang="en-US" altLang="zh-CN" dirty="0"/>
              <a:t>;</a:t>
            </a:r>
          </a:p>
          <a:p>
            <a:pPr marL="457200" lvl="1" indent="0" eaLnBrk="1" hangingPunct="1">
              <a:lnSpc>
                <a:spcPct val="100000"/>
              </a:lnSpc>
              <a:spcBef>
                <a:spcPts val="20"/>
              </a:spcBef>
              <a:buSzPct val="90000"/>
              <a:buNone/>
            </a:pPr>
            <a:r>
              <a:rPr lang="en-US" altLang="x-none" dirty="0"/>
              <a:t>	</a:t>
            </a:r>
            <a:r>
              <a:rPr lang="en-US" altLang="zh-CN" dirty="0"/>
              <a:t>}</a:t>
            </a:r>
          </a:p>
        </p:txBody>
      </p:sp>
      <p:grpSp>
        <p:nvGrpSpPr>
          <p:cNvPr id="76804" name="Group 4"/>
          <p:cNvGrpSpPr/>
          <p:nvPr/>
        </p:nvGrpSpPr>
        <p:grpSpPr>
          <a:xfrm>
            <a:off x="6409690" y="2398395"/>
            <a:ext cx="3221990" cy="3964305"/>
            <a:chOff x="0" y="0"/>
            <a:chExt cx="2064" cy="2592"/>
          </a:xfrm>
          <a:solidFill>
            <a:schemeClr val="bg1"/>
          </a:solidFill>
        </p:grpSpPr>
        <p:sp>
          <p:nvSpPr>
            <p:cNvPr id="76805" name="Rectangle 5"/>
            <p:cNvSpPr/>
            <p:nvPr/>
          </p:nvSpPr>
          <p:spPr>
            <a:xfrm>
              <a:off x="0" y="0"/>
              <a:ext cx="2064" cy="2592"/>
            </a:xfrm>
            <a:prstGeom prst="rect">
              <a:avLst/>
            </a:prstGeom>
            <a:grpFill/>
            <a:ln w="9525">
              <a:noFill/>
            </a:ln>
          </p:spPr>
          <p:txBody>
            <a:bodyPr wrap="none" anchor="ctr"/>
            <a:lstStyle/>
            <a:p>
              <a:pPr eaLnBrk="1" hangingPunct="1"/>
              <a:endParaRPr lang="zh-CN" altLang="en-US" sz="2100" dirty="0">
                <a:latin typeface="Arial" panose="020B0604020202020204" pitchFamily="34" charset="0"/>
              </a:endParaRPr>
            </a:p>
          </p:txBody>
        </p:sp>
        <p:grpSp>
          <p:nvGrpSpPr>
            <p:cNvPr id="76806" name="Group 6"/>
            <p:cNvGrpSpPr/>
            <p:nvPr/>
          </p:nvGrpSpPr>
          <p:grpSpPr>
            <a:xfrm>
              <a:off x="48" y="48"/>
              <a:ext cx="1968" cy="2448"/>
              <a:chOff x="0" y="0"/>
              <a:chExt cx="1968" cy="2448"/>
            </a:xfrm>
            <a:grpFill/>
          </p:grpSpPr>
          <p:sp>
            <p:nvSpPr>
              <p:cNvPr id="76807" name="Rectangle 7"/>
              <p:cNvSpPr/>
              <p:nvPr/>
            </p:nvSpPr>
            <p:spPr>
              <a:xfrm>
                <a:off x="192" y="1200"/>
                <a:ext cx="1104" cy="384"/>
              </a:xfrm>
              <a:prstGeom prst="rect">
                <a:avLst/>
              </a:prstGeom>
              <a:grp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rPr>
                  <a:t>语 句</a:t>
                </a:r>
              </a:p>
            </p:txBody>
          </p:sp>
          <p:sp>
            <p:nvSpPr>
              <p:cNvPr id="76808" name="AutoShape 8"/>
              <p:cNvSpPr/>
              <p:nvPr/>
            </p:nvSpPr>
            <p:spPr>
              <a:xfrm>
                <a:off x="0" y="336"/>
                <a:ext cx="1488" cy="576"/>
              </a:xfrm>
              <a:prstGeom prst="diamond">
                <a:avLst/>
              </a:prstGeom>
              <a:grp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sym typeface="+mn-ea"/>
                  </a:rPr>
                  <a:t>布尔表达式</a:t>
                </a:r>
                <a:endParaRPr lang="zh-CN" altLang="en-US" sz="2520" dirty="0">
                  <a:latin typeface="Tahoma" panose="020B0604030504040204" pitchFamily="34" charset="0"/>
                  <a:ea typeface="华文中宋" panose="02010600040101010101" pitchFamily="2" charset="-122"/>
                </a:endParaRPr>
              </a:p>
            </p:txBody>
          </p:sp>
          <p:sp>
            <p:nvSpPr>
              <p:cNvPr id="76809" name="Line 9"/>
              <p:cNvSpPr/>
              <p:nvPr/>
            </p:nvSpPr>
            <p:spPr>
              <a:xfrm>
                <a:off x="720" y="0"/>
                <a:ext cx="0" cy="336"/>
              </a:xfrm>
              <a:prstGeom prst="line">
                <a:avLst/>
              </a:prstGeom>
              <a:grpFill/>
              <a:ln w="9525" cap="flat" cmpd="sng">
                <a:solidFill>
                  <a:schemeClr val="tx1"/>
                </a:solidFill>
                <a:prstDash val="solid"/>
                <a:headEnd type="none" w="med" len="med"/>
                <a:tailEnd type="triangle" w="med" len="med"/>
              </a:ln>
            </p:spPr>
          </p:sp>
          <p:sp>
            <p:nvSpPr>
              <p:cNvPr id="76810" name="Line 10"/>
              <p:cNvSpPr/>
              <p:nvPr/>
            </p:nvSpPr>
            <p:spPr>
              <a:xfrm>
                <a:off x="720" y="912"/>
                <a:ext cx="0" cy="288"/>
              </a:xfrm>
              <a:prstGeom prst="line">
                <a:avLst/>
              </a:prstGeom>
              <a:grpFill/>
              <a:ln w="9525" cap="flat" cmpd="sng">
                <a:solidFill>
                  <a:schemeClr val="tx1"/>
                </a:solidFill>
                <a:prstDash val="solid"/>
                <a:headEnd type="none" w="med" len="med"/>
                <a:tailEnd type="triangle" w="med" len="med"/>
              </a:ln>
            </p:spPr>
          </p:sp>
          <p:sp>
            <p:nvSpPr>
              <p:cNvPr id="76811" name="Line 11"/>
              <p:cNvSpPr/>
              <p:nvPr/>
            </p:nvSpPr>
            <p:spPr>
              <a:xfrm>
                <a:off x="720" y="1584"/>
                <a:ext cx="0" cy="384"/>
              </a:xfrm>
              <a:prstGeom prst="line">
                <a:avLst/>
              </a:prstGeom>
              <a:grpFill/>
              <a:ln w="9525" cap="flat" cmpd="sng">
                <a:solidFill>
                  <a:schemeClr val="tx1"/>
                </a:solidFill>
                <a:prstDash val="solid"/>
                <a:headEnd type="none" w="med" len="med"/>
                <a:tailEnd type="triangle" w="med" len="med"/>
              </a:ln>
            </p:spPr>
          </p:sp>
          <p:sp>
            <p:nvSpPr>
              <p:cNvPr id="76812" name="Line 12"/>
              <p:cNvSpPr/>
              <p:nvPr/>
            </p:nvSpPr>
            <p:spPr>
              <a:xfrm>
                <a:off x="1488" y="624"/>
                <a:ext cx="288" cy="0"/>
              </a:xfrm>
              <a:prstGeom prst="line">
                <a:avLst/>
              </a:prstGeom>
              <a:grpFill/>
              <a:ln w="9525" cap="flat" cmpd="sng">
                <a:solidFill>
                  <a:schemeClr val="tx1"/>
                </a:solidFill>
                <a:prstDash val="solid"/>
                <a:headEnd type="none" w="med" len="med"/>
                <a:tailEnd type="none" w="med" len="med"/>
              </a:ln>
            </p:spPr>
          </p:sp>
          <p:sp>
            <p:nvSpPr>
              <p:cNvPr id="76813" name="Line 13"/>
              <p:cNvSpPr/>
              <p:nvPr/>
            </p:nvSpPr>
            <p:spPr>
              <a:xfrm>
                <a:off x="1776" y="624"/>
                <a:ext cx="0" cy="1152"/>
              </a:xfrm>
              <a:prstGeom prst="line">
                <a:avLst/>
              </a:prstGeom>
              <a:grpFill/>
              <a:ln w="9525" cap="flat" cmpd="sng">
                <a:solidFill>
                  <a:schemeClr val="tx1"/>
                </a:solidFill>
                <a:prstDash val="solid"/>
                <a:headEnd type="none" w="med" len="med"/>
                <a:tailEnd type="none" w="med" len="med"/>
              </a:ln>
            </p:spPr>
          </p:sp>
          <p:sp>
            <p:nvSpPr>
              <p:cNvPr id="76814" name="Line 14"/>
              <p:cNvSpPr/>
              <p:nvPr/>
            </p:nvSpPr>
            <p:spPr>
              <a:xfrm flipH="1">
                <a:off x="720" y="1776"/>
                <a:ext cx="1056" cy="0"/>
              </a:xfrm>
              <a:prstGeom prst="line">
                <a:avLst/>
              </a:prstGeom>
              <a:grpFill/>
              <a:ln w="9525" cap="flat" cmpd="sng">
                <a:solidFill>
                  <a:schemeClr val="tx1"/>
                </a:solidFill>
                <a:prstDash val="solid"/>
                <a:headEnd type="none" w="med" len="med"/>
                <a:tailEnd type="triangle" w="med" len="med"/>
              </a:ln>
            </p:spPr>
          </p:sp>
          <p:sp>
            <p:nvSpPr>
              <p:cNvPr id="76815" name="Rectangle 15"/>
              <p:cNvSpPr/>
              <p:nvPr/>
            </p:nvSpPr>
            <p:spPr>
              <a:xfrm>
                <a:off x="1344" y="336"/>
                <a:ext cx="624" cy="240"/>
              </a:xfrm>
              <a:prstGeom prst="rect">
                <a:avLst/>
              </a:prstGeom>
              <a:grpFill/>
              <a:ln w="9525">
                <a:noFill/>
              </a:ln>
            </p:spPr>
            <p:txBody>
              <a:bodyPr wrap="none" anchor="ctr"/>
              <a:lstStyle/>
              <a:p>
                <a:pPr algn="ctr" eaLnBrk="1" hangingPunct="1"/>
                <a:r>
                  <a:rPr lang="en-US" altLang="zh-CN" sz="2520" dirty="0">
                    <a:latin typeface="Tahoma" panose="020B0604030504040204" pitchFamily="34" charset="0"/>
                    <a:ea typeface="华文中宋" panose="02010600040101010101" pitchFamily="2" charset="-122"/>
                  </a:rPr>
                  <a:t>false</a:t>
                </a:r>
              </a:p>
            </p:txBody>
          </p:sp>
          <p:sp>
            <p:nvSpPr>
              <p:cNvPr id="76816" name="Rectangle 16"/>
              <p:cNvSpPr/>
              <p:nvPr/>
            </p:nvSpPr>
            <p:spPr>
              <a:xfrm>
                <a:off x="768" y="912"/>
                <a:ext cx="576" cy="240"/>
              </a:xfrm>
              <a:prstGeom prst="rect">
                <a:avLst/>
              </a:prstGeom>
              <a:grpFill/>
              <a:ln w="9525">
                <a:noFill/>
              </a:ln>
            </p:spPr>
            <p:txBody>
              <a:bodyPr wrap="none" anchor="ctr"/>
              <a:lstStyle/>
              <a:p>
                <a:pPr algn="ctr" eaLnBrk="1" hangingPunct="1"/>
                <a:r>
                  <a:rPr lang="en-US" altLang="zh-CN" sz="2520" dirty="0">
                    <a:latin typeface="Tahoma" panose="020B0604030504040204" pitchFamily="34" charset="0"/>
                    <a:ea typeface="华文中宋" panose="02010600040101010101" pitchFamily="2" charset="-122"/>
                  </a:rPr>
                  <a:t>true</a:t>
                </a:r>
              </a:p>
            </p:txBody>
          </p:sp>
          <p:sp>
            <p:nvSpPr>
              <p:cNvPr id="76817" name="Rectangle 17"/>
              <p:cNvSpPr/>
              <p:nvPr/>
            </p:nvSpPr>
            <p:spPr>
              <a:xfrm>
                <a:off x="384" y="2160"/>
                <a:ext cx="1104" cy="288"/>
              </a:xfrm>
              <a:prstGeom prst="rect">
                <a:avLst/>
              </a:prstGeom>
              <a:grpFill/>
              <a:ln w="9525">
                <a:noFill/>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rPr>
                  <a:t>流程图</a:t>
                </a:r>
              </a:p>
            </p:txBody>
          </p:sp>
        </p:gr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Effect transition="in" filter="barn(outHorizontal)">
                                      <p:cBhvr>
                                        <p:cTn id="7" dur="500"/>
                                        <p:tgtEl>
                                          <p:spTgt spid="76803">
                                            <p:txEl>
                                              <p:pRg st="0" end="0"/>
                                            </p:txEl>
                                          </p:spTgt>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76803">
                                            <p:txEl>
                                              <p:pRg st="1" end="1"/>
                                            </p:txEl>
                                          </p:spTgt>
                                        </p:tgtEl>
                                        <p:attrNameLst>
                                          <p:attrName>style.visibility</p:attrName>
                                        </p:attrNameLst>
                                      </p:cBhvr>
                                      <p:to>
                                        <p:strVal val="visible"/>
                                      </p:to>
                                    </p:set>
                                    <p:animEffect transition="in" filter="barn(outHorizontal)">
                                      <p:cBhvr>
                                        <p:cTn id="10" dur="500"/>
                                        <p:tgtEl>
                                          <p:spTgt spid="76803">
                                            <p:txEl>
                                              <p:pRg st="1" end="1"/>
                                            </p:txEl>
                                          </p:spTgt>
                                        </p:tgtEl>
                                      </p:cBhvr>
                                    </p:animEffect>
                                  </p:childTnLst>
                                </p:cTn>
                              </p:par>
                              <p:par>
                                <p:cTn id="11" presetID="16" presetClass="entr" presetSubtype="42" fill="hold" grpId="0" nodeType="withEffect">
                                  <p:stCondLst>
                                    <p:cond delay="0"/>
                                  </p:stCondLst>
                                  <p:childTnLst>
                                    <p:set>
                                      <p:cBhvr>
                                        <p:cTn id="12" dur="1" fill="hold">
                                          <p:stCondLst>
                                            <p:cond delay="0"/>
                                          </p:stCondLst>
                                        </p:cTn>
                                        <p:tgtEl>
                                          <p:spTgt spid="76803">
                                            <p:txEl>
                                              <p:pRg st="2" end="2"/>
                                            </p:txEl>
                                          </p:spTgt>
                                        </p:tgtEl>
                                        <p:attrNameLst>
                                          <p:attrName>style.visibility</p:attrName>
                                        </p:attrNameLst>
                                      </p:cBhvr>
                                      <p:to>
                                        <p:strVal val="visible"/>
                                      </p:to>
                                    </p:set>
                                    <p:animEffect transition="in" filter="barn(outHorizontal)">
                                      <p:cBhvr>
                                        <p:cTn id="13" dur="500"/>
                                        <p:tgtEl>
                                          <p:spTgt spid="76803">
                                            <p:txEl>
                                              <p:pRg st="2" end="2"/>
                                            </p:txEl>
                                          </p:spTgt>
                                        </p:tgtEl>
                                      </p:cBhvr>
                                    </p:animEffect>
                                  </p:childTnLst>
                                </p:cTn>
                              </p:par>
                              <p:par>
                                <p:cTn id="14" presetID="16" presetClass="entr" presetSubtype="42" fill="hold" grpId="0" nodeType="withEffect">
                                  <p:stCondLst>
                                    <p:cond delay="0"/>
                                  </p:stCondLst>
                                  <p:childTnLst>
                                    <p:set>
                                      <p:cBhvr>
                                        <p:cTn id="15" dur="1" fill="hold">
                                          <p:stCondLst>
                                            <p:cond delay="0"/>
                                          </p:stCondLst>
                                        </p:cTn>
                                        <p:tgtEl>
                                          <p:spTgt spid="76803">
                                            <p:txEl>
                                              <p:pRg st="3" end="3"/>
                                            </p:txEl>
                                          </p:spTgt>
                                        </p:tgtEl>
                                        <p:attrNameLst>
                                          <p:attrName>style.visibility</p:attrName>
                                        </p:attrNameLst>
                                      </p:cBhvr>
                                      <p:to>
                                        <p:strVal val="visible"/>
                                      </p:to>
                                    </p:set>
                                    <p:animEffect transition="in" filter="barn(outHorizontal)">
                                      <p:cBhvr>
                                        <p:cTn id="16" dur="500"/>
                                        <p:tgtEl>
                                          <p:spTgt spid="76803">
                                            <p:txEl>
                                              <p:pRg st="3" end="3"/>
                                            </p:txEl>
                                          </p:spTgt>
                                        </p:tgtEl>
                                      </p:cBhvr>
                                    </p:animEffect>
                                  </p:childTnLst>
                                </p:cTn>
                              </p:par>
                              <p:par>
                                <p:cTn id="17" presetID="16" presetClass="entr" presetSubtype="42" fill="hold" grpId="0" nodeType="withEffect">
                                  <p:stCondLst>
                                    <p:cond delay="0"/>
                                  </p:stCondLst>
                                  <p:childTnLst>
                                    <p:set>
                                      <p:cBhvr>
                                        <p:cTn id="18" dur="1" fill="hold">
                                          <p:stCondLst>
                                            <p:cond delay="0"/>
                                          </p:stCondLst>
                                        </p:cTn>
                                        <p:tgtEl>
                                          <p:spTgt spid="76803">
                                            <p:txEl>
                                              <p:pRg st="4" end="4"/>
                                            </p:txEl>
                                          </p:spTgt>
                                        </p:tgtEl>
                                        <p:attrNameLst>
                                          <p:attrName>style.visibility</p:attrName>
                                        </p:attrNameLst>
                                      </p:cBhvr>
                                      <p:to>
                                        <p:strVal val="visible"/>
                                      </p:to>
                                    </p:set>
                                    <p:animEffect transition="in" filter="barn(outHorizontal)">
                                      <p:cBhvr>
                                        <p:cTn id="19" dur="500"/>
                                        <p:tgtEl>
                                          <p:spTgt spid="76803">
                                            <p:txEl>
                                              <p:pRg st="4" end="4"/>
                                            </p:txEl>
                                          </p:spTgt>
                                        </p:tgtEl>
                                      </p:cBhvr>
                                    </p:animEffect>
                                  </p:childTnLst>
                                </p:cTn>
                              </p:par>
                              <p:par>
                                <p:cTn id="20" presetID="16" presetClass="entr" presetSubtype="42" fill="hold" grpId="0" nodeType="withEffect">
                                  <p:stCondLst>
                                    <p:cond delay="0"/>
                                  </p:stCondLst>
                                  <p:childTnLst>
                                    <p:set>
                                      <p:cBhvr>
                                        <p:cTn id="21" dur="1" fill="hold">
                                          <p:stCondLst>
                                            <p:cond delay="0"/>
                                          </p:stCondLst>
                                        </p:cTn>
                                        <p:tgtEl>
                                          <p:spTgt spid="76803">
                                            <p:txEl>
                                              <p:pRg st="5" end="5"/>
                                            </p:txEl>
                                          </p:spTgt>
                                        </p:tgtEl>
                                        <p:attrNameLst>
                                          <p:attrName>style.visibility</p:attrName>
                                        </p:attrNameLst>
                                      </p:cBhvr>
                                      <p:to>
                                        <p:strVal val="visible"/>
                                      </p:to>
                                    </p:set>
                                    <p:animEffect transition="in" filter="barn(outHorizontal)">
                                      <p:cBhvr>
                                        <p:cTn id="22" dur="500"/>
                                        <p:tgtEl>
                                          <p:spTgt spid="76803">
                                            <p:txEl>
                                              <p:pRg st="5" end="5"/>
                                            </p:txEl>
                                          </p:spTgt>
                                        </p:tgtEl>
                                      </p:cBhvr>
                                    </p:animEffect>
                                  </p:childTnLst>
                                </p:cTn>
                              </p:par>
                              <p:par>
                                <p:cTn id="23" presetID="16" presetClass="entr" presetSubtype="42" fill="hold" grpId="0" nodeType="withEffect">
                                  <p:stCondLst>
                                    <p:cond delay="0"/>
                                  </p:stCondLst>
                                  <p:childTnLst>
                                    <p:set>
                                      <p:cBhvr>
                                        <p:cTn id="24" dur="1" fill="hold">
                                          <p:stCondLst>
                                            <p:cond delay="0"/>
                                          </p:stCondLst>
                                        </p:cTn>
                                        <p:tgtEl>
                                          <p:spTgt spid="76803">
                                            <p:txEl>
                                              <p:pRg st="6" end="6"/>
                                            </p:txEl>
                                          </p:spTgt>
                                        </p:tgtEl>
                                        <p:attrNameLst>
                                          <p:attrName>style.visibility</p:attrName>
                                        </p:attrNameLst>
                                      </p:cBhvr>
                                      <p:to>
                                        <p:strVal val="visible"/>
                                      </p:to>
                                    </p:set>
                                    <p:animEffect transition="in" filter="barn(outHorizontal)">
                                      <p:cBhvr>
                                        <p:cTn id="25" dur="500"/>
                                        <p:tgtEl>
                                          <p:spTgt spid="76803">
                                            <p:txEl>
                                              <p:pRg st="6" end="6"/>
                                            </p:txEl>
                                          </p:spTgt>
                                        </p:tgtEl>
                                      </p:cBhvr>
                                    </p:animEffect>
                                  </p:childTnLst>
                                </p:cTn>
                              </p:par>
                              <p:par>
                                <p:cTn id="26" presetID="16" presetClass="entr" presetSubtype="42" fill="hold" grpId="0" nodeType="withEffect">
                                  <p:stCondLst>
                                    <p:cond delay="0"/>
                                  </p:stCondLst>
                                  <p:childTnLst>
                                    <p:set>
                                      <p:cBhvr>
                                        <p:cTn id="27" dur="1" fill="hold">
                                          <p:stCondLst>
                                            <p:cond delay="0"/>
                                          </p:stCondLst>
                                        </p:cTn>
                                        <p:tgtEl>
                                          <p:spTgt spid="76803">
                                            <p:txEl>
                                              <p:pRg st="7" end="7"/>
                                            </p:txEl>
                                          </p:spTgt>
                                        </p:tgtEl>
                                        <p:attrNameLst>
                                          <p:attrName>style.visibility</p:attrName>
                                        </p:attrNameLst>
                                      </p:cBhvr>
                                      <p:to>
                                        <p:strVal val="visible"/>
                                      </p:to>
                                    </p:set>
                                    <p:animEffect transition="in" filter="barn(outHorizontal)">
                                      <p:cBhvr>
                                        <p:cTn id="28" dur="500"/>
                                        <p:tgtEl>
                                          <p:spTgt spid="76803">
                                            <p:txEl>
                                              <p:pRg st="7" end="7"/>
                                            </p:txEl>
                                          </p:spTgt>
                                        </p:tgtEl>
                                      </p:cBhvr>
                                    </p:animEffect>
                                  </p:childTnLst>
                                </p:cTn>
                              </p:par>
                              <p:par>
                                <p:cTn id="29" presetID="16" presetClass="entr" presetSubtype="42" fill="hold" grpId="0" nodeType="withEffect">
                                  <p:stCondLst>
                                    <p:cond delay="0"/>
                                  </p:stCondLst>
                                  <p:childTnLst>
                                    <p:set>
                                      <p:cBhvr>
                                        <p:cTn id="30" dur="1" fill="hold">
                                          <p:stCondLst>
                                            <p:cond delay="0"/>
                                          </p:stCondLst>
                                        </p:cTn>
                                        <p:tgtEl>
                                          <p:spTgt spid="76803">
                                            <p:txEl>
                                              <p:pRg st="8" end="8"/>
                                            </p:txEl>
                                          </p:spTgt>
                                        </p:tgtEl>
                                        <p:attrNameLst>
                                          <p:attrName>style.visibility</p:attrName>
                                        </p:attrNameLst>
                                      </p:cBhvr>
                                      <p:to>
                                        <p:strVal val="visible"/>
                                      </p:to>
                                    </p:set>
                                    <p:animEffect transition="in" filter="barn(outHorizontal)">
                                      <p:cBhvr>
                                        <p:cTn id="31" dur="500"/>
                                        <p:tgtEl>
                                          <p:spTgt spid="76803">
                                            <p:txEl>
                                              <p:pRg st="8" end="8"/>
                                            </p:txEl>
                                          </p:spTgt>
                                        </p:tgtEl>
                                      </p:cBhvr>
                                    </p:animEffect>
                                  </p:childTnLst>
                                </p:cTn>
                              </p:par>
                              <p:par>
                                <p:cTn id="32" presetID="16" presetClass="entr" presetSubtype="42" fill="hold" grpId="0" nodeType="withEffect">
                                  <p:stCondLst>
                                    <p:cond delay="0"/>
                                  </p:stCondLst>
                                  <p:childTnLst>
                                    <p:set>
                                      <p:cBhvr>
                                        <p:cTn id="33" dur="1" fill="hold">
                                          <p:stCondLst>
                                            <p:cond delay="0"/>
                                          </p:stCondLst>
                                        </p:cTn>
                                        <p:tgtEl>
                                          <p:spTgt spid="76803">
                                            <p:txEl>
                                              <p:pRg st="9" end="9"/>
                                            </p:txEl>
                                          </p:spTgt>
                                        </p:tgtEl>
                                        <p:attrNameLst>
                                          <p:attrName>style.visibility</p:attrName>
                                        </p:attrNameLst>
                                      </p:cBhvr>
                                      <p:to>
                                        <p:strVal val="visible"/>
                                      </p:to>
                                    </p:set>
                                    <p:animEffect transition="in" filter="barn(outHorizontal)">
                                      <p:cBhvr>
                                        <p:cTn id="34" dur="500"/>
                                        <p:tgtEl>
                                          <p:spTgt spid="76803">
                                            <p:txEl>
                                              <p:pRg st="9" end="9"/>
                                            </p:txEl>
                                          </p:spTgt>
                                        </p:tgtEl>
                                      </p:cBhvr>
                                    </p:animEffec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76804"/>
                                        </p:tgtEl>
                                        <p:attrNameLst>
                                          <p:attrName>style.visibility</p:attrName>
                                        </p:attrNameLst>
                                      </p:cBhvr>
                                      <p:to>
                                        <p:strVal val="visible"/>
                                      </p:to>
                                    </p:set>
                                    <p:animEffect transition="in" filter="dissolve">
                                      <p:cBhvr>
                                        <p:cTn id="38" dur="500"/>
                                        <p:tgtEl>
                                          <p:spTgt spid="76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advAuto="100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条件选择语句</a:t>
            </a:r>
          </a:p>
        </p:txBody>
      </p:sp>
      <p:sp>
        <p:nvSpPr>
          <p:cNvPr id="78851" name="Rectangle 3"/>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en-US" altLang="zh-CN" dirty="0"/>
              <a:t>if-else </a:t>
            </a:r>
            <a:r>
              <a:rPr lang="zh-CN" altLang="en-US" dirty="0"/>
              <a:t>语句</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根据判定条件的真假执行不同的操作</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语法</a:t>
            </a:r>
          </a:p>
          <a:p>
            <a:pPr marL="990600" lvl="1" indent="-533400" eaLnBrk="1" hangingPunct="1">
              <a:spcBef>
                <a:spcPts val="20"/>
              </a:spcBef>
              <a:spcAft>
                <a:spcPts val="0"/>
              </a:spcAft>
              <a:buSzPct val="90000"/>
              <a:buNone/>
            </a:pPr>
            <a:r>
              <a:rPr lang="zh-CN" altLang="en-US" dirty="0"/>
              <a:t>	</a:t>
            </a:r>
            <a:r>
              <a:rPr lang="en-US" altLang="zh-CN" dirty="0"/>
              <a:t>if (</a:t>
            </a:r>
            <a:r>
              <a:rPr lang="zh-CN" altLang="en-US" dirty="0"/>
              <a:t>布尔表达式</a:t>
            </a:r>
            <a:r>
              <a:rPr lang="en-US" altLang="zh-CN" dirty="0"/>
              <a:t>) {</a:t>
            </a:r>
          </a:p>
          <a:p>
            <a:pPr marL="990600" lvl="1" indent="-533400" eaLnBrk="1" hangingPunct="1">
              <a:spcBef>
                <a:spcPts val="20"/>
              </a:spcBef>
              <a:spcAft>
                <a:spcPts val="0"/>
              </a:spcAft>
              <a:buSzPct val="90000"/>
              <a:buNone/>
            </a:pPr>
            <a:r>
              <a:rPr lang="en-US" altLang="x-none" dirty="0"/>
              <a:t>		</a:t>
            </a:r>
            <a:r>
              <a:rPr lang="zh-CN" altLang="en-US" dirty="0"/>
              <a:t>语句块</a:t>
            </a:r>
            <a:r>
              <a:rPr lang="en-US" altLang="zh-CN" dirty="0"/>
              <a:t>1;</a:t>
            </a:r>
          </a:p>
          <a:p>
            <a:pPr marL="990600" lvl="1" indent="-533400" eaLnBrk="1" hangingPunct="1">
              <a:spcBef>
                <a:spcPts val="20"/>
              </a:spcBef>
              <a:spcAft>
                <a:spcPts val="0"/>
              </a:spcAft>
              <a:buSzPct val="90000"/>
              <a:buNone/>
            </a:pPr>
            <a:r>
              <a:rPr lang="en-US" altLang="x-none" dirty="0"/>
              <a:t>	</a:t>
            </a:r>
            <a:r>
              <a:rPr lang="en-US" altLang="zh-CN" dirty="0"/>
              <a:t>} else {</a:t>
            </a:r>
          </a:p>
          <a:p>
            <a:pPr marL="990600" lvl="1" indent="-533400" eaLnBrk="1" hangingPunct="1">
              <a:spcBef>
                <a:spcPts val="20"/>
              </a:spcBef>
              <a:spcAft>
                <a:spcPts val="0"/>
              </a:spcAft>
              <a:buSzPct val="90000"/>
              <a:buNone/>
            </a:pPr>
            <a:r>
              <a:rPr lang="en-US" altLang="x-none" dirty="0"/>
              <a:t>		</a:t>
            </a:r>
            <a:r>
              <a:rPr lang="zh-CN" altLang="en-US" dirty="0"/>
              <a:t>语句块</a:t>
            </a:r>
            <a:r>
              <a:rPr lang="en-US" altLang="zh-CN" dirty="0"/>
              <a:t>2;</a:t>
            </a:r>
          </a:p>
          <a:p>
            <a:pPr marL="990600" lvl="1" indent="-533400" eaLnBrk="1" hangingPunct="1">
              <a:spcBef>
                <a:spcPts val="20"/>
              </a:spcBef>
              <a:buSzPct val="90000"/>
              <a:buNone/>
            </a:pPr>
            <a:r>
              <a:rPr lang="en-US" altLang="x-none" dirty="0"/>
              <a:t>	</a:t>
            </a:r>
            <a:r>
              <a:rPr lang="en-US" altLang="zh-CN" dirty="0"/>
              <a:t>}</a:t>
            </a:r>
          </a:p>
        </p:txBody>
      </p:sp>
      <p:grpSp>
        <p:nvGrpSpPr>
          <p:cNvPr id="78852" name="Group 4"/>
          <p:cNvGrpSpPr/>
          <p:nvPr/>
        </p:nvGrpSpPr>
        <p:grpSpPr>
          <a:xfrm>
            <a:off x="5960745" y="2480310"/>
            <a:ext cx="3345180" cy="3550920"/>
            <a:chOff x="0" y="0"/>
            <a:chExt cx="2448" cy="2592"/>
          </a:xfrm>
          <a:solidFill>
            <a:schemeClr val="bg1"/>
          </a:solidFill>
        </p:grpSpPr>
        <p:sp>
          <p:nvSpPr>
            <p:cNvPr id="78853" name="Rectangle 5"/>
            <p:cNvSpPr/>
            <p:nvPr/>
          </p:nvSpPr>
          <p:spPr>
            <a:xfrm>
              <a:off x="0" y="0"/>
              <a:ext cx="2448" cy="2592"/>
            </a:xfrm>
            <a:prstGeom prst="rect">
              <a:avLst/>
            </a:prstGeom>
            <a:grpFill/>
            <a:ln w="9525">
              <a:noFill/>
            </a:ln>
          </p:spPr>
          <p:txBody>
            <a:bodyPr wrap="none" anchor="ctr"/>
            <a:lstStyle/>
            <a:p>
              <a:pPr eaLnBrk="1" hangingPunct="1"/>
              <a:endParaRPr lang="zh-CN" altLang="en-US" sz="2100" dirty="0">
                <a:latin typeface="Arial" panose="020B0604020202020204" pitchFamily="34" charset="0"/>
              </a:endParaRPr>
            </a:p>
          </p:txBody>
        </p:sp>
        <p:sp>
          <p:nvSpPr>
            <p:cNvPr id="78854" name="Rectangle 6"/>
            <p:cNvSpPr/>
            <p:nvPr/>
          </p:nvSpPr>
          <p:spPr>
            <a:xfrm>
              <a:off x="432" y="1296"/>
              <a:ext cx="912" cy="384"/>
            </a:xfrm>
            <a:prstGeom prst="rect">
              <a:avLst/>
            </a:prstGeom>
            <a:grp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rPr>
                <a:t>语句块</a:t>
              </a:r>
              <a:r>
                <a:rPr lang="en-US" altLang="zh-CN" sz="2520" dirty="0">
                  <a:latin typeface="Tahoma" panose="020B0604030504040204" pitchFamily="34" charset="0"/>
                  <a:ea typeface="华文中宋" panose="02010600040101010101" pitchFamily="2" charset="-122"/>
                </a:rPr>
                <a:t>1</a:t>
              </a:r>
            </a:p>
          </p:txBody>
        </p:sp>
        <p:sp>
          <p:nvSpPr>
            <p:cNvPr id="78855" name="AutoShape 7"/>
            <p:cNvSpPr/>
            <p:nvPr/>
          </p:nvSpPr>
          <p:spPr>
            <a:xfrm>
              <a:off x="144" y="432"/>
              <a:ext cx="1488" cy="576"/>
            </a:xfrm>
            <a:prstGeom prst="diamond">
              <a:avLst/>
            </a:prstGeom>
            <a:grp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sym typeface="+mn-ea"/>
                </a:rPr>
                <a:t>布尔表达式</a:t>
              </a:r>
              <a:endParaRPr lang="zh-CN" altLang="en-US" sz="2520" dirty="0">
                <a:latin typeface="Tahoma" panose="020B0604030504040204" pitchFamily="34" charset="0"/>
                <a:ea typeface="华文中宋" panose="02010600040101010101" pitchFamily="2" charset="-122"/>
              </a:endParaRPr>
            </a:p>
          </p:txBody>
        </p:sp>
        <p:sp>
          <p:nvSpPr>
            <p:cNvPr id="78856" name="Line 8"/>
            <p:cNvSpPr/>
            <p:nvPr/>
          </p:nvSpPr>
          <p:spPr>
            <a:xfrm>
              <a:off x="864" y="96"/>
              <a:ext cx="0" cy="336"/>
            </a:xfrm>
            <a:prstGeom prst="line">
              <a:avLst/>
            </a:prstGeom>
            <a:grpFill/>
            <a:ln w="9525" cap="flat" cmpd="sng">
              <a:solidFill>
                <a:schemeClr val="tx1"/>
              </a:solidFill>
              <a:prstDash val="solid"/>
              <a:headEnd type="none" w="med" len="med"/>
              <a:tailEnd type="triangle" w="med" len="med"/>
            </a:ln>
          </p:spPr>
        </p:sp>
        <p:sp>
          <p:nvSpPr>
            <p:cNvPr id="78857" name="Line 9"/>
            <p:cNvSpPr/>
            <p:nvPr/>
          </p:nvSpPr>
          <p:spPr>
            <a:xfrm>
              <a:off x="864" y="1008"/>
              <a:ext cx="0" cy="288"/>
            </a:xfrm>
            <a:prstGeom prst="line">
              <a:avLst/>
            </a:prstGeom>
            <a:grpFill/>
            <a:ln w="9525" cap="flat" cmpd="sng">
              <a:solidFill>
                <a:schemeClr val="tx1"/>
              </a:solidFill>
              <a:prstDash val="solid"/>
              <a:headEnd type="none" w="med" len="med"/>
              <a:tailEnd type="triangle" w="med" len="med"/>
            </a:ln>
          </p:spPr>
        </p:sp>
        <p:sp>
          <p:nvSpPr>
            <p:cNvPr id="78858" name="Line 10"/>
            <p:cNvSpPr/>
            <p:nvPr/>
          </p:nvSpPr>
          <p:spPr>
            <a:xfrm>
              <a:off x="864" y="1680"/>
              <a:ext cx="0" cy="384"/>
            </a:xfrm>
            <a:prstGeom prst="line">
              <a:avLst/>
            </a:prstGeom>
            <a:grpFill/>
            <a:ln w="9525" cap="flat" cmpd="sng">
              <a:solidFill>
                <a:schemeClr val="tx1"/>
              </a:solidFill>
              <a:prstDash val="solid"/>
              <a:headEnd type="none" w="med" len="med"/>
              <a:tailEnd type="triangle" w="med" len="med"/>
            </a:ln>
          </p:spPr>
        </p:sp>
        <p:sp>
          <p:nvSpPr>
            <p:cNvPr id="78859" name="Line 11"/>
            <p:cNvSpPr/>
            <p:nvPr/>
          </p:nvSpPr>
          <p:spPr>
            <a:xfrm>
              <a:off x="1632" y="720"/>
              <a:ext cx="288" cy="0"/>
            </a:xfrm>
            <a:prstGeom prst="line">
              <a:avLst/>
            </a:prstGeom>
            <a:grpFill/>
            <a:ln w="9525" cap="flat" cmpd="sng">
              <a:solidFill>
                <a:schemeClr val="tx1"/>
              </a:solidFill>
              <a:prstDash val="solid"/>
              <a:headEnd type="none" w="med" len="med"/>
              <a:tailEnd type="none" w="med" len="med"/>
            </a:ln>
          </p:spPr>
        </p:sp>
        <p:sp>
          <p:nvSpPr>
            <p:cNvPr id="78860" name="Line 12"/>
            <p:cNvSpPr/>
            <p:nvPr/>
          </p:nvSpPr>
          <p:spPr>
            <a:xfrm>
              <a:off x="1920" y="720"/>
              <a:ext cx="0" cy="576"/>
            </a:xfrm>
            <a:prstGeom prst="line">
              <a:avLst/>
            </a:prstGeom>
            <a:grpFill/>
            <a:ln w="9525" cap="flat" cmpd="sng">
              <a:solidFill>
                <a:schemeClr val="tx1"/>
              </a:solidFill>
              <a:prstDash val="solid"/>
              <a:headEnd type="none" w="med" len="med"/>
              <a:tailEnd type="triangle" w="med" len="med"/>
            </a:ln>
          </p:spPr>
        </p:sp>
        <p:sp>
          <p:nvSpPr>
            <p:cNvPr id="78861" name="Line 13"/>
            <p:cNvSpPr/>
            <p:nvPr/>
          </p:nvSpPr>
          <p:spPr>
            <a:xfrm flipH="1">
              <a:off x="864" y="1872"/>
              <a:ext cx="1056" cy="0"/>
            </a:xfrm>
            <a:prstGeom prst="line">
              <a:avLst/>
            </a:prstGeom>
            <a:grpFill/>
            <a:ln w="9525" cap="flat" cmpd="sng">
              <a:solidFill>
                <a:schemeClr val="tx1"/>
              </a:solidFill>
              <a:prstDash val="solid"/>
              <a:headEnd type="none" w="med" len="med"/>
              <a:tailEnd type="triangle" w="med" len="med"/>
            </a:ln>
          </p:spPr>
        </p:sp>
        <p:sp>
          <p:nvSpPr>
            <p:cNvPr id="78862" name="Rectangle 14"/>
            <p:cNvSpPr/>
            <p:nvPr/>
          </p:nvSpPr>
          <p:spPr>
            <a:xfrm>
              <a:off x="1488" y="432"/>
              <a:ext cx="624" cy="240"/>
            </a:xfrm>
            <a:prstGeom prst="rect">
              <a:avLst/>
            </a:prstGeom>
            <a:grpFill/>
            <a:ln w="9525">
              <a:noFill/>
            </a:ln>
          </p:spPr>
          <p:txBody>
            <a:bodyPr wrap="none" anchor="ctr"/>
            <a:lstStyle/>
            <a:p>
              <a:pPr algn="ctr" eaLnBrk="1" hangingPunct="1"/>
              <a:r>
                <a:rPr lang="en-US" altLang="zh-CN" sz="2520" dirty="0">
                  <a:latin typeface="Tahoma" panose="020B0604030504040204" pitchFamily="34" charset="0"/>
                  <a:ea typeface="华文中宋" panose="02010600040101010101" pitchFamily="2" charset="-122"/>
                </a:rPr>
                <a:t>false</a:t>
              </a:r>
            </a:p>
          </p:txBody>
        </p:sp>
        <p:sp>
          <p:nvSpPr>
            <p:cNvPr id="78863" name="Rectangle 15"/>
            <p:cNvSpPr/>
            <p:nvPr/>
          </p:nvSpPr>
          <p:spPr>
            <a:xfrm>
              <a:off x="864" y="1008"/>
              <a:ext cx="624" cy="240"/>
            </a:xfrm>
            <a:prstGeom prst="rect">
              <a:avLst/>
            </a:prstGeom>
            <a:grpFill/>
            <a:ln w="9525">
              <a:noFill/>
            </a:ln>
          </p:spPr>
          <p:txBody>
            <a:bodyPr wrap="none" anchor="ctr"/>
            <a:lstStyle/>
            <a:p>
              <a:pPr algn="ctr" eaLnBrk="1" hangingPunct="1"/>
              <a:r>
                <a:rPr lang="en-US" altLang="zh-CN" sz="2520" dirty="0">
                  <a:latin typeface="Tahoma" panose="020B0604030504040204" pitchFamily="34" charset="0"/>
                  <a:ea typeface="华文中宋" panose="02010600040101010101" pitchFamily="2" charset="-122"/>
                </a:rPr>
                <a:t>true</a:t>
              </a:r>
            </a:p>
          </p:txBody>
        </p:sp>
        <p:sp>
          <p:nvSpPr>
            <p:cNvPr id="78864" name="Rectangle 16"/>
            <p:cNvSpPr/>
            <p:nvPr/>
          </p:nvSpPr>
          <p:spPr>
            <a:xfrm>
              <a:off x="528" y="2256"/>
              <a:ext cx="1104" cy="288"/>
            </a:xfrm>
            <a:prstGeom prst="rect">
              <a:avLst/>
            </a:prstGeom>
            <a:grpFill/>
            <a:ln w="9525">
              <a:noFill/>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rPr>
                <a:t>流程图</a:t>
              </a:r>
            </a:p>
          </p:txBody>
        </p:sp>
        <p:sp>
          <p:nvSpPr>
            <p:cNvPr id="78865" name="Rectangle 17"/>
            <p:cNvSpPr/>
            <p:nvPr/>
          </p:nvSpPr>
          <p:spPr>
            <a:xfrm>
              <a:off x="1440" y="1296"/>
              <a:ext cx="912" cy="384"/>
            </a:xfrm>
            <a:prstGeom prst="rect">
              <a:avLst/>
            </a:prstGeom>
            <a:grp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rPr>
                <a:t>语句块</a:t>
              </a:r>
              <a:r>
                <a:rPr lang="en-US" altLang="zh-CN" sz="2520" dirty="0">
                  <a:latin typeface="Tahoma" panose="020B0604030504040204" pitchFamily="34" charset="0"/>
                  <a:ea typeface="华文中宋" panose="02010600040101010101" pitchFamily="2" charset="-122"/>
                </a:rPr>
                <a:t>2</a:t>
              </a:r>
            </a:p>
          </p:txBody>
        </p:sp>
        <p:sp>
          <p:nvSpPr>
            <p:cNvPr id="78866" name="Line 18"/>
            <p:cNvSpPr/>
            <p:nvPr/>
          </p:nvSpPr>
          <p:spPr>
            <a:xfrm>
              <a:off x="1920" y="1680"/>
              <a:ext cx="0" cy="192"/>
            </a:xfrm>
            <a:prstGeom prst="line">
              <a:avLst/>
            </a:prstGeom>
            <a:grpFill/>
            <a:ln w="9525" cap="flat" cmpd="sng">
              <a:solidFill>
                <a:schemeClr val="tx1"/>
              </a:solidFill>
              <a:prstDash val="solid"/>
              <a:headEnd type="none" w="med" len="med"/>
              <a:tailEnd type="none" w="med" len="med"/>
            </a:ln>
          </p:spPr>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animEffect transition="in" filter="barn(outHorizontal)">
                                      <p:cBhvr>
                                        <p:cTn id="7" dur="500"/>
                                        <p:tgtEl>
                                          <p:spTgt spid="78851">
                                            <p:txEl>
                                              <p:pRg st="0" end="0"/>
                                            </p:txEl>
                                          </p:spTgt>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78851">
                                            <p:txEl>
                                              <p:pRg st="1" end="1"/>
                                            </p:txEl>
                                          </p:spTgt>
                                        </p:tgtEl>
                                        <p:attrNameLst>
                                          <p:attrName>style.visibility</p:attrName>
                                        </p:attrNameLst>
                                      </p:cBhvr>
                                      <p:to>
                                        <p:strVal val="visible"/>
                                      </p:to>
                                    </p:set>
                                    <p:animEffect transition="in" filter="barn(outHorizontal)">
                                      <p:cBhvr>
                                        <p:cTn id="10" dur="500"/>
                                        <p:tgtEl>
                                          <p:spTgt spid="78851">
                                            <p:txEl>
                                              <p:pRg st="1" end="1"/>
                                            </p:txEl>
                                          </p:spTgt>
                                        </p:tgtEl>
                                      </p:cBhvr>
                                    </p:animEffect>
                                  </p:childTnLst>
                                </p:cTn>
                              </p:par>
                              <p:par>
                                <p:cTn id="11" presetID="16" presetClass="entr" presetSubtype="42" fill="hold" grpId="0" nodeType="withEffect">
                                  <p:stCondLst>
                                    <p:cond delay="0"/>
                                  </p:stCondLst>
                                  <p:childTnLst>
                                    <p:set>
                                      <p:cBhvr>
                                        <p:cTn id="12" dur="1" fill="hold">
                                          <p:stCondLst>
                                            <p:cond delay="0"/>
                                          </p:stCondLst>
                                        </p:cTn>
                                        <p:tgtEl>
                                          <p:spTgt spid="78851">
                                            <p:txEl>
                                              <p:pRg st="2" end="2"/>
                                            </p:txEl>
                                          </p:spTgt>
                                        </p:tgtEl>
                                        <p:attrNameLst>
                                          <p:attrName>style.visibility</p:attrName>
                                        </p:attrNameLst>
                                      </p:cBhvr>
                                      <p:to>
                                        <p:strVal val="visible"/>
                                      </p:to>
                                    </p:set>
                                    <p:animEffect transition="in" filter="barn(outHorizontal)">
                                      <p:cBhvr>
                                        <p:cTn id="13" dur="500"/>
                                        <p:tgtEl>
                                          <p:spTgt spid="78851">
                                            <p:txEl>
                                              <p:pRg st="2" end="2"/>
                                            </p:txEl>
                                          </p:spTgt>
                                        </p:tgtEl>
                                      </p:cBhvr>
                                    </p:animEffect>
                                  </p:childTnLst>
                                </p:cTn>
                              </p:par>
                              <p:par>
                                <p:cTn id="14" presetID="16" presetClass="entr" presetSubtype="42" fill="hold" grpId="0" nodeType="withEffect">
                                  <p:stCondLst>
                                    <p:cond delay="0"/>
                                  </p:stCondLst>
                                  <p:childTnLst>
                                    <p:set>
                                      <p:cBhvr>
                                        <p:cTn id="15" dur="1" fill="hold">
                                          <p:stCondLst>
                                            <p:cond delay="0"/>
                                          </p:stCondLst>
                                        </p:cTn>
                                        <p:tgtEl>
                                          <p:spTgt spid="78851">
                                            <p:txEl>
                                              <p:pRg st="3" end="3"/>
                                            </p:txEl>
                                          </p:spTgt>
                                        </p:tgtEl>
                                        <p:attrNameLst>
                                          <p:attrName>style.visibility</p:attrName>
                                        </p:attrNameLst>
                                      </p:cBhvr>
                                      <p:to>
                                        <p:strVal val="visible"/>
                                      </p:to>
                                    </p:set>
                                    <p:animEffect transition="in" filter="barn(outHorizontal)">
                                      <p:cBhvr>
                                        <p:cTn id="16" dur="500"/>
                                        <p:tgtEl>
                                          <p:spTgt spid="78851">
                                            <p:txEl>
                                              <p:pRg st="3" end="3"/>
                                            </p:txEl>
                                          </p:spTgt>
                                        </p:tgtEl>
                                      </p:cBhvr>
                                    </p:animEffect>
                                  </p:childTnLst>
                                </p:cTn>
                              </p:par>
                              <p:par>
                                <p:cTn id="17" presetID="16" presetClass="entr" presetSubtype="42" fill="hold" grpId="0" nodeType="withEffect">
                                  <p:stCondLst>
                                    <p:cond delay="0"/>
                                  </p:stCondLst>
                                  <p:childTnLst>
                                    <p:set>
                                      <p:cBhvr>
                                        <p:cTn id="18" dur="1" fill="hold">
                                          <p:stCondLst>
                                            <p:cond delay="0"/>
                                          </p:stCondLst>
                                        </p:cTn>
                                        <p:tgtEl>
                                          <p:spTgt spid="78851">
                                            <p:txEl>
                                              <p:pRg st="4" end="4"/>
                                            </p:txEl>
                                          </p:spTgt>
                                        </p:tgtEl>
                                        <p:attrNameLst>
                                          <p:attrName>style.visibility</p:attrName>
                                        </p:attrNameLst>
                                      </p:cBhvr>
                                      <p:to>
                                        <p:strVal val="visible"/>
                                      </p:to>
                                    </p:set>
                                    <p:animEffect transition="in" filter="barn(outHorizontal)">
                                      <p:cBhvr>
                                        <p:cTn id="19" dur="500"/>
                                        <p:tgtEl>
                                          <p:spTgt spid="78851">
                                            <p:txEl>
                                              <p:pRg st="4" end="4"/>
                                            </p:txEl>
                                          </p:spTgt>
                                        </p:tgtEl>
                                      </p:cBhvr>
                                    </p:animEffect>
                                  </p:childTnLst>
                                </p:cTn>
                              </p:par>
                              <p:par>
                                <p:cTn id="20" presetID="16" presetClass="entr" presetSubtype="42" fill="hold" grpId="0" nodeType="withEffect">
                                  <p:stCondLst>
                                    <p:cond delay="0"/>
                                  </p:stCondLst>
                                  <p:childTnLst>
                                    <p:set>
                                      <p:cBhvr>
                                        <p:cTn id="21" dur="1" fill="hold">
                                          <p:stCondLst>
                                            <p:cond delay="0"/>
                                          </p:stCondLst>
                                        </p:cTn>
                                        <p:tgtEl>
                                          <p:spTgt spid="78851">
                                            <p:txEl>
                                              <p:pRg st="5" end="5"/>
                                            </p:txEl>
                                          </p:spTgt>
                                        </p:tgtEl>
                                        <p:attrNameLst>
                                          <p:attrName>style.visibility</p:attrName>
                                        </p:attrNameLst>
                                      </p:cBhvr>
                                      <p:to>
                                        <p:strVal val="visible"/>
                                      </p:to>
                                    </p:set>
                                    <p:animEffect transition="in" filter="barn(outHorizontal)">
                                      <p:cBhvr>
                                        <p:cTn id="22" dur="500"/>
                                        <p:tgtEl>
                                          <p:spTgt spid="78851">
                                            <p:txEl>
                                              <p:pRg st="5" end="5"/>
                                            </p:txEl>
                                          </p:spTgt>
                                        </p:tgtEl>
                                      </p:cBhvr>
                                    </p:animEffect>
                                  </p:childTnLst>
                                </p:cTn>
                              </p:par>
                              <p:par>
                                <p:cTn id="23" presetID="16" presetClass="entr" presetSubtype="42" fill="hold" grpId="0" nodeType="withEffect">
                                  <p:stCondLst>
                                    <p:cond delay="0"/>
                                  </p:stCondLst>
                                  <p:childTnLst>
                                    <p:set>
                                      <p:cBhvr>
                                        <p:cTn id="24" dur="1" fill="hold">
                                          <p:stCondLst>
                                            <p:cond delay="0"/>
                                          </p:stCondLst>
                                        </p:cTn>
                                        <p:tgtEl>
                                          <p:spTgt spid="78851">
                                            <p:txEl>
                                              <p:pRg st="6" end="6"/>
                                            </p:txEl>
                                          </p:spTgt>
                                        </p:tgtEl>
                                        <p:attrNameLst>
                                          <p:attrName>style.visibility</p:attrName>
                                        </p:attrNameLst>
                                      </p:cBhvr>
                                      <p:to>
                                        <p:strVal val="visible"/>
                                      </p:to>
                                    </p:set>
                                    <p:animEffect transition="in" filter="barn(outHorizontal)">
                                      <p:cBhvr>
                                        <p:cTn id="25" dur="500"/>
                                        <p:tgtEl>
                                          <p:spTgt spid="78851">
                                            <p:txEl>
                                              <p:pRg st="6" end="6"/>
                                            </p:txEl>
                                          </p:spTgt>
                                        </p:tgtEl>
                                      </p:cBhvr>
                                    </p:animEffect>
                                  </p:childTnLst>
                                </p:cTn>
                              </p:par>
                              <p:par>
                                <p:cTn id="26" presetID="16" presetClass="entr" presetSubtype="42" fill="hold" grpId="0" nodeType="withEffect">
                                  <p:stCondLst>
                                    <p:cond delay="0"/>
                                  </p:stCondLst>
                                  <p:childTnLst>
                                    <p:set>
                                      <p:cBhvr>
                                        <p:cTn id="27" dur="1" fill="hold">
                                          <p:stCondLst>
                                            <p:cond delay="0"/>
                                          </p:stCondLst>
                                        </p:cTn>
                                        <p:tgtEl>
                                          <p:spTgt spid="78851">
                                            <p:txEl>
                                              <p:pRg st="7" end="7"/>
                                            </p:txEl>
                                          </p:spTgt>
                                        </p:tgtEl>
                                        <p:attrNameLst>
                                          <p:attrName>style.visibility</p:attrName>
                                        </p:attrNameLst>
                                      </p:cBhvr>
                                      <p:to>
                                        <p:strVal val="visible"/>
                                      </p:to>
                                    </p:set>
                                    <p:animEffect transition="in" filter="barn(outHorizontal)">
                                      <p:cBhvr>
                                        <p:cTn id="28" dur="500"/>
                                        <p:tgtEl>
                                          <p:spTgt spid="78851">
                                            <p:txEl>
                                              <p:pRg st="7" end="7"/>
                                            </p:txEl>
                                          </p:spTgt>
                                        </p:tgtEl>
                                      </p:cBhvr>
                                    </p:animEffect>
                                  </p:childTnLst>
                                </p:cTn>
                              </p:par>
                            </p:childTnLst>
                          </p:cTn>
                        </p:par>
                        <p:par>
                          <p:cTn id="29" fill="hold">
                            <p:stCondLst>
                              <p:cond delay="500"/>
                            </p:stCondLst>
                            <p:childTnLst>
                              <p:par>
                                <p:cTn id="30" presetID="9" presetClass="entr" presetSubtype="0" fill="hold" nodeType="afterEffect">
                                  <p:stCondLst>
                                    <p:cond delay="0"/>
                                  </p:stCondLst>
                                  <p:childTnLst>
                                    <p:set>
                                      <p:cBhvr>
                                        <p:cTn id="31" dur="1" fill="hold">
                                          <p:stCondLst>
                                            <p:cond delay="0"/>
                                          </p:stCondLst>
                                        </p:cTn>
                                        <p:tgtEl>
                                          <p:spTgt spid="78852"/>
                                        </p:tgtEl>
                                        <p:attrNameLst>
                                          <p:attrName>style.visibility</p:attrName>
                                        </p:attrNameLst>
                                      </p:cBhvr>
                                      <p:to>
                                        <p:strVal val="visible"/>
                                      </p:to>
                                    </p:set>
                                    <p:animEffect transition="in" filter="dissolve">
                                      <p:cBhvr>
                                        <p:cTn id="32" dur="500"/>
                                        <p:tgtEl>
                                          <p:spTgt spid="78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advAuto="100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条件选择语句</a:t>
            </a:r>
          </a:p>
        </p:txBody>
      </p:sp>
      <p:sp>
        <p:nvSpPr>
          <p:cNvPr id="79875" name="Rectangle 3"/>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sz="3780" dirty="0"/>
              <a:t>示例</a:t>
            </a:r>
            <a:endParaRPr lang="zh-CN" altLang="en-US" sz="3780" dirty="0">
              <a:solidFill>
                <a:schemeClr val="hlink"/>
              </a:solidFill>
            </a:endParaRPr>
          </a:p>
          <a:p>
            <a:pPr marL="990600" lvl="1" indent="-533400" eaLnBrk="1" hangingPunct="1">
              <a:buSzPct val="90000"/>
              <a:buNone/>
            </a:pPr>
            <a:endParaRPr lang="en-US" altLang="zh-CN" sz="2100" dirty="0">
              <a:latin typeface="Tahoma" panose="020B0604030504040204" pitchFamily="34" charset="0"/>
            </a:endParaRPr>
          </a:p>
        </p:txBody>
      </p:sp>
      <p:sp>
        <p:nvSpPr>
          <p:cNvPr id="79876" name="Rectangle 4"/>
          <p:cNvSpPr/>
          <p:nvPr/>
        </p:nvSpPr>
        <p:spPr>
          <a:xfrm>
            <a:off x="7581265" y="4417695"/>
            <a:ext cx="3194050" cy="1926590"/>
          </a:xfrm>
          <a:prstGeom prst="rect">
            <a:avLst/>
          </a:prstGeom>
          <a:solidFill>
            <a:srgbClr val="C0C0C0"/>
          </a:solidFill>
          <a:ln w="9525">
            <a:noFill/>
          </a:ln>
        </p:spPr>
        <p:txBody>
          <a:bodyPr wrap="none" anchor="ctr"/>
          <a:lstStyle/>
          <a:p>
            <a:pPr eaLnBrk="1" hangingPunct="1">
              <a:spcAft>
                <a:spcPts val="0"/>
              </a:spcAft>
            </a:pPr>
            <a:r>
              <a:rPr lang="en-US" altLang="zh-CN" sz="2520" dirty="0">
                <a:latin typeface="宋体" panose="02010600030101010101" pitchFamily="2" charset="-122"/>
              </a:rPr>
              <a:t>C:\&gt;Java Test</a:t>
            </a:r>
          </a:p>
          <a:p>
            <a:pPr eaLnBrk="1" hangingPunct="1">
              <a:spcBef>
                <a:spcPts val="0"/>
              </a:spcBef>
              <a:spcAft>
                <a:spcPts val="0"/>
              </a:spcAft>
            </a:pPr>
            <a:r>
              <a:rPr lang="zh-CN" altLang="en-US" sz="2520" dirty="0">
                <a:latin typeface="宋体" panose="02010600030101010101" pitchFamily="2" charset="-122"/>
              </a:rPr>
              <a:t>请输入你的成绩</a:t>
            </a:r>
            <a:r>
              <a:rPr lang="en-US" altLang="zh-CN" sz="2520" dirty="0">
                <a:latin typeface="宋体" panose="02010600030101010101" pitchFamily="2" charset="-122"/>
              </a:rPr>
              <a:t>:</a:t>
            </a:r>
          </a:p>
          <a:p>
            <a:pPr eaLnBrk="1" hangingPunct="1">
              <a:spcBef>
                <a:spcPts val="0"/>
              </a:spcBef>
              <a:spcAft>
                <a:spcPts val="0"/>
              </a:spcAft>
            </a:pPr>
            <a:r>
              <a:rPr lang="en-US" altLang="zh-CN" sz="2520" dirty="0">
                <a:latin typeface="宋体" panose="02010600030101010101" pitchFamily="2" charset="-122"/>
              </a:rPr>
              <a:t>65</a:t>
            </a:r>
          </a:p>
          <a:p>
            <a:pPr eaLnBrk="1" hangingPunct="1">
              <a:spcBef>
                <a:spcPts val="0"/>
              </a:spcBef>
              <a:spcAft>
                <a:spcPts val="0"/>
              </a:spcAft>
            </a:pPr>
            <a:r>
              <a:rPr lang="zh-CN" altLang="en-US" sz="2520" dirty="0">
                <a:latin typeface="宋体" panose="02010600030101010101" pitchFamily="2" charset="-122"/>
              </a:rPr>
              <a:t>你及格了！</a:t>
            </a:r>
          </a:p>
          <a:p>
            <a:pPr eaLnBrk="1" hangingPunct="1">
              <a:spcBef>
                <a:spcPts val="0"/>
              </a:spcBef>
            </a:pPr>
            <a:r>
              <a:rPr lang="en-US" altLang="zh-CN" sz="2520" dirty="0">
                <a:latin typeface="宋体" panose="02010600030101010101" pitchFamily="2" charset="-122"/>
              </a:rPr>
              <a:t>C:\&gt;</a:t>
            </a:r>
          </a:p>
        </p:txBody>
      </p:sp>
      <p:sp>
        <p:nvSpPr>
          <p:cNvPr id="100" name="文本框 99"/>
          <p:cNvSpPr txBox="1"/>
          <p:nvPr/>
        </p:nvSpPr>
        <p:spPr>
          <a:xfrm>
            <a:off x="629285" y="1906270"/>
            <a:ext cx="7955280" cy="3538220"/>
          </a:xfrm>
          <a:prstGeom prst="rect">
            <a:avLst/>
          </a:prstGeom>
          <a:noFill/>
          <a:ln w="9525">
            <a:noFill/>
          </a:ln>
        </p:spPr>
        <p:txBody>
          <a:bodyPr wrap="square">
            <a:spAutoFit/>
          </a:bodyPr>
          <a:lstStyle/>
          <a:p>
            <a:pPr>
              <a:spcAft>
                <a:spcPts val="0"/>
              </a:spcAft>
            </a:pPr>
            <a:r>
              <a:rPr lang="en-US" sz="1600" b="1">
                <a:solidFill>
                  <a:srgbClr val="7F0055"/>
                </a:solidFill>
                <a:latin typeface="Consolas" panose="020B0609020204030204" charset="0"/>
                <a:ea typeface="宋体" panose="02010600030101010101" pitchFamily="2" charset="-122"/>
              </a:rPr>
              <a:t>import</a:t>
            </a:r>
            <a:r>
              <a:rPr lang="en-US" sz="1600">
                <a:solidFill>
                  <a:srgbClr val="000000"/>
                </a:solidFill>
                <a:latin typeface="Consolas" panose="020B0609020204030204" charset="0"/>
                <a:ea typeface="宋体" panose="02010600030101010101" pitchFamily="2" charset="-122"/>
              </a:rPr>
              <a:t> java.io.*;</a:t>
            </a:r>
            <a:endParaRPr lang="en-US" sz="1600" b="1">
              <a:solidFill>
                <a:srgbClr val="7F0055"/>
              </a:solidFill>
              <a:latin typeface="Consolas" panose="020B0609020204030204" charset="0"/>
              <a:ea typeface="宋体" panose="02010600030101010101" pitchFamily="2" charset="-122"/>
            </a:endParaRPr>
          </a:p>
          <a:p>
            <a:pPr>
              <a:spcAft>
                <a:spcPts val="0"/>
              </a:spcAft>
            </a:pPr>
            <a:r>
              <a:rPr lang="en-US" sz="1600" b="1">
                <a:solidFill>
                  <a:srgbClr val="7F0055"/>
                </a:solidFill>
                <a:latin typeface="Consolas" panose="020B0609020204030204" charset="0"/>
                <a:ea typeface="宋体" panose="02010600030101010101" pitchFamily="2" charset="-122"/>
              </a:rPr>
              <a:t>import</a:t>
            </a:r>
            <a:r>
              <a:rPr lang="en-US" sz="1600">
                <a:solidFill>
                  <a:srgbClr val="000000"/>
                </a:solidFill>
                <a:latin typeface="Consolas" panose="020B0609020204030204" charset="0"/>
                <a:ea typeface="宋体" panose="02010600030101010101" pitchFamily="2" charset="-122"/>
              </a:rPr>
              <a:t> java.util.Scanner;</a:t>
            </a:r>
            <a:endParaRPr lang="en-US" sz="1600" b="1">
              <a:solidFill>
                <a:srgbClr val="7F0055"/>
              </a:solidFill>
              <a:latin typeface="Consolas" panose="020B0609020204030204" charset="0"/>
              <a:ea typeface="宋体" panose="02010600030101010101" pitchFamily="2" charset="-122"/>
            </a:endParaRPr>
          </a:p>
          <a:p>
            <a:pPr>
              <a:spcAft>
                <a:spcPts val="0"/>
              </a:spcAft>
            </a:pPr>
            <a:r>
              <a:rPr lang="en-US" sz="1600" b="1">
                <a:solidFill>
                  <a:srgbClr val="7F0055"/>
                </a:solidFill>
                <a:latin typeface="Consolas" panose="020B0609020204030204" charset="0"/>
                <a:ea typeface="宋体" panose="02010600030101010101" pitchFamily="2" charset="-122"/>
              </a:rPr>
              <a:t>class</a:t>
            </a:r>
            <a:r>
              <a:rPr lang="en-US" sz="1600">
                <a:solidFill>
                  <a:srgbClr val="000000"/>
                </a:solidFill>
                <a:latin typeface="Consolas" panose="020B0609020204030204" charset="0"/>
                <a:ea typeface="宋体" panose="02010600030101010101" pitchFamily="2" charset="-122"/>
              </a:rPr>
              <a:t> Test {</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public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static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void</a:t>
            </a:r>
            <a:r>
              <a:rPr lang="en-US" sz="1600">
                <a:solidFill>
                  <a:srgbClr val="000000"/>
                </a:solidFill>
                <a:latin typeface="Consolas" panose="020B0609020204030204" charset="0"/>
                <a:ea typeface="宋体" panose="02010600030101010101" pitchFamily="2" charset="-122"/>
              </a:rPr>
              <a:t> main(String </a:t>
            </a:r>
            <a:r>
              <a:rPr lang="en-US" sz="1600">
                <a:solidFill>
                  <a:srgbClr val="6A3E3E"/>
                </a:solidFill>
                <a:latin typeface="Consolas" panose="020B0609020204030204" charset="0"/>
                <a:ea typeface="宋体" panose="02010600030101010101" pitchFamily="2" charset="-122"/>
              </a:rPr>
              <a:t>args</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throws</a:t>
            </a:r>
            <a:r>
              <a:rPr lang="en-US" sz="1600">
                <a:solidFill>
                  <a:srgbClr val="000000"/>
                </a:solidFill>
                <a:latin typeface="Consolas" panose="020B0609020204030204" charset="0"/>
                <a:ea typeface="宋体" panose="02010600030101010101" pitchFamily="2" charset="-122"/>
              </a:rPr>
              <a:t> IOException {</a:t>
            </a:r>
          </a:p>
          <a:p>
            <a:pPr>
              <a:spcAft>
                <a:spcPts val="0"/>
              </a:spcAft>
            </a:pP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zh-CN" sz="1600">
                <a:solidFill>
                  <a:srgbClr val="2A00FF"/>
                </a:solidFill>
                <a:ea typeface="宋体" panose="02010600030101010101" pitchFamily="2" charset="-122"/>
              </a:rPr>
              <a:t>"请输入你的成绩: "</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Scanner </a:t>
            </a:r>
            <a:r>
              <a:rPr lang="en-US" sz="1600">
                <a:solidFill>
                  <a:srgbClr val="6A3E3E"/>
                </a:solidFill>
                <a:latin typeface="Consolas" panose="020B0609020204030204" charset="0"/>
                <a:ea typeface="宋体" panose="02010600030101010101" pitchFamily="2" charset="-122"/>
              </a:rPr>
              <a:t>si</a:t>
            </a:r>
            <a:r>
              <a:rPr lang="en-US" sz="1600">
                <a:solidFill>
                  <a:srgbClr val="000000"/>
                </a:solidFill>
                <a:latin typeface="Consolas" panose="020B0609020204030204" charset="0"/>
                <a:ea typeface="宋体" panose="02010600030101010101" pitchFamily="2" charset="-122"/>
              </a:rPr>
              <a:t>=</a:t>
            </a:r>
            <a:r>
              <a:rPr lang="en-US" sz="1600" b="1">
                <a:solidFill>
                  <a:srgbClr val="7F0055"/>
                </a:solidFill>
                <a:latin typeface="Consolas" panose="020B0609020204030204" charset="0"/>
                <a:ea typeface="宋体" panose="02010600030101010101" pitchFamily="2" charset="-122"/>
              </a:rPr>
              <a:t>new</a:t>
            </a:r>
            <a:r>
              <a:rPr lang="en-US" sz="1600">
                <a:solidFill>
                  <a:srgbClr val="000000"/>
                </a:solidFill>
                <a:latin typeface="Consolas" panose="020B0609020204030204" charset="0"/>
                <a:ea typeface="宋体" panose="02010600030101010101" pitchFamily="2" charset="-122"/>
              </a:rPr>
              <a:t> Scanner(System.</a:t>
            </a:r>
            <a:r>
              <a:rPr lang="en-US" sz="1600" b="1" i="1">
                <a:solidFill>
                  <a:srgbClr val="0000C0"/>
                </a:solidFill>
                <a:latin typeface="Consolas" panose="020B0609020204030204" charset="0"/>
                <a:ea typeface="宋体" panose="02010600030101010101" pitchFamily="2" charset="-122"/>
              </a:rPr>
              <a:t>in</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int</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score</a:t>
            </a:r>
            <a:r>
              <a:rPr lang="en-US" sz="1600">
                <a:solidFill>
                  <a:srgbClr val="000000"/>
                </a:solidFill>
                <a:latin typeface="Consolas" panose="020B0609020204030204" charset="0"/>
                <a:ea typeface="宋体" panose="02010600030101010101" pitchFamily="2" charset="-122"/>
              </a:rPr>
              <a:t> = </a:t>
            </a:r>
            <a:r>
              <a:rPr lang="en-US" sz="1600">
                <a:solidFill>
                  <a:srgbClr val="6A3E3E"/>
                </a:solidFill>
                <a:latin typeface="Consolas" panose="020B0609020204030204" charset="0"/>
                <a:ea typeface="宋体" panose="02010600030101010101" pitchFamily="2" charset="-122"/>
              </a:rPr>
              <a:t>si</a:t>
            </a:r>
            <a:r>
              <a:rPr lang="en-US" sz="1600">
                <a:solidFill>
                  <a:srgbClr val="000000"/>
                </a:solidFill>
                <a:latin typeface="Consolas" panose="020B0609020204030204" charset="0"/>
                <a:ea typeface="宋体" panose="02010600030101010101" pitchFamily="2" charset="-122"/>
              </a:rPr>
              <a:t>.nextInt();		</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if</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score</a:t>
            </a:r>
            <a:r>
              <a:rPr lang="en-US" sz="1600">
                <a:solidFill>
                  <a:srgbClr val="000000"/>
                </a:solidFill>
                <a:latin typeface="Consolas" panose="020B0609020204030204" charset="0"/>
                <a:ea typeface="宋体" panose="02010600030101010101" pitchFamily="2" charset="-122"/>
              </a:rPr>
              <a:t> &gt;= 60)</a:t>
            </a:r>
          </a:p>
          <a:p>
            <a:pPr>
              <a:spcAft>
                <a:spcPts val="0"/>
              </a:spcAft>
            </a:pP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zh-CN" sz="1600">
                <a:solidFill>
                  <a:srgbClr val="2A00FF"/>
                </a:solidFill>
                <a:ea typeface="宋体" panose="02010600030101010101" pitchFamily="2" charset="-122"/>
              </a:rPr>
              <a:t>"你及格了！"</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else</a:t>
            </a:r>
            <a:endParaRPr lang="en-US" sz="1600">
              <a:solidFill>
                <a:srgbClr val="000000"/>
              </a:solidFill>
              <a:latin typeface="Consolas" panose="020B0609020204030204" charset="0"/>
              <a:ea typeface="宋体" panose="02010600030101010101" pitchFamily="2" charset="-122"/>
            </a:endParaRPr>
          </a:p>
          <a:p>
            <a:pPr>
              <a:spcAft>
                <a:spcPts val="0"/>
              </a:spcAft>
            </a:pP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zh-CN" sz="1600">
                <a:solidFill>
                  <a:srgbClr val="2A00FF"/>
                </a:solidFill>
                <a:ea typeface="宋体" panose="02010600030101010101" pitchFamily="2" charset="-122"/>
              </a:rPr>
              <a:t>"你没及格了！"</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si</a:t>
            </a:r>
            <a:r>
              <a:rPr lang="en-US" sz="1600">
                <a:solidFill>
                  <a:srgbClr val="000000"/>
                </a:solidFill>
                <a:latin typeface="Consolas" panose="020B0609020204030204" charset="0"/>
                <a:ea typeface="宋体" panose="02010600030101010101" pitchFamily="2" charset="-122"/>
              </a:rPr>
              <a:t>.close();</a:t>
            </a:r>
          </a:p>
          <a:p>
            <a:pPr>
              <a:spcAft>
                <a:spcPts val="0"/>
              </a:spcAft>
            </a:pPr>
            <a:r>
              <a:rPr lang="en-US" sz="1600">
                <a:solidFill>
                  <a:srgbClr val="000000"/>
                </a:solidFill>
                <a:latin typeface="Consolas" panose="020B0609020204030204" charset="0"/>
                <a:ea typeface="宋体" panose="02010600030101010101" pitchFamily="2" charset="-122"/>
              </a:rPr>
              <a:t>	}</a:t>
            </a:r>
          </a:p>
          <a:p>
            <a:pPr>
              <a:spcAft>
                <a:spcPts val="0"/>
              </a:spcAft>
            </a:pPr>
            <a:r>
              <a:rPr lang="en-US" sz="1600">
                <a:solidFill>
                  <a:srgbClr val="000000"/>
                </a:solidFill>
                <a:latin typeface="Consolas" panose="020B0609020204030204" charset="0"/>
                <a:ea typeface="宋体" panose="02010600030101010101" pitchFamily="2" charset="-122"/>
              </a:rPr>
              <a:t>}</a:t>
            </a:r>
            <a:endParaRPr lang="en-US" altLang="en-US" sz="1600">
              <a:solidFill>
                <a:srgbClr val="000000"/>
              </a:solidFill>
              <a:latin typeface="Consolas" panose="020B0609020204030204" charset="0"/>
              <a:ea typeface="宋体" panose="0201060003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79876"/>
                                        </p:tgtEl>
                                        <p:attrNameLst>
                                          <p:attrName>style.visibility</p:attrName>
                                        </p:attrNameLst>
                                      </p:cBhvr>
                                      <p:to>
                                        <p:strVal val="visible"/>
                                      </p:to>
                                    </p:set>
                                    <p:animEffect transition="in" filter="barn(outHorizontal)">
                                      <p:cBhvr>
                                        <p:cTn id="7" dur="500"/>
                                        <p:tgtEl>
                                          <p:spTgt spid="79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条件选择语句</a:t>
            </a:r>
          </a:p>
        </p:txBody>
      </p:sp>
      <p:sp>
        <p:nvSpPr>
          <p:cNvPr id="80899" name="Rectangle 3"/>
          <p:cNvSpPr>
            <a:spLocks noGrp="1"/>
          </p:cNvSpPr>
          <p:nvPr>
            <p:ph idx="1"/>
          </p:nvPr>
        </p:nvSpPr>
        <p:spPr/>
        <p:txBody>
          <a:bodyPr vert="horz" wrap="square" lIns="96011" tIns="48005" rIns="96011" bIns="48005" anchor="t">
            <a:normAutofit lnSpcReduction="20000"/>
          </a:bodyPr>
          <a:lstStyle/>
          <a:p>
            <a:pPr marL="609600" indent="-609600" eaLnBrk="1" hangingPunct="1">
              <a:spcAft>
                <a:spcPts val="0"/>
              </a:spcAft>
              <a:buSzPct val="90000"/>
            </a:pPr>
            <a:r>
              <a:rPr lang="en-US" altLang="zh-CN" sz="3780" dirty="0"/>
              <a:t>if </a:t>
            </a:r>
            <a:r>
              <a:rPr lang="zh-CN" altLang="en-US" sz="3780" dirty="0"/>
              <a:t>语句的嵌套</a:t>
            </a:r>
            <a:endParaRPr lang="zh-CN" altLang="en-US" dirty="0"/>
          </a:p>
          <a:p>
            <a:pPr marL="990600" lvl="1" indent="-533400" eaLnBrk="1" hangingPunct="1">
              <a:spcBef>
                <a:spcPts val="20"/>
              </a:spcBef>
              <a:spcAft>
                <a:spcPts val="0"/>
              </a:spcAft>
              <a:buSzPct val="90000"/>
              <a:buFont typeface="Wingdings" panose="05000000000000000000" pitchFamily="2" charset="2"/>
              <a:buAutoNum type="arabicPeriod"/>
            </a:pPr>
            <a:r>
              <a:rPr lang="en-US" altLang="zh-CN" dirty="0"/>
              <a:t>if </a:t>
            </a:r>
            <a:r>
              <a:rPr lang="zh-CN" altLang="en-US" dirty="0"/>
              <a:t>语句中的语句块又出现了</a:t>
            </a:r>
            <a:r>
              <a:rPr lang="en-US" altLang="zh-CN" dirty="0"/>
              <a:t>if </a:t>
            </a:r>
            <a:r>
              <a:rPr lang="zh-CN" altLang="en-US" dirty="0"/>
              <a:t>语句</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若没有配对符‘</a:t>
            </a:r>
            <a:r>
              <a:rPr lang="en-US" altLang="zh-CN" dirty="0"/>
              <a:t>{}’</a:t>
            </a:r>
            <a:r>
              <a:rPr lang="zh-CN" altLang="en-US" dirty="0"/>
              <a:t>，则</a:t>
            </a:r>
            <a:r>
              <a:rPr lang="en-US" altLang="zh-CN" dirty="0"/>
              <a:t>else</a:t>
            </a:r>
            <a:r>
              <a:rPr lang="zh-CN" altLang="en-US" dirty="0"/>
              <a:t>与最近的</a:t>
            </a:r>
            <a:r>
              <a:rPr lang="en-US" altLang="zh-CN" dirty="0"/>
              <a:t>if</a:t>
            </a:r>
            <a:r>
              <a:rPr lang="zh-CN" altLang="en-US" dirty="0"/>
              <a:t>语句配对</a:t>
            </a:r>
          </a:p>
          <a:p>
            <a:pPr marL="990600" lvl="1" indent="-533400" eaLnBrk="1" hangingPunct="1">
              <a:buSzPct val="90000"/>
              <a:buFont typeface="Wingdings" panose="05000000000000000000" pitchFamily="2" charset="2"/>
              <a:buAutoNum type="arabicPeriod"/>
            </a:pPr>
            <a:endParaRPr lang="zh-CN" altLang="en-US" dirty="0"/>
          </a:p>
          <a:p>
            <a:pPr marL="990600" lvl="1" indent="-533400" eaLnBrk="1" hangingPunct="1">
              <a:buSzPct val="90000"/>
              <a:buFont typeface="Wingdings" panose="05000000000000000000" pitchFamily="2" charset="2"/>
              <a:buAutoNum type="arabicPeriod"/>
            </a:pPr>
            <a:endParaRPr lang="zh-CN" altLang="en-US" dirty="0"/>
          </a:p>
          <a:p>
            <a:pPr marL="990600" lvl="1" indent="-533400" eaLnBrk="1" hangingPunct="1">
              <a:buSzPct val="90000"/>
              <a:buFont typeface="Wingdings" panose="05000000000000000000" pitchFamily="2" charset="2"/>
              <a:buAutoNum type="arabicPeriod"/>
            </a:pPr>
            <a:endParaRPr lang="zh-CN" altLang="en-US" dirty="0"/>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例 </a:t>
            </a:r>
            <a:r>
              <a:rPr lang="en-US" altLang="zh-CN" dirty="0"/>
              <a:t>int a=1, b=2, c=3;</a:t>
            </a:r>
          </a:p>
          <a:p>
            <a:pPr marL="990600" lvl="1" indent="-533400" eaLnBrk="1" hangingPunct="1">
              <a:spcBef>
                <a:spcPts val="20"/>
              </a:spcBef>
              <a:spcAft>
                <a:spcPts val="0"/>
              </a:spcAft>
              <a:buSzPct val="90000"/>
              <a:buNone/>
            </a:pPr>
            <a:r>
              <a:rPr lang="en-US" altLang="x-none" dirty="0"/>
              <a:t>	</a:t>
            </a:r>
            <a:r>
              <a:rPr lang="en-US" altLang="zh-CN" sz="2520" dirty="0"/>
              <a:t>if (a&gt;c) if (c&gt;b) System.out.print( c ); </a:t>
            </a:r>
          </a:p>
          <a:p>
            <a:pPr marL="1371600" lvl="2" indent="-457200" eaLnBrk="1" hangingPunct="1">
              <a:spcBef>
                <a:spcPts val="20"/>
              </a:spcBef>
              <a:spcAft>
                <a:spcPts val="0"/>
              </a:spcAft>
              <a:buSzPct val="90000"/>
              <a:buNone/>
            </a:pPr>
            <a:r>
              <a:rPr lang="en-US" altLang="x-none" dirty="0"/>
              <a:t> </a:t>
            </a:r>
            <a:r>
              <a:rPr lang="en-US" altLang="zh-CN" dirty="0"/>
              <a:t>else System.out.print(a);</a:t>
            </a:r>
          </a:p>
          <a:p>
            <a:pPr marL="990600" lvl="1" indent="-533400" eaLnBrk="1" hangingPunct="1">
              <a:spcBef>
                <a:spcPts val="20"/>
              </a:spcBef>
              <a:buSzPct val="90000"/>
              <a:buFont typeface="Wingdings" panose="05000000000000000000" pitchFamily="2" charset="2"/>
              <a:buAutoNum type="arabicPeriod" startAt="4"/>
            </a:pPr>
            <a:r>
              <a:rPr lang="zh-CN" altLang="en-US" dirty="0">
                <a:solidFill>
                  <a:schemeClr val="hlink"/>
                </a:solidFill>
              </a:rPr>
              <a:t>一定要明确地写上配对符</a:t>
            </a:r>
            <a:endParaRPr lang="zh-CN" altLang="en-US" dirty="0"/>
          </a:p>
        </p:txBody>
      </p:sp>
      <p:sp>
        <p:nvSpPr>
          <p:cNvPr id="80900" name="Rectangle 4"/>
          <p:cNvSpPr/>
          <p:nvPr/>
        </p:nvSpPr>
        <p:spPr>
          <a:xfrm>
            <a:off x="5480685" y="1360170"/>
            <a:ext cx="4240530" cy="3200400"/>
          </a:xfrm>
          <a:prstGeom prst="rect">
            <a:avLst/>
          </a:prstGeom>
          <a:solidFill>
            <a:srgbClr val="C0C0C0"/>
          </a:solidFill>
          <a:ln w="9525">
            <a:noFill/>
          </a:ln>
        </p:spPr>
        <p:txBody>
          <a:bodyPr wrap="none" anchor="ctr"/>
          <a:lstStyle/>
          <a:p>
            <a:pPr eaLnBrk="1" hangingPunct="1">
              <a:spcBef>
                <a:spcPct val="20000"/>
              </a:spcBef>
              <a:spcAft>
                <a:spcPts val="0"/>
              </a:spcAft>
              <a:buClr>
                <a:schemeClr val="folHlink"/>
              </a:buClr>
              <a:buSzPct val="9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修改配对关系</a:t>
            </a:r>
            <a:r>
              <a:rPr lang="en-US" altLang="zh-CN" sz="2520" dirty="0">
                <a:latin typeface="Tahoma" panose="020B0604030504040204" pitchFamily="34" charset="0"/>
                <a:ea typeface="华文中宋" panose="02010600040101010101" pitchFamily="2" charset="-122"/>
              </a:rPr>
              <a:t>: </a:t>
            </a:r>
            <a:endParaRPr lang="en-US" altLang="zh-CN" sz="2520" dirty="0">
              <a:latin typeface="Tahoma" panose="020B0604030504040204" pitchFamily="34" charset="0"/>
              <a:ea typeface="华文中宋" panose="02010600040101010101" pitchFamily="2" charset="-122"/>
              <a:sym typeface="Wingdings" panose="05000000000000000000" pitchFamily="2" charset="2"/>
            </a:endParaRPr>
          </a:p>
          <a:p>
            <a:pPr eaLnBrk="1" hangingPunct="1">
              <a:spcBef>
                <a:spcPts val="20"/>
              </a:spcBef>
              <a:spcAft>
                <a:spcPts val="0"/>
              </a:spcAft>
              <a:buClr>
                <a:schemeClr val="fo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if (a&gt;c) { </a:t>
            </a:r>
          </a:p>
          <a:p>
            <a:pPr eaLnBrk="1" hangingPunct="1">
              <a:spcBef>
                <a:spcPts val="20"/>
              </a:spcBef>
              <a:spcAft>
                <a:spcPts val="0"/>
              </a:spcAft>
              <a:buClr>
                <a:schemeClr val="fo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    if (c&gt;b) </a:t>
            </a:r>
          </a:p>
          <a:p>
            <a:pPr eaLnBrk="1" hangingPunct="1">
              <a:spcBef>
                <a:spcPts val="20"/>
              </a:spcBef>
              <a:spcAft>
                <a:spcPts val="0"/>
              </a:spcAft>
              <a:buClr>
                <a:schemeClr val="fo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        System.out.print( c ); </a:t>
            </a:r>
          </a:p>
          <a:p>
            <a:pPr eaLnBrk="1" hangingPunct="1">
              <a:spcBef>
                <a:spcPts val="20"/>
              </a:spcBef>
              <a:spcAft>
                <a:spcPts val="0"/>
              </a:spcAft>
              <a:buClr>
                <a:schemeClr val="fo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 else {</a:t>
            </a:r>
          </a:p>
          <a:p>
            <a:pPr eaLnBrk="1" hangingPunct="1">
              <a:spcBef>
                <a:spcPts val="20"/>
              </a:spcBef>
              <a:spcAft>
                <a:spcPts val="0"/>
              </a:spcAft>
              <a:buClr>
                <a:schemeClr val="fo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        System.out.print(a); </a:t>
            </a:r>
          </a:p>
          <a:p>
            <a:pPr eaLnBrk="1" hangingPunct="1">
              <a:spcBef>
                <a:spcPts val="20"/>
              </a:spcBef>
              <a:buClr>
                <a:schemeClr val="fo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a:t>
            </a:r>
            <a:endParaRPr lang="en-US" altLang="zh-CN" sz="2520" dirty="0">
              <a:latin typeface="Tahoma" panose="020B0604030504040204" pitchFamily="34" charset="0"/>
            </a:endParaRPr>
          </a:p>
        </p:txBody>
      </p:sp>
      <p:sp>
        <p:nvSpPr>
          <p:cNvPr id="80901" name="Rectangle 5"/>
          <p:cNvSpPr/>
          <p:nvPr/>
        </p:nvSpPr>
        <p:spPr>
          <a:xfrm>
            <a:off x="1320165" y="1360170"/>
            <a:ext cx="4160520" cy="3200400"/>
          </a:xfrm>
          <a:prstGeom prst="rect">
            <a:avLst/>
          </a:prstGeom>
          <a:solidFill>
            <a:srgbClr val="CC99FF"/>
          </a:solidFill>
          <a:ln w="9525">
            <a:noFill/>
          </a:ln>
        </p:spPr>
        <p:txBody>
          <a:bodyPr wrap="none" anchor="ctr"/>
          <a:lstStyle/>
          <a:p>
            <a:pPr eaLnBrk="1" hangingPunct="1">
              <a:spcBef>
                <a:spcPct val="20000"/>
              </a:spcBef>
              <a:spcAft>
                <a:spcPts val="0"/>
              </a:spcAft>
              <a:buClr>
                <a:schemeClr val="folHlink"/>
              </a:buClr>
              <a:buSzPct val="9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默认</a:t>
            </a:r>
            <a:r>
              <a:rPr lang="en-US" altLang="zh-CN" sz="2520" dirty="0">
                <a:latin typeface="Tahoma" panose="020B0604030504040204" pitchFamily="34" charset="0"/>
                <a:ea typeface="华文中宋" panose="02010600040101010101" pitchFamily="2" charset="-122"/>
              </a:rPr>
              <a:t>Java</a:t>
            </a:r>
            <a:r>
              <a:rPr lang="zh-CN" altLang="en-US" sz="2520" dirty="0">
                <a:latin typeface="Tahoma" panose="020B0604030504040204" pitchFamily="34" charset="0"/>
                <a:ea typeface="华文中宋" panose="02010600040101010101" pitchFamily="2" charset="-122"/>
              </a:rPr>
              <a:t>虚拟机</a:t>
            </a:r>
            <a:r>
              <a:rPr lang="en-US" altLang="zh-CN" sz="2520" dirty="0">
                <a:latin typeface="Tahoma" panose="020B0604030504040204" pitchFamily="34" charset="0"/>
                <a:ea typeface="华文中宋" panose="02010600040101010101" pitchFamily="2" charset="-122"/>
              </a:rPr>
              <a:t>: </a:t>
            </a:r>
          </a:p>
          <a:p>
            <a:pPr eaLnBrk="1" hangingPunct="1">
              <a:spcBef>
                <a:spcPts val="20"/>
              </a:spcBef>
              <a:spcAft>
                <a:spcPts val="0"/>
              </a:spcAft>
              <a:buClr>
                <a:schemeClr val="fo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if (a&gt;c) { </a:t>
            </a:r>
          </a:p>
          <a:p>
            <a:pPr eaLnBrk="1" hangingPunct="1">
              <a:spcBef>
                <a:spcPts val="20"/>
              </a:spcBef>
              <a:spcAft>
                <a:spcPts val="0"/>
              </a:spcAft>
              <a:buClr>
                <a:schemeClr val="folHlink"/>
              </a:buClr>
              <a:buSzPct val="90000"/>
              <a:buFont typeface="Wingdings" panose="05000000000000000000" pitchFamily="2" charset="2"/>
            </a:pPr>
            <a:r>
              <a:rPr lang="en-US" altLang="x-none" sz="2520" dirty="0">
                <a:latin typeface="Tahoma" panose="020B0604030504040204" pitchFamily="34" charset="0"/>
                <a:ea typeface="华文中宋" panose="02010600040101010101" pitchFamily="2" charset="-122"/>
              </a:rPr>
              <a:t>    </a:t>
            </a:r>
            <a:r>
              <a:rPr lang="en-US" altLang="zh-CN" sz="2520" dirty="0">
                <a:latin typeface="Tahoma" panose="020B0604030504040204" pitchFamily="34" charset="0"/>
                <a:ea typeface="华文中宋" panose="02010600040101010101" pitchFamily="2" charset="-122"/>
              </a:rPr>
              <a:t>if (c&gt;b) </a:t>
            </a:r>
          </a:p>
          <a:p>
            <a:pPr eaLnBrk="1" hangingPunct="1">
              <a:spcBef>
                <a:spcPts val="20"/>
              </a:spcBef>
              <a:spcAft>
                <a:spcPts val="0"/>
              </a:spcAft>
              <a:buClr>
                <a:schemeClr val="folHlink"/>
              </a:buClr>
              <a:buSzPct val="90000"/>
              <a:buFont typeface="Wingdings" panose="05000000000000000000" pitchFamily="2" charset="2"/>
            </a:pPr>
            <a:r>
              <a:rPr lang="en-US" altLang="x-none" sz="2520" dirty="0">
                <a:latin typeface="Tahoma" panose="020B0604030504040204" pitchFamily="34" charset="0"/>
                <a:ea typeface="华文中宋" panose="02010600040101010101" pitchFamily="2" charset="-122"/>
              </a:rPr>
              <a:t>        </a:t>
            </a:r>
            <a:r>
              <a:rPr lang="en-US" altLang="zh-CN" sz="2520" dirty="0">
                <a:latin typeface="Tahoma" panose="020B0604030504040204" pitchFamily="34" charset="0"/>
                <a:ea typeface="华文中宋" panose="02010600040101010101" pitchFamily="2" charset="-122"/>
              </a:rPr>
              <a:t>System.out.print( c ); </a:t>
            </a:r>
          </a:p>
          <a:p>
            <a:pPr eaLnBrk="1" hangingPunct="1">
              <a:spcBef>
                <a:spcPts val="20"/>
              </a:spcBef>
              <a:spcAft>
                <a:spcPts val="0"/>
              </a:spcAft>
              <a:buClr>
                <a:schemeClr val="folHlink"/>
              </a:buClr>
              <a:buSzPct val="90000"/>
              <a:buFont typeface="Wingdings" panose="05000000000000000000" pitchFamily="2" charset="2"/>
            </a:pPr>
            <a:r>
              <a:rPr lang="en-US" altLang="x-none" sz="2520" dirty="0">
                <a:latin typeface="Tahoma" panose="020B0604030504040204" pitchFamily="34" charset="0"/>
                <a:ea typeface="华文中宋" panose="02010600040101010101" pitchFamily="2" charset="-122"/>
              </a:rPr>
              <a:t>    </a:t>
            </a:r>
            <a:r>
              <a:rPr lang="en-US" altLang="zh-CN" sz="2520" dirty="0">
                <a:latin typeface="Tahoma" panose="020B0604030504040204" pitchFamily="34" charset="0"/>
                <a:ea typeface="华文中宋" panose="02010600040101010101" pitchFamily="2" charset="-122"/>
              </a:rPr>
              <a:t>else </a:t>
            </a:r>
          </a:p>
          <a:p>
            <a:pPr eaLnBrk="1" hangingPunct="1">
              <a:spcBef>
                <a:spcPts val="20"/>
              </a:spcBef>
              <a:spcAft>
                <a:spcPts val="0"/>
              </a:spcAft>
              <a:buClr>
                <a:schemeClr val="folHlink"/>
              </a:buClr>
              <a:buSzPct val="90000"/>
              <a:buFont typeface="Wingdings" panose="05000000000000000000" pitchFamily="2" charset="2"/>
            </a:pPr>
            <a:r>
              <a:rPr lang="en-US" altLang="x-none" sz="2520" dirty="0">
                <a:latin typeface="Tahoma" panose="020B0604030504040204" pitchFamily="34" charset="0"/>
                <a:ea typeface="华文中宋" panose="02010600040101010101" pitchFamily="2" charset="-122"/>
              </a:rPr>
              <a:t>        </a:t>
            </a:r>
            <a:r>
              <a:rPr lang="en-US" altLang="zh-CN" sz="2520" dirty="0">
                <a:latin typeface="Tahoma" panose="020B0604030504040204" pitchFamily="34" charset="0"/>
                <a:ea typeface="华文中宋" panose="02010600040101010101" pitchFamily="2" charset="-122"/>
              </a:rPr>
              <a:t>System.out.print(a); </a:t>
            </a:r>
          </a:p>
          <a:p>
            <a:pPr eaLnBrk="1" hangingPunct="1">
              <a:spcBef>
                <a:spcPts val="20"/>
              </a:spcBef>
              <a:buClr>
                <a:schemeClr val="fo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a:t>
            </a:r>
            <a:endParaRPr lang="en-US" altLang="zh-CN" sz="2520" dirty="0">
              <a:latin typeface="Tahoma" panose="020B0604030504040204"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80901"/>
                                        </p:tgtEl>
                                        <p:attrNameLst>
                                          <p:attrName>style.visibility</p:attrName>
                                        </p:attrNameLst>
                                      </p:cBhvr>
                                      <p:to>
                                        <p:strVal val="visible"/>
                                      </p:to>
                                    </p:set>
                                    <p:animEffect transition="in" filter="barn(outHorizontal)">
                                      <p:cBhvr>
                                        <p:cTn id="7" dur="500"/>
                                        <p:tgtEl>
                                          <p:spTgt spid="8090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80900"/>
                                        </p:tgtEl>
                                        <p:attrNameLst>
                                          <p:attrName>style.visibility</p:attrName>
                                        </p:attrNameLst>
                                      </p:cBhvr>
                                      <p:to>
                                        <p:strVal val="visible"/>
                                      </p:to>
                                    </p:set>
                                    <p:animEffect transition="in" filter="barn(outHorizontal)">
                                      <p:cBhvr>
                                        <p:cTn id="12" dur="500"/>
                                        <p:tgtEl>
                                          <p:spTgt spid="80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bldLvl="0" animBg="1"/>
      <p:bldP spid="80901"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条件选择语句</a:t>
            </a:r>
          </a:p>
        </p:txBody>
      </p:sp>
      <p:sp>
        <p:nvSpPr>
          <p:cNvPr id="81923" name="Rectangle 3"/>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sz="3780" dirty="0"/>
              <a:t>条件运算符</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三元运算符</a:t>
            </a:r>
            <a:r>
              <a:rPr lang="en-US" altLang="zh-CN" dirty="0"/>
              <a:t>(ternary operator): "? : "</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表达式</a:t>
            </a:r>
            <a:r>
              <a:rPr lang="en-US" altLang="zh-CN" dirty="0"/>
              <a:t>1 ? </a:t>
            </a:r>
            <a:r>
              <a:rPr lang="zh-CN" altLang="en-US" dirty="0"/>
              <a:t>表达式</a:t>
            </a:r>
            <a:r>
              <a:rPr lang="en-US" altLang="zh-CN" dirty="0"/>
              <a:t>2 : </a:t>
            </a:r>
            <a:r>
              <a:rPr lang="zh-CN" altLang="en-US" dirty="0"/>
              <a:t>表达式</a:t>
            </a:r>
            <a:r>
              <a:rPr lang="en-US" altLang="zh-CN" dirty="0"/>
              <a:t>3</a:t>
            </a:r>
          </a:p>
          <a:p>
            <a:pPr marL="990600" lvl="1" indent="-533400" eaLnBrk="1" hangingPunct="1">
              <a:spcBef>
                <a:spcPts val="20"/>
              </a:spcBef>
              <a:spcAft>
                <a:spcPts val="0"/>
              </a:spcAft>
              <a:buSzPct val="90000"/>
              <a:buFont typeface="Wingdings" panose="05000000000000000000" pitchFamily="2" charset="2"/>
              <a:buAutoNum type="arabicPeriod"/>
            </a:pPr>
            <a:r>
              <a:rPr lang="zh-CN" altLang="en-US" dirty="0"/>
              <a:t>表达式</a:t>
            </a:r>
            <a:r>
              <a:rPr lang="en-US" altLang="zh-CN" dirty="0"/>
              <a:t>1</a:t>
            </a:r>
            <a:r>
              <a:rPr lang="zh-CN" altLang="en-US" dirty="0"/>
              <a:t>的结果为布尔型，表达式</a:t>
            </a:r>
            <a:r>
              <a:rPr lang="en-US" altLang="zh-CN" dirty="0"/>
              <a:t>2</a:t>
            </a:r>
            <a:r>
              <a:rPr lang="zh-CN" altLang="en-US" dirty="0"/>
              <a:t>和表达式</a:t>
            </a:r>
            <a:r>
              <a:rPr lang="en-US" altLang="zh-CN" dirty="0"/>
              <a:t>3</a:t>
            </a:r>
            <a:r>
              <a:rPr lang="zh-CN" altLang="en-US" dirty="0"/>
              <a:t>的类型相同</a:t>
            </a:r>
          </a:p>
          <a:p>
            <a:pPr marL="990600" lvl="1" indent="-533400" eaLnBrk="1" hangingPunct="1">
              <a:spcBef>
                <a:spcPts val="0"/>
              </a:spcBef>
              <a:spcAft>
                <a:spcPts val="0"/>
              </a:spcAft>
              <a:buSzPct val="90000"/>
            </a:pPr>
            <a:r>
              <a:rPr lang="zh-CN" altLang="en-US" dirty="0"/>
              <a:t>表达式</a:t>
            </a:r>
            <a:r>
              <a:rPr lang="en-US" altLang="zh-CN" dirty="0"/>
              <a:t>1</a:t>
            </a:r>
            <a:r>
              <a:rPr lang="en-US" altLang="zh-CN" dirty="0">
                <a:sym typeface="Wingdings" panose="05000000000000000000" pitchFamily="2" charset="2"/>
              </a:rPr>
              <a:t>true</a:t>
            </a:r>
            <a:r>
              <a:rPr lang="zh-CN" altLang="en-US" dirty="0"/>
              <a:t>表达式</a:t>
            </a:r>
            <a:r>
              <a:rPr lang="en-US" altLang="zh-CN" dirty="0"/>
              <a:t>2</a:t>
            </a:r>
          </a:p>
          <a:p>
            <a:pPr marL="990600" lvl="1" indent="-533400" eaLnBrk="1" hangingPunct="1">
              <a:buSzPct val="90000"/>
            </a:pPr>
            <a:r>
              <a:rPr lang="zh-CN" altLang="en-US" dirty="0"/>
              <a:t>表达式</a:t>
            </a:r>
            <a:r>
              <a:rPr lang="en-US" altLang="zh-CN" dirty="0"/>
              <a:t>1</a:t>
            </a:r>
            <a:r>
              <a:rPr lang="en-US" altLang="zh-CN" dirty="0">
                <a:sym typeface="Wingdings" panose="05000000000000000000" pitchFamily="2" charset="2"/>
              </a:rPr>
              <a:t>false</a:t>
            </a:r>
            <a:r>
              <a:rPr lang="zh-CN" altLang="en-US" dirty="0"/>
              <a:t>表达式</a:t>
            </a:r>
            <a:r>
              <a:rPr lang="en-US" altLang="zh-CN" dirty="0"/>
              <a:t>3</a:t>
            </a:r>
          </a:p>
          <a:p>
            <a:pPr marL="990600" lvl="1" indent="-533400" eaLnBrk="1" hangingPunct="1">
              <a:buSzPct val="90000"/>
              <a:buNone/>
            </a:pPr>
            <a:r>
              <a:rPr lang="en-US" altLang="x-none" dirty="0"/>
              <a:t>	</a:t>
            </a:r>
            <a:r>
              <a:rPr lang="en-US" altLang="zh-CN" dirty="0"/>
              <a:t>Shortcut if-else statement</a:t>
            </a:r>
          </a:p>
        </p:txBody>
      </p:sp>
      <p:sp>
        <p:nvSpPr>
          <p:cNvPr id="81924" name="Rectangle 4"/>
          <p:cNvSpPr/>
          <p:nvPr/>
        </p:nvSpPr>
        <p:spPr>
          <a:xfrm>
            <a:off x="7480935" y="3840480"/>
            <a:ext cx="2560320" cy="2080260"/>
          </a:xfrm>
          <a:prstGeom prst="rect">
            <a:avLst/>
          </a:prstGeom>
          <a:solidFill>
            <a:srgbClr val="C0C0C0"/>
          </a:solidFill>
          <a:ln w="9525">
            <a:noFill/>
          </a:ln>
        </p:spPr>
        <p:txBody>
          <a:bodyPr wrap="none" anchor="ctr"/>
          <a:lstStyle/>
          <a:p>
            <a:pPr eaLnBrk="1" hangingPunct="1">
              <a:spcBef>
                <a:spcPct val="20000"/>
              </a:spcBef>
              <a:spcAft>
                <a:spcPts val="0"/>
              </a:spcAft>
              <a:buClr>
                <a:schemeClr val="hlink"/>
              </a:buClr>
              <a:buSzPct val="90000"/>
              <a:buFont typeface="Wingdings" panose="05000000000000000000" pitchFamily="2" charset="2"/>
            </a:pPr>
            <a:r>
              <a:rPr lang="zh-CN" altLang="en-US" sz="2520" dirty="0">
                <a:latin typeface="Tahoma" panose="020B0604030504040204" pitchFamily="34" charset="0"/>
                <a:ea typeface="华文中宋" panose="02010600040101010101" pitchFamily="2" charset="-122"/>
              </a:rPr>
              <a:t> </a:t>
            </a:r>
            <a:r>
              <a:rPr lang="en-US" altLang="zh-CN" sz="2520" dirty="0">
                <a:latin typeface="Tahoma" panose="020B0604030504040204" pitchFamily="34" charset="0"/>
                <a:ea typeface="华文中宋" panose="02010600040101010101" pitchFamily="2" charset="-122"/>
              </a:rPr>
              <a:t>if (</a:t>
            </a:r>
            <a:r>
              <a:rPr lang="zh-CN" altLang="en-US" sz="2520" dirty="0">
                <a:latin typeface="Tahoma" panose="020B0604030504040204" pitchFamily="34" charset="0"/>
                <a:ea typeface="华文中宋" panose="02010600040101010101" pitchFamily="2" charset="-122"/>
              </a:rPr>
              <a:t>表达式</a:t>
            </a:r>
            <a:r>
              <a:rPr lang="en-US" altLang="zh-CN" sz="2520" dirty="0">
                <a:latin typeface="Tahoma" panose="020B0604030504040204" pitchFamily="34" charset="0"/>
                <a:ea typeface="华文中宋" panose="02010600040101010101" pitchFamily="2" charset="-122"/>
              </a:rPr>
              <a:t>1)</a:t>
            </a:r>
          </a:p>
          <a:p>
            <a:pPr eaLnBrk="1" hangingPunct="1">
              <a:spcBef>
                <a:spcPts val="20"/>
              </a:spcBef>
              <a:spcAft>
                <a:spcPts val="0"/>
              </a:spcAft>
              <a:buClr>
                <a:schemeClr val="hlink"/>
              </a:buClr>
              <a:buSzPct val="90000"/>
              <a:buFont typeface="Wingdings" panose="05000000000000000000" pitchFamily="2" charset="2"/>
            </a:pPr>
            <a:r>
              <a:rPr lang="en-US" altLang="x-none" sz="2520" dirty="0">
                <a:latin typeface="Tahoma" panose="020B0604030504040204" pitchFamily="34" charset="0"/>
                <a:ea typeface="华文中宋" panose="02010600040101010101" pitchFamily="2" charset="-122"/>
              </a:rPr>
              <a:t>        </a:t>
            </a:r>
            <a:r>
              <a:rPr lang="zh-CN" altLang="en-US" sz="2520" dirty="0">
                <a:latin typeface="Tahoma" panose="020B0604030504040204" pitchFamily="34" charset="0"/>
                <a:ea typeface="华文中宋" panose="02010600040101010101" pitchFamily="2" charset="-122"/>
              </a:rPr>
              <a:t>表达式</a:t>
            </a:r>
            <a:r>
              <a:rPr lang="en-US" altLang="zh-CN" sz="2520" dirty="0">
                <a:latin typeface="Tahoma" panose="020B0604030504040204" pitchFamily="34" charset="0"/>
                <a:ea typeface="华文中宋" panose="02010600040101010101" pitchFamily="2" charset="-122"/>
              </a:rPr>
              <a:t>2 </a:t>
            </a:r>
          </a:p>
          <a:p>
            <a:pPr eaLnBrk="1" hangingPunct="1">
              <a:spcBef>
                <a:spcPts val="20"/>
              </a:spcBef>
              <a:spcAft>
                <a:spcPts val="0"/>
              </a:spcAft>
              <a:buClr>
                <a:schemeClr val="hlink"/>
              </a:buClr>
              <a:buSzPct val="90000"/>
              <a:buFont typeface="Wingdings" panose="05000000000000000000" pitchFamily="2" charset="2"/>
            </a:pPr>
            <a:r>
              <a:rPr lang="en-US" altLang="x-none" sz="2520" dirty="0">
                <a:latin typeface="Tahoma" panose="020B0604030504040204" pitchFamily="34" charset="0"/>
                <a:ea typeface="华文中宋" panose="02010600040101010101" pitchFamily="2" charset="-122"/>
              </a:rPr>
              <a:t> </a:t>
            </a:r>
            <a:r>
              <a:rPr lang="en-US" altLang="zh-CN" sz="2520" dirty="0">
                <a:latin typeface="Tahoma" panose="020B0604030504040204" pitchFamily="34" charset="0"/>
                <a:ea typeface="华文中宋" panose="02010600040101010101" pitchFamily="2" charset="-122"/>
              </a:rPr>
              <a:t>else</a:t>
            </a:r>
          </a:p>
          <a:p>
            <a:pPr eaLnBrk="1" hangingPunct="1">
              <a:spcBef>
                <a:spcPts val="20"/>
              </a:spcBef>
              <a:buClr>
                <a:schemeClr val="hlink"/>
              </a:buClr>
              <a:buSzPct val="90000"/>
              <a:buFont typeface="Wingdings" panose="05000000000000000000" pitchFamily="2" charset="2"/>
            </a:pPr>
            <a:r>
              <a:rPr lang="en-US" altLang="x-none" sz="2520" dirty="0">
                <a:latin typeface="Tahoma" panose="020B0604030504040204" pitchFamily="34" charset="0"/>
                <a:ea typeface="华文中宋" panose="02010600040101010101" pitchFamily="2" charset="-122"/>
              </a:rPr>
              <a:t>       </a:t>
            </a:r>
            <a:r>
              <a:rPr lang="zh-CN" altLang="en-US" sz="2520" dirty="0">
                <a:latin typeface="Tahoma" panose="020B0604030504040204" pitchFamily="34" charset="0"/>
                <a:ea typeface="华文中宋" panose="02010600040101010101" pitchFamily="2" charset="-122"/>
              </a:rPr>
              <a:t>表达式</a:t>
            </a:r>
            <a:r>
              <a:rPr lang="en-US" altLang="zh-CN" sz="2520" dirty="0">
                <a:latin typeface="Tahoma" panose="020B0604030504040204" pitchFamily="34" charset="0"/>
                <a:ea typeface="华文中宋" panose="02010600040101010101" pitchFamily="2" charset="-122"/>
              </a:rPr>
              <a:t>3</a:t>
            </a:r>
            <a:endParaRPr lang="en-US" altLang="zh-CN" sz="2520" dirty="0">
              <a:latin typeface="Tahoma" panose="020B0604030504040204" pitchFamily="34" charset="0"/>
            </a:endParaRPr>
          </a:p>
        </p:txBody>
      </p:sp>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951230" y="1870075"/>
            <a:ext cx="9090025" cy="4276725"/>
          </a:xfrm>
          <a:prstGeom prst="rect">
            <a:avLst/>
          </a:prstGeom>
          <a:noFill/>
          <a:ln w="9525">
            <a:noFill/>
          </a:ln>
        </p:spPr>
        <p:txBody>
          <a:bodyPr wrap="square">
            <a:spAutoFit/>
          </a:bodyPr>
          <a:lstStyle/>
          <a:p>
            <a:pPr>
              <a:spcAft>
                <a:spcPts val="0"/>
              </a:spcAft>
            </a:pPr>
            <a:r>
              <a:rPr lang="en-US" sz="1600" b="1">
                <a:solidFill>
                  <a:srgbClr val="7F0055"/>
                </a:solidFill>
                <a:latin typeface="Consolas" panose="020B0609020204030204" charset="0"/>
                <a:ea typeface="宋体" panose="02010600030101010101" pitchFamily="2" charset="-122"/>
              </a:rPr>
              <a:t>import</a:t>
            </a:r>
            <a:r>
              <a:rPr lang="en-US" sz="1600">
                <a:solidFill>
                  <a:srgbClr val="000000"/>
                </a:solidFill>
                <a:latin typeface="Consolas" panose="020B0609020204030204" charset="0"/>
                <a:ea typeface="宋体" panose="02010600030101010101" pitchFamily="2" charset="-122"/>
              </a:rPr>
              <a:t> java.io.IOException;</a:t>
            </a:r>
            <a:endParaRPr lang="en-US" sz="1600" b="1">
              <a:solidFill>
                <a:srgbClr val="7F0055"/>
              </a:solidFill>
              <a:latin typeface="Consolas" panose="020B0609020204030204" charset="0"/>
              <a:ea typeface="宋体" panose="02010600030101010101" pitchFamily="2" charset="-122"/>
            </a:endParaRPr>
          </a:p>
          <a:p>
            <a:pPr>
              <a:spcAft>
                <a:spcPts val="0"/>
              </a:spcAft>
            </a:pPr>
            <a:r>
              <a:rPr lang="en-US" sz="1600" b="1">
                <a:solidFill>
                  <a:srgbClr val="7F0055"/>
                </a:solidFill>
                <a:latin typeface="Consolas" panose="020B0609020204030204" charset="0"/>
                <a:ea typeface="宋体" panose="02010600030101010101" pitchFamily="2" charset="-122"/>
              </a:rPr>
              <a:t>class</a:t>
            </a:r>
            <a:r>
              <a:rPr lang="en-US" sz="1600">
                <a:solidFill>
                  <a:srgbClr val="000000"/>
                </a:solidFill>
                <a:latin typeface="Consolas" panose="020B0609020204030204" charset="0"/>
                <a:ea typeface="宋体" panose="02010600030101010101" pitchFamily="2" charset="-122"/>
              </a:rPr>
              <a:t> Test {</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public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static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void</a:t>
            </a:r>
            <a:r>
              <a:rPr lang="en-US" sz="1600">
                <a:solidFill>
                  <a:srgbClr val="000000"/>
                </a:solidFill>
                <a:latin typeface="Consolas" panose="020B0609020204030204" charset="0"/>
                <a:ea typeface="宋体" panose="02010600030101010101" pitchFamily="2" charset="-122"/>
              </a:rPr>
              <a:t> main(String </a:t>
            </a:r>
            <a:r>
              <a:rPr lang="en-US" sz="1600">
                <a:solidFill>
                  <a:srgbClr val="6A3E3E"/>
                </a:solidFill>
                <a:latin typeface="Consolas" panose="020B0609020204030204" charset="0"/>
                <a:ea typeface="宋体" panose="02010600030101010101" pitchFamily="2" charset="-122"/>
              </a:rPr>
              <a:t>args</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throws</a:t>
            </a:r>
            <a:r>
              <a:rPr lang="en-US" sz="1600">
                <a:solidFill>
                  <a:srgbClr val="000000"/>
                </a:solidFill>
                <a:latin typeface="Consolas" panose="020B0609020204030204" charset="0"/>
                <a:ea typeface="宋体" panose="02010600030101010101" pitchFamily="2" charset="-122"/>
              </a:rPr>
              <a:t> IOException {</a:t>
            </a:r>
          </a:p>
          <a:p>
            <a:pPr>
              <a:spcAft>
                <a:spcPts val="0"/>
              </a:spcAft>
            </a:pP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zh-CN" sz="1600">
                <a:solidFill>
                  <a:srgbClr val="2A00FF"/>
                </a:solidFill>
                <a:ea typeface="宋体" panose="02010600030101010101" pitchFamily="2" charset="-122"/>
              </a:rPr>
              <a:t>"中国足球能否进入世界杯?"</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zh-CN" sz="1600">
                <a:solidFill>
                  <a:srgbClr val="2A00FF"/>
                </a:solidFill>
                <a:ea typeface="宋体" panose="02010600030101010101" pitchFamily="2" charset="-122"/>
              </a:rPr>
              <a:t>"是(y) 否(n) 不一定(p)"</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a:solidFill>
                  <a:srgbClr val="3F7F5F"/>
                </a:solidFill>
                <a:latin typeface="Consolas" panose="020B0609020204030204" charset="0"/>
                <a:ea typeface="宋体" panose="02010600030101010101" pitchFamily="2" charset="-122"/>
              </a:rPr>
              <a:t>//Scanner </a:t>
            </a:r>
            <a:r>
              <a:rPr lang="en-US" sz="1600" u="sng">
                <a:solidFill>
                  <a:srgbClr val="3F7F5F"/>
                </a:solidFill>
                <a:latin typeface="Consolas" panose="020B0609020204030204" charset="0"/>
                <a:ea typeface="宋体" panose="02010600030101010101" pitchFamily="2" charset="-122"/>
              </a:rPr>
              <a:t>si</a:t>
            </a:r>
            <a:r>
              <a:rPr lang="en-US" sz="1600">
                <a:solidFill>
                  <a:srgbClr val="3F7F5F"/>
                </a:solidFill>
                <a:latin typeface="Consolas" panose="020B0609020204030204" charset="0"/>
                <a:ea typeface="宋体" panose="02010600030101010101" pitchFamily="2" charset="-122"/>
              </a:rPr>
              <a:t>=new Scanner(System.in);</a:t>
            </a:r>
            <a:endParaRPr lang="en-US" sz="1600">
              <a:solidFill>
                <a:srgbClr val="000000"/>
              </a:solidFill>
              <a:latin typeface="Consolas" panose="020B0609020204030204" charset="0"/>
              <a:ea typeface="宋体" panose="02010600030101010101" pitchFamily="2" charset="-122"/>
            </a:endParaRP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char</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c</a:t>
            </a:r>
            <a:r>
              <a:rPr lang="en-US" sz="1600">
                <a:solidFill>
                  <a:srgbClr val="000000"/>
                </a:solidFill>
                <a:latin typeface="Consolas" panose="020B0609020204030204" charset="0"/>
                <a:ea typeface="宋体" panose="02010600030101010101" pitchFamily="2" charset="-122"/>
              </a:rPr>
              <a:t> = (</a:t>
            </a:r>
            <a:r>
              <a:rPr lang="en-US" sz="1600" b="1">
                <a:solidFill>
                  <a:srgbClr val="7F0055"/>
                </a:solidFill>
                <a:latin typeface="Consolas" panose="020B0609020204030204" charset="0"/>
                <a:ea typeface="宋体" panose="02010600030101010101" pitchFamily="2" charset="-122"/>
              </a:rPr>
              <a:t>char</a:t>
            </a:r>
            <a:r>
              <a:rPr lang="en-US" sz="1600">
                <a:solidFill>
                  <a:srgbClr val="000000"/>
                </a:solidFill>
                <a:latin typeface="Consolas" panose="020B0609020204030204" charset="0"/>
                <a:ea typeface="宋体" panose="02010600030101010101" pitchFamily="2" charset="-122"/>
              </a:rPr>
              <a:t>)System.</a:t>
            </a:r>
            <a:r>
              <a:rPr lang="en-US" sz="1600" b="1" i="1">
                <a:solidFill>
                  <a:srgbClr val="0000C0"/>
                </a:solidFill>
                <a:latin typeface="Consolas" panose="020B0609020204030204" charset="0"/>
                <a:ea typeface="宋体" panose="02010600030101010101" pitchFamily="2" charset="-122"/>
              </a:rPr>
              <a:t>in</a:t>
            </a:r>
            <a:r>
              <a:rPr lang="en-US" sz="1600">
                <a:solidFill>
                  <a:srgbClr val="000000"/>
                </a:solidFill>
                <a:latin typeface="Consolas" panose="020B0609020204030204" charset="0"/>
                <a:ea typeface="宋体" panose="02010600030101010101" pitchFamily="2" charset="-122"/>
              </a:rPr>
              <a:t>.read();</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if</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c</a:t>
            </a:r>
            <a:r>
              <a:rPr lang="en-US" sz="1600">
                <a:solidFill>
                  <a:srgbClr val="000000"/>
                </a:solidFill>
                <a:latin typeface="Consolas" panose="020B0609020204030204" charset="0"/>
                <a:ea typeface="宋体" panose="02010600030101010101" pitchFamily="2" charset="-122"/>
              </a:rPr>
              <a:t> == </a:t>
            </a:r>
            <a:r>
              <a:rPr lang="en-US" sz="1600">
                <a:solidFill>
                  <a:srgbClr val="2A00FF"/>
                </a:solidFill>
                <a:latin typeface="Consolas" panose="020B0609020204030204" charset="0"/>
                <a:ea typeface="宋体" panose="02010600030101010101" pitchFamily="2" charset="-122"/>
              </a:rPr>
              <a:t>'y'</a:t>
            </a:r>
            <a:r>
              <a:rPr lang="en-US" sz="1600">
                <a:solidFill>
                  <a:srgbClr val="000000"/>
                </a:solidFill>
                <a:latin typeface="Consolas" panose="020B0609020204030204" charset="0"/>
                <a:ea typeface="宋体" panose="02010600030101010101" pitchFamily="2" charset="-122"/>
              </a:rPr>
              <a:t>)			        	</a:t>
            </a:r>
          </a:p>
          <a:p>
            <a:pPr>
              <a:spcAft>
                <a:spcPts val="0"/>
              </a:spcAft>
            </a:pP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en-US" sz="1600">
                <a:solidFill>
                  <a:srgbClr val="2A00FF"/>
                </a:solidFill>
                <a:latin typeface="Consolas" panose="020B0609020204030204" charset="0"/>
                <a:ea typeface="宋体" panose="02010600030101010101" pitchFamily="2" charset="-122"/>
              </a:rPr>
              <a:t>"Cool"</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else</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if</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c</a:t>
            </a:r>
            <a:r>
              <a:rPr lang="en-US" sz="1600">
                <a:solidFill>
                  <a:srgbClr val="000000"/>
                </a:solidFill>
                <a:latin typeface="Consolas" panose="020B0609020204030204" charset="0"/>
                <a:ea typeface="宋体" panose="02010600030101010101" pitchFamily="2" charset="-122"/>
              </a:rPr>
              <a:t> == </a:t>
            </a:r>
            <a:r>
              <a:rPr lang="en-US" sz="1600">
                <a:solidFill>
                  <a:srgbClr val="2A00FF"/>
                </a:solidFill>
                <a:latin typeface="Consolas" panose="020B0609020204030204" charset="0"/>
                <a:ea typeface="宋体" panose="02010600030101010101" pitchFamily="2" charset="-122"/>
              </a:rPr>
              <a:t>'n'</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en-US" sz="1600">
                <a:solidFill>
                  <a:srgbClr val="2A00FF"/>
                </a:solidFill>
                <a:latin typeface="Consolas" panose="020B0609020204030204" charset="0"/>
                <a:ea typeface="宋体" panose="02010600030101010101" pitchFamily="2" charset="-122"/>
              </a:rPr>
              <a:t>"Bad"</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else</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if</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c</a:t>
            </a:r>
            <a:r>
              <a:rPr lang="en-US" sz="1600">
                <a:solidFill>
                  <a:srgbClr val="000000"/>
                </a:solidFill>
                <a:latin typeface="Consolas" panose="020B0609020204030204" charset="0"/>
                <a:ea typeface="宋体" panose="02010600030101010101" pitchFamily="2" charset="-122"/>
              </a:rPr>
              <a:t> == </a:t>
            </a:r>
            <a:r>
              <a:rPr lang="en-US" sz="1600">
                <a:solidFill>
                  <a:srgbClr val="2A00FF"/>
                </a:solidFill>
                <a:latin typeface="Consolas" panose="020B0609020204030204" charset="0"/>
                <a:ea typeface="宋体" panose="02010600030101010101" pitchFamily="2" charset="-122"/>
              </a:rPr>
              <a:t>'p'</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en-US" sz="1600">
                <a:solidFill>
                  <a:srgbClr val="2A00FF"/>
                </a:solidFill>
                <a:latin typeface="Consolas" panose="020B0609020204030204" charset="0"/>
                <a:ea typeface="宋体" panose="02010600030101010101" pitchFamily="2" charset="-122"/>
              </a:rPr>
              <a:t>"Sorry"</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else</a:t>
            </a:r>
            <a:r>
              <a:rPr lang="en-US" sz="1600">
                <a:solidFill>
                  <a:srgbClr val="000000"/>
                </a:solidFill>
                <a:latin typeface="Consolas" panose="020B0609020204030204" charset="0"/>
                <a:ea typeface="宋体" panose="02010600030101010101" pitchFamily="2" charset="-122"/>
              </a:rPr>
              <a:t> </a:t>
            </a:r>
          </a:p>
          <a:p>
            <a:pPr>
              <a:spcAft>
                <a:spcPts val="0"/>
              </a:spcAft>
            </a:pP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en-US" sz="1600">
                <a:solidFill>
                  <a:srgbClr val="2A00FF"/>
                </a:solidFill>
                <a:latin typeface="Consolas" panose="020B0609020204030204" charset="0"/>
                <a:ea typeface="宋体" panose="02010600030101010101" pitchFamily="2" charset="-122"/>
              </a:rPr>
              <a:t>"Input Error"</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p>
          <a:p>
            <a:pPr>
              <a:spcAft>
                <a:spcPts val="0"/>
              </a:spcAft>
            </a:pPr>
            <a:r>
              <a:rPr lang="en-US" sz="1600">
                <a:solidFill>
                  <a:srgbClr val="000000"/>
                </a:solidFill>
                <a:latin typeface="Consolas" panose="020B0609020204030204" charset="0"/>
                <a:ea typeface="宋体" panose="02010600030101010101" pitchFamily="2" charset="-122"/>
              </a:rPr>
              <a:t>}</a:t>
            </a:r>
            <a:endParaRPr lang="en-US" altLang="en-US" sz="1600">
              <a:solidFill>
                <a:srgbClr val="000000"/>
              </a:solidFill>
              <a:latin typeface="Consolas" panose="020B0609020204030204" charset="0"/>
              <a:ea typeface="宋体" panose="02010600030101010101" pitchFamily="2" charset="-122"/>
            </a:endParaRPr>
          </a:p>
        </p:txBody>
      </p:sp>
      <p:sp>
        <p:nvSpPr>
          <p:cNvPr id="82946"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条件选择语句</a:t>
            </a:r>
          </a:p>
        </p:txBody>
      </p:sp>
      <p:sp>
        <p:nvSpPr>
          <p:cNvPr id="82947" name="Rectangle 3"/>
          <p:cNvSpPr>
            <a:spLocks noGrp="1"/>
          </p:cNvSpPr>
          <p:nvPr>
            <p:ph idx="1"/>
          </p:nvPr>
        </p:nvSpPr>
        <p:spPr/>
        <p:txBody>
          <a:bodyPr vert="horz" wrap="square" lIns="96011" tIns="48005" rIns="96011" bIns="48005" anchor="t">
            <a:normAutofit/>
          </a:bodyPr>
          <a:lstStyle/>
          <a:p>
            <a:pPr marL="609600" indent="-609600" eaLnBrk="1" hangingPunct="1">
              <a:lnSpc>
                <a:spcPct val="90000"/>
              </a:lnSpc>
              <a:spcAft>
                <a:spcPts val="0"/>
              </a:spcAft>
              <a:buSzPct val="90000"/>
            </a:pPr>
            <a:r>
              <a:rPr lang="zh-CN" altLang="en-US" dirty="0"/>
              <a:t>示例</a:t>
            </a:r>
            <a:endParaRPr lang="zh-CN" altLang="en-US" dirty="0">
              <a:solidFill>
                <a:schemeClr val="hlink"/>
              </a:solidFill>
            </a:endParaRPr>
          </a:p>
          <a:p>
            <a:pPr marL="990600" lvl="1" indent="-533400" eaLnBrk="1" hangingPunct="1">
              <a:lnSpc>
                <a:spcPct val="90000"/>
              </a:lnSpc>
              <a:buSzPct val="90000"/>
              <a:buNone/>
            </a:pPr>
            <a:endParaRPr lang="en-US" altLang="zh-CN" sz="2100" dirty="0">
              <a:latin typeface="Tahoma" panose="020B0604030504040204" pitchFamily="34" charset="0"/>
            </a:endParaRPr>
          </a:p>
        </p:txBody>
      </p:sp>
      <p:sp>
        <p:nvSpPr>
          <p:cNvPr id="82948" name="Rectangle 4"/>
          <p:cNvSpPr/>
          <p:nvPr/>
        </p:nvSpPr>
        <p:spPr>
          <a:xfrm>
            <a:off x="6936740" y="3358515"/>
            <a:ext cx="3280410" cy="1680210"/>
          </a:xfrm>
          <a:prstGeom prst="rect">
            <a:avLst/>
          </a:prstGeom>
          <a:solidFill>
            <a:schemeClr val="bg1"/>
          </a:solidFill>
          <a:ln w="9525">
            <a:noFill/>
          </a:ln>
        </p:spPr>
        <p:txBody>
          <a:bodyPr wrap="none" anchor="ctr"/>
          <a:lstStyle/>
          <a:p>
            <a:pPr eaLnBrk="1" hangingPunct="1">
              <a:spcAft>
                <a:spcPts val="0"/>
              </a:spcAft>
            </a:pPr>
            <a:r>
              <a:rPr lang="zh-CN" altLang="en-US" sz="2520" dirty="0">
                <a:latin typeface="宋体" panose="02010600030101010101" pitchFamily="2" charset="-122"/>
              </a:rPr>
              <a:t>逐条</a:t>
            </a:r>
            <a:r>
              <a:rPr lang="en-US" altLang="zh-CN" sz="2520" dirty="0">
                <a:latin typeface="宋体" panose="02010600030101010101" pitchFamily="2" charset="-122"/>
              </a:rPr>
              <a:t>if</a:t>
            </a:r>
            <a:r>
              <a:rPr lang="zh-CN" altLang="en-US" sz="2520" dirty="0">
                <a:latin typeface="宋体" panose="02010600030101010101" pitchFamily="2" charset="-122"/>
              </a:rPr>
              <a:t>语句进行判断</a:t>
            </a:r>
          </a:p>
          <a:p>
            <a:pPr eaLnBrk="1" hangingPunct="1">
              <a:spcBef>
                <a:spcPts val="0"/>
              </a:spcBef>
              <a:spcAft>
                <a:spcPts val="0"/>
              </a:spcAft>
            </a:pPr>
            <a:r>
              <a:rPr lang="zh-CN" altLang="en-US" sz="2520" dirty="0">
                <a:latin typeface="宋体" panose="02010600030101010101" pitchFamily="2" charset="-122"/>
              </a:rPr>
              <a:t>条件匹配，进入语句体</a:t>
            </a:r>
          </a:p>
          <a:p>
            <a:pPr eaLnBrk="1" hangingPunct="1">
              <a:spcBef>
                <a:spcPts val="0"/>
              </a:spcBef>
            </a:pPr>
            <a:r>
              <a:rPr lang="zh-CN" altLang="en-US" sz="2520" dirty="0">
                <a:latin typeface="宋体" panose="02010600030101010101" pitchFamily="2" charset="-122"/>
              </a:rPr>
              <a:t>否则对</a:t>
            </a:r>
            <a:r>
              <a:rPr lang="en-US" altLang="zh-CN" sz="2520" dirty="0">
                <a:latin typeface="宋体" panose="02010600030101010101" pitchFamily="2" charset="-122"/>
              </a:rPr>
              <a:t>if</a:t>
            </a:r>
            <a:r>
              <a:rPr lang="zh-CN" altLang="en-US" sz="2520" dirty="0">
                <a:latin typeface="宋体" panose="02010600030101010101" pitchFamily="2" charset="-122"/>
              </a:rPr>
              <a:t>语句继续匹配</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82948"/>
                                        </p:tgtEl>
                                        <p:attrNameLst>
                                          <p:attrName>style.visibility</p:attrName>
                                        </p:attrNameLst>
                                      </p:cBhvr>
                                      <p:to>
                                        <p:strVal val="visible"/>
                                      </p:to>
                                    </p:set>
                                    <p:animEffect transition="in" filter="barn(outHorizontal)">
                                      <p:cBhvr>
                                        <p:cTn id="7" dur="500"/>
                                        <p:tgtEl>
                                          <p:spTgt spid="82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p:txBody>
          <a:bodyPr vert="horz" wrap="square" lIns="96011" tIns="48005" rIns="96011" bIns="48005" anchor="ctr"/>
          <a:lstStyle/>
          <a:p>
            <a:pPr eaLnBrk="1" hangingPunct="1">
              <a:spcAft>
                <a:spcPts val="0"/>
              </a:spcAft>
            </a:pPr>
            <a:r>
              <a:rPr lang="en-US" altLang="zh-CN" dirty="0"/>
              <a:t>switch/</a:t>
            </a:r>
            <a:r>
              <a:rPr lang="zh-CN" altLang="en-US" dirty="0"/>
              <a:t>开关语句</a:t>
            </a:r>
          </a:p>
        </p:txBody>
      </p:sp>
      <p:sp>
        <p:nvSpPr>
          <p:cNvPr id="84995" name="Rectangle 3"/>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语法</a:t>
            </a:r>
          </a:p>
          <a:p>
            <a:pPr marL="609600" indent="-609600" eaLnBrk="1" hangingPunct="1">
              <a:spcBef>
                <a:spcPts val="20"/>
              </a:spcBef>
              <a:spcAft>
                <a:spcPts val="0"/>
              </a:spcAft>
              <a:buSzPct val="90000"/>
              <a:buNone/>
            </a:pPr>
            <a:r>
              <a:rPr lang="zh-CN" altLang="en-US" dirty="0"/>
              <a:t>	</a:t>
            </a:r>
            <a:r>
              <a:rPr lang="en-US" altLang="zh-CN" sz="2520" dirty="0"/>
              <a:t>switch (</a:t>
            </a:r>
            <a:r>
              <a:rPr lang="zh-CN" altLang="en-US" sz="2520" dirty="0"/>
              <a:t>表达式</a:t>
            </a:r>
            <a:r>
              <a:rPr lang="en-US" altLang="zh-CN" sz="2520" dirty="0"/>
              <a:t>) {</a:t>
            </a:r>
          </a:p>
          <a:p>
            <a:pPr marL="609600" indent="-609600" eaLnBrk="1" hangingPunct="1">
              <a:spcBef>
                <a:spcPts val="20"/>
              </a:spcBef>
              <a:spcAft>
                <a:spcPts val="0"/>
              </a:spcAft>
              <a:buSzPct val="90000"/>
              <a:buNone/>
            </a:pPr>
            <a:r>
              <a:rPr lang="en-US" altLang="x-none" sz="2520" dirty="0"/>
              <a:t>	    </a:t>
            </a:r>
            <a:r>
              <a:rPr lang="en-US" altLang="zh-CN" sz="2520" dirty="0"/>
              <a:t>case </a:t>
            </a:r>
            <a:r>
              <a:rPr lang="zh-CN" altLang="en-US" sz="2520" dirty="0"/>
              <a:t>值</a:t>
            </a:r>
            <a:r>
              <a:rPr lang="en-US" altLang="zh-CN" sz="2520" dirty="0"/>
              <a:t>1:  </a:t>
            </a:r>
            <a:r>
              <a:rPr lang="zh-CN" altLang="en-US" sz="2520" dirty="0"/>
              <a:t>语句序列</a:t>
            </a:r>
            <a:r>
              <a:rPr lang="en-US" altLang="zh-CN" sz="2520" dirty="0"/>
              <a:t>;</a:t>
            </a:r>
          </a:p>
          <a:p>
            <a:pPr marL="609600" indent="-609600" eaLnBrk="1" hangingPunct="1">
              <a:spcBef>
                <a:spcPts val="20"/>
              </a:spcBef>
              <a:spcAft>
                <a:spcPts val="0"/>
              </a:spcAft>
              <a:buSzPct val="90000"/>
              <a:buNone/>
            </a:pPr>
            <a:r>
              <a:rPr lang="en-US" altLang="x-none" sz="2520" dirty="0"/>
              <a:t>                        </a:t>
            </a:r>
            <a:r>
              <a:rPr lang="en-US" altLang="zh-CN" sz="2520" dirty="0"/>
              <a:t>[break];</a:t>
            </a:r>
          </a:p>
          <a:p>
            <a:pPr marL="609600" indent="-609600" eaLnBrk="1" hangingPunct="1">
              <a:spcBef>
                <a:spcPts val="20"/>
              </a:spcBef>
              <a:spcAft>
                <a:spcPts val="0"/>
              </a:spcAft>
              <a:buSzPct val="90000"/>
              <a:buNone/>
            </a:pPr>
            <a:r>
              <a:rPr lang="en-US" altLang="x-none" sz="2520" dirty="0"/>
              <a:t>	    </a:t>
            </a:r>
            <a:r>
              <a:rPr lang="en-US" altLang="zh-CN" sz="2520" dirty="0"/>
              <a:t>case </a:t>
            </a:r>
            <a:r>
              <a:rPr lang="zh-CN" altLang="en-US" sz="2520" dirty="0"/>
              <a:t>值</a:t>
            </a:r>
            <a:r>
              <a:rPr lang="en-US" altLang="zh-CN" sz="2520" dirty="0"/>
              <a:t>2:  </a:t>
            </a:r>
            <a:r>
              <a:rPr lang="zh-CN" altLang="en-US" sz="2520" dirty="0"/>
              <a:t>语句序列</a:t>
            </a:r>
            <a:r>
              <a:rPr lang="en-US" altLang="zh-CN" sz="2520" dirty="0"/>
              <a:t>;</a:t>
            </a:r>
          </a:p>
          <a:p>
            <a:pPr marL="609600" indent="-609600" eaLnBrk="1" hangingPunct="1">
              <a:spcBef>
                <a:spcPts val="20"/>
              </a:spcBef>
              <a:spcAft>
                <a:spcPts val="0"/>
              </a:spcAft>
              <a:buSzPct val="90000"/>
              <a:buNone/>
            </a:pPr>
            <a:r>
              <a:rPr lang="en-US" altLang="x-none" sz="2520" dirty="0"/>
              <a:t>                         </a:t>
            </a:r>
            <a:r>
              <a:rPr lang="en-US" altLang="zh-CN" sz="2520" dirty="0"/>
              <a:t>[break];</a:t>
            </a:r>
          </a:p>
          <a:p>
            <a:pPr marL="609600" indent="-609600" eaLnBrk="1" hangingPunct="1">
              <a:spcBef>
                <a:spcPts val="20"/>
              </a:spcBef>
              <a:spcAft>
                <a:spcPts val="0"/>
              </a:spcAft>
              <a:buSzPct val="90000"/>
              <a:buNone/>
            </a:pPr>
            <a:r>
              <a:rPr lang="en-US" altLang="x-none" sz="2520" dirty="0"/>
              <a:t>	     </a:t>
            </a:r>
            <a:r>
              <a:rPr lang="en-US" altLang="zh-CN" sz="2520" dirty="0"/>
              <a:t>… … …      … …</a:t>
            </a:r>
          </a:p>
          <a:p>
            <a:pPr marL="609600" indent="-609600" eaLnBrk="1" hangingPunct="1">
              <a:spcBef>
                <a:spcPts val="20"/>
              </a:spcBef>
              <a:spcAft>
                <a:spcPts val="0"/>
              </a:spcAft>
              <a:buSzPct val="90000"/>
              <a:buNone/>
            </a:pPr>
            <a:r>
              <a:rPr lang="en-US" altLang="x-none" sz="2520" dirty="0"/>
              <a:t>	    </a:t>
            </a:r>
            <a:r>
              <a:rPr lang="en-US" altLang="zh-CN" sz="2520" dirty="0"/>
              <a:t>[default: </a:t>
            </a:r>
            <a:r>
              <a:rPr lang="zh-CN" altLang="en-US" sz="2520" dirty="0"/>
              <a:t>默认语句</a:t>
            </a:r>
            <a:r>
              <a:rPr lang="en-US" altLang="zh-CN" sz="2520" dirty="0"/>
              <a:t>;]</a:t>
            </a:r>
          </a:p>
          <a:p>
            <a:pPr marL="609600" indent="-609600" eaLnBrk="1" hangingPunct="1">
              <a:spcBef>
                <a:spcPts val="20"/>
              </a:spcBef>
              <a:buSzPct val="90000"/>
              <a:buNone/>
            </a:pPr>
            <a:r>
              <a:rPr lang="en-US" altLang="x-none" sz="2520" dirty="0"/>
              <a:t>    </a:t>
            </a:r>
            <a:r>
              <a:rPr lang="en-US" altLang="zh-CN" sz="2520" dirty="0"/>
              <a:t>}</a:t>
            </a:r>
          </a:p>
        </p:txBody>
      </p:sp>
      <p:grpSp>
        <p:nvGrpSpPr>
          <p:cNvPr id="83972" name="Group 4"/>
          <p:cNvGrpSpPr/>
          <p:nvPr/>
        </p:nvGrpSpPr>
        <p:grpSpPr>
          <a:xfrm>
            <a:off x="6787515" y="1908810"/>
            <a:ext cx="3346450" cy="3491865"/>
            <a:chOff x="0" y="0"/>
            <a:chExt cx="2352" cy="2592"/>
          </a:xfrm>
        </p:grpSpPr>
        <p:sp>
          <p:nvSpPr>
            <p:cNvPr id="83973" name="Rectangle 5"/>
            <p:cNvSpPr/>
            <p:nvPr/>
          </p:nvSpPr>
          <p:spPr>
            <a:xfrm>
              <a:off x="0" y="0"/>
              <a:ext cx="2352" cy="2592"/>
            </a:xfrm>
            <a:prstGeom prst="rect">
              <a:avLst/>
            </a:prstGeom>
            <a:solidFill>
              <a:schemeClr val="bg1"/>
            </a:solidFill>
            <a:ln w="9525">
              <a:noFill/>
            </a:ln>
          </p:spPr>
          <p:txBody>
            <a:bodyPr wrap="none" anchor="ctr"/>
            <a:lstStyle/>
            <a:p>
              <a:pPr eaLnBrk="1" hangingPunct="1"/>
              <a:endParaRPr lang="zh-CN" altLang="en-US" sz="1800" dirty="0">
                <a:latin typeface="Arial" panose="020B0604020202020204" pitchFamily="34" charset="0"/>
              </a:endParaRPr>
            </a:p>
          </p:txBody>
        </p:sp>
        <p:sp>
          <p:nvSpPr>
            <p:cNvPr id="83974" name="Line 6"/>
            <p:cNvSpPr/>
            <p:nvPr/>
          </p:nvSpPr>
          <p:spPr>
            <a:xfrm>
              <a:off x="1104" y="48"/>
              <a:ext cx="0" cy="192"/>
            </a:xfrm>
            <a:prstGeom prst="line">
              <a:avLst/>
            </a:prstGeom>
            <a:ln w="9525" cap="flat" cmpd="sng">
              <a:solidFill>
                <a:schemeClr val="tx1"/>
              </a:solidFill>
              <a:prstDash val="solid"/>
              <a:headEnd type="none" w="med" len="med"/>
              <a:tailEnd type="triangle" w="med" len="med"/>
            </a:ln>
          </p:spPr>
        </p:sp>
        <p:sp>
          <p:nvSpPr>
            <p:cNvPr id="83975" name="Line 7"/>
            <p:cNvSpPr/>
            <p:nvPr/>
          </p:nvSpPr>
          <p:spPr>
            <a:xfrm>
              <a:off x="1104" y="528"/>
              <a:ext cx="0" cy="192"/>
            </a:xfrm>
            <a:prstGeom prst="line">
              <a:avLst/>
            </a:prstGeom>
            <a:ln w="9525" cap="flat" cmpd="sng">
              <a:solidFill>
                <a:schemeClr val="tx1"/>
              </a:solidFill>
              <a:prstDash val="solid"/>
              <a:headEnd type="none" w="med" len="med"/>
              <a:tailEnd type="triangle" w="med" len="med"/>
            </a:ln>
          </p:spPr>
        </p:sp>
        <p:sp>
          <p:nvSpPr>
            <p:cNvPr id="83976" name="Line 8"/>
            <p:cNvSpPr/>
            <p:nvPr/>
          </p:nvSpPr>
          <p:spPr>
            <a:xfrm>
              <a:off x="1104" y="2208"/>
              <a:ext cx="0" cy="240"/>
            </a:xfrm>
            <a:prstGeom prst="line">
              <a:avLst/>
            </a:prstGeom>
            <a:ln w="9525" cap="flat" cmpd="sng">
              <a:solidFill>
                <a:schemeClr val="tx1"/>
              </a:solidFill>
              <a:prstDash val="solid"/>
              <a:headEnd type="none" w="med" len="med"/>
              <a:tailEnd type="triangle" w="med" len="med"/>
            </a:ln>
          </p:spPr>
        </p:sp>
        <p:sp>
          <p:nvSpPr>
            <p:cNvPr id="83977" name="Rectangle 9"/>
            <p:cNvSpPr/>
            <p:nvPr/>
          </p:nvSpPr>
          <p:spPr>
            <a:xfrm>
              <a:off x="1152" y="2256"/>
              <a:ext cx="768" cy="288"/>
            </a:xfrm>
            <a:prstGeom prst="rect">
              <a:avLst/>
            </a:prstGeom>
            <a:noFill/>
            <a:ln w="9525">
              <a:noFill/>
            </a:ln>
          </p:spPr>
          <p:txBody>
            <a:bodyPr wrap="none" anchor="ctr"/>
            <a:lstStyle/>
            <a:p>
              <a:pPr algn="ctr" eaLnBrk="1" hangingPunct="1"/>
              <a:r>
                <a:rPr lang="zh-CN" altLang="en-US" dirty="0">
                  <a:latin typeface="Tahoma" panose="020B0604030504040204" pitchFamily="34" charset="0"/>
                  <a:ea typeface="华文中宋" panose="02010600040101010101" pitchFamily="2" charset="-122"/>
                </a:rPr>
                <a:t>流程图</a:t>
              </a:r>
            </a:p>
          </p:txBody>
        </p:sp>
        <p:sp>
          <p:nvSpPr>
            <p:cNvPr id="83978" name="Rectangle 10"/>
            <p:cNvSpPr/>
            <p:nvPr/>
          </p:nvSpPr>
          <p:spPr>
            <a:xfrm>
              <a:off x="720" y="240"/>
              <a:ext cx="816"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dirty="0">
                  <a:latin typeface="Tahoma" panose="020B0604030504040204" pitchFamily="34" charset="0"/>
                  <a:ea typeface="华文中宋" panose="02010600040101010101" pitchFamily="2" charset="-122"/>
                </a:rPr>
                <a:t>表达式</a:t>
              </a:r>
            </a:p>
          </p:txBody>
        </p:sp>
        <p:sp>
          <p:nvSpPr>
            <p:cNvPr id="83979" name="Rectangle 11"/>
            <p:cNvSpPr/>
            <p:nvPr/>
          </p:nvSpPr>
          <p:spPr>
            <a:xfrm>
              <a:off x="0" y="960"/>
              <a:ext cx="480" cy="480"/>
            </a:xfrm>
            <a:prstGeom prst="rect">
              <a:avLst/>
            </a:prstGeom>
            <a:no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dirty="0">
                  <a:latin typeface="Tahoma" panose="020B0604030504040204" pitchFamily="34" charset="0"/>
                  <a:ea typeface="华文中宋" panose="02010600040101010101" pitchFamily="2" charset="-122"/>
                </a:rPr>
                <a:t>语句</a:t>
              </a:r>
            </a:p>
            <a:p>
              <a:pPr algn="ctr" eaLnBrk="1" hangingPunct="1"/>
              <a:r>
                <a:rPr lang="zh-CN" altLang="en-US" dirty="0">
                  <a:latin typeface="Tahoma" panose="020B0604030504040204" pitchFamily="34" charset="0"/>
                  <a:ea typeface="华文中宋" panose="02010600040101010101" pitchFamily="2" charset="-122"/>
                </a:rPr>
                <a:t>序列</a:t>
              </a:r>
              <a:r>
                <a:rPr lang="en-US" altLang="zh-CN" dirty="0">
                  <a:latin typeface="Tahoma" panose="020B0604030504040204" pitchFamily="34" charset="0"/>
                  <a:ea typeface="华文中宋" panose="02010600040101010101" pitchFamily="2" charset="-122"/>
                </a:rPr>
                <a:t>1</a:t>
              </a:r>
            </a:p>
          </p:txBody>
        </p:sp>
        <p:sp>
          <p:nvSpPr>
            <p:cNvPr id="83980" name="Line 12"/>
            <p:cNvSpPr/>
            <p:nvPr/>
          </p:nvSpPr>
          <p:spPr>
            <a:xfrm>
              <a:off x="288" y="720"/>
              <a:ext cx="1776" cy="0"/>
            </a:xfrm>
            <a:prstGeom prst="line">
              <a:avLst/>
            </a:prstGeom>
            <a:ln w="9525" cap="flat" cmpd="sng">
              <a:solidFill>
                <a:schemeClr val="tx1"/>
              </a:solidFill>
              <a:prstDash val="solid"/>
              <a:headEnd type="none" w="med" len="med"/>
              <a:tailEnd type="none" w="med" len="med"/>
            </a:ln>
          </p:spPr>
        </p:sp>
        <p:sp>
          <p:nvSpPr>
            <p:cNvPr id="83981" name="Rectangle 13"/>
            <p:cNvSpPr/>
            <p:nvPr/>
          </p:nvSpPr>
          <p:spPr>
            <a:xfrm>
              <a:off x="720" y="960"/>
              <a:ext cx="480" cy="480"/>
            </a:xfrm>
            <a:prstGeom prst="rect">
              <a:avLst/>
            </a:prstGeom>
            <a:no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dirty="0">
                  <a:latin typeface="Tahoma" panose="020B0604030504040204" pitchFamily="34" charset="0"/>
                  <a:ea typeface="华文中宋" panose="02010600040101010101" pitchFamily="2" charset="-122"/>
                </a:rPr>
                <a:t>语句</a:t>
              </a:r>
            </a:p>
            <a:p>
              <a:pPr algn="ctr" eaLnBrk="1" hangingPunct="1"/>
              <a:r>
                <a:rPr lang="zh-CN" altLang="en-US" dirty="0">
                  <a:latin typeface="Tahoma" panose="020B0604030504040204" pitchFamily="34" charset="0"/>
                  <a:ea typeface="华文中宋" panose="02010600040101010101" pitchFamily="2" charset="-122"/>
                </a:rPr>
                <a:t>序列</a:t>
              </a:r>
              <a:r>
                <a:rPr lang="en-US" altLang="zh-CN" dirty="0">
                  <a:latin typeface="Tahoma" panose="020B0604030504040204" pitchFamily="34" charset="0"/>
                  <a:ea typeface="华文中宋" panose="02010600040101010101" pitchFamily="2" charset="-122"/>
                </a:rPr>
                <a:t>2</a:t>
              </a:r>
            </a:p>
          </p:txBody>
        </p:sp>
        <p:sp>
          <p:nvSpPr>
            <p:cNvPr id="83982" name="Rectangle 14"/>
            <p:cNvSpPr/>
            <p:nvPr/>
          </p:nvSpPr>
          <p:spPr>
            <a:xfrm>
              <a:off x="1824" y="960"/>
              <a:ext cx="480" cy="480"/>
            </a:xfrm>
            <a:prstGeom prst="rect">
              <a:avLst/>
            </a:prstGeom>
            <a:no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dirty="0">
                  <a:latin typeface="Tahoma" panose="020B0604030504040204" pitchFamily="34" charset="0"/>
                  <a:ea typeface="华文中宋" panose="02010600040101010101" pitchFamily="2" charset="-122"/>
                </a:rPr>
                <a:t>默认</a:t>
              </a:r>
            </a:p>
            <a:p>
              <a:pPr algn="ctr" eaLnBrk="1" hangingPunct="1"/>
              <a:r>
                <a:rPr lang="zh-CN" altLang="en-US" dirty="0">
                  <a:latin typeface="Tahoma" panose="020B0604030504040204" pitchFamily="34" charset="0"/>
                  <a:ea typeface="华文中宋" panose="02010600040101010101" pitchFamily="2" charset="-122"/>
                </a:rPr>
                <a:t>语句</a:t>
              </a:r>
            </a:p>
          </p:txBody>
        </p:sp>
        <p:sp>
          <p:nvSpPr>
            <p:cNvPr id="83983" name="Line 15"/>
            <p:cNvSpPr/>
            <p:nvPr/>
          </p:nvSpPr>
          <p:spPr>
            <a:xfrm>
              <a:off x="288" y="720"/>
              <a:ext cx="0" cy="240"/>
            </a:xfrm>
            <a:prstGeom prst="line">
              <a:avLst/>
            </a:prstGeom>
            <a:ln w="9525" cap="flat" cmpd="sng">
              <a:solidFill>
                <a:schemeClr val="tx1"/>
              </a:solidFill>
              <a:prstDash val="solid"/>
              <a:headEnd type="none" w="med" len="med"/>
              <a:tailEnd type="triangle" w="med" len="med"/>
            </a:ln>
          </p:spPr>
        </p:sp>
        <p:sp>
          <p:nvSpPr>
            <p:cNvPr id="83984" name="Line 16"/>
            <p:cNvSpPr/>
            <p:nvPr/>
          </p:nvSpPr>
          <p:spPr>
            <a:xfrm>
              <a:off x="960" y="720"/>
              <a:ext cx="0" cy="240"/>
            </a:xfrm>
            <a:prstGeom prst="line">
              <a:avLst/>
            </a:prstGeom>
            <a:ln w="9525" cap="flat" cmpd="sng">
              <a:solidFill>
                <a:schemeClr val="tx1"/>
              </a:solidFill>
              <a:prstDash val="solid"/>
              <a:headEnd type="none" w="med" len="med"/>
              <a:tailEnd type="triangle" w="med" len="med"/>
            </a:ln>
          </p:spPr>
        </p:sp>
        <p:sp>
          <p:nvSpPr>
            <p:cNvPr id="83985" name="Line 17"/>
            <p:cNvSpPr/>
            <p:nvPr/>
          </p:nvSpPr>
          <p:spPr>
            <a:xfrm>
              <a:off x="2064" y="720"/>
              <a:ext cx="0" cy="240"/>
            </a:xfrm>
            <a:prstGeom prst="line">
              <a:avLst/>
            </a:prstGeom>
            <a:ln w="9525" cap="flat" cmpd="sng">
              <a:solidFill>
                <a:schemeClr val="tx1"/>
              </a:solidFill>
              <a:prstDash val="solid"/>
              <a:headEnd type="none" w="med" len="med"/>
              <a:tailEnd type="triangle" w="med" len="med"/>
            </a:ln>
          </p:spPr>
        </p:sp>
        <p:sp>
          <p:nvSpPr>
            <p:cNvPr id="83986" name="Rectangle 18"/>
            <p:cNvSpPr/>
            <p:nvPr/>
          </p:nvSpPr>
          <p:spPr>
            <a:xfrm>
              <a:off x="0" y="1680"/>
              <a:ext cx="576"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eaLnBrk="1" hangingPunct="1"/>
              <a:r>
                <a:rPr lang="en-US" altLang="zh-CN" dirty="0">
                  <a:latin typeface="Tahoma" panose="020B0604030504040204" pitchFamily="34" charset="0"/>
                  <a:ea typeface="华文中宋" panose="02010600040101010101" pitchFamily="2" charset="-122"/>
                </a:rPr>
                <a:t>break;</a:t>
              </a:r>
            </a:p>
          </p:txBody>
        </p:sp>
        <p:sp>
          <p:nvSpPr>
            <p:cNvPr id="83987" name="Rectangle 19"/>
            <p:cNvSpPr/>
            <p:nvPr/>
          </p:nvSpPr>
          <p:spPr>
            <a:xfrm>
              <a:off x="720" y="1680"/>
              <a:ext cx="576"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eaLnBrk="1" hangingPunct="1"/>
              <a:r>
                <a:rPr lang="en-US" altLang="zh-CN" dirty="0">
                  <a:latin typeface="Tahoma" panose="020B0604030504040204" pitchFamily="34" charset="0"/>
                  <a:ea typeface="华文中宋" panose="02010600040101010101" pitchFamily="2" charset="-122"/>
                </a:rPr>
                <a:t>break;</a:t>
              </a:r>
            </a:p>
          </p:txBody>
        </p:sp>
        <p:sp>
          <p:nvSpPr>
            <p:cNvPr id="83988" name="Rectangle 20"/>
            <p:cNvSpPr/>
            <p:nvPr/>
          </p:nvSpPr>
          <p:spPr>
            <a:xfrm>
              <a:off x="1776" y="1680"/>
              <a:ext cx="576" cy="288"/>
            </a:xfrm>
            <a:prstGeom prst="rect">
              <a:avLst/>
            </a:prstGeom>
            <a:noFill/>
            <a:ln w="9525" cap="flat" cmpd="sng">
              <a:solidFill>
                <a:schemeClr val="tx1"/>
              </a:solidFill>
              <a:prstDash val="solid"/>
              <a:miter/>
              <a:headEnd type="none" w="med" len="med"/>
              <a:tailEnd type="none" w="med" len="med"/>
            </a:ln>
          </p:spPr>
          <p:txBody>
            <a:bodyPr wrap="none" anchor="ctr"/>
            <a:lstStyle/>
            <a:p>
              <a:pPr algn="ctr" eaLnBrk="1" hangingPunct="1"/>
              <a:r>
                <a:rPr lang="en-US" altLang="zh-CN" dirty="0">
                  <a:latin typeface="Tahoma" panose="020B0604030504040204" pitchFamily="34" charset="0"/>
                  <a:ea typeface="华文中宋" panose="02010600040101010101" pitchFamily="2" charset="-122"/>
                </a:rPr>
                <a:t>break;</a:t>
              </a:r>
            </a:p>
          </p:txBody>
        </p:sp>
        <p:sp>
          <p:nvSpPr>
            <p:cNvPr id="83989" name="Line 21"/>
            <p:cNvSpPr/>
            <p:nvPr/>
          </p:nvSpPr>
          <p:spPr>
            <a:xfrm>
              <a:off x="288" y="2208"/>
              <a:ext cx="1776" cy="0"/>
            </a:xfrm>
            <a:prstGeom prst="line">
              <a:avLst/>
            </a:prstGeom>
            <a:ln w="9525" cap="flat" cmpd="sng">
              <a:solidFill>
                <a:schemeClr val="tx1"/>
              </a:solidFill>
              <a:prstDash val="solid"/>
              <a:headEnd type="none" w="med" len="med"/>
              <a:tailEnd type="none" w="med" len="med"/>
            </a:ln>
          </p:spPr>
        </p:sp>
        <p:sp>
          <p:nvSpPr>
            <p:cNvPr id="83990" name="Line 22"/>
            <p:cNvSpPr/>
            <p:nvPr/>
          </p:nvSpPr>
          <p:spPr>
            <a:xfrm>
              <a:off x="288" y="1968"/>
              <a:ext cx="0" cy="240"/>
            </a:xfrm>
            <a:prstGeom prst="line">
              <a:avLst/>
            </a:prstGeom>
            <a:ln w="9525" cap="flat" cmpd="sng">
              <a:solidFill>
                <a:schemeClr val="tx1"/>
              </a:solidFill>
              <a:prstDash val="solid"/>
              <a:headEnd type="none" w="med" len="med"/>
              <a:tailEnd type="triangle" w="med" len="med"/>
            </a:ln>
          </p:spPr>
        </p:sp>
        <p:sp>
          <p:nvSpPr>
            <p:cNvPr id="83991" name="Line 23"/>
            <p:cNvSpPr/>
            <p:nvPr/>
          </p:nvSpPr>
          <p:spPr>
            <a:xfrm>
              <a:off x="960" y="1968"/>
              <a:ext cx="0" cy="240"/>
            </a:xfrm>
            <a:prstGeom prst="line">
              <a:avLst/>
            </a:prstGeom>
            <a:ln w="9525" cap="flat" cmpd="sng">
              <a:solidFill>
                <a:schemeClr val="tx1"/>
              </a:solidFill>
              <a:prstDash val="solid"/>
              <a:headEnd type="none" w="med" len="med"/>
              <a:tailEnd type="triangle" w="med" len="med"/>
            </a:ln>
          </p:spPr>
        </p:sp>
        <p:sp>
          <p:nvSpPr>
            <p:cNvPr id="83992" name="Line 24"/>
            <p:cNvSpPr/>
            <p:nvPr/>
          </p:nvSpPr>
          <p:spPr>
            <a:xfrm>
              <a:off x="2064" y="1968"/>
              <a:ext cx="0" cy="240"/>
            </a:xfrm>
            <a:prstGeom prst="line">
              <a:avLst/>
            </a:prstGeom>
            <a:ln w="9525" cap="flat" cmpd="sng">
              <a:solidFill>
                <a:schemeClr val="tx1"/>
              </a:solidFill>
              <a:prstDash val="solid"/>
              <a:headEnd type="none" w="med" len="med"/>
              <a:tailEnd type="triangle" w="med" len="med"/>
            </a:ln>
          </p:spPr>
        </p:sp>
        <p:sp>
          <p:nvSpPr>
            <p:cNvPr id="83993" name="Line 25"/>
            <p:cNvSpPr/>
            <p:nvPr/>
          </p:nvSpPr>
          <p:spPr>
            <a:xfrm>
              <a:off x="288" y="1440"/>
              <a:ext cx="0" cy="240"/>
            </a:xfrm>
            <a:prstGeom prst="line">
              <a:avLst/>
            </a:prstGeom>
            <a:ln w="9525" cap="flat" cmpd="sng">
              <a:solidFill>
                <a:schemeClr val="tx1"/>
              </a:solidFill>
              <a:prstDash val="solid"/>
              <a:headEnd type="none" w="med" len="med"/>
              <a:tailEnd type="triangle" w="med" len="med"/>
            </a:ln>
          </p:spPr>
        </p:sp>
        <p:sp>
          <p:nvSpPr>
            <p:cNvPr id="83994" name="Line 26"/>
            <p:cNvSpPr/>
            <p:nvPr/>
          </p:nvSpPr>
          <p:spPr>
            <a:xfrm>
              <a:off x="960" y="1440"/>
              <a:ext cx="0" cy="240"/>
            </a:xfrm>
            <a:prstGeom prst="line">
              <a:avLst/>
            </a:prstGeom>
            <a:ln w="9525" cap="flat" cmpd="sng">
              <a:solidFill>
                <a:schemeClr val="tx1"/>
              </a:solidFill>
              <a:prstDash val="solid"/>
              <a:headEnd type="none" w="med" len="med"/>
              <a:tailEnd type="triangle" w="med" len="med"/>
            </a:ln>
          </p:spPr>
        </p:sp>
        <p:sp>
          <p:nvSpPr>
            <p:cNvPr id="83995" name="Line 27"/>
            <p:cNvSpPr/>
            <p:nvPr/>
          </p:nvSpPr>
          <p:spPr>
            <a:xfrm>
              <a:off x="2064" y="1440"/>
              <a:ext cx="0" cy="240"/>
            </a:xfrm>
            <a:prstGeom prst="line">
              <a:avLst/>
            </a:prstGeom>
            <a:ln w="9525" cap="flat" cmpd="sng">
              <a:solidFill>
                <a:schemeClr val="tx1"/>
              </a:solidFill>
              <a:prstDash val="solid"/>
              <a:headEnd type="none" w="med" len="med"/>
              <a:tailEnd type="triangle" w="med" len="med"/>
            </a:ln>
          </p:spPr>
        </p:sp>
        <p:sp>
          <p:nvSpPr>
            <p:cNvPr id="83996" name="Line 28"/>
            <p:cNvSpPr/>
            <p:nvPr/>
          </p:nvSpPr>
          <p:spPr>
            <a:xfrm>
              <a:off x="1536" y="1008"/>
              <a:ext cx="0" cy="960"/>
            </a:xfrm>
            <a:prstGeom prst="line">
              <a:avLst/>
            </a:prstGeom>
            <a:ln w="19050" cap="flat" cmpd="sng">
              <a:solidFill>
                <a:schemeClr val="tx1"/>
              </a:solidFill>
              <a:prstDash val="dash"/>
              <a:headEnd type="none" w="med" len="med"/>
              <a:tailEnd type="none" w="med" len="med"/>
            </a:ln>
          </p:spPr>
        </p:sp>
        <p:sp>
          <p:nvSpPr>
            <p:cNvPr id="83997" name="Rectangle 29"/>
            <p:cNvSpPr/>
            <p:nvPr/>
          </p:nvSpPr>
          <p:spPr>
            <a:xfrm>
              <a:off x="288" y="720"/>
              <a:ext cx="336" cy="240"/>
            </a:xfrm>
            <a:prstGeom prst="rect">
              <a:avLst/>
            </a:prstGeom>
            <a:noFill/>
            <a:ln w="9525">
              <a:noFill/>
            </a:ln>
          </p:spPr>
          <p:txBody>
            <a:bodyPr wrap="none" anchor="ctr"/>
            <a:lstStyle/>
            <a:p>
              <a:pPr algn="ctr" eaLnBrk="1" hangingPunct="1"/>
              <a:r>
                <a:rPr lang="zh-CN" altLang="en-US" dirty="0">
                  <a:latin typeface="Tahoma" panose="020B0604030504040204" pitchFamily="34" charset="0"/>
                  <a:ea typeface="华文中宋" panose="02010600040101010101" pitchFamily="2" charset="-122"/>
                </a:rPr>
                <a:t>值</a:t>
              </a:r>
              <a:r>
                <a:rPr lang="en-US" altLang="zh-CN" dirty="0">
                  <a:latin typeface="Tahoma" panose="020B0604030504040204" pitchFamily="34" charset="0"/>
                  <a:ea typeface="华文中宋" panose="02010600040101010101" pitchFamily="2" charset="-122"/>
                </a:rPr>
                <a:t>1</a:t>
              </a:r>
            </a:p>
          </p:txBody>
        </p:sp>
        <p:sp>
          <p:nvSpPr>
            <p:cNvPr id="83998" name="Rectangle 30"/>
            <p:cNvSpPr/>
            <p:nvPr/>
          </p:nvSpPr>
          <p:spPr>
            <a:xfrm>
              <a:off x="960" y="720"/>
              <a:ext cx="336" cy="240"/>
            </a:xfrm>
            <a:prstGeom prst="rect">
              <a:avLst/>
            </a:prstGeom>
            <a:noFill/>
            <a:ln w="9525">
              <a:noFill/>
            </a:ln>
          </p:spPr>
          <p:txBody>
            <a:bodyPr wrap="none" anchor="ctr"/>
            <a:lstStyle/>
            <a:p>
              <a:pPr algn="ctr" eaLnBrk="1" hangingPunct="1"/>
              <a:r>
                <a:rPr lang="zh-CN" altLang="en-US" dirty="0">
                  <a:latin typeface="Tahoma" panose="020B0604030504040204" pitchFamily="34" charset="0"/>
                  <a:ea typeface="华文中宋" panose="02010600040101010101" pitchFamily="2" charset="-122"/>
                </a:rPr>
                <a:t>值</a:t>
              </a:r>
              <a:r>
                <a:rPr lang="en-US" altLang="zh-CN" dirty="0">
                  <a:latin typeface="Tahoma" panose="020B0604030504040204" pitchFamily="34" charset="0"/>
                  <a:ea typeface="华文中宋" panose="02010600040101010101" pitchFamily="2" charset="-122"/>
                </a:rPr>
                <a:t>2</a:t>
              </a:r>
            </a:p>
          </p:txBody>
        </p:sp>
        <p:sp>
          <p:nvSpPr>
            <p:cNvPr id="83999" name="Rectangle 31"/>
            <p:cNvSpPr/>
            <p:nvPr/>
          </p:nvSpPr>
          <p:spPr>
            <a:xfrm>
              <a:off x="1680" y="480"/>
              <a:ext cx="576" cy="240"/>
            </a:xfrm>
            <a:prstGeom prst="rect">
              <a:avLst/>
            </a:prstGeom>
            <a:noFill/>
            <a:ln w="9525">
              <a:noFill/>
            </a:ln>
          </p:spPr>
          <p:txBody>
            <a:bodyPr wrap="none" anchor="ctr"/>
            <a:lstStyle/>
            <a:p>
              <a:pPr algn="ctr" eaLnBrk="1" hangingPunct="1"/>
              <a:r>
                <a:rPr lang="en-US" altLang="zh-CN" dirty="0">
                  <a:latin typeface="Tahoma" panose="020B0604030504040204" pitchFamily="34" charset="0"/>
                  <a:ea typeface="华文中宋" panose="02010600040101010101" pitchFamily="2" charset="-122"/>
                </a:rPr>
                <a:t>default</a:t>
              </a: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3972"/>
                                        </p:tgtEl>
                                        <p:attrNameLst>
                                          <p:attrName>style.visibility</p:attrName>
                                        </p:attrNameLst>
                                      </p:cBhvr>
                                      <p:to>
                                        <p:strVal val="visible"/>
                                      </p:to>
                                    </p:set>
                                    <p:animEffect transition="in" filter="dissolve">
                                      <p:cBhvr>
                                        <p:cTn id="7" dur="500"/>
                                        <p:tgtEl>
                                          <p:spTgt spid="83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495300" y="1314768"/>
            <a:ext cx="9721850" cy="4751387"/>
          </a:xfrm>
        </p:spPr>
        <p:txBody>
          <a:bodyPr>
            <a:normAutofit/>
          </a:bodyPr>
          <a:lstStyle/>
          <a:p>
            <a:pPr eaLnBrk="1" hangingPunct="1">
              <a:lnSpc>
                <a:spcPct val="150000"/>
              </a:lnSpc>
              <a:spcAft>
                <a:spcPts val="0"/>
              </a:spcAft>
              <a:buClr>
                <a:srgbClr val="000000"/>
              </a:buClr>
              <a:buSzTx/>
            </a:pPr>
            <a:r>
              <a:rPr lang="zh-CN" altLang="en-US" dirty="0"/>
              <a:t>示例 </a:t>
            </a:r>
            <a:r>
              <a:rPr lang="en-US" altLang="zh-CN" dirty="0"/>
              <a:t>1</a:t>
            </a:r>
          </a:p>
          <a:p>
            <a:pPr marL="990600" lvl="1" indent="-533400" eaLnBrk="1" hangingPunct="1">
              <a:lnSpc>
                <a:spcPct val="150000"/>
              </a:lnSpc>
              <a:buSzPct val="90000"/>
              <a:buNone/>
            </a:pPr>
            <a:endParaRPr lang="zh-CN" altLang="en-US" dirty="0"/>
          </a:p>
        </p:txBody>
      </p:sp>
      <p:sp>
        <p:nvSpPr>
          <p:cNvPr id="2" name="标题 1"/>
          <p:cNvSpPr>
            <a:spLocks noGrp="1"/>
          </p:cNvSpPr>
          <p:nvPr>
            <p:ph type="title"/>
            <p:custDataLst>
              <p:tags r:id="rId3"/>
            </p:custDataLst>
          </p:nvPr>
        </p:nvSpPr>
        <p:spPr/>
        <p:txBody>
          <a:bodyPr/>
          <a:lstStyle/>
          <a:p>
            <a:pPr eaLnBrk="1" hangingPunct="1">
              <a:spcAft>
                <a:spcPts val="0"/>
              </a:spcAft>
            </a:pPr>
            <a:r>
              <a:rPr lang="en-US" altLang="zh-CN" dirty="0"/>
              <a:t>switch/</a:t>
            </a:r>
            <a:r>
              <a:rPr lang="zh-CN" altLang="en-US" dirty="0"/>
              <a:t>开关语句</a:t>
            </a:r>
          </a:p>
        </p:txBody>
      </p:sp>
      <p:sp>
        <p:nvSpPr>
          <p:cNvPr id="100" name="文本框 99"/>
          <p:cNvSpPr txBox="1"/>
          <p:nvPr/>
        </p:nvSpPr>
        <p:spPr>
          <a:xfrm>
            <a:off x="-821055" y="2096770"/>
            <a:ext cx="7794625" cy="3969385"/>
          </a:xfrm>
          <a:prstGeom prst="rect">
            <a:avLst/>
          </a:prstGeom>
          <a:noFill/>
          <a:ln w="9525">
            <a:noFill/>
          </a:ln>
        </p:spPr>
        <p:txBody>
          <a:bodyPr wrap="square">
            <a:spAutoFit/>
          </a:bodyPr>
          <a:lstStyle/>
          <a:p>
            <a:pPr>
              <a:spcAft>
                <a:spcPts val="0"/>
              </a:spcAft>
            </a:pPr>
            <a:r>
              <a:rPr lang="en-US" sz="1800" b="1">
                <a:solidFill>
                  <a:srgbClr val="7F0055"/>
                </a:solidFill>
                <a:latin typeface="Consolas" panose="020B0609020204030204" charset="0"/>
                <a:ea typeface="宋体" panose="02010600030101010101" pitchFamily="2" charset="-122"/>
              </a:rPr>
              <a:t>	switch</a:t>
            </a: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c</a:t>
            </a:r>
            <a:r>
              <a:rPr lang="en-US" sz="1800">
                <a:solidFill>
                  <a:srgbClr val="000000"/>
                </a:solidFill>
                <a:latin typeface="Consolas" panose="020B0609020204030204" charset="0"/>
                <a:ea typeface="宋体" panose="02010600030101010101" pitchFamily="2" charset="-122"/>
              </a:rPr>
              <a:t>) {</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case</a:t>
            </a:r>
            <a:r>
              <a:rPr lang="en-US" sz="1800">
                <a:solidFill>
                  <a:srgbClr val="000000"/>
                </a:solidFill>
                <a:latin typeface="Consolas" panose="020B0609020204030204" charset="0"/>
                <a:ea typeface="宋体" panose="02010600030101010101" pitchFamily="2" charset="-122"/>
              </a:rPr>
              <a:t> </a:t>
            </a:r>
            <a:r>
              <a:rPr lang="en-US" sz="1800">
                <a:solidFill>
                  <a:srgbClr val="2A00FF"/>
                </a:solidFill>
                <a:latin typeface="Consolas" panose="020B0609020204030204" charset="0"/>
                <a:ea typeface="宋体" panose="02010600030101010101" pitchFamily="2" charset="-122"/>
              </a:rPr>
              <a:t>'y'</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System.</a:t>
            </a:r>
            <a:r>
              <a:rPr lang="en-US" sz="1800" b="1" i="1">
                <a:solidFill>
                  <a:srgbClr val="0000C0"/>
                </a:solidFill>
                <a:latin typeface="Consolas" panose="020B0609020204030204" charset="0"/>
                <a:ea typeface="宋体" panose="02010600030101010101" pitchFamily="2" charset="-122"/>
              </a:rPr>
              <a:t>out</a:t>
            </a:r>
            <a:r>
              <a:rPr lang="en-US" sz="1800">
                <a:solidFill>
                  <a:srgbClr val="000000"/>
                </a:solidFill>
                <a:latin typeface="Consolas" panose="020B0609020204030204" charset="0"/>
                <a:ea typeface="宋体" panose="02010600030101010101" pitchFamily="2" charset="-122"/>
              </a:rPr>
              <a:t>.println(</a:t>
            </a:r>
            <a:r>
              <a:rPr lang="en-US" sz="1800">
                <a:solidFill>
                  <a:srgbClr val="2A00FF"/>
                </a:solidFill>
                <a:latin typeface="Consolas" panose="020B0609020204030204" charset="0"/>
                <a:ea typeface="宋体" panose="02010600030101010101" pitchFamily="2" charset="-122"/>
              </a:rPr>
              <a:t>"Cool"</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break</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case</a:t>
            </a:r>
            <a:r>
              <a:rPr lang="en-US" sz="1800">
                <a:solidFill>
                  <a:srgbClr val="000000"/>
                </a:solidFill>
                <a:latin typeface="Consolas" panose="020B0609020204030204" charset="0"/>
                <a:ea typeface="宋体" panose="02010600030101010101" pitchFamily="2" charset="-122"/>
              </a:rPr>
              <a:t> </a:t>
            </a:r>
            <a:r>
              <a:rPr lang="en-US" sz="1800">
                <a:solidFill>
                  <a:srgbClr val="2A00FF"/>
                </a:solidFill>
                <a:latin typeface="Consolas" panose="020B0609020204030204" charset="0"/>
                <a:ea typeface="宋体" panose="02010600030101010101" pitchFamily="2" charset="-122"/>
              </a:rPr>
              <a:t>'n'</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System.</a:t>
            </a:r>
            <a:r>
              <a:rPr lang="en-US" sz="1800" b="1" i="1">
                <a:solidFill>
                  <a:srgbClr val="0000C0"/>
                </a:solidFill>
                <a:latin typeface="Consolas" panose="020B0609020204030204" charset="0"/>
                <a:ea typeface="宋体" panose="02010600030101010101" pitchFamily="2" charset="-122"/>
              </a:rPr>
              <a:t>out</a:t>
            </a:r>
            <a:r>
              <a:rPr lang="en-US" sz="1800">
                <a:solidFill>
                  <a:srgbClr val="000000"/>
                </a:solidFill>
                <a:latin typeface="Consolas" panose="020B0609020204030204" charset="0"/>
                <a:ea typeface="宋体" panose="02010600030101010101" pitchFamily="2" charset="-122"/>
              </a:rPr>
              <a:t>.println(</a:t>
            </a:r>
            <a:r>
              <a:rPr lang="en-US" sz="1800">
                <a:solidFill>
                  <a:srgbClr val="2A00FF"/>
                </a:solidFill>
                <a:latin typeface="Consolas" panose="020B0609020204030204" charset="0"/>
                <a:ea typeface="宋体" panose="02010600030101010101" pitchFamily="2" charset="-122"/>
              </a:rPr>
              <a:t>"Bad"</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break</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case</a:t>
            </a:r>
            <a:r>
              <a:rPr lang="en-US" sz="1800">
                <a:solidFill>
                  <a:srgbClr val="000000"/>
                </a:solidFill>
                <a:latin typeface="Consolas" panose="020B0609020204030204" charset="0"/>
                <a:ea typeface="宋体" panose="02010600030101010101" pitchFamily="2" charset="-122"/>
              </a:rPr>
              <a:t> </a:t>
            </a:r>
            <a:r>
              <a:rPr lang="en-US" sz="1800">
                <a:solidFill>
                  <a:srgbClr val="2A00FF"/>
                </a:solidFill>
                <a:latin typeface="Consolas" panose="020B0609020204030204" charset="0"/>
                <a:ea typeface="宋体" panose="02010600030101010101" pitchFamily="2" charset="-122"/>
              </a:rPr>
              <a:t>'p'</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System.</a:t>
            </a:r>
            <a:r>
              <a:rPr lang="en-US" sz="1800" b="1" i="1">
                <a:solidFill>
                  <a:srgbClr val="0000C0"/>
                </a:solidFill>
                <a:latin typeface="Consolas" panose="020B0609020204030204" charset="0"/>
                <a:ea typeface="宋体" panose="02010600030101010101" pitchFamily="2" charset="-122"/>
              </a:rPr>
              <a:t>out</a:t>
            </a:r>
            <a:r>
              <a:rPr lang="en-US" sz="1800">
                <a:solidFill>
                  <a:srgbClr val="000000"/>
                </a:solidFill>
                <a:latin typeface="Consolas" panose="020B0609020204030204" charset="0"/>
                <a:ea typeface="宋体" panose="02010600030101010101" pitchFamily="2" charset="-122"/>
              </a:rPr>
              <a:t>.println(</a:t>
            </a:r>
            <a:r>
              <a:rPr lang="en-US" sz="1800">
                <a:solidFill>
                  <a:srgbClr val="2A00FF"/>
                </a:solidFill>
                <a:latin typeface="Consolas" panose="020B0609020204030204" charset="0"/>
                <a:ea typeface="宋体" panose="02010600030101010101" pitchFamily="2" charset="-122"/>
              </a:rPr>
              <a:t>"Sorry"</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break</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default</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System.</a:t>
            </a:r>
            <a:r>
              <a:rPr lang="en-US" sz="1800" b="1" i="1">
                <a:solidFill>
                  <a:srgbClr val="0000C0"/>
                </a:solidFill>
                <a:latin typeface="Consolas" panose="020B0609020204030204" charset="0"/>
                <a:ea typeface="宋体" panose="02010600030101010101" pitchFamily="2" charset="-122"/>
              </a:rPr>
              <a:t>out</a:t>
            </a:r>
            <a:r>
              <a:rPr lang="en-US" sz="1800">
                <a:solidFill>
                  <a:srgbClr val="000000"/>
                </a:solidFill>
                <a:latin typeface="Consolas" panose="020B0609020204030204" charset="0"/>
                <a:ea typeface="宋体" panose="02010600030101010101" pitchFamily="2" charset="-122"/>
              </a:rPr>
              <a:t>.println(</a:t>
            </a:r>
            <a:r>
              <a:rPr lang="en-US" sz="1800">
                <a:solidFill>
                  <a:srgbClr val="2A00FF"/>
                </a:solidFill>
                <a:latin typeface="Consolas" panose="020B0609020204030204" charset="0"/>
                <a:ea typeface="宋体" panose="02010600030101010101" pitchFamily="2" charset="-122"/>
              </a:rPr>
              <a:t>"Input Error"</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break</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a:t>
            </a:r>
            <a:endParaRPr lang="en-US" altLang="en-US" sz="1800">
              <a:solidFill>
                <a:srgbClr val="000000"/>
              </a:solidFill>
              <a:latin typeface="Consolas" panose="020B0609020204030204" charset="0"/>
              <a:ea typeface="宋体" panose="02010600030101010101" pitchFamily="2" charset="-122"/>
            </a:endParaRPr>
          </a:p>
        </p:txBody>
      </p:sp>
      <p:sp>
        <p:nvSpPr>
          <p:cNvPr id="84996" name="Rectangle 4"/>
          <p:cNvSpPr/>
          <p:nvPr/>
        </p:nvSpPr>
        <p:spPr>
          <a:xfrm>
            <a:off x="6180376" y="1240314"/>
            <a:ext cx="4460558" cy="4720590"/>
          </a:xfrm>
          <a:prstGeom prst="rect">
            <a:avLst/>
          </a:prstGeom>
          <a:noFill/>
          <a:ln w="9525">
            <a:noFill/>
          </a:ln>
        </p:spPr>
        <p:txBody>
          <a:bodyPr/>
          <a:lstStyle/>
          <a:p>
            <a:pPr marL="609600" indent="-609600" eaLnBrk="1" hangingPunct="1">
              <a:lnSpc>
                <a:spcPct val="90000"/>
              </a:lnSpc>
              <a:spcBef>
                <a:spcPct val="20000"/>
              </a:spcBef>
              <a:spcAft>
                <a:spcPts val="0"/>
              </a:spcAft>
              <a:buClr>
                <a:schemeClr val="folHlink"/>
              </a:buClr>
              <a:buSzPct val="90000"/>
              <a:buFont typeface="Wingdings" panose="05000000000000000000" pitchFamily="2" charset="2"/>
              <a:buChar char="n"/>
            </a:pPr>
            <a:r>
              <a:rPr lang="zh-CN" altLang="en-US" sz="2940" dirty="0">
                <a:latin typeface="微软雅黑" panose="020B0503020204020204" pitchFamily="34" charset="-122"/>
                <a:ea typeface="微软雅黑" panose="020B0503020204020204" pitchFamily="34" charset="-122"/>
              </a:rPr>
              <a:t>几点注意</a:t>
            </a:r>
          </a:p>
          <a:p>
            <a:pPr marL="990600" lvl="1" indent="-533400" eaLnBrk="1" hangingPunct="1">
              <a:lnSpc>
                <a:spcPct val="90000"/>
              </a:lnSpc>
              <a:spcBef>
                <a:spcPts val="20"/>
              </a:spcBef>
              <a:spcAft>
                <a:spcPts val="0"/>
              </a:spcAft>
              <a:buClr>
                <a:schemeClr val="hlink"/>
              </a:buClr>
              <a:buSzPct val="90000"/>
              <a:buFont typeface="Wingdings" panose="05000000000000000000" pitchFamily="2" charset="2"/>
              <a:buAutoNum type="arabicPeriod"/>
            </a:pPr>
            <a:r>
              <a:rPr lang="en-US" altLang="zh-CN" sz="2100" dirty="0">
                <a:latin typeface="微软雅黑" panose="020B0503020204020204" pitchFamily="34" charset="-122"/>
                <a:ea typeface="微软雅黑" panose="020B0503020204020204" pitchFamily="34" charset="-122"/>
              </a:rPr>
              <a:t>switch</a:t>
            </a:r>
            <a:r>
              <a:rPr lang="zh-CN" altLang="en-US" sz="2100" dirty="0">
                <a:latin typeface="微软雅黑" panose="020B0503020204020204" pitchFamily="34" charset="-122"/>
                <a:ea typeface="微软雅黑" panose="020B0503020204020204" pitchFamily="34" charset="-122"/>
              </a:rPr>
              <a:t>语句表达式的结果必须是</a:t>
            </a:r>
            <a:r>
              <a:rPr lang="en-US" altLang="zh-CN" sz="2100" dirty="0">
                <a:latin typeface="微软雅黑" panose="020B0503020204020204" pitchFamily="34" charset="-122"/>
                <a:ea typeface="微软雅黑" panose="020B0503020204020204" pitchFamily="34" charset="-122"/>
              </a:rPr>
              <a:t>byte, char, short, int </a:t>
            </a:r>
            <a:r>
              <a:rPr lang="zh-CN" altLang="en-US" sz="2100" dirty="0">
                <a:latin typeface="微软雅黑" panose="020B0503020204020204" pitchFamily="34" charset="-122"/>
                <a:ea typeface="微软雅黑" panose="020B0503020204020204" pitchFamily="34" charset="-122"/>
              </a:rPr>
              <a:t>类型，在JDK 7发布版本中, 可以在switch语句的表达式中使用String对象。</a:t>
            </a:r>
          </a:p>
          <a:p>
            <a:pPr marL="990600" lvl="1" indent="-533400" eaLnBrk="1" hangingPunct="1">
              <a:lnSpc>
                <a:spcPct val="90000"/>
              </a:lnSpc>
              <a:spcBef>
                <a:spcPts val="20"/>
              </a:spcBef>
              <a:spcAft>
                <a:spcPts val="0"/>
              </a:spcAft>
              <a:buClr>
                <a:schemeClr val="hlink"/>
              </a:buClr>
              <a:buSzPct val="90000"/>
              <a:buFont typeface="Wingdings" panose="05000000000000000000" pitchFamily="2" charset="2"/>
              <a:buAutoNum type="arabicPeriod"/>
            </a:pPr>
            <a:r>
              <a:rPr lang="zh-CN" altLang="en-US" sz="2100" dirty="0">
                <a:latin typeface="微软雅黑" panose="020B0503020204020204" pitchFamily="34" charset="-122"/>
                <a:ea typeface="微软雅黑" panose="020B0503020204020204" pitchFamily="34" charset="-122"/>
              </a:rPr>
              <a:t>表达式的结果依次与每个</a:t>
            </a:r>
            <a:r>
              <a:rPr lang="en-US" altLang="zh-CN" sz="2100" dirty="0">
                <a:latin typeface="微软雅黑" panose="020B0503020204020204" pitchFamily="34" charset="-122"/>
                <a:ea typeface="微软雅黑" panose="020B0503020204020204" pitchFamily="34" charset="-122"/>
              </a:rPr>
              <a:t>case</a:t>
            </a:r>
            <a:r>
              <a:rPr lang="zh-CN" altLang="en-US" sz="2100" dirty="0">
                <a:latin typeface="微软雅黑" panose="020B0503020204020204" pitchFamily="34" charset="-122"/>
                <a:ea typeface="微软雅黑" panose="020B0503020204020204" pitchFamily="34" charset="-122"/>
              </a:rPr>
              <a:t>子句比较</a:t>
            </a:r>
          </a:p>
          <a:p>
            <a:pPr marL="990600" lvl="1" indent="-533400" eaLnBrk="1" hangingPunct="1">
              <a:lnSpc>
                <a:spcPct val="90000"/>
              </a:lnSpc>
              <a:spcBef>
                <a:spcPts val="20"/>
              </a:spcBef>
              <a:spcAft>
                <a:spcPts val="0"/>
              </a:spcAft>
              <a:buClr>
                <a:schemeClr val="hlink"/>
              </a:buClr>
              <a:buSzPct val="90000"/>
              <a:buFont typeface="Wingdings" panose="05000000000000000000" pitchFamily="2" charset="2"/>
              <a:buAutoNum type="arabicPeriod"/>
            </a:pPr>
            <a:r>
              <a:rPr lang="en-US" altLang="zh-CN" sz="2100" dirty="0">
                <a:latin typeface="微软雅黑" panose="020B0503020204020204" pitchFamily="34" charset="-122"/>
                <a:ea typeface="微软雅黑" panose="020B0503020204020204" pitchFamily="34" charset="-122"/>
              </a:rPr>
              <a:t>break</a:t>
            </a:r>
            <a:r>
              <a:rPr lang="zh-CN" altLang="en-US" sz="2100" dirty="0">
                <a:latin typeface="微软雅黑" panose="020B0503020204020204" pitchFamily="34" charset="-122"/>
                <a:ea typeface="微软雅黑" panose="020B0503020204020204" pitchFamily="34" charset="-122"/>
              </a:rPr>
              <a:t>语句用于跳出</a:t>
            </a:r>
            <a:r>
              <a:rPr lang="en-US" altLang="zh-CN" sz="2100" dirty="0">
                <a:latin typeface="微软雅黑" panose="020B0503020204020204" pitchFamily="34" charset="-122"/>
                <a:ea typeface="微软雅黑" panose="020B0503020204020204" pitchFamily="34" charset="-122"/>
              </a:rPr>
              <a:t>switch</a:t>
            </a:r>
            <a:r>
              <a:rPr lang="zh-CN" altLang="en-US" sz="2100" dirty="0">
                <a:latin typeface="微软雅黑" panose="020B0503020204020204" pitchFamily="34" charset="-122"/>
                <a:ea typeface="微软雅黑" panose="020B0503020204020204" pitchFamily="34" charset="-122"/>
              </a:rPr>
              <a:t>语句，如果没有</a:t>
            </a:r>
            <a:r>
              <a:rPr lang="en-US" altLang="zh-CN" sz="2100" dirty="0">
                <a:latin typeface="微软雅黑" panose="020B0503020204020204" pitchFamily="34" charset="-122"/>
                <a:ea typeface="微软雅黑" panose="020B0503020204020204" pitchFamily="34" charset="-122"/>
              </a:rPr>
              <a:t>break</a:t>
            </a:r>
            <a:r>
              <a:rPr lang="zh-CN" altLang="en-US" sz="2100" dirty="0">
                <a:latin typeface="微软雅黑" panose="020B0503020204020204" pitchFamily="34" charset="-122"/>
                <a:ea typeface="微软雅黑" panose="020B0503020204020204" pitchFamily="34" charset="-122"/>
              </a:rPr>
              <a:t>则执行匹配以后的所有语句直到遇到</a:t>
            </a:r>
            <a:r>
              <a:rPr lang="en-US" altLang="zh-CN" sz="2100" dirty="0">
                <a:latin typeface="微软雅黑" panose="020B0503020204020204" pitchFamily="34" charset="-122"/>
                <a:ea typeface="微软雅黑" panose="020B0503020204020204" pitchFamily="34" charset="-122"/>
              </a:rPr>
              <a:t>break</a:t>
            </a:r>
            <a:r>
              <a:rPr lang="zh-CN" altLang="en-US" sz="2100" dirty="0">
                <a:latin typeface="微软雅黑" panose="020B0503020204020204" pitchFamily="34" charset="-122"/>
                <a:ea typeface="微软雅黑" panose="020B0503020204020204" pitchFamily="34" charset="-122"/>
              </a:rPr>
              <a:t>或者</a:t>
            </a:r>
            <a:r>
              <a:rPr lang="en-US" altLang="zh-CN" sz="2100" dirty="0">
                <a:latin typeface="微软雅黑" panose="020B0503020204020204" pitchFamily="34" charset="-122"/>
                <a:ea typeface="微软雅黑" panose="020B0503020204020204" pitchFamily="34" charset="-122"/>
              </a:rPr>
              <a:t>}</a:t>
            </a:r>
          </a:p>
          <a:p>
            <a:pPr marL="990600" lvl="1" indent="-533400" eaLnBrk="1" hangingPunct="1">
              <a:lnSpc>
                <a:spcPct val="90000"/>
              </a:lnSpc>
              <a:spcBef>
                <a:spcPts val="20"/>
              </a:spcBef>
              <a:buClr>
                <a:schemeClr val="hlink"/>
              </a:buClr>
              <a:buSzPct val="90000"/>
              <a:buFont typeface="Wingdings" panose="05000000000000000000" pitchFamily="2" charset="2"/>
              <a:buAutoNum type="arabicPeriod"/>
            </a:pPr>
            <a:r>
              <a:rPr lang="en-US" altLang="zh-CN" sz="2100" dirty="0">
                <a:latin typeface="微软雅黑" panose="020B0503020204020204" pitchFamily="34" charset="-122"/>
                <a:ea typeface="微软雅黑" panose="020B0503020204020204" pitchFamily="34" charset="-122"/>
              </a:rPr>
              <a:t>default</a:t>
            </a:r>
            <a:r>
              <a:rPr lang="zh-CN" altLang="en-US" sz="2100" dirty="0">
                <a:latin typeface="微软雅黑" panose="020B0503020204020204" pitchFamily="34" charset="-122"/>
                <a:ea typeface="微软雅黑" panose="020B0503020204020204" pitchFamily="34" charset="-122"/>
              </a:rPr>
              <a:t>子句是可选的</a:t>
            </a:r>
            <a:r>
              <a:rPr lang="en-US" altLang="zh-CN" sz="2100" dirty="0">
                <a:latin typeface="微软雅黑" panose="020B0503020204020204" pitchFamily="34" charset="-122"/>
                <a:ea typeface="微软雅黑" panose="020B0503020204020204" pitchFamily="34" charset="-122"/>
              </a:rPr>
              <a:t>,</a:t>
            </a:r>
            <a:r>
              <a:rPr lang="zh-CN" altLang="en-US" sz="2100" dirty="0">
                <a:latin typeface="微软雅黑" panose="020B0503020204020204" pitchFamily="34" charset="-122"/>
                <a:ea typeface="微软雅黑" panose="020B0503020204020204" pitchFamily="34" charset="-122"/>
              </a:rPr>
              <a:t>没有匹配的时候执行。如果没有</a:t>
            </a:r>
            <a:r>
              <a:rPr lang="en-US" altLang="zh-CN" sz="2100" dirty="0">
                <a:latin typeface="微软雅黑" panose="020B0503020204020204" pitchFamily="34" charset="-122"/>
                <a:ea typeface="微软雅黑" panose="020B0503020204020204" pitchFamily="34" charset="-122"/>
              </a:rPr>
              <a:t>default</a:t>
            </a:r>
            <a:r>
              <a:rPr lang="zh-CN" altLang="en-US" sz="2100" dirty="0">
                <a:latin typeface="微软雅黑" panose="020B0503020204020204" pitchFamily="34" charset="-122"/>
                <a:ea typeface="微软雅黑" panose="020B0503020204020204" pitchFamily="34" charset="-122"/>
              </a:rPr>
              <a:t>并且没有匹配值则退出。</a:t>
            </a:r>
          </a:p>
        </p:txBody>
      </p:sp>
    </p:spTree>
    <p:custDataLst>
      <p:tags r:id="rId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494030" y="1209675"/>
            <a:ext cx="4319905" cy="4751070"/>
          </a:xfrm>
        </p:spPr>
        <p:txBody>
          <a:bodyPr>
            <a:normAutofit/>
          </a:bodyPr>
          <a:lstStyle/>
          <a:p>
            <a:pPr eaLnBrk="1" hangingPunct="1">
              <a:lnSpc>
                <a:spcPct val="150000"/>
              </a:lnSpc>
              <a:spcAft>
                <a:spcPts val="0"/>
              </a:spcAft>
              <a:buClr>
                <a:srgbClr val="000000"/>
              </a:buClr>
              <a:buSzTx/>
            </a:pPr>
            <a:r>
              <a:rPr sz="2400" dirty="0"/>
              <a:t>单匹配，不用再写break，支持返回值</a:t>
            </a:r>
          </a:p>
          <a:p>
            <a:pPr lvl="1" eaLnBrk="1" hangingPunct="1">
              <a:lnSpc>
                <a:spcPct val="150000"/>
              </a:lnSpc>
              <a:spcBef>
                <a:spcPts val="20"/>
              </a:spcBef>
              <a:spcAft>
                <a:spcPts val="0"/>
              </a:spcAft>
              <a:buClr>
                <a:srgbClr val="000000"/>
              </a:buClr>
              <a:buSzTx/>
            </a:pPr>
            <a:r>
              <a:rPr lang="zh-CN" altLang="en-US" sz="2000" dirty="0"/>
              <a:t>引入</a:t>
            </a:r>
            <a:r>
              <a:rPr lang="en-US" altLang="zh-CN" sz="2000" dirty="0"/>
              <a:t>yield</a:t>
            </a:r>
            <a:r>
              <a:rPr lang="zh-CN" altLang="en-US" sz="2000" dirty="0"/>
              <a:t>作为返回关键字</a:t>
            </a:r>
          </a:p>
          <a:p>
            <a:pPr lvl="1" eaLnBrk="1" hangingPunct="1">
              <a:lnSpc>
                <a:spcPct val="150000"/>
              </a:lnSpc>
              <a:spcBef>
                <a:spcPts val="20"/>
              </a:spcBef>
              <a:spcAft>
                <a:spcPts val="0"/>
              </a:spcAft>
              <a:buClr>
                <a:srgbClr val="000000"/>
              </a:buClr>
              <a:buSzTx/>
            </a:pPr>
            <a:r>
              <a:rPr lang="en-US" altLang="zh-CN" sz="2000" dirty="0"/>
              <a:t>-&gt;</a:t>
            </a:r>
            <a:r>
              <a:rPr lang="zh-CN" altLang="en-US" sz="2000" dirty="0"/>
              <a:t>与</a:t>
            </a:r>
            <a:r>
              <a:rPr lang="en-US" altLang="zh-CN" sz="2000" dirty="0"/>
              <a:t>:</a:t>
            </a:r>
            <a:r>
              <a:rPr lang="zh-CN" altLang="en-US" sz="2000" dirty="0"/>
              <a:t>均可以表示分支</a:t>
            </a:r>
          </a:p>
          <a:p>
            <a:pPr lvl="0" eaLnBrk="1" hangingPunct="1">
              <a:lnSpc>
                <a:spcPct val="150000"/>
              </a:lnSpc>
              <a:spcBef>
                <a:spcPts val="20"/>
              </a:spcBef>
              <a:spcAft>
                <a:spcPts val="0"/>
              </a:spcAft>
              <a:buClr>
                <a:srgbClr val="000000"/>
              </a:buClr>
              <a:buSzTx/>
            </a:pPr>
            <a:r>
              <a:rPr lang="zh-CN" altLang="en-US" sz="2285" dirty="0"/>
              <a:t>多匹配，直接逗号分割</a:t>
            </a:r>
          </a:p>
          <a:p>
            <a:pPr lvl="0" eaLnBrk="1" hangingPunct="1">
              <a:lnSpc>
                <a:spcPct val="150000"/>
              </a:lnSpc>
              <a:spcBef>
                <a:spcPts val="20"/>
              </a:spcBef>
              <a:spcAft>
                <a:spcPts val="0"/>
              </a:spcAft>
              <a:buClr>
                <a:srgbClr val="000000"/>
              </a:buClr>
              <a:buSzTx/>
            </a:pPr>
            <a:r>
              <a:rPr lang="en-US" altLang="zh-CN" sz="2285" dirty="0"/>
              <a:t>null</a:t>
            </a:r>
            <a:r>
              <a:rPr lang="zh-CN" altLang="en-US" sz="2285" dirty="0"/>
              <a:t>匹配</a:t>
            </a:r>
          </a:p>
          <a:p>
            <a:pPr lvl="0" eaLnBrk="1" hangingPunct="1">
              <a:lnSpc>
                <a:spcPct val="150000"/>
              </a:lnSpc>
              <a:spcBef>
                <a:spcPts val="20"/>
              </a:spcBef>
              <a:spcAft>
                <a:spcPts val="0"/>
              </a:spcAft>
              <a:buClr>
                <a:srgbClr val="000000"/>
              </a:buClr>
              <a:buSzTx/>
            </a:pPr>
            <a:r>
              <a:rPr lang="zh-CN" altLang="en-US" sz="2285" dirty="0"/>
              <a:t>模式匹配</a:t>
            </a:r>
          </a:p>
          <a:p>
            <a:pPr lvl="1" eaLnBrk="1" hangingPunct="1">
              <a:lnSpc>
                <a:spcPct val="150000"/>
              </a:lnSpc>
              <a:buClr>
                <a:schemeClr val="hlink"/>
              </a:buClr>
              <a:buSzTx/>
            </a:pPr>
            <a:endParaRPr lang="en-US" altLang="zh-CN" sz="2000" dirty="0"/>
          </a:p>
          <a:p>
            <a:pPr marL="990600" lvl="1" indent="-533400" eaLnBrk="1" hangingPunct="1">
              <a:lnSpc>
                <a:spcPct val="150000"/>
              </a:lnSpc>
              <a:buSzPct val="90000"/>
              <a:buNone/>
            </a:pPr>
            <a:endParaRPr lang="en-US" altLang="zh-CN" sz="2000" dirty="0"/>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en-US" altLang="zh-CN" dirty="0"/>
              <a:t>switch</a:t>
            </a:r>
            <a:r>
              <a:rPr lang="zh-CN" altLang="en-US" dirty="0"/>
              <a:t>表达式</a:t>
            </a:r>
            <a:r>
              <a:rPr lang="en-US" altLang="zh-CN" dirty="0"/>
              <a:t>(JDK21</a:t>
            </a:r>
            <a:r>
              <a:rPr lang="zh-CN" altLang="en-US" dirty="0"/>
              <a:t>进行了增强</a:t>
            </a:r>
            <a:r>
              <a:rPr lang="en-US" altLang="zh-CN" dirty="0"/>
              <a:t>)</a:t>
            </a:r>
          </a:p>
        </p:txBody>
      </p:sp>
      <p:sp>
        <p:nvSpPr>
          <p:cNvPr id="5" name="文本框 4"/>
          <p:cNvSpPr txBox="1"/>
          <p:nvPr/>
        </p:nvSpPr>
        <p:spPr>
          <a:xfrm>
            <a:off x="4725670" y="1304925"/>
            <a:ext cx="6012180" cy="1938020"/>
          </a:xfrm>
          <a:prstGeom prst="rect">
            <a:avLst/>
          </a:prstGeom>
          <a:noFill/>
        </p:spPr>
        <p:txBody>
          <a:bodyPr wrap="none" rtlCol="0" anchor="t">
            <a:spAutoFit/>
          </a:bodyPr>
          <a:lstStyle/>
          <a:p>
            <a:pPr algn="l">
              <a:spcAft>
                <a:spcPts val="0"/>
              </a:spcAft>
            </a:pPr>
            <a:r>
              <a:rPr lang="en-US">
                <a:solidFill>
                  <a:srgbClr val="000000"/>
                </a:solidFill>
                <a:latin typeface="Consolas" panose="020B0609020204030204" charset="0"/>
                <a:sym typeface="+mn-ea"/>
              </a:rPr>
              <a:t>String </a:t>
            </a:r>
            <a:r>
              <a:rPr lang="en-US">
                <a:solidFill>
                  <a:srgbClr val="6A3E3E"/>
                </a:solidFill>
                <a:latin typeface="Consolas" panose="020B0609020204030204" charset="0"/>
                <a:sym typeface="+mn-ea"/>
              </a:rPr>
              <a:t>s</a:t>
            </a:r>
            <a:r>
              <a:rPr lang="en-US">
                <a:solidFill>
                  <a:srgbClr val="000000"/>
                </a:solidFill>
                <a:latin typeface="Consolas" panose="020B0609020204030204" charset="0"/>
                <a:sym typeface="+mn-ea"/>
              </a:rPr>
              <a:t>=</a:t>
            </a:r>
            <a:r>
              <a:rPr lang="en-US" b="1">
                <a:solidFill>
                  <a:srgbClr val="7F0055"/>
                </a:solidFill>
                <a:latin typeface="Consolas" panose="020B0609020204030204" charset="0"/>
                <a:sym typeface="+mn-ea"/>
              </a:rPr>
              <a:t>switch</a:t>
            </a:r>
            <a:r>
              <a:rPr lang="en-US">
                <a:solidFill>
                  <a:srgbClr val="000000"/>
                </a:solidFill>
                <a:latin typeface="Consolas" panose="020B0609020204030204" charset="0"/>
                <a:sym typeface="+mn-ea"/>
              </a:rPr>
              <a:t> (</a:t>
            </a:r>
            <a:r>
              <a:rPr lang="en-US">
                <a:solidFill>
                  <a:srgbClr val="6A3E3E"/>
                </a:solidFill>
                <a:latin typeface="Consolas" panose="020B0609020204030204" charset="0"/>
                <a:sym typeface="+mn-ea"/>
              </a:rPr>
              <a:t>c</a:t>
            </a:r>
            <a:r>
              <a:rPr lang="en-US">
                <a:solidFill>
                  <a:srgbClr val="000000"/>
                </a:solidFill>
                <a:latin typeface="Consolas" panose="020B0609020204030204" charset="0"/>
                <a:sym typeface="+mn-ea"/>
              </a:rPr>
              <a:t>) {</a:t>
            </a:r>
          </a:p>
          <a:p>
            <a:pPr algn="l">
              <a:spcAft>
                <a:spcPts val="0"/>
              </a:spcAft>
            </a:pPr>
            <a:r>
              <a:rPr lang="en-US">
                <a:solidFill>
                  <a:srgbClr val="000000"/>
                </a:solidFill>
                <a:latin typeface="Consolas" panose="020B0609020204030204" charset="0"/>
                <a:sym typeface="+mn-ea"/>
              </a:rPr>
              <a:t>               </a:t>
            </a:r>
            <a:r>
              <a:rPr lang="en-US" b="1">
                <a:solidFill>
                  <a:srgbClr val="7F0055"/>
                </a:solidFill>
                <a:latin typeface="Consolas" panose="020B0609020204030204" charset="0"/>
                <a:sym typeface="+mn-ea"/>
              </a:rPr>
              <a:t>case</a:t>
            </a:r>
            <a:r>
              <a:rPr lang="en-US">
                <a:solidFill>
                  <a:srgbClr val="000000"/>
                </a:solidFill>
                <a:latin typeface="Consolas" panose="020B0609020204030204" charset="0"/>
                <a:sym typeface="+mn-ea"/>
              </a:rPr>
              <a:t> </a:t>
            </a:r>
            <a:r>
              <a:rPr lang="en-US">
                <a:solidFill>
                  <a:srgbClr val="2A00FF"/>
                </a:solidFill>
                <a:latin typeface="Consolas" panose="020B0609020204030204" charset="0"/>
                <a:sym typeface="+mn-ea"/>
              </a:rPr>
              <a:t>null</a:t>
            </a:r>
            <a:r>
              <a:rPr lang="en-US">
                <a:solidFill>
                  <a:srgbClr val="000000"/>
                </a:solidFill>
                <a:latin typeface="Consolas" panose="020B0609020204030204" charset="0"/>
                <a:sym typeface="+mn-ea"/>
              </a:rPr>
              <a:t> -&gt;</a:t>
            </a:r>
            <a:r>
              <a:rPr lang="en-US">
                <a:solidFill>
                  <a:srgbClr val="2A00FF"/>
                </a:solidFill>
                <a:latin typeface="Consolas" panose="020B0609020204030204" charset="0"/>
                <a:sym typeface="+mn-ea"/>
              </a:rPr>
              <a:t>"empty"</a:t>
            </a:r>
            <a:r>
              <a:rPr lang="en-US">
                <a:solidFill>
                  <a:srgbClr val="000000"/>
                </a:solidFill>
                <a:latin typeface="Consolas" panose="020B0609020204030204" charset="0"/>
                <a:sym typeface="+mn-ea"/>
              </a:rPr>
              <a:t>;</a:t>
            </a:r>
          </a:p>
          <a:p>
            <a:pPr algn="l">
              <a:spcAft>
                <a:spcPts val="0"/>
              </a:spcAft>
            </a:pPr>
            <a:r>
              <a:rPr lang="en-US">
                <a:solidFill>
                  <a:srgbClr val="000000"/>
                </a:solidFill>
                <a:latin typeface="Consolas" panose="020B0609020204030204" charset="0"/>
                <a:sym typeface="+mn-ea"/>
              </a:rPr>
              <a:t>		</a:t>
            </a:r>
            <a:r>
              <a:rPr lang="en-US" b="1">
                <a:solidFill>
                  <a:srgbClr val="7F0055"/>
                </a:solidFill>
                <a:latin typeface="Consolas" panose="020B0609020204030204" charset="0"/>
                <a:sym typeface="+mn-ea"/>
              </a:rPr>
              <a:t>case </a:t>
            </a:r>
            <a:r>
              <a:rPr lang="en-US">
                <a:solidFill>
                  <a:srgbClr val="2A00FF"/>
                </a:solidFill>
                <a:latin typeface="Consolas" panose="020B0609020204030204" charset="0"/>
                <a:sym typeface="+mn-ea"/>
              </a:rPr>
              <a:t>"y","n"</a:t>
            </a:r>
            <a:r>
              <a:rPr lang="en-US">
                <a:solidFill>
                  <a:srgbClr val="000000"/>
                </a:solidFill>
                <a:latin typeface="Consolas" panose="020B0609020204030204" charset="0"/>
                <a:sym typeface="+mn-ea"/>
              </a:rPr>
              <a:t>:yield(</a:t>
            </a:r>
            <a:r>
              <a:rPr lang="en-US">
                <a:solidFill>
                  <a:srgbClr val="2A00FF"/>
                </a:solidFill>
                <a:latin typeface="Consolas" panose="020B0609020204030204" charset="0"/>
                <a:sym typeface="+mn-ea"/>
              </a:rPr>
              <a:t>"Cool"</a:t>
            </a:r>
            <a:r>
              <a:rPr lang="en-US">
                <a:solidFill>
                  <a:srgbClr val="000000"/>
                </a:solidFill>
                <a:latin typeface="Consolas" panose="020B0609020204030204" charset="0"/>
                <a:sym typeface="+mn-ea"/>
              </a:rPr>
              <a:t>);</a:t>
            </a:r>
          </a:p>
          <a:p>
            <a:pPr algn="l">
              <a:spcBef>
                <a:spcPts val="0"/>
              </a:spcBef>
            </a:pPr>
            <a:r>
              <a:rPr lang="en-US">
                <a:solidFill>
                  <a:srgbClr val="000000"/>
                </a:solidFill>
                <a:latin typeface="Consolas" panose="020B0609020204030204" charset="0"/>
                <a:sym typeface="+mn-ea"/>
              </a:rPr>
              <a:t>		</a:t>
            </a:r>
            <a:r>
              <a:rPr lang="en-US" b="1">
                <a:solidFill>
                  <a:srgbClr val="7F0055"/>
                </a:solidFill>
                <a:latin typeface="Consolas" panose="020B0609020204030204" charset="0"/>
                <a:sym typeface="+mn-ea"/>
              </a:rPr>
              <a:t>case</a:t>
            </a:r>
            <a:r>
              <a:rPr lang="en-US">
                <a:solidFill>
                  <a:srgbClr val="000000"/>
                </a:solidFill>
                <a:latin typeface="Consolas" panose="020B0609020204030204" charset="0"/>
                <a:sym typeface="+mn-ea"/>
              </a:rPr>
              <a:t> </a:t>
            </a:r>
            <a:r>
              <a:rPr lang="en-US">
                <a:solidFill>
                  <a:srgbClr val="2A00FF"/>
                </a:solidFill>
                <a:latin typeface="Consolas" panose="020B0609020204030204" charset="0"/>
                <a:sym typeface="+mn-ea"/>
              </a:rPr>
              <a:t>"p"</a:t>
            </a:r>
            <a:r>
              <a:rPr lang="en-US">
                <a:solidFill>
                  <a:srgbClr val="000000"/>
                </a:solidFill>
                <a:latin typeface="Consolas" panose="020B0609020204030204" charset="0"/>
                <a:sym typeface="+mn-ea"/>
              </a:rPr>
              <a:t>:</a:t>
            </a:r>
            <a:r>
              <a:rPr lang="en-US">
                <a:solidFill>
                  <a:srgbClr val="2A00FF"/>
                </a:solidFill>
                <a:latin typeface="Consolas" panose="020B0609020204030204" charset="0"/>
                <a:sym typeface="+mn-ea"/>
              </a:rPr>
              <a:t>"Sorry"</a:t>
            </a:r>
            <a:r>
              <a:rPr lang="en-US">
                <a:solidFill>
                  <a:srgbClr val="000000"/>
                </a:solidFill>
                <a:latin typeface="Consolas" panose="020B0609020204030204" charset="0"/>
                <a:sym typeface="+mn-ea"/>
              </a:rPr>
              <a:t>;</a:t>
            </a:r>
          </a:p>
          <a:p>
            <a:pPr algn="l">
              <a:spcBef>
                <a:spcPts val="0"/>
              </a:spcBef>
            </a:pPr>
            <a:r>
              <a:rPr lang="en-US">
                <a:solidFill>
                  <a:srgbClr val="000000"/>
                </a:solidFill>
                <a:latin typeface="Consolas" panose="020B0609020204030204" charset="0"/>
                <a:sym typeface="+mn-ea"/>
              </a:rPr>
              <a:t>		</a:t>
            </a:r>
            <a:r>
              <a:rPr lang="en-US" b="1">
                <a:solidFill>
                  <a:srgbClr val="7F0055"/>
                </a:solidFill>
                <a:latin typeface="Consolas" panose="020B0609020204030204" charset="0"/>
                <a:sym typeface="+mn-ea"/>
              </a:rPr>
              <a:t>default</a:t>
            </a:r>
            <a:r>
              <a:rPr lang="en-US">
                <a:solidFill>
                  <a:srgbClr val="000000"/>
                </a:solidFill>
                <a:latin typeface="Consolas" panose="020B0609020204030204" charset="0"/>
                <a:sym typeface="+mn-ea"/>
              </a:rPr>
              <a:t>:</a:t>
            </a:r>
            <a:r>
              <a:rPr lang="en-US">
                <a:solidFill>
                  <a:srgbClr val="2A00FF"/>
                </a:solidFill>
                <a:latin typeface="Consolas" panose="020B0609020204030204" charset="0"/>
                <a:sym typeface="+mn-ea"/>
              </a:rPr>
              <a:t>"Input Error"</a:t>
            </a:r>
            <a:r>
              <a:rPr lang="en-US">
                <a:solidFill>
                  <a:srgbClr val="000000"/>
                </a:solidFill>
                <a:latin typeface="Consolas" panose="020B0609020204030204" charset="0"/>
                <a:sym typeface="+mn-ea"/>
              </a:rPr>
              <a:t>;</a:t>
            </a:r>
          </a:p>
          <a:p>
            <a:pPr algn="l">
              <a:spcBef>
                <a:spcPts val="0"/>
              </a:spcBef>
            </a:pPr>
            <a:r>
              <a:rPr lang="en-US">
                <a:solidFill>
                  <a:srgbClr val="000000"/>
                </a:solidFill>
                <a:latin typeface="Consolas" panose="020B0609020204030204" charset="0"/>
                <a:sym typeface="+mn-ea"/>
              </a:rPr>
              <a:t>		}</a:t>
            </a:r>
            <a:endParaRPr lang="zh-CN" altLang="en-US"/>
          </a:p>
        </p:txBody>
      </p:sp>
      <p:sp>
        <p:nvSpPr>
          <p:cNvPr id="4" name="文本框 3"/>
          <p:cNvSpPr txBox="1"/>
          <p:nvPr/>
        </p:nvSpPr>
        <p:spPr>
          <a:xfrm>
            <a:off x="2430145" y="4320540"/>
            <a:ext cx="8520430" cy="2553335"/>
          </a:xfrm>
          <a:prstGeom prst="rect">
            <a:avLst/>
          </a:prstGeom>
          <a:noFill/>
          <a:ln w="9525">
            <a:noFill/>
          </a:ln>
        </p:spPr>
        <p:txBody>
          <a:bodyPr wrap="square">
            <a:spAutoFit/>
          </a:bodyPr>
          <a:lstStyle/>
          <a:p>
            <a:pPr>
              <a:spcAft>
                <a:spcPts val="0"/>
              </a:spcAft>
            </a:pPr>
            <a:r>
              <a:rPr lang="en-US">
                <a:solidFill>
                  <a:srgbClr val="000000"/>
                </a:solidFill>
                <a:latin typeface="Consolas" panose="020B0609020204030204" charset="0"/>
                <a:ea typeface="宋体" panose="02010600030101010101" pitchFamily="2" charset="-122"/>
              </a:rPr>
              <a:t>	</a:t>
            </a:r>
            <a:r>
              <a:rPr lang="en-US" b="1">
                <a:solidFill>
                  <a:srgbClr val="7F0055"/>
                </a:solidFill>
                <a:latin typeface="Consolas" panose="020B0609020204030204" charset="0"/>
                <a:ea typeface="宋体" panose="02010600030101010101" pitchFamily="2" charset="-122"/>
              </a:rPr>
              <a:t>static</a:t>
            </a:r>
            <a:r>
              <a:rPr lang="en-US">
                <a:latin typeface="Consolas" panose="020B0609020204030204" charset="0"/>
                <a:ea typeface="宋体" panose="02010600030101010101" pitchFamily="2" charset="-122"/>
              </a:rPr>
              <a:t> String formatterPatternSwitch(Object obj) {</a:t>
            </a:r>
          </a:p>
          <a:p>
            <a:pPr>
              <a:spcAft>
                <a:spcPts val="0"/>
              </a:spcAft>
            </a:pPr>
            <a:r>
              <a:rPr lang="en-US">
                <a:latin typeface="Consolas" panose="020B0609020204030204" charset="0"/>
                <a:ea typeface="宋体" panose="02010600030101010101" pitchFamily="2" charset="-122"/>
              </a:rPr>
              <a:t>        </a:t>
            </a:r>
            <a:r>
              <a:rPr lang="en-US" b="1">
                <a:solidFill>
                  <a:srgbClr val="7F0055"/>
                </a:solidFill>
                <a:latin typeface="Consolas" panose="020B0609020204030204" charset="0"/>
                <a:ea typeface="宋体" panose="02010600030101010101" pitchFamily="2" charset="-122"/>
              </a:rPr>
              <a:t>return switch</a:t>
            </a:r>
            <a:r>
              <a:rPr lang="en-US">
                <a:latin typeface="Consolas" panose="020B0609020204030204" charset="0"/>
                <a:ea typeface="宋体" panose="02010600030101010101" pitchFamily="2" charset="-122"/>
              </a:rPr>
              <a:t> (obj) {</a:t>
            </a:r>
          </a:p>
          <a:p>
            <a:pPr>
              <a:spcAft>
                <a:spcPts val="0"/>
              </a:spcAft>
            </a:pPr>
            <a:r>
              <a:rPr lang="en-US">
                <a:latin typeface="Consolas" panose="020B0609020204030204" charset="0"/>
                <a:ea typeface="宋体" panose="02010600030101010101" pitchFamily="2" charset="-122"/>
              </a:rPr>
              <a:t>            </a:t>
            </a:r>
            <a:r>
              <a:rPr lang="en-US" b="1">
                <a:solidFill>
                  <a:srgbClr val="7F0055"/>
                </a:solidFill>
                <a:latin typeface="Consolas" panose="020B0609020204030204" charset="0"/>
                <a:ea typeface="宋体" panose="02010600030101010101" pitchFamily="2" charset="-122"/>
              </a:rPr>
              <a:t>case </a:t>
            </a:r>
            <a:r>
              <a:rPr lang="en-US">
                <a:latin typeface="Consolas" panose="020B0609020204030204" charset="0"/>
                <a:ea typeface="宋体" panose="02010600030101010101" pitchFamily="2" charset="-122"/>
              </a:rPr>
              <a:t>Integer i -&gt; String.format(</a:t>
            </a:r>
            <a:r>
              <a:rPr lang="en-US">
                <a:solidFill>
                  <a:srgbClr val="2A00FF"/>
                </a:solidFill>
                <a:latin typeface="Consolas" panose="020B0609020204030204" charset="0"/>
                <a:ea typeface="宋体" panose="02010600030101010101" pitchFamily="2" charset="-122"/>
              </a:rPr>
              <a:t>"int %d"</a:t>
            </a:r>
            <a:r>
              <a:rPr lang="en-US">
                <a:latin typeface="Consolas" panose="020B0609020204030204" charset="0"/>
                <a:ea typeface="宋体" panose="02010600030101010101" pitchFamily="2" charset="-122"/>
              </a:rPr>
              <a:t>, i);</a:t>
            </a:r>
          </a:p>
          <a:p>
            <a:pPr>
              <a:spcAft>
                <a:spcPts val="0"/>
              </a:spcAft>
            </a:pPr>
            <a:r>
              <a:rPr lang="en-US">
                <a:latin typeface="Consolas" panose="020B0609020204030204" charset="0"/>
                <a:ea typeface="宋体" panose="02010600030101010101" pitchFamily="2" charset="-122"/>
              </a:rPr>
              <a:t>            </a:t>
            </a:r>
            <a:r>
              <a:rPr lang="en-US" b="1">
                <a:solidFill>
                  <a:srgbClr val="7F0055"/>
                </a:solidFill>
                <a:latin typeface="Consolas" panose="020B0609020204030204" charset="0"/>
                <a:ea typeface="宋体" panose="02010600030101010101" pitchFamily="2" charset="-122"/>
              </a:rPr>
              <a:t>case </a:t>
            </a:r>
            <a:r>
              <a:rPr lang="en-US">
                <a:latin typeface="Consolas" panose="020B0609020204030204" charset="0"/>
                <a:ea typeface="宋体" panose="02010600030101010101" pitchFamily="2" charset="-122"/>
              </a:rPr>
              <a:t>Double d  -&gt; String.format(</a:t>
            </a:r>
            <a:r>
              <a:rPr lang="en-US">
                <a:solidFill>
                  <a:srgbClr val="2A00FF"/>
                </a:solidFill>
                <a:latin typeface="Consolas" panose="020B0609020204030204" charset="0"/>
                <a:ea typeface="宋体" panose="02010600030101010101" pitchFamily="2" charset="-122"/>
              </a:rPr>
              <a:t>"double %f"</a:t>
            </a:r>
            <a:r>
              <a:rPr lang="en-US">
                <a:latin typeface="Consolas" panose="020B0609020204030204" charset="0"/>
                <a:ea typeface="宋体" panose="02010600030101010101" pitchFamily="2" charset="-122"/>
              </a:rPr>
              <a:t>, d);</a:t>
            </a:r>
          </a:p>
          <a:p>
            <a:pPr>
              <a:spcAft>
                <a:spcPts val="0"/>
              </a:spcAft>
            </a:pPr>
            <a:r>
              <a:rPr lang="en-US">
                <a:latin typeface="Consolas" panose="020B0609020204030204" charset="0"/>
                <a:ea typeface="宋体" panose="02010600030101010101" pitchFamily="2" charset="-122"/>
              </a:rPr>
              <a:t>            </a:t>
            </a:r>
            <a:r>
              <a:rPr lang="en-US" b="1">
                <a:solidFill>
                  <a:srgbClr val="7F0055"/>
                </a:solidFill>
                <a:latin typeface="Consolas" panose="020B0609020204030204" charset="0"/>
                <a:ea typeface="宋体" panose="02010600030101010101" pitchFamily="2" charset="-122"/>
              </a:rPr>
              <a:t>case </a:t>
            </a:r>
            <a:r>
              <a:rPr lang="en-US">
                <a:latin typeface="Consolas" panose="020B0609020204030204" charset="0"/>
                <a:ea typeface="宋体" panose="02010600030101010101" pitchFamily="2" charset="-122"/>
              </a:rPr>
              <a:t>String s  -&gt; String.format(</a:t>
            </a:r>
            <a:r>
              <a:rPr lang="en-US">
                <a:solidFill>
                  <a:srgbClr val="2A00FF"/>
                </a:solidFill>
                <a:latin typeface="Consolas" panose="020B0609020204030204" charset="0"/>
                <a:ea typeface="宋体" panose="02010600030101010101" pitchFamily="2" charset="-122"/>
              </a:rPr>
              <a:t>"String %s"</a:t>
            </a:r>
            <a:r>
              <a:rPr lang="en-US">
                <a:latin typeface="Consolas" panose="020B0609020204030204" charset="0"/>
                <a:ea typeface="宋体" panose="02010600030101010101" pitchFamily="2" charset="-122"/>
              </a:rPr>
              <a:t>, s);</a:t>
            </a:r>
          </a:p>
          <a:p>
            <a:pPr>
              <a:spcAft>
                <a:spcPts val="0"/>
              </a:spcAft>
            </a:pPr>
            <a:r>
              <a:rPr lang="en-US">
                <a:latin typeface="Consolas" panose="020B0609020204030204" charset="0"/>
                <a:ea typeface="宋体" panose="02010600030101010101" pitchFamily="2" charset="-122"/>
              </a:rPr>
              <a:t>            </a:t>
            </a:r>
            <a:r>
              <a:rPr lang="en-US" b="1">
                <a:solidFill>
                  <a:srgbClr val="7F0055"/>
                </a:solidFill>
                <a:latin typeface="Consolas" panose="020B0609020204030204" charset="0"/>
                <a:ea typeface="宋体" panose="02010600030101010101" pitchFamily="2" charset="-122"/>
              </a:rPr>
              <a:t>default        </a:t>
            </a:r>
            <a:r>
              <a:rPr lang="en-US">
                <a:latin typeface="Consolas" panose="020B0609020204030204" charset="0"/>
                <a:ea typeface="宋体" panose="02010600030101010101" pitchFamily="2" charset="-122"/>
              </a:rPr>
              <a:t>-&gt; obj.toString();</a:t>
            </a:r>
          </a:p>
          <a:p>
            <a:pPr>
              <a:spcAft>
                <a:spcPts val="0"/>
              </a:spcAft>
            </a:pPr>
            <a:r>
              <a:rPr lang="en-US">
                <a:latin typeface="Consolas" panose="020B0609020204030204" charset="0"/>
                <a:ea typeface="宋体" panose="02010600030101010101" pitchFamily="2" charset="-122"/>
              </a:rPr>
              <a:t>        };</a:t>
            </a:r>
          </a:p>
          <a:p>
            <a:pPr>
              <a:spcAft>
                <a:spcPts val="0"/>
              </a:spcAft>
            </a:pPr>
            <a:r>
              <a:rPr lang="en-US">
                <a:latin typeface="Consolas" panose="020B0609020204030204" charset="0"/>
                <a:ea typeface="宋体" panose="02010600030101010101" pitchFamily="2" charset="-122"/>
              </a:rPr>
              <a:t>    }</a:t>
            </a:r>
          </a:p>
        </p:txBody>
      </p:sp>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0000" lnSpcReduction="20000"/>
          </a:bodyPr>
          <a:lstStyle/>
          <a:p>
            <a:pPr eaLnBrk="1" hangingPunct="1">
              <a:lnSpc>
                <a:spcPct val="150000"/>
              </a:lnSpc>
              <a:spcAft>
                <a:spcPts val="0"/>
              </a:spcAft>
              <a:buClr>
                <a:srgbClr val="000000"/>
              </a:buClr>
              <a:buSzTx/>
            </a:pPr>
            <a:r>
              <a:rPr lang="zh-CN" altLang="en-US" dirty="0"/>
              <a:t>反复执行同一代码块直到满足结束条件</a:t>
            </a:r>
          </a:p>
          <a:p>
            <a:pPr eaLnBrk="1" hangingPunct="1">
              <a:lnSpc>
                <a:spcPct val="150000"/>
              </a:lnSpc>
              <a:spcBef>
                <a:spcPts val="20"/>
              </a:spcBef>
              <a:spcAft>
                <a:spcPts val="0"/>
              </a:spcAft>
              <a:buClr>
                <a:srgbClr val="000000"/>
              </a:buClr>
              <a:buSzTx/>
            </a:pPr>
            <a:r>
              <a:rPr lang="zh-CN" altLang="en-US" dirty="0"/>
              <a:t>组成</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循环的初始状态</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循环体</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迭代因子</a:t>
            </a:r>
            <a:r>
              <a:rPr lang="en-US" altLang="zh-CN" dirty="0"/>
              <a:t>(</a:t>
            </a:r>
            <a:r>
              <a:rPr lang="zh-CN" altLang="en-US" dirty="0"/>
              <a:t>计数器的递增或递减</a:t>
            </a:r>
            <a:r>
              <a:rPr lang="en-US" altLang="zh-CN" dirty="0"/>
              <a:t>)</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zh-CN" altLang="en-US" dirty="0"/>
              <a:t>控制表达式</a:t>
            </a:r>
          </a:p>
          <a:p>
            <a:pPr algn="l" eaLnBrk="1" hangingPunct="1">
              <a:lnSpc>
                <a:spcPct val="150000"/>
              </a:lnSpc>
              <a:spcBef>
                <a:spcPts val="20"/>
              </a:spcBef>
              <a:spcAft>
                <a:spcPts val="0"/>
              </a:spcAft>
              <a:buClr>
                <a:srgbClr val="000000"/>
              </a:buClr>
              <a:buSzTx/>
            </a:pPr>
            <a:r>
              <a:rPr lang="zh-CN" altLang="en-US" dirty="0"/>
              <a:t>3种循环语句</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while</a:t>
            </a:r>
            <a:r>
              <a:rPr lang="zh-CN" altLang="en-US" dirty="0"/>
              <a:t>循环</a:t>
            </a:r>
          </a:p>
          <a:p>
            <a:pPr marL="990600" lvl="1" indent="-533400" eaLnBrk="1" hangingPunct="1">
              <a:lnSpc>
                <a:spcPct val="150000"/>
              </a:lnSpc>
              <a:spcBef>
                <a:spcPts val="20"/>
              </a:spcBef>
              <a:spcAft>
                <a:spcPts val="0"/>
              </a:spcAft>
              <a:buSzPct val="90000"/>
              <a:buFont typeface="Wingdings" panose="05000000000000000000" pitchFamily="2" charset="2"/>
              <a:buAutoNum type="arabicPeriod"/>
            </a:pPr>
            <a:r>
              <a:rPr lang="en-US" altLang="zh-CN" dirty="0"/>
              <a:t>do-while</a:t>
            </a:r>
            <a:r>
              <a:rPr lang="zh-CN" altLang="en-US" dirty="0"/>
              <a:t>循环</a:t>
            </a:r>
          </a:p>
          <a:p>
            <a:pPr marL="990600" lvl="1" indent="-533400" eaLnBrk="1" hangingPunct="1">
              <a:lnSpc>
                <a:spcPct val="150000"/>
              </a:lnSpc>
              <a:spcBef>
                <a:spcPts val="20"/>
              </a:spcBef>
              <a:buSzPct val="90000"/>
              <a:buFont typeface="Wingdings" panose="05000000000000000000" pitchFamily="2" charset="2"/>
              <a:buAutoNum type="arabicPeriod"/>
            </a:pPr>
            <a:r>
              <a:rPr lang="en-US" altLang="zh-CN" dirty="0"/>
              <a:t>for</a:t>
            </a:r>
            <a:r>
              <a:rPr lang="zh-CN" altLang="en-US" dirty="0"/>
              <a:t>循环</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循环控制语句</a:t>
            </a:r>
          </a:p>
        </p:txBody>
      </p:sp>
    </p:spTree>
    <p:custDataLst>
      <p:tags r:id="rId1"/>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循环控制语句</a:t>
            </a:r>
          </a:p>
        </p:txBody>
      </p:sp>
      <p:sp>
        <p:nvSpPr>
          <p:cNvPr id="89091" name="Rectangle 3"/>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en-US" altLang="zh-CN" dirty="0"/>
              <a:t>while</a:t>
            </a:r>
            <a:r>
              <a:rPr lang="zh-CN" altLang="en-US" dirty="0"/>
              <a:t>循环</a:t>
            </a:r>
          </a:p>
          <a:p>
            <a:pPr marL="609600" indent="-609600" eaLnBrk="1" hangingPunct="1">
              <a:spcBef>
                <a:spcPts val="20"/>
              </a:spcBef>
              <a:spcAft>
                <a:spcPts val="0"/>
              </a:spcAft>
              <a:buSzPct val="90000"/>
            </a:pPr>
            <a:r>
              <a:rPr lang="zh-CN" altLang="en-US" dirty="0"/>
              <a:t>语法</a:t>
            </a:r>
          </a:p>
          <a:p>
            <a:pPr marL="990600" lvl="1" indent="-533400" eaLnBrk="1" hangingPunct="1">
              <a:spcBef>
                <a:spcPts val="20"/>
              </a:spcBef>
              <a:spcAft>
                <a:spcPts val="0"/>
              </a:spcAft>
              <a:buSzPct val="90000"/>
              <a:buNone/>
            </a:pPr>
            <a:r>
              <a:rPr lang="zh-CN" altLang="en-US" dirty="0"/>
              <a:t>  </a:t>
            </a:r>
            <a:r>
              <a:rPr lang="en-US" altLang="zh-CN" dirty="0"/>
              <a:t>while (</a:t>
            </a:r>
            <a:r>
              <a:rPr lang="zh-CN" altLang="en-US" dirty="0"/>
              <a:t>布尔表达式</a:t>
            </a:r>
            <a:r>
              <a:rPr lang="en-US" altLang="zh-CN" dirty="0"/>
              <a:t>) {</a:t>
            </a:r>
          </a:p>
          <a:p>
            <a:pPr marL="990600" lvl="1" indent="-533400" eaLnBrk="1" hangingPunct="1">
              <a:spcBef>
                <a:spcPts val="20"/>
              </a:spcBef>
              <a:spcAft>
                <a:spcPts val="0"/>
              </a:spcAft>
              <a:buSzPct val="90000"/>
              <a:buNone/>
            </a:pPr>
            <a:r>
              <a:rPr lang="en-US" altLang="x-none" dirty="0"/>
              <a:t>	  </a:t>
            </a:r>
            <a:r>
              <a:rPr lang="zh-CN" altLang="en-US" dirty="0"/>
              <a:t>循环体；</a:t>
            </a:r>
          </a:p>
          <a:p>
            <a:pPr marL="990600" lvl="1" indent="-533400" eaLnBrk="1" hangingPunct="1">
              <a:spcBef>
                <a:spcPts val="20"/>
              </a:spcBef>
              <a:buSzPct val="90000"/>
              <a:buNone/>
            </a:pPr>
            <a:r>
              <a:rPr lang="zh-CN" altLang="en-US" dirty="0"/>
              <a:t>  </a:t>
            </a:r>
            <a:r>
              <a:rPr lang="en-US" altLang="zh-CN" dirty="0"/>
              <a:t>}</a:t>
            </a:r>
          </a:p>
        </p:txBody>
      </p:sp>
      <p:grpSp>
        <p:nvGrpSpPr>
          <p:cNvPr id="89092" name="Group 4"/>
          <p:cNvGrpSpPr/>
          <p:nvPr/>
        </p:nvGrpSpPr>
        <p:grpSpPr>
          <a:xfrm>
            <a:off x="5800725" y="1920240"/>
            <a:ext cx="3920490" cy="4080510"/>
            <a:chOff x="0" y="0"/>
            <a:chExt cx="2352" cy="2448"/>
          </a:xfrm>
        </p:grpSpPr>
        <p:sp>
          <p:nvSpPr>
            <p:cNvPr id="89093" name="Rectangle 5"/>
            <p:cNvSpPr/>
            <p:nvPr/>
          </p:nvSpPr>
          <p:spPr>
            <a:xfrm>
              <a:off x="48" y="0"/>
              <a:ext cx="2304" cy="2448"/>
            </a:xfrm>
            <a:prstGeom prst="rect">
              <a:avLst/>
            </a:prstGeom>
            <a:solidFill>
              <a:schemeClr val="bg1"/>
            </a:solidFill>
            <a:ln w="9525">
              <a:noFill/>
            </a:ln>
          </p:spPr>
          <p:txBody>
            <a:bodyPr wrap="none" anchor="ctr"/>
            <a:lstStyle/>
            <a:p>
              <a:pPr eaLnBrk="1" hangingPunct="1"/>
              <a:endParaRPr lang="zh-CN" altLang="en-US" sz="2100" dirty="0">
                <a:latin typeface="Arial" panose="020B0604020202020204" pitchFamily="34" charset="0"/>
              </a:endParaRPr>
            </a:p>
          </p:txBody>
        </p:sp>
        <p:sp>
          <p:nvSpPr>
            <p:cNvPr id="89094" name="Rectangle 6"/>
            <p:cNvSpPr/>
            <p:nvPr/>
          </p:nvSpPr>
          <p:spPr>
            <a:xfrm>
              <a:off x="0" y="432"/>
              <a:ext cx="624" cy="240"/>
            </a:xfrm>
            <a:prstGeom prst="rect">
              <a:avLst/>
            </a:prstGeom>
            <a:noFill/>
            <a:ln w="9525">
              <a:noFill/>
            </a:ln>
          </p:spPr>
          <p:txBody>
            <a:bodyPr wrap="none" anchor="ctr"/>
            <a:lstStyle/>
            <a:p>
              <a:pPr algn="ctr" eaLnBrk="1" hangingPunct="1"/>
              <a:r>
                <a:rPr lang="en-US" altLang="zh-CN" sz="2520" dirty="0">
                  <a:latin typeface="Tahoma" panose="020B0604030504040204" pitchFamily="34" charset="0"/>
                </a:rPr>
                <a:t>false</a:t>
              </a:r>
            </a:p>
          </p:txBody>
        </p:sp>
        <p:grpSp>
          <p:nvGrpSpPr>
            <p:cNvPr id="89095" name="Group 7"/>
            <p:cNvGrpSpPr/>
            <p:nvPr/>
          </p:nvGrpSpPr>
          <p:grpSpPr>
            <a:xfrm>
              <a:off x="144" y="48"/>
              <a:ext cx="2112" cy="2400"/>
              <a:chOff x="0" y="0"/>
              <a:chExt cx="2112" cy="2400"/>
            </a:xfrm>
          </p:grpSpPr>
          <p:sp>
            <p:nvSpPr>
              <p:cNvPr id="89096" name="Rectangle 8"/>
              <p:cNvSpPr/>
              <p:nvPr/>
            </p:nvSpPr>
            <p:spPr>
              <a:xfrm>
                <a:off x="672" y="1200"/>
                <a:ext cx="912" cy="384"/>
              </a:xfrm>
              <a:prstGeom prst="rect">
                <a:avLst/>
              </a:prstGeom>
              <a:no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rPr>
                  <a:t>循环体</a:t>
                </a:r>
              </a:p>
            </p:txBody>
          </p:sp>
          <p:sp>
            <p:nvSpPr>
              <p:cNvPr id="89097" name="AutoShape 9"/>
              <p:cNvSpPr/>
              <p:nvPr/>
            </p:nvSpPr>
            <p:spPr>
              <a:xfrm>
                <a:off x="384" y="336"/>
                <a:ext cx="1536" cy="576"/>
              </a:xfrm>
              <a:prstGeom prst="diamond">
                <a:avLst/>
              </a:prstGeom>
              <a:no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sym typeface="+mn-ea"/>
                  </a:rPr>
                  <a:t>布尔表达式</a:t>
                </a:r>
                <a:endParaRPr lang="zh-CN" altLang="en-US" sz="2520" dirty="0">
                  <a:latin typeface="Tahoma" panose="020B0604030504040204" pitchFamily="34" charset="0"/>
                  <a:ea typeface="华文中宋" panose="02010600040101010101" pitchFamily="2" charset="-122"/>
                </a:endParaRPr>
              </a:p>
            </p:txBody>
          </p:sp>
          <p:sp>
            <p:nvSpPr>
              <p:cNvPr id="89098" name="Line 10"/>
              <p:cNvSpPr/>
              <p:nvPr/>
            </p:nvSpPr>
            <p:spPr>
              <a:xfrm>
                <a:off x="1152" y="0"/>
                <a:ext cx="0" cy="336"/>
              </a:xfrm>
              <a:prstGeom prst="line">
                <a:avLst/>
              </a:prstGeom>
              <a:ln w="9525" cap="flat" cmpd="sng">
                <a:solidFill>
                  <a:schemeClr val="tx1"/>
                </a:solidFill>
                <a:prstDash val="solid"/>
                <a:headEnd type="none" w="med" len="med"/>
                <a:tailEnd type="triangle" w="med" len="med"/>
              </a:ln>
            </p:spPr>
          </p:sp>
          <p:sp>
            <p:nvSpPr>
              <p:cNvPr id="89099" name="Line 11"/>
              <p:cNvSpPr/>
              <p:nvPr/>
            </p:nvSpPr>
            <p:spPr>
              <a:xfrm>
                <a:off x="1152" y="912"/>
                <a:ext cx="0" cy="288"/>
              </a:xfrm>
              <a:prstGeom prst="line">
                <a:avLst/>
              </a:prstGeom>
              <a:ln w="9525" cap="flat" cmpd="sng">
                <a:solidFill>
                  <a:schemeClr val="tx1"/>
                </a:solidFill>
                <a:prstDash val="solid"/>
                <a:headEnd type="none" w="med" len="med"/>
                <a:tailEnd type="triangle" w="med" len="med"/>
              </a:ln>
            </p:spPr>
          </p:sp>
          <p:sp>
            <p:nvSpPr>
              <p:cNvPr id="89100" name="Line 12"/>
              <p:cNvSpPr/>
              <p:nvPr/>
            </p:nvSpPr>
            <p:spPr>
              <a:xfrm>
                <a:off x="1152" y="1824"/>
                <a:ext cx="0" cy="240"/>
              </a:xfrm>
              <a:prstGeom prst="line">
                <a:avLst/>
              </a:prstGeom>
              <a:ln w="9525" cap="flat" cmpd="sng">
                <a:solidFill>
                  <a:schemeClr val="tx1"/>
                </a:solidFill>
                <a:prstDash val="solid"/>
                <a:headEnd type="none" w="med" len="med"/>
                <a:tailEnd type="triangle" w="med" len="med"/>
              </a:ln>
            </p:spPr>
          </p:sp>
          <p:sp>
            <p:nvSpPr>
              <p:cNvPr id="89101" name="Line 13"/>
              <p:cNvSpPr/>
              <p:nvPr/>
            </p:nvSpPr>
            <p:spPr>
              <a:xfrm>
                <a:off x="1152" y="144"/>
                <a:ext cx="960" cy="0"/>
              </a:xfrm>
              <a:prstGeom prst="line">
                <a:avLst/>
              </a:prstGeom>
              <a:ln w="9525" cap="flat" cmpd="sng">
                <a:solidFill>
                  <a:schemeClr val="tx1"/>
                </a:solidFill>
                <a:prstDash val="solid"/>
                <a:headEnd type="triangle" w="med" len="med"/>
                <a:tailEnd type="none" w="med" len="med"/>
              </a:ln>
            </p:spPr>
          </p:sp>
          <p:sp>
            <p:nvSpPr>
              <p:cNvPr id="89102" name="Rectangle 14"/>
              <p:cNvSpPr/>
              <p:nvPr/>
            </p:nvSpPr>
            <p:spPr>
              <a:xfrm>
                <a:off x="1200" y="912"/>
                <a:ext cx="528" cy="240"/>
              </a:xfrm>
              <a:prstGeom prst="rect">
                <a:avLst/>
              </a:prstGeom>
              <a:noFill/>
              <a:ln w="9525">
                <a:noFill/>
              </a:ln>
            </p:spPr>
            <p:txBody>
              <a:bodyPr wrap="none" anchor="ctr"/>
              <a:lstStyle/>
              <a:p>
                <a:pPr algn="ctr" eaLnBrk="1" hangingPunct="1"/>
                <a:r>
                  <a:rPr lang="en-US" altLang="zh-CN" sz="2520" dirty="0">
                    <a:latin typeface="Tahoma" panose="020B0604030504040204" pitchFamily="34" charset="0"/>
                    <a:ea typeface="华文中宋" panose="02010600040101010101" pitchFamily="2" charset="-122"/>
                  </a:rPr>
                  <a:t>true</a:t>
                </a:r>
              </a:p>
            </p:txBody>
          </p:sp>
          <p:sp>
            <p:nvSpPr>
              <p:cNvPr id="89103" name="Rectangle 15"/>
              <p:cNvSpPr/>
              <p:nvPr/>
            </p:nvSpPr>
            <p:spPr>
              <a:xfrm>
                <a:off x="624" y="2112"/>
                <a:ext cx="1104" cy="288"/>
              </a:xfrm>
              <a:prstGeom prst="rect">
                <a:avLst/>
              </a:prstGeom>
              <a:noFill/>
              <a:ln w="9525">
                <a:noFill/>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rPr>
                  <a:t>流程图</a:t>
                </a:r>
              </a:p>
            </p:txBody>
          </p:sp>
          <p:sp>
            <p:nvSpPr>
              <p:cNvPr id="89104" name="Line 16"/>
              <p:cNvSpPr/>
              <p:nvPr/>
            </p:nvSpPr>
            <p:spPr>
              <a:xfrm>
                <a:off x="1152" y="1728"/>
                <a:ext cx="960" cy="0"/>
              </a:xfrm>
              <a:prstGeom prst="line">
                <a:avLst/>
              </a:prstGeom>
              <a:ln w="9525" cap="flat" cmpd="sng">
                <a:solidFill>
                  <a:schemeClr val="tx1"/>
                </a:solidFill>
                <a:prstDash val="solid"/>
                <a:headEnd type="none" w="med" len="med"/>
                <a:tailEnd type="none" w="med" len="med"/>
              </a:ln>
            </p:spPr>
          </p:sp>
          <p:sp>
            <p:nvSpPr>
              <p:cNvPr id="89105" name="Line 17"/>
              <p:cNvSpPr/>
              <p:nvPr/>
            </p:nvSpPr>
            <p:spPr>
              <a:xfrm>
                <a:off x="2112" y="144"/>
                <a:ext cx="0" cy="1584"/>
              </a:xfrm>
              <a:prstGeom prst="line">
                <a:avLst/>
              </a:prstGeom>
              <a:ln w="9525" cap="flat" cmpd="sng">
                <a:solidFill>
                  <a:schemeClr val="tx1"/>
                </a:solidFill>
                <a:prstDash val="solid"/>
                <a:headEnd type="none" w="med" len="med"/>
                <a:tailEnd type="none" w="med" len="med"/>
              </a:ln>
            </p:spPr>
          </p:sp>
          <p:sp>
            <p:nvSpPr>
              <p:cNvPr id="89106" name="Line 18"/>
              <p:cNvSpPr/>
              <p:nvPr/>
            </p:nvSpPr>
            <p:spPr>
              <a:xfrm flipH="1">
                <a:off x="0" y="624"/>
                <a:ext cx="384" cy="0"/>
              </a:xfrm>
              <a:prstGeom prst="line">
                <a:avLst/>
              </a:prstGeom>
              <a:ln w="9525" cap="flat" cmpd="sng">
                <a:solidFill>
                  <a:schemeClr val="tx1"/>
                </a:solidFill>
                <a:prstDash val="solid"/>
                <a:headEnd type="none" w="med" len="med"/>
                <a:tailEnd type="none" w="med" len="med"/>
              </a:ln>
            </p:spPr>
          </p:sp>
          <p:sp>
            <p:nvSpPr>
              <p:cNvPr id="89107" name="Line 19"/>
              <p:cNvSpPr/>
              <p:nvPr/>
            </p:nvSpPr>
            <p:spPr>
              <a:xfrm>
                <a:off x="0" y="624"/>
                <a:ext cx="0" cy="1200"/>
              </a:xfrm>
              <a:prstGeom prst="line">
                <a:avLst/>
              </a:prstGeom>
              <a:ln w="9525" cap="flat" cmpd="sng">
                <a:solidFill>
                  <a:schemeClr val="tx1"/>
                </a:solidFill>
                <a:prstDash val="solid"/>
                <a:headEnd type="none" w="med" len="med"/>
                <a:tailEnd type="none" w="med" len="med"/>
              </a:ln>
            </p:spPr>
          </p:sp>
          <p:sp>
            <p:nvSpPr>
              <p:cNvPr id="89108" name="Line 20"/>
              <p:cNvSpPr/>
              <p:nvPr/>
            </p:nvSpPr>
            <p:spPr>
              <a:xfrm>
                <a:off x="0" y="1824"/>
                <a:ext cx="1152" cy="0"/>
              </a:xfrm>
              <a:prstGeom prst="line">
                <a:avLst/>
              </a:prstGeom>
              <a:ln w="9525" cap="flat" cmpd="sng">
                <a:solidFill>
                  <a:schemeClr val="tx1"/>
                </a:solidFill>
                <a:prstDash val="solid"/>
                <a:headEnd type="none" w="med" len="med"/>
                <a:tailEnd type="none" w="med" len="med"/>
              </a:ln>
            </p:spPr>
          </p:sp>
          <p:sp>
            <p:nvSpPr>
              <p:cNvPr id="89109" name="Line 21"/>
              <p:cNvSpPr/>
              <p:nvPr/>
            </p:nvSpPr>
            <p:spPr>
              <a:xfrm>
                <a:off x="1152" y="1584"/>
                <a:ext cx="0" cy="144"/>
              </a:xfrm>
              <a:prstGeom prst="line">
                <a:avLst/>
              </a:prstGeom>
              <a:ln w="9525" cap="flat" cmpd="sng">
                <a:solidFill>
                  <a:schemeClr val="tx1"/>
                </a:solidFill>
                <a:prstDash val="solid"/>
                <a:headEnd type="none" w="med" len="med"/>
                <a:tailEnd type="none" w="med" len="med"/>
              </a:ln>
            </p:spPr>
          </p:sp>
        </p:gr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Effect transition="in" filter="barn(outHorizontal)">
                                      <p:cBhvr>
                                        <p:cTn id="7" dur="500"/>
                                        <p:tgtEl>
                                          <p:spTgt spid="89091">
                                            <p:txEl>
                                              <p:pRg st="0" end="0"/>
                                            </p:txEl>
                                          </p:spTgt>
                                        </p:tgtEl>
                                      </p:cBhvr>
                                    </p:animEffect>
                                  </p:childTnLst>
                                </p:cTn>
                              </p:par>
                            </p:childTnLst>
                          </p:cTn>
                        </p:par>
                        <p:par>
                          <p:cTn id="8" fill="hold">
                            <p:stCondLst>
                              <p:cond delay="500"/>
                            </p:stCondLst>
                            <p:childTnLst>
                              <p:par>
                                <p:cTn id="9" presetID="16" presetClass="entr" presetSubtype="42" fill="hold" grpId="0" nodeType="afterEffect">
                                  <p:stCondLst>
                                    <p:cond delay="0"/>
                                  </p:stCondLst>
                                  <p:childTnLst>
                                    <p:set>
                                      <p:cBhvr>
                                        <p:cTn id="10" dur="1" fill="hold">
                                          <p:stCondLst>
                                            <p:cond delay="0"/>
                                          </p:stCondLst>
                                        </p:cTn>
                                        <p:tgtEl>
                                          <p:spTgt spid="89091">
                                            <p:txEl>
                                              <p:pRg st="1" end="1"/>
                                            </p:txEl>
                                          </p:spTgt>
                                        </p:tgtEl>
                                        <p:attrNameLst>
                                          <p:attrName>style.visibility</p:attrName>
                                        </p:attrNameLst>
                                      </p:cBhvr>
                                      <p:to>
                                        <p:strVal val="visible"/>
                                      </p:to>
                                    </p:set>
                                    <p:animEffect transition="in" filter="barn(outHorizontal)">
                                      <p:cBhvr>
                                        <p:cTn id="11" dur="500"/>
                                        <p:tgtEl>
                                          <p:spTgt spid="89091">
                                            <p:txEl>
                                              <p:pRg st="1" end="1"/>
                                            </p:txEl>
                                          </p:spTgt>
                                        </p:tgtEl>
                                      </p:cBhvr>
                                    </p:animEffect>
                                  </p:childTnLst>
                                </p:cTn>
                              </p:par>
                              <p:par>
                                <p:cTn id="12" presetID="16" presetClass="entr" presetSubtype="42" fill="hold" grpId="0" nodeType="withEffect">
                                  <p:stCondLst>
                                    <p:cond delay="0"/>
                                  </p:stCondLst>
                                  <p:childTnLst>
                                    <p:set>
                                      <p:cBhvr>
                                        <p:cTn id="13" dur="1" fill="hold">
                                          <p:stCondLst>
                                            <p:cond delay="0"/>
                                          </p:stCondLst>
                                        </p:cTn>
                                        <p:tgtEl>
                                          <p:spTgt spid="89091">
                                            <p:txEl>
                                              <p:pRg st="2" end="2"/>
                                            </p:txEl>
                                          </p:spTgt>
                                        </p:tgtEl>
                                        <p:attrNameLst>
                                          <p:attrName>style.visibility</p:attrName>
                                        </p:attrNameLst>
                                      </p:cBhvr>
                                      <p:to>
                                        <p:strVal val="visible"/>
                                      </p:to>
                                    </p:set>
                                    <p:animEffect transition="in" filter="barn(outHorizontal)">
                                      <p:cBhvr>
                                        <p:cTn id="14" dur="500"/>
                                        <p:tgtEl>
                                          <p:spTgt spid="89091">
                                            <p:txEl>
                                              <p:pRg st="2" end="2"/>
                                            </p:txEl>
                                          </p:spTgt>
                                        </p:tgtEl>
                                      </p:cBhvr>
                                    </p:animEffect>
                                  </p:childTnLst>
                                </p:cTn>
                              </p:par>
                              <p:par>
                                <p:cTn id="15" presetID="16" presetClass="entr" presetSubtype="42" fill="hold" grpId="0" nodeType="withEffect">
                                  <p:stCondLst>
                                    <p:cond delay="0"/>
                                  </p:stCondLst>
                                  <p:childTnLst>
                                    <p:set>
                                      <p:cBhvr>
                                        <p:cTn id="16" dur="1" fill="hold">
                                          <p:stCondLst>
                                            <p:cond delay="0"/>
                                          </p:stCondLst>
                                        </p:cTn>
                                        <p:tgtEl>
                                          <p:spTgt spid="89091">
                                            <p:txEl>
                                              <p:pRg st="3" end="3"/>
                                            </p:txEl>
                                          </p:spTgt>
                                        </p:tgtEl>
                                        <p:attrNameLst>
                                          <p:attrName>style.visibility</p:attrName>
                                        </p:attrNameLst>
                                      </p:cBhvr>
                                      <p:to>
                                        <p:strVal val="visible"/>
                                      </p:to>
                                    </p:set>
                                    <p:animEffect transition="in" filter="barn(outHorizontal)">
                                      <p:cBhvr>
                                        <p:cTn id="17" dur="500"/>
                                        <p:tgtEl>
                                          <p:spTgt spid="89091">
                                            <p:txEl>
                                              <p:pRg st="3" end="3"/>
                                            </p:txEl>
                                          </p:spTgt>
                                        </p:tgtEl>
                                      </p:cBhvr>
                                    </p:animEffect>
                                  </p:childTnLst>
                                </p:cTn>
                              </p:par>
                              <p:par>
                                <p:cTn id="18" presetID="16" presetClass="entr" presetSubtype="42" fill="hold" grpId="0" nodeType="withEffect">
                                  <p:stCondLst>
                                    <p:cond delay="0"/>
                                  </p:stCondLst>
                                  <p:childTnLst>
                                    <p:set>
                                      <p:cBhvr>
                                        <p:cTn id="19" dur="1" fill="hold">
                                          <p:stCondLst>
                                            <p:cond delay="0"/>
                                          </p:stCondLst>
                                        </p:cTn>
                                        <p:tgtEl>
                                          <p:spTgt spid="89091">
                                            <p:txEl>
                                              <p:pRg st="4" end="4"/>
                                            </p:txEl>
                                          </p:spTgt>
                                        </p:tgtEl>
                                        <p:attrNameLst>
                                          <p:attrName>style.visibility</p:attrName>
                                        </p:attrNameLst>
                                      </p:cBhvr>
                                      <p:to>
                                        <p:strVal val="visible"/>
                                      </p:to>
                                    </p:set>
                                    <p:animEffect transition="in" filter="barn(outHorizontal)">
                                      <p:cBhvr>
                                        <p:cTn id="20" dur="500"/>
                                        <p:tgtEl>
                                          <p:spTgt spid="89091">
                                            <p:txEl>
                                              <p:pRg st="4" end="4"/>
                                            </p:txEl>
                                          </p:spTgt>
                                        </p:tgtEl>
                                      </p:cBhvr>
                                    </p:animEffect>
                                  </p:childTnLst>
                                </p:cTn>
                              </p:par>
                            </p:childTnLst>
                          </p:cTn>
                        </p:par>
                        <p:par>
                          <p:cTn id="21" fill="hold">
                            <p:stCondLst>
                              <p:cond delay="1000"/>
                            </p:stCondLst>
                            <p:childTnLst>
                              <p:par>
                                <p:cTn id="22" presetID="9" presetClass="entr" presetSubtype="0" fill="hold" nodeType="afterEffect">
                                  <p:stCondLst>
                                    <p:cond delay="0"/>
                                  </p:stCondLst>
                                  <p:childTnLst>
                                    <p:set>
                                      <p:cBhvr>
                                        <p:cTn id="23" dur="1" fill="hold">
                                          <p:stCondLst>
                                            <p:cond delay="0"/>
                                          </p:stCondLst>
                                        </p:cTn>
                                        <p:tgtEl>
                                          <p:spTgt spid="89092"/>
                                        </p:tgtEl>
                                        <p:attrNameLst>
                                          <p:attrName>style.visibility</p:attrName>
                                        </p:attrNameLst>
                                      </p:cBhvr>
                                      <p:to>
                                        <p:strVal val="visible"/>
                                      </p:to>
                                    </p:set>
                                    <p:animEffect transition="in" filter="dissolve">
                                      <p:cBhvr>
                                        <p:cTn id="24" dur="500"/>
                                        <p:tgtEl>
                                          <p:spTgt spid="89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advAuto="100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循环控制语句</a:t>
            </a:r>
          </a:p>
        </p:txBody>
      </p:sp>
      <p:sp>
        <p:nvSpPr>
          <p:cNvPr id="91139" name="Rectangle 3"/>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en-US" altLang="zh-CN" dirty="0"/>
              <a:t>do-while</a:t>
            </a:r>
            <a:r>
              <a:rPr lang="zh-CN" altLang="en-US" dirty="0"/>
              <a:t>循环</a:t>
            </a:r>
          </a:p>
          <a:p>
            <a:pPr marL="609600" indent="-609600" eaLnBrk="1" hangingPunct="1">
              <a:spcBef>
                <a:spcPts val="20"/>
              </a:spcBef>
              <a:spcAft>
                <a:spcPts val="0"/>
              </a:spcAft>
              <a:buSzPct val="90000"/>
            </a:pPr>
            <a:r>
              <a:rPr lang="zh-CN" altLang="en-US" dirty="0"/>
              <a:t>语法</a:t>
            </a:r>
          </a:p>
          <a:p>
            <a:pPr marL="990600" lvl="1" indent="-533400" eaLnBrk="1" hangingPunct="1">
              <a:spcBef>
                <a:spcPts val="20"/>
              </a:spcBef>
              <a:spcAft>
                <a:spcPts val="0"/>
              </a:spcAft>
              <a:buSzPct val="90000"/>
              <a:buNone/>
            </a:pPr>
            <a:r>
              <a:rPr lang="zh-CN" altLang="en-US" dirty="0"/>
              <a:t>  </a:t>
            </a:r>
            <a:r>
              <a:rPr lang="en-US" altLang="zh-CN" dirty="0"/>
              <a:t>do {</a:t>
            </a:r>
          </a:p>
          <a:p>
            <a:pPr marL="990600" lvl="1" indent="-533400" eaLnBrk="1" hangingPunct="1">
              <a:spcBef>
                <a:spcPts val="20"/>
              </a:spcBef>
              <a:spcAft>
                <a:spcPts val="0"/>
              </a:spcAft>
              <a:buSzPct val="90000"/>
              <a:buNone/>
            </a:pPr>
            <a:r>
              <a:rPr lang="en-US" altLang="zh-CN" dirty="0"/>
              <a:t>	  </a:t>
            </a:r>
            <a:r>
              <a:rPr lang="zh-CN" altLang="en-US" dirty="0"/>
              <a:t>循环体；</a:t>
            </a:r>
          </a:p>
          <a:p>
            <a:pPr marL="990600" lvl="1" indent="-533400" eaLnBrk="1" hangingPunct="1">
              <a:spcBef>
                <a:spcPts val="20"/>
              </a:spcBef>
              <a:spcAft>
                <a:spcPts val="0"/>
              </a:spcAft>
              <a:buSzPct val="90000"/>
              <a:buNone/>
            </a:pPr>
            <a:r>
              <a:rPr lang="zh-CN" altLang="en-US" dirty="0"/>
              <a:t>  </a:t>
            </a:r>
            <a:r>
              <a:rPr lang="en-US" altLang="zh-CN" dirty="0"/>
              <a:t>} while(</a:t>
            </a:r>
            <a:r>
              <a:rPr lang="zh-CN" altLang="en-US" dirty="0"/>
              <a:t>布尔表达式</a:t>
            </a:r>
            <a:r>
              <a:rPr lang="en-US" altLang="zh-CN" dirty="0"/>
              <a:t>);</a:t>
            </a:r>
          </a:p>
          <a:p>
            <a:pPr marL="990600" lvl="1" indent="-533400" eaLnBrk="1" hangingPunct="1">
              <a:spcBef>
                <a:spcPts val="20"/>
              </a:spcBef>
              <a:spcAft>
                <a:spcPts val="0"/>
              </a:spcAft>
              <a:buSzPct val="90000"/>
            </a:pPr>
            <a:r>
              <a:rPr lang="zh-CN" altLang="en-US" dirty="0"/>
              <a:t>先执行循环体</a:t>
            </a:r>
          </a:p>
          <a:p>
            <a:pPr marL="990600" lvl="1" indent="-533400" eaLnBrk="1" hangingPunct="1">
              <a:spcBef>
                <a:spcPts val="20"/>
              </a:spcBef>
              <a:spcAft>
                <a:spcPts val="0"/>
              </a:spcAft>
              <a:buSzPct val="90000"/>
            </a:pPr>
            <a:r>
              <a:rPr lang="zh-CN" altLang="en-US" dirty="0"/>
              <a:t>后判断布尔表达式</a:t>
            </a:r>
          </a:p>
          <a:p>
            <a:pPr marL="990600" lvl="1" indent="-533400" eaLnBrk="1" hangingPunct="1">
              <a:spcBef>
                <a:spcPts val="20"/>
              </a:spcBef>
              <a:buSzPct val="90000"/>
            </a:pPr>
            <a:r>
              <a:rPr lang="zh-CN" altLang="en-US" dirty="0"/>
              <a:t>循环体至少执行一次</a:t>
            </a:r>
          </a:p>
        </p:txBody>
      </p:sp>
      <p:grpSp>
        <p:nvGrpSpPr>
          <p:cNvPr id="91140" name="Group 4"/>
          <p:cNvGrpSpPr/>
          <p:nvPr/>
        </p:nvGrpSpPr>
        <p:grpSpPr>
          <a:xfrm>
            <a:off x="6040755" y="1840230"/>
            <a:ext cx="3760470" cy="4320540"/>
            <a:chOff x="0" y="0"/>
            <a:chExt cx="2256" cy="2592"/>
          </a:xfrm>
          <a:solidFill>
            <a:schemeClr val="bg1"/>
          </a:solidFill>
        </p:grpSpPr>
        <p:sp>
          <p:nvSpPr>
            <p:cNvPr id="91141" name="Rectangle 5"/>
            <p:cNvSpPr/>
            <p:nvPr/>
          </p:nvSpPr>
          <p:spPr>
            <a:xfrm>
              <a:off x="0" y="0"/>
              <a:ext cx="2256" cy="2592"/>
            </a:xfrm>
            <a:prstGeom prst="rect">
              <a:avLst/>
            </a:prstGeom>
            <a:grpFill/>
            <a:ln w="9525">
              <a:noFill/>
            </a:ln>
          </p:spPr>
          <p:txBody>
            <a:bodyPr wrap="none" anchor="ctr"/>
            <a:lstStyle/>
            <a:p>
              <a:pPr eaLnBrk="1" hangingPunct="1"/>
              <a:endParaRPr lang="zh-CN" altLang="en-US" sz="2100" dirty="0">
                <a:latin typeface="Arial" panose="020B0604020202020204" pitchFamily="34" charset="0"/>
              </a:endParaRPr>
            </a:p>
          </p:txBody>
        </p:sp>
        <p:sp>
          <p:nvSpPr>
            <p:cNvPr id="91142" name="Rectangle 6"/>
            <p:cNvSpPr/>
            <p:nvPr/>
          </p:nvSpPr>
          <p:spPr>
            <a:xfrm>
              <a:off x="480" y="432"/>
              <a:ext cx="912" cy="384"/>
            </a:xfrm>
            <a:prstGeom prst="rect">
              <a:avLst/>
            </a:prstGeom>
            <a:grp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rPr>
                <a:t>循环体</a:t>
              </a:r>
            </a:p>
          </p:txBody>
        </p:sp>
        <p:sp>
          <p:nvSpPr>
            <p:cNvPr id="91143" name="AutoShape 7"/>
            <p:cNvSpPr/>
            <p:nvPr/>
          </p:nvSpPr>
          <p:spPr>
            <a:xfrm>
              <a:off x="192" y="1104"/>
              <a:ext cx="1536" cy="576"/>
            </a:xfrm>
            <a:prstGeom prst="diamond">
              <a:avLst/>
            </a:prstGeom>
            <a:grp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sym typeface="+mn-ea"/>
                </a:rPr>
                <a:t>布尔表达式</a:t>
              </a:r>
              <a:endParaRPr lang="zh-CN" altLang="en-US" sz="2520" dirty="0">
                <a:latin typeface="Tahoma" panose="020B0604030504040204" pitchFamily="34" charset="0"/>
                <a:ea typeface="华文中宋" panose="02010600040101010101" pitchFamily="2" charset="-122"/>
              </a:endParaRPr>
            </a:p>
          </p:txBody>
        </p:sp>
        <p:sp>
          <p:nvSpPr>
            <p:cNvPr id="91144" name="Line 8"/>
            <p:cNvSpPr/>
            <p:nvPr/>
          </p:nvSpPr>
          <p:spPr>
            <a:xfrm>
              <a:off x="960" y="96"/>
              <a:ext cx="0" cy="336"/>
            </a:xfrm>
            <a:prstGeom prst="line">
              <a:avLst/>
            </a:prstGeom>
            <a:grpFill/>
            <a:ln w="9525" cap="flat" cmpd="sng">
              <a:solidFill>
                <a:schemeClr val="tx1"/>
              </a:solidFill>
              <a:prstDash val="solid"/>
              <a:headEnd type="none" w="med" len="med"/>
              <a:tailEnd type="triangle" w="med" len="med"/>
            </a:ln>
          </p:spPr>
        </p:sp>
        <p:sp>
          <p:nvSpPr>
            <p:cNvPr id="91145" name="Line 9"/>
            <p:cNvSpPr/>
            <p:nvPr/>
          </p:nvSpPr>
          <p:spPr>
            <a:xfrm>
              <a:off x="960" y="816"/>
              <a:ext cx="0" cy="288"/>
            </a:xfrm>
            <a:prstGeom prst="line">
              <a:avLst/>
            </a:prstGeom>
            <a:grpFill/>
            <a:ln w="9525" cap="flat" cmpd="sng">
              <a:solidFill>
                <a:schemeClr val="tx1"/>
              </a:solidFill>
              <a:prstDash val="solid"/>
              <a:headEnd type="none" w="med" len="med"/>
              <a:tailEnd type="triangle" w="med" len="med"/>
            </a:ln>
          </p:spPr>
        </p:sp>
        <p:sp>
          <p:nvSpPr>
            <p:cNvPr id="91146" name="Line 10"/>
            <p:cNvSpPr/>
            <p:nvPr/>
          </p:nvSpPr>
          <p:spPr>
            <a:xfrm>
              <a:off x="960" y="1680"/>
              <a:ext cx="0" cy="480"/>
            </a:xfrm>
            <a:prstGeom prst="line">
              <a:avLst/>
            </a:prstGeom>
            <a:grpFill/>
            <a:ln w="9525" cap="flat" cmpd="sng">
              <a:solidFill>
                <a:schemeClr val="tx1"/>
              </a:solidFill>
              <a:prstDash val="solid"/>
              <a:headEnd type="none" w="med" len="med"/>
              <a:tailEnd type="triangle" w="med" len="med"/>
            </a:ln>
          </p:spPr>
        </p:sp>
        <p:sp>
          <p:nvSpPr>
            <p:cNvPr id="91147" name="Line 11"/>
            <p:cNvSpPr/>
            <p:nvPr/>
          </p:nvSpPr>
          <p:spPr>
            <a:xfrm>
              <a:off x="960" y="240"/>
              <a:ext cx="1104" cy="0"/>
            </a:xfrm>
            <a:prstGeom prst="line">
              <a:avLst/>
            </a:prstGeom>
            <a:grpFill/>
            <a:ln w="9525" cap="flat" cmpd="sng">
              <a:solidFill>
                <a:schemeClr val="tx1"/>
              </a:solidFill>
              <a:prstDash val="solid"/>
              <a:headEnd type="triangle" w="med" len="med"/>
              <a:tailEnd type="none" w="med" len="med"/>
            </a:ln>
          </p:spPr>
        </p:sp>
        <p:sp>
          <p:nvSpPr>
            <p:cNvPr id="91148" name="Rectangle 12"/>
            <p:cNvSpPr/>
            <p:nvPr/>
          </p:nvSpPr>
          <p:spPr>
            <a:xfrm>
              <a:off x="384" y="1728"/>
              <a:ext cx="624" cy="240"/>
            </a:xfrm>
            <a:prstGeom prst="rect">
              <a:avLst/>
            </a:prstGeom>
            <a:grpFill/>
            <a:ln w="9525">
              <a:noFill/>
            </a:ln>
          </p:spPr>
          <p:txBody>
            <a:bodyPr wrap="none" anchor="ctr"/>
            <a:lstStyle/>
            <a:p>
              <a:pPr algn="ctr" eaLnBrk="1" hangingPunct="1"/>
              <a:r>
                <a:rPr lang="en-US" altLang="zh-CN" sz="2520" dirty="0">
                  <a:latin typeface="Tahoma" panose="020B0604030504040204" pitchFamily="34" charset="0"/>
                  <a:ea typeface="华文中宋" panose="02010600040101010101" pitchFamily="2" charset="-122"/>
                </a:rPr>
                <a:t>false</a:t>
              </a:r>
            </a:p>
          </p:txBody>
        </p:sp>
        <p:sp>
          <p:nvSpPr>
            <p:cNvPr id="91149" name="Rectangle 13"/>
            <p:cNvSpPr/>
            <p:nvPr/>
          </p:nvSpPr>
          <p:spPr>
            <a:xfrm>
              <a:off x="1536" y="1104"/>
              <a:ext cx="528" cy="240"/>
            </a:xfrm>
            <a:prstGeom prst="rect">
              <a:avLst/>
            </a:prstGeom>
            <a:grpFill/>
            <a:ln w="9525">
              <a:noFill/>
            </a:ln>
          </p:spPr>
          <p:txBody>
            <a:bodyPr wrap="none" anchor="ctr"/>
            <a:lstStyle/>
            <a:p>
              <a:pPr algn="ctr" eaLnBrk="1" hangingPunct="1"/>
              <a:r>
                <a:rPr lang="en-US" altLang="zh-CN" sz="2520" dirty="0">
                  <a:latin typeface="Tahoma" panose="020B0604030504040204" pitchFamily="34" charset="0"/>
                  <a:ea typeface="华文中宋" panose="02010600040101010101" pitchFamily="2" charset="-122"/>
                </a:rPr>
                <a:t>true</a:t>
              </a:r>
            </a:p>
          </p:txBody>
        </p:sp>
        <p:sp>
          <p:nvSpPr>
            <p:cNvPr id="91150" name="Rectangle 14"/>
            <p:cNvSpPr/>
            <p:nvPr/>
          </p:nvSpPr>
          <p:spPr>
            <a:xfrm>
              <a:off x="432" y="2208"/>
              <a:ext cx="1104" cy="288"/>
            </a:xfrm>
            <a:prstGeom prst="rect">
              <a:avLst/>
            </a:prstGeom>
            <a:grpFill/>
            <a:ln w="9525">
              <a:noFill/>
            </a:ln>
          </p:spPr>
          <p:txBody>
            <a:bodyPr wrap="none" anchor="ctr"/>
            <a:lstStyle/>
            <a:p>
              <a:pPr algn="ctr" eaLnBrk="1" hangingPunct="1"/>
              <a:r>
                <a:rPr lang="zh-CN" altLang="en-US" sz="2520" dirty="0">
                  <a:latin typeface="Tahoma" panose="020B0604030504040204" pitchFamily="34" charset="0"/>
                  <a:ea typeface="华文中宋" panose="02010600040101010101" pitchFamily="2" charset="-122"/>
                </a:rPr>
                <a:t>流程图</a:t>
              </a:r>
            </a:p>
          </p:txBody>
        </p:sp>
        <p:sp>
          <p:nvSpPr>
            <p:cNvPr id="91151" name="Line 15"/>
            <p:cNvSpPr/>
            <p:nvPr/>
          </p:nvSpPr>
          <p:spPr>
            <a:xfrm>
              <a:off x="1728" y="1392"/>
              <a:ext cx="336" cy="0"/>
            </a:xfrm>
            <a:prstGeom prst="line">
              <a:avLst/>
            </a:prstGeom>
            <a:grpFill/>
            <a:ln w="9525" cap="flat" cmpd="sng">
              <a:solidFill>
                <a:schemeClr val="tx1"/>
              </a:solidFill>
              <a:prstDash val="solid"/>
              <a:headEnd type="none" w="med" len="med"/>
              <a:tailEnd type="none" w="med" len="med"/>
            </a:ln>
          </p:spPr>
        </p:sp>
        <p:sp>
          <p:nvSpPr>
            <p:cNvPr id="91152" name="Line 16"/>
            <p:cNvSpPr/>
            <p:nvPr/>
          </p:nvSpPr>
          <p:spPr>
            <a:xfrm>
              <a:off x="2064" y="240"/>
              <a:ext cx="0" cy="1152"/>
            </a:xfrm>
            <a:prstGeom prst="line">
              <a:avLst/>
            </a:prstGeom>
            <a:grpFill/>
            <a:ln w="9525" cap="flat" cmpd="sng">
              <a:solidFill>
                <a:schemeClr val="tx1"/>
              </a:solidFill>
              <a:prstDash val="solid"/>
              <a:headEnd type="none" w="med" len="med"/>
              <a:tailEnd type="none" w="med" len="med"/>
            </a:ln>
          </p:spPr>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barn(outHorizontal)">
                                      <p:cBhvr>
                                        <p:cTn id="7" dur="500"/>
                                        <p:tgtEl>
                                          <p:spTgt spid="91139">
                                            <p:txEl>
                                              <p:pRg st="0" end="0"/>
                                            </p:txEl>
                                          </p:spTgt>
                                        </p:tgtEl>
                                      </p:cBhvr>
                                    </p:animEffect>
                                  </p:childTnLst>
                                </p:cTn>
                              </p:par>
                            </p:childTnLst>
                          </p:cTn>
                        </p:par>
                        <p:par>
                          <p:cTn id="8" fill="hold">
                            <p:stCondLst>
                              <p:cond delay="500"/>
                            </p:stCondLst>
                            <p:childTnLst>
                              <p:par>
                                <p:cTn id="9" presetID="16" presetClass="entr" presetSubtype="42" fill="hold" grpId="0" nodeType="afterEffect">
                                  <p:stCondLst>
                                    <p:cond delay="0"/>
                                  </p:stCondLst>
                                  <p:childTnLst>
                                    <p:set>
                                      <p:cBhvr>
                                        <p:cTn id="10" dur="1" fill="hold">
                                          <p:stCondLst>
                                            <p:cond delay="0"/>
                                          </p:stCondLst>
                                        </p:cTn>
                                        <p:tgtEl>
                                          <p:spTgt spid="91139">
                                            <p:txEl>
                                              <p:pRg st="1" end="1"/>
                                            </p:txEl>
                                          </p:spTgt>
                                        </p:tgtEl>
                                        <p:attrNameLst>
                                          <p:attrName>style.visibility</p:attrName>
                                        </p:attrNameLst>
                                      </p:cBhvr>
                                      <p:to>
                                        <p:strVal val="visible"/>
                                      </p:to>
                                    </p:set>
                                    <p:animEffect transition="in" filter="barn(outHorizontal)">
                                      <p:cBhvr>
                                        <p:cTn id="11" dur="500"/>
                                        <p:tgtEl>
                                          <p:spTgt spid="91139">
                                            <p:txEl>
                                              <p:pRg st="1" end="1"/>
                                            </p:txEl>
                                          </p:spTgt>
                                        </p:tgtEl>
                                      </p:cBhvr>
                                    </p:animEffect>
                                  </p:childTnLst>
                                </p:cTn>
                              </p:par>
                              <p:par>
                                <p:cTn id="12" presetID="16" presetClass="entr" presetSubtype="42" fill="hold" grpId="0" nodeType="withEffect">
                                  <p:stCondLst>
                                    <p:cond delay="0"/>
                                  </p:stCondLst>
                                  <p:childTnLst>
                                    <p:set>
                                      <p:cBhvr>
                                        <p:cTn id="13" dur="1" fill="hold">
                                          <p:stCondLst>
                                            <p:cond delay="0"/>
                                          </p:stCondLst>
                                        </p:cTn>
                                        <p:tgtEl>
                                          <p:spTgt spid="91139">
                                            <p:txEl>
                                              <p:pRg st="2" end="2"/>
                                            </p:txEl>
                                          </p:spTgt>
                                        </p:tgtEl>
                                        <p:attrNameLst>
                                          <p:attrName>style.visibility</p:attrName>
                                        </p:attrNameLst>
                                      </p:cBhvr>
                                      <p:to>
                                        <p:strVal val="visible"/>
                                      </p:to>
                                    </p:set>
                                    <p:animEffect transition="in" filter="barn(outHorizontal)">
                                      <p:cBhvr>
                                        <p:cTn id="14" dur="500"/>
                                        <p:tgtEl>
                                          <p:spTgt spid="91139">
                                            <p:txEl>
                                              <p:pRg st="2" end="2"/>
                                            </p:txEl>
                                          </p:spTgt>
                                        </p:tgtEl>
                                      </p:cBhvr>
                                    </p:animEffect>
                                  </p:childTnLst>
                                </p:cTn>
                              </p:par>
                              <p:par>
                                <p:cTn id="15" presetID="16" presetClass="entr" presetSubtype="42" fill="hold" grpId="0" nodeType="withEffect">
                                  <p:stCondLst>
                                    <p:cond delay="0"/>
                                  </p:stCondLst>
                                  <p:childTnLst>
                                    <p:set>
                                      <p:cBhvr>
                                        <p:cTn id="16" dur="1" fill="hold">
                                          <p:stCondLst>
                                            <p:cond delay="0"/>
                                          </p:stCondLst>
                                        </p:cTn>
                                        <p:tgtEl>
                                          <p:spTgt spid="91139">
                                            <p:txEl>
                                              <p:pRg st="3" end="3"/>
                                            </p:txEl>
                                          </p:spTgt>
                                        </p:tgtEl>
                                        <p:attrNameLst>
                                          <p:attrName>style.visibility</p:attrName>
                                        </p:attrNameLst>
                                      </p:cBhvr>
                                      <p:to>
                                        <p:strVal val="visible"/>
                                      </p:to>
                                    </p:set>
                                    <p:animEffect transition="in" filter="barn(outHorizontal)">
                                      <p:cBhvr>
                                        <p:cTn id="17" dur="500"/>
                                        <p:tgtEl>
                                          <p:spTgt spid="91139">
                                            <p:txEl>
                                              <p:pRg st="3" end="3"/>
                                            </p:txEl>
                                          </p:spTgt>
                                        </p:tgtEl>
                                      </p:cBhvr>
                                    </p:animEffect>
                                  </p:childTnLst>
                                </p:cTn>
                              </p:par>
                              <p:par>
                                <p:cTn id="18" presetID="16" presetClass="entr" presetSubtype="42" fill="hold" grpId="0" nodeType="withEffect">
                                  <p:stCondLst>
                                    <p:cond delay="0"/>
                                  </p:stCondLst>
                                  <p:childTnLst>
                                    <p:set>
                                      <p:cBhvr>
                                        <p:cTn id="19" dur="1" fill="hold">
                                          <p:stCondLst>
                                            <p:cond delay="0"/>
                                          </p:stCondLst>
                                        </p:cTn>
                                        <p:tgtEl>
                                          <p:spTgt spid="91139">
                                            <p:txEl>
                                              <p:pRg st="4" end="4"/>
                                            </p:txEl>
                                          </p:spTgt>
                                        </p:tgtEl>
                                        <p:attrNameLst>
                                          <p:attrName>style.visibility</p:attrName>
                                        </p:attrNameLst>
                                      </p:cBhvr>
                                      <p:to>
                                        <p:strVal val="visible"/>
                                      </p:to>
                                    </p:set>
                                    <p:animEffect transition="in" filter="barn(outHorizontal)">
                                      <p:cBhvr>
                                        <p:cTn id="20" dur="500"/>
                                        <p:tgtEl>
                                          <p:spTgt spid="91139">
                                            <p:txEl>
                                              <p:pRg st="4" end="4"/>
                                            </p:txEl>
                                          </p:spTgt>
                                        </p:tgtEl>
                                      </p:cBhvr>
                                    </p:animEffect>
                                  </p:childTnLst>
                                </p:cTn>
                              </p:par>
                              <p:par>
                                <p:cTn id="21" presetID="16" presetClass="entr" presetSubtype="42" fill="hold" grpId="0" nodeType="withEffect">
                                  <p:stCondLst>
                                    <p:cond delay="0"/>
                                  </p:stCondLst>
                                  <p:childTnLst>
                                    <p:set>
                                      <p:cBhvr>
                                        <p:cTn id="22" dur="1" fill="hold">
                                          <p:stCondLst>
                                            <p:cond delay="0"/>
                                          </p:stCondLst>
                                        </p:cTn>
                                        <p:tgtEl>
                                          <p:spTgt spid="91139">
                                            <p:txEl>
                                              <p:pRg st="5" end="5"/>
                                            </p:txEl>
                                          </p:spTgt>
                                        </p:tgtEl>
                                        <p:attrNameLst>
                                          <p:attrName>style.visibility</p:attrName>
                                        </p:attrNameLst>
                                      </p:cBhvr>
                                      <p:to>
                                        <p:strVal val="visible"/>
                                      </p:to>
                                    </p:set>
                                    <p:animEffect transition="in" filter="barn(outHorizontal)">
                                      <p:cBhvr>
                                        <p:cTn id="23" dur="500"/>
                                        <p:tgtEl>
                                          <p:spTgt spid="91139">
                                            <p:txEl>
                                              <p:pRg st="5" end="5"/>
                                            </p:txEl>
                                          </p:spTgt>
                                        </p:tgtEl>
                                      </p:cBhvr>
                                    </p:animEffect>
                                  </p:childTnLst>
                                </p:cTn>
                              </p:par>
                              <p:par>
                                <p:cTn id="24" presetID="16" presetClass="entr" presetSubtype="42" fill="hold" grpId="0" nodeType="withEffect">
                                  <p:stCondLst>
                                    <p:cond delay="0"/>
                                  </p:stCondLst>
                                  <p:childTnLst>
                                    <p:set>
                                      <p:cBhvr>
                                        <p:cTn id="25" dur="1" fill="hold">
                                          <p:stCondLst>
                                            <p:cond delay="0"/>
                                          </p:stCondLst>
                                        </p:cTn>
                                        <p:tgtEl>
                                          <p:spTgt spid="91139">
                                            <p:txEl>
                                              <p:pRg st="6" end="6"/>
                                            </p:txEl>
                                          </p:spTgt>
                                        </p:tgtEl>
                                        <p:attrNameLst>
                                          <p:attrName>style.visibility</p:attrName>
                                        </p:attrNameLst>
                                      </p:cBhvr>
                                      <p:to>
                                        <p:strVal val="visible"/>
                                      </p:to>
                                    </p:set>
                                    <p:animEffect transition="in" filter="barn(outHorizontal)">
                                      <p:cBhvr>
                                        <p:cTn id="26" dur="500"/>
                                        <p:tgtEl>
                                          <p:spTgt spid="91139">
                                            <p:txEl>
                                              <p:pRg st="6" end="6"/>
                                            </p:txEl>
                                          </p:spTgt>
                                        </p:tgtEl>
                                      </p:cBhvr>
                                    </p:animEffect>
                                  </p:childTnLst>
                                </p:cTn>
                              </p:par>
                              <p:par>
                                <p:cTn id="27" presetID="16" presetClass="entr" presetSubtype="42" fill="hold" grpId="0" nodeType="withEffect">
                                  <p:stCondLst>
                                    <p:cond delay="0"/>
                                  </p:stCondLst>
                                  <p:childTnLst>
                                    <p:set>
                                      <p:cBhvr>
                                        <p:cTn id="28" dur="1" fill="hold">
                                          <p:stCondLst>
                                            <p:cond delay="0"/>
                                          </p:stCondLst>
                                        </p:cTn>
                                        <p:tgtEl>
                                          <p:spTgt spid="91139">
                                            <p:txEl>
                                              <p:pRg st="7" end="7"/>
                                            </p:txEl>
                                          </p:spTgt>
                                        </p:tgtEl>
                                        <p:attrNameLst>
                                          <p:attrName>style.visibility</p:attrName>
                                        </p:attrNameLst>
                                      </p:cBhvr>
                                      <p:to>
                                        <p:strVal val="visible"/>
                                      </p:to>
                                    </p:set>
                                    <p:animEffect transition="in" filter="barn(outHorizontal)">
                                      <p:cBhvr>
                                        <p:cTn id="29" dur="500"/>
                                        <p:tgtEl>
                                          <p:spTgt spid="91139">
                                            <p:txEl>
                                              <p:pRg st="7" end="7"/>
                                            </p:txEl>
                                          </p:spTgt>
                                        </p:tgtEl>
                                      </p:cBhvr>
                                    </p:animEffect>
                                  </p:childTnLst>
                                </p:cTn>
                              </p:par>
                            </p:childTnLst>
                          </p:cTn>
                        </p:par>
                        <p:par>
                          <p:cTn id="30" fill="hold">
                            <p:stCondLst>
                              <p:cond delay="1000"/>
                            </p:stCondLst>
                            <p:childTnLst>
                              <p:par>
                                <p:cTn id="31" presetID="9" presetClass="entr" presetSubtype="0" fill="hold" nodeType="afterEffect">
                                  <p:stCondLst>
                                    <p:cond delay="0"/>
                                  </p:stCondLst>
                                  <p:childTnLst>
                                    <p:set>
                                      <p:cBhvr>
                                        <p:cTn id="32" dur="1" fill="hold">
                                          <p:stCondLst>
                                            <p:cond delay="0"/>
                                          </p:stCondLst>
                                        </p:cTn>
                                        <p:tgtEl>
                                          <p:spTgt spid="91140"/>
                                        </p:tgtEl>
                                        <p:attrNameLst>
                                          <p:attrName>style.visibility</p:attrName>
                                        </p:attrNameLst>
                                      </p:cBhvr>
                                      <p:to>
                                        <p:strVal val="visible"/>
                                      </p:to>
                                    </p:set>
                                    <p:animEffect transition="in" filter="dissolve">
                                      <p:cBhvr>
                                        <p:cTn id="33" dur="500"/>
                                        <p:tgtEl>
                                          <p:spTgt spid="91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advAuto="100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循环控制语句</a:t>
            </a:r>
          </a:p>
        </p:txBody>
      </p:sp>
      <p:sp>
        <p:nvSpPr>
          <p:cNvPr id="92163" name="Rectangle 3"/>
          <p:cNvSpPr>
            <a:spLocks noGrp="1"/>
          </p:cNvSpPr>
          <p:nvPr>
            <p:ph idx="1"/>
          </p:nvPr>
        </p:nvSpPr>
        <p:spPr/>
        <p:txBody>
          <a:bodyPr vert="horz" wrap="square" lIns="96011" tIns="48005" rIns="96011" bIns="48005" anchor="t">
            <a:normAutofit/>
          </a:bodyPr>
          <a:lstStyle/>
          <a:p>
            <a:pPr marL="609600" indent="-609600" eaLnBrk="1" hangingPunct="1">
              <a:spcAft>
                <a:spcPts val="0"/>
              </a:spcAft>
              <a:buSzPct val="90000"/>
            </a:pPr>
            <a:r>
              <a:rPr lang="zh-CN" altLang="en-US" sz="2940" dirty="0"/>
              <a:t>示例</a:t>
            </a:r>
            <a:endParaRPr lang="zh-CN" altLang="en-US" dirty="0">
              <a:solidFill>
                <a:schemeClr val="hlink"/>
              </a:solidFill>
            </a:endParaRPr>
          </a:p>
          <a:p>
            <a:pPr marL="609600" indent="-609600" eaLnBrk="1" hangingPunct="1">
              <a:buSzPct val="90000"/>
              <a:buNone/>
            </a:pPr>
            <a:endParaRPr lang="en-US" altLang="zh-CN" sz="2100" dirty="0">
              <a:latin typeface="Tahoma" panose="020B0604030504040204" pitchFamily="34" charset="0"/>
            </a:endParaRPr>
          </a:p>
        </p:txBody>
      </p:sp>
      <p:sp>
        <p:nvSpPr>
          <p:cNvPr id="100" name="文本框 99"/>
          <p:cNvSpPr txBox="1"/>
          <p:nvPr/>
        </p:nvSpPr>
        <p:spPr>
          <a:xfrm>
            <a:off x="789940" y="2098040"/>
            <a:ext cx="7254240" cy="3138170"/>
          </a:xfrm>
          <a:prstGeom prst="rect">
            <a:avLst/>
          </a:prstGeom>
          <a:noFill/>
          <a:ln w="9525">
            <a:noFill/>
          </a:ln>
        </p:spPr>
        <p:txBody>
          <a:bodyPr wrap="square">
            <a:spAutoFit/>
          </a:bodyPr>
          <a:lstStyle/>
          <a:p>
            <a:pPr>
              <a:spcAft>
                <a:spcPts val="0"/>
              </a:spcAft>
            </a:pPr>
            <a:r>
              <a:rPr lang="en-US" sz="1800" b="1">
                <a:solidFill>
                  <a:srgbClr val="7F0055"/>
                </a:solidFill>
                <a:latin typeface="Consolas" panose="020B0609020204030204" charset="0"/>
                <a:ea typeface="宋体" panose="02010600030101010101" pitchFamily="2" charset="-122"/>
              </a:rPr>
              <a:t>public</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static</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void</a:t>
            </a:r>
            <a:r>
              <a:rPr lang="en-US" sz="1800">
                <a:solidFill>
                  <a:srgbClr val="000000"/>
                </a:solidFill>
                <a:latin typeface="Consolas" panose="020B0609020204030204" charset="0"/>
                <a:ea typeface="宋体" panose="02010600030101010101" pitchFamily="2" charset="-122"/>
              </a:rPr>
              <a:t> main(String </a:t>
            </a:r>
            <a:r>
              <a:rPr lang="en-US" sz="1800">
                <a:solidFill>
                  <a:srgbClr val="6A3E3E"/>
                </a:solidFill>
                <a:latin typeface="Consolas" panose="020B0609020204030204" charset="0"/>
                <a:ea typeface="宋体" panose="02010600030101010101" pitchFamily="2" charset="-122"/>
              </a:rPr>
              <a:t>args</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throws</a:t>
            </a:r>
            <a:r>
              <a:rPr lang="en-US" sz="1800">
                <a:solidFill>
                  <a:srgbClr val="000000"/>
                </a:solidFill>
                <a:latin typeface="Consolas" panose="020B0609020204030204" charset="0"/>
                <a:ea typeface="宋体" panose="02010600030101010101" pitchFamily="2" charset="-122"/>
              </a:rPr>
              <a:t> IOException {</a:t>
            </a:r>
          </a:p>
          <a:p>
            <a:pPr>
              <a:spcAft>
                <a:spcPts val="0"/>
              </a:spcAft>
            </a:pPr>
            <a:r>
              <a:rPr lang="en-US" sz="1800">
                <a:solidFill>
                  <a:srgbClr val="000000"/>
                </a:solidFill>
                <a:latin typeface="Consolas" panose="020B0609020204030204" charset="0"/>
                <a:ea typeface="宋体" panose="02010600030101010101" pitchFamily="2" charset="-122"/>
              </a:rPr>
              <a:t>	    Scanner </a:t>
            </a:r>
            <a:r>
              <a:rPr lang="en-US" sz="1800" u="sng">
                <a:solidFill>
                  <a:srgbClr val="6A3E3E"/>
                </a:solidFill>
                <a:latin typeface="Consolas" panose="020B0609020204030204" charset="0"/>
                <a:ea typeface="宋体" panose="02010600030101010101" pitchFamily="2" charset="-122"/>
              </a:rPr>
              <a:t>si</a:t>
            </a:r>
            <a:r>
              <a:rPr lang="en-US" sz="1800">
                <a:solidFill>
                  <a:srgbClr val="000000"/>
                </a:solidFill>
                <a:latin typeface="Consolas" panose="020B0609020204030204" charset="0"/>
                <a:ea typeface="宋体" panose="02010600030101010101" pitchFamily="2" charset="-122"/>
              </a:rPr>
              <a:t>=</a:t>
            </a:r>
            <a:r>
              <a:rPr lang="en-US" sz="1800" b="1">
                <a:solidFill>
                  <a:srgbClr val="7F0055"/>
                </a:solidFill>
                <a:latin typeface="Consolas" panose="020B0609020204030204" charset="0"/>
                <a:ea typeface="宋体" panose="02010600030101010101" pitchFamily="2" charset="-122"/>
              </a:rPr>
              <a:t>new</a:t>
            </a:r>
            <a:r>
              <a:rPr lang="en-US" sz="1800">
                <a:solidFill>
                  <a:srgbClr val="000000"/>
                </a:solidFill>
                <a:latin typeface="Consolas" panose="020B0609020204030204" charset="0"/>
                <a:ea typeface="宋体" panose="02010600030101010101" pitchFamily="2" charset="-122"/>
              </a:rPr>
              <a:t> Scanner(System.</a:t>
            </a:r>
            <a:r>
              <a:rPr lang="en-US" sz="1800" b="1" i="1">
                <a:solidFill>
                  <a:srgbClr val="0000C0"/>
                </a:solidFill>
                <a:latin typeface="Consolas" panose="020B0609020204030204" charset="0"/>
                <a:ea typeface="宋体" panose="02010600030101010101" pitchFamily="2" charset="-122"/>
              </a:rPr>
              <a:t>in</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System.</a:t>
            </a:r>
            <a:r>
              <a:rPr lang="en-US" sz="1800" b="1" i="1">
                <a:solidFill>
                  <a:srgbClr val="0000C0"/>
                </a:solidFill>
                <a:latin typeface="Consolas" panose="020B0609020204030204" charset="0"/>
                <a:ea typeface="宋体" panose="02010600030101010101" pitchFamily="2" charset="-122"/>
              </a:rPr>
              <a:t>out</a:t>
            </a:r>
            <a:r>
              <a:rPr lang="en-US" sz="1800">
                <a:solidFill>
                  <a:srgbClr val="000000"/>
                </a:solidFill>
                <a:latin typeface="Consolas" panose="020B0609020204030204" charset="0"/>
                <a:ea typeface="宋体" panose="02010600030101010101" pitchFamily="2" charset="-122"/>
              </a:rPr>
              <a:t>.println(</a:t>
            </a:r>
            <a:r>
              <a:rPr lang="zh-CN" sz="1800">
                <a:solidFill>
                  <a:srgbClr val="2A00FF"/>
                </a:solidFill>
                <a:ea typeface="宋体" panose="02010600030101010101" pitchFamily="2" charset="-122"/>
              </a:rPr>
              <a:t>"输入数据,以'E'结束"</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int</a:t>
            </a: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sum</a:t>
            </a:r>
            <a:r>
              <a:rPr lang="en-US" sz="1800">
                <a:solidFill>
                  <a:srgbClr val="000000"/>
                </a:solidFill>
                <a:latin typeface="Consolas" panose="020B0609020204030204" charset="0"/>
                <a:ea typeface="宋体" panose="02010600030101010101" pitchFamily="2" charset="-122"/>
              </a:rPr>
              <a:t>=0;</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while</a:t>
            </a:r>
            <a:r>
              <a:rPr lang="en-US" sz="1800">
                <a:solidFill>
                  <a:srgbClr val="000000"/>
                </a:solidFill>
                <a:latin typeface="Consolas" panose="020B0609020204030204" charset="0"/>
                <a:ea typeface="宋体" panose="02010600030101010101" pitchFamily="2" charset="-122"/>
              </a:rPr>
              <a:t>(</a:t>
            </a:r>
            <a:r>
              <a:rPr lang="en-US" sz="1800">
                <a:solidFill>
                  <a:srgbClr val="6A3E3E"/>
                </a:solidFill>
                <a:latin typeface="Consolas" panose="020B0609020204030204" charset="0"/>
                <a:ea typeface="宋体" panose="02010600030101010101" pitchFamily="2" charset="-122"/>
              </a:rPr>
              <a:t>si</a:t>
            </a:r>
            <a:r>
              <a:rPr lang="en-US" sz="1800">
                <a:solidFill>
                  <a:srgbClr val="000000"/>
                </a:solidFill>
                <a:latin typeface="Consolas" panose="020B0609020204030204" charset="0"/>
                <a:ea typeface="宋体" panose="02010600030101010101" pitchFamily="2" charset="-122"/>
              </a:rPr>
              <a:t>.hasNextInt()) {</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sum</a:t>
            </a:r>
            <a:r>
              <a:rPr lang="en-US" sz="1800">
                <a:solidFill>
                  <a:srgbClr val="000000"/>
                </a:solidFill>
                <a:latin typeface="Consolas" panose="020B0609020204030204" charset="0"/>
                <a:ea typeface="宋体" panose="02010600030101010101" pitchFamily="2" charset="-122"/>
              </a:rPr>
              <a:t>+=</a:t>
            </a:r>
            <a:r>
              <a:rPr lang="en-US" sz="1800">
                <a:solidFill>
                  <a:srgbClr val="6A3E3E"/>
                </a:solidFill>
                <a:latin typeface="Consolas" panose="020B0609020204030204" charset="0"/>
                <a:ea typeface="宋体" panose="02010600030101010101" pitchFamily="2" charset="-122"/>
              </a:rPr>
              <a:t>si</a:t>
            </a:r>
            <a:r>
              <a:rPr lang="en-US" sz="1800">
                <a:solidFill>
                  <a:srgbClr val="000000"/>
                </a:solidFill>
                <a:latin typeface="Consolas" panose="020B0609020204030204" charset="0"/>
                <a:ea typeface="宋体" panose="02010600030101010101" pitchFamily="2" charset="-122"/>
              </a:rPr>
              <a:t>.nextInt();</a:t>
            </a:r>
          </a:p>
          <a:p>
            <a:pPr>
              <a:spcAft>
                <a:spcPts val="0"/>
              </a:spcAft>
            </a:pPr>
            <a:r>
              <a:rPr lang="en-US" sz="1800">
                <a:solidFill>
                  <a:srgbClr val="000000"/>
                </a:solidFill>
                <a:latin typeface="Consolas" panose="020B0609020204030204" charset="0"/>
                <a:ea typeface="宋体" panose="02010600030101010101" pitchFamily="2" charset="-122"/>
              </a:rPr>
              <a:t>		}</a:t>
            </a:r>
          </a:p>
          <a:p>
            <a:pPr>
              <a:spcAft>
                <a:spcPts val="0"/>
              </a:spcAft>
            </a:pPr>
            <a:r>
              <a:rPr lang="en-US" sz="1800">
                <a:solidFill>
                  <a:srgbClr val="000000"/>
                </a:solidFill>
                <a:latin typeface="Consolas" panose="020B0609020204030204" charset="0"/>
                <a:ea typeface="宋体" panose="02010600030101010101" pitchFamily="2" charset="-122"/>
              </a:rPr>
              <a:t>		System.</a:t>
            </a:r>
            <a:r>
              <a:rPr lang="en-US" sz="1800" b="1" i="1">
                <a:solidFill>
                  <a:srgbClr val="0000C0"/>
                </a:solidFill>
                <a:latin typeface="Consolas" panose="020B0609020204030204" charset="0"/>
                <a:ea typeface="宋体" panose="02010600030101010101" pitchFamily="2" charset="-122"/>
              </a:rPr>
              <a:t>out</a:t>
            </a:r>
            <a:r>
              <a:rPr lang="en-US" sz="1800">
                <a:solidFill>
                  <a:srgbClr val="000000"/>
                </a:solidFill>
                <a:latin typeface="Consolas" panose="020B0609020204030204" charset="0"/>
                <a:ea typeface="宋体" panose="02010600030101010101" pitchFamily="2" charset="-122"/>
              </a:rPr>
              <a:t>.println(</a:t>
            </a:r>
            <a:r>
              <a:rPr lang="zh-CN" sz="1800">
                <a:solidFill>
                  <a:srgbClr val="2A00FF"/>
                </a:solidFill>
                <a:ea typeface="宋体" panose="02010600030101010101" pitchFamily="2" charset="-122"/>
              </a:rPr>
              <a:t>"输入的整数和为："</a:t>
            </a:r>
            <a:r>
              <a:rPr lang="en-US" sz="1800">
                <a:solidFill>
                  <a:srgbClr val="000000"/>
                </a:solidFill>
                <a:latin typeface="Consolas" panose="020B0609020204030204" charset="0"/>
                <a:ea typeface="宋体" panose="02010600030101010101" pitchFamily="2" charset="-122"/>
              </a:rPr>
              <a:t>+</a:t>
            </a:r>
            <a:r>
              <a:rPr lang="en-US" sz="1800">
                <a:solidFill>
                  <a:srgbClr val="6A3E3E"/>
                </a:solidFill>
                <a:latin typeface="Consolas" panose="020B0609020204030204" charset="0"/>
                <a:ea typeface="宋体" panose="02010600030101010101" pitchFamily="2" charset="-122"/>
              </a:rPr>
              <a:t>sum</a:t>
            </a:r>
            <a:r>
              <a:rPr lang="en-US" sz="1800">
                <a:solidFill>
                  <a:srgbClr val="000000"/>
                </a:solidFill>
                <a:latin typeface="Consolas" panose="020B0609020204030204" charset="0"/>
                <a:ea typeface="宋体" panose="02010600030101010101" pitchFamily="2" charset="-122"/>
              </a:rPr>
              <a:t>);</a:t>
            </a:r>
            <a:endParaRPr lang="en-US" sz="1800">
              <a:latin typeface="Consolas" panose="020B0609020204030204" charset="0"/>
              <a:ea typeface="宋体" panose="02010600030101010101" pitchFamily="2" charset="-122"/>
            </a:endParaRPr>
          </a:p>
          <a:p>
            <a:pPr>
              <a:spcAft>
                <a:spcPts val="0"/>
              </a:spcAft>
            </a:pPr>
            <a:r>
              <a:rPr lang="en-US" sz="1800">
                <a:latin typeface="Consolas" panose="020B0609020204030204" charset="0"/>
                <a:ea typeface="宋体" panose="02010600030101010101" pitchFamily="2" charset="-122"/>
              </a:rPr>
              <a:t> </a:t>
            </a:r>
            <a:endParaRPr lang="en-US" sz="1800">
              <a:solidFill>
                <a:srgbClr val="000000"/>
              </a:solidFill>
              <a:latin typeface="Consolas" panose="020B0609020204030204" charset="0"/>
              <a:ea typeface="宋体" panose="02010600030101010101" pitchFamily="2" charset="-122"/>
            </a:endParaRPr>
          </a:p>
          <a:p>
            <a:pPr>
              <a:spcAft>
                <a:spcPts val="0"/>
              </a:spcAft>
            </a:pPr>
            <a:r>
              <a:rPr lang="en-US" sz="1800">
                <a:solidFill>
                  <a:srgbClr val="000000"/>
                </a:solidFill>
                <a:latin typeface="Consolas" panose="020B0609020204030204" charset="0"/>
                <a:ea typeface="宋体" panose="02010600030101010101" pitchFamily="2" charset="-122"/>
              </a:rPr>
              <a:t>	}</a:t>
            </a:r>
            <a:endParaRPr lang="en-US" altLang="en-US" sz="1800">
              <a:solidFill>
                <a:srgbClr val="000000"/>
              </a:solidFill>
              <a:latin typeface="Consolas" panose="020B0609020204030204" charset="0"/>
              <a:ea typeface="宋体" panose="02010600030101010101" pitchFamily="2" charset="-122"/>
            </a:endParaRPr>
          </a:p>
        </p:txBody>
      </p:sp>
      <p:sp>
        <p:nvSpPr>
          <p:cNvPr id="2" name="文本框 1"/>
          <p:cNvSpPr txBox="1"/>
          <p:nvPr/>
        </p:nvSpPr>
        <p:spPr>
          <a:xfrm>
            <a:off x="4563110" y="4955857"/>
            <a:ext cx="5080000" cy="1383665"/>
          </a:xfrm>
          <a:prstGeom prst="rect">
            <a:avLst/>
          </a:prstGeom>
          <a:noFill/>
          <a:ln w="9525">
            <a:noFill/>
          </a:ln>
        </p:spPr>
        <p:txBody>
          <a:bodyPr>
            <a:spAutoFit/>
          </a:bodyPr>
          <a:lstStyle/>
          <a:p>
            <a:pPr>
              <a:spcAft>
                <a:spcPts val="0"/>
              </a:spcAft>
            </a:pPr>
            <a:r>
              <a:rPr lang="zh-CN" sz="2800">
                <a:solidFill>
                  <a:srgbClr val="000000"/>
                </a:solidFill>
                <a:ea typeface="宋体" panose="02010600030101010101" pitchFamily="2" charset="-122"/>
              </a:rPr>
              <a:t>输入数据,以'E'结束</a:t>
            </a:r>
            <a:endParaRPr lang="en-US" sz="2800">
              <a:solidFill>
                <a:srgbClr val="00C87D"/>
              </a:solidFill>
              <a:latin typeface="Consolas" panose="020B0609020204030204" charset="0"/>
              <a:ea typeface="宋体" panose="02010600030101010101" pitchFamily="2" charset="-122"/>
            </a:endParaRPr>
          </a:p>
          <a:p>
            <a:pPr>
              <a:spcAft>
                <a:spcPts val="0"/>
              </a:spcAft>
            </a:pPr>
            <a:r>
              <a:rPr lang="en-US" sz="2800">
                <a:solidFill>
                  <a:srgbClr val="00C87D"/>
                </a:solidFill>
                <a:latin typeface="Consolas" panose="020B0609020204030204" charset="0"/>
                <a:ea typeface="宋体" panose="02010600030101010101" pitchFamily="2" charset="-122"/>
              </a:rPr>
              <a:t>2 3 4 5 6 E</a:t>
            </a:r>
            <a:endParaRPr lang="zh-CN" sz="2800">
              <a:solidFill>
                <a:srgbClr val="000000"/>
              </a:solidFill>
              <a:ea typeface="宋体" panose="02010600030101010101" pitchFamily="2" charset="-122"/>
            </a:endParaRPr>
          </a:p>
          <a:p>
            <a:pPr>
              <a:spcAft>
                <a:spcPts val="0"/>
              </a:spcAft>
            </a:pPr>
            <a:r>
              <a:rPr lang="zh-CN" sz="2800">
                <a:solidFill>
                  <a:srgbClr val="000000"/>
                </a:solidFill>
                <a:ea typeface="宋体" panose="02010600030101010101" pitchFamily="2" charset="-122"/>
              </a:rPr>
              <a:t>输入的整数和为：</a:t>
            </a:r>
            <a:r>
              <a:rPr lang="en-US" sz="2800">
                <a:solidFill>
                  <a:srgbClr val="000000"/>
                </a:solidFill>
                <a:latin typeface="Consolas" panose="020B0609020204030204" charset="0"/>
                <a:ea typeface="宋体" panose="02010600030101010101" pitchFamily="2" charset="-122"/>
              </a:rPr>
              <a:t>20</a:t>
            </a:r>
            <a:endParaRPr lang="zh-CN" altLang="en-US"/>
          </a:p>
        </p:txBody>
      </p:sp>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循环控制语句</a:t>
            </a:r>
          </a:p>
        </p:txBody>
      </p:sp>
      <p:sp>
        <p:nvSpPr>
          <p:cNvPr id="93187" name="Rectangle 3"/>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en-US" altLang="zh-CN" sz="2940" dirty="0"/>
              <a:t>for</a:t>
            </a:r>
            <a:r>
              <a:rPr lang="zh-CN" altLang="en-US" sz="2940" dirty="0"/>
              <a:t>循环</a:t>
            </a:r>
            <a:r>
              <a:rPr lang="en-US" altLang="zh-CN" sz="2940" dirty="0"/>
              <a:t>: </a:t>
            </a:r>
            <a:r>
              <a:rPr lang="zh-CN" altLang="en-US" sz="2940" dirty="0"/>
              <a:t>最有效、最灵活的循环结构</a:t>
            </a:r>
          </a:p>
          <a:p>
            <a:pPr marL="609600" indent="-609600" eaLnBrk="1" hangingPunct="1">
              <a:spcBef>
                <a:spcPts val="20"/>
              </a:spcBef>
              <a:spcAft>
                <a:spcPts val="0"/>
              </a:spcAft>
              <a:buSzPct val="90000"/>
            </a:pPr>
            <a:r>
              <a:rPr lang="zh-CN" altLang="en-US" sz="2940" dirty="0"/>
              <a:t>语法</a:t>
            </a:r>
          </a:p>
          <a:p>
            <a:pPr marL="990600" lvl="1" indent="-533400" eaLnBrk="1" hangingPunct="1">
              <a:spcBef>
                <a:spcPts val="20"/>
              </a:spcBef>
              <a:spcAft>
                <a:spcPts val="0"/>
              </a:spcAft>
              <a:buSzPct val="90000"/>
              <a:buNone/>
            </a:pPr>
            <a:r>
              <a:rPr lang="zh-CN" altLang="en-US" dirty="0"/>
              <a:t>  </a:t>
            </a:r>
            <a:r>
              <a:rPr lang="en-US" altLang="zh-CN" sz="2520" dirty="0"/>
              <a:t>for (</a:t>
            </a:r>
            <a:r>
              <a:rPr lang="zh-CN" altLang="en-US" sz="2520" dirty="0"/>
              <a:t>初始化部分</a:t>
            </a:r>
            <a:r>
              <a:rPr lang="en-US" altLang="zh-CN" sz="2520" dirty="0"/>
              <a:t>;</a:t>
            </a:r>
            <a:r>
              <a:rPr lang="zh-CN" altLang="en-US" sz="2520" dirty="0"/>
              <a:t>条件判断部分</a:t>
            </a:r>
            <a:r>
              <a:rPr lang="en-US" altLang="zh-CN" sz="2520" dirty="0"/>
              <a:t>;</a:t>
            </a:r>
            <a:r>
              <a:rPr lang="zh-CN" altLang="en-US" sz="2520" dirty="0"/>
              <a:t>迭代因子</a:t>
            </a:r>
            <a:r>
              <a:rPr lang="en-US" altLang="zh-CN" sz="2520" dirty="0"/>
              <a:t>) {</a:t>
            </a:r>
          </a:p>
          <a:p>
            <a:pPr marL="990600" lvl="1" indent="-533400" eaLnBrk="1" hangingPunct="1">
              <a:spcBef>
                <a:spcPts val="20"/>
              </a:spcBef>
              <a:spcAft>
                <a:spcPts val="0"/>
              </a:spcAft>
              <a:buSzPct val="90000"/>
              <a:buNone/>
            </a:pPr>
            <a:r>
              <a:rPr lang="en-US" altLang="x-none" sz="2520" dirty="0"/>
              <a:t>	  </a:t>
            </a:r>
            <a:r>
              <a:rPr lang="zh-CN" altLang="en-US" sz="2520" dirty="0"/>
              <a:t>循环体；</a:t>
            </a:r>
          </a:p>
          <a:p>
            <a:pPr marL="990600" lvl="1" indent="-533400" eaLnBrk="1" hangingPunct="1">
              <a:spcBef>
                <a:spcPts val="20"/>
              </a:spcBef>
              <a:spcAft>
                <a:spcPts val="0"/>
              </a:spcAft>
              <a:buSzPct val="90000"/>
              <a:buNone/>
            </a:pPr>
            <a:r>
              <a:rPr lang="zh-CN" altLang="en-US" sz="2520" dirty="0"/>
              <a:t>  </a:t>
            </a:r>
            <a:r>
              <a:rPr lang="en-US" altLang="zh-CN" sz="2520" dirty="0"/>
              <a:t>}</a:t>
            </a:r>
          </a:p>
          <a:p>
            <a:pPr marL="990600" lvl="1" indent="-533400" eaLnBrk="1" hangingPunct="1">
              <a:spcBef>
                <a:spcPts val="20"/>
              </a:spcBef>
              <a:spcAft>
                <a:spcPts val="0"/>
              </a:spcAft>
              <a:buSzPct val="90000"/>
            </a:pPr>
            <a:r>
              <a:rPr lang="zh-CN" altLang="en-US" sz="2520" dirty="0"/>
              <a:t>初始化部分</a:t>
            </a:r>
          </a:p>
          <a:p>
            <a:pPr marL="1371600" lvl="2" indent="-457200" eaLnBrk="1" hangingPunct="1">
              <a:spcBef>
                <a:spcPts val="20"/>
              </a:spcBef>
              <a:spcAft>
                <a:spcPts val="0"/>
              </a:spcAft>
              <a:buSzPct val="90000"/>
            </a:pPr>
            <a:r>
              <a:rPr lang="zh-CN" altLang="en-US" sz="2100" dirty="0"/>
              <a:t>设置循环变量的初值</a:t>
            </a:r>
          </a:p>
          <a:p>
            <a:pPr marL="990600" lvl="1" indent="-533400" eaLnBrk="1" hangingPunct="1">
              <a:spcBef>
                <a:spcPts val="20"/>
              </a:spcBef>
              <a:spcAft>
                <a:spcPts val="0"/>
              </a:spcAft>
              <a:buSzPct val="90000"/>
            </a:pPr>
            <a:r>
              <a:rPr lang="zh-CN" altLang="en-US" sz="2520" dirty="0"/>
              <a:t>条件判断部分</a:t>
            </a:r>
          </a:p>
          <a:p>
            <a:pPr marL="1371600" lvl="2" indent="-457200" eaLnBrk="1" hangingPunct="1">
              <a:spcBef>
                <a:spcPts val="20"/>
              </a:spcBef>
              <a:spcAft>
                <a:spcPts val="0"/>
              </a:spcAft>
              <a:buSzPct val="90000"/>
            </a:pPr>
            <a:r>
              <a:rPr lang="zh-CN" altLang="en-US" sz="2100" dirty="0"/>
              <a:t>任意布尔表达式</a:t>
            </a:r>
          </a:p>
          <a:p>
            <a:pPr marL="990600" lvl="1" indent="-533400" eaLnBrk="1" hangingPunct="1">
              <a:spcBef>
                <a:spcPts val="20"/>
              </a:spcBef>
              <a:spcAft>
                <a:spcPts val="0"/>
              </a:spcAft>
              <a:buSzPct val="90000"/>
            </a:pPr>
            <a:r>
              <a:rPr lang="zh-CN" altLang="en-US" sz="2520" dirty="0"/>
              <a:t>迭代因子</a:t>
            </a:r>
          </a:p>
          <a:p>
            <a:pPr marL="1371600" lvl="2" indent="-457200" eaLnBrk="1" hangingPunct="1">
              <a:spcBef>
                <a:spcPts val="20"/>
              </a:spcBef>
              <a:buSzPct val="90000"/>
            </a:pPr>
            <a:r>
              <a:rPr lang="zh-CN" altLang="en-US" sz="2100" dirty="0"/>
              <a:t>控制循环变量的增减</a:t>
            </a:r>
          </a:p>
        </p:txBody>
      </p:sp>
      <p:grpSp>
        <p:nvGrpSpPr>
          <p:cNvPr id="93188" name="Group 4"/>
          <p:cNvGrpSpPr/>
          <p:nvPr/>
        </p:nvGrpSpPr>
        <p:grpSpPr>
          <a:xfrm>
            <a:off x="7188200" y="2914650"/>
            <a:ext cx="3027680" cy="2874010"/>
            <a:chOff x="0" y="0"/>
            <a:chExt cx="1968" cy="2400"/>
          </a:xfrm>
          <a:solidFill>
            <a:schemeClr val="bg1"/>
          </a:solidFill>
        </p:grpSpPr>
        <p:sp>
          <p:nvSpPr>
            <p:cNvPr id="93189" name="Rectangle 5"/>
            <p:cNvSpPr/>
            <p:nvPr/>
          </p:nvSpPr>
          <p:spPr>
            <a:xfrm>
              <a:off x="0" y="0"/>
              <a:ext cx="1968" cy="2400"/>
            </a:xfrm>
            <a:prstGeom prst="rect">
              <a:avLst/>
            </a:prstGeom>
            <a:grpFill/>
            <a:ln w="9525">
              <a:noFill/>
            </a:ln>
          </p:spPr>
          <p:txBody>
            <a:bodyPr wrap="none" anchor="ctr"/>
            <a:lstStyle/>
            <a:p>
              <a:pPr eaLnBrk="1" hangingPunct="1"/>
              <a:endParaRPr lang="zh-CN" altLang="en-US" sz="1800" dirty="0">
                <a:latin typeface="Arial" panose="020B0604020202020204" pitchFamily="34" charset="0"/>
              </a:endParaRPr>
            </a:p>
          </p:txBody>
        </p:sp>
        <p:sp>
          <p:nvSpPr>
            <p:cNvPr id="93190" name="Rectangle 6"/>
            <p:cNvSpPr/>
            <p:nvPr/>
          </p:nvSpPr>
          <p:spPr>
            <a:xfrm>
              <a:off x="528" y="240"/>
              <a:ext cx="864" cy="240"/>
            </a:xfrm>
            <a:prstGeom prst="rect">
              <a:avLst/>
            </a:prstGeom>
            <a:grp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1800" dirty="0">
                  <a:latin typeface="Tahoma" panose="020B0604030504040204" pitchFamily="34" charset="0"/>
                  <a:ea typeface="华文中宋" panose="02010600040101010101" pitchFamily="2" charset="-122"/>
                </a:rPr>
                <a:t>初始化部分</a:t>
              </a:r>
            </a:p>
          </p:txBody>
        </p:sp>
        <p:sp>
          <p:nvSpPr>
            <p:cNvPr id="93191" name="AutoShape 7"/>
            <p:cNvSpPr/>
            <p:nvPr/>
          </p:nvSpPr>
          <p:spPr>
            <a:xfrm>
              <a:off x="336" y="624"/>
              <a:ext cx="1248" cy="384"/>
            </a:xfrm>
            <a:prstGeom prst="diamond">
              <a:avLst/>
            </a:prstGeom>
            <a:grp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1800" dirty="0">
                  <a:latin typeface="Tahoma" panose="020B0604030504040204" pitchFamily="34" charset="0"/>
                  <a:ea typeface="华文中宋" panose="02010600040101010101" pitchFamily="2" charset="-122"/>
                  <a:sym typeface="+mn-ea"/>
                </a:rPr>
                <a:t>条件判断</a:t>
              </a:r>
              <a:endParaRPr lang="zh-CN" altLang="en-US" sz="1800" dirty="0">
                <a:latin typeface="Tahoma" panose="020B0604030504040204" pitchFamily="34" charset="0"/>
                <a:ea typeface="华文中宋" panose="02010600040101010101" pitchFamily="2" charset="-122"/>
              </a:endParaRPr>
            </a:p>
          </p:txBody>
        </p:sp>
        <p:sp>
          <p:nvSpPr>
            <p:cNvPr id="93192" name="Line 8"/>
            <p:cNvSpPr/>
            <p:nvPr/>
          </p:nvSpPr>
          <p:spPr>
            <a:xfrm>
              <a:off x="960" y="48"/>
              <a:ext cx="0" cy="209"/>
            </a:xfrm>
            <a:prstGeom prst="line">
              <a:avLst/>
            </a:prstGeom>
            <a:grpFill/>
            <a:ln w="9525" cap="flat" cmpd="sng">
              <a:solidFill>
                <a:schemeClr val="tx1"/>
              </a:solidFill>
              <a:prstDash val="solid"/>
              <a:headEnd type="none" w="med" len="med"/>
              <a:tailEnd type="triangle" w="med" len="med"/>
            </a:ln>
          </p:spPr>
        </p:sp>
        <p:sp>
          <p:nvSpPr>
            <p:cNvPr id="93193" name="Line 9"/>
            <p:cNvSpPr/>
            <p:nvPr/>
          </p:nvSpPr>
          <p:spPr>
            <a:xfrm>
              <a:off x="960" y="480"/>
              <a:ext cx="0" cy="144"/>
            </a:xfrm>
            <a:prstGeom prst="line">
              <a:avLst/>
            </a:prstGeom>
            <a:grpFill/>
            <a:ln w="9525" cap="flat" cmpd="sng">
              <a:solidFill>
                <a:schemeClr val="tx1"/>
              </a:solidFill>
              <a:prstDash val="solid"/>
              <a:headEnd type="none" w="med" len="med"/>
              <a:tailEnd type="triangle" w="med" len="med"/>
            </a:ln>
          </p:spPr>
        </p:sp>
        <p:sp>
          <p:nvSpPr>
            <p:cNvPr id="93194" name="Line 10"/>
            <p:cNvSpPr/>
            <p:nvPr/>
          </p:nvSpPr>
          <p:spPr>
            <a:xfrm>
              <a:off x="960" y="1968"/>
              <a:ext cx="0" cy="136"/>
            </a:xfrm>
            <a:prstGeom prst="line">
              <a:avLst/>
            </a:prstGeom>
            <a:grpFill/>
            <a:ln w="9525" cap="flat" cmpd="sng">
              <a:solidFill>
                <a:schemeClr val="tx1"/>
              </a:solidFill>
              <a:prstDash val="solid"/>
              <a:headEnd type="none" w="med" len="med"/>
              <a:tailEnd type="triangle" w="med" len="med"/>
            </a:ln>
          </p:spPr>
        </p:sp>
        <p:sp>
          <p:nvSpPr>
            <p:cNvPr id="93195" name="Line 11"/>
            <p:cNvSpPr/>
            <p:nvPr/>
          </p:nvSpPr>
          <p:spPr>
            <a:xfrm>
              <a:off x="1584" y="816"/>
              <a:ext cx="240" cy="0"/>
            </a:xfrm>
            <a:prstGeom prst="line">
              <a:avLst/>
            </a:prstGeom>
            <a:grpFill/>
            <a:ln w="9525" cap="flat" cmpd="sng">
              <a:solidFill>
                <a:schemeClr val="tx1"/>
              </a:solidFill>
              <a:prstDash val="solid"/>
              <a:headEnd type="triangle" w="med" len="med"/>
              <a:tailEnd type="none" w="med" len="med"/>
            </a:ln>
          </p:spPr>
        </p:sp>
        <p:sp>
          <p:nvSpPr>
            <p:cNvPr id="93196" name="Rectangle 12"/>
            <p:cNvSpPr/>
            <p:nvPr/>
          </p:nvSpPr>
          <p:spPr>
            <a:xfrm>
              <a:off x="1008" y="912"/>
              <a:ext cx="528" cy="218"/>
            </a:xfrm>
            <a:prstGeom prst="rect">
              <a:avLst/>
            </a:prstGeom>
            <a:grpFill/>
            <a:ln w="9525">
              <a:noFill/>
            </a:ln>
          </p:spPr>
          <p:txBody>
            <a:bodyPr wrap="none" anchor="ctr"/>
            <a:lstStyle/>
            <a:p>
              <a:pPr algn="ctr" eaLnBrk="1" hangingPunct="1"/>
              <a:r>
                <a:rPr lang="en-US" altLang="zh-CN" sz="1800" dirty="0">
                  <a:latin typeface="Tahoma" panose="020B0604030504040204" pitchFamily="34" charset="0"/>
                  <a:ea typeface="华文中宋" panose="02010600040101010101" pitchFamily="2" charset="-122"/>
                </a:rPr>
                <a:t>true</a:t>
              </a:r>
            </a:p>
          </p:txBody>
        </p:sp>
        <p:sp>
          <p:nvSpPr>
            <p:cNvPr id="93197" name="Rectangle 13"/>
            <p:cNvSpPr/>
            <p:nvPr/>
          </p:nvSpPr>
          <p:spPr>
            <a:xfrm>
              <a:off x="432" y="2112"/>
              <a:ext cx="1104" cy="261"/>
            </a:xfrm>
            <a:prstGeom prst="rect">
              <a:avLst/>
            </a:prstGeom>
            <a:grpFill/>
            <a:ln w="9525">
              <a:noFill/>
            </a:ln>
          </p:spPr>
          <p:txBody>
            <a:bodyPr wrap="none" anchor="ctr"/>
            <a:lstStyle/>
            <a:p>
              <a:pPr algn="ctr" eaLnBrk="1" hangingPunct="1"/>
              <a:r>
                <a:rPr lang="zh-CN" altLang="en-US" sz="1800" dirty="0">
                  <a:latin typeface="Tahoma" panose="020B0604030504040204" pitchFamily="34" charset="0"/>
                  <a:ea typeface="华文中宋" panose="02010600040101010101" pitchFamily="2" charset="-122"/>
                </a:rPr>
                <a:t>流程图</a:t>
              </a:r>
            </a:p>
          </p:txBody>
        </p:sp>
        <p:sp>
          <p:nvSpPr>
            <p:cNvPr id="93198" name="Line 14"/>
            <p:cNvSpPr/>
            <p:nvPr/>
          </p:nvSpPr>
          <p:spPr>
            <a:xfrm>
              <a:off x="1440" y="1728"/>
              <a:ext cx="384" cy="0"/>
            </a:xfrm>
            <a:prstGeom prst="line">
              <a:avLst/>
            </a:prstGeom>
            <a:grpFill/>
            <a:ln w="9525" cap="flat" cmpd="sng">
              <a:solidFill>
                <a:schemeClr val="tx1"/>
              </a:solidFill>
              <a:prstDash val="solid"/>
              <a:headEnd type="none" w="med" len="med"/>
              <a:tailEnd type="none" w="med" len="med"/>
            </a:ln>
          </p:spPr>
        </p:sp>
        <p:sp>
          <p:nvSpPr>
            <p:cNvPr id="93199" name="Line 15"/>
            <p:cNvSpPr/>
            <p:nvPr/>
          </p:nvSpPr>
          <p:spPr>
            <a:xfrm>
              <a:off x="1824" y="816"/>
              <a:ext cx="0" cy="912"/>
            </a:xfrm>
            <a:prstGeom prst="line">
              <a:avLst/>
            </a:prstGeom>
            <a:grpFill/>
            <a:ln w="9525" cap="flat" cmpd="sng">
              <a:solidFill>
                <a:schemeClr val="tx1"/>
              </a:solidFill>
              <a:prstDash val="solid"/>
              <a:headEnd type="none" w="med" len="med"/>
              <a:tailEnd type="none" w="med" len="med"/>
            </a:ln>
          </p:spPr>
        </p:sp>
        <p:sp>
          <p:nvSpPr>
            <p:cNvPr id="93200" name="Rectangle 16"/>
            <p:cNvSpPr/>
            <p:nvPr/>
          </p:nvSpPr>
          <p:spPr>
            <a:xfrm>
              <a:off x="528" y="1152"/>
              <a:ext cx="864" cy="240"/>
            </a:xfrm>
            <a:prstGeom prst="rect">
              <a:avLst/>
            </a:prstGeom>
            <a:grp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1800" dirty="0">
                  <a:latin typeface="Tahoma" panose="020B0604030504040204" pitchFamily="34" charset="0"/>
                  <a:ea typeface="华文中宋" panose="02010600040101010101" pitchFamily="2" charset="-122"/>
                </a:rPr>
                <a:t>循环体</a:t>
              </a:r>
            </a:p>
          </p:txBody>
        </p:sp>
        <p:sp>
          <p:nvSpPr>
            <p:cNvPr id="93201" name="Rectangle 17"/>
            <p:cNvSpPr/>
            <p:nvPr/>
          </p:nvSpPr>
          <p:spPr>
            <a:xfrm>
              <a:off x="480" y="1584"/>
              <a:ext cx="960" cy="240"/>
            </a:xfrm>
            <a:prstGeom prst="rect">
              <a:avLst/>
            </a:prstGeom>
            <a:grpFill/>
            <a:ln w="9525" cap="flat" cmpd="sng">
              <a:solidFill>
                <a:schemeClr val="tx1"/>
              </a:solidFill>
              <a:prstDash val="solid"/>
              <a:miter/>
              <a:headEnd type="none" w="med" len="med"/>
              <a:tailEnd type="none" w="med" len="med"/>
            </a:ln>
          </p:spPr>
          <p:txBody>
            <a:bodyPr wrap="none" anchor="ctr"/>
            <a:lstStyle/>
            <a:p>
              <a:pPr algn="ctr" eaLnBrk="1" hangingPunct="1"/>
              <a:r>
                <a:rPr lang="zh-CN" altLang="en-US" sz="1800" dirty="0">
                  <a:latin typeface="Tahoma" panose="020B0604030504040204" pitchFamily="34" charset="0"/>
                  <a:ea typeface="华文中宋" panose="02010600040101010101" pitchFamily="2" charset="-122"/>
                </a:rPr>
                <a:t>执行迭代因子</a:t>
              </a:r>
            </a:p>
          </p:txBody>
        </p:sp>
        <p:sp>
          <p:nvSpPr>
            <p:cNvPr id="93202" name="Line 18"/>
            <p:cNvSpPr/>
            <p:nvPr/>
          </p:nvSpPr>
          <p:spPr>
            <a:xfrm>
              <a:off x="960" y="1008"/>
              <a:ext cx="0" cy="144"/>
            </a:xfrm>
            <a:prstGeom prst="line">
              <a:avLst/>
            </a:prstGeom>
            <a:grpFill/>
            <a:ln w="9525" cap="flat" cmpd="sng">
              <a:solidFill>
                <a:schemeClr val="tx1"/>
              </a:solidFill>
              <a:prstDash val="solid"/>
              <a:headEnd type="none" w="med" len="med"/>
              <a:tailEnd type="triangle" w="med" len="med"/>
            </a:ln>
          </p:spPr>
        </p:sp>
        <p:sp>
          <p:nvSpPr>
            <p:cNvPr id="93203" name="Line 19"/>
            <p:cNvSpPr/>
            <p:nvPr/>
          </p:nvSpPr>
          <p:spPr>
            <a:xfrm>
              <a:off x="960" y="1392"/>
              <a:ext cx="0" cy="192"/>
            </a:xfrm>
            <a:prstGeom prst="line">
              <a:avLst/>
            </a:prstGeom>
            <a:grpFill/>
            <a:ln w="9525" cap="flat" cmpd="sng">
              <a:solidFill>
                <a:schemeClr val="tx1"/>
              </a:solidFill>
              <a:prstDash val="solid"/>
              <a:headEnd type="none" w="med" len="med"/>
              <a:tailEnd type="triangle" w="med" len="med"/>
            </a:ln>
          </p:spPr>
        </p:sp>
        <p:sp>
          <p:nvSpPr>
            <p:cNvPr id="93204" name="Line 20"/>
            <p:cNvSpPr/>
            <p:nvPr/>
          </p:nvSpPr>
          <p:spPr>
            <a:xfrm>
              <a:off x="144" y="816"/>
              <a:ext cx="192" cy="0"/>
            </a:xfrm>
            <a:prstGeom prst="line">
              <a:avLst/>
            </a:prstGeom>
            <a:grpFill/>
            <a:ln w="9525" cap="flat" cmpd="sng">
              <a:solidFill>
                <a:schemeClr val="tx1"/>
              </a:solidFill>
              <a:prstDash val="solid"/>
              <a:headEnd type="none" w="med" len="med"/>
              <a:tailEnd type="none" w="med" len="med"/>
            </a:ln>
          </p:spPr>
        </p:sp>
        <p:sp>
          <p:nvSpPr>
            <p:cNvPr id="93205" name="Rectangle 21"/>
            <p:cNvSpPr/>
            <p:nvPr/>
          </p:nvSpPr>
          <p:spPr>
            <a:xfrm>
              <a:off x="0" y="576"/>
              <a:ext cx="528" cy="218"/>
            </a:xfrm>
            <a:prstGeom prst="rect">
              <a:avLst/>
            </a:prstGeom>
            <a:grpFill/>
            <a:ln w="9525">
              <a:noFill/>
            </a:ln>
          </p:spPr>
          <p:txBody>
            <a:bodyPr wrap="none" anchor="ctr"/>
            <a:lstStyle/>
            <a:p>
              <a:pPr algn="ctr" eaLnBrk="1" hangingPunct="1"/>
              <a:r>
                <a:rPr lang="en-US" altLang="zh-CN" sz="1800" dirty="0">
                  <a:latin typeface="Tahoma" panose="020B0604030504040204" pitchFamily="34" charset="0"/>
                  <a:ea typeface="华文中宋" panose="02010600040101010101" pitchFamily="2" charset="-122"/>
                </a:rPr>
                <a:t>false</a:t>
              </a:r>
            </a:p>
          </p:txBody>
        </p:sp>
        <p:sp>
          <p:nvSpPr>
            <p:cNvPr id="93206" name="Line 22"/>
            <p:cNvSpPr/>
            <p:nvPr/>
          </p:nvSpPr>
          <p:spPr>
            <a:xfrm>
              <a:off x="144" y="816"/>
              <a:ext cx="0" cy="1152"/>
            </a:xfrm>
            <a:prstGeom prst="line">
              <a:avLst/>
            </a:prstGeom>
            <a:grpFill/>
            <a:ln w="9525" cap="flat" cmpd="sng">
              <a:solidFill>
                <a:schemeClr val="tx1"/>
              </a:solidFill>
              <a:prstDash val="solid"/>
              <a:headEnd type="none" w="med" len="med"/>
              <a:tailEnd type="none" w="med" len="med"/>
            </a:ln>
          </p:spPr>
        </p:sp>
        <p:sp>
          <p:nvSpPr>
            <p:cNvPr id="93207" name="Line 23"/>
            <p:cNvSpPr/>
            <p:nvPr/>
          </p:nvSpPr>
          <p:spPr>
            <a:xfrm>
              <a:off x="144" y="1968"/>
              <a:ext cx="816" cy="0"/>
            </a:xfrm>
            <a:prstGeom prst="line">
              <a:avLst/>
            </a:prstGeom>
            <a:grpFill/>
            <a:ln w="9525" cap="flat" cmpd="sng">
              <a:solidFill>
                <a:schemeClr val="tx1"/>
              </a:solidFill>
              <a:prstDash val="solid"/>
              <a:headEnd type="none" w="med" len="med"/>
              <a:tailEnd type="none" w="med" len="med"/>
            </a:ln>
          </p:spPr>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Effect transition="in" filter="barn(outHorizontal)">
                                      <p:cBhvr>
                                        <p:cTn id="7" dur="500"/>
                                        <p:tgtEl>
                                          <p:spTgt spid="93187">
                                            <p:txEl>
                                              <p:pRg st="0" end="0"/>
                                            </p:txEl>
                                          </p:spTgt>
                                        </p:tgtEl>
                                      </p:cBhvr>
                                    </p:animEffect>
                                  </p:childTnLst>
                                </p:cTn>
                              </p:par>
                            </p:childTnLst>
                          </p:cTn>
                        </p:par>
                        <p:par>
                          <p:cTn id="8" fill="hold">
                            <p:stCondLst>
                              <p:cond delay="500"/>
                            </p:stCondLst>
                            <p:childTnLst>
                              <p:par>
                                <p:cTn id="9" presetID="16" presetClass="entr" presetSubtype="42" fill="hold" grpId="0" nodeType="afterEffect">
                                  <p:stCondLst>
                                    <p:cond delay="0"/>
                                  </p:stCondLst>
                                  <p:childTnLst>
                                    <p:set>
                                      <p:cBhvr>
                                        <p:cTn id="10" dur="1" fill="hold">
                                          <p:stCondLst>
                                            <p:cond delay="0"/>
                                          </p:stCondLst>
                                        </p:cTn>
                                        <p:tgtEl>
                                          <p:spTgt spid="93187">
                                            <p:txEl>
                                              <p:pRg st="1" end="1"/>
                                            </p:txEl>
                                          </p:spTgt>
                                        </p:tgtEl>
                                        <p:attrNameLst>
                                          <p:attrName>style.visibility</p:attrName>
                                        </p:attrNameLst>
                                      </p:cBhvr>
                                      <p:to>
                                        <p:strVal val="visible"/>
                                      </p:to>
                                    </p:set>
                                    <p:animEffect transition="in" filter="barn(outHorizontal)">
                                      <p:cBhvr>
                                        <p:cTn id="11" dur="500"/>
                                        <p:tgtEl>
                                          <p:spTgt spid="93187">
                                            <p:txEl>
                                              <p:pRg st="1" end="1"/>
                                            </p:txEl>
                                          </p:spTgt>
                                        </p:tgtEl>
                                      </p:cBhvr>
                                    </p:animEffect>
                                  </p:childTnLst>
                                </p:cTn>
                              </p:par>
                              <p:par>
                                <p:cTn id="12" presetID="16" presetClass="entr" presetSubtype="42" fill="hold" grpId="0" nodeType="withEffect">
                                  <p:stCondLst>
                                    <p:cond delay="0"/>
                                  </p:stCondLst>
                                  <p:childTnLst>
                                    <p:set>
                                      <p:cBhvr>
                                        <p:cTn id="13" dur="1" fill="hold">
                                          <p:stCondLst>
                                            <p:cond delay="0"/>
                                          </p:stCondLst>
                                        </p:cTn>
                                        <p:tgtEl>
                                          <p:spTgt spid="93187">
                                            <p:txEl>
                                              <p:pRg st="2" end="2"/>
                                            </p:txEl>
                                          </p:spTgt>
                                        </p:tgtEl>
                                        <p:attrNameLst>
                                          <p:attrName>style.visibility</p:attrName>
                                        </p:attrNameLst>
                                      </p:cBhvr>
                                      <p:to>
                                        <p:strVal val="visible"/>
                                      </p:to>
                                    </p:set>
                                    <p:animEffect transition="in" filter="barn(outHorizontal)">
                                      <p:cBhvr>
                                        <p:cTn id="14" dur="500"/>
                                        <p:tgtEl>
                                          <p:spTgt spid="93187">
                                            <p:txEl>
                                              <p:pRg st="2" end="2"/>
                                            </p:txEl>
                                          </p:spTgt>
                                        </p:tgtEl>
                                      </p:cBhvr>
                                    </p:animEffect>
                                  </p:childTnLst>
                                </p:cTn>
                              </p:par>
                              <p:par>
                                <p:cTn id="15" presetID="16" presetClass="entr" presetSubtype="42" fill="hold" grpId="0" nodeType="withEffect">
                                  <p:stCondLst>
                                    <p:cond delay="0"/>
                                  </p:stCondLst>
                                  <p:childTnLst>
                                    <p:set>
                                      <p:cBhvr>
                                        <p:cTn id="16" dur="1" fill="hold">
                                          <p:stCondLst>
                                            <p:cond delay="0"/>
                                          </p:stCondLst>
                                        </p:cTn>
                                        <p:tgtEl>
                                          <p:spTgt spid="93187">
                                            <p:txEl>
                                              <p:pRg st="3" end="3"/>
                                            </p:txEl>
                                          </p:spTgt>
                                        </p:tgtEl>
                                        <p:attrNameLst>
                                          <p:attrName>style.visibility</p:attrName>
                                        </p:attrNameLst>
                                      </p:cBhvr>
                                      <p:to>
                                        <p:strVal val="visible"/>
                                      </p:to>
                                    </p:set>
                                    <p:animEffect transition="in" filter="barn(outHorizontal)">
                                      <p:cBhvr>
                                        <p:cTn id="17" dur="500"/>
                                        <p:tgtEl>
                                          <p:spTgt spid="93187">
                                            <p:txEl>
                                              <p:pRg st="3" end="3"/>
                                            </p:txEl>
                                          </p:spTgt>
                                        </p:tgtEl>
                                      </p:cBhvr>
                                    </p:animEffect>
                                  </p:childTnLst>
                                </p:cTn>
                              </p:par>
                              <p:par>
                                <p:cTn id="18" presetID="16" presetClass="entr" presetSubtype="42" fill="hold" grpId="0" nodeType="withEffect">
                                  <p:stCondLst>
                                    <p:cond delay="0"/>
                                  </p:stCondLst>
                                  <p:childTnLst>
                                    <p:set>
                                      <p:cBhvr>
                                        <p:cTn id="19" dur="1" fill="hold">
                                          <p:stCondLst>
                                            <p:cond delay="0"/>
                                          </p:stCondLst>
                                        </p:cTn>
                                        <p:tgtEl>
                                          <p:spTgt spid="93187">
                                            <p:txEl>
                                              <p:pRg st="4" end="4"/>
                                            </p:txEl>
                                          </p:spTgt>
                                        </p:tgtEl>
                                        <p:attrNameLst>
                                          <p:attrName>style.visibility</p:attrName>
                                        </p:attrNameLst>
                                      </p:cBhvr>
                                      <p:to>
                                        <p:strVal val="visible"/>
                                      </p:to>
                                    </p:set>
                                    <p:animEffect transition="in" filter="barn(outHorizontal)">
                                      <p:cBhvr>
                                        <p:cTn id="20" dur="500"/>
                                        <p:tgtEl>
                                          <p:spTgt spid="93187">
                                            <p:txEl>
                                              <p:pRg st="4" end="4"/>
                                            </p:txEl>
                                          </p:spTgt>
                                        </p:tgtEl>
                                      </p:cBhvr>
                                    </p:animEffect>
                                  </p:childTnLst>
                                </p:cTn>
                              </p:par>
                              <p:par>
                                <p:cTn id="21" presetID="16" presetClass="entr" presetSubtype="42" fill="hold" grpId="0" nodeType="withEffect">
                                  <p:stCondLst>
                                    <p:cond delay="0"/>
                                  </p:stCondLst>
                                  <p:childTnLst>
                                    <p:set>
                                      <p:cBhvr>
                                        <p:cTn id="22" dur="1" fill="hold">
                                          <p:stCondLst>
                                            <p:cond delay="0"/>
                                          </p:stCondLst>
                                        </p:cTn>
                                        <p:tgtEl>
                                          <p:spTgt spid="93187">
                                            <p:txEl>
                                              <p:pRg st="5" end="5"/>
                                            </p:txEl>
                                          </p:spTgt>
                                        </p:tgtEl>
                                        <p:attrNameLst>
                                          <p:attrName>style.visibility</p:attrName>
                                        </p:attrNameLst>
                                      </p:cBhvr>
                                      <p:to>
                                        <p:strVal val="visible"/>
                                      </p:to>
                                    </p:set>
                                    <p:animEffect transition="in" filter="barn(outHorizontal)">
                                      <p:cBhvr>
                                        <p:cTn id="23" dur="500"/>
                                        <p:tgtEl>
                                          <p:spTgt spid="93187">
                                            <p:txEl>
                                              <p:pRg st="5" end="5"/>
                                            </p:txEl>
                                          </p:spTgt>
                                        </p:tgtEl>
                                      </p:cBhvr>
                                    </p:animEffect>
                                  </p:childTnLst>
                                </p:cTn>
                              </p:par>
                              <p:par>
                                <p:cTn id="24" presetID="16" presetClass="entr" presetSubtype="42" fill="hold" grpId="0" nodeType="withEffect">
                                  <p:stCondLst>
                                    <p:cond delay="0"/>
                                  </p:stCondLst>
                                  <p:childTnLst>
                                    <p:set>
                                      <p:cBhvr>
                                        <p:cTn id="25" dur="1" fill="hold">
                                          <p:stCondLst>
                                            <p:cond delay="0"/>
                                          </p:stCondLst>
                                        </p:cTn>
                                        <p:tgtEl>
                                          <p:spTgt spid="93187">
                                            <p:txEl>
                                              <p:pRg st="6" end="6"/>
                                            </p:txEl>
                                          </p:spTgt>
                                        </p:tgtEl>
                                        <p:attrNameLst>
                                          <p:attrName>style.visibility</p:attrName>
                                        </p:attrNameLst>
                                      </p:cBhvr>
                                      <p:to>
                                        <p:strVal val="visible"/>
                                      </p:to>
                                    </p:set>
                                    <p:animEffect transition="in" filter="barn(outHorizontal)">
                                      <p:cBhvr>
                                        <p:cTn id="26" dur="500"/>
                                        <p:tgtEl>
                                          <p:spTgt spid="93187">
                                            <p:txEl>
                                              <p:pRg st="6" end="6"/>
                                            </p:txEl>
                                          </p:spTgt>
                                        </p:tgtEl>
                                      </p:cBhvr>
                                    </p:animEffect>
                                  </p:childTnLst>
                                </p:cTn>
                              </p:par>
                              <p:par>
                                <p:cTn id="27" presetID="16" presetClass="entr" presetSubtype="42" fill="hold" grpId="0" nodeType="withEffect">
                                  <p:stCondLst>
                                    <p:cond delay="0"/>
                                  </p:stCondLst>
                                  <p:childTnLst>
                                    <p:set>
                                      <p:cBhvr>
                                        <p:cTn id="28" dur="1" fill="hold">
                                          <p:stCondLst>
                                            <p:cond delay="0"/>
                                          </p:stCondLst>
                                        </p:cTn>
                                        <p:tgtEl>
                                          <p:spTgt spid="93187">
                                            <p:txEl>
                                              <p:pRg st="7" end="7"/>
                                            </p:txEl>
                                          </p:spTgt>
                                        </p:tgtEl>
                                        <p:attrNameLst>
                                          <p:attrName>style.visibility</p:attrName>
                                        </p:attrNameLst>
                                      </p:cBhvr>
                                      <p:to>
                                        <p:strVal val="visible"/>
                                      </p:to>
                                    </p:set>
                                    <p:animEffect transition="in" filter="barn(outHorizontal)">
                                      <p:cBhvr>
                                        <p:cTn id="29" dur="500"/>
                                        <p:tgtEl>
                                          <p:spTgt spid="93187">
                                            <p:txEl>
                                              <p:pRg st="7" end="7"/>
                                            </p:txEl>
                                          </p:spTgt>
                                        </p:tgtEl>
                                      </p:cBhvr>
                                    </p:animEffect>
                                  </p:childTnLst>
                                </p:cTn>
                              </p:par>
                              <p:par>
                                <p:cTn id="30" presetID="16" presetClass="entr" presetSubtype="42" fill="hold" grpId="0" nodeType="withEffect">
                                  <p:stCondLst>
                                    <p:cond delay="0"/>
                                  </p:stCondLst>
                                  <p:childTnLst>
                                    <p:set>
                                      <p:cBhvr>
                                        <p:cTn id="31" dur="1" fill="hold">
                                          <p:stCondLst>
                                            <p:cond delay="0"/>
                                          </p:stCondLst>
                                        </p:cTn>
                                        <p:tgtEl>
                                          <p:spTgt spid="93187">
                                            <p:txEl>
                                              <p:pRg st="8" end="8"/>
                                            </p:txEl>
                                          </p:spTgt>
                                        </p:tgtEl>
                                        <p:attrNameLst>
                                          <p:attrName>style.visibility</p:attrName>
                                        </p:attrNameLst>
                                      </p:cBhvr>
                                      <p:to>
                                        <p:strVal val="visible"/>
                                      </p:to>
                                    </p:set>
                                    <p:animEffect transition="in" filter="barn(outHorizontal)">
                                      <p:cBhvr>
                                        <p:cTn id="32" dur="500"/>
                                        <p:tgtEl>
                                          <p:spTgt spid="93187">
                                            <p:txEl>
                                              <p:pRg st="8" end="8"/>
                                            </p:txEl>
                                          </p:spTgt>
                                        </p:tgtEl>
                                      </p:cBhvr>
                                    </p:animEffect>
                                  </p:childTnLst>
                                </p:cTn>
                              </p:par>
                              <p:par>
                                <p:cTn id="33" presetID="16" presetClass="entr" presetSubtype="42" fill="hold" grpId="0" nodeType="withEffect">
                                  <p:stCondLst>
                                    <p:cond delay="0"/>
                                  </p:stCondLst>
                                  <p:childTnLst>
                                    <p:set>
                                      <p:cBhvr>
                                        <p:cTn id="34" dur="1" fill="hold">
                                          <p:stCondLst>
                                            <p:cond delay="0"/>
                                          </p:stCondLst>
                                        </p:cTn>
                                        <p:tgtEl>
                                          <p:spTgt spid="93187">
                                            <p:txEl>
                                              <p:pRg st="9" end="9"/>
                                            </p:txEl>
                                          </p:spTgt>
                                        </p:tgtEl>
                                        <p:attrNameLst>
                                          <p:attrName>style.visibility</p:attrName>
                                        </p:attrNameLst>
                                      </p:cBhvr>
                                      <p:to>
                                        <p:strVal val="visible"/>
                                      </p:to>
                                    </p:set>
                                    <p:animEffect transition="in" filter="barn(outHorizontal)">
                                      <p:cBhvr>
                                        <p:cTn id="35" dur="500"/>
                                        <p:tgtEl>
                                          <p:spTgt spid="93187">
                                            <p:txEl>
                                              <p:pRg st="9" end="9"/>
                                            </p:txEl>
                                          </p:spTgt>
                                        </p:tgtEl>
                                      </p:cBhvr>
                                    </p:animEffect>
                                  </p:childTnLst>
                                </p:cTn>
                              </p:par>
                              <p:par>
                                <p:cTn id="36" presetID="16" presetClass="entr" presetSubtype="42" fill="hold" grpId="0" nodeType="withEffect">
                                  <p:stCondLst>
                                    <p:cond delay="0"/>
                                  </p:stCondLst>
                                  <p:childTnLst>
                                    <p:set>
                                      <p:cBhvr>
                                        <p:cTn id="37" dur="1" fill="hold">
                                          <p:stCondLst>
                                            <p:cond delay="0"/>
                                          </p:stCondLst>
                                        </p:cTn>
                                        <p:tgtEl>
                                          <p:spTgt spid="93187">
                                            <p:txEl>
                                              <p:pRg st="10" end="10"/>
                                            </p:txEl>
                                          </p:spTgt>
                                        </p:tgtEl>
                                        <p:attrNameLst>
                                          <p:attrName>style.visibility</p:attrName>
                                        </p:attrNameLst>
                                      </p:cBhvr>
                                      <p:to>
                                        <p:strVal val="visible"/>
                                      </p:to>
                                    </p:set>
                                    <p:animEffect transition="in" filter="barn(outHorizontal)">
                                      <p:cBhvr>
                                        <p:cTn id="38" dur="500"/>
                                        <p:tgtEl>
                                          <p:spTgt spid="93187">
                                            <p:txEl>
                                              <p:pRg st="10" end="10"/>
                                            </p:txEl>
                                          </p:spTgt>
                                        </p:tgtEl>
                                      </p:cBhvr>
                                    </p:animEffect>
                                  </p:childTnLst>
                                </p:cTn>
                              </p:par>
                            </p:childTnLst>
                          </p:cTn>
                        </p:par>
                        <p:par>
                          <p:cTn id="39" fill="hold">
                            <p:stCondLst>
                              <p:cond delay="1000"/>
                            </p:stCondLst>
                            <p:childTnLst>
                              <p:par>
                                <p:cTn id="40" presetID="9" presetClass="entr" presetSubtype="0" fill="hold" nodeType="afterEffect">
                                  <p:stCondLst>
                                    <p:cond delay="0"/>
                                  </p:stCondLst>
                                  <p:childTnLst>
                                    <p:set>
                                      <p:cBhvr>
                                        <p:cTn id="41" dur="1" fill="hold">
                                          <p:stCondLst>
                                            <p:cond delay="0"/>
                                          </p:stCondLst>
                                        </p:cTn>
                                        <p:tgtEl>
                                          <p:spTgt spid="93188"/>
                                        </p:tgtEl>
                                        <p:attrNameLst>
                                          <p:attrName>style.visibility</p:attrName>
                                        </p:attrNameLst>
                                      </p:cBhvr>
                                      <p:to>
                                        <p:strVal val="visible"/>
                                      </p:to>
                                    </p:set>
                                    <p:animEffect transition="in" filter="dissolve">
                                      <p:cBhvr>
                                        <p:cTn id="42" dur="500"/>
                                        <p:tgtEl>
                                          <p:spTgt spid="93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advAuto="100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循环控制语句</a:t>
            </a:r>
          </a:p>
        </p:txBody>
      </p:sp>
      <p:sp>
        <p:nvSpPr>
          <p:cNvPr id="94211" name="Rectangle 3"/>
          <p:cNvSpPr>
            <a:spLocks noGrp="1"/>
          </p:cNvSpPr>
          <p:nvPr>
            <p:ph idx="1"/>
          </p:nvPr>
        </p:nvSpPr>
        <p:spPr/>
        <p:txBody>
          <a:bodyPr vert="horz" wrap="square" lIns="96011" tIns="48005" rIns="96011" bIns="48005" anchor="t">
            <a:normAutofit lnSpcReduction="20000"/>
          </a:bodyPr>
          <a:lstStyle/>
          <a:p>
            <a:pPr marL="609600" indent="-609600" eaLnBrk="1" hangingPunct="1">
              <a:lnSpc>
                <a:spcPct val="90000"/>
              </a:lnSpc>
              <a:spcAft>
                <a:spcPts val="0"/>
              </a:spcAft>
              <a:buSzPct val="90000"/>
            </a:pPr>
            <a:r>
              <a:rPr lang="en-US" altLang="zh-CN" dirty="0"/>
              <a:t>for</a:t>
            </a:r>
            <a:r>
              <a:rPr lang="zh-CN" altLang="en-US" dirty="0"/>
              <a:t>语句求</a:t>
            </a:r>
            <a:r>
              <a:rPr lang="en-US" altLang="zh-CN" dirty="0"/>
              <a:t>0~7</a:t>
            </a:r>
            <a:r>
              <a:rPr lang="zh-CN" altLang="en-US" dirty="0"/>
              <a:t>之间任意数的阶乘</a:t>
            </a:r>
            <a:endParaRPr lang="zh-CN" altLang="en-US" dirty="0">
              <a:solidFill>
                <a:schemeClr val="hlink"/>
              </a:solidFill>
            </a:endParaRPr>
          </a:p>
          <a:p>
            <a:pPr marL="990600" lvl="1" indent="-533400" eaLnBrk="1" hangingPunct="1">
              <a:lnSpc>
                <a:spcPct val="90000"/>
              </a:lnSpc>
              <a:buSzPct val="90000"/>
              <a:buNone/>
            </a:pPr>
            <a:endParaRPr lang="en-US" altLang="zh-CN" sz="2520" dirty="0">
              <a:latin typeface="Tahoma" panose="020B0604030504040204" pitchFamily="34" charset="0"/>
            </a:endParaRPr>
          </a:p>
        </p:txBody>
      </p:sp>
      <p:sp>
        <p:nvSpPr>
          <p:cNvPr id="94212" name="Rectangle 4"/>
          <p:cNvSpPr/>
          <p:nvPr/>
        </p:nvSpPr>
        <p:spPr>
          <a:xfrm>
            <a:off x="7701915" y="4991735"/>
            <a:ext cx="3040380" cy="1155065"/>
          </a:xfrm>
          <a:prstGeom prst="rect">
            <a:avLst/>
          </a:prstGeom>
          <a:solidFill>
            <a:schemeClr val="bg1"/>
          </a:solidFill>
          <a:ln w="9525">
            <a:noFill/>
          </a:ln>
        </p:spPr>
        <p:txBody>
          <a:bodyPr wrap="none" anchor="ctr"/>
          <a:lstStyle/>
          <a:p>
            <a:pPr eaLnBrk="1" hangingPunct="1">
              <a:spcAft>
                <a:spcPts val="0"/>
              </a:spcAft>
            </a:pPr>
            <a:r>
              <a:rPr lang="zh-CN" altLang="en-US" sz="2520" dirty="0">
                <a:solidFill>
                  <a:schemeClr val="hlink"/>
                </a:solidFill>
                <a:latin typeface="Tahoma" panose="020B0604030504040204" pitchFamily="34" charset="0"/>
                <a:ea typeface="华文中宋" panose="02010600040101010101" pitchFamily="2" charset="-122"/>
              </a:rPr>
              <a:t>以上程序：</a:t>
            </a:r>
          </a:p>
          <a:p>
            <a:pPr eaLnBrk="1" hangingPunct="1">
              <a:spcBef>
                <a:spcPts val="0"/>
              </a:spcBef>
              <a:spcAft>
                <a:spcPts val="0"/>
              </a:spcAft>
            </a:pPr>
            <a:r>
              <a:rPr lang="en-US" altLang="zh-CN" sz="2520" dirty="0">
                <a:solidFill>
                  <a:schemeClr val="hlink"/>
                </a:solidFill>
                <a:latin typeface="Tahoma" panose="020B0604030504040204" pitchFamily="34" charset="0"/>
                <a:ea typeface="华文中宋" panose="02010600040101010101" pitchFamily="2" charset="-122"/>
              </a:rPr>
              <a:t>1.</a:t>
            </a:r>
            <a:r>
              <a:rPr lang="zh-CN" altLang="en-US" sz="2520" dirty="0">
                <a:solidFill>
                  <a:schemeClr val="hlink"/>
                </a:solidFill>
                <a:latin typeface="Tahoma" panose="020B0604030504040204" pitchFamily="34" charset="0"/>
                <a:ea typeface="华文中宋" panose="02010600040101010101" pitchFamily="2" charset="-122"/>
              </a:rPr>
              <a:t>能否算</a:t>
            </a:r>
            <a:r>
              <a:rPr lang="en-US" altLang="zh-CN" sz="2520" dirty="0">
                <a:solidFill>
                  <a:schemeClr val="hlink"/>
                </a:solidFill>
                <a:latin typeface="Tahoma" panose="020B0604030504040204" pitchFamily="34" charset="0"/>
                <a:ea typeface="华文中宋" panose="02010600040101010101" pitchFamily="2" charset="-122"/>
              </a:rPr>
              <a:t>0~9</a:t>
            </a:r>
          </a:p>
          <a:p>
            <a:pPr eaLnBrk="1" hangingPunct="1">
              <a:spcBef>
                <a:spcPts val="0"/>
              </a:spcBef>
              <a:spcAft>
                <a:spcPts val="0"/>
              </a:spcAft>
            </a:pPr>
            <a:r>
              <a:rPr lang="en-US" altLang="zh-CN" sz="2520" dirty="0">
                <a:solidFill>
                  <a:schemeClr val="hlink"/>
                </a:solidFill>
                <a:latin typeface="Tahoma" panose="020B0604030504040204" pitchFamily="34" charset="0"/>
                <a:ea typeface="华文中宋" panose="02010600040101010101" pitchFamily="2" charset="-122"/>
              </a:rPr>
              <a:t>2.</a:t>
            </a:r>
            <a:r>
              <a:rPr lang="zh-CN" altLang="en-US" sz="2520" dirty="0">
                <a:solidFill>
                  <a:schemeClr val="hlink"/>
                </a:solidFill>
                <a:latin typeface="Tahoma" panose="020B0604030504040204" pitchFamily="34" charset="0"/>
                <a:ea typeface="华文中宋" panose="02010600040101010101" pitchFamily="2" charset="-122"/>
              </a:rPr>
              <a:t>能否算</a:t>
            </a:r>
            <a:r>
              <a:rPr lang="en-US" altLang="zh-CN" sz="2520" dirty="0">
                <a:solidFill>
                  <a:schemeClr val="hlink"/>
                </a:solidFill>
                <a:latin typeface="Tahoma" panose="020B0604030504040204" pitchFamily="34" charset="0"/>
                <a:ea typeface="华文中宋" panose="02010600040101010101" pitchFamily="2" charset="-122"/>
              </a:rPr>
              <a:t>12134?</a:t>
            </a:r>
          </a:p>
          <a:p>
            <a:pPr eaLnBrk="1" hangingPunct="1">
              <a:spcBef>
                <a:spcPts val="0"/>
              </a:spcBef>
            </a:pPr>
            <a:r>
              <a:rPr lang="zh-CN" altLang="en-US" sz="2520" dirty="0">
                <a:solidFill>
                  <a:schemeClr val="hlink"/>
                </a:solidFill>
                <a:latin typeface="Tahoma" panose="020B0604030504040204" pitchFamily="34" charset="0"/>
                <a:ea typeface="华文中宋" panose="02010600040101010101" pitchFamily="2" charset="-122"/>
              </a:rPr>
              <a:t>如果不能怎么解决？</a:t>
            </a:r>
          </a:p>
        </p:txBody>
      </p:sp>
      <p:sp>
        <p:nvSpPr>
          <p:cNvPr id="100" name="文本框 99"/>
          <p:cNvSpPr txBox="1"/>
          <p:nvPr/>
        </p:nvSpPr>
        <p:spPr>
          <a:xfrm>
            <a:off x="979805" y="4877435"/>
            <a:ext cx="3757930" cy="1383665"/>
          </a:xfrm>
          <a:prstGeom prst="rect">
            <a:avLst/>
          </a:prstGeom>
          <a:solidFill>
            <a:schemeClr val="bg1"/>
          </a:solidFill>
          <a:ln w="9525">
            <a:noFill/>
          </a:ln>
        </p:spPr>
        <p:txBody>
          <a:bodyPr wrap="square">
            <a:spAutoFit/>
          </a:bodyPr>
          <a:lstStyle/>
          <a:p>
            <a:pPr>
              <a:spcAft>
                <a:spcPts val="0"/>
              </a:spcAft>
            </a:pPr>
            <a:r>
              <a:rPr lang="en-US" sz="2800">
                <a:solidFill>
                  <a:srgbClr val="000000"/>
                </a:solidFill>
                <a:latin typeface="Consolas" panose="020B0609020204030204" charset="0"/>
                <a:ea typeface="宋体" panose="02010600030101010101" pitchFamily="2" charset="-122"/>
              </a:rPr>
              <a:t>Please input(0~7):</a:t>
            </a:r>
            <a:endParaRPr lang="en-US" sz="2800">
              <a:solidFill>
                <a:srgbClr val="00C87D"/>
              </a:solidFill>
              <a:latin typeface="Consolas" panose="020B0609020204030204" charset="0"/>
              <a:ea typeface="宋体" panose="02010600030101010101" pitchFamily="2" charset="-122"/>
            </a:endParaRPr>
          </a:p>
          <a:p>
            <a:pPr>
              <a:spcAft>
                <a:spcPts val="0"/>
              </a:spcAft>
            </a:pPr>
            <a:r>
              <a:rPr lang="en-US" sz="2800">
                <a:solidFill>
                  <a:srgbClr val="00C87D"/>
                </a:solidFill>
                <a:latin typeface="Consolas" panose="020B0609020204030204" charset="0"/>
                <a:ea typeface="宋体" panose="02010600030101010101" pitchFamily="2" charset="-122"/>
              </a:rPr>
              <a:t>5</a:t>
            </a:r>
            <a:endParaRPr lang="en-US" sz="2800">
              <a:solidFill>
                <a:srgbClr val="000000"/>
              </a:solidFill>
              <a:latin typeface="Consolas" panose="020B0609020204030204" charset="0"/>
              <a:ea typeface="宋体" panose="02010600030101010101" pitchFamily="2" charset="-122"/>
            </a:endParaRPr>
          </a:p>
          <a:p>
            <a:pPr>
              <a:spcAft>
                <a:spcPts val="0"/>
              </a:spcAft>
            </a:pPr>
            <a:r>
              <a:rPr lang="en-US" sz="2800">
                <a:solidFill>
                  <a:srgbClr val="000000"/>
                </a:solidFill>
                <a:latin typeface="Consolas" panose="020B0609020204030204" charset="0"/>
                <a:ea typeface="宋体" panose="02010600030101010101" pitchFamily="2" charset="-122"/>
              </a:rPr>
              <a:t>5!= 120</a:t>
            </a:r>
            <a:endParaRPr lang="zh-CN" altLang="en-US"/>
          </a:p>
        </p:txBody>
      </p:sp>
      <p:sp>
        <p:nvSpPr>
          <p:cNvPr id="2" name="文本框 1"/>
          <p:cNvSpPr txBox="1"/>
          <p:nvPr/>
        </p:nvSpPr>
        <p:spPr>
          <a:xfrm>
            <a:off x="495300" y="1900555"/>
            <a:ext cx="9541510" cy="2861310"/>
          </a:xfrm>
          <a:prstGeom prst="rect">
            <a:avLst/>
          </a:prstGeom>
          <a:noFill/>
          <a:ln w="9525">
            <a:noFill/>
          </a:ln>
        </p:spPr>
        <p:txBody>
          <a:bodyPr wrap="square">
            <a:spAutoFit/>
          </a:bodyPr>
          <a:lstStyle/>
          <a:p>
            <a:pPr>
              <a:spcAft>
                <a:spcPts val="0"/>
              </a:spcAft>
            </a:pPr>
            <a:r>
              <a:rPr lang="en-US">
                <a:solidFill>
                  <a:srgbClr val="000000"/>
                </a:solidFill>
                <a:latin typeface="Consolas" panose="020B0609020204030204" charset="0"/>
                <a:ea typeface="宋体" panose="02010600030101010101" pitchFamily="2" charset="-122"/>
              </a:rPr>
              <a:t>	</a:t>
            </a:r>
            <a:r>
              <a:rPr lang="en-US" b="1">
                <a:solidFill>
                  <a:srgbClr val="7F0055"/>
                </a:solidFill>
                <a:latin typeface="Consolas" panose="020B0609020204030204" charset="0"/>
                <a:ea typeface="宋体" panose="02010600030101010101" pitchFamily="2" charset="-122"/>
              </a:rPr>
              <a:t>public</a:t>
            </a:r>
            <a:r>
              <a:rPr lang="en-US">
                <a:solidFill>
                  <a:srgbClr val="000000"/>
                </a:solidFill>
                <a:latin typeface="Consolas" panose="020B0609020204030204" charset="0"/>
                <a:ea typeface="宋体" panose="02010600030101010101" pitchFamily="2" charset="-122"/>
              </a:rPr>
              <a:t> </a:t>
            </a:r>
            <a:r>
              <a:rPr lang="en-US" b="1">
                <a:solidFill>
                  <a:srgbClr val="7F0055"/>
                </a:solidFill>
                <a:latin typeface="Consolas" panose="020B0609020204030204" charset="0"/>
                <a:ea typeface="宋体" panose="02010600030101010101" pitchFamily="2" charset="-122"/>
              </a:rPr>
              <a:t>static</a:t>
            </a:r>
            <a:r>
              <a:rPr lang="en-US">
                <a:solidFill>
                  <a:srgbClr val="000000"/>
                </a:solidFill>
                <a:latin typeface="Consolas" panose="020B0609020204030204" charset="0"/>
                <a:ea typeface="宋体" panose="02010600030101010101" pitchFamily="2" charset="-122"/>
              </a:rPr>
              <a:t> </a:t>
            </a:r>
            <a:r>
              <a:rPr lang="en-US" b="1">
                <a:solidFill>
                  <a:srgbClr val="7F0055"/>
                </a:solidFill>
                <a:latin typeface="Consolas" panose="020B0609020204030204" charset="0"/>
                <a:ea typeface="宋体" panose="02010600030101010101" pitchFamily="2" charset="-122"/>
              </a:rPr>
              <a:t>void</a:t>
            </a:r>
            <a:r>
              <a:rPr lang="en-US">
                <a:solidFill>
                  <a:srgbClr val="000000"/>
                </a:solidFill>
                <a:latin typeface="Consolas" panose="020B0609020204030204" charset="0"/>
                <a:ea typeface="宋体" panose="02010600030101010101" pitchFamily="2" charset="-122"/>
              </a:rPr>
              <a:t> main(String </a:t>
            </a:r>
            <a:r>
              <a:rPr lang="en-US">
                <a:solidFill>
                  <a:srgbClr val="6A3E3E"/>
                </a:solidFill>
                <a:latin typeface="Consolas" panose="020B0609020204030204" charset="0"/>
                <a:ea typeface="宋体" panose="02010600030101010101" pitchFamily="2" charset="-122"/>
              </a:rPr>
              <a:t>args</a:t>
            </a:r>
            <a:r>
              <a:rPr lang="en-US">
                <a:solidFill>
                  <a:srgbClr val="000000"/>
                </a:solidFill>
                <a:latin typeface="Consolas" panose="020B0609020204030204" charset="0"/>
                <a:ea typeface="宋体" panose="02010600030101010101" pitchFamily="2" charset="-122"/>
              </a:rPr>
              <a:t>[]) </a:t>
            </a:r>
            <a:r>
              <a:rPr lang="en-US" b="1">
                <a:solidFill>
                  <a:srgbClr val="7F0055"/>
                </a:solidFill>
                <a:latin typeface="Consolas" panose="020B0609020204030204" charset="0"/>
                <a:ea typeface="宋体" panose="02010600030101010101" pitchFamily="2" charset="-122"/>
              </a:rPr>
              <a:t>throws</a:t>
            </a:r>
            <a:r>
              <a:rPr lang="en-US">
                <a:solidFill>
                  <a:srgbClr val="000000"/>
                </a:solidFill>
                <a:latin typeface="Consolas" panose="020B0609020204030204" charset="0"/>
                <a:ea typeface="宋体" panose="02010600030101010101" pitchFamily="2" charset="-122"/>
              </a:rPr>
              <a:t> IOException {</a:t>
            </a:r>
          </a:p>
          <a:p>
            <a:pPr>
              <a:spcAft>
                <a:spcPts val="0"/>
              </a:spcAft>
            </a:pPr>
            <a:r>
              <a:rPr lang="en-US">
                <a:solidFill>
                  <a:srgbClr val="000000"/>
                </a:solidFill>
                <a:latin typeface="Consolas" panose="020B0609020204030204" charset="0"/>
                <a:ea typeface="宋体" panose="02010600030101010101" pitchFamily="2" charset="-122"/>
              </a:rPr>
              <a:t>		</a:t>
            </a:r>
            <a:r>
              <a:rPr lang="en-US" b="1">
                <a:solidFill>
                  <a:srgbClr val="7F0055"/>
                </a:solidFill>
                <a:latin typeface="Consolas" panose="020B0609020204030204" charset="0"/>
                <a:ea typeface="宋体" panose="02010600030101010101" pitchFamily="2" charset="-122"/>
              </a:rPr>
              <a:t>int</a:t>
            </a:r>
            <a:r>
              <a:rPr lang="en-US">
                <a:solidFill>
                  <a:srgbClr val="000000"/>
                </a:solidFill>
                <a:latin typeface="Consolas" panose="020B0609020204030204" charset="0"/>
                <a:ea typeface="宋体" panose="02010600030101010101" pitchFamily="2" charset="-122"/>
              </a:rPr>
              <a:t> </a:t>
            </a:r>
            <a:r>
              <a:rPr lang="en-US">
                <a:solidFill>
                  <a:srgbClr val="6A3E3E"/>
                </a:solidFill>
                <a:latin typeface="Consolas" panose="020B0609020204030204" charset="0"/>
                <a:ea typeface="宋体" panose="02010600030101010101" pitchFamily="2" charset="-122"/>
              </a:rPr>
              <a:t>i</a:t>
            </a:r>
            <a:r>
              <a:rPr lang="en-US">
                <a:solidFill>
                  <a:srgbClr val="000000"/>
                </a:solidFill>
                <a:latin typeface="Consolas" panose="020B0609020204030204" charset="0"/>
                <a:ea typeface="宋体" panose="02010600030101010101" pitchFamily="2" charset="-122"/>
              </a:rPr>
              <a:t>, </a:t>
            </a:r>
            <a:r>
              <a:rPr lang="en-US">
                <a:solidFill>
                  <a:srgbClr val="6A3E3E"/>
                </a:solidFill>
                <a:latin typeface="Consolas" panose="020B0609020204030204" charset="0"/>
                <a:ea typeface="宋体" panose="02010600030101010101" pitchFamily="2" charset="-122"/>
              </a:rPr>
              <a:t>n</a:t>
            </a:r>
            <a:r>
              <a:rPr lang="en-US">
                <a:solidFill>
                  <a:srgbClr val="000000"/>
                </a:solidFill>
                <a:latin typeface="Consolas" panose="020B0609020204030204" charset="0"/>
                <a:ea typeface="宋体" panose="02010600030101010101" pitchFamily="2" charset="-122"/>
              </a:rPr>
              <a:t>, </a:t>
            </a:r>
            <a:r>
              <a:rPr lang="en-US">
                <a:solidFill>
                  <a:srgbClr val="6A3E3E"/>
                </a:solidFill>
                <a:latin typeface="Consolas" panose="020B0609020204030204" charset="0"/>
                <a:ea typeface="宋体" panose="02010600030101010101" pitchFamily="2" charset="-122"/>
              </a:rPr>
              <a:t>sum</a:t>
            </a:r>
            <a:r>
              <a:rPr lang="en-US">
                <a:solidFill>
                  <a:srgbClr val="000000"/>
                </a:solidFill>
                <a:latin typeface="Consolas" panose="020B0609020204030204" charset="0"/>
                <a:ea typeface="宋体" panose="02010600030101010101" pitchFamily="2" charset="-122"/>
              </a:rPr>
              <a:t> = 1;</a:t>
            </a:r>
          </a:p>
          <a:p>
            <a:pPr>
              <a:spcAft>
                <a:spcPts val="0"/>
              </a:spcAft>
            </a:pPr>
            <a:r>
              <a:rPr lang="en-US">
                <a:solidFill>
                  <a:srgbClr val="000000"/>
                </a:solidFill>
                <a:latin typeface="Consolas" panose="020B0609020204030204" charset="0"/>
                <a:ea typeface="宋体" panose="02010600030101010101" pitchFamily="2" charset="-122"/>
              </a:rPr>
              <a:t>		System.</a:t>
            </a:r>
            <a:r>
              <a:rPr lang="en-US" b="1" i="1">
                <a:solidFill>
                  <a:srgbClr val="0000C0"/>
                </a:solidFill>
                <a:latin typeface="Consolas" panose="020B0609020204030204" charset="0"/>
                <a:ea typeface="宋体" panose="02010600030101010101" pitchFamily="2" charset="-122"/>
              </a:rPr>
              <a:t>out</a:t>
            </a:r>
            <a:r>
              <a:rPr lang="en-US">
                <a:solidFill>
                  <a:srgbClr val="000000"/>
                </a:solidFill>
                <a:latin typeface="Consolas" panose="020B0609020204030204" charset="0"/>
                <a:ea typeface="宋体" panose="02010600030101010101" pitchFamily="2" charset="-122"/>
              </a:rPr>
              <a:t>.println(</a:t>
            </a:r>
            <a:r>
              <a:rPr lang="en-US">
                <a:solidFill>
                  <a:srgbClr val="2A00FF"/>
                </a:solidFill>
                <a:latin typeface="Consolas" panose="020B0609020204030204" charset="0"/>
                <a:ea typeface="宋体" panose="02010600030101010101" pitchFamily="2" charset="-122"/>
              </a:rPr>
              <a:t>"Please input(0~7):"</a:t>
            </a:r>
            <a:r>
              <a:rPr lang="en-US">
                <a:solidFill>
                  <a:srgbClr val="000000"/>
                </a:solidFill>
                <a:latin typeface="Consolas" panose="020B0609020204030204" charset="0"/>
                <a:ea typeface="宋体" panose="02010600030101010101" pitchFamily="2" charset="-122"/>
              </a:rPr>
              <a:t>);</a:t>
            </a:r>
          </a:p>
          <a:p>
            <a:pPr>
              <a:spcAft>
                <a:spcPts val="0"/>
              </a:spcAft>
            </a:pPr>
            <a:r>
              <a:rPr lang="en-US">
                <a:solidFill>
                  <a:srgbClr val="000000"/>
                </a:solidFill>
                <a:latin typeface="Consolas" panose="020B0609020204030204" charset="0"/>
                <a:ea typeface="宋体" panose="02010600030101010101" pitchFamily="2" charset="-122"/>
              </a:rPr>
              <a:t>		Scanner </a:t>
            </a:r>
            <a:r>
              <a:rPr lang="en-US">
                <a:solidFill>
                  <a:srgbClr val="6A3E3E"/>
                </a:solidFill>
                <a:latin typeface="Consolas" panose="020B0609020204030204" charset="0"/>
                <a:ea typeface="宋体" panose="02010600030101010101" pitchFamily="2" charset="-122"/>
              </a:rPr>
              <a:t>si</a:t>
            </a:r>
            <a:r>
              <a:rPr lang="en-US">
                <a:solidFill>
                  <a:srgbClr val="000000"/>
                </a:solidFill>
                <a:latin typeface="Consolas" panose="020B0609020204030204" charset="0"/>
                <a:ea typeface="宋体" panose="02010600030101010101" pitchFamily="2" charset="-122"/>
              </a:rPr>
              <a:t> = </a:t>
            </a:r>
            <a:r>
              <a:rPr lang="en-US" b="1">
                <a:solidFill>
                  <a:srgbClr val="7F0055"/>
                </a:solidFill>
                <a:latin typeface="Consolas" panose="020B0609020204030204" charset="0"/>
                <a:ea typeface="宋体" panose="02010600030101010101" pitchFamily="2" charset="-122"/>
              </a:rPr>
              <a:t>new</a:t>
            </a:r>
            <a:r>
              <a:rPr lang="en-US">
                <a:solidFill>
                  <a:srgbClr val="000000"/>
                </a:solidFill>
                <a:latin typeface="Consolas" panose="020B0609020204030204" charset="0"/>
                <a:ea typeface="宋体" panose="02010600030101010101" pitchFamily="2" charset="-122"/>
              </a:rPr>
              <a:t> Scanner(System.</a:t>
            </a:r>
            <a:r>
              <a:rPr lang="en-US" b="1" i="1">
                <a:solidFill>
                  <a:srgbClr val="0000C0"/>
                </a:solidFill>
                <a:latin typeface="Consolas" panose="020B0609020204030204" charset="0"/>
                <a:ea typeface="宋体" panose="02010600030101010101" pitchFamily="2" charset="-122"/>
              </a:rPr>
              <a:t>in</a:t>
            </a:r>
            <a:r>
              <a:rPr lang="en-US">
                <a:solidFill>
                  <a:srgbClr val="000000"/>
                </a:solidFill>
                <a:latin typeface="Consolas" panose="020B0609020204030204" charset="0"/>
                <a:ea typeface="宋体" panose="02010600030101010101" pitchFamily="2" charset="-122"/>
              </a:rPr>
              <a:t>);</a:t>
            </a:r>
          </a:p>
          <a:p>
            <a:pPr>
              <a:spcAft>
                <a:spcPts val="0"/>
              </a:spcAft>
            </a:pPr>
            <a:r>
              <a:rPr lang="en-US">
                <a:solidFill>
                  <a:srgbClr val="000000"/>
                </a:solidFill>
                <a:latin typeface="Consolas" panose="020B0609020204030204" charset="0"/>
                <a:ea typeface="宋体" panose="02010600030101010101" pitchFamily="2" charset="-122"/>
              </a:rPr>
              <a:t>		</a:t>
            </a:r>
            <a:r>
              <a:rPr lang="en-US">
                <a:solidFill>
                  <a:srgbClr val="6A3E3E"/>
                </a:solidFill>
                <a:latin typeface="Consolas" panose="020B0609020204030204" charset="0"/>
                <a:ea typeface="宋体" panose="02010600030101010101" pitchFamily="2" charset="-122"/>
              </a:rPr>
              <a:t>n</a:t>
            </a:r>
            <a:r>
              <a:rPr lang="en-US">
                <a:solidFill>
                  <a:srgbClr val="000000"/>
                </a:solidFill>
                <a:latin typeface="Consolas" panose="020B0609020204030204" charset="0"/>
                <a:ea typeface="宋体" panose="02010600030101010101" pitchFamily="2" charset="-122"/>
              </a:rPr>
              <a:t> = </a:t>
            </a:r>
            <a:r>
              <a:rPr lang="en-US">
                <a:solidFill>
                  <a:srgbClr val="6A3E3E"/>
                </a:solidFill>
                <a:latin typeface="Consolas" panose="020B0609020204030204" charset="0"/>
                <a:ea typeface="宋体" panose="02010600030101010101" pitchFamily="2" charset="-122"/>
              </a:rPr>
              <a:t>si</a:t>
            </a:r>
            <a:r>
              <a:rPr lang="en-US">
                <a:solidFill>
                  <a:srgbClr val="000000"/>
                </a:solidFill>
                <a:latin typeface="Consolas" panose="020B0609020204030204" charset="0"/>
                <a:ea typeface="宋体" panose="02010600030101010101" pitchFamily="2" charset="-122"/>
              </a:rPr>
              <a:t>.nextInt();</a:t>
            </a:r>
          </a:p>
          <a:p>
            <a:pPr>
              <a:spcAft>
                <a:spcPts val="0"/>
              </a:spcAft>
            </a:pPr>
            <a:r>
              <a:rPr lang="en-US">
                <a:solidFill>
                  <a:srgbClr val="000000"/>
                </a:solidFill>
                <a:latin typeface="Consolas" panose="020B0609020204030204" charset="0"/>
                <a:ea typeface="宋体" panose="02010600030101010101" pitchFamily="2" charset="-122"/>
              </a:rPr>
              <a:t>		</a:t>
            </a:r>
            <a:r>
              <a:rPr lang="en-US" b="1">
                <a:solidFill>
                  <a:srgbClr val="7F0055"/>
                </a:solidFill>
                <a:latin typeface="Consolas" panose="020B0609020204030204" charset="0"/>
                <a:ea typeface="宋体" panose="02010600030101010101" pitchFamily="2" charset="-122"/>
              </a:rPr>
              <a:t>for</a:t>
            </a:r>
            <a:r>
              <a:rPr lang="en-US">
                <a:solidFill>
                  <a:srgbClr val="000000"/>
                </a:solidFill>
                <a:latin typeface="Consolas" panose="020B0609020204030204" charset="0"/>
                <a:ea typeface="宋体" panose="02010600030101010101" pitchFamily="2" charset="-122"/>
              </a:rPr>
              <a:t> (</a:t>
            </a:r>
            <a:r>
              <a:rPr lang="en-US">
                <a:solidFill>
                  <a:srgbClr val="6A3E3E"/>
                </a:solidFill>
                <a:latin typeface="Consolas" panose="020B0609020204030204" charset="0"/>
                <a:ea typeface="宋体" panose="02010600030101010101" pitchFamily="2" charset="-122"/>
              </a:rPr>
              <a:t>i</a:t>
            </a:r>
            <a:r>
              <a:rPr lang="en-US">
                <a:solidFill>
                  <a:srgbClr val="000000"/>
                </a:solidFill>
                <a:latin typeface="Consolas" panose="020B0609020204030204" charset="0"/>
                <a:ea typeface="宋体" panose="02010600030101010101" pitchFamily="2" charset="-122"/>
              </a:rPr>
              <a:t> = 1; </a:t>
            </a:r>
            <a:r>
              <a:rPr lang="en-US">
                <a:solidFill>
                  <a:srgbClr val="6A3E3E"/>
                </a:solidFill>
                <a:latin typeface="Consolas" panose="020B0609020204030204" charset="0"/>
                <a:ea typeface="宋体" panose="02010600030101010101" pitchFamily="2" charset="-122"/>
              </a:rPr>
              <a:t>i</a:t>
            </a:r>
            <a:r>
              <a:rPr lang="en-US">
                <a:solidFill>
                  <a:srgbClr val="000000"/>
                </a:solidFill>
                <a:latin typeface="Consolas" panose="020B0609020204030204" charset="0"/>
                <a:ea typeface="宋体" panose="02010600030101010101" pitchFamily="2" charset="-122"/>
              </a:rPr>
              <a:t> &lt;= </a:t>
            </a:r>
            <a:r>
              <a:rPr lang="en-US">
                <a:solidFill>
                  <a:srgbClr val="6A3E3E"/>
                </a:solidFill>
                <a:latin typeface="Consolas" panose="020B0609020204030204" charset="0"/>
                <a:ea typeface="宋体" panose="02010600030101010101" pitchFamily="2" charset="-122"/>
              </a:rPr>
              <a:t>n</a:t>
            </a:r>
            <a:r>
              <a:rPr lang="en-US">
                <a:solidFill>
                  <a:srgbClr val="000000"/>
                </a:solidFill>
                <a:latin typeface="Consolas" panose="020B0609020204030204" charset="0"/>
                <a:ea typeface="宋体" panose="02010600030101010101" pitchFamily="2" charset="-122"/>
              </a:rPr>
              <a:t>; </a:t>
            </a:r>
            <a:r>
              <a:rPr lang="en-US">
                <a:solidFill>
                  <a:srgbClr val="6A3E3E"/>
                </a:solidFill>
                <a:latin typeface="Consolas" panose="020B0609020204030204" charset="0"/>
                <a:ea typeface="宋体" panose="02010600030101010101" pitchFamily="2" charset="-122"/>
              </a:rPr>
              <a:t>i</a:t>
            </a:r>
            <a:r>
              <a:rPr lang="en-US">
                <a:solidFill>
                  <a:srgbClr val="000000"/>
                </a:solidFill>
                <a:latin typeface="Consolas" panose="020B0609020204030204" charset="0"/>
                <a:ea typeface="宋体" panose="02010600030101010101" pitchFamily="2" charset="-122"/>
              </a:rPr>
              <a:t>++)</a:t>
            </a:r>
          </a:p>
          <a:p>
            <a:pPr>
              <a:spcAft>
                <a:spcPts val="0"/>
              </a:spcAft>
            </a:pPr>
            <a:r>
              <a:rPr lang="en-US">
                <a:solidFill>
                  <a:srgbClr val="000000"/>
                </a:solidFill>
                <a:latin typeface="Consolas" panose="020B0609020204030204" charset="0"/>
                <a:ea typeface="宋体" panose="02010600030101010101" pitchFamily="2" charset="-122"/>
              </a:rPr>
              <a:t>			</a:t>
            </a:r>
            <a:r>
              <a:rPr lang="en-US">
                <a:solidFill>
                  <a:srgbClr val="6A3E3E"/>
                </a:solidFill>
                <a:latin typeface="Consolas" panose="020B0609020204030204" charset="0"/>
                <a:ea typeface="宋体" panose="02010600030101010101" pitchFamily="2" charset="-122"/>
              </a:rPr>
              <a:t>sum</a:t>
            </a:r>
            <a:r>
              <a:rPr lang="en-US">
                <a:solidFill>
                  <a:srgbClr val="000000"/>
                </a:solidFill>
                <a:latin typeface="Consolas" panose="020B0609020204030204" charset="0"/>
                <a:ea typeface="宋体" panose="02010600030101010101" pitchFamily="2" charset="-122"/>
              </a:rPr>
              <a:t> *= </a:t>
            </a:r>
            <a:r>
              <a:rPr lang="en-US">
                <a:solidFill>
                  <a:srgbClr val="6A3E3E"/>
                </a:solidFill>
                <a:latin typeface="Consolas" panose="020B0609020204030204" charset="0"/>
                <a:ea typeface="宋体" panose="02010600030101010101" pitchFamily="2" charset="-122"/>
              </a:rPr>
              <a:t>i</a:t>
            </a:r>
            <a:r>
              <a:rPr lang="en-US">
                <a:solidFill>
                  <a:srgbClr val="000000"/>
                </a:solidFill>
                <a:latin typeface="Consolas" panose="020B0609020204030204" charset="0"/>
                <a:ea typeface="宋体" panose="02010600030101010101" pitchFamily="2" charset="-122"/>
              </a:rPr>
              <a:t>;</a:t>
            </a:r>
          </a:p>
          <a:p>
            <a:pPr>
              <a:spcAft>
                <a:spcPts val="0"/>
              </a:spcAft>
            </a:pPr>
            <a:r>
              <a:rPr lang="en-US">
                <a:solidFill>
                  <a:srgbClr val="000000"/>
                </a:solidFill>
                <a:latin typeface="Consolas" panose="020B0609020204030204" charset="0"/>
                <a:ea typeface="宋体" panose="02010600030101010101" pitchFamily="2" charset="-122"/>
              </a:rPr>
              <a:t>		System.</a:t>
            </a:r>
            <a:r>
              <a:rPr lang="en-US" b="1" i="1">
                <a:solidFill>
                  <a:srgbClr val="0000C0"/>
                </a:solidFill>
                <a:latin typeface="Consolas" panose="020B0609020204030204" charset="0"/>
                <a:ea typeface="宋体" panose="02010600030101010101" pitchFamily="2" charset="-122"/>
              </a:rPr>
              <a:t>out</a:t>
            </a:r>
            <a:r>
              <a:rPr lang="en-US">
                <a:solidFill>
                  <a:srgbClr val="000000"/>
                </a:solidFill>
                <a:latin typeface="Consolas" panose="020B0609020204030204" charset="0"/>
                <a:ea typeface="宋体" panose="02010600030101010101" pitchFamily="2" charset="-122"/>
              </a:rPr>
              <a:t>.println(</a:t>
            </a:r>
            <a:r>
              <a:rPr lang="en-US">
                <a:solidFill>
                  <a:srgbClr val="6A3E3E"/>
                </a:solidFill>
                <a:latin typeface="Consolas" panose="020B0609020204030204" charset="0"/>
                <a:ea typeface="宋体" panose="02010600030101010101" pitchFamily="2" charset="-122"/>
              </a:rPr>
              <a:t>n</a:t>
            </a:r>
            <a:r>
              <a:rPr lang="en-US">
                <a:solidFill>
                  <a:srgbClr val="000000"/>
                </a:solidFill>
                <a:latin typeface="Consolas" panose="020B0609020204030204" charset="0"/>
                <a:ea typeface="宋体" panose="02010600030101010101" pitchFamily="2" charset="-122"/>
              </a:rPr>
              <a:t> + </a:t>
            </a:r>
            <a:r>
              <a:rPr lang="en-US">
                <a:solidFill>
                  <a:srgbClr val="2A00FF"/>
                </a:solidFill>
                <a:latin typeface="Consolas" panose="020B0609020204030204" charset="0"/>
                <a:ea typeface="宋体" panose="02010600030101010101" pitchFamily="2" charset="-122"/>
              </a:rPr>
              <a:t>"!= "</a:t>
            </a:r>
            <a:r>
              <a:rPr lang="en-US">
                <a:solidFill>
                  <a:srgbClr val="000000"/>
                </a:solidFill>
                <a:latin typeface="Consolas" panose="020B0609020204030204" charset="0"/>
                <a:ea typeface="宋体" panose="02010600030101010101" pitchFamily="2" charset="-122"/>
              </a:rPr>
              <a:t> + </a:t>
            </a:r>
            <a:r>
              <a:rPr lang="en-US">
                <a:solidFill>
                  <a:srgbClr val="6A3E3E"/>
                </a:solidFill>
                <a:latin typeface="Consolas" panose="020B0609020204030204" charset="0"/>
                <a:ea typeface="宋体" panose="02010600030101010101" pitchFamily="2" charset="-122"/>
              </a:rPr>
              <a:t>sum</a:t>
            </a:r>
            <a:r>
              <a:rPr lang="en-US">
                <a:solidFill>
                  <a:srgbClr val="000000"/>
                </a:solidFill>
                <a:latin typeface="Consolas" panose="020B0609020204030204" charset="0"/>
                <a:ea typeface="宋体" panose="02010600030101010101" pitchFamily="2" charset="-122"/>
              </a:rPr>
              <a:t>);</a:t>
            </a:r>
          </a:p>
          <a:p>
            <a:pPr>
              <a:spcAft>
                <a:spcPts val="0"/>
              </a:spcAft>
            </a:pPr>
            <a:r>
              <a:rPr lang="en-US">
                <a:solidFill>
                  <a:srgbClr val="000000"/>
                </a:solidFill>
                <a:latin typeface="Consolas" panose="020B0609020204030204" charset="0"/>
                <a:ea typeface="宋体" panose="02010600030101010101" pitchFamily="2" charset="-122"/>
              </a:rPr>
              <a:t>	}</a:t>
            </a:r>
            <a:endParaRPr lang="en-US" altLang="en-US">
              <a:solidFill>
                <a:srgbClr val="000000"/>
              </a:solidFill>
              <a:latin typeface="Consolas" panose="020B0609020204030204" charset="0"/>
              <a:ea typeface="宋体" panose="0201060003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94212"/>
                                        </p:tgtEl>
                                        <p:attrNameLst>
                                          <p:attrName>style.visibility</p:attrName>
                                        </p:attrNameLst>
                                      </p:cBhvr>
                                      <p:to>
                                        <p:strVal val="visible"/>
                                      </p:to>
                                    </p:set>
                                    <p:animEffect transition="in" filter="barn(outHorizontal)">
                                      <p:cBhvr>
                                        <p:cTn id="7" dur="500"/>
                                        <p:tgtEl>
                                          <p:spTgt spid="94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a:bodyPr>
          <a:lstStyle/>
          <a:p>
            <a:pPr algn="l" eaLnBrk="1" hangingPunct="1">
              <a:lnSpc>
                <a:spcPct val="150000"/>
              </a:lnSpc>
              <a:spcAft>
                <a:spcPts val="0"/>
              </a:spcAft>
              <a:buClr>
                <a:srgbClr val="000000"/>
              </a:buClr>
              <a:buSzTx/>
            </a:pPr>
            <a:r>
              <a:rPr lang="zh-CN" altLang="en-US" dirty="0"/>
              <a:t>循环的嵌套</a:t>
            </a:r>
          </a:p>
          <a:p>
            <a:pPr marL="914400" lvl="1" indent="-457200" eaLnBrk="1" hangingPunct="1">
              <a:lnSpc>
                <a:spcPct val="150000"/>
              </a:lnSpc>
              <a:spcBef>
                <a:spcPts val="20"/>
              </a:spcBef>
              <a:spcAft>
                <a:spcPts val="0"/>
              </a:spcAft>
              <a:buClr>
                <a:schemeClr val="accent1"/>
              </a:buClr>
              <a:buSzTx/>
            </a:pPr>
            <a:r>
              <a:rPr lang="zh-CN" altLang="en-US" dirty="0"/>
              <a:t>一个循环体内包含另一个完整的循环结构</a:t>
            </a:r>
          </a:p>
          <a:p>
            <a:pPr marL="914400" lvl="1" indent="-457200" eaLnBrk="1" hangingPunct="1">
              <a:lnSpc>
                <a:spcPct val="150000"/>
              </a:lnSpc>
              <a:spcBef>
                <a:spcPts val="20"/>
              </a:spcBef>
              <a:spcAft>
                <a:spcPts val="0"/>
              </a:spcAft>
              <a:buClr>
                <a:schemeClr val="accent1"/>
              </a:buClr>
              <a:buSzTx/>
            </a:pPr>
            <a:r>
              <a:rPr lang="zh-CN" altLang="en-US" dirty="0"/>
              <a:t>嵌套的层次多，多重嵌套</a:t>
            </a:r>
          </a:p>
          <a:p>
            <a:pPr marL="914400" lvl="1" indent="-457200" eaLnBrk="1" hangingPunct="1">
              <a:lnSpc>
                <a:spcPct val="150000"/>
              </a:lnSpc>
              <a:spcBef>
                <a:spcPts val="20"/>
              </a:spcBef>
              <a:buClr>
                <a:schemeClr val="accent1"/>
              </a:buClr>
              <a:buSzTx/>
            </a:pPr>
            <a:r>
              <a:rPr lang="en-US" altLang="zh-CN" dirty="0"/>
              <a:t>while</a:t>
            </a:r>
            <a:r>
              <a:rPr lang="zh-CN" altLang="en-US" dirty="0"/>
              <a:t>循环、</a:t>
            </a:r>
            <a:r>
              <a:rPr lang="en-US" altLang="zh-CN" dirty="0"/>
              <a:t>do-while</a:t>
            </a:r>
            <a:r>
              <a:rPr lang="zh-CN" altLang="en-US" dirty="0"/>
              <a:t>循环、</a:t>
            </a:r>
            <a:r>
              <a:rPr lang="en-US" altLang="zh-CN" dirty="0"/>
              <a:t>for</a:t>
            </a:r>
            <a:r>
              <a:rPr lang="zh-CN" altLang="en-US" dirty="0"/>
              <a:t>循环相互嵌套</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循环控制语句</a:t>
            </a:r>
          </a:p>
        </p:txBody>
      </p:sp>
    </p:spTree>
    <p:custDataLst>
      <p:tags r:id="rId1"/>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循环控制语句</a:t>
            </a:r>
          </a:p>
        </p:txBody>
      </p:sp>
      <p:sp>
        <p:nvSpPr>
          <p:cNvPr id="97283" name="Rectangle 3"/>
          <p:cNvSpPr>
            <a:spLocks noGrp="1"/>
          </p:cNvSpPr>
          <p:nvPr>
            <p:ph idx="1"/>
          </p:nvPr>
        </p:nvSpPr>
        <p:spPr>
          <a:xfrm>
            <a:off x="539750" y="1224598"/>
            <a:ext cx="9721850" cy="4751387"/>
          </a:xfrm>
        </p:spPr>
        <p:txBody>
          <a:bodyPr vert="horz" wrap="square" lIns="96011" tIns="48005" rIns="96011" bIns="48005" anchor="t">
            <a:normAutofit/>
          </a:bodyPr>
          <a:lstStyle/>
          <a:p>
            <a:pPr marL="609600" indent="-609600" eaLnBrk="1" hangingPunct="1">
              <a:lnSpc>
                <a:spcPct val="90000"/>
              </a:lnSpc>
              <a:spcAft>
                <a:spcPts val="0"/>
              </a:spcAft>
              <a:buSzPct val="90000"/>
            </a:pPr>
            <a:r>
              <a:rPr lang="zh-CN" altLang="en-US" sz="2520" dirty="0"/>
              <a:t>求 </a:t>
            </a:r>
            <a:r>
              <a:rPr lang="en-US" altLang="zh-CN" sz="2520" dirty="0"/>
              <a:t>1!+2!+3!+… … +9!</a:t>
            </a:r>
            <a:endParaRPr lang="en-US" altLang="zh-CN" dirty="0">
              <a:solidFill>
                <a:schemeClr val="hlink"/>
              </a:solidFill>
            </a:endParaRPr>
          </a:p>
          <a:p>
            <a:pPr marL="990600" lvl="1" indent="-533400" eaLnBrk="1" hangingPunct="1">
              <a:lnSpc>
                <a:spcPct val="90000"/>
              </a:lnSpc>
              <a:buSzPct val="90000"/>
              <a:buNone/>
            </a:pPr>
            <a:endParaRPr lang="en-US" altLang="zh-CN" sz="2100" dirty="0">
              <a:latin typeface="Tahoma" panose="020B0604030504040204" pitchFamily="34" charset="0"/>
            </a:endParaRPr>
          </a:p>
        </p:txBody>
      </p:sp>
      <p:sp>
        <p:nvSpPr>
          <p:cNvPr id="97287" name="Rectangle 7"/>
          <p:cNvSpPr/>
          <p:nvPr/>
        </p:nvSpPr>
        <p:spPr>
          <a:xfrm>
            <a:off x="8361045" y="1411605"/>
            <a:ext cx="2320290" cy="640080"/>
          </a:xfrm>
          <a:prstGeom prst="rect">
            <a:avLst/>
          </a:prstGeom>
          <a:solidFill>
            <a:srgbClr val="C0C0C0"/>
          </a:solidFill>
          <a:ln w="9525">
            <a:noFill/>
          </a:ln>
        </p:spPr>
        <p:txBody>
          <a:bodyPr wrap="none" anchor="ctr"/>
          <a:lstStyle/>
          <a:p>
            <a:pPr eaLnBrk="1" hangingPunct="1">
              <a:spcAft>
                <a:spcPts val="0"/>
              </a:spcAft>
            </a:pPr>
            <a:r>
              <a:rPr lang="zh-CN" altLang="en-US" sz="2520" dirty="0">
                <a:latin typeface="Tahoma" panose="020B0604030504040204" pitchFamily="34" charset="0"/>
                <a:ea typeface="华文中宋" panose="02010600040101010101" pitchFamily="2" charset="-122"/>
              </a:rPr>
              <a:t>输入</a:t>
            </a:r>
            <a:r>
              <a:rPr lang="en-US" altLang="zh-CN" sz="2520" dirty="0">
                <a:latin typeface="Tahoma" panose="020B0604030504040204" pitchFamily="34" charset="0"/>
                <a:ea typeface="华文中宋" panose="02010600040101010101" pitchFamily="2" charset="-122"/>
              </a:rPr>
              <a:t>0</a:t>
            </a:r>
            <a:r>
              <a:rPr lang="zh-CN" altLang="en-US" sz="2520" dirty="0">
                <a:latin typeface="Tahoma" panose="020B0604030504040204" pitchFamily="34" charset="0"/>
                <a:ea typeface="华文中宋" panose="02010600040101010101" pitchFamily="2" charset="-122"/>
              </a:rPr>
              <a:t>的结果！</a:t>
            </a:r>
          </a:p>
        </p:txBody>
      </p:sp>
      <p:sp>
        <p:nvSpPr>
          <p:cNvPr id="2" name="文本框 1"/>
          <p:cNvSpPr txBox="1"/>
          <p:nvPr/>
        </p:nvSpPr>
        <p:spPr>
          <a:xfrm>
            <a:off x="-790575" y="1506855"/>
            <a:ext cx="9624060" cy="5507990"/>
          </a:xfrm>
          <a:prstGeom prst="rect">
            <a:avLst/>
          </a:prstGeom>
          <a:noFill/>
          <a:ln w="9525">
            <a:noFill/>
          </a:ln>
        </p:spPr>
        <p:txBody>
          <a:bodyPr wrap="square">
            <a:spAutoFit/>
          </a:bodyPr>
          <a:lstStyle/>
          <a:p>
            <a:pPr>
              <a:spcAft>
                <a:spcPts val="0"/>
              </a:spcAft>
            </a:pPr>
            <a:r>
              <a:rPr lang="en-US" sz="1600" b="1">
                <a:solidFill>
                  <a:srgbClr val="7F0055"/>
                </a:solidFill>
                <a:latin typeface="Consolas" panose="020B0609020204030204" charset="0"/>
                <a:ea typeface="宋体" panose="02010600030101010101" pitchFamily="2" charset="-122"/>
              </a:rPr>
              <a:t>	public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static</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void</a:t>
            </a:r>
            <a:r>
              <a:rPr lang="en-US" sz="1600">
                <a:solidFill>
                  <a:srgbClr val="000000"/>
                </a:solidFill>
                <a:latin typeface="Consolas" panose="020B0609020204030204" charset="0"/>
                <a:ea typeface="宋体" panose="02010600030101010101" pitchFamily="2" charset="-122"/>
              </a:rPr>
              <a:t> main(String </a:t>
            </a:r>
            <a:r>
              <a:rPr lang="en-US" sz="1600">
                <a:solidFill>
                  <a:srgbClr val="6A3E3E"/>
                </a:solidFill>
                <a:latin typeface="Consolas" panose="020B0609020204030204" charset="0"/>
                <a:ea typeface="宋体" panose="02010600030101010101" pitchFamily="2" charset="-122"/>
              </a:rPr>
              <a:t>args</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throws</a:t>
            </a:r>
            <a:r>
              <a:rPr lang="en-US" sz="1600">
                <a:solidFill>
                  <a:srgbClr val="000000"/>
                </a:solidFill>
                <a:latin typeface="Consolas" panose="020B0609020204030204" charset="0"/>
                <a:ea typeface="宋体" panose="02010600030101010101" pitchFamily="2" charset="-122"/>
              </a:rPr>
              <a:t> IOException {</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int</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i</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n</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sum</a:t>
            </a:r>
            <a:r>
              <a:rPr lang="en-US" sz="1600">
                <a:solidFill>
                  <a:srgbClr val="000000"/>
                </a:solidFill>
                <a:latin typeface="Consolas" panose="020B0609020204030204" charset="0"/>
                <a:ea typeface="宋体" panose="02010600030101010101" pitchFamily="2" charset="-122"/>
              </a:rPr>
              <a:t> = 1;</a:t>
            </a:r>
          </a:p>
          <a:p>
            <a:pPr>
              <a:spcAft>
                <a:spcPts val="0"/>
              </a:spcAft>
            </a:pPr>
            <a:r>
              <a:rPr lang="en-US" sz="1600">
                <a:solidFill>
                  <a:srgbClr val="000000"/>
                </a:solidFill>
                <a:latin typeface="Consolas" panose="020B0609020204030204" charset="0"/>
                <a:ea typeface="宋体" panose="02010600030101010101" pitchFamily="2" charset="-122"/>
              </a:rPr>
              <a:t>		BigInteger </a:t>
            </a:r>
            <a:r>
              <a:rPr lang="en-US" sz="1600">
                <a:solidFill>
                  <a:srgbClr val="6A3E3E"/>
                </a:solidFill>
                <a:latin typeface="Consolas" panose="020B0609020204030204" charset="0"/>
                <a:ea typeface="宋体" panose="02010600030101010101" pitchFamily="2" charset="-122"/>
              </a:rPr>
              <a:t>bsum</a:t>
            </a:r>
            <a:r>
              <a:rPr lang="en-US" sz="1600">
                <a:solidFill>
                  <a:srgbClr val="000000"/>
                </a:solidFill>
                <a:latin typeface="Consolas" panose="020B0609020204030204" charset="0"/>
                <a:ea typeface="宋体" panose="02010600030101010101" pitchFamily="2" charset="-122"/>
              </a:rPr>
              <a:t> = BigInteger.</a:t>
            </a:r>
            <a:r>
              <a:rPr lang="en-US" sz="1600" i="1">
                <a:solidFill>
                  <a:srgbClr val="000000"/>
                </a:solidFill>
                <a:latin typeface="Consolas" panose="020B0609020204030204" charset="0"/>
                <a:ea typeface="宋体" panose="02010600030101010101" pitchFamily="2" charset="-122"/>
              </a:rPr>
              <a:t>valueOf</a:t>
            </a:r>
            <a:r>
              <a:rPr lang="en-US" sz="1600">
                <a:solidFill>
                  <a:srgbClr val="000000"/>
                </a:solidFill>
                <a:latin typeface="Consolas" panose="020B0609020204030204" charset="0"/>
                <a:ea typeface="宋体" panose="02010600030101010101" pitchFamily="2" charset="-122"/>
              </a:rPr>
              <a:t>(1);</a:t>
            </a:r>
          </a:p>
          <a:p>
            <a:pPr>
              <a:spcAft>
                <a:spcPts val="0"/>
              </a:spcAft>
            </a:pP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en-US" sz="1600">
                <a:solidFill>
                  <a:srgbClr val="2A00FF"/>
                </a:solidFill>
                <a:latin typeface="Consolas" panose="020B0609020204030204" charset="0"/>
                <a:ea typeface="宋体" panose="02010600030101010101" pitchFamily="2" charset="-122"/>
              </a:rPr>
              <a:t>"Please input(0~7):"</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Scanner </a:t>
            </a:r>
            <a:r>
              <a:rPr lang="en-US" sz="1600" u="sng">
                <a:solidFill>
                  <a:srgbClr val="6A3E3E"/>
                </a:solidFill>
                <a:latin typeface="Consolas" panose="020B0609020204030204" charset="0"/>
                <a:ea typeface="宋体" panose="02010600030101010101" pitchFamily="2" charset="-122"/>
              </a:rPr>
              <a:t>si</a:t>
            </a:r>
            <a:r>
              <a:rPr lang="en-US" sz="1600">
                <a:solidFill>
                  <a:srgbClr val="000000"/>
                </a:solidFill>
                <a:latin typeface="Consolas" panose="020B0609020204030204" charset="0"/>
                <a:ea typeface="宋体" panose="02010600030101010101" pitchFamily="2" charset="-122"/>
              </a:rPr>
              <a:t> = </a:t>
            </a:r>
            <a:r>
              <a:rPr lang="en-US" sz="1600" b="1">
                <a:solidFill>
                  <a:srgbClr val="7F0055"/>
                </a:solidFill>
                <a:latin typeface="Consolas" panose="020B0609020204030204" charset="0"/>
                <a:ea typeface="宋体" panose="02010600030101010101" pitchFamily="2" charset="-122"/>
              </a:rPr>
              <a:t>new</a:t>
            </a:r>
            <a:r>
              <a:rPr lang="en-US" sz="1600">
                <a:solidFill>
                  <a:srgbClr val="000000"/>
                </a:solidFill>
                <a:latin typeface="Consolas" panose="020B0609020204030204" charset="0"/>
                <a:ea typeface="宋体" panose="02010600030101010101" pitchFamily="2" charset="-122"/>
              </a:rPr>
              <a:t> Scanner(System.</a:t>
            </a:r>
            <a:r>
              <a:rPr lang="en-US" sz="1600" b="1" i="1">
                <a:solidFill>
                  <a:srgbClr val="0000C0"/>
                </a:solidFill>
                <a:latin typeface="Consolas" panose="020B0609020204030204" charset="0"/>
                <a:ea typeface="宋体" panose="02010600030101010101" pitchFamily="2" charset="-122"/>
              </a:rPr>
              <a:t>in</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n</a:t>
            </a:r>
            <a:r>
              <a:rPr lang="en-US" sz="1600">
                <a:solidFill>
                  <a:srgbClr val="000000"/>
                </a:solidFill>
                <a:latin typeface="Consolas" panose="020B0609020204030204" charset="0"/>
                <a:ea typeface="宋体" panose="02010600030101010101" pitchFamily="2" charset="-122"/>
              </a:rPr>
              <a:t> = </a:t>
            </a:r>
            <a:r>
              <a:rPr lang="en-US" sz="1600">
                <a:solidFill>
                  <a:srgbClr val="6A3E3E"/>
                </a:solidFill>
                <a:latin typeface="Consolas" panose="020B0609020204030204" charset="0"/>
                <a:ea typeface="宋体" panose="02010600030101010101" pitchFamily="2" charset="-122"/>
              </a:rPr>
              <a:t>si</a:t>
            </a:r>
            <a:r>
              <a:rPr lang="en-US" sz="1600">
                <a:solidFill>
                  <a:srgbClr val="000000"/>
                </a:solidFill>
                <a:latin typeface="Consolas" panose="020B0609020204030204" charset="0"/>
                <a:ea typeface="宋体" panose="02010600030101010101" pitchFamily="2" charset="-122"/>
              </a:rPr>
              <a:t>.nextInt();</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int</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total</a:t>
            </a:r>
            <a:r>
              <a:rPr lang="en-US" sz="1600">
                <a:solidFill>
                  <a:srgbClr val="000000"/>
                </a:solidFill>
                <a:latin typeface="Consolas" panose="020B0609020204030204" charset="0"/>
                <a:ea typeface="宋体" panose="02010600030101010101" pitchFamily="2" charset="-122"/>
              </a:rPr>
              <a:t> = 0;</a:t>
            </a:r>
          </a:p>
          <a:p>
            <a:pPr>
              <a:spcAft>
                <a:spcPts val="0"/>
              </a:spcAft>
            </a:pPr>
            <a:r>
              <a:rPr lang="en-US" sz="1600">
                <a:solidFill>
                  <a:srgbClr val="000000"/>
                </a:solidFill>
                <a:latin typeface="Consolas" panose="020B0609020204030204" charset="0"/>
                <a:ea typeface="宋体" panose="02010600030101010101" pitchFamily="2" charset="-122"/>
              </a:rPr>
              <a:t>		BigInteger </a:t>
            </a:r>
            <a:r>
              <a:rPr lang="en-US" sz="1600">
                <a:solidFill>
                  <a:srgbClr val="6A3E3E"/>
                </a:solidFill>
                <a:latin typeface="Consolas" panose="020B0609020204030204" charset="0"/>
                <a:ea typeface="宋体" panose="02010600030101010101" pitchFamily="2" charset="-122"/>
              </a:rPr>
              <a:t>btotal</a:t>
            </a:r>
            <a:r>
              <a:rPr lang="en-US" sz="1600">
                <a:solidFill>
                  <a:srgbClr val="000000"/>
                </a:solidFill>
                <a:latin typeface="Consolas" panose="020B0609020204030204" charset="0"/>
                <a:ea typeface="宋体" panose="02010600030101010101" pitchFamily="2" charset="-122"/>
              </a:rPr>
              <a:t> = BigInteger.</a:t>
            </a:r>
            <a:r>
              <a:rPr lang="en-US" sz="1600" i="1">
                <a:solidFill>
                  <a:srgbClr val="000000"/>
                </a:solidFill>
                <a:latin typeface="Consolas" panose="020B0609020204030204" charset="0"/>
                <a:ea typeface="宋体" panose="02010600030101010101" pitchFamily="2" charset="-122"/>
              </a:rPr>
              <a:t>valueOf</a:t>
            </a:r>
            <a:r>
              <a:rPr lang="en-US" sz="1600">
                <a:solidFill>
                  <a:srgbClr val="000000"/>
                </a:solidFill>
                <a:latin typeface="Consolas" panose="020B0609020204030204" charset="0"/>
                <a:ea typeface="宋体" panose="02010600030101010101" pitchFamily="2" charset="-122"/>
              </a:rPr>
              <a:t>(0);</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for</a:t>
            </a: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int</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j</a:t>
            </a:r>
            <a:r>
              <a:rPr lang="en-US" sz="1600">
                <a:solidFill>
                  <a:srgbClr val="000000"/>
                </a:solidFill>
                <a:latin typeface="Consolas" panose="020B0609020204030204" charset="0"/>
                <a:ea typeface="宋体" panose="02010600030101010101" pitchFamily="2" charset="-122"/>
              </a:rPr>
              <a:t> = 1; </a:t>
            </a:r>
            <a:r>
              <a:rPr lang="en-US" sz="1600">
                <a:solidFill>
                  <a:srgbClr val="6A3E3E"/>
                </a:solidFill>
                <a:latin typeface="Consolas" panose="020B0609020204030204" charset="0"/>
                <a:ea typeface="宋体" panose="02010600030101010101" pitchFamily="2" charset="-122"/>
              </a:rPr>
              <a:t>j</a:t>
            </a:r>
            <a:r>
              <a:rPr lang="en-US" sz="1600">
                <a:solidFill>
                  <a:srgbClr val="000000"/>
                </a:solidFill>
                <a:latin typeface="Consolas" panose="020B0609020204030204" charset="0"/>
                <a:ea typeface="宋体" panose="02010600030101010101" pitchFamily="2" charset="-122"/>
              </a:rPr>
              <a:t> &lt;= </a:t>
            </a:r>
            <a:r>
              <a:rPr lang="en-US" sz="1600">
                <a:solidFill>
                  <a:srgbClr val="6A3E3E"/>
                </a:solidFill>
                <a:latin typeface="Consolas" panose="020B0609020204030204" charset="0"/>
                <a:ea typeface="宋体" panose="02010600030101010101" pitchFamily="2" charset="-122"/>
              </a:rPr>
              <a:t>n</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j</a:t>
            </a:r>
            <a:r>
              <a:rPr lang="en-US" sz="1600">
                <a:solidFill>
                  <a:srgbClr val="000000"/>
                </a:solidFill>
                <a:latin typeface="Consolas" panose="020B0609020204030204" charset="0"/>
                <a:ea typeface="宋体" panose="02010600030101010101" pitchFamily="2" charset="-122"/>
              </a:rPr>
              <a:t>++) {</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bsum</a:t>
            </a:r>
            <a:r>
              <a:rPr lang="en-US" sz="1600">
                <a:solidFill>
                  <a:srgbClr val="000000"/>
                </a:solidFill>
                <a:latin typeface="Consolas" panose="020B0609020204030204" charset="0"/>
                <a:ea typeface="宋体" panose="02010600030101010101" pitchFamily="2" charset="-122"/>
              </a:rPr>
              <a:t> = BigInteger.</a:t>
            </a:r>
            <a:r>
              <a:rPr lang="en-US" sz="1600" i="1">
                <a:solidFill>
                  <a:srgbClr val="000000"/>
                </a:solidFill>
                <a:latin typeface="Consolas" panose="020B0609020204030204" charset="0"/>
                <a:ea typeface="宋体" panose="02010600030101010101" pitchFamily="2" charset="-122"/>
              </a:rPr>
              <a:t>valueOf</a:t>
            </a:r>
            <a:r>
              <a:rPr lang="en-US" sz="1600">
                <a:solidFill>
                  <a:srgbClr val="000000"/>
                </a:solidFill>
                <a:latin typeface="Consolas" panose="020B0609020204030204" charset="0"/>
                <a:ea typeface="宋体" panose="02010600030101010101" pitchFamily="2" charset="-122"/>
              </a:rPr>
              <a:t>(1);</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sum</a:t>
            </a:r>
            <a:r>
              <a:rPr lang="en-US" sz="1600">
                <a:solidFill>
                  <a:srgbClr val="000000"/>
                </a:solidFill>
                <a:latin typeface="Consolas" panose="020B0609020204030204" charset="0"/>
                <a:ea typeface="宋体" panose="02010600030101010101" pitchFamily="2" charset="-122"/>
              </a:rPr>
              <a:t> = 1;</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b="1">
                <a:solidFill>
                  <a:srgbClr val="7F0055"/>
                </a:solidFill>
                <a:latin typeface="Consolas" panose="020B0609020204030204" charset="0"/>
                <a:ea typeface="宋体" panose="02010600030101010101" pitchFamily="2" charset="-122"/>
              </a:rPr>
              <a:t>for</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i</a:t>
            </a:r>
            <a:r>
              <a:rPr lang="en-US" sz="1600">
                <a:solidFill>
                  <a:srgbClr val="000000"/>
                </a:solidFill>
                <a:latin typeface="Consolas" panose="020B0609020204030204" charset="0"/>
                <a:ea typeface="宋体" panose="02010600030101010101" pitchFamily="2" charset="-122"/>
              </a:rPr>
              <a:t> = 1; </a:t>
            </a:r>
            <a:r>
              <a:rPr lang="en-US" sz="1600">
                <a:solidFill>
                  <a:srgbClr val="6A3E3E"/>
                </a:solidFill>
                <a:latin typeface="Consolas" panose="020B0609020204030204" charset="0"/>
                <a:ea typeface="宋体" panose="02010600030101010101" pitchFamily="2" charset="-122"/>
              </a:rPr>
              <a:t>i</a:t>
            </a:r>
            <a:r>
              <a:rPr lang="en-US" sz="1600">
                <a:solidFill>
                  <a:srgbClr val="000000"/>
                </a:solidFill>
                <a:latin typeface="Consolas" panose="020B0609020204030204" charset="0"/>
                <a:ea typeface="宋体" panose="02010600030101010101" pitchFamily="2" charset="-122"/>
              </a:rPr>
              <a:t> &lt;= </a:t>
            </a:r>
            <a:r>
              <a:rPr lang="en-US" sz="1600">
                <a:solidFill>
                  <a:srgbClr val="6A3E3E"/>
                </a:solidFill>
                <a:latin typeface="Consolas" panose="020B0609020204030204" charset="0"/>
                <a:ea typeface="宋体" panose="02010600030101010101" pitchFamily="2" charset="-122"/>
              </a:rPr>
              <a:t>j</a:t>
            </a: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i</a:t>
            </a:r>
            <a:r>
              <a:rPr lang="en-US" sz="1600">
                <a:solidFill>
                  <a:srgbClr val="000000"/>
                </a:solidFill>
                <a:latin typeface="Consolas" panose="020B0609020204030204" charset="0"/>
                <a:ea typeface="宋体" panose="02010600030101010101" pitchFamily="2" charset="-122"/>
              </a:rPr>
              <a:t>++) {</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sum</a:t>
            </a:r>
            <a:r>
              <a:rPr lang="en-US" sz="1600">
                <a:solidFill>
                  <a:srgbClr val="000000"/>
                </a:solidFill>
                <a:latin typeface="Consolas" panose="020B0609020204030204" charset="0"/>
                <a:ea typeface="宋体" panose="02010600030101010101" pitchFamily="2" charset="-122"/>
              </a:rPr>
              <a:t> *= </a:t>
            </a:r>
            <a:r>
              <a:rPr lang="en-US" sz="1600">
                <a:solidFill>
                  <a:srgbClr val="6A3E3E"/>
                </a:solidFill>
                <a:latin typeface="Consolas" panose="020B0609020204030204" charset="0"/>
                <a:ea typeface="宋体" panose="02010600030101010101" pitchFamily="2" charset="-122"/>
              </a:rPr>
              <a:t>i</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bsum</a:t>
            </a:r>
            <a:r>
              <a:rPr lang="en-US" sz="1600">
                <a:solidFill>
                  <a:srgbClr val="000000"/>
                </a:solidFill>
                <a:latin typeface="Consolas" panose="020B0609020204030204" charset="0"/>
                <a:ea typeface="宋体" panose="02010600030101010101" pitchFamily="2" charset="-122"/>
              </a:rPr>
              <a:t> = </a:t>
            </a:r>
            <a:r>
              <a:rPr lang="en-US" sz="1600">
                <a:solidFill>
                  <a:srgbClr val="6A3E3E"/>
                </a:solidFill>
                <a:latin typeface="Consolas" panose="020B0609020204030204" charset="0"/>
                <a:ea typeface="宋体" panose="02010600030101010101" pitchFamily="2" charset="-122"/>
              </a:rPr>
              <a:t>bsum</a:t>
            </a:r>
            <a:r>
              <a:rPr lang="en-US" sz="1600">
                <a:solidFill>
                  <a:srgbClr val="000000"/>
                </a:solidFill>
                <a:latin typeface="Consolas" panose="020B0609020204030204" charset="0"/>
                <a:ea typeface="宋体" panose="02010600030101010101" pitchFamily="2" charset="-122"/>
              </a:rPr>
              <a:t>.multiply(</a:t>
            </a:r>
          </a:p>
          <a:p>
            <a:pPr>
              <a:spcAft>
                <a:spcPts val="0"/>
              </a:spcAft>
            </a:pPr>
            <a:r>
              <a:rPr lang="en-US" sz="1600">
                <a:solidFill>
                  <a:srgbClr val="000000"/>
                </a:solidFill>
                <a:latin typeface="Consolas" panose="020B0609020204030204" charset="0"/>
                <a:ea typeface="宋体" panose="02010600030101010101" pitchFamily="2" charset="-122"/>
              </a:rPr>
              <a:t>						BigInteger.</a:t>
            </a:r>
            <a:r>
              <a:rPr lang="en-US" sz="1600" i="1">
                <a:solidFill>
                  <a:srgbClr val="000000"/>
                </a:solidFill>
                <a:latin typeface="Consolas" panose="020B0609020204030204" charset="0"/>
                <a:ea typeface="宋体" panose="02010600030101010101" pitchFamily="2" charset="-122"/>
              </a:rPr>
              <a:t>valueOf</a:t>
            </a:r>
            <a:r>
              <a:rPr lang="en-US" sz="1600">
                <a:solidFill>
                  <a:srgbClr val="000000"/>
                </a:solidFill>
                <a:latin typeface="Consolas" panose="020B0609020204030204" charset="0"/>
                <a:ea typeface="宋体" panose="02010600030101010101" pitchFamily="2" charset="-122"/>
              </a:rPr>
              <a:t>(</a:t>
            </a:r>
            <a:r>
              <a:rPr lang="en-US" sz="1600">
                <a:solidFill>
                  <a:srgbClr val="6A3E3E"/>
                </a:solidFill>
                <a:latin typeface="Consolas" panose="020B0609020204030204" charset="0"/>
                <a:ea typeface="宋体" panose="02010600030101010101" pitchFamily="2" charset="-122"/>
              </a:rPr>
              <a:t>i</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total</a:t>
            </a:r>
            <a:r>
              <a:rPr lang="en-US" sz="1600">
                <a:solidFill>
                  <a:srgbClr val="000000"/>
                </a:solidFill>
                <a:latin typeface="Consolas" panose="020B0609020204030204" charset="0"/>
                <a:ea typeface="宋体" panose="02010600030101010101" pitchFamily="2" charset="-122"/>
              </a:rPr>
              <a:t> += </a:t>
            </a:r>
            <a:r>
              <a:rPr lang="en-US" sz="1600">
                <a:solidFill>
                  <a:srgbClr val="6A3E3E"/>
                </a:solidFill>
                <a:latin typeface="Consolas" panose="020B0609020204030204" charset="0"/>
                <a:ea typeface="宋体" panose="02010600030101010101" pitchFamily="2" charset="-122"/>
              </a:rPr>
              <a:t>sum</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r>
              <a:rPr lang="en-US" sz="1600">
                <a:solidFill>
                  <a:srgbClr val="6A3E3E"/>
                </a:solidFill>
                <a:latin typeface="Consolas" panose="020B0609020204030204" charset="0"/>
                <a:ea typeface="宋体" panose="02010600030101010101" pitchFamily="2" charset="-122"/>
              </a:rPr>
              <a:t>btotal</a:t>
            </a:r>
            <a:r>
              <a:rPr lang="en-US" sz="1600">
                <a:solidFill>
                  <a:srgbClr val="000000"/>
                </a:solidFill>
                <a:latin typeface="Consolas" panose="020B0609020204030204" charset="0"/>
                <a:ea typeface="宋体" panose="02010600030101010101" pitchFamily="2" charset="-122"/>
              </a:rPr>
              <a:t> = </a:t>
            </a:r>
            <a:r>
              <a:rPr lang="en-US" sz="1600">
                <a:solidFill>
                  <a:srgbClr val="6A3E3E"/>
                </a:solidFill>
                <a:latin typeface="Consolas" panose="020B0609020204030204" charset="0"/>
                <a:ea typeface="宋体" panose="02010600030101010101" pitchFamily="2" charset="-122"/>
              </a:rPr>
              <a:t>btotal</a:t>
            </a:r>
            <a:r>
              <a:rPr lang="en-US" sz="1600">
                <a:solidFill>
                  <a:srgbClr val="000000"/>
                </a:solidFill>
                <a:latin typeface="Consolas" panose="020B0609020204030204" charset="0"/>
                <a:ea typeface="宋体" panose="02010600030101010101" pitchFamily="2" charset="-122"/>
              </a:rPr>
              <a:t>.add(</a:t>
            </a:r>
            <a:r>
              <a:rPr lang="en-US" sz="1600">
                <a:solidFill>
                  <a:srgbClr val="6A3E3E"/>
                </a:solidFill>
                <a:latin typeface="Consolas" panose="020B0609020204030204" charset="0"/>
                <a:ea typeface="宋体" panose="02010600030101010101" pitchFamily="2" charset="-122"/>
              </a:rPr>
              <a:t>bsum</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p>
          <a:p>
            <a:pPr>
              <a:spcAft>
                <a:spcPts val="0"/>
              </a:spcAft>
            </a:pP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en-US" sz="1600">
                <a:solidFill>
                  <a:srgbClr val="2A00FF"/>
                </a:solidFill>
                <a:latin typeface="Consolas" panose="020B0609020204030204" charset="0"/>
                <a:ea typeface="宋体" panose="02010600030101010101" pitchFamily="2" charset="-122"/>
              </a:rPr>
              <a:t>"∑"</a:t>
            </a:r>
            <a:r>
              <a:rPr lang="en-US" sz="1600">
                <a:solidFill>
                  <a:srgbClr val="000000"/>
                </a:solidFill>
                <a:latin typeface="Consolas" panose="020B0609020204030204" charset="0"/>
                <a:ea typeface="宋体" panose="02010600030101010101" pitchFamily="2" charset="-122"/>
              </a:rPr>
              <a:t>+</a:t>
            </a:r>
            <a:r>
              <a:rPr lang="en-US" sz="1600">
                <a:solidFill>
                  <a:srgbClr val="6A3E3E"/>
                </a:solidFill>
                <a:latin typeface="Consolas" panose="020B0609020204030204" charset="0"/>
                <a:ea typeface="宋体" panose="02010600030101010101" pitchFamily="2" charset="-122"/>
              </a:rPr>
              <a:t>n</a:t>
            </a:r>
            <a:r>
              <a:rPr lang="en-US" sz="1600">
                <a:solidFill>
                  <a:srgbClr val="000000"/>
                </a:solidFill>
                <a:latin typeface="Consolas" panose="020B0609020204030204" charset="0"/>
                <a:ea typeface="宋体" panose="02010600030101010101" pitchFamily="2" charset="-122"/>
              </a:rPr>
              <a:t> + </a:t>
            </a:r>
            <a:r>
              <a:rPr lang="en-US" sz="1600">
                <a:solidFill>
                  <a:srgbClr val="2A00FF"/>
                </a:solidFill>
                <a:latin typeface="Consolas" panose="020B0609020204030204" charset="0"/>
                <a:ea typeface="宋体" panose="02010600030101010101" pitchFamily="2" charset="-122"/>
              </a:rPr>
              <a:t>"!= "</a:t>
            </a:r>
            <a:r>
              <a:rPr lang="en-US" sz="1600">
                <a:solidFill>
                  <a:srgbClr val="000000"/>
                </a:solidFill>
                <a:latin typeface="Consolas" panose="020B0609020204030204" charset="0"/>
                <a:ea typeface="宋体" panose="02010600030101010101" pitchFamily="2" charset="-122"/>
              </a:rPr>
              <a:t> + </a:t>
            </a:r>
            <a:r>
              <a:rPr lang="en-US" sz="1600">
                <a:solidFill>
                  <a:srgbClr val="6A3E3E"/>
                </a:solidFill>
                <a:latin typeface="Consolas" panose="020B0609020204030204" charset="0"/>
                <a:ea typeface="宋体" panose="02010600030101010101" pitchFamily="2" charset="-122"/>
              </a:rPr>
              <a:t>total</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System.</a:t>
            </a:r>
            <a:r>
              <a:rPr lang="en-US" sz="1600" b="1" i="1">
                <a:solidFill>
                  <a:srgbClr val="0000C0"/>
                </a:solidFill>
                <a:latin typeface="Consolas" panose="020B0609020204030204" charset="0"/>
                <a:ea typeface="宋体" panose="02010600030101010101" pitchFamily="2" charset="-122"/>
              </a:rPr>
              <a:t>out</a:t>
            </a:r>
            <a:r>
              <a:rPr lang="en-US" sz="1600">
                <a:solidFill>
                  <a:srgbClr val="000000"/>
                </a:solidFill>
                <a:latin typeface="Consolas" panose="020B0609020204030204" charset="0"/>
                <a:ea typeface="宋体" panose="02010600030101010101" pitchFamily="2" charset="-122"/>
              </a:rPr>
              <a:t>.println(</a:t>
            </a:r>
            <a:r>
              <a:rPr lang="en-US" sz="1600">
                <a:solidFill>
                  <a:srgbClr val="2A00FF"/>
                </a:solidFill>
                <a:latin typeface="Consolas" panose="020B0609020204030204" charset="0"/>
                <a:ea typeface="宋体" panose="02010600030101010101" pitchFamily="2" charset="-122"/>
              </a:rPr>
              <a:t>"BigInteger∑"</a:t>
            </a:r>
            <a:r>
              <a:rPr lang="en-US" sz="1600">
                <a:solidFill>
                  <a:srgbClr val="000000"/>
                </a:solidFill>
                <a:latin typeface="Consolas" panose="020B0609020204030204" charset="0"/>
                <a:ea typeface="宋体" panose="02010600030101010101" pitchFamily="2" charset="-122"/>
              </a:rPr>
              <a:t>+</a:t>
            </a:r>
            <a:r>
              <a:rPr lang="en-US" sz="1600">
                <a:solidFill>
                  <a:srgbClr val="6A3E3E"/>
                </a:solidFill>
                <a:latin typeface="Consolas" panose="020B0609020204030204" charset="0"/>
                <a:ea typeface="宋体" panose="02010600030101010101" pitchFamily="2" charset="-122"/>
              </a:rPr>
              <a:t>n</a:t>
            </a:r>
            <a:r>
              <a:rPr lang="en-US" sz="1600">
                <a:solidFill>
                  <a:srgbClr val="000000"/>
                </a:solidFill>
                <a:latin typeface="Consolas" panose="020B0609020204030204" charset="0"/>
                <a:ea typeface="宋体" panose="02010600030101010101" pitchFamily="2" charset="-122"/>
              </a:rPr>
              <a:t> + </a:t>
            </a:r>
            <a:r>
              <a:rPr lang="en-US" sz="1600">
                <a:solidFill>
                  <a:srgbClr val="2A00FF"/>
                </a:solidFill>
                <a:latin typeface="Consolas" panose="020B0609020204030204" charset="0"/>
                <a:ea typeface="宋体" panose="02010600030101010101" pitchFamily="2" charset="-122"/>
              </a:rPr>
              <a:t>"!= "</a:t>
            </a:r>
            <a:r>
              <a:rPr lang="en-US" sz="1600">
                <a:solidFill>
                  <a:srgbClr val="000000"/>
                </a:solidFill>
                <a:latin typeface="Consolas" panose="020B0609020204030204" charset="0"/>
                <a:ea typeface="宋体" panose="02010600030101010101" pitchFamily="2" charset="-122"/>
              </a:rPr>
              <a:t> + </a:t>
            </a:r>
            <a:r>
              <a:rPr lang="en-US" sz="1600">
                <a:solidFill>
                  <a:srgbClr val="6A3E3E"/>
                </a:solidFill>
                <a:latin typeface="Consolas" panose="020B0609020204030204" charset="0"/>
                <a:ea typeface="宋体" panose="02010600030101010101" pitchFamily="2" charset="-122"/>
              </a:rPr>
              <a:t>btotal</a:t>
            </a:r>
            <a:r>
              <a:rPr lang="en-US" sz="1600">
                <a:solidFill>
                  <a:srgbClr val="000000"/>
                </a:solidFill>
                <a:latin typeface="Consolas" panose="020B0609020204030204" charset="0"/>
                <a:ea typeface="宋体" panose="02010600030101010101" pitchFamily="2" charset="-122"/>
              </a:rPr>
              <a:t>);</a:t>
            </a:r>
          </a:p>
          <a:p>
            <a:pPr>
              <a:spcAft>
                <a:spcPts val="0"/>
              </a:spcAft>
            </a:pPr>
            <a:r>
              <a:rPr lang="en-US" sz="1600">
                <a:solidFill>
                  <a:srgbClr val="000000"/>
                </a:solidFill>
                <a:latin typeface="Consolas" panose="020B0609020204030204" charset="0"/>
                <a:ea typeface="宋体" panose="02010600030101010101" pitchFamily="2" charset="-122"/>
              </a:rPr>
              <a:t>	}</a:t>
            </a:r>
            <a:endParaRPr lang="zh-CN" altLang="en-US" sz="1600"/>
          </a:p>
        </p:txBody>
      </p:sp>
      <p:sp>
        <p:nvSpPr>
          <p:cNvPr id="4" name="文本框 3"/>
          <p:cNvSpPr txBox="1"/>
          <p:nvPr/>
        </p:nvSpPr>
        <p:spPr>
          <a:xfrm>
            <a:off x="6311900" y="2244725"/>
            <a:ext cx="4369435" cy="1322070"/>
          </a:xfrm>
          <a:prstGeom prst="rect">
            <a:avLst/>
          </a:prstGeom>
          <a:noFill/>
        </p:spPr>
        <p:txBody>
          <a:bodyPr wrap="square" rtlCol="0" anchor="t">
            <a:spAutoFit/>
          </a:bodyPr>
          <a:lstStyle/>
          <a:p>
            <a:pPr>
              <a:spcAft>
                <a:spcPts val="0"/>
              </a:spcAft>
            </a:pPr>
            <a:r>
              <a:rPr lang="zh-CN" altLang="en-US"/>
              <a:t>Please input(0~7):</a:t>
            </a:r>
          </a:p>
          <a:p>
            <a:pPr>
              <a:spcBef>
                <a:spcPts val="0"/>
              </a:spcBef>
              <a:spcAft>
                <a:spcPts val="0"/>
              </a:spcAft>
            </a:pPr>
            <a:r>
              <a:rPr lang="zh-CN" altLang="en-US"/>
              <a:t>18</a:t>
            </a:r>
          </a:p>
          <a:p>
            <a:pPr>
              <a:spcBef>
                <a:spcPts val="0"/>
              </a:spcBef>
              <a:spcAft>
                <a:spcPts val="0"/>
              </a:spcAft>
            </a:pPr>
            <a:r>
              <a:rPr lang="zh-CN" altLang="en-US"/>
              <a:t>∑18!= -2034435559</a:t>
            </a:r>
          </a:p>
          <a:p>
            <a:pPr>
              <a:spcBef>
                <a:spcPts val="0"/>
              </a:spcBef>
            </a:pPr>
            <a:r>
              <a:rPr lang="zh-CN" altLang="en-US"/>
              <a:t>BigInteger∑18!= 6780385526348313</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97287"/>
                                        </p:tgtEl>
                                        <p:attrNameLst>
                                          <p:attrName>style.visibility</p:attrName>
                                        </p:attrNameLst>
                                      </p:cBhvr>
                                      <p:to>
                                        <p:strVal val="visible"/>
                                      </p:to>
                                    </p:set>
                                    <p:animEffect transition="in" filter="barn(outHorizontal)">
                                      <p:cBhvr>
                                        <p:cTn id="7" dur="500"/>
                                        <p:tgtEl>
                                          <p:spTgt spid="97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7"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a:bodyPr>
          <a:lstStyle/>
          <a:p>
            <a:pPr algn="l" eaLnBrk="1" hangingPunct="1">
              <a:lnSpc>
                <a:spcPct val="150000"/>
              </a:lnSpc>
              <a:spcAft>
                <a:spcPts val="0"/>
              </a:spcAft>
              <a:buClr>
                <a:srgbClr val="000000"/>
              </a:buClr>
              <a:buSzTx/>
            </a:pPr>
            <a:r>
              <a:rPr lang="zh-CN" altLang="en-US" dirty="0"/>
              <a:t>将程序的执行跳转到其他部分的语句</a:t>
            </a:r>
          </a:p>
          <a:p>
            <a:pPr algn="l" eaLnBrk="1" hangingPunct="1">
              <a:lnSpc>
                <a:spcPct val="150000"/>
              </a:lnSpc>
              <a:spcBef>
                <a:spcPts val="20"/>
              </a:spcBef>
              <a:spcAft>
                <a:spcPts val="0"/>
              </a:spcAft>
              <a:buClr>
                <a:srgbClr val="000000"/>
              </a:buClr>
              <a:buSzTx/>
            </a:pPr>
            <a:r>
              <a:rPr lang="zh-CN" altLang="en-US" dirty="0"/>
              <a:t>break:     跳出(中止)循环</a:t>
            </a:r>
          </a:p>
          <a:p>
            <a:pPr algn="l" eaLnBrk="1" hangingPunct="1">
              <a:lnSpc>
                <a:spcPct val="150000"/>
              </a:lnSpc>
              <a:spcBef>
                <a:spcPts val="20"/>
              </a:spcBef>
              <a:spcAft>
                <a:spcPts val="0"/>
              </a:spcAft>
              <a:buClr>
                <a:srgbClr val="000000"/>
              </a:buClr>
              <a:buSzTx/>
            </a:pPr>
            <a:r>
              <a:rPr lang="zh-CN" altLang="en-US" dirty="0"/>
              <a:t>continue: 结束本次循环</a:t>
            </a:r>
          </a:p>
          <a:p>
            <a:pPr algn="l" eaLnBrk="1" hangingPunct="1">
              <a:lnSpc>
                <a:spcPct val="150000"/>
              </a:lnSpc>
              <a:spcBef>
                <a:spcPts val="20"/>
              </a:spcBef>
              <a:spcAft>
                <a:spcPts val="0"/>
              </a:spcAft>
              <a:buClr>
                <a:srgbClr val="000000"/>
              </a:buClr>
              <a:buSzTx/>
            </a:pPr>
            <a:r>
              <a:rPr lang="zh-CN" altLang="en-US" dirty="0"/>
              <a:t>return:    方法返回</a:t>
            </a:r>
          </a:p>
          <a:p>
            <a:pPr algn="l" eaLnBrk="1" hangingPunct="1">
              <a:lnSpc>
                <a:spcPct val="150000"/>
              </a:lnSpc>
              <a:spcBef>
                <a:spcPts val="20"/>
              </a:spcBef>
              <a:buClr>
                <a:srgbClr val="000000"/>
              </a:buClr>
              <a:buSzTx/>
            </a:pPr>
            <a:r>
              <a:rPr lang="zh-CN" altLang="en-US" dirty="0"/>
              <a:t>throw:     抛出异常(Exception)</a:t>
            </a:r>
          </a:p>
          <a:p>
            <a:pPr marL="342900" indent="-342900" eaLnBrk="1" hangingPunct="1">
              <a:lnSpc>
                <a:spcPct val="150000"/>
              </a:lnSpc>
              <a:buClr>
                <a:schemeClr val="hlink"/>
              </a:buClr>
              <a:buSzTx/>
              <a:buFont typeface="Wingdings" panose="05000000000000000000" pitchFamily="2" charset="2"/>
              <a:buChar char="l"/>
            </a:pPr>
            <a:endParaRPr lang="en-US" altLang="zh-CN" dirty="0"/>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跳转</a:t>
            </a:r>
            <a:r>
              <a:rPr lang="en-US" altLang="zh-CN" dirty="0"/>
              <a:t>/</a:t>
            </a:r>
            <a:r>
              <a:rPr lang="zh-CN" altLang="en-US" dirty="0"/>
              <a:t>转向语句</a:t>
            </a:r>
          </a:p>
        </p:txBody>
      </p:sp>
    </p:spTree>
    <p:custDataLst>
      <p:tags r:id="rId1"/>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2500"/>
          </a:bodyPr>
          <a:lstStyle/>
          <a:p>
            <a:pPr algn="l" eaLnBrk="1" hangingPunct="1">
              <a:lnSpc>
                <a:spcPct val="150000"/>
              </a:lnSpc>
              <a:spcAft>
                <a:spcPts val="0"/>
              </a:spcAft>
              <a:buClr>
                <a:srgbClr val="000000"/>
              </a:buClr>
              <a:buSzTx/>
            </a:pPr>
            <a:r>
              <a:rPr lang="zh-CN" altLang="en-US" dirty="0"/>
              <a:t>Java没有goto语句</a:t>
            </a:r>
          </a:p>
          <a:p>
            <a:pPr algn="l" eaLnBrk="1" hangingPunct="1">
              <a:lnSpc>
                <a:spcPct val="150000"/>
              </a:lnSpc>
              <a:spcBef>
                <a:spcPts val="20"/>
              </a:spcBef>
              <a:spcAft>
                <a:spcPts val="0"/>
              </a:spcAft>
              <a:buClr>
                <a:srgbClr val="000000"/>
              </a:buClr>
              <a:buSzTx/>
            </a:pPr>
            <a:r>
              <a:rPr lang="zh-CN" altLang="en-US" dirty="0"/>
              <a:t>break语句：</a:t>
            </a:r>
          </a:p>
          <a:p>
            <a:pPr marL="800100" lvl="1" indent="-342900" eaLnBrk="1" hangingPunct="1">
              <a:lnSpc>
                <a:spcPct val="150000"/>
              </a:lnSpc>
              <a:spcBef>
                <a:spcPts val="20"/>
              </a:spcBef>
              <a:spcAft>
                <a:spcPts val="0"/>
              </a:spcAft>
              <a:buClr>
                <a:schemeClr val="accent1"/>
              </a:buClr>
              <a:buSzTx/>
            </a:pPr>
            <a:r>
              <a:rPr lang="zh-CN" altLang="en-US" dirty="0"/>
              <a:t>不带标号</a:t>
            </a:r>
            <a:r>
              <a:rPr lang="en-US" altLang="zh-CN" dirty="0"/>
              <a:t>break </a:t>
            </a:r>
            <a:r>
              <a:rPr lang="zh-CN" altLang="en-US" dirty="0"/>
              <a:t>语句</a:t>
            </a:r>
          </a:p>
          <a:p>
            <a:pPr marL="1200150" lvl="2" indent="-285750" eaLnBrk="1" hangingPunct="1">
              <a:lnSpc>
                <a:spcPct val="150000"/>
              </a:lnSpc>
              <a:spcBef>
                <a:spcPts val="20"/>
              </a:spcBef>
              <a:spcAft>
                <a:spcPts val="0"/>
              </a:spcAft>
              <a:buClr>
                <a:schemeClr val="bg2"/>
              </a:buClr>
              <a:buSzTx/>
            </a:pPr>
            <a:r>
              <a:rPr lang="zh-CN" altLang="en-US" dirty="0"/>
              <a:t>从循环体内跳出至后面语句，结束当前循环。</a:t>
            </a:r>
          </a:p>
          <a:p>
            <a:pPr marL="1200150" lvl="2" indent="-285750" eaLnBrk="1" hangingPunct="1">
              <a:lnSpc>
                <a:spcPct val="150000"/>
              </a:lnSpc>
              <a:spcBef>
                <a:spcPts val="20"/>
              </a:spcBef>
              <a:spcAft>
                <a:spcPts val="0"/>
              </a:spcAft>
              <a:buClr>
                <a:schemeClr val="bg2"/>
              </a:buClr>
              <a:buSzTx/>
            </a:pPr>
            <a:r>
              <a:rPr lang="zh-CN" altLang="en-US" dirty="0"/>
              <a:t>跳出当前循环体，不是跳出当前大括号对。</a:t>
            </a:r>
          </a:p>
          <a:p>
            <a:pPr marL="1200150" lvl="2" indent="-285750" eaLnBrk="1" hangingPunct="1">
              <a:lnSpc>
                <a:spcPct val="150000"/>
              </a:lnSpc>
              <a:spcBef>
                <a:spcPts val="20"/>
              </a:spcBef>
              <a:spcAft>
                <a:spcPts val="0"/>
              </a:spcAft>
              <a:buClr>
                <a:schemeClr val="bg2"/>
              </a:buClr>
              <a:buSzTx/>
            </a:pPr>
            <a:r>
              <a:rPr lang="zh-CN" altLang="en-US" dirty="0"/>
              <a:t>循环嵌套时，</a:t>
            </a:r>
            <a:r>
              <a:rPr lang="en-US" altLang="zh-CN" dirty="0"/>
              <a:t>break </a:t>
            </a:r>
            <a:r>
              <a:rPr lang="zh-CN" altLang="en-US" dirty="0"/>
              <a:t>语句只跳出当前循环。</a:t>
            </a:r>
          </a:p>
          <a:p>
            <a:pPr marL="800100" lvl="1" indent="-342900" eaLnBrk="1" hangingPunct="1">
              <a:lnSpc>
                <a:spcPct val="150000"/>
              </a:lnSpc>
              <a:spcBef>
                <a:spcPts val="20"/>
              </a:spcBef>
              <a:spcAft>
                <a:spcPts val="0"/>
              </a:spcAft>
              <a:buClr>
                <a:schemeClr val="accent1"/>
              </a:buClr>
              <a:buSzTx/>
            </a:pPr>
            <a:r>
              <a:rPr lang="zh-CN" altLang="en-US" dirty="0"/>
              <a:t>带标号的</a:t>
            </a:r>
            <a:r>
              <a:rPr lang="en-US" altLang="zh-CN" dirty="0"/>
              <a:t>break</a:t>
            </a:r>
            <a:r>
              <a:rPr lang="zh-CN" altLang="en-US" dirty="0"/>
              <a:t>语句</a:t>
            </a:r>
          </a:p>
          <a:p>
            <a:pPr marL="1200150" lvl="2" indent="-285750" eaLnBrk="1" hangingPunct="1">
              <a:lnSpc>
                <a:spcPct val="150000"/>
              </a:lnSpc>
              <a:spcBef>
                <a:spcPts val="20"/>
              </a:spcBef>
              <a:spcAft>
                <a:spcPts val="0"/>
              </a:spcAft>
              <a:buClr>
                <a:schemeClr val="bg2"/>
              </a:buClr>
              <a:buSzTx/>
            </a:pPr>
            <a:r>
              <a:rPr lang="zh-CN" altLang="en-US" dirty="0"/>
              <a:t>采用 </a:t>
            </a:r>
            <a:r>
              <a:rPr lang="en-US" altLang="zh-CN" dirty="0"/>
              <a:t>label: </a:t>
            </a:r>
            <a:r>
              <a:rPr lang="zh-CN" altLang="en-US" dirty="0"/>
              <a:t>的形式定义标号</a:t>
            </a:r>
          </a:p>
          <a:p>
            <a:pPr marL="1200150" lvl="2" indent="-285750" eaLnBrk="1" hangingPunct="1">
              <a:lnSpc>
                <a:spcPct val="150000"/>
              </a:lnSpc>
              <a:spcBef>
                <a:spcPts val="20"/>
              </a:spcBef>
              <a:buClr>
                <a:schemeClr val="bg2"/>
              </a:buClr>
              <a:buSzTx/>
            </a:pPr>
            <a:r>
              <a:rPr lang="zh-CN" altLang="en-US" dirty="0"/>
              <a:t>跳出标号标志的循环体</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循环语句中途退出</a:t>
            </a:r>
          </a:p>
        </p:txBody>
      </p:sp>
    </p:spTree>
    <p:custDataLst>
      <p:tags r:id="rId1"/>
    </p:custDataLst>
  </p:cSld>
  <p:clrMapOvr>
    <a:masterClrMapping/>
  </p:clrMapOvr>
  <p:transition spd="slow">
    <p:zoom/>
    <p:sndAc>
      <p:stSnd>
        <p:snd r:embed="rId5" name="CHIMES.WAV"/>
      </p:stSnd>
    </p:sndAc>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循环语句中途退出</a:t>
            </a:r>
          </a:p>
        </p:txBody>
      </p:sp>
      <p:sp>
        <p:nvSpPr>
          <p:cNvPr id="2" name="内容占位符 1"/>
          <p:cNvSpPr>
            <a:spLocks noGrp="1"/>
          </p:cNvSpPr>
          <p:nvPr>
            <p:ph idx="1"/>
          </p:nvPr>
        </p:nvSpPr>
        <p:spPr/>
        <p:txBody>
          <a:bodyPr/>
          <a:lstStyle/>
          <a:p>
            <a:endParaRPr lang="zh-CN" altLang="en-US"/>
          </a:p>
        </p:txBody>
      </p:sp>
      <p:graphicFrame>
        <p:nvGraphicFramePr>
          <p:cNvPr id="100355" name="Group 3"/>
          <p:cNvGraphicFramePr>
            <a:graphicFrameLocks noGrp="1"/>
          </p:cNvGraphicFramePr>
          <p:nvPr/>
        </p:nvGraphicFramePr>
        <p:xfrm>
          <a:off x="2200275" y="2240280"/>
          <a:ext cx="6800850" cy="3493770"/>
        </p:xfrm>
        <a:graphic>
          <a:graphicData uri="http://schemas.openxmlformats.org/drawingml/2006/table">
            <a:tbl>
              <a:tblPr/>
              <a:tblGrid>
                <a:gridCol w="2880360">
                  <a:extLst>
                    <a:ext uri="{9D8B030D-6E8A-4147-A177-3AD203B41FA5}">
                      <a16:colId xmlns:a16="http://schemas.microsoft.com/office/drawing/2014/main" val="20000"/>
                    </a:ext>
                  </a:extLst>
                </a:gridCol>
                <a:gridCol w="3920490">
                  <a:extLst>
                    <a:ext uri="{9D8B030D-6E8A-4147-A177-3AD203B41FA5}">
                      <a16:colId xmlns:a16="http://schemas.microsoft.com/office/drawing/2014/main" val="20001"/>
                    </a:ext>
                  </a:extLst>
                </a:gridCol>
              </a:tblGrid>
              <a:tr h="3493770">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rPr>
                        <a:t>while (e1) {</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rPr>
                        <a:t>  while(e2) { </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rPr>
                        <a:t>      break;</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p>
                  </a:txBody>
                  <a:tcPr marL="96011" marR="96011" marT="48005" marB="480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1"/>
                        </a:buClr>
                        <a:buSzPct val="7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hlink"/>
                        </a:buClr>
                        <a:buSzPct val="6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SzPct val="4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940" b="0" i="0" u="none" strike="noStrike" cap="none" normalizeH="0" baseline="0">
                          <a:ln>
                            <a:noFill/>
                          </a:ln>
                          <a:solidFill>
                            <a:srgbClr val="FF0000"/>
                          </a:solidFill>
                          <a:effectLst/>
                          <a:latin typeface="Arial" panose="020B0604020202020204" pitchFamily="34" charset="0"/>
                          <a:ea typeface="宋体" panose="02010600030101010101" pitchFamily="2" charset="-122"/>
                        </a:rPr>
                        <a:t>aaa: </a:t>
                      </a:r>
                      <a:r>
                        <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rPr>
                        <a:t>  while (e1) {</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rPr>
                        <a:t>            while(e2){</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rPr>
                        <a:t>                break </a:t>
                      </a:r>
                      <a:r>
                        <a:rPr kumimoji="0" lang="en-US" sz="2940" b="0" i="0" u="none" strike="noStrike" cap="none" normalizeH="0" baseline="0">
                          <a:ln>
                            <a:noFill/>
                          </a:ln>
                          <a:solidFill>
                            <a:srgbClr val="FF0000"/>
                          </a:solidFill>
                          <a:effectLst/>
                          <a:latin typeface="Arial" panose="020B0604020202020204" pitchFamily="34" charset="0"/>
                          <a:ea typeface="宋体" panose="02010600030101010101" pitchFamily="2" charset="-122"/>
                        </a:rPr>
                        <a:t>aaa;</a:t>
                      </a:r>
                      <a:endPar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p>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94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p>
                  </a:txBody>
                  <a:tcPr marL="96011" marR="96011" marT="48005" marB="480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ustDataLst>
      <p:tags r:id="rId1"/>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2500"/>
          </a:bodyPr>
          <a:lstStyle/>
          <a:p>
            <a:pPr eaLnBrk="1" hangingPunct="1">
              <a:lnSpc>
                <a:spcPct val="150000"/>
              </a:lnSpc>
              <a:spcAft>
                <a:spcPts val="0"/>
              </a:spcAft>
              <a:buClr>
                <a:srgbClr val="000000"/>
              </a:buClr>
              <a:buSzTx/>
            </a:pPr>
            <a:r>
              <a:rPr lang="en-US" altLang="zh-CN" dirty="0"/>
              <a:t>continue </a:t>
            </a:r>
            <a:r>
              <a:rPr lang="zh-CN" altLang="en-US" dirty="0"/>
              <a:t>语句</a:t>
            </a:r>
          </a:p>
          <a:p>
            <a:pPr marL="800100" lvl="1" indent="-342900" eaLnBrk="1" hangingPunct="1">
              <a:lnSpc>
                <a:spcPct val="150000"/>
              </a:lnSpc>
              <a:spcBef>
                <a:spcPts val="20"/>
              </a:spcBef>
              <a:spcAft>
                <a:spcPts val="0"/>
              </a:spcAft>
              <a:buClr>
                <a:schemeClr val="accent1"/>
              </a:buClr>
              <a:buSzTx/>
            </a:pPr>
            <a:r>
              <a:rPr lang="zh-CN" altLang="en-US" dirty="0"/>
              <a:t>不带标号的</a:t>
            </a:r>
            <a:r>
              <a:rPr lang="en-US" altLang="zh-CN" dirty="0"/>
              <a:t>continue</a:t>
            </a:r>
          </a:p>
          <a:p>
            <a:pPr lvl="1" eaLnBrk="1" hangingPunct="1">
              <a:lnSpc>
                <a:spcPct val="150000"/>
              </a:lnSpc>
              <a:spcBef>
                <a:spcPts val="20"/>
              </a:spcBef>
              <a:spcAft>
                <a:spcPts val="0"/>
              </a:spcAft>
            </a:pPr>
            <a:r>
              <a:rPr lang="zh-CN" altLang="en-US" dirty="0"/>
              <a:t>跳过本轮循环剩余语句</a:t>
            </a:r>
            <a:r>
              <a:rPr lang="en-US" altLang="zh-CN" dirty="0"/>
              <a:t>,</a:t>
            </a:r>
            <a:r>
              <a:rPr lang="zh-CN" altLang="en-US" dirty="0"/>
              <a:t>直接进入当前循环体</a:t>
            </a:r>
          </a:p>
          <a:p>
            <a:pPr lvl="1" eaLnBrk="1" hangingPunct="1">
              <a:lnSpc>
                <a:spcPct val="150000"/>
              </a:lnSpc>
              <a:spcBef>
                <a:spcPts val="20"/>
              </a:spcBef>
              <a:spcAft>
                <a:spcPts val="0"/>
              </a:spcAft>
            </a:pPr>
            <a:r>
              <a:rPr lang="zh-CN" altLang="en-US" dirty="0"/>
              <a:t>的下一轮。</a:t>
            </a:r>
          </a:p>
          <a:p>
            <a:pPr marL="800100" lvl="1" indent="-342900" eaLnBrk="1" hangingPunct="1">
              <a:lnSpc>
                <a:spcPct val="150000"/>
              </a:lnSpc>
              <a:spcBef>
                <a:spcPts val="20"/>
              </a:spcBef>
              <a:spcAft>
                <a:spcPts val="0"/>
              </a:spcAft>
              <a:buClr>
                <a:schemeClr val="accent1"/>
              </a:buClr>
              <a:buSzTx/>
            </a:pPr>
            <a:r>
              <a:rPr lang="zh-CN" altLang="en-US" dirty="0"/>
              <a:t>带标号的</a:t>
            </a:r>
            <a:r>
              <a:rPr lang="en-US" altLang="zh-CN" dirty="0"/>
              <a:t>continue</a:t>
            </a:r>
          </a:p>
          <a:p>
            <a:pPr lvl="1" eaLnBrk="1" hangingPunct="1">
              <a:lnSpc>
                <a:spcPct val="150000"/>
              </a:lnSpc>
              <a:spcBef>
                <a:spcPts val="20"/>
              </a:spcBef>
              <a:spcAft>
                <a:spcPts val="0"/>
              </a:spcAft>
            </a:pPr>
            <a:r>
              <a:rPr lang="zh-CN" altLang="en-US" dirty="0"/>
              <a:t>跳过循环剩余语句</a:t>
            </a:r>
            <a:r>
              <a:rPr lang="en-US" altLang="zh-CN" dirty="0"/>
              <a:t>,</a:t>
            </a:r>
            <a:r>
              <a:rPr lang="zh-CN" altLang="en-US" dirty="0"/>
              <a:t>直接进入标号所指的循环</a:t>
            </a:r>
          </a:p>
          <a:p>
            <a:pPr lvl="1" eaLnBrk="1" hangingPunct="1">
              <a:lnSpc>
                <a:spcPct val="150000"/>
              </a:lnSpc>
              <a:spcBef>
                <a:spcPts val="20"/>
              </a:spcBef>
              <a:spcAft>
                <a:spcPts val="0"/>
              </a:spcAft>
            </a:pPr>
            <a:r>
              <a:rPr lang="zh-CN" altLang="en-US" dirty="0"/>
              <a:t>体的下一轮循环。</a:t>
            </a:r>
          </a:p>
          <a:p>
            <a:pPr algn="l" eaLnBrk="1" hangingPunct="1">
              <a:lnSpc>
                <a:spcPct val="150000"/>
              </a:lnSpc>
              <a:spcBef>
                <a:spcPts val="20"/>
              </a:spcBef>
              <a:spcAft>
                <a:spcPts val="0"/>
              </a:spcAft>
              <a:buClr>
                <a:srgbClr val="000000"/>
              </a:buClr>
              <a:buSzTx/>
            </a:pPr>
            <a:r>
              <a:rPr lang="en-US" altLang="zh-CN" dirty="0"/>
              <a:t>循环的正常退出途径：符合结束条件</a:t>
            </a:r>
          </a:p>
          <a:p>
            <a:pPr marL="342900" indent="-342900" eaLnBrk="1" hangingPunct="1">
              <a:lnSpc>
                <a:spcPct val="150000"/>
              </a:lnSpc>
              <a:buClr>
                <a:schemeClr val="hlink"/>
              </a:buClr>
              <a:buSzTx/>
              <a:buFont typeface="Wingdings" panose="05000000000000000000" pitchFamily="2" charset="2"/>
              <a:buChar char="l"/>
            </a:pPr>
            <a:endParaRPr lang="zh-CN" altLang="en-US" dirty="0"/>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循环语句中途退出（续）</a:t>
            </a:r>
          </a:p>
        </p:txBody>
      </p:sp>
    </p:spTree>
    <p:custDataLst>
      <p:tags r:id="rId1"/>
    </p:custData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p:nvPr/>
        </p:nvSpPr>
        <p:spPr>
          <a:xfrm>
            <a:off x="600075" y="0"/>
            <a:ext cx="9601200" cy="7200900"/>
          </a:xfrm>
          <a:prstGeom prst="rect">
            <a:avLst/>
          </a:prstGeom>
          <a:solidFill>
            <a:schemeClr val="bg1"/>
          </a:solidFill>
          <a:ln w="9525">
            <a:noFill/>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342900" lvl="0" indent="-342900" algn="just" eaLnBrk="1" hangingPunct="1">
              <a:lnSpc>
                <a:spcPct val="70000"/>
              </a:lnSpc>
              <a:spcBef>
                <a:spcPct val="0"/>
              </a:spcBef>
              <a:buNone/>
            </a:pPr>
            <a:endParaRPr lang="en-US" altLang="zh-CN" sz="2520" dirty="0"/>
          </a:p>
        </p:txBody>
      </p:sp>
      <p:sp>
        <p:nvSpPr>
          <p:cNvPr id="102403" name="Rectangle 3"/>
          <p:cNvSpPr>
            <a:spLocks noGrp="1"/>
          </p:cNvSpPr>
          <p:nvPr>
            <p:ph idx="1"/>
          </p:nvPr>
        </p:nvSpPr>
        <p:spPr>
          <a:xfrm>
            <a:off x="2071259" y="79343"/>
            <a:ext cx="8279368" cy="7200900"/>
          </a:xfrm>
          <a:solidFill>
            <a:schemeClr val="bg1">
              <a:alpha val="100000"/>
            </a:schemeClr>
          </a:solidFill>
        </p:spPr>
        <p:txBody>
          <a:bodyPr vert="horz" wrap="square" lIns="96011" tIns="48005" rIns="96011" bIns="48005" anchor="t"/>
          <a:lstStyle/>
          <a:p>
            <a:pPr algn="just" eaLnBrk="1" hangingPunct="1">
              <a:lnSpc>
                <a:spcPct val="100000"/>
              </a:lnSpc>
              <a:spcBef>
                <a:spcPct val="0"/>
              </a:spcBef>
              <a:spcAft>
                <a:spcPts val="0"/>
              </a:spcAft>
              <a:buNone/>
            </a:pPr>
            <a:r>
              <a:rPr lang="en-US" altLang="zh-CN" sz="1680" b="1" dirty="0">
                <a:solidFill>
                  <a:srgbClr val="FF3300"/>
                </a:solidFill>
                <a:cs typeface="Courier New" panose="02070309020205020404" pitchFamily="49" charset="0"/>
              </a:rPr>
              <a:t>outer:</a:t>
            </a:r>
            <a:r>
              <a:rPr lang="en-US" altLang="zh-CN" sz="1680" dirty="0">
                <a:cs typeface="Courier New" panose="02070309020205020404" pitchFamily="49" charset="0"/>
              </a:rPr>
              <a:t> for(; true ;) { // infinite loop</a:t>
            </a:r>
          </a:p>
          <a:p>
            <a:pPr algn="just" eaLnBrk="1" hangingPunct="1">
              <a:lnSpc>
                <a:spcPct val="100000"/>
              </a:lnSpc>
              <a:spcBef>
                <a:spcPts val="0"/>
              </a:spcBef>
              <a:spcAft>
                <a:spcPts val="0"/>
              </a:spcAft>
              <a:buNone/>
            </a:pPr>
            <a:r>
              <a:rPr lang="en-US" altLang="zh-CN" sz="1680" dirty="0">
                <a:cs typeface="Courier New" panose="02070309020205020404" pitchFamily="49" charset="0"/>
              </a:rPr>
              <a:t>      </a:t>
            </a:r>
            <a:r>
              <a:rPr lang="en-US" altLang="zh-CN" sz="1680" b="1" dirty="0">
                <a:solidFill>
                  <a:srgbClr val="FF3300"/>
                </a:solidFill>
                <a:cs typeface="Courier New" panose="02070309020205020404" pitchFamily="49" charset="0"/>
              </a:rPr>
              <a:t>inner:</a:t>
            </a:r>
            <a:r>
              <a:rPr lang="en-US" altLang="zh-CN" sz="1680" dirty="0">
                <a:cs typeface="Courier New" panose="02070309020205020404" pitchFamily="49" charset="0"/>
              </a:rPr>
              <a:t>  for(; i &lt; 10; i++) {</a:t>
            </a:r>
          </a:p>
          <a:p>
            <a:pPr algn="just" eaLnBrk="1" hangingPunct="1">
              <a:lnSpc>
                <a:spcPct val="100000"/>
              </a:lnSpc>
              <a:spcBef>
                <a:spcPts val="0"/>
              </a:spcBef>
              <a:spcAft>
                <a:spcPts val="0"/>
              </a:spcAft>
              <a:buNone/>
            </a:pPr>
            <a:r>
              <a:rPr lang="en-US" altLang="zh-CN" sz="1680" dirty="0">
                <a:cs typeface="Courier New" panose="02070309020205020404" pitchFamily="49" charset="0"/>
              </a:rPr>
              <a:t>        prt("i = " + i);</a:t>
            </a:r>
          </a:p>
          <a:p>
            <a:pPr algn="just" eaLnBrk="1" hangingPunct="1">
              <a:lnSpc>
                <a:spcPct val="100000"/>
              </a:lnSpc>
              <a:spcBef>
                <a:spcPts val="0"/>
              </a:spcBef>
              <a:spcAft>
                <a:spcPts val="0"/>
              </a:spcAft>
              <a:buNone/>
            </a:pPr>
            <a:r>
              <a:rPr lang="en-US" altLang="zh-CN" sz="1680" dirty="0">
                <a:cs typeface="Courier New" panose="02070309020205020404" pitchFamily="49" charset="0"/>
              </a:rPr>
              <a:t>        if(i == 2) {</a:t>
            </a:r>
          </a:p>
          <a:p>
            <a:pPr algn="just" eaLnBrk="1" hangingPunct="1">
              <a:lnSpc>
                <a:spcPct val="100000"/>
              </a:lnSpc>
              <a:spcBef>
                <a:spcPts val="0"/>
              </a:spcBef>
              <a:spcAft>
                <a:spcPts val="0"/>
              </a:spcAft>
              <a:buNone/>
            </a:pPr>
            <a:r>
              <a:rPr lang="en-US" altLang="zh-CN" sz="1680" dirty="0">
                <a:cs typeface="Courier New" panose="02070309020205020404" pitchFamily="49" charset="0"/>
              </a:rPr>
              <a:t>           continue; </a:t>
            </a:r>
            <a:r>
              <a:rPr lang="en-US" altLang="zh-CN" sz="1680" dirty="0">
                <a:solidFill>
                  <a:srgbClr val="ED13CE"/>
                </a:solidFill>
                <a:cs typeface="Courier New" panose="02070309020205020404" pitchFamily="49" charset="0"/>
              </a:rPr>
              <a:t>//</a:t>
            </a:r>
            <a:r>
              <a:rPr lang="en-US" altLang="zh-CN" sz="1680" dirty="0">
                <a:solidFill>
                  <a:srgbClr val="ED13CE"/>
                </a:solidFill>
              </a:rPr>
              <a:t>continue inner</a:t>
            </a:r>
          </a:p>
          <a:p>
            <a:pPr algn="just" eaLnBrk="1" hangingPunct="1">
              <a:lnSpc>
                <a:spcPct val="100000"/>
              </a:lnSpc>
              <a:spcBef>
                <a:spcPts val="0"/>
              </a:spcBef>
              <a:spcAft>
                <a:spcPts val="0"/>
              </a:spcAft>
              <a:buNone/>
            </a:pPr>
            <a:r>
              <a:rPr lang="en-US" altLang="zh-CN" sz="1680" dirty="0">
                <a:cs typeface="Courier New" panose="02070309020205020404" pitchFamily="49" charset="0"/>
              </a:rPr>
              <a:t>        }</a:t>
            </a:r>
          </a:p>
          <a:p>
            <a:pPr algn="just" eaLnBrk="1" hangingPunct="1">
              <a:lnSpc>
                <a:spcPct val="100000"/>
              </a:lnSpc>
              <a:spcBef>
                <a:spcPts val="0"/>
              </a:spcBef>
              <a:spcAft>
                <a:spcPts val="0"/>
              </a:spcAft>
              <a:buNone/>
            </a:pPr>
            <a:r>
              <a:rPr lang="en-US" altLang="zh-CN" sz="1680" dirty="0">
                <a:cs typeface="Courier New" panose="02070309020205020404" pitchFamily="49" charset="0"/>
              </a:rPr>
              <a:t>        if(i == 3) {</a:t>
            </a:r>
          </a:p>
          <a:p>
            <a:pPr algn="just" eaLnBrk="1" hangingPunct="1">
              <a:lnSpc>
                <a:spcPct val="100000"/>
              </a:lnSpc>
              <a:spcBef>
                <a:spcPts val="0"/>
              </a:spcBef>
              <a:spcAft>
                <a:spcPts val="0"/>
              </a:spcAft>
              <a:buNone/>
            </a:pPr>
            <a:r>
              <a:rPr lang="en-US" altLang="zh-CN" sz="1680" dirty="0">
                <a:cs typeface="Courier New" panose="02070309020205020404" pitchFamily="49" charset="0"/>
              </a:rPr>
              <a:t>            i++; // Otherwise i never gets incremented.</a:t>
            </a:r>
          </a:p>
          <a:p>
            <a:pPr algn="just" eaLnBrk="1" hangingPunct="1">
              <a:lnSpc>
                <a:spcPct val="100000"/>
              </a:lnSpc>
              <a:spcBef>
                <a:spcPts val="0"/>
              </a:spcBef>
              <a:spcAft>
                <a:spcPts val="0"/>
              </a:spcAft>
              <a:buNone/>
            </a:pPr>
            <a:r>
              <a:rPr lang="en-US" altLang="zh-CN" sz="1680" dirty="0">
                <a:cs typeface="Courier New" panose="02070309020205020404" pitchFamily="49" charset="0"/>
              </a:rPr>
              <a:t>          break;  </a:t>
            </a:r>
            <a:r>
              <a:rPr lang="en-US" altLang="zh-CN" sz="1680" dirty="0">
                <a:solidFill>
                  <a:srgbClr val="ED13CE"/>
                </a:solidFill>
                <a:cs typeface="Courier New" panose="02070309020205020404" pitchFamily="49" charset="0"/>
              </a:rPr>
              <a:t>//</a:t>
            </a:r>
            <a:r>
              <a:rPr lang="en-US" altLang="zh-CN" sz="1680" dirty="0">
                <a:solidFill>
                  <a:srgbClr val="ED13CE"/>
                </a:solidFill>
              </a:rPr>
              <a:t>break inner</a:t>
            </a:r>
          </a:p>
          <a:p>
            <a:pPr algn="just" eaLnBrk="1" hangingPunct="1">
              <a:lnSpc>
                <a:spcPct val="100000"/>
              </a:lnSpc>
              <a:spcBef>
                <a:spcPts val="0"/>
              </a:spcBef>
              <a:spcAft>
                <a:spcPts val="0"/>
              </a:spcAft>
              <a:buNone/>
            </a:pPr>
            <a:r>
              <a:rPr lang="en-US" altLang="zh-CN" sz="1680" dirty="0">
                <a:cs typeface="Courier New" panose="02070309020205020404" pitchFamily="49" charset="0"/>
              </a:rPr>
              <a:t>        }</a:t>
            </a:r>
          </a:p>
          <a:p>
            <a:pPr algn="just" eaLnBrk="1" hangingPunct="1">
              <a:lnSpc>
                <a:spcPct val="100000"/>
              </a:lnSpc>
              <a:spcBef>
                <a:spcPts val="0"/>
              </a:spcBef>
              <a:spcAft>
                <a:spcPts val="0"/>
              </a:spcAft>
              <a:buNone/>
            </a:pPr>
            <a:r>
              <a:rPr lang="en-US" altLang="zh-CN" sz="1680" dirty="0">
                <a:cs typeface="Courier New" panose="02070309020205020404" pitchFamily="49" charset="0"/>
              </a:rPr>
              <a:t>        if(i == 7) {</a:t>
            </a:r>
          </a:p>
          <a:p>
            <a:pPr algn="just" eaLnBrk="1" hangingPunct="1">
              <a:lnSpc>
                <a:spcPct val="100000"/>
              </a:lnSpc>
              <a:spcBef>
                <a:spcPts val="0"/>
              </a:spcBef>
              <a:spcAft>
                <a:spcPts val="0"/>
              </a:spcAft>
              <a:buNone/>
            </a:pPr>
            <a:r>
              <a:rPr lang="en-US" altLang="zh-CN" sz="1680" dirty="0">
                <a:cs typeface="Courier New" panose="02070309020205020404" pitchFamily="49" charset="0"/>
              </a:rPr>
              <a:t>          i++; // Otherwise i never gets incremented.</a:t>
            </a:r>
          </a:p>
          <a:p>
            <a:pPr algn="just" eaLnBrk="1" hangingPunct="1">
              <a:lnSpc>
                <a:spcPct val="100000"/>
              </a:lnSpc>
              <a:spcBef>
                <a:spcPts val="0"/>
              </a:spcBef>
              <a:spcAft>
                <a:spcPts val="0"/>
              </a:spcAft>
              <a:buNone/>
            </a:pPr>
            <a:r>
              <a:rPr lang="en-US" altLang="zh-CN" sz="1680" dirty="0">
                <a:cs typeface="Courier New" panose="02070309020205020404" pitchFamily="49" charset="0"/>
              </a:rPr>
              <a:t>          continue outer;</a:t>
            </a:r>
          </a:p>
          <a:p>
            <a:pPr algn="just" eaLnBrk="1" hangingPunct="1">
              <a:lnSpc>
                <a:spcPct val="100000"/>
              </a:lnSpc>
              <a:spcBef>
                <a:spcPts val="0"/>
              </a:spcBef>
              <a:spcAft>
                <a:spcPts val="0"/>
              </a:spcAft>
              <a:buNone/>
            </a:pPr>
            <a:r>
              <a:rPr lang="en-US" altLang="zh-CN" sz="1680" dirty="0">
                <a:cs typeface="Courier New" panose="02070309020205020404" pitchFamily="49" charset="0"/>
              </a:rPr>
              <a:t>        }</a:t>
            </a:r>
          </a:p>
          <a:p>
            <a:pPr algn="just" eaLnBrk="1" hangingPunct="1">
              <a:lnSpc>
                <a:spcPct val="100000"/>
              </a:lnSpc>
              <a:spcBef>
                <a:spcPts val="0"/>
              </a:spcBef>
              <a:spcAft>
                <a:spcPts val="0"/>
              </a:spcAft>
              <a:buNone/>
            </a:pPr>
            <a:r>
              <a:rPr lang="en-US" altLang="zh-CN" sz="1680" dirty="0">
                <a:cs typeface="Courier New" panose="02070309020205020404" pitchFamily="49" charset="0"/>
              </a:rPr>
              <a:t>        if(i == 8) {</a:t>
            </a:r>
          </a:p>
          <a:p>
            <a:pPr algn="just" eaLnBrk="1" hangingPunct="1">
              <a:lnSpc>
                <a:spcPct val="100000"/>
              </a:lnSpc>
              <a:spcBef>
                <a:spcPts val="0"/>
              </a:spcBef>
              <a:spcAft>
                <a:spcPts val="0"/>
              </a:spcAft>
              <a:buNone/>
            </a:pPr>
            <a:r>
              <a:rPr lang="en-US" altLang="zh-CN" sz="1680" dirty="0">
                <a:cs typeface="Courier New" panose="02070309020205020404" pitchFamily="49" charset="0"/>
              </a:rPr>
              <a:t>          break outer;</a:t>
            </a:r>
          </a:p>
          <a:p>
            <a:pPr algn="just" eaLnBrk="1" hangingPunct="1">
              <a:lnSpc>
                <a:spcPct val="100000"/>
              </a:lnSpc>
              <a:spcBef>
                <a:spcPts val="0"/>
              </a:spcBef>
              <a:spcAft>
                <a:spcPts val="0"/>
              </a:spcAft>
              <a:buNone/>
            </a:pPr>
            <a:r>
              <a:rPr lang="en-US" altLang="zh-CN" sz="1680" dirty="0">
                <a:cs typeface="Courier New" panose="02070309020205020404" pitchFamily="49" charset="0"/>
              </a:rPr>
              <a:t>        }</a:t>
            </a:r>
          </a:p>
          <a:p>
            <a:pPr algn="just" eaLnBrk="1" hangingPunct="1">
              <a:lnSpc>
                <a:spcPct val="100000"/>
              </a:lnSpc>
              <a:spcBef>
                <a:spcPts val="0"/>
              </a:spcBef>
              <a:spcAft>
                <a:spcPts val="0"/>
              </a:spcAft>
              <a:buNone/>
            </a:pPr>
            <a:r>
              <a:rPr lang="en-US" altLang="zh-CN" sz="1680" dirty="0">
                <a:cs typeface="Courier New" panose="02070309020205020404" pitchFamily="49" charset="0"/>
              </a:rPr>
              <a:t>        for(int k = 0; k &lt; 5; k++) {</a:t>
            </a:r>
          </a:p>
          <a:p>
            <a:pPr algn="just" eaLnBrk="1" hangingPunct="1">
              <a:lnSpc>
                <a:spcPct val="100000"/>
              </a:lnSpc>
              <a:spcBef>
                <a:spcPts val="0"/>
              </a:spcBef>
              <a:spcAft>
                <a:spcPts val="0"/>
              </a:spcAft>
              <a:buNone/>
            </a:pPr>
            <a:r>
              <a:rPr lang="en-US" altLang="zh-CN" sz="1680" dirty="0">
                <a:cs typeface="Courier New" panose="02070309020205020404" pitchFamily="49" charset="0"/>
              </a:rPr>
              <a:t>          if((k == 3)&amp;</a:t>
            </a:r>
            <a:r>
              <a:rPr lang="en-US" altLang="zh-CN" sz="1680" dirty="0"/>
              <a:t>(i==4)</a:t>
            </a:r>
            <a:r>
              <a:rPr lang="en-US" altLang="zh-CN" sz="1680" dirty="0">
                <a:cs typeface="Courier New" panose="02070309020205020404" pitchFamily="49" charset="0"/>
              </a:rPr>
              <a:t>) {</a:t>
            </a:r>
          </a:p>
          <a:p>
            <a:pPr algn="just" eaLnBrk="1" hangingPunct="1">
              <a:lnSpc>
                <a:spcPct val="100000"/>
              </a:lnSpc>
              <a:spcBef>
                <a:spcPts val="0"/>
              </a:spcBef>
              <a:spcAft>
                <a:spcPts val="0"/>
              </a:spcAft>
              <a:buNone/>
            </a:pPr>
            <a:r>
              <a:rPr lang="en-US" altLang="zh-CN" sz="1680" dirty="0">
                <a:cs typeface="Courier New" panose="02070309020205020404" pitchFamily="49" charset="0"/>
              </a:rPr>
              <a:t>             continue inner;</a:t>
            </a:r>
          </a:p>
          <a:p>
            <a:pPr algn="just" eaLnBrk="1" hangingPunct="1">
              <a:lnSpc>
                <a:spcPct val="100000"/>
              </a:lnSpc>
              <a:spcBef>
                <a:spcPts val="0"/>
              </a:spcBef>
              <a:spcAft>
                <a:spcPts val="0"/>
              </a:spcAft>
              <a:buNone/>
            </a:pPr>
            <a:r>
              <a:rPr lang="en-US" altLang="zh-CN" sz="1680" dirty="0">
                <a:cs typeface="Courier New" panose="02070309020205020404" pitchFamily="49" charset="0"/>
              </a:rPr>
              <a:t>          }</a:t>
            </a:r>
          </a:p>
          <a:p>
            <a:pPr algn="just" eaLnBrk="1" hangingPunct="1">
              <a:lnSpc>
                <a:spcPct val="100000"/>
              </a:lnSpc>
              <a:spcBef>
                <a:spcPts val="0"/>
              </a:spcBef>
              <a:spcAft>
                <a:spcPts val="0"/>
              </a:spcAft>
              <a:buNone/>
            </a:pPr>
            <a:r>
              <a:rPr lang="en-US" altLang="zh-CN" sz="1680" dirty="0">
                <a:cs typeface="Courier New" panose="02070309020205020404" pitchFamily="49" charset="0"/>
              </a:rPr>
              <a:t>           if((k == 3)&amp;</a:t>
            </a:r>
            <a:r>
              <a:rPr lang="en-US" altLang="zh-CN" sz="1680" dirty="0"/>
              <a:t>(i!=4)</a:t>
            </a:r>
            <a:r>
              <a:rPr lang="en-US" altLang="zh-CN" sz="1680" dirty="0">
                <a:cs typeface="Courier New" panose="02070309020205020404" pitchFamily="49" charset="0"/>
              </a:rPr>
              <a:t>) {</a:t>
            </a:r>
          </a:p>
          <a:p>
            <a:pPr algn="just" eaLnBrk="1" hangingPunct="1">
              <a:lnSpc>
                <a:spcPct val="100000"/>
              </a:lnSpc>
              <a:spcBef>
                <a:spcPts val="0"/>
              </a:spcBef>
              <a:spcAft>
                <a:spcPts val="0"/>
              </a:spcAft>
              <a:buNone/>
            </a:pPr>
            <a:r>
              <a:rPr lang="en-US" altLang="zh-CN" sz="1680" dirty="0">
                <a:cs typeface="Courier New" panose="02070309020205020404" pitchFamily="49" charset="0"/>
              </a:rPr>
              <a:t>             continue </a:t>
            </a:r>
            <a:r>
              <a:rPr lang="en-US" altLang="zh-CN" sz="1680" dirty="0"/>
              <a:t>outer</a:t>
            </a:r>
            <a:r>
              <a:rPr lang="en-US" altLang="zh-CN" sz="1680" dirty="0">
                <a:cs typeface="Courier New" panose="02070309020205020404" pitchFamily="49" charset="0"/>
              </a:rPr>
              <a:t>;</a:t>
            </a:r>
          </a:p>
          <a:p>
            <a:pPr algn="just" eaLnBrk="1" hangingPunct="1">
              <a:lnSpc>
                <a:spcPct val="100000"/>
              </a:lnSpc>
              <a:spcBef>
                <a:spcPts val="0"/>
              </a:spcBef>
              <a:spcAft>
                <a:spcPts val="0"/>
              </a:spcAft>
              <a:buNone/>
            </a:pPr>
            <a:r>
              <a:rPr lang="en-US" altLang="zh-CN" sz="1680" dirty="0">
                <a:cs typeface="Courier New" panose="02070309020205020404" pitchFamily="49" charset="0"/>
              </a:rPr>
              <a:t>          }</a:t>
            </a:r>
          </a:p>
          <a:p>
            <a:pPr algn="just" eaLnBrk="1" hangingPunct="1">
              <a:lnSpc>
                <a:spcPct val="100000"/>
              </a:lnSpc>
              <a:spcBef>
                <a:spcPts val="0"/>
              </a:spcBef>
              <a:spcAft>
                <a:spcPts val="0"/>
              </a:spcAft>
              <a:buNone/>
            </a:pPr>
            <a:r>
              <a:rPr lang="en-US" altLang="zh-CN" sz="1680" dirty="0">
                <a:cs typeface="Courier New" panose="02070309020205020404" pitchFamily="49" charset="0"/>
              </a:rPr>
              <a:t>        }</a:t>
            </a:r>
          </a:p>
          <a:p>
            <a:pPr algn="just" eaLnBrk="1" hangingPunct="1">
              <a:lnSpc>
                <a:spcPct val="100000"/>
              </a:lnSpc>
              <a:spcBef>
                <a:spcPts val="0"/>
              </a:spcBef>
              <a:spcAft>
                <a:spcPts val="0"/>
              </a:spcAft>
              <a:buNone/>
            </a:pPr>
            <a:r>
              <a:rPr lang="en-US" altLang="zh-CN" sz="1680" dirty="0">
                <a:cs typeface="Courier New" panose="02070309020205020404" pitchFamily="49" charset="0"/>
              </a:rPr>
              <a:t>      } //</a:t>
            </a:r>
            <a:r>
              <a:rPr lang="en-US" altLang="zh-CN" sz="1680" dirty="0"/>
              <a:t>inner</a:t>
            </a:r>
          </a:p>
          <a:p>
            <a:pPr algn="just" eaLnBrk="1" hangingPunct="1">
              <a:lnSpc>
                <a:spcPct val="100000"/>
              </a:lnSpc>
              <a:spcBef>
                <a:spcPts val="0"/>
              </a:spcBef>
              <a:buNone/>
            </a:pPr>
            <a:r>
              <a:rPr lang="en-US" altLang="zh-CN" sz="1680" dirty="0">
                <a:cs typeface="Courier New" panose="02070309020205020404" pitchFamily="49" charset="0"/>
              </a:rPr>
              <a:t>    } //</a:t>
            </a:r>
            <a:r>
              <a:rPr lang="en-US" altLang="zh-CN" sz="1680" dirty="0"/>
              <a:t>outer</a:t>
            </a:r>
          </a:p>
        </p:txBody>
      </p:sp>
      <p:grpSp>
        <p:nvGrpSpPr>
          <p:cNvPr id="102404" name="Group 4"/>
          <p:cNvGrpSpPr/>
          <p:nvPr/>
        </p:nvGrpSpPr>
        <p:grpSpPr>
          <a:xfrm>
            <a:off x="2185274" y="1256824"/>
            <a:ext cx="560070" cy="5519024"/>
            <a:chOff x="0" y="0"/>
            <a:chExt cx="336" cy="2796"/>
          </a:xfrm>
        </p:grpSpPr>
        <p:sp>
          <p:nvSpPr>
            <p:cNvPr id="102417" name="Line 5"/>
            <p:cNvSpPr/>
            <p:nvPr/>
          </p:nvSpPr>
          <p:spPr>
            <a:xfrm flipH="1">
              <a:off x="0" y="0"/>
              <a:ext cx="336" cy="0"/>
            </a:xfrm>
            <a:prstGeom prst="line">
              <a:avLst/>
            </a:prstGeom>
            <a:ln w="25400" cap="sq" cmpd="sng">
              <a:solidFill>
                <a:srgbClr val="FF3300"/>
              </a:solidFill>
              <a:prstDash val="solid"/>
              <a:headEnd type="none" w="med" len="med"/>
              <a:tailEnd type="none" w="med" len="med"/>
            </a:ln>
          </p:spPr>
        </p:sp>
        <p:sp>
          <p:nvSpPr>
            <p:cNvPr id="102418" name="Line 6"/>
            <p:cNvSpPr/>
            <p:nvPr/>
          </p:nvSpPr>
          <p:spPr>
            <a:xfrm>
              <a:off x="6" y="12"/>
              <a:ext cx="0" cy="2784"/>
            </a:xfrm>
            <a:prstGeom prst="line">
              <a:avLst/>
            </a:prstGeom>
            <a:ln w="25400" cap="sq" cmpd="sng">
              <a:solidFill>
                <a:srgbClr val="FF3300"/>
              </a:solidFill>
              <a:prstDash val="solid"/>
              <a:headEnd type="none" w="med" len="med"/>
              <a:tailEnd type="none" w="med" len="med"/>
            </a:ln>
          </p:spPr>
        </p:sp>
        <p:sp>
          <p:nvSpPr>
            <p:cNvPr id="102419" name="Line 7"/>
            <p:cNvSpPr/>
            <p:nvPr/>
          </p:nvSpPr>
          <p:spPr>
            <a:xfrm>
              <a:off x="6" y="2760"/>
              <a:ext cx="240" cy="0"/>
            </a:xfrm>
            <a:prstGeom prst="line">
              <a:avLst/>
            </a:prstGeom>
            <a:ln w="25400" cap="sq" cmpd="sng">
              <a:solidFill>
                <a:srgbClr val="FF3300"/>
              </a:solidFill>
              <a:prstDash val="solid"/>
              <a:headEnd type="none" w="med" len="med"/>
              <a:tailEnd type="stealth" w="lg" len="med"/>
            </a:ln>
          </p:spPr>
        </p:sp>
      </p:grpSp>
      <p:grpSp>
        <p:nvGrpSpPr>
          <p:cNvPr id="102408" name="Group 8"/>
          <p:cNvGrpSpPr/>
          <p:nvPr/>
        </p:nvGrpSpPr>
        <p:grpSpPr>
          <a:xfrm>
            <a:off x="3662125" y="2239947"/>
            <a:ext cx="4475559" cy="4612243"/>
            <a:chOff x="0" y="0"/>
            <a:chExt cx="2640" cy="2304"/>
          </a:xfrm>
        </p:grpSpPr>
        <p:sp>
          <p:nvSpPr>
            <p:cNvPr id="102414" name="Line 9"/>
            <p:cNvSpPr/>
            <p:nvPr/>
          </p:nvSpPr>
          <p:spPr>
            <a:xfrm>
              <a:off x="1488" y="0"/>
              <a:ext cx="1152" cy="0"/>
            </a:xfrm>
            <a:prstGeom prst="line">
              <a:avLst/>
            </a:prstGeom>
            <a:ln w="25400" cap="sq" cmpd="sng">
              <a:solidFill>
                <a:srgbClr val="FF3300"/>
              </a:solidFill>
              <a:prstDash val="solid"/>
              <a:headEnd type="none" w="med" len="med"/>
              <a:tailEnd type="none" w="med" len="med"/>
            </a:ln>
          </p:spPr>
        </p:sp>
        <p:sp>
          <p:nvSpPr>
            <p:cNvPr id="102415" name="Line 10"/>
            <p:cNvSpPr/>
            <p:nvPr/>
          </p:nvSpPr>
          <p:spPr>
            <a:xfrm>
              <a:off x="2640" y="0"/>
              <a:ext cx="0" cy="2304"/>
            </a:xfrm>
            <a:prstGeom prst="line">
              <a:avLst/>
            </a:prstGeom>
            <a:ln w="25400" cap="sq" cmpd="sng">
              <a:solidFill>
                <a:srgbClr val="FF3300"/>
              </a:solidFill>
              <a:prstDash val="solid"/>
              <a:headEnd type="none" w="med" len="med"/>
              <a:tailEnd type="none" w="med" len="med"/>
            </a:ln>
          </p:spPr>
        </p:sp>
        <p:sp>
          <p:nvSpPr>
            <p:cNvPr id="102416" name="Line 11"/>
            <p:cNvSpPr/>
            <p:nvPr/>
          </p:nvSpPr>
          <p:spPr>
            <a:xfrm flipH="1">
              <a:off x="0" y="2205"/>
              <a:ext cx="2640" cy="0"/>
            </a:xfrm>
            <a:prstGeom prst="line">
              <a:avLst/>
            </a:prstGeom>
            <a:ln w="25400" cap="sq" cmpd="sng">
              <a:solidFill>
                <a:srgbClr val="FF3300"/>
              </a:solidFill>
              <a:prstDash val="solid"/>
              <a:headEnd type="none" w="med" len="med"/>
              <a:tailEnd type="triangle" w="lg" len="lg"/>
            </a:ln>
          </p:spPr>
        </p:sp>
      </p:grpSp>
      <p:grpSp>
        <p:nvGrpSpPr>
          <p:cNvPr id="102412" name="Group 12"/>
          <p:cNvGrpSpPr/>
          <p:nvPr/>
        </p:nvGrpSpPr>
        <p:grpSpPr>
          <a:xfrm>
            <a:off x="1921907" y="3373755"/>
            <a:ext cx="658415" cy="3827145"/>
            <a:chOff x="0" y="0"/>
            <a:chExt cx="576" cy="1920"/>
          </a:xfrm>
        </p:grpSpPr>
        <p:sp>
          <p:nvSpPr>
            <p:cNvPr id="102411" name="Line 13"/>
            <p:cNvSpPr/>
            <p:nvPr/>
          </p:nvSpPr>
          <p:spPr>
            <a:xfrm flipH="1">
              <a:off x="0" y="0"/>
              <a:ext cx="576" cy="0"/>
            </a:xfrm>
            <a:prstGeom prst="line">
              <a:avLst/>
            </a:prstGeom>
            <a:ln w="25400" cap="sq" cmpd="sng">
              <a:solidFill>
                <a:srgbClr val="FF3300"/>
              </a:solidFill>
              <a:prstDash val="solid"/>
              <a:headEnd type="none" w="med" len="med"/>
              <a:tailEnd type="none" w="med" len="med"/>
            </a:ln>
          </p:spPr>
        </p:sp>
        <p:sp>
          <p:nvSpPr>
            <p:cNvPr id="2" name="Line 14"/>
            <p:cNvSpPr/>
            <p:nvPr/>
          </p:nvSpPr>
          <p:spPr>
            <a:xfrm>
              <a:off x="0" y="0"/>
              <a:ext cx="0" cy="1920"/>
            </a:xfrm>
            <a:prstGeom prst="line">
              <a:avLst/>
            </a:prstGeom>
            <a:ln w="25400" cap="sq" cmpd="sng">
              <a:solidFill>
                <a:srgbClr val="FF3300"/>
              </a:solidFill>
              <a:prstDash val="solid"/>
              <a:headEnd type="none" w="med" len="med"/>
              <a:tailEnd type="none" w="med" len="med"/>
            </a:ln>
          </p:spPr>
        </p:sp>
        <p:sp>
          <p:nvSpPr>
            <p:cNvPr id="102413" name="Line 15"/>
            <p:cNvSpPr/>
            <p:nvPr/>
          </p:nvSpPr>
          <p:spPr>
            <a:xfrm>
              <a:off x="0" y="1806"/>
              <a:ext cx="480" cy="0"/>
            </a:xfrm>
            <a:prstGeom prst="line">
              <a:avLst/>
            </a:prstGeom>
            <a:ln w="25400" cap="sq" cmpd="sng">
              <a:solidFill>
                <a:srgbClr val="FF3300"/>
              </a:solidFill>
              <a:prstDash val="solid"/>
              <a:headEnd type="none" w="med" len="med"/>
              <a:tailEnd type="triangle" w="lg" len="lg"/>
            </a:ln>
          </p:spPr>
        </p:sp>
      </p:grpSp>
      <p:grpSp>
        <p:nvGrpSpPr>
          <p:cNvPr id="3" name="Group 16"/>
          <p:cNvGrpSpPr/>
          <p:nvPr/>
        </p:nvGrpSpPr>
        <p:grpSpPr>
          <a:xfrm>
            <a:off x="3737134" y="4205526"/>
            <a:ext cx="4000500" cy="2797016"/>
            <a:chOff x="0" y="0"/>
            <a:chExt cx="2400" cy="1488"/>
          </a:xfrm>
        </p:grpSpPr>
        <p:sp>
          <p:nvSpPr>
            <p:cNvPr id="4" name="Line 17"/>
            <p:cNvSpPr/>
            <p:nvPr/>
          </p:nvSpPr>
          <p:spPr>
            <a:xfrm>
              <a:off x="432" y="0"/>
              <a:ext cx="1968" cy="0"/>
            </a:xfrm>
            <a:prstGeom prst="line">
              <a:avLst/>
            </a:prstGeom>
            <a:ln w="25400" cap="sq" cmpd="sng">
              <a:solidFill>
                <a:srgbClr val="FF3300"/>
              </a:solidFill>
              <a:prstDash val="solid"/>
              <a:headEnd type="none" w="med" len="med"/>
              <a:tailEnd type="none" w="med" len="med"/>
            </a:ln>
          </p:spPr>
        </p:sp>
        <p:sp>
          <p:nvSpPr>
            <p:cNvPr id="102409" name="Line 18"/>
            <p:cNvSpPr/>
            <p:nvPr/>
          </p:nvSpPr>
          <p:spPr>
            <a:xfrm>
              <a:off x="2400" y="0"/>
              <a:ext cx="0" cy="1488"/>
            </a:xfrm>
            <a:prstGeom prst="line">
              <a:avLst/>
            </a:prstGeom>
            <a:ln w="25400" cap="sq" cmpd="sng">
              <a:solidFill>
                <a:srgbClr val="FF3300"/>
              </a:solidFill>
              <a:prstDash val="solid"/>
              <a:headEnd type="none" w="med" len="med"/>
              <a:tailEnd type="none" w="med" len="med"/>
            </a:ln>
          </p:spPr>
        </p:sp>
        <p:sp>
          <p:nvSpPr>
            <p:cNvPr id="102410" name="Line 19"/>
            <p:cNvSpPr/>
            <p:nvPr/>
          </p:nvSpPr>
          <p:spPr>
            <a:xfrm flipH="1">
              <a:off x="0" y="1445"/>
              <a:ext cx="2400" cy="0"/>
            </a:xfrm>
            <a:prstGeom prst="line">
              <a:avLst/>
            </a:prstGeom>
            <a:ln w="25400" cap="sq" cmpd="sng">
              <a:solidFill>
                <a:srgbClr val="FF3300"/>
              </a:solidFill>
              <a:prstDash val="solid"/>
              <a:headEnd type="none" w="med" len="med"/>
              <a:tailEnd type="triangle" w="lg" len="lg"/>
            </a:ln>
          </p:spPr>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2404"/>
                                        </p:tgtEl>
                                        <p:attrNameLst>
                                          <p:attrName>style.visibility</p:attrName>
                                        </p:attrNameLst>
                                      </p:cBhvr>
                                      <p:to>
                                        <p:strVal val="visible"/>
                                      </p:to>
                                    </p:set>
                                    <p:anim calcmode="lin" valueType="num">
                                      <p:cBhvr additive="base">
                                        <p:cTn id="7" dur="500" fill="hold"/>
                                        <p:tgtEl>
                                          <p:spTgt spid="102404"/>
                                        </p:tgtEl>
                                        <p:attrNameLst>
                                          <p:attrName>ppt_x</p:attrName>
                                        </p:attrNameLst>
                                      </p:cBhvr>
                                      <p:tavLst>
                                        <p:tav tm="0">
                                          <p:val>
                                            <p:strVal val="0-#ppt_w/2"/>
                                          </p:val>
                                        </p:tav>
                                        <p:tav tm="100000">
                                          <p:val>
                                            <p:strVal val="#ppt_x"/>
                                          </p:val>
                                        </p:tav>
                                      </p:tavLst>
                                    </p:anim>
                                    <p:anim calcmode="lin" valueType="num">
                                      <p:cBhvr additive="base">
                                        <p:cTn id="8" dur="500" fill="hold"/>
                                        <p:tgtEl>
                                          <p:spTgt spid="10240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02404"/>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2412"/>
                                        </p:tgtEl>
                                        <p:attrNameLst>
                                          <p:attrName>style.visibility</p:attrName>
                                        </p:attrNameLst>
                                      </p:cBhvr>
                                      <p:to>
                                        <p:strVal val="visible"/>
                                      </p:to>
                                    </p:set>
                                    <p:anim calcmode="lin" valueType="num">
                                      <p:cBhvr additive="base">
                                        <p:cTn id="13" dur="500" fill="hold"/>
                                        <p:tgtEl>
                                          <p:spTgt spid="102412"/>
                                        </p:tgtEl>
                                        <p:attrNameLst>
                                          <p:attrName>ppt_x</p:attrName>
                                        </p:attrNameLst>
                                      </p:cBhvr>
                                      <p:tavLst>
                                        <p:tav tm="0">
                                          <p:val>
                                            <p:strVal val="0-#ppt_w/2"/>
                                          </p:val>
                                        </p:tav>
                                        <p:tav tm="100000">
                                          <p:val>
                                            <p:strVal val="#ppt_x"/>
                                          </p:val>
                                        </p:tav>
                                      </p:tavLst>
                                    </p:anim>
                                    <p:anim calcmode="lin" valueType="num">
                                      <p:cBhvr additive="base">
                                        <p:cTn id="14" dur="500" fill="hold"/>
                                        <p:tgtEl>
                                          <p:spTgt spid="10241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02412"/>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02408"/>
                                        </p:tgtEl>
                                        <p:attrNameLst>
                                          <p:attrName>style.visibility</p:attrName>
                                        </p:attrNameLst>
                                      </p:cBhvr>
                                      <p:to>
                                        <p:strVal val="visible"/>
                                      </p:to>
                                    </p:set>
                                    <p:anim calcmode="lin" valueType="num">
                                      <p:cBhvr additive="base">
                                        <p:cTn id="19" dur="500" fill="hold"/>
                                        <p:tgtEl>
                                          <p:spTgt spid="102408"/>
                                        </p:tgtEl>
                                        <p:attrNameLst>
                                          <p:attrName>ppt_x</p:attrName>
                                        </p:attrNameLst>
                                      </p:cBhvr>
                                      <p:tavLst>
                                        <p:tav tm="0">
                                          <p:val>
                                            <p:strVal val="1+#ppt_w/2"/>
                                          </p:val>
                                        </p:tav>
                                        <p:tav tm="100000">
                                          <p:val>
                                            <p:strVal val="#ppt_x"/>
                                          </p:val>
                                        </p:tav>
                                      </p:tavLst>
                                    </p:anim>
                                    <p:anim calcmode="lin" valueType="num">
                                      <p:cBhvr additive="base">
                                        <p:cTn id="20" dur="500" fill="hold"/>
                                        <p:tgtEl>
                                          <p:spTgt spid="10240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02408"/>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1+#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2500"/>
          </a:bodyPr>
          <a:lstStyle/>
          <a:p>
            <a:pPr algn="l" eaLnBrk="1" hangingPunct="1">
              <a:lnSpc>
                <a:spcPct val="150000"/>
              </a:lnSpc>
              <a:spcAft>
                <a:spcPts val="0"/>
              </a:spcAft>
              <a:buClr>
                <a:srgbClr val="000000"/>
              </a:buClr>
              <a:buSzTx/>
            </a:pPr>
            <a:r>
              <a:rPr lang="zh-CN" altLang="en-US" dirty="0"/>
              <a:t>import/包含语句</a:t>
            </a:r>
          </a:p>
          <a:p>
            <a:pPr marL="800100" lvl="1" indent="-342900" eaLnBrk="1" hangingPunct="1">
              <a:lnSpc>
                <a:spcPct val="150000"/>
              </a:lnSpc>
              <a:spcBef>
                <a:spcPts val="20"/>
              </a:spcBef>
              <a:spcAft>
                <a:spcPts val="0"/>
              </a:spcAft>
              <a:buClr>
                <a:schemeClr val="accent1"/>
              </a:buClr>
              <a:buSzTx/>
            </a:pPr>
            <a:r>
              <a:rPr lang="zh-CN" altLang="en-US" dirty="0"/>
              <a:t>引入程序所需要的类</a:t>
            </a:r>
          </a:p>
          <a:p>
            <a:pPr marL="800100" lvl="1" indent="-342900" eaLnBrk="1" hangingPunct="1">
              <a:lnSpc>
                <a:spcPct val="150000"/>
              </a:lnSpc>
              <a:spcBef>
                <a:spcPts val="20"/>
              </a:spcBef>
              <a:spcAft>
                <a:spcPts val="0"/>
              </a:spcAft>
              <a:buClr>
                <a:schemeClr val="accent1"/>
              </a:buClr>
              <a:buSzTx/>
            </a:pPr>
            <a:r>
              <a:rPr lang="en-US" altLang="zh-CN" dirty="0"/>
              <a:t>import Java.io.*;</a:t>
            </a:r>
          </a:p>
          <a:p>
            <a:pPr marL="800100" lvl="1" indent="-342900" eaLnBrk="1" hangingPunct="1">
              <a:lnSpc>
                <a:spcPct val="150000"/>
              </a:lnSpc>
              <a:spcBef>
                <a:spcPts val="20"/>
              </a:spcBef>
              <a:spcAft>
                <a:spcPts val="0"/>
              </a:spcAft>
              <a:buClr>
                <a:schemeClr val="accent1"/>
              </a:buClr>
              <a:buSzTx/>
            </a:pPr>
            <a:r>
              <a:rPr lang="en-US" altLang="zh-CN" dirty="0"/>
              <a:t>import Java.applet.Applet;</a:t>
            </a:r>
          </a:p>
          <a:p>
            <a:pPr algn="l" eaLnBrk="1" hangingPunct="1">
              <a:lnSpc>
                <a:spcPct val="150000"/>
              </a:lnSpc>
              <a:spcBef>
                <a:spcPts val="20"/>
              </a:spcBef>
              <a:spcAft>
                <a:spcPts val="0"/>
              </a:spcAft>
              <a:buClr>
                <a:srgbClr val="000000"/>
              </a:buClr>
              <a:buSzTx/>
            </a:pPr>
            <a:r>
              <a:rPr lang="zh-CN" altLang="en-US" dirty="0"/>
              <a:t>package/打包语句</a:t>
            </a:r>
          </a:p>
          <a:p>
            <a:pPr marL="800100" lvl="1" indent="-342900" eaLnBrk="1" hangingPunct="1">
              <a:lnSpc>
                <a:spcPct val="150000"/>
              </a:lnSpc>
              <a:spcBef>
                <a:spcPts val="20"/>
              </a:spcBef>
              <a:spcAft>
                <a:spcPts val="0"/>
              </a:spcAft>
              <a:buClr>
                <a:schemeClr val="accent1"/>
              </a:buClr>
              <a:buSzTx/>
            </a:pPr>
            <a:r>
              <a:rPr lang="zh-CN" altLang="en-US" dirty="0"/>
              <a:t>指明所定义的类属于哪个包</a:t>
            </a:r>
          </a:p>
          <a:p>
            <a:pPr marL="800100" lvl="1" indent="-342900" eaLnBrk="1" hangingPunct="1">
              <a:lnSpc>
                <a:spcPct val="150000"/>
              </a:lnSpc>
              <a:spcBef>
                <a:spcPts val="20"/>
              </a:spcBef>
              <a:spcAft>
                <a:spcPts val="0"/>
              </a:spcAft>
              <a:buClr>
                <a:schemeClr val="accent1"/>
              </a:buClr>
              <a:buSzTx/>
            </a:pPr>
            <a:r>
              <a:rPr lang="zh-CN" altLang="en-US" dirty="0"/>
              <a:t>通常作为源程序的第一条语句</a:t>
            </a:r>
          </a:p>
          <a:p>
            <a:pPr marL="800100" lvl="1" indent="-342900" eaLnBrk="1" hangingPunct="1">
              <a:lnSpc>
                <a:spcPct val="150000"/>
              </a:lnSpc>
              <a:spcBef>
                <a:spcPts val="20"/>
              </a:spcBef>
              <a:buClr>
                <a:schemeClr val="accent1"/>
              </a:buClr>
              <a:buSzTx/>
            </a:pPr>
            <a:r>
              <a:rPr lang="en-US" altLang="zh-CN" dirty="0"/>
              <a:t>package test;</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其他语句</a:t>
            </a:r>
          </a:p>
        </p:txBody>
      </p:sp>
    </p:spTree>
    <p:custDataLst>
      <p:tags r:id="rId1"/>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矩形 3"/>
          <p:cNvSpPr/>
          <p:nvPr/>
        </p:nvSpPr>
        <p:spPr>
          <a:xfrm>
            <a:off x="3690938" y="2613025"/>
            <a:ext cx="3840480" cy="829945"/>
          </a:xfrm>
          <a:prstGeom prst="rect">
            <a:avLst/>
          </a:prstGeom>
          <a:noFill/>
          <a:ln w="9525">
            <a:noFill/>
          </a:ln>
        </p:spPr>
        <p:txBody>
          <a:bodyPr wrap="none" anchor="t">
            <a:spAutoFit/>
          </a:bodyPr>
          <a:lstStyle/>
          <a:p>
            <a:pPr marL="0" lvl="1" indent="0" algn="l" eaLnBrk="1" fontAlgn="base" hangingPunct="1">
              <a:spcBef>
                <a:spcPct val="0"/>
              </a:spcBef>
              <a:spcAft>
                <a:spcPts val="0"/>
              </a:spcAft>
              <a:buNone/>
            </a:pPr>
            <a:r>
              <a:rPr lang="zh-CN" altLang="zh-CN" sz="4800" b="1" dirty="0">
                <a:solidFill>
                  <a:srgbClr val="00B0F0"/>
                </a:solidFill>
                <a:latin typeface="Arial" panose="020B0604020202020204" pitchFamily="34" charset="0"/>
                <a:ea typeface="微软雅黑" panose="020B0503020204020204" pitchFamily="34" charset="-122"/>
                <a:sym typeface="Calibri" panose="020F0502020204030204" pitchFamily="34" charset="0"/>
              </a:rPr>
              <a:t>数组与字符串</a:t>
            </a:r>
          </a:p>
        </p:txBody>
      </p:sp>
      <p:sp>
        <p:nvSpPr>
          <p:cNvPr id="6146" name="TextBox 4"/>
          <p:cNvSpPr/>
          <p:nvPr/>
        </p:nvSpPr>
        <p:spPr>
          <a:xfrm>
            <a:off x="1241425" y="1935163"/>
            <a:ext cx="2193290" cy="2753360"/>
          </a:xfrm>
          <a:prstGeom prst="rect">
            <a:avLst/>
          </a:prstGeom>
          <a:noFill/>
          <a:ln w="9525">
            <a:noFill/>
          </a:ln>
        </p:spPr>
        <p:txBody>
          <a:bodyPr wrap="none" anchor="t">
            <a:spAutoFit/>
          </a:bodyPr>
          <a:lstStyle/>
          <a:p>
            <a:pPr>
              <a:spcAft>
                <a:spcPts val="0"/>
              </a:spcAft>
            </a:pP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r>
              <a:rPr lang="en-US" altLang="zh-CN" sz="17300" dirty="0">
                <a:solidFill>
                  <a:srgbClr val="00B0F0"/>
                </a:solidFill>
                <a:latin typeface="FrankRuehl" panose="020E0503060101010101" pitchFamily="34" charset="-79"/>
                <a:ea typeface="宋体" panose="02010600030101010101" pitchFamily="2" charset="-122"/>
                <a:sym typeface="FrankRuehl" panose="020E0503060101010101" pitchFamily="34" charset="-79"/>
              </a:rPr>
              <a:t>6</a:t>
            </a:r>
            <a:r>
              <a:rPr lang="en-US" altLang="zh-CN" sz="17300" dirty="0">
                <a:solidFill>
                  <a:srgbClr val="00B0F0"/>
                </a:solidFill>
                <a:latin typeface="Latha" panose="020B0604020202020204" pitchFamily="34" charset="0"/>
                <a:ea typeface="宋体" panose="02010600030101010101" pitchFamily="2" charset="-122"/>
                <a:sym typeface="Latha" panose="020B0604020202020204" pitchFamily="34" charset="0"/>
              </a:rPr>
              <a:t>]</a:t>
            </a:r>
            <a:endParaRPr lang="zh-CN" altLang="en-US" sz="17300" dirty="0">
              <a:solidFill>
                <a:srgbClr val="00B0F0"/>
              </a:solidFill>
              <a:latin typeface="Latha" panose="020B0604020202020204" pitchFamily="34" charset="0"/>
              <a:ea typeface="宋体" panose="02010600030101010101" pitchFamily="2" charset="-122"/>
              <a:sym typeface="Latha" panose="020B0604020202020204" pitchFamily="34" charset="0"/>
            </a:endParaRPr>
          </a:p>
        </p:txBody>
      </p:sp>
      <p:sp>
        <p:nvSpPr>
          <p:cNvPr id="6147" name="TextBox 5"/>
          <p:cNvSpPr/>
          <p:nvPr/>
        </p:nvSpPr>
        <p:spPr>
          <a:xfrm>
            <a:off x="2708275" y="3311525"/>
            <a:ext cx="814705" cy="518160"/>
          </a:xfrm>
          <a:prstGeom prst="rect">
            <a:avLst/>
          </a:prstGeom>
          <a:solidFill>
            <a:schemeClr val="bg1"/>
          </a:solidFill>
          <a:ln w="9525">
            <a:noFill/>
          </a:ln>
        </p:spPr>
        <p:txBody>
          <a:bodyPr wrap="none" lIns="102870" tIns="51435" rIns="102870" bIns="51435" anchor="t">
            <a:spAutoFit/>
          </a:bodyPr>
          <a:lstStyle/>
          <a:p>
            <a:pPr>
              <a:spcAft>
                <a:spcPts val="0"/>
              </a:spcAft>
            </a:pPr>
            <a:r>
              <a:rPr lang="en-US" altLang="zh-CN" sz="2700" dirty="0">
                <a:solidFill>
                  <a:srgbClr val="00B0F0"/>
                </a:solidFill>
                <a:latin typeface="Impact" panose="020B0806030902050204" pitchFamily="34" charset="0"/>
                <a:ea typeface="宋体" panose="02010600030101010101" pitchFamily="2" charset="-122"/>
                <a:sym typeface="Impact" panose="020B0806030902050204" pitchFamily="34" charset="0"/>
              </a:rPr>
              <a:t>Java</a:t>
            </a:r>
            <a:endParaRPr lang="zh-CN" altLang="en-US" sz="2700" dirty="0">
              <a:solidFill>
                <a:srgbClr val="00B0F0"/>
              </a:solidFill>
              <a:latin typeface="Impact" panose="020B0806030902050204" pitchFamily="34" charset="0"/>
              <a:ea typeface="宋体" panose="02010600030101010101" pitchFamily="2" charset="-122"/>
              <a:sym typeface="Impact" panose="020B0806030902050204" pitchFamily="3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0000" lnSpcReduction="20000"/>
          </a:bodyPr>
          <a:lstStyle/>
          <a:p>
            <a:pPr algn="l" eaLnBrk="1" hangingPunct="1">
              <a:lnSpc>
                <a:spcPct val="150000"/>
              </a:lnSpc>
              <a:spcAft>
                <a:spcPts val="0"/>
              </a:spcAft>
              <a:buClr>
                <a:srgbClr val="000000"/>
              </a:buClr>
              <a:buSzTx/>
            </a:pPr>
            <a:r>
              <a:rPr lang="zh-CN" altLang="en-US" dirty="0"/>
              <a:t>数组是一组同类型的变量或对象的集合</a:t>
            </a:r>
          </a:p>
          <a:p>
            <a:pPr marL="800100" lvl="1" indent="-342900" eaLnBrk="1" hangingPunct="1">
              <a:lnSpc>
                <a:spcPct val="150000"/>
              </a:lnSpc>
              <a:spcBef>
                <a:spcPts val="20"/>
              </a:spcBef>
              <a:spcAft>
                <a:spcPts val="0"/>
              </a:spcAft>
              <a:buClr>
                <a:schemeClr val="accent1"/>
              </a:buClr>
              <a:buSzTx/>
            </a:pPr>
            <a:r>
              <a:rPr lang="zh-CN" altLang="en-US" dirty="0"/>
              <a:t>数组的类型可以是基本类型，或类和接口</a:t>
            </a:r>
          </a:p>
          <a:p>
            <a:pPr marL="800100" lvl="1" indent="-342900" eaLnBrk="1" hangingPunct="1">
              <a:lnSpc>
                <a:spcPct val="150000"/>
              </a:lnSpc>
              <a:spcBef>
                <a:spcPts val="20"/>
              </a:spcBef>
              <a:spcAft>
                <a:spcPts val="0"/>
              </a:spcAft>
              <a:buClr>
                <a:schemeClr val="accent1"/>
              </a:buClr>
              <a:buSzTx/>
            </a:pPr>
            <a:r>
              <a:rPr lang="zh-CN" altLang="en-US" dirty="0"/>
              <a:t>数组中每个元素的类型相同</a:t>
            </a:r>
          </a:p>
          <a:p>
            <a:pPr marL="800100" lvl="1" indent="-342900" eaLnBrk="1" hangingPunct="1">
              <a:lnSpc>
                <a:spcPct val="150000"/>
              </a:lnSpc>
              <a:spcBef>
                <a:spcPts val="20"/>
              </a:spcBef>
              <a:spcAft>
                <a:spcPts val="0"/>
              </a:spcAft>
              <a:buClr>
                <a:schemeClr val="accent1"/>
              </a:buClr>
              <a:buSzTx/>
            </a:pPr>
            <a:r>
              <a:rPr lang="zh-CN" altLang="en-US" dirty="0"/>
              <a:t>引用数组元素通过数组名</a:t>
            </a:r>
            <a:r>
              <a:rPr lang="en-US" altLang="zh-CN" dirty="0"/>
              <a:t>[</a:t>
            </a:r>
            <a:r>
              <a:rPr lang="zh-CN" altLang="en-US" dirty="0"/>
              <a:t>下标</a:t>
            </a:r>
            <a:r>
              <a:rPr lang="en-US" altLang="zh-CN" dirty="0"/>
              <a:t>]</a:t>
            </a:r>
          </a:p>
          <a:p>
            <a:pPr marL="800100" lvl="1" indent="-342900" eaLnBrk="1" hangingPunct="1">
              <a:lnSpc>
                <a:spcPct val="150000"/>
              </a:lnSpc>
              <a:spcBef>
                <a:spcPts val="20"/>
              </a:spcBef>
              <a:spcAft>
                <a:spcPts val="0"/>
              </a:spcAft>
              <a:buClr>
                <a:schemeClr val="accent1"/>
              </a:buClr>
              <a:buSzTx/>
            </a:pPr>
            <a:r>
              <a:rPr lang="zh-CN" altLang="en-US" dirty="0"/>
              <a:t>数组下标</a:t>
            </a:r>
            <a:r>
              <a:rPr lang="en-US" altLang="zh-CN" dirty="0"/>
              <a:t>(</a:t>
            </a:r>
            <a:r>
              <a:rPr lang="zh-CN" altLang="en-US" dirty="0"/>
              <a:t>数组的索引</a:t>
            </a:r>
            <a:r>
              <a:rPr lang="en-US" altLang="zh-CN" dirty="0"/>
              <a:t>)</a:t>
            </a:r>
            <a:r>
              <a:rPr lang="zh-CN" altLang="en-US" dirty="0"/>
              <a:t>从</a:t>
            </a:r>
            <a:r>
              <a:rPr lang="en-US" altLang="zh-CN" dirty="0"/>
              <a:t>0</a:t>
            </a:r>
            <a:r>
              <a:rPr lang="zh-CN" altLang="en-US" dirty="0"/>
              <a:t>开始</a:t>
            </a:r>
          </a:p>
          <a:p>
            <a:pPr eaLnBrk="1" hangingPunct="1">
              <a:lnSpc>
                <a:spcPct val="150000"/>
              </a:lnSpc>
              <a:spcBef>
                <a:spcPts val="20"/>
              </a:spcBef>
              <a:spcAft>
                <a:spcPts val="0"/>
              </a:spcAft>
              <a:buClr>
                <a:srgbClr val="000000"/>
              </a:buClr>
              <a:buSzTx/>
            </a:pPr>
            <a:r>
              <a:rPr lang="zh-CN" altLang="en-US" dirty="0">
                <a:solidFill>
                  <a:srgbClr val="FF0000"/>
                </a:solidFill>
              </a:rPr>
              <a:t>数组是一种特殊的对象</a:t>
            </a:r>
            <a:r>
              <a:rPr lang="en-US" altLang="zh-CN" dirty="0">
                <a:solidFill>
                  <a:srgbClr val="FF0000"/>
                </a:solidFill>
              </a:rPr>
              <a:t>(Object)</a:t>
            </a:r>
          </a:p>
          <a:p>
            <a:pPr marL="800100" lvl="1" indent="-342900" eaLnBrk="1" hangingPunct="1">
              <a:lnSpc>
                <a:spcPct val="150000"/>
              </a:lnSpc>
              <a:spcBef>
                <a:spcPts val="20"/>
              </a:spcBef>
              <a:spcAft>
                <a:spcPts val="0"/>
              </a:spcAft>
              <a:buClr>
                <a:schemeClr val="accent1"/>
              </a:buClr>
              <a:buSzTx/>
            </a:pPr>
            <a:r>
              <a:rPr lang="zh-CN" altLang="en-US" dirty="0"/>
              <a:t>定义类型 </a:t>
            </a:r>
            <a:r>
              <a:rPr lang="en-US" altLang="zh-CN" dirty="0"/>
              <a:t>(</a:t>
            </a:r>
            <a:r>
              <a:rPr lang="zh-CN" altLang="en-US" dirty="0"/>
              <a:t>声明</a:t>
            </a:r>
            <a:r>
              <a:rPr lang="en-US" altLang="zh-CN" dirty="0"/>
              <a:t>)</a:t>
            </a:r>
          </a:p>
          <a:p>
            <a:pPr marL="800100" lvl="1" indent="-342900" eaLnBrk="1" hangingPunct="1">
              <a:lnSpc>
                <a:spcPct val="150000"/>
              </a:lnSpc>
              <a:spcBef>
                <a:spcPts val="20"/>
              </a:spcBef>
              <a:spcAft>
                <a:spcPts val="0"/>
              </a:spcAft>
              <a:buClr>
                <a:schemeClr val="accent1"/>
              </a:buClr>
              <a:buSzTx/>
            </a:pPr>
            <a:r>
              <a:rPr lang="zh-CN" altLang="en-US" dirty="0"/>
              <a:t>创建数组 </a:t>
            </a:r>
            <a:r>
              <a:rPr lang="en-US" altLang="zh-CN" dirty="0"/>
              <a:t>(</a:t>
            </a:r>
            <a:r>
              <a:rPr lang="zh-CN" altLang="en-US" dirty="0"/>
              <a:t>分配内存空间</a:t>
            </a:r>
            <a:r>
              <a:rPr lang="en-US" altLang="zh-CN" dirty="0"/>
              <a:t>) : new</a:t>
            </a:r>
          </a:p>
          <a:p>
            <a:pPr marL="800100" lvl="1" indent="-342900" eaLnBrk="1" hangingPunct="1">
              <a:lnSpc>
                <a:spcPct val="150000"/>
              </a:lnSpc>
              <a:spcBef>
                <a:spcPts val="20"/>
              </a:spcBef>
              <a:spcAft>
                <a:spcPts val="0"/>
              </a:spcAft>
              <a:buClr>
                <a:schemeClr val="accent1"/>
              </a:buClr>
              <a:buSzTx/>
            </a:pPr>
            <a:r>
              <a:rPr lang="zh-CN" altLang="en-US" dirty="0"/>
              <a:t>释放 </a:t>
            </a:r>
            <a:r>
              <a:rPr lang="en-US" altLang="zh-CN" dirty="0"/>
              <a:t>(Java</a:t>
            </a:r>
            <a:r>
              <a:rPr lang="zh-CN" altLang="en-US" dirty="0"/>
              <a:t>虚拟机完成</a:t>
            </a:r>
            <a:r>
              <a:rPr lang="en-US" altLang="zh-CN" dirty="0"/>
              <a:t>)</a:t>
            </a:r>
          </a:p>
          <a:p>
            <a:pPr algn="l" eaLnBrk="1" hangingPunct="1">
              <a:lnSpc>
                <a:spcPct val="150000"/>
              </a:lnSpc>
              <a:spcBef>
                <a:spcPts val="20"/>
              </a:spcBef>
              <a:buClr>
                <a:srgbClr val="000000"/>
              </a:buClr>
              <a:buSzTx/>
            </a:pPr>
            <a:r>
              <a:rPr lang="zh-CN" altLang="en-US" dirty="0"/>
              <a:t>一维数组、多维数组</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概念</a:t>
            </a:r>
          </a:p>
        </p:txBody>
      </p:sp>
    </p:spTree>
    <p:custDataLst>
      <p:tags r:id="rId1"/>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一维数组</a:t>
            </a:r>
          </a:p>
        </p:txBody>
      </p:sp>
      <p:sp>
        <p:nvSpPr>
          <p:cNvPr id="106499" name="Rectangle 3"/>
          <p:cNvSpPr>
            <a:spLocks noGrp="1"/>
          </p:cNvSpPr>
          <p:nvPr>
            <p:ph idx="1"/>
          </p:nvPr>
        </p:nvSpPr>
        <p:spPr/>
        <p:txBody>
          <a:bodyPr vert="horz" wrap="square" lIns="96011" tIns="48005" rIns="96011" bIns="48005" anchor="t">
            <a:normAutofit lnSpcReduction="10000"/>
          </a:bodyPr>
          <a:lstStyle/>
          <a:p>
            <a:pPr marL="609600" indent="-609600" eaLnBrk="1" hangingPunct="1">
              <a:lnSpc>
                <a:spcPct val="110000"/>
              </a:lnSpc>
              <a:spcAft>
                <a:spcPts val="0"/>
              </a:spcAft>
              <a:buSzPct val="90000"/>
            </a:pPr>
            <a:r>
              <a:rPr lang="zh-CN" altLang="en-US" dirty="0"/>
              <a:t>一维数组的元素只有一个下标变量</a:t>
            </a:r>
          </a:p>
          <a:p>
            <a:pPr marL="990600" lvl="1" indent="-533400" eaLnBrk="1" hangingPunct="1">
              <a:lnSpc>
                <a:spcPct val="110000"/>
              </a:lnSpc>
              <a:spcBef>
                <a:spcPts val="20"/>
              </a:spcBef>
              <a:spcAft>
                <a:spcPts val="0"/>
              </a:spcAft>
              <a:buSzPct val="90000"/>
            </a:pPr>
            <a:r>
              <a:rPr lang="zh-CN" altLang="en-US" dirty="0"/>
              <a:t>例</a:t>
            </a:r>
            <a:r>
              <a:rPr lang="en-US" altLang="zh-CN" dirty="0"/>
              <a:t>: A[1], c[3]</a:t>
            </a:r>
          </a:p>
          <a:p>
            <a:pPr marL="609600" indent="-609600" eaLnBrk="1" hangingPunct="1">
              <a:lnSpc>
                <a:spcPct val="110000"/>
              </a:lnSpc>
              <a:spcBef>
                <a:spcPts val="20"/>
              </a:spcBef>
              <a:spcAft>
                <a:spcPts val="0"/>
              </a:spcAft>
              <a:buSzPct val="90000"/>
            </a:pPr>
            <a:r>
              <a:rPr lang="zh-CN" altLang="en-US" dirty="0"/>
              <a:t>一维数组的声明</a:t>
            </a:r>
          </a:p>
          <a:p>
            <a:pPr marL="990600" lvl="1" indent="-533400" eaLnBrk="1" hangingPunct="1">
              <a:lnSpc>
                <a:spcPct val="110000"/>
              </a:lnSpc>
              <a:spcBef>
                <a:spcPts val="20"/>
              </a:spcBef>
              <a:spcAft>
                <a:spcPts val="0"/>
              </a:spcAft>
              <a:buSzPct val="90000"/>
            </a:pPr>
            <a:r>
              <a:rPr lang="zh-CN" altLang="en-US" dirty="0"/>
              <a:t>方法</a:t>
            </a:r>
            <a:r>
              <a:rPr lang="en-US" altLang="zh-CN" dirty="0"/>
              <a:t>1:   </a:t>
            </a:r>
            <a:r>
              <a:rPr lang="zh-CN" altLang="en-US" dirty="0"/>
              <a:t>类型 数组名</a:t>
            </a:r>
            <a:r>
              <a:rPr lang="en-US" altLang="zh-CN" dirty="0"/>
              <a:t>[];    </a:t>
            </a:r>
          </a:p>
          <a:p>
            <a:pPr marL="1371600" lvl="2" indent="-457200" eaLnBrk="1" hangingPunct="1">
              <a:lnSpc>
                <a:spcPct val="110000"/>
              </a:lnSpc>
              <a:spcBef>
                <a:spcPts val="20"/>
              </a:spcBef>
              <a:spcAft>
                <a:spcPts val="0"/>
              </a:spcAft>
              <a:buSzPct val="90000"/>
            </a:pPr>
            <a:r>
              <a:rPr lang="en-US" altLang="zh-CN" dirty="0"/>
              <a:t>String args[];  int a[]; double amount[]; char c[];</a:t>
            </a:r>
          </a:p>
          <a:p>
            <a:pPr marL="990600" lvl="1" indent="-533400" eaLnBrk="1" hangingPunct="1">
              <a:lnSpc>
                <a:spcPct val="110000"/>
              </a:lnSpc>
              <a:spcBef>
                <a:spcPts val="20"/>
              </a:spcBef>
              <a:spcAft>
                <a:spcPts val="0"/>
              </a:spcAft>
              <a:buSzPct val="90000"/>
            </a:pPr>
            <a:r>
              <a:rPr lang="zh-CN" altLang="en-US" dirty="0">
                <a:solidFill>
                  <a:srgbClr val="FF0000"/>
                </a:solidFill>
              </a:rPr>
              <a:t>方法</a:t>
            </a:r>
            <a:r>
              <a:rPr lang="en-US" altLang="zh-CN" dirty="0">
                <a:solidFill>
                  <a:srgbClr val="FF0000"/>
                </a:solidFill>
              </a:rPr>
              <a:t>2:  </a:t>
            </a:r>
            <a:r>
              <a:rPr lang="zh-CN" altLang="en-US" dirty="0">
                <a:solidFill>
                  <a:srgbClr val="FF0000"/>
                </a:solidFill>
              </a:rPr>
              <a:t>类型</a:t>
            </a:r>
            <a:r>
              <a:rPr lang="en-US" altLang="zh-CN" dirty="0">
                <a:solidFill>
                  <a:srgbClr val="FF0000"/>
                </a:solidFill>
              </a:rPr>
              <a:t>[] </a:t>
            </a:r>
            <a:r>
              <a:rPr lang="zh-CN" altLang="en-US" dirty="0">
                <a:solidFill>
                  <a:srgbClr val="FF0000"/>
                </a:solidFill>
              </a:rPr>
              <a:t>数组名</a:t>
            </a:r>
            <a:r>
              <a:rPr lang="en-US" altLang="zh-CN" dirty="0">
                <a:solidFill>
                  <a:srgbClr val="FF0000"/>
                </a:solidFill>
              </a:rPr>
              <a:t>;</a:t>
            </a:r>
            <a:endParaRPr lang="en-US" altLang="zh-CN" dirty="0"/>
          </a:p>
          <a:p>
            <a:pPr marL="1371600" lvl="2" indent="-457200" eaLnBrk="1" hangingPunct="1">
              <a:lnSpc>
                <a:spcPct val="110000"/>
              </a:lnSpc>
              <a:spcBef>
                <a:spcPts val="20"/>
              </a:spcBef>
              <a:spcAft>
                <a:spcPts val="0"/>
              </a:spcAft>
              <a:buSzPct val="90000"/>
            </a:pPr>
            <a:r>
              <a:rPr lang="en-US" altLang="zh-CN" dirty="0"/>
              <a:t>String[] args; int[] a; double[] amount; char[] c;</a:t>
            </a:r>
          </a:p>
          <a:p>
            <a:pPr marL="990600" lvl="1" indent="-533400" eaLnBrk="1" hangingPunct="1">
              <a:lnSpc>
                <a:spcPct val="110000"/>
              </a:lnSpc>
              <a:spcBef>
                <a:spcPts val="20"/>
              </a:spcBef>
              <a:spcAft>
                <a:spcPts val="0"/>
              </a:spcAft>
              <a:buSzPct val="90000"/>
            </a:pPr>
            <a:r>
              <a:rPr lang="zh-CN" altLang="en-US" dirty="0"/>
              <a:t>注意</a:t>
            </a:r>
          </a:p>
          <a:p>
            <a:pPr marL="1371600" lvl="2" indent="-457200" eaLnBrk="1" hangingPunct="1">
              <a:lnSpc>
                <a:spcPct val="110000"/>
              </a:lnSpc>
              <a:spcBef>
                <a:spcPts val="20"/>
              </a:spcBef>
              <a:spcAft>
                <a:spcPts val="0"/>
              </a:spcAft>
              <a:buSzPct val="90000"/>
            </a:pPr>
            <a:r>
              <a:rPr lang="zh-CN" altLang="en-US" dirty="0"/>
              <a:t>类型是数组中元素的数据类型</a:t>
            </a:r>
            <a:r>
              <a:rPr lang="en-US" altLang="zh-CN" dirty="0"/>
              <a:t>(</a:t>
            </a:r>
            <a:r>
              <a:rPr lang="zh-CN" altLang="en-US" dirty="0"/>
              <a:t>基本和构造类型</a:t>
            </a:r>
            <a:r>
              <a:rPr lang="en-US" altLang="zh-CN" dirty="0"/>
              <a:t>)</a:t>
            </a:r>
          </a:p>
          <a:p>
            <a:pPr marL="1371600" lvl="2" indent="-457200" eaLnBrk="1" hangingPunct="1">
              <a:lnSpc>
                <a:spcPct val="110000"/>
              </a:lnSpc>
              <a:spcBef>
                <a:spcPts val="20"/>
              </a:spcBef>
              <a:spcAft>
                <a:spcPts val="0"/>
              </a:spcAft>
              <a:buSzPct val="90000"/>
            </a:pPr>
            <a:r>
              <a:rPr lang="zh-CN" altLang="en-US" dirty="0"/>
              <a:t>数组名是一个标识符</a:t>
            </a:r>
          </a:p>
          <a:p>
            <a:pPr marL="1371600" lvl="2" indent="-457200" eaLnBrk="1" hangingPunct="1">
              <a:lnSpc>
                <a:spcPct val="110000"/>
              </a:lnSpc>
              <a:spcBef>
                <a:spcPts val="20"/>
              </a:spcBef>
              <a:buSzPct val="90000"/>
            </a:pPr>
            <a:r>
              <a:rPr lang="zh-CN" altLang="en-US" dirty="0">
                <a:solidFill>
                  <a:srgbClr val="FF0000"/>
                </a:solidFill>
              </a:rPr>
              <a:t>数组声明后不能被访问，因未为数组元素分配内存空间</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barn(outHorizontal)">
                                      <p:cBhvr>
                                        <p:cTn id="7" dur="500"/>
                                        <p:tgtEl>
                                          <p:spTgt spid="106499">
                                            <p:txEl>
                                              <p:pRg st="0" end="0"/>
                                            </p:txEl>
                                          </p:spTgt>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106499">
                                            <p:txEl>
                                              <p:pRg st="1" end="1"/>
                                            </p:txEl>
                                          </p:spTgt>
                                        </p:tgtEl>
                                        <p:attrNameLst>
                                          <p:attrName>style.visibility</p:attrName>
                                        </p:attrNameLst>
                                      </p:cBhvr>
                                      <p:to>
                                        <p:strVal val="visible"/>
                                      </p:to>
                                    </p:set>
                                    <p:animEffect transition="in" filter="barn(outHorizontal)">
                                      <p:cBhvr>
                                        <p:cTn id="10" dur="500"/>
                                        <p:tgtEl>
                                          <p:spTgt spid="10649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42" fill="hold" grpId="0" nodeType="clickEffect">
                                  <p:stCondLst>
                                    <p:cond delay="0"/>
                                  </p:stCondLst>
                                  <p:childTnLst>
                                    <p:set>
                                      <p:cBhvr>
                                        <p:cTn id="14" dur="1" fill="hold">
                                          <p:stCondLst>
                                            <p:cond delay="0"/>
                                          </p:stCondLst>
                                        </p:cTn>
                                        <p:tgtEl>
                                          <p:spTgt spid="106499">
                                            <p:txEl>
                                              <p:pRg st="2" end="2"/>
                                            </p:txEl>
                                          </p:spTgt>
                                        </p:tgtEl>
                                        <p:attrNameLst>
                                          <p:attrName>style.visibility</p:attrName>
                                        </p:attrNameLst>
                                      </p:cBhvr>
                                      <p:to>
                                        <p:strVal val="visible"/>
                                      </p:to>
                                    </p:set>
                                    <p:animEffect transition="in" filter="barn(outHorizontal)">
                                      <p:cBhvr>
                                        <p:cTn id="15" dur="500"/>
                                        <p:tgtEl>
                                          <p:spTgt spid="106499">
                                            <p:txEl>
                                              <p:pRg st="2" end="2"/>
                                            </p:txEl>
                                          </p:spTgt>
                                        </p:tgtEl>
                                      </p:cBhvr>
                                    </p:animEffect>
                                  </p:childTnLst>
                                </p:cTn>
                              </p:par>
                              <p:par>
                                <p:cTn id="16" presetID="16" presetClass="entr" presetSubtype="42" fill="hold" grpId="0" nodeType="withEffect">
                                  <p:stCondLst>
                                    <p:cond delay="0"/>
                                  </p:stCondLst>
                                  <p:childTnLst>
                                    <p:set>
                                      <p:cBhvr>
                                        <p:cTn id="17" dur="1" fill="hold">
                                          <p:stCondLst>
                                            <p:cond delay="0"/>
                                          </p:stCondLst>
                                        </p:cTn>
                                        <p:tgtEl>
                                          <p:spTgt spid="106499">
                                            <p:txEl>
                                              <p:pRg st="3" end="3"/>
                                            </p:txEl>
                                          </p:spTgt>
                                        </p:tgtEl>
                                        <p:attrNameLst>
                                          <p:attrName>style.visibility</p:attrName>
                                        </p:attrNameLst>
                                      </p:cBhvr>
                                      <p:to>
                                        <p:strVal val="visible"/>
                                      </p:to>
                                    </p:set>
                                    <p:animEffect transition="in" filter="barn(outHorizontal)">
                                      <p:cBhvr>
                                        <p:cTn id="18" dur="500"/>
                                        <p:tgtEl>
                                          <p:spTgt spid="106499">
                                            <p:txEl>
                                              <p:pRg st="3" end="3"/>
                                            </p:txEl>
                                          </p:spTgt>
                                        </p:tgtEl>
                                      </p:cBhvr>
                                    </p:animEffect>
                                  </p:childTnLst>
                                </p:cTn>
                              </p:par>
                              <p:par>
                                <p:cTn id="19" presetID="16" presetClass="entr" presetSubtype="42" fill="hold" grpId="0" nodeType="withEffect">
                                  <p:stCondLst>
                                    <p:cond delay="0"/>
                                  </p:stCondLst>
                                  <p:childTnLst>
                                    <p:set>
                                      <p:cBhvr>
                                        <p:cTn id="20" dur="1" fill="hold">
                                          <p:stCondLst>
                                            <p:cond delay="0"/>
                                          </p:stCondLst>
                                        </p:cTn>
                                        <p:tgtEl>
                                          <p:spTgt spid="106499">
                                            <p:txEl>
                                              <p:pRg st="4" end="4"/>
                                            </p:txEl>
                                          </p:spTgt>
                                        </p:tgtEl>
                                        <p:attrNameLst>
                                          <p:attrName>style.visibility</p:attrName>
                                        </p:attrNameLst>
                                      </p:cBhvr>
                                      <p:to>
                                        <p:strVal val="visible"/>
                                      </p:to>
                                    </p:set>
                                    <p:animEffect transition="in" filter="barn(outHorizontal)">
                                      <p:cBhvr>
                                        <p:cTn id="21" dur="500"/>
                                        <p:tgtEl>
                                          <p:spTgt spid="106499">
                                            <p:txEl>
                                              <p:pRg st="4" end="4"/>
                                            </p:txEl>
                                          </p:spTgt>
                                        </p:tgtEl>
                                      </p:cBhvr>
                                    </p:animEffect>
                                  </p:childTnLst>
                                </p:cTn>
                              </p:par>
                              <p:par>
                                <p:cTn id="22" presetID="16" presetClass="entr" presetSubtype="42" fill="hold" grpId="0" nodeType="withEffect">
                                  <p:stCondLst>
                                    <p:cond delay="0"/>
                                  </p:stCondLst>
                                  <p:childTnLst>
                                    <p:set>
                                      <p:cBhvr>
                                        <p:cTn id="23" dur="1" fill="hold">
                                          <p:stCondLst>
                                            <p:cond delay="0"/>
                                          </p:stCondLst>
                                        </p:cTn>
                                        <p:tgtEl>
                                          <p:spTgt spid="106499">
                                            <p:txEl>
                                              <p:pRg st="5" end="5"/>
                                            </p:txEl>
                                          </p:spTgt>
                                        </p:tgtEl>
                                        <p:attrNameLst>
                                          <p:attrName>style.visibility</p:attrName>
                                        </p:attrNameLst>
                                      </p:cBhvr>
                                      <p:to>
                                        <p:strVal val="visible"/>
                                      </p:to>
                                    </p:set>
                                    <p:animEffect transition="in" filter="barn(outHorizontal)">
                                      <p:cBhvr>
                                        <p:cTn id="24" dur="500"/>
                                        <p:tgtEl>
                                          <p:spTgt spid="106499">
                                            <p:txEl>
                                              <p:pRg st="5" end="5"/>
                                            </p:txEl>
                                          </p:spTgt>
                                        </p:tgtEl>
                                      </p:cBhvr>
                                    </p:animEffect>
                                  </p:childTnLst>
                                </p:cTn>
                              </p:par>
                              <p:par>
                                <p:cTn id="25" presetID="16" presetClass="entr" presetSubtype="42" fill="hold" grpId="0" nodeType="withEffect">
                                  <p:stCondLst>
                                    <p:cond delay="0"/>
                                  </p:stCondLst>
                                  <p:childTnLst>
                                    <p:set>
                                      <p:cBhvr>
                                        <p:cTn id="26" dur="1" fill="hold">
                                          <p:stCondLst>
                                            <p:cond delay="0"/>
                                          </p:stCondLst>
                                        </p:cTn>
                                        <p:tgtEl>
                                          <p:spTgt spid="106499">
                                            <p:txEl>
                                              <p:pRg st="6" end="6"/>
                                            </p:txEl>
                                          </p:spTgt>
                                        </p:tgtEl>
                                        <p:attrNameLst>
                                          <p:attrName>style.visibility</p:attrName>
                                        </p:attrNameLst>
                                      </p:cBhvr>
                                      <p:to>
                                        <p:strVal val="visible"/>
                                      </p:to>
                                    </p:set>
                                    <p:animEffect transition="in" filter="barn(outHorizontal)">
                                      <p:cBhvr>
                                        <p:cTn id="27" dur="500"/>
                                        <p:tgtEl>
                                          <p:spTgt spid="106499">
                                            <p:txEl>
                                              <p:pRg st="6" end="6"/>
                                            </p:txEl>
                                          </p:spTgt>
                                        </p:tgtEl>
                                      </p:cBhvr>
                                    </p:animEffect>
                                  </p:childTnLst>
                                </p:cTn>
                              </p:par>
                              <p:par>
                                <p:cTn id="28" presetID="16" presetClass="entr" presetSubtype="42" fill="hold" grpId="0" nodeType="withEffect">
                                  <p:stCondLst>
                                    <p:cond delay="0"/>
                                  </p:stCondLst>
                                  <p:childTnLst>
                                    <p:set>
                                      <p:cBhvr>
                                        <p:cTn id="29" dur="1" fill="hold">
                                          <p:stCondLst>
                                            <p:cond delay="0"/>
                                          </p:stCondLst>
                                        </p:cTn>
                                        <p:tgtEl>
                                          <p:spTgt spid="106499">
                                            <p:txEl>
                                              <p:pRg st="7" end="7"/>
                                            </p:txEl>
                                          </p:spTgt>
                                        </p:tgtEl>
                                        <p:attrNameLst>
                                          <p:attrName>style.visibility</p:attrName>
                                        </p:attrNameLst>
                                      </p:cBhvr>
                                      <p:to>
                                        <p:strVal val="visible"/>
                                      </p:to>
                                    </p:set>
                                    <p:animEffect transition="in" filter="barn(outHorizontal)">
                                      <p:cBhvr>
                                        <p:cTn id="30" dur="500"/>
                                        <p:tgtEl>
                                          <p:spTgt spid="106499">
                                            <p:txEl>
                                              <p:pRg st="7" end="7"/>
                                            </p:txEl>
                                          </p:spTgt>
                                        </p:tgtEl>
                                      </p:cBhvr>
                                    </p:animEffect>
                                  </p:childTnLst>
                                </p:cTn>
                              </p:par>
                              <p:par>
                                <p:cTn id="31" presetID="16" presetClass="entr" presetSubtype="42" fill="hold" grpId="0" nodeType="withEffect">
                                  <p:stCondLst>
                                    <p:cond delay="0"/>
                                  </p:stCondLst>
                                  <p:childTnLst>
                                    <p:set>
                                      <p:cBhvr>
                                        <p:cTn id="32" dur="1" fill="hold">
                                          <p:stCondLst>
                                            <p:cond delay="0"/>
                                          </p:stCondLst>
                                        </p:cTn>
                                        <p:tgtEl>
                                          <p:spTgt spid="106499">
                                            <p:txEl>
                                              <p:pRg st="8" end="8"/>
                                            </p:txEl>
                                          </p:spTgt>
                                        </p:tgtEl>
                                        <p:attrNameLst>
                                          <p:attrName>style.visibility</p:attrName>
                                        </p:attrNameLst>
                                      </p:cBhvr>
                                      <p:to>
                                        <p:strVal val="visible"/>
                                      </p:to>
                                    </p:set>
                                    <p:animEffect transition="in" filter="barn(outHorizontal)">
                                      <p:cBhvr>
                                        <p:cTn id="33" dur="500"/>
                                        <p:tgtEl>
                                          <p:spTgt spid="106499">
                                            <p:txEl>
                                              <p:pRg st="8" end="8"/>
                                            </p:txEl>
                                          </p:spTgt>
                                        </p:tgtEl>
                                      </p:cBhvr>
                                    </p:animEffect>
                                  </p:childTnLst>
                                </p:cTn>
                              </p:par>
                              <p:par>
                                <p:cTn id="34" presetID="16" presetClass="entr" presetSubtype="42" fill="hold" grpId="0" nodeType="withEffect">
                                  <p:stCondLst>
                                    <p:cond delay="0"/>
                                  </p:stCondLst>
                                  <p:childTnLst>
                                    <p:set>
                                      <p:cBhvr>
                                        <p:cTn id="35" dur="1" fill="hold">
                                          <p:stCondLst>
                                            <p:cond delay="0"/>
                                          </p:stCondLst>
                                        </p:cTn>
                                        <p:tgtEl>
                                          <p:spTgt spid="106499">
                                            <p:txEl>
                                              <p:pRg st="9" end="9"/>
                                            </p:txEl>
                                          </p:spTgt>
                                        </p:tgtEl>
                                        <p:attrNameLst>
                                          <p:attrName>style.visibility</p:attrName>
                                        </p:attrNameLst>
                                      </p:cBhvr>
                                      <p:to>
                                        <p:strVal val="visible"/>
                                      </p:to>
                                    </p:set>
                                    <p:animEffect transition="in" filter="barn(outHorizontal)">
                                      <p:cBhvr>
                                        <p:cTn id="36" dur="500"/>
                                        <p:tgtEl>
                                          <p:spTgt spid="106499">
                                            <p:txEl>
                                              <p:pRg st="9" end="9"/>
                                            </p:txEl>
                                          </p:spTgt>
                                        </p:tgtEl>
                                      </p:cBhvr>
                                    </p:animEffect>
                                  </p:childTnLst>
                                </p:cTn>
                              </p:par>
                              <p:par>
                                <p:cTn id="37" presetID="16" presetClass="entr" presetSubtype="42" fill="hold" grpId="0" nodeType="withEffect">
                                  <p:stCondLst>
                                    <p:cond delay="0"/>
                                  </p:stCondLst>
                                  <p:childTnLst>
                                    <p:set>
                                      <p:cBhvr>
                                        <p:cTn id="38" dur="1" fill="hold">
                                          <p:stCondLst>
                                            <p:cond delay="0"/>
                                          </p:stCondLst>
                                        </p:cTn>
                                        <p:tgtEl>
                                          <p:spTgt spid="106499">
                                            <p:txEl>
                                              <p:pRg st="10" end="10"/>
                                            </p:txEl>
                                          </p:spTgt>
                                        </p:tgtEl>
                                        <p:attrNameLst>
                                          <p:attrName>style.visibility</p:attrName>
                                        </p:attrNameLst>
                                      </p:cBhvr>
                                      <p:to>
                                        <p:strVal val="visible"/>
                                      </p:to>
                                    </p:set>
                                    <p:animEffect transition="in" filter="barn(outHorizontal)">
                                      <p:cBhvr>
                                        <p:cTn id="39" dur="500"/>
                                        <p:tgtEl>
                                          <p:spTgt spid="10649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495300" y="1395730"/>
            <a:ext cx="9721850" cy="4429760"/>
          </a:xfrm>
        </p:spPr>
        <p:txBody>
          <a:bodyPr/>
          <a:lstStyle/>
          <a:p>
            <a:pPr algn="l" eaLnBrk="1" hangingPunct="1">
              <a:lnSpc>
                <a:spcPct val="150000"/>
              </a:lnSpc>
              <a:spcAft>
                <a:spcPts val="0"/>
              </a:spcAft>
              <a:buClr>
                <a:srgbClr val="000000"/>
              </a:buClr>
              <a:buSzTx/>
            </a:pPr>
            <a:r>
              <a:rPr lang="zh-CN" altLang="en-US" sz="2400" dirty="0"/>
              <a:t>数组的创建</a:t>
            </a:r>
          </a:p>
          <a:p>
            <a:pPr marL="742950" lvl="1" indent="-285750" eaLnBrk="1" hangingPunct="1">
              <a:lnSpc>
                <a:spcPct val="130000"/>
              </a:lnSpc>
              <a:spcBef>
                <a:spcPts val="20"/>
              </a:spcBef>
              <a:spcAft>
                <a:spcPts val="0"/>
              </a:spcAft>
              <a:buClr>
                <a:schemeClr val="accent1"/>
              </a:buClr>
              <a:buSzTx/>
            </a:pPr>
            <a:r>
              <a:rPr lang="zh-CN" altLang="en-US" sz="2000" dirty="0"/>
              <a:t>用</a:t>
            </a:r>
            <a:r>
              <a:rPr lang="en-US" altLang="zh-CN" sz="2000" dirty="0"/>
              <a:t>new</a:t>
            </a:r>
            <a:r>
              <a:rPr lang="zh-CN" altLang="en-US" sz="2000" dirty="0"/>
              <a:t>来创建数组</a:t>
            </a:r>
          </a:p>
          <a:p>
            <a:pPr marL="742950" lvl="1" indent="-285750" eaLnBrk="1" hangingPunct="1">
              <a:lnSpc>
                <a:spcPct val="130000"/>
              </a:lnSpc>
              <a:spcBef>
                <a:spcPts val="20"/>
              </a:spcBef>
              <a:spcAft>
                <a:spcPts val="0"/>
              </a:spcAft>
              <a:buClr>
                <a:schemeClr val="accent1"/>
              </a:buClr>
              <a:buSzTx/>
            </a:pPr>
            <a:r>
              <a:rPr lang="zh-CN" altLang="en-US" sz="2000" dirty="0"/>
              <a:t>为数组元素分配内存空间，并对数组元素进行初始化</a:t>
            </a:r>
          </a:p>
          <a:p>
            <a:pPr marL="742950" lvl="1" indent="-285750" eaLnBrk="1" hangingPunct="1">
              <a:lnSpc>
                <a:spcPct val="130000"/>
              </a:lnSpc>
              <a:spcBef>
                <a:spcPts val="20"/>
              </a:spcBef>
              <a:spcAft>
                <a:spcPts val="0"/>
              </a:spcAft>
              <a:buClr>
                <a:schemeClr val="accent1"/>
              </a:buClr>
              <a:buSzTx/>
            </a:pPr>
            <a:r>
              <a:rPr lang="zh-CN" altLang="en-US" sz="2000" dirty="0"/>
              <a:t>格式</a:t>
            </a:r>
            <a:r>
              <a:rPr lang="en-US" altLang="zh-CN" sz="2000" dirty="0"/>
              <a:t>: </a:t>
            </a:r>
            <a:r>
              <a:rPr lang="zh-CN" altLang="en-US" sz="2000" dirty="0"/>
              <a:t>数组名 </a:t>
            </a:r>
            <a:r>
              <a:rPr lang="en-US" altLang="zh-CN" sz="2000" dirty="0"/>
              <a:t>= new </a:t>
            </a:r>
            <a:r>
              <a:rPr lang="zh-CN" altLang="en-US" sz="2000" dirty="0"/>
              <a:t>类型</a:t>
            </a:r>
            <a:r>
              <a:rPr lang="en-US" altLang="zh-CN" sz="2000" dirty="0"/>
              <a:t>[</a:t>
            </a:r>
            <a:r>
              <a:rPr lang="zh-CN" altLang="en-US" sz="2000" dirty="0"/>
              <a:t>数组长度</a:t>
            </a:r>
            <a:r>
              <a:rPr lang="en-US" altLang="zh-CN" sz="2000" dirty="0"/>
              <a:t>]</a:t>
            </a:r>
          </a:p>
          <a:p>
            <a:pPr marL="742950" lvl="1" indent="-285750" eaLnBrk="1" hangingPunct="1">
              <a:lnSpc>
                <a:spcPct val="130000"/>
              </a:lnSpc>
              <a:spcBef>
                <a:spcPts val="20"/>
              </a:spcBef>
              <a:spcAft>
                <a:spcPts val="0"/>
              </a:spcAft>
              <a:buClr>
                <a:schemeClr val="accent1"/>
              </a:buClr>
              <a:buSzTx/>
            </a:pPr>
            <a:r>
              <a:rPr lang="zh-CN" altLang="en-US" sz="2000" dirty="0"/>
              <a:t>例</a:t>
            </a:r>
            <a:r>
              <a:rPr lang="en-US" altLang="zh-CN" sz="2000" dirty="0"/>
              <a:t>: a = new int[3];</a:t>
            </a:r>
          </a:p>
          <a:p>
            <a:pPr marL="742950" lvl="1" indent="-285750" eaLnBrk="1" hangingPunct="1">
              <a:lnSpc>
                <a:spcPct val="130000"/>
              </a:lnSpc>
              <a:spcBef>
                <a:spcPts val="20"/>
              </a:spcBef>
              <a:spcAft>
                <a:spcPts val="0"/>
              </a:spcAft>
              <a:buClr>
                <a:schemeClr val="accent1"/>
              </a:buClr>
              <a:buSzTx/>
            </a:pPr>
            <a:r>
              <a:rPr lang="zh-CN" altLang="en-US" sz="2000" dirty="0"/>
              <a:t>声明和创建的联用</a:t>
            </a:r>
            <a:r>
              <a:rPr lang="en-US" altLang="zh-CN" sz="2000" dirty="0"/>
              <a:t>: int[] a = new int[3];</a:t>
            </a:r>
          </a:p>
          <a:p>
            <a:pPr marL="742950" lvl="1" indent="-285750" eaLnBrk="1" hangingPunct="1">
              <a:lnSpc>
                <a:spcPct val="130000"/>
              </a:lnSpc>
              <a:spcBef>
                <a:spcPts val="20"/>
              </a:spcBef>
              <a:spcAft>
                <a:spcPts val="0"/>
              </a:spcAft>
              <a:buClr>
                <a:schemeClr val="accent1"/>
              </a:buClr>
              <a:buSzTx/>
            </a:pPr>
            <a:r>
              <a:rPr lang="zh-CN" altLang="en-US" sz="2000" dirty="0"/>
              <a:t>默认赋初值</a:t>
            </a:r>
          </a:p>
          <a:p>
            <a:pPr marL="1143000" lvl="2" indent="-228600" eaLnBrk="1" hangingPunct="1">
              <a:lnSpc>
                <a:spcPct val="130000"/>
              </a:lnSpc>
              <a:spcBef>
                <a:spcPts val="0"/>
              </a:spcBef>
              <a:spcAft>
                <a:spcPts val="0"/>
              </a:spcAft>
              <a:buClr>
                <a:schemeClr val="bg2"/>
              </a:buClr>
              <a:buSzTx/>
              <a:buFont typeface="Wingdings" panose="05000000000000000000" pitchFamily="2" charset="2"/>
              <a:buChar char="l"/>
            </a:pPr>
            <a:r>
              <a:rPr lang="zh-CN" altLang="en-US" sz="1800" dirty="0"/>
              <a:t>整型</a:t>
            </a:r>
            <a:r>
              <a:rPr lang="zh-CN" altLang="en-US" sz="1800" dirty="0">
                <a:sym typeface="Wingdings" panose="05000000000000000000" pitchFamily="2" charset="2"/>
              </a:rPr>
              <a:t>初值为</a:t>
            </a:r>
            <a:r>
              <a:rPr lang="en-US" altLang="zh-CN" sz="1800" dirty="0">
                <a:sym typeface="Wingdings" panose="05000000000000000000" pitchFamily="2" charset="2"/>
              </a:rPr>
              <a:t>0           int[] i = new int[3];</a:t>
            </a:r>
          </a:p>
          <a:p>
            <a:pPr marL="1143000" lvl="2" indent="-228600" eaLnBrk="1" hangingPunct="1">
              <a:lnSpc>
                <a:spcPct val="130000"/>
              </a:lnSpc>
              <a:buClr>
                <a:schemeClr val="bg2"/>
              </a:buClr>
              <a:buSzTx/>
              <a:buFont typeface="Wingdings" panose="05000000000000000000" pitchFamily="2" charset="2"/>
              <a:buChar char="l"/>
            </a:pPr>
            <a:r>
              <a:rPr lang="zh-CN" altLang="en-US" sz="1800" dirty="0">
                <a:sym typeface="Wingdings" panose="05000000000000000000" pitchFamily="2" charset="2"/>
              </a:rPr>
              <a:t>实型初值为</a:t>
            </a:r>
            <a:r>
              <a:rPr lang="en-US" altLang="zh-CN" sz="1800" dirty="0">
                <a:sym typeface="Wingdings" panose="05000000000000000000" pitchFamily="2" charset="2"/>
              </a:rPr>
              <a:t>0.0        float[] f = new float[3];</a:t>
            </a:r>
          </a:p>
          <a:p>
            <a:pPr marL="1143000" lvl="2" indent="-228600" eaLnBrk="1" hangingPunct="1">
              <a:lnSpc>
                <a:spcPct val="130000"/>
              </a:lnSpc>
              <a:buClr>
                <a:schemeClr val="bg2"/>
              </a:buClr>
              <a:buSzTx/>
              <a:buFont typeface="Wingdings" panose="05000000000000000000" pitchFamily="2" charset="2"/>
              <a:buChar char="l"/>
            </a:pPr>
            <a:r>
              <a:rPr lang="zh-CN" altLang="en-US" sz="1800" dirty="0">
                <a:sym typeface="Wingdings" panose="05000000000000000000" pitchFamily="2" charset="2"/>
              </a:rPr>
              <a:t>布尔型初值为</a:t>
            </a:r>
            <a:r>
              <a:rPr lang="en-US" altLang="zh-CN" sz="1800" dirty="0">
                <a:sym typeface="Wingdings" panose="05000000000000000000" pitchFamily="2" charset="2"/>
              </a:rPr>
              <a:t>false  boolean[] b = new boolean[3];</a:t>
            </a:r>
          </a:p>
          <a:p>
            <a:pPr marL="1143000" lvl="2" indent="-228600" eaLnBrk="1" hangingPunct="1">
              <a:lnSpc>
                <a:spcPct val="130000"/>
              </a:lnSpc>
              <a:buClr>
                <a:schemeClr val="bg2"/>
              </a:buClr>
              <a:buSzTx/>
              <a:buFont typeface="Wingdings" panose="05000000000000000000" pitchFamily="2" charset="2"/>
              <a:buChar char="l"/>
            </a:pPr>
            <a:r>
              <a:rPr lang="zh-CN" altLang="en-US" sz="1800" dirty="0">
                <a:sym typeface="Wingdings" panose="05000000000000000000" pitchFamily="2" charset="2"/>
              </a:rPr>
              <a:t>字符型初值为</a:t>
            </a:r>
            <a:r>
              <a:rPr lang="en-US" altLang="zh-CN" sz="1800" dirty="0">
                <a:sym typeface="Wingdings" panose="05000000000000000000" pitchFamily="2" charset="2"/>
              </a:rPr>
              <a:t>\u0000(</a:t>
            </a:r>
            <a:r>
              <a:rPr lang="zh-CN" altLang="en-US" sz="1800" dirty="0">
                <a:sym typeface="Wingdings" panose="05000000000000000000" pitchFamily="2" charset="2"/>
              </a:rPr>
              <a:t>不可见</a:t>
            </a:r>
            <a:r>
              <a:rPr lang="en-US" altLang="zh-CN" sz="1800" dirty="0">
                <a:sym typeface="Wingdings" panose="05000000000000000000" pitchFamily="2" charset="2"/>
              </a:rPr>
              <a:t>) char[] c = new char[3];</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一维数组</a:t>
            </a:r>
          </a:p>
        </p:txBody>
      </p:sp>
    </p:spTree>
    <p:custDataLst>
      <p:tags r:id="rId1"/>
    </p:custData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一维数组</a:t>
            </a:r>
          </a:p>
        </p:txBody>
      </p:sp>
      <p:sp>
        <p:nvSpPr>
          <p:cNvPr id="108547" name="Rectangle 3"/>
          <p:cNvSpPr>
            <a:spLocks noGrp="1"/>
          </p:cNvSpPr>
          <p:nvPr>
            <p:ph idx="1"/>
          </p:nvPr>
        </p:nvSpPr>
        <p:spPr/>
        <p:txBody>
          <a:bodyPr vert="horz" wrap="square" lIns="96011" tIns="48005" rIns="96011" bIns="48005" anchor="t">
            <a:normAutofit fontScale="95000"/>
          </a:bodyPr>
          <a:lstStyle/>
          <a:p>
            <a:pPr marL="609600" indent="-609600" eaLnBrk="1" hangingPunct="1">
              <a:lnSpc>
                <a:spcPct val="90000"/>
              </a:lnSpc>
              <a:spcAft>
                <a:spcPts val="0"/>
              </a:spcAft>
              <a:buSzPct val="90000"/>
              <a:buNone/>
            </a:pPr>
            <a:r>
              <a:rPr lang="en-US" altLang="zh-CN" sz="2100" dirty="0">
                <a:latin typeface="Tahoma" panose="020B0604030504040204" pitchFamily="34" charset="0"/>
              </a:rPr>
              <a:t>class Test {</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public static void main(String args[]) {</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int[] i = </a:t>
            </a:r>
            <a:r>
              <a:rPr lang="en-US" altLang="zh-CN" sz="2100" dirty="0">
                <a:solidFill>
                  <a:srgbClr val="FF0000"/>
                </a:solidFill>
                <a:latin typeface="Tahoma" panose="020B0604030504040204" pitchFamily="34" charset="0"/>
              </a:rPr>
              <a:t>new int[3]</a:t>
            </a:r>
            <a:r>
              <a:rPr lang="en-US" altLang="zh-CN" sz="2100" dirty="0">
                <a:latin typeface="Tahoma" panose="020B0604030504040204" pitchFamily="34" charset="0"/>
              </a:rPr>
              <a:t>;</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float[] f = new float[3];</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boolean[] b = new boolean[3];</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char[] c = new char[3];</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for (int j = 0; j &lt; i.length; j++)</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System.out.println(i[j]);</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for (int j = 0; j &lt; f.length; j++)</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System.out.println(f[j]);</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for (int j = 0; j &lt; b.length; j++)</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System.out.println(b[j]);</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for (int j = 0; j &lt; c.length; j++)</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System.out.println(c[j]);</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a:t>
            </a:r>
          </a:p>
          <a:p>
            <a:pPr marL="609600" indent="-609600" eaLnBrk="1" hangingPunct="1">
              <a:lnSpc>
                <a:spcPct val="90000"/>
              </a:lnSpc>
              <a:spcBef>
                <a:spcPts val="20"/>
              </a:spcBef>
              <a:buSzPct val="90000"/>
              <a:buNone/>
            </a:pPr>
            <a:r>
              <a:rPr lang="en-US" altLang="zh-CN" sz="2100" dirty="0">
                <a:latin typeface="Tahoma" panose="020B0604030504040204" pitchFamily="34" charset="0"/>
              </a:rPr>
              <a:t>}</a:t>
            </a:r>
          </a:p>
        </p:txBody>
      </p:sp>
      <p:sp>
        <p:nvSpPr>
          <p:cNvPr id="108548" name="Rectangle 4"/>
          <p:cNvSpPr/>
          <p:nvPr/>
        </p:nvSpPr>
        <p:spPr>
          <a:xfrm>
            <a:off x="7400925" y="1200150"/>
            <a:ext cx="2240280" cy="5440680"/>
          </a:xfrm>
          <a:prstGeom prst="rect">
            <a:avLst/>
          </a:prstGeom>
          <a:solidFill>
            <a:srgbClr val="C0C0C0"/>
          </a:solidFill>
          <a:ln w="9525">
            <a:noFill/>
          </a:ln>
        </p:spPr>
        <p:txBody>
          <a:bodyPr wrap="none" anchor="ctr"/>
          <a:lstStyle/>
          <a:p>
            <a:pPr eaLnBrk="1" hangingPunct="1">
              <a:spcAft>
                <a:spcPts val="0"/>
              </a:spcAft>
            </a:pPr>
            <a:r>
              <a:rPr lang="en-US" altLang="zh-CN" sz="2520" dirty="0">
                <a:latin typeface="Tahoma" panose="020B0604030504040204" pitchFamily="34" charset="0"/>
                <a:ea typeface="华文中宋" panose="02010600040101010101" pitchFamily="2" charset="-122"/>
              </a:rPr>
              <a:t>C:\&gt;Java Test</a:t>
            </a:r>
          </a:p>
          <a:p>
            <a:pPr eaLnBrk="1" hangingPunct="1">
              <a:spcBef>
                <a:spcPts val="0"/>
              </a:spcBef>
              <a:spcAft>
                <a:spcPts val="0"/>
              </a:spcAft>
            </a:pPr>
            <a:r>
              <a:rPr lang="en-US" altLang="zh-CN" sz="2520" dirty="0">
                <a:latin typeface="Tahoma" panose="020B0604030504040204" pitchFamily="34" charset="0"/>
                <a:ea typeface="华文中宋" panose="02010600040101010101" pitchFamily="2" charset="-122"/>
              </a:rPr>
              <a:t>0</a:t>
            </a:r>
          </a:p>
          <a:p>
            <a:pPr eaLnBrk="1" hangingPunct="1">
              <a:spcBef>
                <a:spcPts val="0"/>
              </a:spcBef>
              <a:spcAft>
                <a:spcPts val="0"/>
              </a:spcAft>
            </a:pPr>
            <a:r>
              <a:rPr lang="en-US" altLang="zh-CN" sz="2520" dirty="0">
                <a:latin typeface="Tahoma" panose="020B0604030504040204" pitchFamily="34" charset="0"/>
                <a:ea typeface="华文中宋" panose="02010600040101010101" pitchFamily="2" charset="-122"/>
              </a:rPr>
              <a:t>0</a:t>
            </a:r>
          </a:p>
          <a:p>
            <a:pPr eaLnBrk="1" hangingPunct="1">
              <a:spcBef>
                <a:spcPts val="0"/>
              </a:spcBef>
              <a:spcAft>
                <a:spcPts val="0"/>
              </a:spcAft>
            </a:pPr>
            <a:r>
              <a:rPr lang="en-US" altLang="zh-CN" sz="2520" dirty="0">
                <a:latin typeface="Tahoma" panose="020B0604030504040204" pitchFamily="34" charset="0"/>
                <a:ea typeface="华文中宋" panose="02010600040101010101" pitchFamily="2" charset="-122"/>
              </a:rPr>
              <a:t>0</a:t>
            </a:r>
          </a:p>
          <a:p>
            <a:pPr eaLnBrk="1" hangingPunct="1">
              <a:spcBef>
                <a:spcPts val="0"/>
              </a:spcBef>
              <a:spcAft>
                <a:spcPts val="0"/>
              </a:spcAft>
            </a:pPr>
            <a:r>
              <a:rPr lang="en-US" altLang="zh-CN" sz="2520" dirty="0">
                <a:latin typeface="Tahoma" panose="020B0604030504040204" pitchFamily="34" charset="0"/>
                <a:ea typeface="华文中宋" panose="02010600040101010101" pitchFamily="2" charset="-122"/>
              </a:rPr>
              <a:t>0.0</a:t>
            </a:r>
          </a:p>
          <a:p>
            <a:pPr eaLnBrk="1" hangingPunct="1">
              <a:spcBef>
                <a:spcPts val="0"/>
              </a:spcBef>
              <a:spcAft>
                <a:spcPts val="0"/>
              </a:spcAft>
            </a:pPr>
            <a:r>
              <a:rPr lang="en-US" altLang="zh-CN" sz="2520" dirty="0">
                <a:latin typeface="Tahoma" panose="020B0604030504040204" pitchFamily="34" charset="0"/>
                <a:ea typeface="华文中宋" panose="02010600040101010101" pitchFamily="2" charset="-122"/>
              </a:rPr>
              <a:t>0.0</a:t>
            </a:r>
          </a:p>
          <a:p>
            <a:pPr eaLnBrk="1" hangingPunct="1">
              <a:spcBef>
                <a:spcPts val="0"/>
              </a:spcBef>
              <a:spcAft>
                <a:spcPts val="0"/>
              </a:spcAft>
            </a:pPr>
            <a:r>
              <a:rPr lang="en-US" altLang="zh-CN" sz="2520" dirty="0">
                <a:latin typeface="Tahoma" panose="020B0604030504040204" pitchFamily="34" charset="0"/>
                <a:ea typeface="华文中宋" panose="02010600040101010101" pitchFamily="2" charset="-122"/>
              </a:rPr>
              <a:t>0.0</a:t>
            </a:r>
          </a:p>
          <a:p>
            <a:pPr eaLnBrk="1" hangingPunct="1">
              <a:spcBef>
                <a:spcPts val="0"/>
              </a:spcBef>
              <a:spcAft>
                <a:spcPts val="0"/>
              </a:spcAft>
            </a:pPr>
            <a:r>
              <a:rPr lang="en-US" altLang="zh-CN" sz="2520" dirty="0">
                <a:latin typeface="Tahoma" panose="020B0604030504040204" pitchFamily="34" charset="0"/>
                <a:ea typeface="华文中宋" panose="02010600040101010101" pitchFamily="2" charset="-122"/>
              </a:rPr>
              <a:t>false</a:t>
            </a:r>
          </a:p>
          <a:p>
            <a:pPr eaLnBrk="1" hangingPunct="1">
              <a:spcBef>
                <a:spcPts val="0"/>
              </a:spcBef>
              <a:spcAft>
                <a:spcPts val="0"/>
              </a:spcAft>
            </a:pPr>
            <a:r>
              <a:rPr lang="en-US" altLang="zh-CN" sz="2520" dirty="0">
                <a:latin typeface="Tahoma" panose="020B0604030504040204" pitchFamily="34" charset="0"/>
                <a:ea typeface="华文中宋" panose="02010600040101010101" pitchFamily="2" charset="-122"/>
              </a:rPr>
              <a:t>false</a:t>
            </a:r>
          </a:p>
          <a:p>
            <a:pPr eaLnBrk="1" hangingPunct="1">
              <a:spcBef>
                <a:spcPts val="0"/>
              </a:spcBef>
              <a:spcAft>
                <a:spcPts val="0"/>
              </a:spcAft>
            </a:pPr>
            <a:r>
              <a:rPr lang="en-US" altLang="zh-CN" sz="2520" dirty="0">
                <a:latin typeface="Tahoma" panose="020B0604030504040204" pitchFamily="34" charset="0"/>
                <a:ea typeface="华文中宋" panose="02010600040101010101" pitchFamily="2" charset="-122"/>
              </a:rPr>
              <a:t>false</a:t>
            </a:r>
          </a:p>
          <a:p>
            <a:pPr eaLnBrk="1" hangingPunct="1"/>
            <a:endParaRPr lang="en-US" altLang="zh-CN" sz="2520" dirty="0">
              <a:latin typeface="Tahoma" panose="020B0604030504040204" pitchFamily="34" charset="0"/>
              <a:ea typeface="华文中宋" panose="02010600040101010101" pitchFamily="2" charset="-122"/>
            </a:endParaRPr>
          </a:p>
          <a:p>
            <a:pPr eaLnBrk="1" hangingPunct="1"/>
            <a:endParaRPr lang="en-US" altLang="zh-CN" sz="2520" dirty="0">
              <a:latin typeface="Tahoma" panose="020B0604030504040204" pitchFamily="34" charset="0"/>
              <a:ea typeface="华文中宋" panose="02010600040101010101" pitchFamily="2" charset="-122"/>
            </a:endParaRPr>
          </a:p>
          <a:p>
            <a:pPr eaLnBrk="1" hangingPunct="1"/>
            <a:endParaRPr lang="en-US" altLang="zh-CN" sz="2520" dirty="0">
              <a:latin typeface="Tahoma" panose="020B0604030504040204" pitchFamily="34" charset="0"/>
              <a:ea typeface="华文中宋" panose="02010600040101010101" pitchFamily="2" charset="-122"/>
            </a:endParaRPr>
          </a:p>
          <a:p>
            <a:pPr eaLnBrk="1" hangingPunct="1">
              <a:spcBef>
                <a:spcPts val="0"/>
              </a:spcBef>
            </a:pPr>
            <a:r>
              <a:rPr lang="en-US" altLang="zh-CN" sz="2520" dirty="0">
                <a:latin typeface="Tahoma" panose="020B0604030504040204" pitchFamily="34" charset="0"/>
                <a:ea typeface="华文中宋" panose="02010600040101010101" pitchFamily="2" charset="-122"/>
              </a:rPr>
              <a:t>C:\</a:t>
            </a:r>
            <a:endParaRPr lang="en-US" altLang="zh-CN" sz="2100" dirty="0">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08548"/>
                                        </p:tgtEl>
                                        <p:attrNameLst>
                                          <p:attrName>style.visibility</p:attrName>
                                        </p:attrNameLst>
                                      </p:cBhvr>
                                      <p:to>
                                        <p:strVal val="visible"/>
                                      </p:to>
                                    </p:set>
                                    <p:animEffect transition="in" filter="barn(outHorizontal)">
                                      <p:cBhvr>
                                        <p:cTn id="7" dur="500"/>
                                        <p:tgtEl>
                                          <p:spTgt spid="108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8" grpId="0" bldLvl="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一维数组</a:t>
            </a:r>
          </a:p>
        </p:txBody>
      </p:sp>
      <p:sp>
        <p:nvSpPr>
          <p:cNvPr id="109571" name="Rectangle 3"/>
          <p:cNvSpPr>
            <a:spLocks noGrp="1"/>
          </p:cNvSpPr>
          <p:nvPr>
            <p:ph idx="1"/>
          </p:nvPr>
        </p:nvSpPr>
        <p:spPr/>
        <p:txBody>
          <a:bodyPr vert="horz" wrap="square" lIns="96011" tIns="48005" rIns="96011" bIns="48005" anchor="t">
            <a:normAutofit lnSpcReduction="20000"/>
          </a:bodyPr>
          <a:lstStyle/>
          <a:p>
            <a:pPr marL="609600" indent="-609600" eaLnBrk="1" hangingPunct="1">
              <a:lnSpc>
                <a:spcPct val="120000"/>
              </a:lnSpc>
              <a:spcAft>
                <a:spcPts val="0"/>
              </a:spcAft>
              <a:buSzPct val="90000"/>
            </a:pPr>
            <a:r>
              <a:rPr lang="zh-CN" altLang="en-US" sz="2940" dirty="0"/>
              <a:t>一维数组的初始化</a:t>
            </a:r>
          </a:p>
          <a:p>
            <a:pPr marL="990600" lvl="1" indent="-533400" eaLnBrk="1" hangingPunct="1">
              <a:lnSpc>
                <a:spcPct val="120000"/>
              </a:lnSpc>
              <a:spcBef>
                <a:spcPts val="20"/>
              </a:spcBef>
              <a:spcAft>
                <a:spcPts val="0"/>
              </a:spcAft>
              <a:buSzPct val="90000"/>
            </a:pPr>
            <a:r>
              <a:rPr lang="zh-CN" altLang="en-US" sz="2520" dirty="0"/>
              <a:t>为数组元素指定初始值</a:t>
            </a:r>
          </a:p>
          <a:p>
            <a:pPr marL="990600" lvl="1" indent="-533400" eaLnBrk="1" hangingPunct="1">
              <a:lnSpc>
                <a:spcPct val="120000"/>
              </a:lnSpc>
              <a:spcBef>
                <a:spcPts val="20"/>
              </a:spcBef>
              <a:spcAft>
                <a:spcPts val="0"/>
              </a:spcAft>
              <a:buSzPct val="90000"/>
            </a:pPr>
            <a:r>
              <a:rPr lang="zh-CN" altLang="en-US" sz="2520" dirty="0"/>
              <a:t>方式一</a:t>
            </a:r>
            <a:r>
              <a:rPr lang="en-US" altLang="zh-CN" sz="2520" dirty="0"/>
              <a:t>: </a:t>
            </a:r>
            <a:r>
              <a:rPr lang="zh-CN" altLang="en-US" sz="2520" dirty="0"/>
              <a:t>声明和创建数组后对数组初始化</a:t>
            </a:r>
          </a:p>
          <a:p>
            <a:pPr marL="1371600" lvl="2" indent="-457200" eaLnBrk="1" hangingPunct="1">
              <a:lnSpc>
                <a:spcPct val="120000"/>
              </a:lnSpc>
              <a:buSzPct val="90000"/>
              <a:buNone/>
            </a:pPr>
            <a:endParaRPr lang="en-US" altLang="zh-CN" dirty="0">
              <a:latin typeface="Tahoma" panose="020B0604030504040204" pitchFamily="34" charset="0"/>
            </a:endParaRPr>
          </a:p>
          <a:p>
            <a:pPr marL="1371600" lvl="2" indent="-457200" eaLnBrk="1" hangingPunct="1">
              <a:lnSpc>
                <a:spcPct val="120000"/>
              </a:lnSpc>
              <a:spcBef>
                <a:spcPts val="20"/>
              </a:spcBef>
              <a:spcAft>
                <a:spcPts val="0"/>
              </a:spcAft>
              <a:buSzPct val="90000"/>
              <a:buNone/>
            </a:pPr>
            <a:r>
              <a:rPr lang="en-US" altLang="zh-CN" dirty="0">
                <a:latin typeface="Tahoma" panose="020B0604030504040204" pitchFamily="34" charset="0"/>
              </a:rPr>
              <a:t>	public static void main(String args[]) {</a:t>
            </a:r>
          </a:p>
          <a:p>
            <a:pPr marL="1371600" lvl="2" indent="-457200" eaLnBrk="1" hangingPunct="1">
              <a:lnSpc>
                <a:spcPct val="120000"/>
              </a:lnSpc>
              <a:spcBef>
                <a:spcPts val="20"/>
              </a:spcBef>
              <a:spcAft>
                <a:spcPts val="0"/>
              </a:spcAft>
              <a:buSzPct val="90000"/>
              <a:buNone/>
            </a:pPr>
            <a:r>
              <a:rPr lang="en-US" altLang="zh-CN" dirty="0">
                <a:latin typeface="Tahoma" panose="020B0604030504040204" pitchFamily="34" charset="0"/>
              </a:rPr>
              <a:t>		int a[] = new int[5];</a:t>
            </a:r>
          </a:p>
          <a:p>
            <a:pPr marL="1371600" lvl="2" indent="-457200" eaLnBrk="1" hangingPunct="1">
              <a:lnSpc>
                <a:spcPct val="120000"/>
              </a:lnSpc>
              <a:spcBef>
                <a:spcPts val="20"/>
              </a:spcBef>
              <a:spcAft>
                <a:spcPts val="0"/>
              </a:spcAft>
              <a:buSzPct val="90000"/>
              <a:buNone/>
            </a:pPr>
            <a:r>
              <a:rPr lang="en-US" altLang="zh-CN" dirty="0">
                <a:latin typeface="Tahoma" panose="020B0604030504040204" pitchFamily="34" charset="0"/>
              </a:rPr>
              <a:t>		System.out.println("\t</a:t>
            </a:r>
            <a:r>
              <a:rPr lang="zh-CN" altLang="en-US" dirty="0">
                <a:latin typeface="Tahoma" panose="020B0604030504040204" pitchFamily="34" charset="0"/>
              </a:rPr>
              <a:t>输出一维数组</a:t>
            </a:r>
            <a:r>
              <a:rPr lang="en-US" altLang="zh-CN" dirty="0">
                <a:latin typeface="Tahoma" panose="020B0604030504040204" pitchFamily="34" charset="0"/>
              </a:rPr>
              <a:t>a: ");</a:t>
            </a:r>
          </a:p>
          <a:p>
            <a:pPr marL="1371600" lvl="2" indent="-457200" eaLnBrk="1" hangingPunct="1">
              <a:lnSpc>
                <a:spcPct val="120000"/>
              </a:lnSpc>
              <a:spcBef>
                <a:spcPts val="20"/>
              </a:spcBef>
              <a:spcAft>
                <a:spcPts val="0"/>
              </a:spcAft>
              <a:buSzPct val="90000"/>
              <a:buNone/>
            </a:pPr>
            <a:r>
              <a:rPr lang="en-US" altLang="x-none" dirty="0">
                <a:latin typeface="Tahoma" panose="020B0604030504040204" pitchFamily="34" charset="0"/>
              </a:rPr>
              <a:t>		</a:t>
            </a:r>
            <a:r>
              <a:rPr lang="en-US" altLang="zh-CN" dirty="0">
                <a:latin typeface="Tahoma" panose="020B0604030504040204" pitchFamily="34" charset="0"/>
              </a:rPr>
              <a:t>for (int i = 0; i &lt; 5; i++) {</a:t>
            </a:r>
          </a:p>
          <a:p>
            <a:pPr marL="1371600" lvl="2" indent="-457200" eaLnBrk="1" hangingPunct="1">
              <a:lnSpc>
                <a:spcPct val="120000"/>
              </a:lnSpc>
              <a:spcBef>
                <a:spcPts val="20"/>
              </a:spcBef>
              <a:spcAft>
                <a:spcPts val="0"/>
              </a:spcAft>
              <a:buSzPct val="90000"/>
              <a:buNone/>
            </a:pPr>
            <a:r>
              <a:rPr lang="en-US" altLang="x-none" dirty="0">
                <a:latin typeface="Tahoma" panose="020B0604030504040204" pitchFamily="34" charset="0"/>
              </a:rPr>
              <a:t>		    </a:t>
            </a:r>
            <a:r>
              <a:rPr lang="en-US" altLang="zh-CN" dirty="0">
                <a:latin typeface="Tahoma" panose="020B0604030504040204" pitchFamily="34" charset="0"/>
              </a:rPr>
              <a:t>a[i] = i +1;</a:t>
            </a:r>
          </a:p>
          <a:p>
            <a:pPr marL="1371600" lvl="2" indent="-457200" eaLnBrk="1" hangingPunct="1">
              <a:lnSpc>
                <a:spcPct val="120000"/>
              </a:lnSpc>
              <a:spcBef>
                <a:spcPts val="20"/>
              </a:spcBef>
              <a:spcAft>
                <a:spcPts val="0"/>
              </a:spcAft>
              <a:buSzPct val="90000"/>
              <a:buNone/>
            </a:pPr>
            <a:r>
              <a:rPr lang="en-US" altLang="x-none" dirty="0">
                <a:latin typeface="Tahoma" panose="020B0604030504040204" pitchFamily="34" charset="0"/>
              </a:rPr>
              <a:t>		    </a:t>
            </a:r>
            <a:r>
              <a:rPr lang="en-US" altLang="zh-CN" dirty="0">
                <a:latin typeface="Tahoma" panose="020B0604030504040204" pitchFamily="34" charset="0"/>
              </a:rPr>
              <a:t>System.out.println("\ta["+i+"]="+a[i]);</a:t>
            </a:r>
          </a:p>
          <a:p>
            <a:pPr marL="1371600" lvl="2" indent="-457200" eaLnBrk="1" hangingPunct="1">
              <a:lnSpc>
                <a:spcPct val="120000"/>
              </a:lnSpc>
              <a:spcBef>
                <a:spcPts val="20"/>
              </a:spcBef>
              <a:spcAft>
                <a:spcPts val="0"/>
              </a:spcAft>
              <a:buSzPct val="90000"/>
              <a:buNone/>
            </a:pPr>
            <a:r>
              <a:rPr lang="en-US" altLang="x-none" dirty="0">
                <a:latin typeface="Tahoma" panose="020B0604030504040204" pitchFamily="34" charset="0"/>
              </a:rPr>
              <a:t>	     </a:t>
            </a:r>
            <a:r>
              <a:rPr lang="en-US" altLang="zh-CN" dirty="0">
                <a:latin typeface="Tahoma" panose="020B0604030504040204" pitchFamily="34" charset="0"/>
              </a:rPr>
              <a:t>}</a:t>
            </a:r>
          </a:p>
          <a:p>
            <a:pPr marL="1371600" lvl="2" indent="-457200" eaLnBrk="1" hangingPunct="1">
              <a:lnSpc>
                <a:spcPct val="120000"/>
              </a:lnSpc>
              <a:spcBef>
                <a:spcPts val="20"/>
              </a:spcBef>
              <a:buSzPct val="90000"/>
              <a:buNone/>
            </a:pPr>
            <a:r>
              <a:rPr lang="en-US" altLang="x-none" dirty="0">
                <a:latin typeface="Tahoma" panose="020B0604030504040204" pitchFamily="34" charset="0"/>
              </a:rPr>
              <a:t>     </a:t>
            </a:r>
            <a:r>
              <a:rPr lang="en-US" altLang="zh-CN" dirty="0">
                <a:latin typeface="Tahoma" panose="020B0604030504040204" pitchFamily="34" charset="0"/>
              </a:rPr>
              <a:t>}</a:t>
            </a:r>
          </a:p>
          <a:p>
            <a:pPr marL="1371600" lvl="2" indent="-457200" eaLnBrk="1" hangingPunct="1">
              <a:lnSpc>
                <a:spcPct val="90000"/>
              </a:lnSpc>
              <a:buSzPct val="90000"/>
              <a:buNone/>
            </a:pPr>
            <a:endParaRPr lang="en-US" altLang="zh-CN" dirty="0">
              <a:latin typeface="Tahoma" panose="020B0604030504040204" pitchFamily="34" charset="0"/>
            </a:endParaRPr>
          </a:p>
        </p:txBody>
      </p:sp>
      <p:sp>
        <p:nvSpPr>
          <p:cNvPr id="109572" name="Rectangle 4"/>
          <p:cNvSpPr/>
          <p:nvPr/>
        </p:nvSpPr>
        <p:spPr>
          <a:xfrm>
            <a:off x="6660515" y="4320540"/>
            <a:ext cx="1680210" cy="480060"/>
          </a:xfrm>
          <a:prstGeom prst="rect">
            <a:avLst/>
          </a:prstGeom>
          <a:solidFill>
            <a:srgbClr val="C0C0C0"/>
          </a:solidFill>
          <a:ln w="9525">
            <a:noFill/>
          </a:ln>
        </p:spPr>
        <p:txBody>
          <a:bodyPr wrap="none" anchor="ctr"/>
          <a:lstStyle/>
          <a:p>
            <a:pPr algn="ctr" eaLnBrk="1" hangingPunct="1">
              <a:spcAft>
                <a:spcPts val="0"/>
              </a:spcAft>
            </a:pPr>
            <a:r>
              <a:rPr lang="en-US" altLang="zh-CN" sz="2520" dirty="0">
                <a:latin typeface="Tahoma" panose="020B0604030504040204" pitchFamily="34" charset="0"/>
              </a:rPr>
              <a:t>a.length</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09572"/>
                                        </p:tgtEl>
                                        <p:attrNameLst>
                                          <p:attrName>style.visibility</p:attrName>
                                        </p:attrNameLst>
                                      </p:cBhvr>
                                      <p:to>
                                        <p:strVal val="visible"/>
                                      </p:to>
                                    </p:set>
                                    <p:animEffect transition="in" filter="barn(outHorizontal)">
                                      <p:cBhvr>
                                        <p:cTn id="7" dur="500"/>
                                        <p:tgtEl>
                                          <p:spTgt spid="109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495300" y="1395730"/>
            <a:ext cx="9721850" cy="5038725"/>
          </a:xfrm>
        </p:spPr>
        <p:txBody>
          <a:bodyPr>
            <a:normAutofit fontScale="90000" lnSpcReduction="20000"/>
          </a:bodyPr>
          <a:lstStyle/>
          <a:p>
            <a:pPr algn="l" eaLnBrk="1" hangingPunct="1">
              <a:lnSpc>
                <a:spcPct val="150000"/>
              </a:lnSpc>
              <a:spcAft>
                <a:spcPts val="0"/>
              </a:spcAft>
              <a:buClr>
                <a:srgbClr val="000000"/>
              </a:buClr>
              <a:buSzTx/>
            </a:pPr>
            <a:r>
              <a:rPr lang="zh-CN" altLang="en-US" sz="3200" dirty="0"/>
              <a:t>一维数组的初始化</a:t>
            </a:r>
          </a:p>
          <a:p>
            <a:pPr marL="742950" lvl="1" indent="-285750" eaLnBrk="1" hangingPunct="1">
              <a:lnSpc>
                <a:spcPct val="150000"/>
              </a:lnSpc>
              <a:spcBef>
                <a:spcPts val="20"/>
              </a:spcBef>
              <a:spcAft>
                <a:spcPts val="0"/>
              </a:spcAft>
              <a:buClr>
                <a:schemeClr val="accent1"/>
              </a:buClr>
              <a:buSzTx/>
            </a:pPr>
            <a:r>
              <a:rPr lang="zh-CN" altLang="en-US" sz="3200" dirty="0"/>
              <a:t>方式二</a:t>
            </a:r>
            <a:r>
              <a:rPr lang="en-US" altLang="zh-CN" sz="3200" dirty="0"/>
              <a:t>: </a:t>
            </a:r>
            <a:r>
              <a:rPr lang="zh-CN" altLang="en-US" sz="3200" dirty="0"/>
              <a:t>在声明数组的同时对数组初始化</a:t>
            </a:r>
            <a:endParaRPr lang="zh-CN" altLang="en-US" dirty="0"/>
          </a:p>
          <a:p>
            <a:pPr marL="1143000" lvl="2" indent="-228600" eaLnBrk="1" hangingPunct="1">
              <a:lnSpc>
                <a:spcPct val="150000"/>
              </a:lnSpc>
              <a:spcBef>
                <a:spcPts val="20"/>
              </a:spcBef>
              <a:spcAft>
                <a:spcPts val="0"/>
              </a:spcAft>
              <a:buClr>
                <a:schemeClr val="bg2"/>
              </a:buClr>
              <a:buSzTx/>
              <a:buFont typeface="Wingdings" panose="05000000000000000000" pitchFamily="2" charset="2"/>
              <a:buChar char="l"/>
            </a:pPr>
            <a:r>
              <a:rPr lang="zh-CN" altLang="en-US" dirty="0"/>
              <a:t>格式</a:t>
            </a:r>
            <a:r>
              <a:rPr lang="en-US" altLang="zh-CN" dirty="0"/>
              <a:t>: </a:t>
            </a:r>
            <a:r>
              <a:rPr lang="zh-CN" altLang="en-US" dirty="0"/>
              <a:t>类型 数组名</a:t>
            </a:r>
            <a:r>
              <a:rPr lang="en-US" altLang="zh-CN" dirty="0"/>
              <a:t>[] = {</a:t>
            </a:r>
            <a:r>
              <a:rPr lang="zh-CN" altLang="en-US" dirty="0"/>
              <a:t>元素</a:t>
            </a:r>
            <a:r>
              <a:rPr lang="en-US" altLang="zh-CN" dirty="0"/>
              <a:t>1[, </a:t>
            </a:r>
            <a:r>
              <a:rPr lang="zh-CN" altLang="en-US" dirty="0"/>
              <a:t>元素</a:t>
            </a:r>
            <a:r>
              <a:rPr lang="en-US" altLang="zh-CN" dirty="0"/>
              <a:t>2 ……]};</a:t>
            </a:r>
          </a:p>
          <a:p>
            <a:pPr marL="1143000" lvl="2" indent="-228600" eaLnBrk="1" hangingPunct="1">
              <a:lnSpc>
                <a:spcPct val="150000"/>
              </a:lnSpc>
              <a:spcBef>
                <a:spcPts val="20"/>
              </a:spcBef>
              <a:spcAft>
                <a:spcPts val="0"/>
              </a:spcAft>
              <a:buClr>
                <a:schemeClr val="bg2"/>
              </a:buClr>
              <a:buSzTx/>
              <a:buFont typeface="Wingdings" panose="05000000000000000000" pitchFamily="2" charset="2"/>
              <a:buChar char="l"/>
            </a:pPr>
            <a:r>
              <a:rPr lang="en-US" altLang="zh-CN" dirty="0"/>
              <a:t>int a[] = {1, 2, 3, 4, 5};</a:t>
            </a:r>
          </a:p>
          <a:p>
            <a:pPr marL="1371600" lvl="2" indent="-457200" eaLnBrk="1" hangingPunct="1">
              <a:lnSpc>
                <a:spcPct val="150000"/>
              </a:lnSpc>
              <a:spcBef>
                <a:spcPts val="20"/>
              </a:spcBef>
              <a:spcAft>
                <a:spcPts val="0"/>
              </a:spcAft>
              <a:buSzPct val="90000"/>
              <a:buNone/>
            </a:pPr>
            <a:r>
              <a:rPr lang="en-US" altLang="x-none" dirty="0"/>
              <a:t>	</a:t>
            </a:r>
            <a:r>
              <a:rPr lang="en-US" altLang="zh-CN" dirty="0"/>
              <a:t>public static void main(String args[]) {</a:t>
            </a:r>
          </a:p>
          <a:p>
            <a:pPr marL="1371600" lvl="2" indent="-457200" eaLnBrk="1" hangingPunct="1">
              <a:lnSpc>
                <a:spcPct val="150000"/>
              </a:lnSpc>
              <a:spcBef>
                <a:spcPts val="20"/>
              </a:spcBef>
              <a:spcAft>
                <a:spcPts val="0"/>
              </a:spcAft>
              <a:buSzPct val="90000"/>
              <a:buNone/>
            </a:pPr>
            <a:r>
              <a:rPr lang="en-US" altLang="x-none" dirty="0"/>
              <a:t>		</a:t>
            </a:r>
            <a:r>
              <a:rPr lang="en-US" altLang="zh-CN" dirty="0"/>
              <a:t>int a[] = {1,2,3,4,5};</a:t>
            </a:r>
          </a:p>
          <a:p>
            <a:pPr marL="1371600" lvl="2" indent="-457200" eaLnBrk="1" hangingPunct="1">
              <a:lnSpc>
                <a:spcPct val="150000"/>
              </a:lnSpc>
              <a:spcBef>
                <a:spcPts val="20"/>
              </a:spcBef>
              <a:spcAft>
                <a:spcPts val="0"/>
              </a:spcAft>
              <a:buSzPct val="90000"/>
              <a:buNone/>
            </a:pPr>
            <a:r>
              <a:rPr lang="en-US" altLang="x-none" dirty="0"/>
              <a:t>		</a:t>
            </a:r>
            <a:r>
              <a:rPr lang="en-US" altLang="zh-CN" dirty="0"/>
              <a:t>System.out.println("\t</a:t>
            </a:r>
            <a:r>
              <a:rPr lang="zh-CN" altLang="en-US" dirty="0"/>
              <a:t>输出一维数组</a:t>
            </a:r>
            <a:r>
              <a:rPr lang="en-US" altLang="zh-CN" dirty="0"/>
              <a:t>a: ");</a:t>
            </a:r>
          </a:p>
          <a:p>
            <a:pPr marL="1371600" lvl="2" indent="-457200" eaLnBrk="1" hangingPunct="1">
              <a:lnSpc>
                <a:spcPct val="150000"/>
              </a:lnSpc>
              <a:spcBef>
                <a:spcPts val="20"/>
              </a:spcBef>
              <a:spcAft>
                <a:spcPts val="0"/>
              </a:spcAft>
              <a:buSzPct val="90000"/>
              <a:buNone/>
            </a:pPr>
            <a:r>
              <a:rPr lang="en-US" altLang="x-none" dirty="0"/>
              <a:t>		</a:t>
            </a:r>
            <a:r>
              <a:rPr lang="en-US" altLang="zh-CN" dirty="0"/>
              <a:t>for (int i = 0; i &lt; 5; i++) </a:t>
            </a:r>
          </a:p>
          <a:p>
            <a:pPr marL="1371600" lvl="2" indent="-457200" eaLnBrk="1" hangingPunct="1">
              <a:lnSpc>
                <a:spcPct val="150000"/>
              </a:lnSpc>
              <a:spcBef>
                <a:spcPts val="20"/>
              </a:spcBef>
              <a:spcAft>
                <a:spcPts val="0"/>
              </a:spcAft>
              <a:buSzPct val="90000"/>
              <a:buNone/>
            </a:pPr>
            <a:r>
              <a:rPr lang="en-US" altLang="x-none" dirty="0"/>
              <a:t>		    </a:t>
            </a:r>
            <a:r>
              <a:rPr lang="en-US" altLang="zh-CN" dirty="0"/>
              <a:t>System.out.println("\ta["+i+"]="+a[i]);</a:t>
            </a:r>
          </a:p>
          <a:p>
            <a:pPr marL="1371600" lvl="2" indent="-457200" eaLnBrk="1" hangingPunct="1">
              <a:lnSpc>
                <a:spcPct val="150000"/>
              </a:lnSpc>
              <a:spcBef>
                <a:spcPts val="20"/>
              </a:spcBef>
              <a:buSzPct val="90000"/>
              <a:buNone/>
            </a:pPr>
            <a:r>
              <a:rPr lang="en-US" altLang="x-none" dirty="0"/>
              <a:t>	</a:t>
            </a:r>
            <a:r>
              <a:rPr lang="en-US" altLang="zh-CN" dirty="0"/>
              <a:t>}</a:t>
            </a:r>
          </a:p>
          <a:p>
            <a:pPr marL="1371600" lvl="2" indent="-457200" eaLnBrk="1" hangingPunct="1">
              <a:lnSpc>
                <a:spcPct val="150000"/>
              </a:lnSpc>
              <a:buSzPct val="90000"/>
              <a:buNone/>
            </a:pPr>
            <a:endParaRPr lang="en-US" altLang="zh-CN" dirty="0"/>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一维数组</a:t>
            </a:r>
          </a:p>
        </p:txBody>
      </p:sp>
    </p:spTree>
    <p:custDataLst>
      <p:tags r:id="rId1"/>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一维数组</a:t>
            </a:r>
          </a:p>
        </p:txBody>
      </p:sp>
      <p:sp>
        <p:nvSpPr>
          <p:cNvPr id="111619" name="Rectangle 3"/>
          <p:cNvSpPr>
            <a:spLocks noGrp="1"/>
          </p:cNvSpPr>
          <p:nvPr>
            <p:ph idx="1"/>
          </p:nvPr>
        </p:nvSpPr>
        <p:spPr/>
        <p:txBody>
          <a:bodyPr vert="horz" wrap="square" lIns="96011" tIns="48005" rIns="96011" bIns="48005" anchor="t">
            <a:normAutofit fontScale="95000"/>
          </a:bodyPr>
          <a:lstStyle/>
          <a:p>
            <a:pPr marL="609600" indent="-609600" eaLnBrk="1" hangingPunct="1">
              <a:lnSpc>
                <a:spcPct val="90000"/>
              </a:lnSpc>
              <a:spcAft>
                <a:spcPts val="0"/>
              </a:spcAft>
              <a:buSzPct val="90000"/>
            </a:pPr>
            <a:r>
              <a:rPr lang="zh-CN" altLang="en-US" sz="2940" dirty="0"/>
              <a:t>数组整体赋值</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class Test {</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public static void main(String args[]) {</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int a[] = {2, 4, 6, 8};</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int b[];    int[] c = {1, 3, 5, 7};</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b = a;     c = a;</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for (int j = 0; j &lt; </a:t>
            </a:r>
            <a:r>
              <a:rPr lang="en-US" altLang="zh-CN" sz="2100" dirty="0">
                <a:solidFill>
                  <a:srgbClr val="FF0000"/>
                </a:solidFill>
                <a:latin typeface="Tahoma" panose="020B0604030504040204" pitchFamily="34" charset="0"/>
              </a:rPr>
              <a:t>a.length</a:t>
            </a:r>
            <a:r>
              <a:rPr lang="en-US" altLang="zh-CN" sz="2100" dirty="0">
                <a:latin typeface="Tahoma" panose="020B0604030504040204" pitchFamily="34" charset="0"/>
              </a:rPr>
              <a:t>; j++)</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System.out.print(a[j] + " ");</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System.out.println();</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for (int j = 0; j &lt; b.length; j++)</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System.out.print(b[j] + " ") ;</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System.out.println();</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for (int j = 0; j &lt; c.length; j++)</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System.out.print(c[j]);</a:t>
            </a:r>
          </a:p>
          <a:p>
            <a:pPr marL="609600" indent="-609600" eaLnBrk="1" hangingPunct="1">
              <a:lnSpc>
                <a:spcPct val="90000"/>
              </a:lnSpc>
              <a:spcBef>
                <a:spcPts val="20"/>
              </a:spcBef>
              <a:spcAft>
                <a:spcPts val="0"/>
              </a:spcAft>
              <a:buSzPct val="90000"/>
              <a:buNone/>
            </a:pPr>
            <a:r>
              <a:rPr lang="en-US" altLang="zh-CN" sz="2100" dirty="0">
                <a:latin typeface="Tahoma" panose="020B0604030504040204" pitchFamily="34" charset="0"/>
              </a:rPr>
              <a:t>	}</a:t>
            </a:r>
          </a:p>
          <a:p>
            <a:pPr marL="609600" indent="-609600" eaLnBrk="1" hangingPunct="1">
              <a:lnSpc>
                <a:spcPct val="90000"/>
              </a:lnSpc>
              <a:spcBef>
                <a:spcPts val="20"/>
              </a:spcBef>
              <a:buSzPct val="90000"/>
              <a:buNone/>
            </a:pPr>
            <a:r>
              <a:rPr lang="en-US" altLang="zh-CN" sz="2100" dirty="0">
                <a:latin typeface="Tahoma" panose="020B0604030504040204" pitchFamily="34" charset="0"/>
              </a:rPr>
              <a:t>}</a:t>
            </a:r>
          </a:p>
        </p:txBody>
      </p:sp>
      <p:sp>
        <p:nvSpPr>
          <p:cNvPr id="111620" name="Rectangle 4"/>
          <p:cNvSpPr/>
          <p:nvPr/>
        </p:nvSpPr>
        <p:spPr>
          <a:xfrm>
            <a:off x="7320915" y="2800350"/>
            <a:ext cx="2320290" cy="2080260"/>
          </a:xfrm>
          <a:prstGeom prst="rect">
            <a:avLst/>
          </a:prstGeom>
          <a:solidFill>
            <a:srgbClr val="C0C0C0"/>
          </a:solidFill>
          <a:ln w="9525">
            <a:noFill/>
          </a:ln>
        </p:spPr>
        <p:txBody>
          <a:bodyPr wrap="none" anchor="ctr"/>
          <a:lstStyle/>
          <a:p>
            <a:pPr eaLnBrk="1" hangingPunct="1">
              <a:spcAft>
                <a:spcPts val="0"/>
              </a:spcAft>
            </a:pPr>
            <a:r>
              <a:rPr lang="en-US" altLang="zh-CN" sz="2520" dirty="0">
                <a:latin typeface="Tahoma" panose="020B0604030504040204" pitchFamily="34" charset="0"/>
                <a:ea typeface="华文中宋" panose="02010600040101010101" pitchFamily="2" charset="-122"/>
              </a:rPr>
              <a:t>C:\&gt;Java Test</a:t>
            </a:r>
          </a:p>
          <a:p>
            <a:pPr eaLnBrk="1" hangingPunct="1">
              <a:spcBef>
                <a:spcPts val="0"/>
              </a:spcBef>
              <a:spcAft>
                <a:spcPts val="0"/>
              </a:spcAft>
            </a:pPr>
            <a:r>
              <a:rPr lang="en-US" altLang="zh-CN" sz="2520" dirty="0">
                <a:latin typeface="Tahoma" panose="020B0604030504040204" pitchFamily="34" charset="0"/>
                <a:ea typeface="华文中宋" panose="02010600040101010101" pitchFamily="2" charset="-122"/>
              </a:rPr>
              <a:t>2 4 6 8</a:t>
            </a:r>
          </a:p>
          <a:p>
            <a:pPr eaLnBrk="1" hangingPunct="1">
              <a:spcBef>
                <a:spcPts val="0"/>
              </a:spcBef>
              <a:spcAft>
                <a:spcPts val="0"/>
              </a:spcAft>
            </a:pPr>
            <a:r>
              <a:rPr lang="en-US" altLang="zh-CN" sz="2520" dirty="0">
                <a:latin typeface="Tahoma" panose="020B0604030504040204" pitchFamily="34" charset="0"/>
                <a:ea typeface="华文中宋" panose="02010600040101010101" pitchFamily="2" charset="-122"/>
              </a:rPr>
              <a:t>2 4 6 8</a:t>
            </a:r>
          </a:p>
          <a:p>
            <a:pPr eaLnBrk="1" hangingPunct="1">
              <a:spcBef>
                <a:spcPts val="0"/>
              </a:spcBef>
              <a:spcAft>
                <a:spcPts val="0"/>
              </a:spcAft>
            </a:pPr>
            <a:r>
              <a:rPr lang="en-US" altLang="zh-CN" sz="2520" dirty="0">
                <a:latin typeface="Tahoma" panose="020B0604030504040204" pitchFamily="34" charset="0"/>
                <a:ea typeface="华文中宋" panose="02010600040101010101" pitchFamily="2" charset="-122"/>
              </a:rPr>
              <a:t>2 4 6 8</a:t>
            </a:r>
          </a:p>
          <a:p>
            <a:pPr eaLnBrk="1" hangingPunct="1">
              <a:spcBef>
                <a:spcPts val="0"/>
              </a:spcBef>
            </a:pPr>
            <a:r>
              <a:rPr lang="en-US" altLang="zh-CN" sz="2520" dirty="0">
                <a:latin typeface="Tahoma" panose="020B0604030504040204" pitchFamily="34" charset="0"/>
                <a:ea typeface="华文中宋" panose="02010600040101010101" pitchFamily="2" charset="-122"/>
              </a:rPr>
              <a:t>C:\&gt;</a:t>
            </a:r>
          </a:p>
        </p:txBody>
      </p:sp>
      <p:sp>
        <p:nvSpPr>
          <p:cNvPr id="111621" name="Rectangle 5"/>
          <p:cNvSpPr/>
          <p:nvPr/>
        </p:nvSpPr>
        <p:spPr>
          <a:xfrm>
            <a:off x="5854065" y="60960"/>
            <a:ext cx="4640580" cy="960120"/>
          </a:xfrm>
          <a:prstGeom prst="rect">
            <a:avLst/>
          </a:prstGeom>
          <a:solidFill>
            <a:srgbClr val="C0C0C0"/>
          </a:solidFill>
          <a:ln w="9525">
            <a:noFill/>
          </a:ln>
        </p:spPr>
        <p:txBody>
          <a:bodyPr wrap="none" anchor="ctr"/>
          <a:lstStyle/>
          <a:p>
            <a:pPr marL="457200" indent="-457200" eaLnBrk="1" hangingPunct="1">
              <a:spcAft>
                <a:spcPts val="0"/>
              </a:spcAft>
            </a:pPr>
            <a:r>
              <a:rPr lang="en-US" altLang="zh-CN" sz="2520" dirty="0">
                <a:latin typeface="Tahoma" panose="020B0604030504040204" pitchFamily="34" charset="0"/>
                <a:ea typeface="华文中宋" panose="02010600040101010101" pitchFamily="2" charset="-122"/>
              </a:rPr>
              <a:t>int a[] = {2, 4, 6, 8, 0}; </a:t>
            </a:r>
          </a:p>
          <a:p>
            <a:pPr marL="457200" indent="-457200" eaLnBrk="1" hangingPunct="1">
              <a:spcBef>
                <a:spcPts val="0"/>
              </a:spcBef>
            </a:pPr>
            <a:r>
              <a:rPr lang="en-US" altLang="zh-CN" sz="2520" dirty="0">
                <a:latin typeface="Tahoma" panose="020B0604030504040204" pitchFamily="34" charset="0"/>
                <a:ea typeface="华文中宋" panose="02010600040101010101" pitchFamily="2" charset="-122"/>
              </a:rPr>
              <a:t>int b[];  int c[] = {1, 3, 5, 7};</a:t>
            </a:r>
          </a:p>
        </p:txBody>
      </p:sp>
      <p:sp>
        <p:nvSpPr>
          <p:cNvPr id="111622" name="Rectangle 6"/>
          <p:cNvSpPr/>
          <p:nvPr/>
        </p:nvSpPr>
        <p:spPr>
          <a:xfrm>
            <a:off x="5854065" y="1165860"/>
            <a:ext cx="4640580" cy="960120"/>
          </a:xfrm>
          <a:prstGeom prst="rect">
            <a:avLst/>
          </a:prstGeom>
          <a:solidFill>
            <a:srgbClr val="C0C0C0"/>
          </a:solidFill>
          <a:ln w="9525">
            <a:noFill/>
          </a:ln>
        </p:spPr>
        <p:txBody>
          <a:bodyPr wrap="none" anchor="ctr"/>
          <a:lstStyle/>
          <a:p>
            <a:pPr marL="457200" indent="-457200" eaLnBrk="1" hangingPunct="1">
              <a:spcAft>
                <a:spcPts val="0"/>
              </a:spcAft>
            </a:pPr>
            <a:r>
              <a:rPr lang="en-US" altLang="zh-CN" sz="2520" dirty="0">
                <a:latin typeface="Tahoma" panose="020B0604030504040204" pitchFamily="34" charset="0"/>
                <a:ea typeface="华文中宋" panose="02010600040101010101" pitchFamily="2" charset="-122"/>
              </a:rPr>
              <a:t>int a[] = {2, 4, 6, 8}; </a:t>
            </a:r>
          </a:p>
          <a:p>
            <a:pPr marL="457200" indent="-457200" eaLnBrk="1" hangingPunct="1">
              <a:spcBef>
                <a:spcPts val="0"/>
              </a:spcBef>
            </a:pPr>
            <a:r>
              <a:rPr lang="en-US" altLang="zh-CN" sz="2520" dirty="0">
                <a:latin typeface="Tahoma" panose="020B0604030504040204" pitchFamily="34" charset="0"/>
                <a:ea typeface="华文中宋" panose="02010600040101010101" pitchFamily="2" charset="-122"/>
              </a:rPr>
              <a:t>int b[];  int c[] = {1, 3, 5, 7, 9};</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11620"/>
                                        </p:tgtEl>
                                        <p:attrNameLst>
                                          <p:attrName>style.visibility</p:attrName>
                                        </p:attrNameLst>
                                      </p:cBhvr>
                                      <p:to>
                                        <p:strVal val="visible"/>
                                      </p:to>
                                    </p:set>
                                    <p:animEffect transition="in" filter="barn(outHorizontal)">
                                      <p:cBhvr>
                                        <p:cTn id="7" dur="500"/>
                                        <p:tgtEl>
                                          <p:spTgt spid="1116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11621"/>
                                        </p:tgtEl>
                                        <p:attrNameLst>
                                          <p:attrName>style.visibility</p:attrName>
                                        </p:attrNameLst>
                                      </p:cBhvr>
                                      <p:to>
                                        <p:strVal val="visible"/>
                                      </p:to>
                                    </p:set>
                                    <p:animEffect transition="in" filter="barn(outHorizontal)">
                                      <p:cBhvr>
                                        <p:cTn id="12" dur="500"/>
                                        <p:tgtEl>
                                          <p:spTgt spid="11162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11622"/>
                                        </p:tgtEl>
                                        <p:attrNameLst>
                                          <p:attrName>style.visibility</p:attrName>
                                        </p:attrNameLst>
                                      </p:cBhvr>
                                      <p:to>
                                        <p:strVal val="visible"/>
                                      </p:to>
                                    </p:set>
                                    <p:animEffect transition="in" filter="barn(outHorizontal)">
                                      <p:cBhvr>
                                        <p:cTn id="17" dur="500"/>
                                        <p:tgtEl>
                                          <p:spTgt spid="111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bldLvl="0" animBg="1"/>
      <p:bldP spid="111621" grpId="0" bldLvl="0" animBg="1"/>
      <p:bldP spid="111622" grpId="0" bldLvl="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一维数组</a:t>
            </a:r>
            <a:r>
              <a:rPr lang="en-US" altLang="zh-CN" dirty="0"/>
              <a:t>:</a:t>
            </a:r>
            <a:r>
              <a:rPr lang="zh-CN" altLang="en-US" dirty="0">
                <a:sym typeface="+mn-ea"/>
              </a:rPr>
              <a:t>数组引用的复用</a:t>
            </a:r>
            <a:r>
              <a:rPr lang="en-US" altLang="zh-CN" dirty="0">
                <a:latin typeface="Tahoma" panose="020B0604030504040204" pitchFamily="34" charset="0"/>
                <a:ea typeface="华文行楷" panose="02010800040101010101" pitchFamily="2" charset="-122"/>
                <a:sym typeface="+mn-ea"/>
              </a:rPr>
              <a:t>(reuse)</a:t>
            </a:r>
            <a:endParaRPr lang="zh-CN" altLang="en-US" dirty="0"/>
          </a:p>
        </p:txBody>
      </p:sp>
      <p:sp>
        <p:nvSpPr>
          <p:cNvPr id="112643" name="Rectangle 3"/>
          <p:cNvSpPr/>
          <p:nvPr/>
        </p:nvSpPr>
        <p:spPr>
          <a:xfrm>
            <a:off x="1080135" y="1280160"/>
            <a:ext cx="5479019" cy="400050"/>
          </a:xfrm>
          <a:prstGeom prst="rect">
            <a:avLst/>
          </a:prstGeom>
          <a:noFill/>
          <a:ln w="9525">
            <a:noFill/>
          </a:ln>
        </p:spPr>
        <p:txBody>
          <a:bodyPr/>
          <a:lstStyle/>
          <a:p>
            <a:pPr marL="609600" indent="-609600" eaLnBrk="1" hangingPunct="1">
              <a:lnSpc>
                <a:spcPct val="90000"/>
              </a:lnSpc>
              <a:spcBef>
                <a:spcPct val="20000"/>
              </a:spcBef>
              <a:buClr>
                <a:schemeClr val="folHlink"/>
              </a:buClr>
              <a:buSzPct val="90000"/>
              <a:buFont typeface="Wingdings" panose="05000000000000000000" pitchFamily="2" charset="2"/>
              <a:buChar char="n"/>
            </a:pPr>
            <a:endParaRPr lang="en-US" altLang="zh-CN" sz="2940" dirty="0">
              <a:latin typeface="Tahoma" panose="020B0604030504040204" pitchFamily="34" charset="0"/>
              <a:ea typeface="华文行楷" panose="02010800040101010101" pitchFamily="2" charset="-122"/>
            </a:endParaRPr>
          </a:p>
        </p:txBody>
      </p:sp>
      <p:sp>
        <p:nvSpPr>
          <p:cNvPr id="100" name="文本框 99"/>
          <p:cNvSpPr txBox="1"/>
          <p:nvPr/>
        </p:nvSpPr>
        <p:spPr>
          <a:xfrm>
            <a:off x="495300" y="1395730"/>
            <a:ext cx="8724900" cy="3415030"/>
          </a:xfrm>
          <a:prstGeom prst="rect">
            <a:avLst/>
          </a:prstGeom>
          <a:noFill/>
          <a:ln w="9525">
            <a:noFill/>
          </a:ln>
        </p:spPr>
        <p:txBody>
          <a:bodyPr wrap="square">
            <a:spAutoFit/>
          </a:bodyPr>
          <a:lstStyle/>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public</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static</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void</a:t>
            </a:r>
            <a:r>
              <a:rPr lang="en-US" sz="1800">
                <a:solidFill>
                  <a:srgbClr val="000000"/>
                </a:solidFill>
                <a:latin typeface="Consolas" panose="020B0609020204030204" charset="0"/>
                <a:ea typeface="宋体" panose="02010600030101010101" pitchFamily="2" charset="-122"/>
              </a:rPr>
              <a:t> main(String[] </a:t>
            </a:r>
            <a:r>
              <a:rPr lang="en-US" sz="1800">
                <a:solidFill>
                  <a:srgbClr val="6A3E3E"/>
                </a:solidFill>
                <a:latin typeface="Consolas" panose="020B0609020204030204" charset="0"/>
                <a:ea typeface="宋体" panose="02010600030101010101" pitchFamily="2" charset="-122"/>
              </a:rPr>
              <a:t>args</a:t>
            </a:r>
            <a:r>
              <a:rPr lang="en-US" sz="1800">
                <a:solidFill>
                  <a:srgbClr val="000000"/>
                </a:solidFill>
                <a:latin typeface="Consolas" panose="020B0609020204030204" charset="0"/>
                <a:ea typeface="宋体" panose="02010600030101010101" pitchFamily="2" charset="-122"/>
              </a:rPr>
              <a:t>) {</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int</a:t>
            </a: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array</a:t>
            </a:r>
            <a:r>
              <a:rPr lang="en-US" sz="1800">
                <a:solidFill>
                  <a:srgbClr val="000000"/>
                </a:solidFill>
                <a:latin typeface="Consolas" panose="020B0609020204030204" charset="0"/>
                <a:ea typeface="宋体" panose="02010600030101010101" pitchFamily="2" charset="-122"/>
              </a:rPr>
              <a:t> = { 32, 87, 3, 589, 12, 1076, 2000 };</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for</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int</a:t>
            </a: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 = 0; </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 &lt; </a:t>
            </a:r>
            <a:r>
              <a:rPr lang="en-US" sz="1800">
                <a:solidFill>
                  <a:srgbClr val="6A3E3E"/>
                </a:solidFill>
                <a:latin typeface="Consolas" panose="020B0609020204030204" charset="0"/>
                <a:ea typeface="宋体" panose="02010600030101010101" pitchFamily="2" charset="-122"/>
              </a:rPr>
              <a:t>array</a:t>
            </a:r>
            <a:r>
              <a:rPr lang="en-US" sz="1800">
                <a:solidFill>
                  <a:srgbClr val="000000"/>
                </a:solidFill>
                <a:latin typeface="Consolas" panose="020B0609020204030204" charset="0"/>
                <a:ea typeface="宋体" panose="02010600030101010101" pitchFamily="2" charset="-122"/>
              </a:rPr>
              <a:t>.</a:t>
            </a:r>
            <a:r>
              <a:rPr lang="en-US" sz="1800">
                <a:solidFill>
                  <a:srgbClr val="0000C0"/>
                </a:solidFill>
                <a:latin typeface="Consolas" panose="020B0609020204030204" charset="0"/>
                <a:ea typeface="宋体" panose="02010600030101010101" pitchFamily="2" charset="-122"/>
              </a:rPr>
              <a:t>length</a:t>
            </a: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System.</a:t>
            </a:r>
            <a:r>
              <a:rPr lang="en-US" sz="1800" b="1" i="1">
                <a:solidFill>
                  <a:srgbClr val="0000C0"/>
                </a:solidFill>
                <a:latin typeface="Consolas" panose="020B0609020204030204" charset="0"/>
                <a:ea typeface="宋体" panose="02010600030101010101" pitchFamily="2" charset="-122"/>
              </a:rPr>
              <a:t>out</a:t>
            </a:r>
            <a:r>
              <a:rPr lang="en-US" sz="1800">
                <a:solidFill>
                  <a:srgbClr val="000000"/>
                </a:solidFill>
                <a:latin typeface="Consolas" panose="020B0609020204030204" charset="0"/>
                <a:ea typeface="宋体" panose="02010600030101010101" pitchFamily="2" charset="-122"/>
              </a:rPr>
              <a:t>.print(</a:t>
            </a:r>
            <a:r>
              <a:rPr lang="en-US" sz="1800">
                <a:solidFill>
                  <a:srgbClr val="6A3E3E"/>
                </a:solidFill>
                <a:latin typeface="Consolas" panose="020B0609020204030204" charset="0"/>
                <a:ea typeface="宋体" panose="02010600030101010101" pitchFamily="2" charset="-122"/>
              </a:rPr>
              <a:t>array</a:t>
            </a:r>
            <a:r>
              <a:rPr lang="en-US" sz="1800">
                <a:solidFill>
                  <a:srgbClr val="000000"/>
                </a:solidFill>
                <a:latin typeface="Consolas" panose="020B0609020204030204" charset="0"/>
                <a:ea typeface="宋体" panose="02010600030101010101" pitchFamily="2" charset="-122"/>
              </a:rPr>
              <a:t>[</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 + </a:t>
            </a:r>
            <a:r>
              <a:rPr lang="en-US" sz="1800">
                <a:solidFill>
                  <a:srgbClr val="2A00FF"/>
                </a:solidFill>
                <a:latin typeface="Consolas" panose="020B0609020204030204" charset="0"/>
                <a:ea typeface="宋体" panose="02010600030101010101" pitchFamily="2" charset="-122"/>
              </a:rPr>
              <a:t>" "</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array</a:t>
            </a:r>
            <a:r>
              <a:rPr lang="en-US" sz="1800">
                <a:solidFill>
                  <a:srgbClr val="000000"/>
                </a:solidFill>
                <a:latin typeface="Consolas" panose="020B0609020204030204" charset="0"/>
                <a:ea typeface="宋体" panose="02010600030101010101" pitchFamily="2" charset="-122"/>
              </a:rPr>
              <a:t> = </a:t>
            </a:r>
            <a:r>
              <a:rPr lang="en-US" sz="1800" b="1">
                <a:solidFill>
                  <a:srgbClr val="7F0055"/>
                </a:solidFill>
                <a:latin typeface="Consolas" panose="020B0609020204030204" charset="0"/>
                <a:ea typeface="宋体" panose="02010600030101010101" pitchFamily="2" charset="-122"/>
              </a:rPr>
              <a:t>new</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int</a:t>
            </a:r>
            <a:r>
              <a:rPr lang="en-US" sz="1800">
                <a:solidFill>
                  <a:srgbClr val="000000"/>
                </a:solidFill>
                <a:latin typeface="Consolas" panose="020B0609020204030204" charset="0"/>
                <a:ea typeface="宋体" panose="02010600030101010101" pitchFamily="2" charset="-122"/>
              </a:rPr>
              <a:t>[4];</a:t>
            </a:r>
            <a:br>
              <a:rPr lang="en-US" sz="1800">
                <a:solidFill>
                  <a:srgbClr val="000000"/>
                </a:solidFill>
                <a:latin typeface="Consolas" panose="020B0609020204030204" charset="0"/>
                <a:ea typeface="宋体" panose="02010600030101010101" pitchFamily="2" charset="-122"/>
              </a:rPr>
            </a:br>
            <a:r>
              <a:rPr lang="en-US" sz="1800">
                <a:solidFill>
                  <a:srgbClr val="000000"/>
                </a:solidFill>
                <a:latin typeface="Consolas" panose="020B0609020204030204" charset="0"/>
                <a:ea typeface="宋体" panose="02010600030101010101" pitchFamily="2" charset="-122"/>
              </a:rPr>
              <a:t>                </a:t>
            </a:r>
            <a:r>
              <a:rPr lang="zh-CN" sz="1800">
                <a:solidFill>
                  <a:srgbClr val="3F7F5F"/>
                </a:solidFill>
                <a:sym typeface="+mn-ea"/>
              </a:rPr>
              <a:t>//长度变为4， 数组{ 32, 87,... 2000 }引用丢失，会被</a:t>
            </a:r>
            <a:r>
              <a:rPr lang="en-US" sz="1800" u="sng">
                <a:solidFill>
                  <a:srgbClr val="3F7F5F"/>
                </a:solidFill>
                <a:latin typeface="Consolas" panose="020B0609020204030204" charset="0"/>
                <a:sym typeface="+mn-ea"/>
              </a:rPr>
              <a:t>gc</a:t>
            </a:r>
            <a:r>
              <a:rPr lang="zh-CN" sz="1800">
                <a:solidFill>
                  <a:srgbClr val="3F7F5F"/>
                </a:solidFill>
                <a:sym typeface="+mn-ea"/>
              </a:rPr>
              <a:t>回收</a:t>
            </a:r>
            <a:endParaRPr lang="en-US" sz="1800">
              <a:solidFill>
                <a:srgbClr val="000000"/>
              </a:solidFill>
              <a:latin typeface="Consolas" panose="020B0609020204030204" charset="0"/>
              <a:ea typeface="宋体" panose="02010600030101010101" pitchFamily="2" charset="-122"/>
            </a:endParaRP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for</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int</a:t>
            </a: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 = 0; </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 &lt; </a:t>
            </a:r>
            <a:r>
              <a:rPr lang="en-US" sz="1800">
                <a:solidFill>
                  <a:srgbClr val="6A3E3E"/>
                </a:solidFill>
                <a:latin typeface="Consolas" panose="020B0609020204030204" charset="0"/>
                <a:ea typeface="宋体" panose="02010600030101010101" pitchFamily="2" charset="-122"/>
              </a:rPr>
              <a:t>array</a:t>
            </a:r>
            <a:r>
              <a:rPr lang="en-US" sz="1800">
                <a:solidFill>
                  <a:srgbClr val="000000"/>
                </a:solidFill>
                <a:latin typeface="Consolas" panose="020B0609020204030204" charset="0"/>
                <a:ea typeface="宋体" panose="02010600030101010101" pitchFamily="2" charset="-122"/>
              </a:rPr>
              <a:t>.</a:t>
            </a:r>
            <a:r>
              <a:rPr lang="en-US" sz="1800">
                <a:solidFill>
                  <a:srgbClr val="0000C0"/>
                </a:solidFill>
                <a:latin typeface="Consolas" panose="020B0609020204030204" charset="0"/>
                <a:ea typeface="宋体" panose="02010600030101010101" pitchFamily="2" charset="-122"/>
              </a:rPr>
              <a:t>length</a:t>
            </a: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array</a:t>
            </a:r>
            <a:r>
              <a:rPr lang="en-US" sz="1800">
                <a:solidFill>
                  <a:srgbClr val="000000"/>
                </a:solidFill>
                <a:latin typeface="Consolas" panose="020B0609020204030204" charset="0"/>
                <a:ea typeface="宋体" panose="02010600030101010101" pitchFamily="2" charset="-122"/>
              </a:rPr>
              <a:t>[</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 = </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 + 1;</a:t>
            </a:r>
          </a:p>
          <a:p>
            <a:pPr>
              <a:spcAft>
                <a:spcPts val="0"/>
              </a:spcAft>
            </a:pPr>
            <a:r>
              <a:rPr lang="en-US" sz="1800">
                <a:solidFill>
                  <a:srgbClr val="000000"/>
                </a:solidFill>
                <a:latin typeface="Consolas" panose="020B0609020204030204" charset="0"/>
                <a:ea typeface="宋体" panose="02010600030101010101" pitchFamily="2" charset="-122"/>
              </a:rPr>
              <a:t>		System.</a:t>
            </a:r>
            <a:r>
              <a:rPr lang="en-US" sz="1800" b="1" i="1">
                <a:solidFill>
                  <a:srgbClr val="0000C0"/>
                </a:solidFill>
                <a:latin typeface="Consolas" panose="020B0609020204030204" charset="0"/>
                <a:ea typeface="宋体" panose="02010600030101010101" pitchFamily="2" charset="-122"/>
              </a:rPr>
              <a:t>out</a:t>
            </a:r>
            <a:r>
              <a:rPr lang="en-US" sz="1800">
                <a:solidFill>
                  <a:srgbClr val="000000"/>
                </a:solidFill>
                <a:latin typeface="Consolas" panose="020B0609020204030204" charset="0"/>
                <a:ea typeface="宋体" panose="02010600030101010101" pitchFamily="2" charset="-122"/>
              </a:rPr>
              <a:t>.println();</a:t>
            </a:r>
          </a:p>
          <a:p>
            <a:pPr>
              <a:spcAft>
                <a:spcPts val="0"/>
              </a:spcAft>
            </a:pP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for</a:t>
            </a:r>
            <a:r>
              <a:rPr lang="en-US" sz="1800">
                <a:solidFill>
                  <a:srgbClr val="000000"/>
                </a:solidFill>
                <a:latin typeface="Consolas" panose="020B0609020204030204" charset="0"/>
                <a:ea typeface="宋体" panose="02010600030101010101" pitchFamily="2" charset="-122"/>
              </a:rPr>
              <a:t> (</a:t>
            </a:r>
            <a:r>
              <a:rPr lang="en-US" sz="1800" b="1">
                <a:solidFill>
                  <a:srgbClr val="7F0055"/>
                </a:solidFill>
                <a:latin typeface="Consolas" panose="020B0609020204030204" charset="0"/>
                <a:ea typeface="宋体" panose="02010600030101010101" pitchFamily="2" charset="-122"/>
              </a:rPr>
              <a:t>int</a:t>
            </a: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 = 0; </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 &lt; </a:t>
            </a:r>
            <a:r>
              <a:rPr lang="en-US" sz="1800">
                <a:solidFill>
                  <a:srgbClr val="6A3E3E"/>
                </a:solidFill>
                <a:latin typeface="Consolas" panose="020B0609020204030204" charset="0"/>
                <a:ea typeface="宋体" panose="02010600030101010101" pitchFamily="2" charset="-122"/>
              </a:rPr>
              <a:t>array</a:t>
            </a:r>
            <a:r>
              <a:rPr lang="en-US" sz="1800">
                <a:solidFill>
                  <a:srgbClr val="000000"/>
                </a:solidFill>
                <a:latin typeface="Consolas" panose="020B0609020204030204" charset="0"/>
                <a:ea typeface="宋体" panose="02010600030101010101" pitchFamily="2" charset="-122"/>
              </a:rPr>
              <a:t>.</a:t>
            </a:r>
            <a:r>
              <a:rPr lang="en-US" sz="1800">
                <a:solidFill>
                  <a:srgbClr val="0000C0"/>
                </a:solidFill>
                <a:latin typeface="Consolas" panose="020B0609020204030204" charset="0"/>
                <a:ea typeface="宋体" panose="02010600030101010101" pitchFamily="2" charset="-122"/>
              </a:rPr>
              <a:t>length</a:t>
            </a:r>
            <a:r>
              <a:rPr lang="en-US" sz="1800">
                <a:solidFill>
                  <a:srgbClr val="000000"/>
                </a:solidFill>
                <a:latin typeface="Consolas" panose="020B0609020204030204" charset="0"/>
                <a:ea typeface="宋体" panose="02010600030101010101" pitchFamily="2" charset="-122"/>
              </a:rPr>
              <a:t>; </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System.</a:t>
            </a:r>
            <a:r>
              <a:rPr lang="en-US" sz="1800" b="1" i="1">
                <a:solidFill>
                  <a:srgbClr val="0000C0"/>
                </a:solidFill>
                <a:latin typeface="Consolas" panose="020B0609020204030204" charset="0"/>
                <a:ea typeface="宋体" panose="02010600030101010101" pitchFamily="2" charset="-122"/>
              </a:rPr>
              <a:t>out</a:t>
            </a:r>
            <a:r>
              <a:rPr lang="en-US" sz="1800">
                <a:solidFill>
                  <a:srgbClr val="000000"/>
                </a:solidFill>
                <a:latin typeface="Consolas" panose="020B0609020204030204" charset="0"/>
                <a:ea typeface="宋体" panose="02010600030101010101" pitchFamily="2" charset="-122"/>
              </a:rPr>
              <a:t>.print(</a:t>
            </a:r>
            <a:r>
              <a:rPr lang="en-US" sz="1800">
                <a:solidFill>
                  <a:srgbClr val="6A3E3E"/>
                </a:solidFill>
                <a:latin typeface="Consolas" panose="020B0609020204030204" charset="0"/>
                <a:ea typeface="宋体" panose="02010600030101010101" pitchFamily="2" charset="-122"/>
              </a:rPr>
              <a:t>array</a:t>
            </a:r>
            <a:r>
              <a:rPr lang="en-US" sz="1800">
                <a:solidFill>
                  <a:srgbClr val="000000"/>
                </a:solidFill>
                <a:latin typeface="Consolas" panose="020B0609020204030204" charset="0"/>
                <a:ea typeface="宋体" panose="02010600030101010101" pitchFamily="2" charset="-122"/>
              </a:rPr>
              <a:t>[</a:t>
            </a:r>
            <a:r>
              <a:rPr lang="en-US" sz="1800">
                <a:solidFill>
                  <a:srgbClr val="6A3E3E"/>
                </a:solidFill>
                <a:latin typeface="Consolas" panose="020B0609020204030204" charset="0"/>
                <a:ea typeface="宋体" panose="02010600030101010101" pitchFamily="2" charset="-122"/>
              </a:rPr>
              <a:t>i</a:t>
            </a:r>
            <a:r>
              <a:rPr lang="en-US" sz="1800">
                <a:solidFill>
                  <a:srgbClr val="000000"/>
                </a:solidFill>
                <a:latin typeface="Consolas" panose="020B0609020204030204" charset="0"/>
                <a:ea typeface="宋体" panose="02010600030101010101" pitchFamily="2" charset="-122"/>
              </a:rPr>
              <a:t>] + </a:t>
            </a:r>
            <a:r>
              <a:rPr lang="en-US" sz="1800">
                <a:solidFill>
                  <a:srgbClr val="2A00FF"/>
                </a:solidFill>
                <a:latin typeface="Consolas" panose="020B0609020204030204" charset="0"/>
                <a:ea typeface="宋体" panose="02010600030101010101" pitchFamily="2" charset="-122"/>
              </a:rPr>
              <a:t>" "</a:t>
            </a:r>
            <a:r>
              <a:rPr lang="en-US" sz="1800">
                <a:solidFill>
                  <a:srgbClr val="000000"/>
                </a:solidFill>
                <a:latin typeface="Consolas" panose="020B0609020204030204" charset="0"/>
                <a:ea typeface="宋体" panose="02010600030101010101" pitchFamily="2" charset="-122"/>
              </a:rPr>
              <a:t>);</a:t>
            </a:r>
          </a:p>
          <a:p>
            <a:pPr>
              <a:spcAft>
                <a:spcPts val="0"/>
              </a:spcAft>
            </a:pPr>
            <a:r>
              <a:rPr lang="en-US" sz="1800">
                <a:solidFill>
                  <a:srgbClr val="000000"/>
                </a:solidFill>
                <a:latin typeface="Consolas" panose="020B0609020204030204" charset="0"/>
                <a:ea typeface="宋体" panose="02010600030101010101" pitchFamily="2" charset="-122"/>
              </a:rPr>
              <a:t>	}</a:t>
            </a:r>
            <a:endParaRPr lang="zh-CN" altLang="en-US" sz="1800"/>
          </a:p>
        </p:txBody>
      </p:sp>
      <p:sp>
        <p:nvSpPr>
          <p:cNvPr id="4" name="文本框 3"/>
          <p:cNvSpPr txBox="1"/>
          <p:nvPr/>
        </p:nvSpPr>
        <p:spPr>
          <a:xfrm>
            <a:off x="3587750" y="5045710"/>
            <a:ext cx="2540000" cy="398780"/>
          </a:xfrm>
          <a:prstGeom prst="rect">
            <a:avLst/>
          </a:prstGeom>
          <a:noFill/>
        </p:spPr>
        <p:txBody>
          <a:bodyPr wrap="square" rtlCol="0" anchor="t">
            <a:spAutoFit/>
          </a:bodyPr>
          <a:lstStyle/>
          <a:p>
            <a:pPr>
              <a:spcAft>
                <a:spcPts val="0"/>
              </a:spcAft>
            </a:pPr>
            <a:r>
              <a:rPr lang="zh-CN" altLang="en-US"/>
              <a:t>for (int i:array)</a:t>
            </a:r>
          </a:p>
        </p:txBody>
      </p:sp>
    </p:spTree>
    <p:custDataLst>
      <p:tags r:id="rId1"/>
    </p:custData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针对数组的</a:t>
            </a:r>
            <a:r>
              <a:rPr lang="en-US" altLang="zh-CN" dirty="0"/>
              <a:t>foreach</a:t>
            </a:r>
            <a:r>
              <a:rPr lang="zh-CN" altLang="en-US" dirty="0"/>
              <a:t>循环</a:t>
            </a:r>
            <a:r>
              <a:rPr lang="zh-CN" altLang="en-US" sz="1995" dirty="0"/>
              <a:t>（</a:t>
            </a:r>
            <a:r>
              <a:rPr lang="en-US" altLang="zh-CN" sz="1995" dirty="0"/>
              <a:t>jdk1.5</a:t>
            </a:r>
            <a:r>
              <a:rPr lang="zh-CN" altLang="en-US" sz="1995" dirty="0"/>
              <a:t>）</a:t>
            </a:r>
          </a:p>
        </p:txBody>
      </p:sp>
      <p:sp>
        <p:nvSpPr>
          <p:cNvPr id="113667" name="Rectangle 3"/>
          <p:cNvSpPr>
            <a:spLocks noGrp="1"/>
          </p:cNvSpPr>
          <p:nvPr>
            <p:ph idx="1"/>
          </p:nvPr>
        </p:nvSpPr>
        <p:spPr/>
        <p:txBody>
          <a:bodyPr vert="horz" wrap="square" lIns="96011" tIns="48005" rIns="96011" bIns="48005" anchor="t"/>
          <a:lstStyle/>
          <a:p>
            <a:pPr eaLnBrk="1" hangingPunct="1">
              <a:spcAft>
                <a:spcPts val="0"/>
              </a:spcAft>
            </a:pPr>
            <a:r>
              <a:rPr lang="en-US" altLang="zh-CN" dirty="0"/>
              <a:t>Foreach</a:t>
            </a:r>
            <a:r>
              <a:rPr lang="zh-CN" altLang="en-US" dirty="0"/>
              <a:t>循环，针对数组和集合，一般用于数组和集合的遍历。</a:t>
            </a:r>
          </a:p>
          <a:p>
            <a:pPr lvl="1" eaLnBrk="1" hangingPunct="1">
              <a:spcBef>
                <a:spcPts val="20"/>
              </a:spcBef>
              <a:spcAft>
                <a:spcPts val="0"/>
              </a:spcAft>
            </a:pPr>
            <a:r>
              <a:rPr lang="en-US" altLang="zh-CN" dirty="0"/>
              <a:t>for(type variableName :array|collection)</a:t>
            </a:r>
          </a:p>
          <a:p>
            <a:pPr lvl="1" eaLnBrk="1" hangingPunct="1">
              <a:spcBef>
                <a:spcPts val="20"/>
              </a:spcBef>
              <a:spcAft>
                <a:spcPts val="0"/>
              </a:spcAft>
            </a:pPr>
            <a:r>
              <a:rPr lang="en-US" altLang="zh-CN" dirty="0"/>
              <a:t>{</a:t>
            </a:r>
          </a:p>
          <a:p>
            <a:pPr lvl="1" eaLnBrk="1" hangingPunct="1">
              <a:spcBef>
                <a:spcPts val="20"/>
              </a:spcBef>
              <a:spcAft>
                <a:spcPts val="0"/>
              </a:spcAft>
            </a:pPr>
            <a:r>
              <a:rPr lang="en-US" altLang="zh-CN" dirty="0"/>
              <a:t>     //</a:t>
            </a:r>
            <a:r>
              <a:rPr lang="zh-CN" altLang="en-US" dirty="0"/>
              <a:t>自动迭代访问每个元素</a:t>
            </a:r>
          </a:p>
          <a:p>
            <a:pPr lvl="1" eaLnBrk="1" hangingPunct="1">
              <a:spcBef>
                <a:spcPts val="20"/>
              </a:spcBef>
            </a:pPr>
            <a:r>
              <a:rPr lang="en-US" altLang="zh-CN" dirty="0"/>
              <a:t>} </a:t>
            </a:r>
          </a:p>
        </p:txBody>
      </p:sp>
      <p:sp>
        <p:nvSpPr>
          <p:cNvPr id="113668" name="Rectangle 4"/>
          <p:cNvSpPr/>
          <p:nvPr/>
        </p:nvSpPr>
        <p:spPr>
          <a:xfrm>
            <a:off x="1491615" y="4832350"/>
            <a:ext cx="8401050" cy="1545590"/>
          </a:xfrm>
          <a:prstGeom prst="rect">
            <a:avLst/>
          </a:prstGeom>
          <a:solidFill>
            <a:srgbClr val="C0C0C0"/>
          </a:solidFill>
          <a:ln w="9525">
            <a:noFill/>
          </a:ln>
        </p:spPr>
        <p:txBody>
          <a:bodyPr wrap="none" anchor="ctr"/>
          <a:lstStyle/>
          <a:p>
            <a:pPr marL="457200" indent="-457200" eaLnBrk="1" hangingPunct="1">
              <a:lnSpc>
                <a:spcPct val="90000"/>
              </a:lnSpc>
              <a:spcBef>
                <a:spcPct val="20000"/>
              </a:spcBef>
              <a:buClr>
                <a:schemeClr val="folHlink"/>
              </a:buClr>
              <a:buSzPct val="60000"/>
              <a:buFont typeface="Wingdings" panose="05000000000000000000" pitchFamily="2" charset="2"/>
            </a:pPr>
            <a:endParaRPr lang="en-US" altLang="zh-CN" sz="2100" dirty="0">
              <a:latin typeface="Tahoma" panose="020B0604030504040204" pitchFamily="34" charset="0"/>
              <a:ea typeface="华文中宋" panose="02010600040101010101" pitchFamily="2" charset="-122"/>
            </a:endParaRPr>
          </a:p>
          <a:p>
            <a:pPr marL="457200" indent="-457200" eaLnBrk="1" hangingPunct="1">
              <a:lnSpc>
                <a:spcPct val="90000"/>
              </a:lnSpc>
              <a:spcBef>
                <a:spcPts val="20"/>
              </a:spcBef>
              <a:spcAft>
                <a:spcPts val="0"/>
              </a:spcAft>
              <a:buClr>
                <a:schemeClr val="folHlink"/>
              </a:buClr>
              <a:buSzPct val="6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int[] array = { 32, 87, 3, 589, 12, 1076, 2000, 8, 622, 127 };</a:t>
            </a:r>
          </a:p>
          <a:p>
            <a:pPr marL="457200" indent="-457200" eaLnBrk="1" hangingPunct="1">
              <a:lnSpc>
                <a:spcPct val="90000"/>
              </a:lnSpc>
              <a:spcBef>
                <a:spcPts val="20"/>
              </a:spcBef>
              <a:spcAft>
                <a:spcPts val="0"/>
              </a:spcAft>
              <a:buClr>
                <a:schemeClr val="folHlink"/>
              </a:buClr>
              <a:buSzPct val="6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for (int i:array) </a:t>
            </a:r>
          </a:p>
          <a:p>
            <a:pPr marL="457200" indent="-457200" eaLnBrk="1" hangingPunct="1">
              <a:lnSpc>
                <a:spcPct val="90000"/>
              </a:lnSpc>
              <a:spcBef>
                <a:spcPts val="20"/>
              </a:spcBef>
              <a:buClr>
                <a:schemeClr val="folHlink"/>
              </a:buClr>
              <a:buSzPct val="60000"/>
              <a:buFont typeface="Wingdings" panose="05000000000000000000" pitchFamily="2" charset="2"/>
            </a:pPr>
            <a:r>
              <a:rPr lang="en-US" altLang="zh-CN" sz="2100" dirty="0">
                <a:latin typeface="Tahoma" panose="020B0604030504040204" pitchFamily="34" charset="0"/>
                <a:ea typeface="华文中宋" panose="02010600040101010101" pitchFamily="2" charset="-122"/>
              </a:rPr>
              <a:t>            System.out.println(i + " ");</a:t>
            </a:r>
          </a:p>
          <a:p>
            <a:pPr marL="457200" indent="-457200" eaLnBrk="1" hangingPunct="1">
              <a:lnSpc>
                <a:spcPct val="90000"/>
              </a:lnSpc>
              <a:spcBef>
                <a:spcPct val="20000"/>
              </a:spcBef>
              <a:buClr>
                <a:schemeClr val="folHlink"/>
              </a:buClr>
              <a:buSzPct val="60000"/>
              <a:buFont typeface="Wingdings" panose="05000000000000000000" pitchFamily="2" charset="2"/>
            </a:pPr>
            <a:endParaRPr lang="en-US" altLang="zh-CN" sz="2100" dirty="0">
              <a:latin typeface="Tahoma" panose="020B0604030504040204" pitchFamily="34" charset="0"/>
              <a:ea typeface="华文中宋" panose="02010600040101010101" pitchFamily="2"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13668"/>
                                        </p:tgtEl>
                                        <p:attrNameLst>
                                          <p:attrName>style.visibility</p:attrName>
                                        </p:attrNameLst>
                                      </p:cBhvr>
                                      <p:to>
                                        <p:strVal val="visible"/>
                                      </p:to>
                                    </p:set>
                                    <p:animEffect transition="in" filter="barn(outHorizontal)">
                                      <p:cBhvr>
                                        <p:cTn id="7" dur="500"/>
                                        <p:tgtEl>
                                          <p:spTgt spid="11366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1136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 grpId="0" bldLvl="0" animBg="1"/>
      <p:bldP spid="113668" grpId="1" bldLvl="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多维数组</a:t>
            </a:r>
          </a:p>
        </p:txBody>
      </p:sp>
      <p:sp>
        <p:nvSpPr>
          <p:cNvPr id="114691" name="Rectangle 3"/>
          <p:cNvSpPr>
            <a:spLocks noGrp="1"/>
          </p:cNvSpPr>
          <p:nvPr>
            <p:ph idx="1"/>
          </p:nvPr>
        </p:nvSpPr>
        <p:spPr/>
        <p:txBody>
          <a:bodyPr vert="horz" wrap="square" lIns="96011" tIns="48005" rIns="96011" bIns="48005" anchor="t"/>
          <a:lstStyle/>
          <a:p>
            <a:pPr marL="609600" indent="-609600" eaLnBrk="1" hangingPunct="1">
              <a:spcAft>
                <a:spcPts val="0"/>
              </a:spcAft>
              <a:buSzPct val="90000"/>
            </a:pPr>
            <a:r>
              <a:rPr lang="zh-CN" altLang="en-US" dirty="0"/>
              <a:t>数组的数组</a:t>
            </a:r>
          </a:p>
          <a:p>
            <a:pPr marL="990600" lvl="1" indent="-533400" eaLnBrk="1" hangingPunct="1">
              <a:spcBef>
                <a:spcPts val="20"/>
              </a:spcBef>
              <a:spcAft>
                <a:spcPts val="0"/>
              </a:spcAft>
              <a:buSzPct val="90000"/>
            </a:pPr>
            <a:r>
              <a:rPr lang="en-US" altLang="zh-CN" dirty="0"/>
              <a:t>Arrays of Arrays</a:t>
            </a:r>
          </a:p>
          <a:p>
            <a:pPr marL="990600" lvl="1" indent="-533400" eaLnBrk="1" hangingPunct="1">
              <a:spcBef>
                <a:spcPts val="20"/>
              </a:spcBef>
              <a:spcAft>
                <a:spcPts val="0"/>
              </a:spcAft>
              <a:buSzPct val="90000"/>
            </a:pPr>
            <a:r>
              <a:rPr lang="zh-CN" altLang="en-US" dirty="0"/>
              <a:t>例</a:t>
            </a:r>
            <a:r>
              <a:rPr lang="en-US" altLang="zh-CN" dirty="0"/>
              <a:t>: </a:t>
            </a:r>
            <a:r>
              <a:rPr lang="zh-CN" altLang="en-US" dirty="0"/>
              <a:t>表格</a:t>
            </a:r>
            <a:r>
              <a:rPr lang="en-US" altLang="zh-CN" dirty="0"/>
              <a:t>(</a:t>
            </a:r>
            <a:r>
              <a:rPr lang="zh-CN" altLang="en-US" dirty="0"/>
              <a:t>行和列</a:t>
            </a:r>
            <a:r>
              <a:rPr lang="en-US" altLang="zh-CN" dirty="0"/>
              <a:t>)</a:t>
            </a:r>
          </a:p>
          <a:p>
            <a:pPr marL="990600" lvl="1" indent="-533400" eaLnBrk="1" hangingPunct="1">
              <a:buSzPct val="90000"/>
            </a:pPr>
            <a:endParaRPr lang="en-US" altLang="x-none" dirty="0"/>
          </a:p>
          <a:p>
            <a:pPr marL="990600" lvl="1" indent="-533400" eaLnBrk="1" hangingPunct="1">
              <a:buSzPct val="90000"/>
            </a:pPr>
            <a:endParaRPr lang="en-US" altLang="x-none" dirty="0"/>
          </a:p>
          <a:p>
            <a:pPr marL="990600" lvl="1" indent="-533400" eaLnBrk="1" hangingPunct="1">
              <a:buSzPct val="90000"/>
            </a:pPr>
            <a:endParaRPr lang="en-US" altLang="x-none" dirty="0"/>
          </a:p>
          <a:p>
            <a:pPr marL="990600" lvl="1" indent="-533400" eaLnBrk="1" hangingPunct="1">
              <a:buSzPct val="90000"/>
            </a:pPr>
            <a:endParaRPr lang="en-US" altLang="x-none" dirty="0"/>
          </a:p>
          <a:p>
            <a:pPr marL="990600" lvl="1" indent="-533400" eaLnBrk="1" hangingPunct="1">
              <a:buSzPct val="90000"/>
            </a:pPr>
            <a:endParaRPr lang="en-US" altLang="x-none" dirty="0"/>
          </a:p>
          <a:p>
            <a:pPr marL="609600" indent="-609600" eaLnBrk="1" hangingPunct="1">
              <a:spcBef>
                <a:spcPts val="20"/>
              </a:spcBef>
              <a:buSzPct val="90000"/>
            </a:pPr>
            <a:r>
              <a:rPr lang="zh-CN" altLang="en-US" dirty="0"/>
              <a:t>以二维数组为例</a:t>
            </a:r>
            <a:endParaRPr lang="zh-CN" altLang="en-US" sz="3780" dirty="0"/>
          </a:p>
        </p:txBody>
      </p:sp>
      <p:grpSp>
        <p:nvGrpSpPr>
          <p:cNvPr id="114692" name="Group 4"/>
          <p:cNvGrpSpPr/>
          <p:nvPr/>
        </p:nvGrpSpPr>
        <p:grpSpPr>
          <a:xfrm>
            <a:off x="2085335" y="3055559"/>
            <a:ext cx="7040880" cy="2240280"/>
            <a:chOff x="0" y="0"/>
            <a:chExt cx="4224" cy="1344"/>
          </a:xfrm>
        </p:grpSpPr>
        <p:sp>
          <p:nvSpPr>
            <p:cNvPr id="114693" name="Rectangle 5"/>
            <p:cNvSpPr/>
            <p:nvPr/>
          </p:nvSpPr>
          <p:spPr>
            <a:xfrm>
              <a:off x="1056" y="0"/>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zh-CN" altLang="en-US" sz="2940" dirty="0"/>
                <a:t>期中考试</a:t>
              </a:r>
            </a:p>
          </p:txBody>
        </p:sp>
        <p:sp>
          <p:nvSpPr>
            <p:cNvPr id="114694" name="Rectangle 6"/>
            <p:cNvSpPr/>
            <p:nvPr/>
          </p:nvSpPr>
          <p:spPr>
            <a:xfrm>
              <a:off x="2112" y="0"/>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zh-CN" altLang="en-US" sz="2940" dirty="0"/>
                <a:t>期末考试</a:t>
              </a:r>
            </a:p>
          </p:txBody>
        </p:sp>
        <p:sp>
          <p:nvSpPr>
            <p:cNvPr id="114695" name="Rectangle 7"/>
            <p:cNvSpPr/>
            <p:nvPr/>
          </p:nvSpPr>
          <p:spPr>
            <a:xfrm>
              <a:off x="0" y="0"/>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zh-CN" altLang="en-US" sz="2940" dirty="0"/>
                <a:t>姓 名</a:t>
              </a:r>
            </a:p>
          </p:txBody>
        </p:sp>
        <p:sp>
          <p:nvSpPr>
            <p:cNvPr id="114696" name="Rectangle 8"/>
            <p:cNvSpPr/>
            <p:nvPr/>
          </p:nvSpPr>
          <p:spPr>
            <a:xfrm>
              <a:off x="3168" y="0"/>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zh-CN" altLang="en-US" sz="2940" dirty="0"/>
                <a:t>总 分</a:t>
              </a:r>
            </a:p>
          </p:txBody>
        </p:sp>
        <p:sp>
          <p:nvSpPr>
            <p:cNvPr id="114697" name="Rectangle 9"/>
            <p:cNvSpPr/>
            <p:nvPr/>
          </p:nvSpPr>
          <p:spPr>
            <a:xfrm>
              <a:off x="1056" y="336"/>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en-US" altLang="zh-CN" sz="2940" dirty="0"/>
                <a:t>68</a:t>
              </a:r>
            </a:p>
          </p:txBody>
        </p:sp>
        <p:sp>
          <p:nvSpPr>
            <p:cNvPr id="114698" name="Rectangle 10"/>
            <p:cNvSpPr/>
            <p:nvPr/>
          </p:nvSpPr>
          <p:spPr>
            <a:xfrm>
              <a:off x="2112" y="336"/>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en-US" altLang="zh-CN" sz="2940" dirty="0"/>
                <a:t>70</a:t>
              </a:r>
            </a:p>
          </p:txBody>
        </p:sp>
        <p:sp>
          <p:nvSpPr>
            <p:cNvPr id="114699" name="Rectangle 11"/>
            <p:cNvSpPr/>
            <p:nvPr/>
          </p:nvSpPr>
          <p:spPr>
            <a:xfrm>
              <a:off x="0" y="336"/>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zh-CN" altLang="en-US" sz="2940" dirty="0"/>
                <a:t>学生</a:t>
              </a:r>
              <a:r>
                <a:rPr lang="en-US" altLang="zh-CN" sz="2940" dirty="0"/>
                <a:t>A</a:t>
              </a:r>
            </a:p>
          </p:txBody>
        </p:sp>
        <p:sp>
          <p:nvSpPr>
            <p:cNvPr id="114700" name="Rectangle 12"/>
            <p:cNvSpPr/>
            <p:nvPr/>
          </p:nvSpPr>
          <p:spPr>
            <a:xfrm>
              <a:off x="3168" y="336"/>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en-US" altLang="zh-CN" sz="2940" dirty="0"/>
                <a:t>69</a:t>
              </a:r>
            </a:p>
          </p:txBody>
        </p:sp>
        <p:sp>
          <p:nvSpPr>
            <p:cNvPr id="114701" name="Rectangle 13"/>
            <p:cNvSpPr/>
            <p:nvPr/>
          </p:nvSpPr>
          <p:spPr>
            <a:xfrm>
              <a:off x="1056" y="672"/>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en-US" altLang="zh-CN" sz="2940" dirty="0"/>
                <a:t>80</a:t>
              </a:r>
            </a:p>
          </p:txBody>
        </p:sp>
        <p:sp>
          <p:nvSpPr>
            <p:cNvPr id="114702" name="Rectangle 14"/>
            <p:cNvSpPr/>
            <p:nvPr/>
          </p:nvSpPr>
          <p:spPr>
            <a:xfrm>
              <a:off x="2112" y="672"/>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en-US" altLang="zh-CN" sz="2940" dirty="0"/>
                <a:t>85</a:t>
              </a:r>
            </a:p>
          </p:txBody>
        </p:sp>
        <p:sp>
          <p:nvSpPr>
            <p:cNvPr id="114703" name="Rectangle 15"/>
            <p:cNvSpPr/>
            <p:nvPr/>
          </p:nvSpPr>
          <p:spPr>
            <a:xfrm>
              <a:off x="0" y="672"/>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zh-CN" altLang="en-US" sz="2940" dirty="0"/>
                <a:t>学生</a:t>
              </a:r>
              <a:r>
                <a:rPr lang="en-US" altLang="zh-CN" sz="2940" dirty="0"/>
                <a:t>B</a:t>
              </a:r>
            </a:p>
          </p:txBody>
        </p:sp>
        <p:sp>
          <p:nvSpPr>
            <p:cNvPr id="114704" name="Rectangle 16"/>
            <p:cNvSpPr/>
            <p:nvPr/>
          </p:nvSpPr>
          <p:spPr>
            <a:xfrm>
              <a:off x="3168" y="672"/>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en-US" altLang="zh-CN" sz="2940" dirty="0"/>
                <a:t>84</a:t>
              </a:r>
            </a:p>
          </p:txBody>
        </p:sp>
        <p:sp>
          <p:nvSpPr>
            <p:cNvPr id="114705" name="Rectangle 17"/>
            <p:cNvSpPr/>
            <p:nvPr/>
          </p:nvSpPr>
          <p:spPr>
            <a:xfrm>
              <a:off x="1056" y="1008"/>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en-US" altLang="zh-CN" sz="2940" dirty="0"/>
                <a:t>75</a:t>
              </a:r>
            </a:p>
          </p:txBody>
        </p:sp>
        <p:sp>
          <p:nvSpPr>
            <p:cNvPr id="114706" name="Rectangle 18"/>
            <p:cNvSpPr/>
            <p:nvPr/>
          </p:nvSpPr>
          <p:spPr>
            <a:xfrm>
              <a:off x="2112" y="1008"/>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en-US" altLang="zh-CN" sz="2940" dirty="0"/>
                <a:t>90</a:t>
              </a:r>
            </a:p>
          </p:txBody>
        </p:sp>
        <p:sp>
          <p:nvSpPr>
            <p:cNvPr id="114707" name="Rectangle 19"/>
            <p:cNvSpPr/>
            <p:nvPr/>
          </p:nvSpPr>
          <p:spPr>
            <a:xfrm>
              <a:off x="0" y="1008"/>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zh-CN" altLang="en-US" sz="2940" dirty="0"/>
                <a:t>学生</a:t>
              </a:r>
              <a:r>
                <a:rPr lang="en-US" altLang="zh-CN" sz="2940" dirty="0"/>
                <a:t>C</a:t>
              </a:r>
            </a:p>
          </p:txBody>
        </p:sp>
        <p:sp>
          <p:nvSpPr>
            <p:cNvPr id="114708" name="Rectangle 20"/>
            <p:cNvSpPr/>
            <p:nvPr/>
          </p:nvSpPr>
          <p:spPr>
            <a:xfrm>
              <a:off x="3168" y="1008"/>
              <a:ext cx="1056" cy="336"/>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panose="05000000000000000000" pitchFamily="2" charset="2"/>
                <a:buChar char="l"/>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l"/>
                <a:defRPr sz="2400" kern="1200">
                  <a:solidFill>
                    <a:schemeClr val="tx1"/>
                  </a:solidFill>
                  <a:latin typeface="+mn-lt"/>
                  <a:ea typeface="+mn-ea"/>
                  <a:cs typeface="+mn-cs"/>
                </a:defRPr>
              </a:lvl3pPr>
              <a:lvl4pPr marL="1600200" indent="-228600" algn="l" rtl="0" fontAlgn="base">
                <a:spcBef>
                  <a:spcPct val="20000"/>
                </a:spcBef>
                <a:spcAft>
                  <a:spcPct val="0"/>
                </a:spcAft>
                <a:buClr>
                  <a:schemeClr val="hlink"/>
                </a:buClr>
                <a:buSzPct val="60000"/>
                <a:buFont typeface="Wingdings" panose="05000000000000000000" pitchFamily="2" charset="2"/>
                <a:buChar char="l"/>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SzPct val="40000"/>
                <a:buFont typeface="Wingdings" panose="05000000000000000000" pitchFamily="2" charset="2"/>
                <a:buChar char="l"/>
                <a:defRPr sz="2000" kern="1200">
                  <a:solidFill>
                    <a:schemeClr val="tx1"/>
                  </a:solidFill>
                  <a:latin typeface="+mn-lt"/>
                  <a:ea typeface="+mn-ea"/>
                  <a:cs typeface="+mn-cs"/>
                </a:defRPr>
              </a:lvl5pPr>
            </a:lstStyle>
            <a:p>
              <a:pPr marL="0" lvl="0" indent="0" algn="ctr" eaLnBrk="1" hangingPunct="1">
                <a:spcBef>
                  <a:spcPct val="0"/>
                </a:spcBef>
                <a:buNone/>
              </a:pPr>
              <a:r>
                <a:rPr lang="en-US" altLang="zh-CN" sz="2940" dirty="0"/>
                <a:t>86</a:t>
              </a:r>
            </a:p>
          </p:txBody>
        </p:sp>
      </p:grpSp>
    </p:spTree>
    <p:custDataLst>
      <p:tags r:id="rId1"/>
    </p:custData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7500" lnSpcReduction="10000"/>
          </a:bodyPr>
          <a:lstStyle/>
          <a:p>
            <a:pPr algn="l" eaLnBrk="1" hangingPunct="1">
              <a:lnSpc>
                <a:spcPct val="150000"/>
              </a:lnSpc>
              <a:spcAft>
                <a:spcPts val="0"/>
              </a:spcAft>
              <a:buClr>
                <a:srgbClr val="000000"/>
              </a:buClr>
              <a:buSzTx/>
              <a:buChar char="•"/>
            </a:pPr>
            <a:r>
              <a:rPr lang="zh-CN" altLang="en-US" dirty="0"/>
              <a:t>二维数组的声明</a:t>
            </a:r>
          </a:p>
          <a:p>
            <a:pPr marL="800100" lvl="1" indent="-342900" eaLnBrk="1" hangingPunct="1">
              <a:lnSpc>
                <a:spcPct val="150000"/>
              </a:lnSpc>
              <a:spcBef>
                <a:spcPts val="20"/>
              </a:spcBef>
              <a:spcAft>
                <a:spcPts val="0"/>
              </a:spcAft>
              <a:buClr>
                <a:schemeClr val="accent1"/>
              </a:buClr>
              <a:buSzTx/>
              <a:buFont typeface="Arial" panose="020B0604020202020204" pitchFamily="34" charset="0"/>
              <a:buChar char="•"/>
            </a:pPr>
            <a:r>
              <a:rPr lang="zh-CN" altLang="en-US" dirty="0"/>
              <a:t>类型  数组名</a:t>
            </a:r>
            <a:r>
              <a:rPr lang="en-US" altLang="zh-CN" dirty="0"/>
              <a:t>[][]</a:t>
            </a:r>
            <a:r>
              <a:rPr lang="zh-CN" altLang="en-US" dirty="0"/>
              <a:t>， 例 </a:t>
            </a:r>
            <a:r>
              <a:rPr lang="en-US" altLang="zh-CN" dirty="0"/>
              <a:t>int a[][];  int [][] a ;</a:t>
            </a:r>
          </a:p>
          <a:p>
            <a:pPr marL="800100" lvl="1" indent="-342900" eaLnBrk="1" hangingPunct="1">
              <a:lnSpc>
                <a:spcPct val="150000"/>
              </a:lnSpc>
              <a:spcBef>
                <a:spcPts val="20"/>
              </a:spcBef>
              <a:spcAft>
                <a:spcPts val="0"/>
              </a:spcAft>
              <a:buClr>
                <a:schemeClr val="accent1"/>
              </a:buClr>
              <a:buSzTx/>
              <a:buFont typeface="Arial" panose="020B0604020202020204" pitchFamily="34" charset="0"/>
              <a:buChar char="•"/>
            </a:pPr>
            <a:r>
              <a:rPr lang="zh-CN" altLang="en-US" dirty="0"/>
              <a:t>数组声明后不能被访问，因未为数组元素分配内存空间</a:t>
            </a:r>
          </a:p>
          <a:p>
            <a:pPr algn="l" eaLnBrk="1" hangingPunct="1">
              <a:lnSpc>
                <a:spcPct val="150000"/>
              </a:lnSpc>
              <a:spcBef>
                <a:spcPts val="20"/>
              </a:spcBef>
              <a:spcAft>
                <a:spcPts val="0"/>
              </a:spcAft>
              <a:buClr>
                <a:srgbClr val="000000"/>
              </a:buClr>
              <a:buSzTx/>
              <a:buChar char="•"/>
            </a:pPr>
            <a:r>
              <a:rPr lang="zh-CN" altLang="en-US" dirty="0"/>
              <a:t>二维数组的创建</a:t>
            </a:r>
          </a:p>
          <a:p>
            <a:pPr marL="800100" lvl="1" indent="-342900" algn="l" eaLnBrk="1" hangingPunct="1">
              <a:lnSpc>
                <a:spcPct val="150000"/>
              </a:lnSpc>
              <a:spcBef>
                <a:spcPts val="20"/>
              </a:spcBef>
              <a:spcAft>
                <a:spcPts val="0"/>
              </a:spcAft>
              <a:buClr>
                <a:schemeClr val="accent1"/>
              </a:buClr>
              <a:buSzTx/>
              <a:buChar char="•"/>
            </a:pPr>
            <a:r>
              <a:rPr lang="zh-CN" altLang="en-US" dirty="0"/>
              <a:t>方法一: 直接分配空间(new)</a:t>
            </a:r>
          </a:p>
          <a:p>
            <a:pPr marL="1371600" lvl="2" indent="-457200" eaLnBrk="1" hangingPunct="1">
              <a:lnSpc>
                <a:spcPct val="150000"/>
              </a:lnSpc>
              <a:spcBef>
                <a:spcPts val="20"/>
              </a:spcBef>
              <a:spcAft>
                <a:spcPts val="0"/>
              </a:spcAft>
              <a:buSzPct val="90000"/>
              <a:buNone/>
            </a:pPr>
            <a:r>
              <a:rPr lang="zh-CN" altLang="en-US" dirty="0"/>
              <a:t>例 </a:t>
            </a:r>
            <a:r>
              <a:rPr lang="en-US" altLang="zh-CN" dirty="0"/>
              <a:t>int a[][] = new int[2][3];</a:t>
            </a:r>
          </a:p>
          <a:p>
            <a:pPr marL="1371600" lvl="2" indent="-457200" eaLnBrk="1" hangingPunct="1">
              <a:lnSpc>
                <a:spcPct val="150000"/>
              </a:lnSpc>
              <a:spcBef>
                <a:spcPts val="20"/>
              </a:spcBef>
              <a:spcAft>
                <a:spcPts val="0"/>
              </a:spcAft>
              <a:buSzPct val="90000"/>
              <a:buNone/>
            </a:pPr>
            <a:r>
              <a:rPr lang="en-US" altLang="x-none" dirty="0"/>
              <a:t>    </a:t>
            </a:r>
            <a:r>
              <a:rPr lang="en-US" altLang="zh-CN" dirty="0"/>
              <a:t>a[0][0]  a[0][1] a[0][2]</a:t>
            </a:r>
          </a:p>
          <a:p>
            <a:pPr marL="1371600" lvl="2" indent="-457200" eaLnBrk="1" hangingPunct="1">
              <a:lnSpc>
                <a:spcPct val="150000"/>
              </a:lnSpc>
              <a:spcBef>
                <a:spcPts val="20"/>
              </a:spcBef>
              <a:spcAft>
                <a:spcPts val="0"/>
              </a:spcAft>
              <a:buSzPct val="90000"/>
              <a:buNone/>
            </a:pPr>
            <a:r>
              <a:rPr lang="en-US" altLang="x-none" dirty="0"/>
              <a:t>    </a:t>
            </a:r>
            <a:r>
              <a:rPr lang="en-US" altLang="zh-CN" dirty="0"/>
              <a:t>a[1][0]  a[1][1] a[1][2]</a:t>
            </a:r>
          </a:p>
          <a:p>
            <a:pPr marL="1371600" lvl="2" indent="-457200" eaLnBrk="1" hangingPunct="1">
              <a:lnSpc>
                <a:spcPct val="150000"/>
              </a:lnSpc>
              <a:spcBef>
                <a:spcPts val="20"/>
              </a:spcBef>
              <a:buSzPct val="90000"/>
              <a:buNone/>
            </a:pPr>
            <a:r>
              <a:rPr lang="zh-CN" altLang="en-US" dirty="0"/>
              <a:t>两个一维数组，每个数组包含</a:t>
            </a:r>
            <a:r>
              <a:rPr lang="en-US" altLang="zh-CN" dirty="0"/>
              <a:t>3</a:t>
            </a:r>
            <a:r>
              <a:rPr lang="zh-CN" altLang="en-US" dirty="0"/>
              <a:t>个元素</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多维数组</a:t>
            </a:r>
          </a:p>
        </p:txBody>
      </p:sp>
    </p:spTree>
    <p:custDataLst>
      <p:tags r:id="rId1"/>
    </p:custData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5000"/>
          </a:bodyPr>
          <a:lstStyle/>
          <a:p>
            <a:pPr algn="l" eaLnBrk="1" hangingPunct="1">
              <a:lnSpc>
                <a:spcPct val="150000"/>
              </a:lnSpc>
              <a:spcAft>
                <a:spcPts val="0"/>
              </a:spcAft>
              <a:buClr>
                <a:srgbClr val="000000"/>
              </a:buClr>
              <a:buSzTx/>
            </a:pPr>
            <a:r>
              <a:rPr lang="zh-CN" altLang="en-US" dirty="0"/>
              <a:t>二维数组的创建</a:t>
            </a:r>
          </a:p>
          <a:p>
            <a:pPr marL="800100" lvl="1" indent="-342900" eaLnBrk="1" hangingPunct="1">
              <a:lnSpc>
                <a:spcPct val="150000"/>
              </a:lnSpc>
              <a:spcBef>
                <a:spcPts val="20"/>
              </a:spcBef>
              <a:spcAft>
                <a:spcPts val="0"/>
              </a:spcAft>
              <a:buClr>
                <a:schemeClr val="accent1"/>
              </a:buClr>
              <a:buSzTx/>
            </a:pPr>
            <a:r>
              <a:rPr lang="zh-CN" altLang="en-US" dirty="0"/>
              <a:t>方法二</a:t>
            </a:r>
            <a:r>
              <a:rPr lang="en-US" altLang="zh-CN" dirty="0"/>
              <a:t>: </a:t>
            </a:r>
            <a:r>
              <a:rPr lang="zh-CN" altLang="en-US" dirty="0"/>
              <a:t>从最高维开始，为每一维分配空间</a:t>
            </a:r>
          </a:p>
          <a:p>
            <a:pPr marL="1371600" lvl="2" indent="-457200" eaLnBrk="1" hangingPunct="1">
              <a:lnSpc>
                <a:spcPct val="150000"/>
              </a:lnSpc>
              <a:spcBef>
                <a:spcPts val="20"/>
              </a:spcBef>
              <a:spcAft>
                <a:spcPts val="0"/>
              </a:spcAft>
              <a:buSzPct val="90000"/>
              <a:buNone/>
            </a:pPr>
            <a:r>
              <a:rPr lang="zh-CN" altLang="en-US" dirty="0"/>
              <a:t>例 </a:t>
            </a:r>
            <a:r>
              <a:rPr lang="en-US" altLang="zh-CN" dirty="0"/>
              <a:t>int c[][] = new int[2][];</a:t>
            </a:r>
          </a:p>
          <a:p>
            <a:pPr marL="1371600" lvl="2" indent="-457200" eaLnBrk="1" hangingPunct="1">
              <a:lnSpc>
                <a:spcPct val="150000"/>
              </a:lnSpc>
              <a:spcBef>
                <a:spcPts val="20"/>
              </a:spcBef>
              <a:spcAft>
                <a:spcPts val="0"/>
              </a:spcAft>
              <a:buSzPct val="90000"/>
              <a:buNone/>
            </a:pPr>
            <a:r>
              <a:rPr lang="en-US" altLang="x-none" dirty="0"/>
              <a:t>    </a:t>
            </a:r>
            <a:r>
              <a:rPr lang="en-US" altLang="zh-CN" dirty="0"/>
              <a:t>c[0] = new int[4];</a:t>
            </a:r>
          </a:p>
          <a:p>
            <a:pPr marL="1371600" lvl="2" indent="-457200" eaLnBrk="1" hangingPunct="1">
              <a:lnSpc>
                <a:spcPct val="150000"/>
              </a:lnSpc>
              <a:spcBef>
                <a:spcPts val="20"/>
              </a:spcBef>
              <a:spcAft>
                <a:spcPts val="0"/>
              </a:spcAft>
              <a:buSzPct val="90000"/>
              <a:buNone/>
            </a:pPr>
            <a:r>
              <a:rPr lang="en-US" altLang="x-none" dirty="0"/>
              <a:t>    </a:t>
            </a:r>
            <a:r>
              <a:rPr lang="en-US" altLang="zh-CN" dirty="0"/>
              <a:t>c[1] = new int[3];</a:t>
            </a:r>
          </a:p>
          <a:p>
            <a:pPr marL="1371600" lvl="2" indent="-457200" eaLnBrk="1" hangingPunct="1">
              <a:lnSpc>
                <a:spcPct val="150000"/>
              </a:lnSpc>
              <a:spcBef>
                <a:spcPts val="20"/>
              </a:spcBef>
              <a:spcAft>
                <a:spcPts val="0"/>
              </a:spcAft>
              <a:buSzPct val="90000"/>
              <a:buNone/>
            </a:pPr>
            <a:r>
              <a:rPr lang="en-US" altLang="x-none" dirty="0"/>
              <a:t>    </a:t>
            </a:r>
            <a:r>
              <a:rPr lang="en-US" altLang="zh-CN" dirty="0"/>
              <a:t>c[0][0]  c[0][1] c[0][2] c[0][3]</a:t>
            </a:r>
          </a:p>
          <a:p>
            <a:pPr marL="1371600" lvl="2" indent="-457200" eaLnBrk="1" hangingPunct="1">
              <a:lnSpc>
                <a:spcPct val="150000"/>
              </a:lnSpc>
              <a:spcBef>
                <a:spcPts val="20"/>
              </a:spcBef>
              <a:spcAft>
                <a:spcPts val="0"/>
              </a:spcAft>
              <a:buSzPct val="90000"/>
              <a:buNone/>
            </a:pPr>
            <a:r>
              <a:rPr lang="en-US" altLang="x-none" dirty="0"/>
              <a:t>    </a:t>
            </a:r>
            <a:r>
              <a:rPr lang="en-US" altLang="zh-CN" dirty="0"/>
              <a:t>c[1][0]  c[1][1] c[1][2] </a:t>
            </a:r>
          </a:p>
          <a:p>
            <a:pPr marL="1143000" lvl="2" indent="-228600" eaLnBrk="1" hangingPunct="1">
              <a:lnSpc>
                <a:spcPct val="150000"/>
              </a:lnSpc>
              <a:spcBef>
                <a:spcPts val="20"/>
              </a:spcBef>
              <a:spcAft>
                <a:spcPts val="0"/>
              </a:spcAft>
              <a:buClr>
                <a:schemeClr val="bg2"/>
              </a:buClr>
              <a:buSzTx/>
              <a:buFont typeface="Wingdings" panose="05000000000000000000" pitchFamily="2" charset="2"/>
              <a:buChar char="l"/>
            </a:pPr>
            <a:r>
              <a:rPr lang="zh-CN" altLang="en-US" dirty="0"/>
              <a:t>注</a:t>
            </a:r>
            <a:r>
              <a:rPr lang="en-US" altLang="zh-CN" dirty="0"/>
              <a:t>: </a:t>
            </a:r>
            <a:r>
              <a:rPr lang="zh-CN" altLang="en-US" dirty="0"/>
              <a:t>为数组分配空间需指定维数大小，至少最高维</a:t>
            </a:r>
            <a:r>
              <a:rPr lang="en-US" altLang="zh-CN" dirty="0"/>
              <a:t>(</a:t>
            </a:r>
            <a:r>
              <a:rPr lang="zh-CN" altLang="en-US" dirty="0"/>
              <a:t>最左边</a:t>
            </a:r>
            <a:r>
              <a:rPr lang="en-US" altLang="zh-CN" dirty="0"/>
              <a:t>)</a:t>
            </a:r>
            <a:r>
              <a:rPr lang="zh-CN" altLang="en-US" dirty="0"/>
              <a:t>大小</a:t>
            </a:r>
          </a:p>
          <a:p>
            <a:pPr marL="1143000" lvl="2" indent="-228600" eaLnBrk="1" hangingPunct="1">
              <a:lnSpc>
                <a:spcPct val="150000"/>
              </a:lnSpc>
              <a:spcBef>
                <a:spcPts val="20"/>
              </a:spcBef>
              <a:buClr>
                <a:schemeClr val="bg2"/>
              </a:buClr>
              <a:buSzTx/>
              <a:buFont typeface="Wingdings" panose="05000000000000000000" pitchFamily="2" charset="2"/>
              <a:buChar char="l"/>
            </a:pPr>
            <a:r>
              <a:rPr lang="zh-CN" altLang="en-US" dirty="0"/>
              <a:t>错误</a:t>
            </a:r>
            <a:r>
              <a:rPr lang="en-US" altLang="zh-CN" dirty="0"/>
              <a:t>: int b[][] = new int[][];</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多维数组</a:t>
            </a:r>
          </a:p>
        </p:txBody>
      </p:sp>
    </p:spTree>
    <p:custDataLst>
      <p:tags r:id="rId1"/>
    </p:custData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a:bodyPr>
          <a:lstStyle/>
          <a:p>
            <a:pPr algn="l" eaLnBrk="1" hangingPunct="1">
              <a:lnSpc>
                <a:spcPct val="150000"/>
              </a:lnSpc>
              <a:spcAft>
                <a:spcPts val="0"/>
              </a:spcAft>
              <a:buClr>
                <a:srgbClr val="000000"/>
              </a:buClr>
              <a:buSzTx/>
            </a:pPr>
            <a:r>
              <a:rPr lang="zh-CN" altLang="en-US" dirty="0"/>
              <a:t>二维数组的初始化</a:t>
            </a:r>
          </a:p>
          <a:p>
            <a:pPr marL="914400" lvl="1" indent="-457200" eaLnBrk="1" hangingPunct="1">
              <a:lnSpc>
                <a:spcPct val="150000"/>
              </a:lnSpc>
              <a:spcBef>
                <a:spcPts val="20"/>
              </a:spcBef>
              <a:spcAft>
                <a:spcPts val="0"/>
              </a:spcAft>
              <a:buClr>
                <a:schemeClr val="accent1"/>
              </a:buClr>
              <a:buSzTx/>
            </a:pPr>
            <a:r>
              <a:rPr lang="zh-CN" altLang="en-US" dirty="0"/>
              <a:t>对每个元素单独进行赋值</a:t>
            </a:r>
          </a:p>
          <a:p>
            <a:pPr marL="914400" lvl="1" indent="-457200" eaLnBrk="1" hangingPunct="1">
              <a:lnSpc>
                <a:spcPct val="150000"/>
              </a:lnSpc>
              <a:spcBef>
                <a:spcPts val="20"/>
              </a:spcBef>
              <a:spcAft>
                <a:spcPts val="0"/>
              </a:spcAft>
              <a:buClr>
                <a:schemeClr val="accent1"/>
              </a:buClr>
              <a:buSzTx/>
            </a:pPr>
            <a:r>
              <a:rPr lang="zh-CN" altLang="en-US" dirty="0"/>
              <a:t>声明数组的同时初始化</a:t>
            </a:r>
          </a:p>
          <a:p>
            <a:pPr algn="l" eaLnBrk="1" hangingPunct="1">
              <a:lnSpc>
                <a:spcPct val="150000"/>
              </a:lnSpc>
              <a:spcBef>
                <a:spcPts val="20"/>
              </a:spcBef>
              <a:spcAft>
                <a:spcPts val="0"/>
              </a:spcAft>
              <a:buClr>
                <a:srgbClr val="000000"/>
              </a:buClr>
              <a:buSzTx/>
            </a:pPr>
            <a:r>
              <a:rPr lang="zh-CN" altLang="en-US" dirty="0"/>
              <a:t>对数组元素的引用</a:t>
            </a:r>
          </a:p>
          <a:p>
            <a:pPr marL="914400" lvl="1" indent="-457200" eaLnBrk="1" hangingPunct="1">
              <a:lnSpc>
                <a:spcPct val="150000"/>
              </a:lnSpc>
              <a:spcBef>
                <a:spcPts val="20"/>
              </a:spcBef>
              <a:spcAft>
                <a:spcPts val="0"/>
              </a:spcAft>
              <a:buClr>
                <a:schemeClr val="accent1"/>
              </a:buClr>
              <a:buSzTx/>
            </a:pPr>
            <a:r>
              <a:rPr lang="zh-CN" altLang="en-US" dirty="0"/>
              <a:t>数组名</a:t>
            </a:r>
            <a:r>
              <a:rPr lang="en-US" altLang="zh-CN" dirty="0"/>
              <a:t>[</a:t>
            </a:r>
            <a:r>
              <a:rPr lang="zh-CN" altLang="en-US" dirty="0"/>
              <a:t>下标</a:t>
            </a:r>
            <a:r>
              <a:rPr lang="en-US" altLang="zh-CN" dirty="0"/>
              <a:t>1] [</a:t>
            </a:r>
            <a:r>
              <a:rPr lang="zh-CN" altLang="en-US" dirty="0"/>
              <a:t>下标</a:t>
            </a:r>
            <a:r>
              <a:rPr lang="en-US" altLang="zh-CN" dirty="0"/>
              <a:t>2]</a:t>
            </a:r>
          </a:p>
          <a:p>
            <a:pPr marL="914400" lvl="1" indent="-457200" eaLnBrk="1" hangingPunct="1">
              <a:lnSpc>
                <a:spcPct val="150000"/>
              </a:lnSpc>
              <a:spcBef>
                <a:spcPts val="20"/>
              </a:spcBef>
              <a:buClr>
                <a:schemeClr val="accent1"/>
              </a:buClr>
              <a:buSzTx/>
            </a:pPr>
            <a:r>
              <a:rPr lang="zh-CN" altLang="en-US" dirty="0"/>
              <a:t>下标为非负的整型常数</a:t>
            </a:r>
            <a:r>
              <a:rPr lang="en-US" altLang="zh-CN" dirty="0"/>
              <a:t>0~</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多维数组</a:t>
            </a:r>
          </a:p>
        </p:txBody>
      </p:sp>
    </p:spTree>
    <p:custDataLst>
      <p:tags r:id="rId1"/>
    </p:custData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多维数组</a:t>
            </a:r>
          </a:p>
        </p:txBody>
      </p:sp>
      <p:sp>
        <p:nvSpPr>
          <p:cNvPr id="118787" name="Rectangle 3"/>
          <p:cNvSpPr>
            <a:spLocks noGrp="1"/>
          </p:cNvSpPr>
          <p:nvPr>
            <p:ph idx="1"/>
          </p:nvPr>
        </p:nvSpPr>
        <p:spPr/>
        <p:txBody>
          <a:bodyPr vert="horz" wrap="square" lIns="96011" tIns="48005" rIns="96011" bIns="48005" anchor="t">
            <a:normAutofit fontScale="90000" lnSpcReduction="10000"/>
          </a:bodyPr>
          <a:lstStyle/>
          <a:p>
            <a:pPr marL="609600" indent="-609600" eaLnBrk="1" hangingPunct="1">
              <a:lnSpc>
                <a:spcPct val="120000"/>
              </a:lnSpc>
              <a:spcAft>
                <a:spcPts val="0"/>
              </a:spcAft>
              <a:buSzPct val="90000"/>
            </a:pPr>
            <a:r>
              <a:rPr lang="zh-CN" altLang="en-US" sz="2940" dirty="0"/>
              <a:t>二维数组的初始化</a:t>
            </a:r>
          </a:p>
          <a:p>
            <a:pPr marL="990600" lvl="1" indent="-533400" eaLnBrk="1" hangingPunct="1">
              <a:lnSpc>
                <a:spcPct val="120000"/>
              </a:lnSpc>
              <a:spcBef>
                <a:spcPts val="20"/>
              </a:spcBef>
              <a:spcAft>
                <a:spcPts val="0"/>
              </a:spcAft>
              <a:buSzPct val="90000"/>
            </a:pPr>
            <a:r>
              <a:rPr lang="zh-CN" altLang="en-US" sz="2520" dirty="0"/>
              <a:t>每个元素单独进行赋值</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class Test {</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public static void main (String args[]) {</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int a[][] = new int[3][3];</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a[0][0]=1;a[1][1]=1;a[2][2]=1;</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System.out.println("</a:t>
            </a:r>
            <a:r>
              <a:rPr lang="zh-CN" altLang="en-US" sz="2520" dirty="0">
                <a:latin typeface="Tahoma" panose="020B0604030504040204" pitchFamily="34" charset="0"/>
              </a:rPr>
              <a:t>数组</a:t>
            </a:r>
            <a:r>
              <a:rPr lang="en-US" altLang="zh-CN" sz="2520" dirty="0">
                <a:latin typeface="Tahoma" panose="020B0604030504040204" pitchFamily="34" charset="0"/>
              </a:rPr>
              <a:t>a: ");</a:t>
            </a:r>
          </a:p>
          <a:p>
            <a:pPr marL="990600" lvl="1" indent="-533400" eaLnBrk="1" hangingPunct="1">
              <a:lnSpc>
                <a:spcPct val="90000"/>
              </a:lnSpc>
              <a:spcBef>
                <a:spcPts val="20"/>
              </a:spcBef>
              <a:spcAft>
                <a:spcPts val="0"/>
              </a:spcAft>
              <a:buSzPct val="90000"/>
              <a:buNone/>
            </a:pPr>
            <a:r>
              <a:rPr lang="en-US" altLang="x-none" sz="2520" dirty="0">
                <a:latin typeface="Tahoma" panose="020B0604030504040204" pitchFamily="34" charset="0"/>
              </a:rPr>
              <a:t>		</a:t>
            </a:r>
            <a:r>
              <a:rPr lang="en-US" altLang="zh-CN" sz="2520" dirty="0">
                <a:latin typeface="Tahoma" panose="020B0604030504040204" pitchFamily="34" charset="0"/>
              </a:rPr>
              <a:t>for (int i=0; i&lt; </a:t>
            </a:r>
            <a:r>
              <a:rPr lang="en-US" altLang="zh-CN" sz="2520" dirty="0">
                <a:solidFill>
                  <a:schemeClr val="hlink"/>
                </a:solidFill>
                <a:latin typeface="Tahoma" panose="020B0604030504040204" pitchFamily="34" charset="0"/>
              </a:rPr>
              <a:t>a.length</a:t>
            </a:r>
            <a:r>
              <a:rPr lang="en-US" altLang="zh-CN" sz="2520" dirty="0">
                <a:latin typeface="Tahoma" panose="020B0604030504040204" pitchFamily="34" charset="0"/>
              </a:rPr>
              <a:t>; i++){</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for (int j=0; j&lt;a[i].</a:t>
            </a:r>
            <a:r>
              <a:rPr lang="en-US" altLang="zh-CN" sz="2520" dirty="0">
                <a:solidFill>
                  <a:schemeClr val="hlink"/>
                </a:solidFill>
                <a:latin typeface="Tahoma" panose="020B0604030504040204" pitchFamily="34" charset="0"/>
              </a:rPr>
              <a:t>length</a:t>
            </a:r>
            <a:r>
              <a:rPr lang="en-US" altLang="zh-CN" sz="2520" dirty="0">
                <a:latin typeface="Tahoma" panose="020B0604030504040204" pitchFamily="34" charset="0"/>
              </a:rPr>
              <a:t>; j++)</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System.out.print(a[i][j]+" ");</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System.out.println();</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a:t>
            </a:r>
          </a:p>
          <a:p>
            <a:pPr marL="990600" lvl="1" indent="-533400" eaLnBrk="1" hangingPunct="1">
              <a:lnSpc>
                <a:spcPct val="90000"/>
              </a:lnSpc>
              <a:spcBef>
                <a:spcPts val="20"/>
              </a:spcBef>
              <a:buSzPct val="90000"/>
              <a:buNone/>
            </a:pPr>
            <a:r>
              <a:rPr lang="en-US" altLang="zh-CN" sz="2520" dirty="0">
                <a:latin typeface="Tahoma" panose="020B0604030504040204" pitchFamily="34" charset="0"/>
              </a:rPr>
              <a:t>}</a:t>
            </a:r>
          </a:p>
        </p:txBody>
      </p:sp>
      <p:sp>
        <p:nvSpPr>
          <p:cNvPr id="118789" name="Rectangle 5"/>
          <p:cNvSpPr/>
          <p:nvPr/>
        </p:nvSpPr>
        <p:spPr>
          <a:xfrm>
            <a:off x="8281035" y="2400300"/>
            <a:ext cx="1760220" cy="1520190"/>
          </a:xfrm>
          <a:prstGeom prst="rect">
            <a:avLst/>
          </a:prstGeom>
          <a:solidFill>
            <a:srgbClr val="C0C0C0"/>
          </a:solidFill>
          <a:ln w="9525">
            <a:noFill/>
          </a:ln>
        </p:spPr>
        <p:txBody>
          <a:bodyPr wrap="none" anchor="ctr"/>
          <a:lstStyle/>
          <a:p>
            <a:pPr marL="457200" indent="-457200" eaLnBrk="1" hangingPunct="1">
              <a:lnSpc>
                <a:spcPct val="90000"/>
              </a:lnSpc>
              <a:spcBef>
                <a:spcPct val="20000"/>
              </a:spcBef>
              <a:spcAft>
                <a:spcPts val="0"/>
              </a:spcAft>
              <a:buClr>
                <a:schemeClr val="fo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1    0    0</a:t>
            </a:r>
          </a:p>
          <a:p>
            <a:pPr marL="457200" indent="-457200" eaLnBrk="1" hangingPunct="1">
              <a:lnSpc>
                <a:spcPct val="90000"/>
              </a:lnSpc>
              <a:spcBef>
                <a:spcPts val="20"/>
              </a:spcBef>
              <a:spcAft>
                <a:spcPts val="0"/>
              </a:spcAft>
              <a:buClr>
                <a:schemeClr val="fo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0    1    0</a:t>
            </a:r>
          </a:p>
          <a:p>
            <a:pPr marL="457200" indent="-457200" eaLnBrk="1" hangingPunct="1">
              <a:lnSpc>
                <a:spcPct val="90000"/>
              </a:lnSpc>
              <a:spcBef>
                <a:spcPts val="20"/>
              </a:spcBef>
              <a:buClr>
                <a:schemeClr val="folHlink"/>
              </a:buClr>
              <a:buSzPct val="90000"/>
              <a:buFont typeface="Wingdings" panose="05000000000000000000" pitchFamily="2" charset="2"/>
            </a:pPr>
            <a:r>
              <a:rPr lang="en-US" altLang="zh-CN" sz="2520" dirty="0">
                <a:latin typeface="Tahoma" panose="020B0604030504040204" pitchFamily="34" charset="0"/>
                <a:ea typeface="华文中宋" panose="02010600040101010101" pitchFamily="2" charset="-122"/>
              </a:rPr>
              <a:t>0    0    1</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18789"/>
                                        </p:tgtEl>
                                        <p:attrNameLst>
                                          <p:attrName>style.visibility</p:attrName>
                                        </p:attrNameLst>
                                      </p:cBhvr>
                                      <p:to>
                                        <p:strVal val="visible"/>
                                      </p:to>
                                    </p:set>
                                    <p:animEffect transition="in" filter="barn(outHorizontal)">
                                      <p:cBhvr>
                                        <p:cTn id="7" dur="500"/>
                                        <p:tgtEl>
                                          <p:spTgt spid="118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9" grpId="0" bldLvl="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多维数组</a:t>
            </a:r>
          </a:p>
        </p:txBody>
      </p:sp>
      <p:sp>
        <p:nvSpPr>
          <p:cNvPr id="119811" name="Rectangle 3"/>
          <p:cNvSpPr>
            <a:spLocks noGrp="1"/>
          </p:cNvSpPr>
          <p:nvPr>
            <p:ph idx="1"/>
          </p:nvPr>
        </p:nvSpPr>
        <p:spPr/>
        <p:txBody>
          <a:bodyPr vert="horz" wrap="square" lIns="96011" tIns="48005" rIns="96011" bIns="48005" anchor="t">
            <a:normAutofit fontScale="90000"/>
          </a:bodyPr>
          <a:lstStyle/>
          <a:p>
            <a:pPr marL="609600" indent="-609600" eaLnBrk="1" hangingPunct="1">
              <a:spcAft>
                <a:spcPts val="0"/>
              </a:spcAft>
              <a:buSzPct val="90000"/>
            </a:pPr>
            <a:r>
              <a:rPr lang="zh-CN" altLang="en-US" sz="2940" dirty="0"/>
              <a:t>二维数组的初始化</a:t>
            </a:r>
          </a:p>
          <a:p>
            <a:pPr marL="990600" lvl="1" indent="-533400" eaLnBrk="1" hangingPunct="1">
              <a:spcBef>
                <a:spcPts val="20"/>
              </a:spcBef>
              <a:spcAft>
                <a:spcPts val="0"/>
              </a:spcAft>
              <a:buSzPct val="90000"/>
            </a:pPr>
            <a:r>
              <a:rPr lang="zh-CN" altLang="en-US" sz="2520" dirty="0"/>
              <a:t>声明数组的同时初始化</a:t>
            </a:r>
          </a:p>
          <a:p>
            <a:pPr marL="990600" lvl="1" indent="-533400" eaLnBrk="1" hangingPunct="1">
              <a:spcBef>
                <a:spcPts val="20"/>
              </a:spcBef>
              <a:spcAft>
                <a:spcPts val="0"/>
              </a:spcAft>
              <a:buSzPct val="90000"/>
              <a:buNone/>
            </a:pPr>
            <a:r>
              <a:rPr lang="zh-CN" altLang="en-US" sz="2520" dirty="0"/>
              <a:t>    例 </a:t>
            </a:r>
            <a:r>
              <a:rPr lang="en-US" altLang="zh-CN" sz="2520" dirty="0"/>
              <a:t>int a[][] = {{1,2,3}, {3,4,5}};</a:t>
            </a:r>
          </a:p>
          <a:p>
            <a:pPr marL="990600" lvl="1" indent="-533400" eaLnBrk="1" hangingPunct="1">
              <a:spcBef>
                <a:spcPts val="20"/>
              </a:spcBef>
              <a:spcAft>
                <a:spcPts val="0"/>
              </a:spcAft>
              <a:buSzPct val="90000"/>
              <a:buNone/>
            </a:pPr>
            <a:r>
              <a:rPr lang="en-US" altLang="x-none" sz="2520" dirty="0"/>
              <a:t>    </a:t>
            </a:r>
            <a:r>
              <a:rPr lang="en-US" altLang="zh-CN" sz="2520" dirty="0"/>
              <a:t>a[0][0]=1  a[0][1]=2 a[0][2]=3</a:t>
            </a:r>
          </a:p>
          <a:p>
            <a:pPr marL="990600" lvl="1" indent="-533400" eaLnBrk="1" hangingPunct="1">
              <a:spcBef>
                <a:spcPts val="20"/>
              </a:spcBef>
              <a:spcAft>
                <a:spcPts val="0"/>
              </a:spcAft>
              <a:buSzPct val="90000"/>
              <a:buNone/>
            </a:pPr>
            <a:r>
              <a:rPr lang="en-US" altLang="x-none" sz="2520" dirty="0"/>
              <a:t>    </a:t>
            </a:r>
            <a:r>
              <a:rPr lang="en-US" altLang="zh-CN" sz="2520" dirty="0"/>
              <a:t>a[1][0]=3  a[1][1]=4 a[1][2]=5</a:t>
            </a:r>
          </a:p>
          <a:p>
            <a:pPr marL="990600" lvl="1" indent="-533400" eaLnBrk="1" hangingPunct="1">
              <a:spcBef>
                <a:spcPts val="20"/>
              </a:spcBef>
              <a:spcAft>
                <a:spcPts val="0"/>
              </a:spcAft>
              <a:buSzPct val="90000"/>
              <a:buNone/>
            </a:pPr>
            <a:r>
              <a:rPr lang="en-US" altLang="x-none" sz="2520" dirty="0"/>
              <a:t>    </a:t>
            </a:r>
            <a:r>
              <a:rPr lang="zh-CN" altLang="en-US" sz="2520" dirty="0"/>
              <a:t>例 </a:t>
            </a:r>
            <a:r>
              <a:rPr lang="en-US" altLang="zh-CN" sz="2520" dirty="0">
                <a:latin typeface="Tahoma" panose="020B0604030504040204" pitchFamily="34" charset="0"/>
              </a:rPr>
              <a:t>String[][] cartoons =</a:t>
            </a:r>
          </a:p>
          <a:p>
            <a:pPr marL="990600" lvl="1" indent="-533400" eaLnBrk="1" hangingPunct="1">
              <a:spcBef>
                <a:spcPts val="20"/>
              </a:spcBef>
              <a:spcAft>
                <a:spcPts val="0"/>
              </a:spcAft>
              <a:buSzPct val="90000"/>
              <a:buNone/>
            </a:pPr>
            <a:r>
              <a:rPr lang="en-US" altLang="x-none" sz="2520" dirty="0">
                <a:latin typeface="Tahoma" panose="020B0604030504040204" pitchFamily="34" charset="0"/>
              </a:rPr>
              <a:t>       </a:t>
            </a:r>
            <a:r>
              <a:rPr lang="en-US" altLang="zh-CN" sz="2520" dirty="0">
                <a:latin typeface="Tahoma" panose="020B0604030504040204" pitchFamily="34" charset="0"/>
              </a:rPr>
              <a:t>{</a:t>
            </a:r>
          </a:p>
          <a:p>
            <a:pPr marL="990600" lvl="1" indent="-533400" eaLnBrk="1" hangingPunct="1">
              <a:spcBef>
                <a:spcPts val="20"/>
              </a:spcBef>
              <a:spcAft>
                <a:spcPts val="0"/>
              </a:spcAft>
              <a:buSzPct val="90000"/>
              <a:buNone/>
            </a:pPr>
            <a:r>
              <a:rPr lang="en-US" altLang="x-none" sz="2520" dirty="0">
                <a:latin typeface="Tahoma" panose="020B0604030504040204" pitchFamily="34" charset="0"/>
              </a:rPr>
              <a:t>       </a:t>
            </a:r>
            <a:r>
              <a:rPr lang="en-US" altLang="zh-CN" sz="2520" dirty="0">
                <a:latin typeface="Tahoma" panose="020B0604030504040204" pitchFamily="34" charset="0"/>
              </a:rPr>
              <a:t>{ "Flint","Fred","Wim","Pebbles","Dino"},</a:t>
            </a:r>
          </a:p>
          <a:p>
            <a:pPr marL="990600" lvl="1" indent="-533400" eaLnBrk="1" hangingPunct="1">
              <a:spcBef>
                <a:spcPts val="20"/>
              </a:spcBef>
              <a:spcAft>
                <a:spcPts val="0"/>
              </a:spcAft>
              <a:buSzPct val="90000"/>
              <a:buNone/>
            </a:pPr>
            <a:r>
              <a:rPr lang="en-US" altLang="x-none" sz="2520" dirty="0">
                <a:latin typeface="Tahoma" panose="020B0604030504040204" pitchFamily="34" charset="0"/>
              </a:rPr>
              <a:t>       </a:t>
            </a:r>
            <a:r>
              <a:rPr lang="en-US" altLang="zh-CN" sz="2520" dirty="0">
                <a:latin typeface="Tahoma" panose="020B0604030504040204" pitchFamily="34" charset="0"/>
              </a:rPr>
              <a:t>{ "Rub","Barn","Bet", "Bam"},</a:t>
            </a:r>
          </a:p>
          <a:p>
            <a:pPr marL="990600" lvl="1" indent="-533400" eaLnBrk="1" hangingPunct="1">
              <a:spcBef>
                <a:spcPts val="20"/>
              </a:spcBef>
              <a:spcAft>
                <a:spcPts val="0"/>
              </a:spcAft>
              <a:buSzPct val="90000"/>
              <a:buNone/>
            </a:pPr>
            <a:r>
              <a:rPr lang="en-US" altLang="x-none" sz="2520" dirty="0">
                <a:latin typeface="Tahoma" panose="020B0604030504040204" pitchFamily="34" charset="0"/>
              </a:rPr>
              <a:t>       </a:t>
            </a:r>
            <a:r>
              <a:rPr lang="en-US" altLang="zh-CN" sz="2520" dirty="0">
                <a:latin typeface="Tahoma" panose="020B0604030504040204" pitchFamily="34" charset="0"/>
              </a:rPr>
              <a:t>{ "Jet","Geo","Jane","Elroy","Judy","Rosie", "Astro"},</a:t>
            </a:r>
          </a:p>
          <a:p>
            <a:pPr marL="990600" lvl="1" indent="-533400" eaLnBrk="1" hangingPunct="1">
              <a:spcBef>
                <a:spcPts val="20"/>
              </a:spcBef>
              <a:spcAft>
                <a:spcPts val="0"/>
              </a:spcAft>
              <a:buSzPct val="90000"/>
              <a:buNone/>
            </a:pPr>
            <a:r>
              <a:rPr lang="en-US" altLang="x-none" sz="2520" dirty="0">
                <a:latin typeface="Tahoma" panose="020B0604030504040204" pitchFamily="34" charset="0"/>
              </a:rPr>
              <a:t>       </a:t>
            </a:r>
            <a:r>
              <a:rPr lang="en-US" altLang="zh-CN" sz="2520" dirty="0">
                <a:latin typeface="Tahoma" panose="020B0604030504040204" pitchFamily="34" charset="0"/>
              </a:rPr>
              <a:t>{ "Sco","Sco",  "Shag", "Velma", "Fred", "Dap" }</a:t>
            </a:r>
          </a:p>
          <a:p>
            <a:pPr marL="990600" lvl="1" indent="-533400" eaLnBrk="1" hangingPunct="1">
              <a:spcBef>
                <a:spcPts val="20"/>
              </a:spcBef>
              <a:buSzPct val="90000"/>
              <a:buNone/>
            </a:pPr>
            <a:r>
              <a:rPr lang="en-US" altLang="x-none" sz="2520" dirty="0">
                <a:latin typeface="Tahoma" panose="020B0604030504040204" pitchFamily="34" charset="0"/>
              </a:rPr>
              <a:t>       </a:t>
            </a:r>
            <a:r>
              <a:rPr lang="en-US" altLang="zh-CN" sz="2520" dirty="0">
                <a:latin typeface="Tahoma" panose="020B0604030504040204" pitchFamily="34" charset="0"/>
              </a:rPr>
              <a:t>};</a:t>
            </a:r>
          </a:p>
        </p:txBody>
      </p:sp>
      <p:sp>
        <p:nvSpPr>
          <p:cNvPr id="119812" name="Rectangle 4"/>
          <p:cNvSpPr/>
          <p:nvPr/>
        </p:nvSpPr>
        <p:spPr>
          <a:xfrm>
            <a:off x="6383584" y="3071191"/>
            <a:ext cx="3360420" cy="560070"/>
          </a:xfrm>
          <a:prstGeom prst="rect">
            <a:avLst/>
          </a:prstGeom>
          <a:solidFill>
            <a:srgbClr val="C0C0C0"/>
          </a:solidFill>
          <a:ln w="9525">
            <a:noFill/>
          </a:ln>
        </p:spPr>
        <p:txBody>
          <a:bodyPr wrap="none" anchor="ctr"/>
          <a:lstStyle/>
          <a:p>
            <a:pPr algn="ctr" eaLnBrk="1" hangingPunct="1">
              <a:spcAft>
                <a:spcPts val="0"/>
              </a:spcAft>
            </a:pPr>
            <a:r>
              <a:rPr lang="en-US" altLang="zh-CN" sz="2520" dirty="0">
                <a:latin typeface="Tahoma" panose="020B0604030504040204" pitchFamily="34" charset="0"/>
              </a:rPr>
              <a:t>int i = cartoons.length</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19812"/>
                                        </p:tgtEl>
                                        <p:attrNameLst>
                                          <p:attrName>style.visibility</p:attrName>
                                        </p:attrNameLst>
                                      </p:cBhvr>
                                      <p:to>
                                        <p:strVal val="visible"/>
                                      </p:to>
                                    </p:set>
                                    <p:animEffect transition="in" filter="barn(outHorizontal)">
                                      <p:cBhvr>
                                        <p:cTn id="7" dur="500"/>
                                        <p:tgtEl>
                                          <p:spTgt spid="119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bldLvl="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Autofit/>
          </a:bodyPr>
          <a:lstStyle/>
          <a:p>
            <a:pPr algn="l" eaLnBrk="1" hangingPunct="1">
              <a:lnSpc>
                <a:spcPct val="150000"/>
              </a:lnSpc>
              <a:spcAft>
                <a:spcPts val="0"/>
              </a:spcAft>
              <a:buClr>
                <a:srgbClr val="000000"/>
              </a:buClr>
              <a:buSzTx/>
              <a:buChar char="•"/>
            </a:pPr>
            <a:r>
              <a:rPr lang="zh-CN" altLang="en-US" sz="2800" dirty="0"/>
              <a:t>例2</a:t>
            </a:r>
          </a:p>
          <a:p>
            <a:pPr marL="609600" indent="-609600" eaLnBrk="1" hangingPunct="1">
              <a:lnSpc>
                <a:spcPct val="100000"/>
              </a:lnSpc>
              <a:spcBef>
                <a:spcPts val="20"/>
              </a:spcBef>
              <a:spcAft>
                <a:spcPts val="0"/>
              </a:spcAft>
              <a:buSzPct val="90000"/>
              <a:buNone/>
            </a:pPr>
            <a:r>
              <a:rPr lang="en-US" altLang="x-none" sz="1890" dirty="0"/>
              <a:t>	</a:t>
            </a:r>
            <a:r>
              <a:rPr lang="en-US" altLang="zh-CN" sz="1890" dirty="0"/>
              <a:t>class Test {</a:t>
            </a:r>
          </a:p>
          <a:p>
            <a:pPr marL="609600" indent="-609600" eaLnBrk="1" hangingPunct="1">
              <a:lnSpc>
                <a:spcPct val="100000"/>
              </a:lnSpc>
              <a:spcBef>
                <a:spcPts val="20"/>
              </a:spcBef>
              <a:spcAft>
                <a:spcPts val="0"/>
              </a:spcAft>
              <a:buSzPct val="90000"/>
              <a:buNone/>
            </a:pPr>
            <a:r>
              <a:rPr lang="en-US" altLang="x-none" sz="1890" dirty="0"/>
              <a:t>		</a:t>
            </a:r>
            <a:r>
              <a:rPr lang="en-US" altLang="zh-CN" sz="1890" dirty="0"/>
              <a:t>public static void main(String args[]) {</a:t>
            </a:r>
          </a:p>
          <a:p>
            <a:pPr marL="609600" indent="-609600" eaLnBrk="1" hangingPunct="1">
              <a:lnSpc>
                <a:spcPct val="100000"/>
              </a:lnSpc>
              <a:spcBef>
                <a:spcPts val="20"/>
              </a:spcBef>
              <a:spcAft>
                <a:spcPts val="0"/>
              </a:spcAft>
              <a:buSzPct val="90000"/>
              <a:buNone/>
            </a:pPr>
            <a:r>
              <a:rPr lang="en-US" altLang="x-none" sz="1890" dirty="0"/>
              <a:t>			</a:t>
            </a:r>
            <a:r>
              <a:rPr lang="en-US" altLang="zh-CN" sz="1890" dirty="0"/>
              <a:t>int a[][] = new int[][];</a:t>
            </a:r>
          </a:p>
          <a:p>
            <a:pPr marL="609600" indent="-609600" eaLnBrk="1" hangingPunct="1">
              <a:lnSpc>
                <a:spcPct val="100000"/>
              </a:lnSpc>
              <a:spcBef>
                <a:spcPts val="20"/>
              </a:spcBef>
              <a:spcAft>
                <a:spcPts val="0"/>
              </a:spcAft>
              <a:buSzPct val="90000"/>
              <a:buNone/>
            </a:pPr>
            <a:r>
              <a:rPr lang="en-US" altLang="x-none" sz="1890" dirty="0"/>
              <a:t>			</a:t>
            </a:r>
            <a:r>
              <a:rPr lang="en-US" altLang="zh-CN" sz="1890" dirty="0"/>
              <a:t>System.out.println(a.length);</a:t>
            </a:r>
          </a:p>
          <a:p>
            <a:pPr marL="609600" indent="-609600" eaLnBrk="1" hangingPunct="1">
              <a:lnSpc>
                <a:spcPct val="100000"/>
              </a:lnSpc>
              <a:spcBef>
                <a:spcPts val="20"/>
              </a:spcBef>
              <a:spcAft>
                <a:spcPts val="0"/>
              </a:spcAft>
              <a:buSzPct val="90000"/>
              <a:buNone/>
            </a:pPr>
            <a:r>
              <a:rPr lang="en-US" altLang="x-none" sz="1890" dirty="0"/>
              <a:t>		</a:t>
            </a:r>
            <a:r>
              <a:rPr lang="en-US" altLang="zh-CN" sz="1890" dirty="0"/>
              <a:t>}</a:t>
            </a:r>
          </a:p>
          <a:p>
            <a:pPr marL="609600" indent="-609600" eaLnBrk="1" hangingPunct="1">
              <a:lnSpc>
                <a:spcPct val="100000"/>
              </a:lnSpc>
              <a:spcBef>
                <a:spcPts val="20"/>
              </a:spcBef>
              <a:spcAft>
                <a:spcPts val="0"/>
              </a:spcAft>
              <a:buSzPct val="90000"/>
              <a:buNone/>
            </a:pPr>
            <a:r>
              <a:rPr lang="en-US" altLang="x-none" sz="1890" dirty="0"/>
              <a:t>	</a:t>
            </a:r>
            <a:r>
              <a:rPr lang="en-US" altLang="zh-CN" sz="1890" dirty="0"/>
              <a:t>}</a:t>
            </a:r>
          </a:p>
          <a:p>
            <a:pPr marL="609600" indent="-609600" eaLnBrk="1" hangingPunct="1">
              <a:lnSpc>
                <a:spcPct val="100000"/>
              </a:lnSpc>
              <a:buSzPct val="90000"/>
              <a:buNone/>
            </a:pPr>
            <a:endParaRPr lang="en-US" altLang="zh-CN" sz="2100" dirty="0"/>
          </a:p>
          <a:p>
            <a:pPr marL="609600" indent="-609600" eaLnBrk="1" hangingPunct="1">
              <a:lnSpc>
                <a:spcPct val="100000"/>
              </a:lnSpc>
              <a:spcBef>
                <a:spcPts val="20"/>
              </a:spcBef>
              <a:spcAft>
                <a:spcPts val="0"/>
              </a:spcAft>
              <a:buSzPct val="90000"/>
              <a:buNone/>
            </a:pPr>
            <a:r>
              <a:rPr lang="en-US" altLang="x-none" sz="1890" dirty="0"/>
              <a:t>	</a:t>
            </a:r>
            <a:r>
              <a:rPr lang="en-US" altLang="zh-CN" sz="1890" dirty="0"/>
              <a:t>C:\&gt;Javac Test.Java</a:t>
            </a:r>
          </a:p>
          <a:p>
            <a:pPr marL="609600" indent="-609600" eaLnBrk="1" hangingPunct="1">
              <a:lnSpc>
                <a:spcPct val="100000"/>
              </a:lnSpc>
              <a:spcBef>
                <a:spcPts val="20"/>
              </a:spcBef>
              <a:spcAft>
                <a:spcPts val="0"/>
              </a:spcAft>
              <a:buSzPct val="90000"/>
              <a:buNone/>
            </a:pPr>
            <a:r>
              <a:rPr lang="en-US" altLang="x-none" sz="1890" dirty="0"/>
              <a:t>	</a:t>
            </a:r>
            <a:r>
              <a:rPr lang="en-US" altLang="zh-CN" sz="1890" dirty="0"/>
              <a:t>Test.Java:3: '{' expected</a:t>
            </a:r>
          </a:p>
          <a:p>
            <a:pPr marL="609600" indent="-609600" eaLnBrk="1" hangingPunct="1">
              <a:lnSpc>
                <a:spcPct val="100000"/>
              </a:lnSpc>
              <a:spcBef>
                <a:spcPts val="20"/>
              </a:spcBef>
              <a:spcAft>
                <a:spcPts val="0"/>
              </a:spcAft>
              <a:buSzPct val="90000"/>
              <a:buNone/>
            </a:pPr>
            <a:r>
              <a:rPr lang="en-US" altLang="x-none" sz="1890" dirty="0"/>
              <a:t>                </a:t>
            </a:r>
            <a:r>
              <a:rPr lang="en-US" altLang="zh-CN" sz="1890" dirty="0"/>
              <a:t>int a[][] = new int[][];</a:t>
            </a:r>
          </a:p>
          <a:p>
            <a:pPr marL="609600" indent="-609600" eaLnBrk="1" hangingPunct="1">
              <a:lnSpc>
                <a:spcPct val="100000"/>
              </a:lnSpc>
              <a:spcBef>
                <a:spcPts val="20"/>
              </a:spcBef>
              <a:spcAft>
                <a:spcPts val="0"/>
              </a:spcAft>
              <a:buSzPct val="90000"/>
              <a:buNone/>
            </a:pPr>
            <a:r>
              <a:rPr lang="en-US" altLang="x-none" sz="1890" dirty="0"/>
              <a:t>                                              </a:t>
            </a:r>
            <a:r>
              <a:rPr lang="en-US" altLang="zh-CN" sz="1890" dirty="0"/>
              <a:t>^</a:t>
            </a:r>
          </a:p>
          <a:p>
            <a:pPr marL="609600" indent="-609600" eaLnBrk="1" hangingPunct="1">
              <a:lnSpc>
                <a:spcPct val="100000"/>
              </a:lnSpc>
              <a:spcBef>
                <a:spcPts val="20"/>
              </a:spcBef>
              <a:buSzPct val="90000"/>
              <a:buNone/>
            </a:pPr>
            <a:r>
              <a:rPr lang="en-US" altLang="x-none" sz="1890" dirty="0"/>
              <a:t>	</a:t>
            </a:r>
            <a:r>
              <a:rPr lang="en-US" altLang="zh-CN" sz="1890" dirty="0"/>
              <a:t>1 error</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多维数组</a:t>
            </a:r>
          </a:p>
        </p:txBody>
      </p:sp>
    </p:spTree>
    <p:custDataLst>
      <p:tags r:id="rId1"/>
    </p:custData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57500" lnSpcReduction="20000"/>
          </a:bodyPr>
          <a:lstStyle/>
          <a:p>
            <a:pPr algn="l" eaLnBrk="1" hangingPunct="1">
              <a:lnSpc>
                <a:spcPct val="150000"/>
              </a:lnSpc>
              <a:spcAft>
                <a:spcPts val="0"/>
              </a:spcAft>
              <a:buClr>
                <a:srgbClr val="000000"/>
              </a:buClr>
              <a:buSzTx/>
              <a:buChar char="•"/>
            </a:pPr>
            <a:r>
              <a:rPr lang="zh-CN" altLang="en-US" sz="3200" dirty="0"/>
              <a:t>例3</a:t>
            </a:r>
            <a:endParaRPr lang="zh-CN" altLang="en-US" dirty="0"/>
          </a:p>
          <a:p>
            <a:pPr marL="609600" indent="-609600" eaLnBrk="1" hangingPunct="1">
              <a:lnSpc>
                <a:spcPct val="150000"/>
              </a:lnSpc>
              <a:spcBef>
                <a:spcPts val="20"/>
              </a:spcBef>
              <a:spcAft>
                <a:spcPts val="0"/>
              </a:spcAft>
              <a:buSzPct val="90000"/>
              <a:buNone/>
            </a:pPr>
            <a:r>
              <a:rPr lang="en-US" altLang="x-none" dirty="0"/>
              <a:t>	</a:t>
            </a:r>
            <a:r>
              <a:rPr lang="en-US" altLang="zh-CN" dirty="0"/>
              <a:t>class Test {</a:t>
            </a:r>
          </a:p>
          <a:p>
            <a:pPr marL="609600" indent="-609600" eaLnBrk="1" hangingPunct="1">
              <a:lnSpc>
                <a:spcPct val="150000"/>
              </a:lnSpc>
              <a:spcBef>
                <a:spcPts val="20"/>
              </a:spcBef>
              <a:spcAft>
                <a:spcPts val="0"/>
              </a:spcAft>
              <a:buSzPct val="90000"/>
              <a:buNone/>
            </a:pPr>
            <a:r>
              <a:rPr lang="en-US" altLang="x-none" dirty="0"/>
              <a:t>		</a:t>
            </a:r>
            <a:r>
              <a:rPr lang="en-US" altLang="zh-CN" dirty="0"/>
              <a:t>public static void main(String args[]) {</a:t>
            </a:r>
          </a:p>
          <a:p>
            <a:pPr marL="609600" indent="-609600" eaLnBrk="1" hangingPunct="1">
              <a:lnSpc>
                <a:spcPct val="150000"/>
              </a:lnSpc>
              <a:spcBef>
                <a:spcPts val="20"/>
              </a:spcBef>
              <a:spcAft>
                <a:spcPts val="0"/>
              </a:spcAft>
              <a:buSzPct val="90000"/>
              <a:buNone/>
            </a:pPr>
            <a:r>
              <a:rPr lang="en-US" altLang="x-none" dirty="0"/>
              <a:t>			</a:t>
            </a:r>
            <a:r>
              <a:rPr lang="en-US" altLang="zh-CN" dirty="0"/>
              <a:t>int a[][] = new int[9][];</a:t>
            </a:r>
          </a:p>
          <a:p>
            <a:pPr marL="609600" indent="-609600" eaLnBrk="1" hangingPunct="1">
              <a:lnSpc>
                <a:spcPct val="150000"/>
              </a:lnSpc>
              <a:spcBef>
                <a:spcPts val="20"/>
              </a:spcBef>
              <a:spcAft>
                <a:spcPts val="0"/>
              </a:spcAft>
              <a:buSzPct val="90000"/>
              <a:buNone/>
            </a:pPr>
            <a:r>
              <a:rPr lang="en-US" altLang="x-none" dirty="0"/>
              <a:t>			</a:t>
            </a:r>
            <a:r>
              <a:rPr lang="en-US" altLang="zh-CN" dirty="0"/>
              <a:t>System.out.println(a.length);</a:t>
            </a:r>
          </a:p>
          <a:p>
            <a:pPr marL="609600" indent="-609600" eaLnBrk="1" hangingPunct="1">
              <a:lnSpc>
                <a:spcPct val="150000"/>
              </a:lnSpc>
              <a:spcBef>
                <a:spcPts val="20"/>
              </a:spcBef>
              <a:spcAft>
                <a:spcPts val="0"/>
              </a:spcAft>
              <a:buSzPct val="90000"/>
              <a:buNone/>
            </a:pPr>
            <a:r>
              <a:rPr lang="en-US" altLang="x-none" dirty="0"/>
              <a:t>		</a:t>
            </a:r>
            <a:r>
              <a:rPr lang="en-US" altLang="zh-CN" dirty="0"/>
              <a:t>}</a:t>
            </a:r>
          </a:p>
          <a:p>
            <a:pPr marL="609600" indent="-609600" eaLnBrk="1" hangingPunct="1">
              <a:lnSpc>
                <a:spcPct val="150000"/>
              </a:lnSpc>
              <a:spcBef>
                <a:spcPts val="20"/>
              </a:spcBef>
              <a:spcAft>
                <a:spcPts val="0"/>
              </a:spcAft>
              <a:buSzPct val="90000"/>
              <a:buNone/>
            </a:pPr>
            <a:r>
              <a:rPr lang="en-US" altLang="x-none" dirty="0"/>
              <a:t>	</a:t>
            </a:r>
            <a:r>
              <a:rPr lang="en-US" altLang="zh-CN" dirty="0"/>
              <a:t>}</a:t>
            </a:r>
          </a:p>
          <a:p>
            <a:pPr marL="609600" indent="-609600" eaLnBrk="1" hangingPunct="1">
              <a:lnSpc>
                <a:spcPct val="150000"/>
              </a:lnSpc>
              <a:buSzPct val="90000"/>
              <a:buNone/>
            </a:pPr>
            <a:endParaRPr lang="en-US" altLang="zh-CN" dirty="0"/>
          </a:p>
          <a:p>
            <a:pPr marL="609600" indent="-609600" eaLnBrk="1" hangingPunct="1">
              <a:lnSpc>
                <a:spcPct val="150000"/>
              </a:lnSpc>
              <a:spcBef>
                <a:spcPts val="20"/>
              </a:spcBef>
              <a:spcAft>
                <a:spcPts val="0"/>
              </a:spcAft>
              <a:buSzPct val="90000"/>
              <a:buNone/>
            </a:pPr>
            <a:r>
              <a:rPr lang="en-US" altLang="x-none" dirty="0"/>
              <a:t>	</a:t>
            </a:r>
            <a:r>
              <a:rPr lang="en-US" altLang="zh-CN" dirty="0"/>
              <a:t>C:\&gt;Javac Test.Java</a:t>
            </a:r>
          </a:p>
          <a:p>
            <a:pPr marL="609600" indent="-609600" eaLnBrk="1" hangingPunct="1">
              <a:lnSpc>
                <a:spcPct val="150000"/>
              </a:lnSpc>
              <a:spcBef>
                <a:spcPts val="20"/>
              </a:spcBef>
              <a:spcAft>
                <a:spcPts val="0"/>
              </a:spcAft>
              <a:buSzPct val="90000"/>
              <a:buNone/>
            </a:pPr>
            <a:r>
              <a:rPr lang="en-US" altLang="x-none" dirty="0"/>
              <a:t>	</a:t>
            </a:r>
            <a:r>
              <a:rPr lang="en-US" altLang="zh-CN" dirty="0"/>
              <a:t>C:\&gt;Java Test</a:t>
            </a:r>
          </a:p>
          <a:p>
            <a:pPr marL="609600" indent="-609600" eaLnBrk="1" hangingPunct="1">
              <a:lnSpc>
                <a:spcPct val="150000"/>
              </a:lnSpc>
              <a:spcBef>
                <a:spcPts val="20"/>
              </a:spcBef>
              <a:buSzPct val="90000"/>
              <a:buNone/>
            </a:pPr>
            <a:r>
              <a:rPr lang="en-US" altLang="x-none" dirty="0"/>
              <a:t>	</a:t>
            </a:r>
            <a:r>
              <a:rPr lang="en-US" altLang="zh-CN" dirty="0"/>
              <a:t>9</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多维数组</a:t>
            </a:r>
          </a:p>
        </p:txBody>
      </p:sp>
    </p:spTree>
    <p:custDataLst>
      <p:tags r:id="rId1"/>
    </p:custData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75000" lnSpcReduction="20000"/>
          </a:bodyPr>
          <a:lstStyle/>
          <a:p>
            <a:pPr algn="l" eaLnBrk="1" hangingPunct="1">
              <a:lnSpc>
                <a:spcPct val="150000"/>
              </a:lnSpc>
              <a:spcAft>
                <a:spcPts val="0"/>
              </a:spcAft>
              <a:buClr>
                <a:srgbClr val="000000"/>
              </a:buClr>
              <a:buSzTx/>
            </a:pPr>
            <a:r>
              <a:rPr lang="zh-CN" altLang="en-US" dirty="0"/>
              <a:t>起点和终点</a:t>
            </a:r>
          </a:p>
          <a:p>
            <a:pPr marL="742950" lvl="1" indent="-285750" eaLnBrk="1" hangingPunct="1">
              <a:lnSpc>
                <a:spcPct val="150000"/>
              </a:lnSpc>
              <a:spcBef>
                <a:spcPts val="20"/>
              </a:spcBef>
              <a:spcAft>
                <a:spcPts val="0"/>
              </a:spcAft>
              <a:buClr>
                <a:schemeClr val="accent1"/>
              </a:buClr>
              <a:buSzTx/>
            </a:pPr>
            <a:r>
              <a:rPr lang="zh-CN" altLang="en-US" dirty="0"/>
              <a:t>数组的长度</a:t>
            </a:r>
            <a:r>
              <a:rPr lang="en-US" altLang="zh-CN" dirty="0"/>
              <a:t>: </a:t>
            </a:r>
            <a:r>
              <a:rPr lang="zh-CN" altLang="en-US" dirty="0"/>
              <a:t>数组名</a:t>
            </a:r>
            <a:r>
              <a:rPr lang="en-US" altLang="zh-CN" dirty="0"/>
              <a:t>.length</a:t>
            </a:r>
          </a:p>
          <a:p>
            <a:pPr marL="742950" lvl="1" indent="-285750" eaLnBrk="1" hangingPunct="1">
              <a:lnSpc>
                <a:spcPct val="150000"/>
              </a:lnSpc>
              <a:spcBef>
                <a:spcPts val="20"/>
              </a:spcBef>
              <a:spcAft>
                <a:spcPts val="0"/>
              </a:spcAft>
              <a:buClr>
                <a:schemeClr val="accent1"/>
              </a:buClr>
              <a:buSzTx/>
            </a:pPr>
            <a:r>
              <a:rPr lang="zh-CN" altLang="en-US" dirty="0"/>
              <a:t>起点</a:t>
            </a:r>
            <a:r>
              <a:rPr lang="en-US" altLang="zh-CN" dirty="0"/>
              <a:t>:   </a:t>
            </a:r>
            <a:r>
              <a:rPr lang="zh-CN" altLang="en-US" dirty="0"/>
              <a:t>数组名</a:t>
            </a:r>
            <a:r>
              <a:rPr lang="en-US" altLang="zh-CN" dirty="0"/>
              <a:t>[0]</a:t>
            </a:r>
          </a:p>
          <a:p>
            <a:pPr marL="742950" lvl="1" indent="-285750" eaLnBrk="1" hangingPunct="1">
              <a:lnSpc>
                <a:spcPct val="150000"/>
              </a:lnSpc>
              <a:spcBef>
                <a:spcPts val="20"/>
              </a:spcBef>
              <a:spcAft>
                <a:spcPts val="0"/>
              </a:spcAft>
              <a:buClr>
                <a:schemeClr val="accent1"/>
              </a:buClr>
              <a:buSzTx/>
            </a:pPr>
            <a:r>
              <a:rPr lang="zh-CN" altLang="en-US" dirty="0"/>
              <a:t>终点</a:t>
            </a:r>
            <a:r>
              <a:rPr lang="en-US" altLang="zh-CN" dirty="0"/>
              <a:t>:   </a:t>
            </a:r>
            <a:r>
              <a:rPr lang="zh-CN" altLang="en-US" dirty="0"/>
              <a:t>数组名</a:t>
            </a:r>
            <a:r>
              <a:rPr lang="en-US" altLang="zh-CN" dirty="0"/>
              <a:t>[length-1]</a:t>
            </a:r>
          </a:p>
          <a:p>
            <a:pPr marL="990600" lvl="1" indent="-533400" eaLnBrk="1" hangingPunct="1">
              <a:lnSpc>
                <a:spcPct val="150000"/>
              </a:lnSpc>
              <a:buSzPct val="90000"/>
              <a:buNone/>
            </a:pPr>
            <a:endParaRPr lang="en-US" altLang="zh-CN" dirty="0"/>
          </a:p>
          <a:p>
            <a:pPr marL="990600" lvl="1" indent="-533400" eaLnBrk="1" hangingPunct="1">
              <a:lnSpc>
                <a:spcPct val="150000"/>
              </a:lnSpc>
              <a:spcBef>
                <a:spcPts val="20"/>
              </a:spcBef>
              <a:spcAft>
                <a:spcPts val="0"/>
              </a:spcAft>
              <a:buSzPct val="90000"/>
              <a:buNone/>
            </a:pPr>
            <a:r>
              <a:rPr lang="en-US" altLang="zh-CN" dirty="0"/>
              <a:t>int i = {4, 56, 78, 9, 34};</a:t>
            </a:r>
          </a:p>
          <a:p>
            <a:pPr marL="990600" lvl="1" indent="-533400" eaLnBrk="1" hangingPunct="1">
              <a:lnSpc>
                <a:spcPct val="150000"/>
              </a:lnSpc>
              <a:spcBef>
                <a:spcPts val="0"/>
              </a:spcBef>
              <a:spcAft>
                <a:spcPts val="0"/>
              </a:spcAft>
              <a:buSzPct val="90000"/>
              <a:buNone/>
            </a:pPr>
            <a:r>
              <a:rPr lang="en-US" altLang="zh-CN" dirty="0"/>
              <a:t>i.length </a:t>
            </a:r>
            <a:r>
              <a:rPr lang="en-US" altLang="zh-CN" dirty="0">
                <a:sym typeface="Wingdings" panose="05000000000000000000" pitchFamily="2" charset="2"/>
              </a:rPr>
              <a:t> 5</a:t>
            </a:r>
          </a:p>
          <a:p>
            <a:pPr marL="990600" lvl="1" indent="-533400" eaLnBrk="1" hangingPunct="1">
              <a:lnSpc>
                <a:spcPct val="150000"/>
              </a:lnSpc>
              <a:buSzPct val="90000"/>
              <a:buNone/>
            </a:pPr>
            <a:r>
              <a:rPr lang="en-US" altLang="zh-CN" dirty="0"/>
              <a:t>i[0] </a:t>
            </a:r>
            <a:r>
              <a:rPr lang="en-US" altLang="zh-CN" dirty="0">
                <a:sym typeface="Wingdings" panose="05000000000000000000" pitchFamily="2" charset="2"/>
              </a:rPr>
              <a:t></a:t>
            </a:r>
            <a:r>
              <a:rPr lang="en-US" altLang="zh-CN" dirty="0"/>
              <a:t> 4</a:t>
            </a:r>
          </a:p>
          <a:p>
            <a:pPr marL="990600" lvl="1" indent="-533400" eaLnBrk="1" hangingPunct="1">
              <a:lnSpc>
                <a:spcPct val="150000"/>
              </a:lnSpc>
              <a:buSzPct val="90000"/>
              <a:buNone/>
            </a:pPr>
            <a:r>
              <a:rPr lang="en-US" altLang="zh-CN" dirty="0"/>
              <a:t>i[length-1]=i[4]</a:t>
            </a:r>
            <a:r>
              <a:rPr lang="en-US" altLang="zh-CN" dirty="0">
                <a:sym typeface="Wingdings" panose="05000000000000000000" pitchFamily="2" charset="2"/>
              </a:rPr>
              <a:t>34</a:t>
            </a:r>
          </a:p>
          <a:p>
            <a:pPr marL="990600" lvl="1" indent="-533400" eaLnBrk="1" hangingPunct="1">
              <a:lnSpc>
                <a:spcPct val="150000"/>
              </a:lnSpc>
              <a:buSzPct val="90000"/>
              <a:buNone/>
            </a:pPr>
            <a:r>
              <a:rPr lang="en-US" altLang="zh-CN" dirty="0">
                <a:sym typeface="Wingdings" panose="05000000000000000000" pitchFamily="2" charset="2"/>
              </a:rPr>
              <a:t>i[a] </a:t>
            </a:r>
            <a:r>
              <a:rPr lang="zh-CN" altLang="en-US" dirty="0">
                <a:sym typeface="Wingdings" panose="05000000000000000000" pitchFamily="2" charset="2"/>
              </a:rPr>
              <a:t>若</a:t>
            </a:r>
            <a:r>
              <a:rPr lang="en-US" altLang="zh-CN" dirty="0">
                <a:sym typeface="Wingdings" panose="05000000000000000000" pitchFamily="2" charset="2"/>
              </a:rPr>
              <a:t>a&gt;4 </a:t>
            </a:r>
            <a:r>
              <a:rPr lang="zh-CN" altLang="en-US" dirty="0">
                <a:sym typeface="Wingdings" panose="05000000000000000000" pitchFamily="2" charset="2"/>
              </a:rPr>
              <a:t>则</a:t>
            </a:r>
            <a:r>
              <a:rPr lang="en-US" altLang="zh-CN" dirty="0">
                <a:sym typeface="Wingdings" panose="05000000000000000000" pitchFamily="2" charset="2"/>
              </a:rPr>
              <a:t>???</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数组的界限</a:t>
            </a:r>
          </a:p>
        </p:txBody>
      </p:sp>
    </p:spTree>
    <p:custDataLst>
      <p:tags r:id="rId1"/>
    </p:custData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85000"/>
          </a:bodyPr>
          <a:lstStyle/>
          <a:p>
            <a:pPr algn="l" eaLnBrk="1" hangingPunct="1">
              <a:lnSpc>
                <a:spcPct val="150000"/>
              </a:lnSpc>
              <a:spcAft>
                <a:spcPts val="0"/>
              </a:spcAft>
              <a:buClr>
                <a:srgbClr val="000000"/>
              </a:buClr>
              <a:buSzTx/>
            </a:pPr>
            <a:r>
              <a:rPr lang="zh-CN" altLang="en-US" dirty="0"/>
              <a:t>Java应用程序的主方法(程序的入口) </a:t>
            </a:r>
          </a:p>
          <a:p>
            <a:pPr marL="800100" lvl="1" indent="-342900" eaLnBrk="1" hangingPunct="1">
              <a:lnSpc>
                <a:spcPct val="150000"/>
              </a:lnSpc>
              <a:spcBef>
                <a:spcPts val="20"/>
              </a:spcBef>
              <a:spcAft>
                <a:spcPts val="0"/>
              </a:spcAft>
              <a:buClr>
                <a:schemeClr val="accent1"/>
              </a:buClr>
              <a:buSzTx/>
            </a:pPr>
            <a:r>
              <a:rPr lang="en-US" altLang="zh-CN" dirty="0"/>
              <a:t>public static void main (String args[]) {…}</a:t>
            </a:r>
          </a:p>
          <a:p>
            <a:pPr marL="800100" lvl="1" indent="-342900" eaLnBrk="1" hangingPunct="1">
              <a:lnSpc>
                <a:spcPct val="150000"/>
              </a:lnSpc>
              <a:spcBef>
                <a:spcPts val="20"/>
              </a:spcBef>
              <a:spcAft>
                <a:spcPts val="0"/>
              </a:spcAft>
              <a:buClr>
                <a:schemeClr val="accent1"/>
              </a:buClr>
              <a:buSzTx/>
            </a:pPr>
            <a:r>
              <a:rPr lang="en-US" altLang="zh-CN" dirty="0"/>
              <a:t>public static void main (String[] args) {…}</a:t>
            </a:r>
          </a:p>
          <a:p>
            <a:pPr algn="l" eaLnBrk="1" hangingPunct="1">
              <a:lnSpc>
                <a:spcPct val="150000"/>
              </a:lnSpc>
              <a:spcBef>
                <a:spcPts val="20"/>
              </a:spcBef>
              <a:spcAft>
                <a:spcPts val="0"/>
              </a:spcAft>
              <a:buClr>
                <a:srgbClr val="000000"/>
              </a:buClr>
              <a:buSzTx/>
            </a:pPr>
            <a:r>
              <a:rPr lang="zh-CN" altLang="en-US" dirty="0"/>
              <a:t>命令行参数</a:t>
            </a:r>
          </a:p>
          <a:p>
            <a:pPr marL="800100" lvl="1" indent="-342900" eaLnBrk="1" hangingPunct="1">
              <a:lnSpc>
                <a:spcPct val="150000"/>
              </a:lnSpc>
              <a:spcBef>
                <a:spcPts val="20"/>
              </a:spcBef>
              <a:spcAft>
                <a:spcPts val="0"/>
              </a:spcAft>
              <a:buClr>
                <a:schemeClr val="accent1"/>
              </a:buClr>
              <a:buSzTx/>
            </a:pPr>
            <a:r>
              <a:rPr lang="zh-CN" altLang="en-US" dirty="0"/>
              <a:t>在启动</a:t>
            </a:r>
            <a:r>
              <a:rPr lang="en-US" altLang="zh-CN" dirty="0"/>
              <a:t>Java</a:t>
            </a:r>
            <a:r>
              <a:rPr lang="zh-CN" altLang="en-US" dirty="0"/>
              <a:t>应用程序时一次性地传递多个参数</a:t>
            </a:r>
          </a:p>
          <a:p>
            <a:pPr marL="800100" lvl="1" indent="-342900" eaLnBrk="1" hangingPunct="1">
              <a:lnSpc>
                <a:spcPct val="150000"/>
              </a:lnSpc>
              <a:spcBef>
                <a:spcPts val="20"/>
              </a:spcBef>
              <a:spcAft>
                <a:spcPts val="0"/>
              </a:spcAft>
              <a:buClr>
                <a:schemeClr val="accent1"/>
              </a:buClr>
              <a:buSzTx/>
            </a:pPr>
            <a:r>
              <a:rPr lang="en-US" altLang="zh-CN" dirty="0"/>
              <a:t>C:\Java </a:t>
            </a:r>
            <a:r>
              <a:rPr lang="zh-CN" altLang="en-US" dirty="0"/>
              <a:t>类名 参数 参数 </a:t>
            </a:r>
            <a:r>
              <a:rPr lang="en-US" altLang="zh-CN" dirty="0"/>
              <a:t>……</a:t>
            </a:r>
          </a:p>
          <a:p>
            <a:pPr marL="800100" lvl="1" indent="-342900" eaLnBrk="1" hangingPunct="1">
              <a:lnSpc>
                <a:spcPct val="150000"/>
              </a:lnSpc>
              <a:spcBef>
                <a:spcPts val="20"/>
              </a:spcBef>
              <a:spcAft>
                <a:spcPts val="0"/>
              </a:spcAft>
              <a:buClr>
                <a:schemeClr val="accent1"/>
              </a:buClr>
              <a:buSzTx/>
            </a:pPr>
            <a:r>
              <a:rPr lang="zh-CN" altLang="en-US" dirty="0"/>
              <a:t>空格将参数分开</a:t>
            </a:r>
          </a:p>
          <a:p>
            <a:pPr marL="800100" lvl="1" indent="-342900" eaLnBrk="1" hangingPunct="1">
              <a:lnSpc>
                <a:spcPct val="150000"/>
              </a:lnSpc>
              <a:spcBef>
                <a:spcPts val="20"/>
              </a:spcBef>
              <a:buClr>
                <a:schemeClr val="accent1"/>
              </a:buClr>
              <a:buSzTx/>
            </a:pPr>
            <a:r>
              <a:rPr lang="zh-CN" altLang="en-US" dirty="0"/>
              <a:t>若参数包含空格，用双引号引起来</a:t>
            </a:r>
          </a:p>
          <a:p>
            <a:pPr marL="342900" indent="-342900" eaLnBrk="1" hangingPunct="1">
              <a:lnSpc>
                <a:spcPct val="150000"/>
              </a:lnSpc>
              <a:buClr>
                <a:schemeClr val="hlink"/>
              </a:buClr>
              <a:buSzTx/>
              <a:buFont typeface="Wingdings" panose="05000000000000000000" pitchFamily="2" charset="2"/>
              <a:buChar char="l"/>
            </a:pPr>
            <a:endParaRPr lang="zh-CN" altLang="en-US" dirty="0"/>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命令行参数</a:t>
            </a:r>
          </a:p>
        </p:txBody>
      </p:sp>
    </p:spTree>
    <p:custDataLst>
      <p:tags r:id="rId1"/>
    </p:custData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命令行参数</a:t>
            </a:r>
          </a:p>
        </p:txBody>
      </p:sp>
      <p:sp>
        <p:nvSpPr>
          <p:cNvPr id="124931" name="Rectangle 3"/>
          <p:cNvSpPr>
            <a:spLocks noGrp="1"/>
          </p:cNvSpPr>
          <p:nvPr>
            <p:ph idx="1"/>
          </p:nvPr>
        </p:nvSpPr>
        <p:spPr/>
        <p:txBody>
          <a:bodyPr vert="horz" wrap="square" lIns="96011" tIns="48005" rIns="96011" bIns="48005" anchor="t"/>
          <a:lstStyle/>
          <a:p>
            <a:pPr marL="609600" indent="-609600" eaLnBrk="1" hangingPunct="1">
              <a:lnSpc>
                <a:spcPct val="90000"/>
              </a:lnSpc>
              <a:spcAft>
                <a:spcPts val="0"/>
              </a:spcAft>
              <a:buSzPct val="90000"/>
            </a:pPr>
            <a:r>
              <a:rPr lang="zh-CN" altLang="en-US" dirty="0"/>
              <a:t>示例</a:t>
            </a:r>
            <a:r>
              <a:rPr lang="zh-CN" altLang="en-US" sz="2940" dirty="0"/>
              <a:t> </a:t>
            </a:r>
            <a:r>
              <a:rPr lang="en-US" altLang="zh-CN" sz="2940" dirty="0"/>
              <a:t>1</a:t>
            </a:r>
          </a:p>
          <a:p>
            <a:pPr marL="990600" lvl="1" indent="-533400" eaLnBrk="1" hangingPunct="1">
              <a:lnSpc>
                <a:spcPct val="90000"/>
              </a:lnSpc>
              <a:buSzPct val="90000"/>
              <a:buNone/>
            </a:pPr>
            <a:endParaRPr lang="en-US" altLang="x-none" sz="2520" dirty="0">
              <a:latin typeface="Tahoma" panose="020B0604030504040204" pitchFamily="34" charset="0"/>
            </a:endParaRP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class Test {</a:t>
            </a:r>
            <a:r>
              <a:rPr lang="en-US" altLang="x-none" sz="2520" dirty="0">
                <a:latin typeface="Tahoma" panose="020B0604030504040204" pitchFamily="34" charset="0"/>
              </a:rPr>
              <a:t>	</a:t>
            </a:r>
            <a:endParaRPr lang="en-US" altLang="x-none" sz="2520" dirty="0">
              <a:solidFill>
                <a:schemeClr val="hlink"/>
              </a:solidFill>
              <a:latin typeface="Tahoma" panose="020B0604030504040204" pitchFamily="34" charset="0"/>
            </a:endParaRPr>
          </a:p>
          <a:p>
            <a:pPr marL="990600" lvl="1" indent="-533400" eaLnBrk="1" hangingPunct="1">
              <a:lnSpc>
                <a:spcPct val="90000"/>
              </a:lnSpc>
              <a:spcBef>
                <a:spcPts val="20"/>
              </a:spcBef>
              <a:spcAft>
                <a:spcPts val="0"/>
              </a:spcAft>
              <a:buSzPct val="90000"/>
              <a:buNone/>
            </a:pPr>
            <a:r>
              <a:rPr lang="en-US" altLang="x-none" sz="2520" dirty="0">
                <a:latin typeface="Tahoma" panose="020B0604030504040204" pitchFamily="34" charset="0"/>
              </a:rPr>
              <a:t>	</a:t>
            </a:r>
            <a:r>
              <a:rPr lang="en-US" altLang="zh-CN" sz="2520" dirty="0">
                <a:latin typeface="Tahoma" panose="020B0604030504040204" pitchFamily="34" charset="0"/>
              </a:rPr>
              <a:t>public static void main(String[] args) {</a:t>
            </a:r>
          </a:p>
          <a:p>
            <a:pPr marL="990600" lvl="1" indent="-533400" eaLnBrk="1" hangingPunct="1">
              <a:lnSpc>
                <a:spcPct val="90000"/>
              </a:lnSpc>
              <a:spcBef>
                <a:spcPts val="20"/>
              </a:spcBef>
              <a:spcAft>
                <a:spcPts val="0"/>
              </a:spcAft>
              <a:buSzPct val="90000"/>
              <a:buNone/>
            </a:pPr>
            <a:r>
              <a:rPr lang="en-US" altLang="x-none" sz="2520" dirty="0">
                <a:latin typeface="Tahoma" panose="020B0604030504040204" pitchFamily="34" charset="0"/>
              </a:rPr>
              <a:t>		</a:t>
            </a:r>
            <a:r>
              <a:rPr lang="en-US" altLang="zh-CN" sz="2520" dirty="0">
                <a:latin typeface="Tahoma" panose="020B0604030504040204" pitchFamily="34" charset="0"/>
              </a:rPr>
              <a:t>int len = args</a:t>
            </a:r>
            <a:r>
              <a:rPr lang="en-US" altLang="zh-CN" sz="2520" dirty="0">
                <a:solidFill>
                  <a:schemeClr val="hlink"/>
                </a:solidFill>
                <a:latin typeface="Tahoma" panose="020B0604030504040204" pitchFamily="34" charset="0"/>
              </a:rPr>
              <a:t>.length</a:t>
            </a:r>
            <a:r>
              <a:rPr lang="en-US" altLang="zh-CN" sz="2520" dirty="0">
                <a:latin typeface="Tahoma" panose="020B0604030504040204" pitchFamily="34" charset="0"/>
              </a:rPr>
              <a:t>;</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System.out.println(len);</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for (int i = 0; i &lt; len; i++) </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System.out.println(args[i]);</a:t>
            </a:r>
          </a:p>
          <a:p>
            <a:pPr marL="990600" lvl="1" indent="-533400" eaLnBrk="1" hangingPunct="1">
              <a:lnSpc>
                <a:spcPct val="90000"/>
              </a:lnSpc>
              <a:spcBef>
                <a:spcPts val="20"/>
              </a:spcBef>
              <a:spcAft>
                <a:spcPts val="0"/>
              </a:spcAft>
              <a:buSzPct val="90000"/>
              <a:buNone/>
            </a:pPr>
            <a:r>
              <a:rPr lang="en-US" altLang="zh-CN" sz="2520" dirty="0">
                <a:latin typeface="Tahoma" panose="020B0604030504040204" pitchFamily="34" charset="0"/>
              </a:rPr>
              <a:t>	}</a:t>
            </a:r>
          </a:p>
          <a:p>
            <a:pPr marL="990600" lvl="1" indent="-533400" eaLnBrk="1" hangingPunct="1">
              <a:lnSpc>
                <a:spcPct val="90000"/>
              </a:lnSpc>
              <a:buSzPct val="90000"/>
              <a:buNone/>
            </a:pPr>
            <a:endParaRPr lang="en-US" altLang="zh-CN" sz="2520" dirty="0">
              <a:latin typeface="Tahoma" panose="020B0604030504040204" pitchFamily="34" charset="0"/>
            </a:endParaRPr>
          </a:p>
          <a:p>
            <a:pPr marL="990600" lvl="1" indent="-533400" eaLnBrk="1" hangingPunct="1">
              <a:lnSpc>
                <a:spcPct val="90000"/>
              </a:lnSpc>
              <a:spcBef>
                <a:spcPts val="20"/>
              </a:spcBef>
              <a:buSzPct val="90000"/>
              <a:buNone/>
            </a:pPr>
            <a:r>
              <a:rPr lang="en-US" altLang="zh-CN" sz="2520" dirty="0">
                <a:latin typeface="Tahoma" panose="020B0604030504040204" pitchFamily="34" charset="0"/>
              </a:rPr>
              <a:t>}</a:t>
            </a:r>
          </a:p>
        </p:txBody>
      </p:sp>
      <p:sp>
        <p:nvSpPr>
          <p:cNvPr id="124932" name="Rectangle 4"/>
          <p:cNvSpPr/>
          <p:nvPr/>
        </p:nvSpPr>
        <p:spPr>
          <a:xfrm>
            <a:off x="7256145" y="1259840"/>
            <a:ext cx="3420745" cy="908685"/>
          </a:xfrm>
          <a:prstGeom prst="rect">
            <a:avLst/>
          </a:prstGeom>
          <a:solidFill>
            <a:srgbClr val="C0C0C0"/>
          </a:solidFill>
          <a:ln w="9525">
            <a:noFill/>
          </a:ln>
        </p:spPr>
        <p:txBody>
          <a:bodyPr wrap="none" anchor="ctr"/>
          <a:lstStyle/>
          <a:p>
            <a:pPr eaLnBrk="1" hangingPunct="1">
              <a:spcAft>
                <a:spcPts val="0"/>
              </a:spcAft>
            </a:pPr>
            <a:r>
              <a:rPr lang="en-US" altLang="zh-CN" sz="2520" dirty="0">
                <a:latin typeface="Tahoma" panose="020B0604030504040204" pitchFamily="34" charset="0"/>
              </a:rPr>
              <a:t>C:\&gt;Java Test</a:t>
            </a:r>
          </a:p>
          <a:p>
            <a:pPr eaLnBrk="1" hangingPunct="1">
              <a:spcBef>
                <a:spcPts val="0"/>
              </a:spcBef>
            </a:pPr>
            <a:r>
              <a:rPr lang="en-US" altLang="zh-CN" sz="2520" dirty="0">
                <a:latin typeface="Tahoma" panose="020B0604030504040204" pitchFamily="34" charset="0"/>
              </a:rPr>
              <a:t>0</a:t>
            </a:r>
          </a:p>
        </p:txBody>
      </p:sp>
      <p:sp>
        <p:nvSpPr>
          <p:cNvPr id="124933" name="Rectangle 5"/>
          <p:cNvSpPr/>
          <p:nvPr/>
        </p:nvSpPr>
        <p:spPr>
          <a:xfrm>
            <a:off x="7255510" y="2168525"/>
            <a:ext cx="3420745" cy="2089785"/>
          </a:xfrm>
          <a:prstGeom prst="rect">
            <a:avLst/>
          </a:prstGeom>
          <a:solidFill>
            <a:srgbClr val="C0C0C0"/>
          </a:solidFill>
          <a:ln w="9525">
            <a:noFill/>
          </a:ln>
        </p:spPr>
        <p:txBody>
          <a:bodyPr wrap="none" anchor="ctr"/>
          <a:lstStyle/>
          <a:p>
            <a:pPr eaLnBrk="1" hangingPunct="1">
              <a:spcAft>
                <a:spcPts val="0"/>
              </a:spcAft>
            </a:pPr>
            <a:r>
              <a:rPr lang="en-US" altLang="zh-CN" sz="2520" dirty="0">
                <a:latin typeface="Tahoma" panose="020B0604030504040204" pitchFamily="34" charset="0"/>
              </a:rPr>
              <a:t>C:\&gt;Java Test s1 s2</a:t>
            </a:r>
          </a:p>
          <a:p>
            <a:pPr eaLnBrk="1" hangingPunct="1">
              <a:spcBef>
                <a:spcPts val="0"/>
              </a:spcBef>
              <a:spcAft>
                <a:spcPts val="0"/>
              </a:spcAft>
            </a:pPr>
            <a:r>
              <a:rPr lang="en-US" altLang="zh-CN" sz="2520" dirty="0">
                <a:latin typeface="Tahoma" panose="020B0604030504040204" pitchFamily="34" charset="0"/>
              </a:rPr>
              <a:t>2</a:t>
            </a:r>
          </a:p>
          <a:p>
            <a:pPr eaLnBrk="1" hangingPunct="1">
              <a:spcBef>
                <a:spcPts val="0"/>
              </a:spcBef>
              <a:spcAft>
                <a:spcPts val="0"/>
              </a:spcAft>
            </a:pPr>
            <a:r>
              <a:rPr lang="en-US" altLang="zh-CN" sz="2520" dirty="0">
                <a:latin typeface="Tahoma" panose="020B0604030504040204" pitchFamily="34" charset="0"/>
              </a:rPr>
              <a:t>s1</a:t>
            </a:r>
          </a:p>
          <a:p>
            <a:pPr eaLnBrk="1" hangingPunct="1">
              <a:spcBef>
                <a:spcPts val="0"/>
              </a:spcBef>
            </a:pPr>
            <a:r>
              <a:rPr lang="en-US" altLang="zh-CN" sz="2520" dirty="0">
                <a:latin typeface="Tahoma" panose="020B0604030504040204" pitchFamily="34" charset="0"/>
              </a:rPr>
              <a:t>s2</a:t>
            </a:r>
          </a:p>
        </p:txBody>
      </p:sp>
      <p:sp>
        <p:nvSpPr>
          <p:cNvPr id="124934" name="Rectangle 6"/>
          <p:cNvSpPr/>
          <p:nvPr/>
        </p:nvSpPr>
        <p:spPr>
          <a:xfrm>
            <a:off x="7255510" y="4258310"/>
            <a:ext cx="3420745" cy="800100"/>
          </a:xfrm>
          <a:prstGeom prst="rect">
            <a:avLst/>
          </a:prstGeom>
          <a:solidFill>
            <a:srgbClr val="C0C0C0"/>
          </a:solidFill>
          <a:ln w="9525">
            <a:noFill/>
          </a:ln>
        </p:spPr>
        <p:txBody>
          <a:bodyPr wrap="none" anchor="ctr"/>
          <a:lstStyle/>
          <a:p>
            <a:pPr eaLnBrk="1" hangingPunct="1">
              <a:spcAft>
                <a:spcPts val="0"/>
              </a:spcAft>
            </a:pPr>
            <a:r>
              <a:rPr lang="en-US" altLang="zh-CN" sz="2520" dirty="0">
                <a:latin typeface="Tahoma" panose="020B0604030504040204" pitchFamily="34" charset="0"/>
              </a:rPr>
              <a:t>C:\&gt;Java Test "s1 s2"</a:t>
            </a:r>
          </a:p>
        </p:txBody>
      </p:sp>
      <p:sp>
        <p:nvSpPr>
          <p:cNvPr id="124935" name="Rectangle 7"/>
          <p:cNvSpPr/>
          <p:nvPr/>
        </p:nvSpPr>
        <p:spPr>
          <a:xfrm>
            <a:off x="7256145" y="5058410"/>
            <a:ext cx="3420745" cy="1089025"/>
          </a:xfrm>
          <a:prstGeom prst="rect">
            <a:avLst/>
          </a:prstGeom>
          <a:solidFill>
            <a:srgbClr val="C0C0C0"/>
          </a:solidFill>
          <a:ln w="9525">
            <a:noFill/>
          </a:ln>
        </p:spPr>
        <p:txBody>
          <a:bodyPr wrap="none" anchor="ctr"/>
          <a:lstStyle/>
          <a:p>
            <a:pPr eaLnBrk="1" hangingPunct="1">
              <a:spcAft>
                <a:spcPts val="0"/>
              </a:spcAft>
            </a:pPr>
            <a:r>
              <a:rPr lang="en-US" altLang="zh-CN" sz="2520" dirty="0">
                <a:latin typeface="Tahoma" panose="020B0604030504040204" pitchFamily="34" charset="0"/>
              </a:rPr>
              <a:t>1</a:t>
            </a:r>
          </a:p>
          <a:p>
            <a:pPr eaLnBrk="1" hangingPunct="1">
              <a:spcBef>
                <a:spcPts val="0"/>
              </a:spcBef>
            </a:pPr>
            <a:r>
              <a:rPr lang="en-US" altLang="zh-CN" sz="2520" dirty="0">
                <a:latin typeface="Tahoma" panose="020B0604030504040204" pitchFamily="34" charset="0"/>
              </a:rPr>
              <a:t>s1 s2</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124932"/>
                                        </p:tgtEl>
                                        <p:attrNameLst>
                                          <p:attrName>style.visibility</p:attrName>
                                        </p:attrNameLst>
                                      </p:cBhvr>
                                      <p:to>
                                        <p:strVal val="visible"/>
                                      </p:to>
                                    </p:set>
                                    <p:animEffect transition="in" filter="barn(outHorizontal)">
                                      <p:cBhvr>
                                        <p:cTn id="7" dur="500"/>
                                        <p:tgtEl>
                                          <p:spTgt spid="12493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24933"/>
                                        </p:tgtEl>
                                        <p:attrNameLst>
                                          <p:attrName>style.visibility</p:attrName>
                                        </p:attrNameLst>
                                      </p:cBhvr>
                                      <p:to>
                                        <p:strVal val="visible"/>
                                      </p:to>
                                    </p:set>
                                    <p:animEffect transition="in" filter="barn(outHorizontal)">
                                      <p:cBhvr>
                                        <p:cTn id="12" dur="500"/>
                                        <p:tgtEl>
                                          <p:spTgt spid="12493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124934"/>
                                        </p:tgtEl>
                                        <p:attrNameLst>
                                          <p:attrName>style.visibility</p:attrName>
                                        </p:attrNameLst>
                                      </p:cBhvr>
                                      <p:to>
                                        <p:strVal val="visible"/>
                                      </p:to>
                                    </p:set>
                                    <p:animEffect transition="in" filter="barn(outHorizontal)">
                                      <p:cBhvr>
                                        <p:cTn id="17" dur="500"/>
                                        <p:tgtEl>
                                          <p:spTgt spid="12493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124935"/>
                                        </p:tgtEl>
                                        <p:attrNameLst>
                                          <p:attrName>style.visibility</p:attrName>
                                        </p:attrNameLst>
                                      </p:cBhvr>
                                      <p:to>
                                        <p:strVal val="visible"/>
                                      </p:to>
                                    </p:set>
                                    <p:animEffect transition="in" filter="barn(outHorizontal)">
                                      <p:cBhvr>
                                        <p:cTn id="22" dur="500"/>
                                        <p:tgtEl>
                                          <p:spTgt spid="124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2" grpId="0" bldLvl="0" animBg="1"/>
      <p:bldP spid="124933" grpId="0" bldLvl="0" animBg="1"/>
      <p:bldP spid="124934" grpId="0" bldLvl="0" animBg="1"/>
      <p:bldP spid="124935" grpId="0" bldLvl="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pPr eaLnBrk="1" hangingPunct="1">
              <a:spcAft>
                <a:spcPts val="0"/>
              </a:spcAft>
            </a:pPr>
            <a:r>
              <a:rPr lang="zh-CN" altLang="en-US" dirty="0"/>
              <a:t>字符串</a:t>
            </a:r>
          </a:p>
        </p:txBody>
      </p:sp>
      <p:sp>
        <p:nvSpPr>
          <p:cNvPr id="3" name="内容占位符 2"/>
          <p:cNvSpPr>
            <a:spLocks noGrp="1"/>
          </p:cNvSpPr>
          <p:nvPr>
            <p:ph idx="1"/>
            <p:custDataLst>
              <p:tags r:id="rId3"/>
            </p:custDataLst>
          </p:nvPr>
        </p:nvSpPr>
        <p:spPr/>
        <p:txBody>
          <a:bodyPr>
            <a:noAutofit/>
          </a:bodyPr>
          <a:lstStyle/>
          <a:p>
            <a:pPr>
              <a:lnSpc>
                <a:spcPct val="120000"/>
              </a:lnSpc>
              <a:spcAft>
                <a:spcPts val="0"/>
              </a:spcAft>
              <a:buClr>
                <a:srgbClr val="000000"/>
              </a:buClr>
            </a:pPr>
            <a:r>
              <a:rPr lang="zh-CN" altLang="en-US" sz="2100" dirty="0"/>
              <a:t>创建一个 </a:t>
            </a:r>
            <a:r>
              <a:rPr lang="en-US" altLang="zh-CN" sz="2100" dirty="0"/>
              <a:t>String </a:t>
            </a:r>
            <a:r>
              <a:rPr lang="zh-CN" altLang="en-US" sz="2100" dirty="0"/>
              <a:t>类的实例：</a:t>
            </a:r>
          </a:p>
          <a:p>
            <a:pPr lvl="1" eaLnBrk="1" hangingPunct="1">
              <a:lnSpc>
                <a:spcPct val="120000"/>
              </a:lnSpc>
              <a:spcBef>
                <a:spcPts val="20"/>
              </a:spcBef>
              <a:spcAft>
                <a:spcPts val="0"/>
              </a:spcAft>
              <a:buClr>
                <a:schemeClr val="tx1"/>
              </a:buClr>
              <a:buNone/>
            </a:pPr>
            <a:r>
              <a:rPr lang="zh-CN" altLang="en-US" sz="2100" dirty="0"/>
              <a:t> </a:t>
            </a:r>
            <a:r>
              <a:rPr lang="en-US" altLang="zh-CN" sz="2100" dirty="0"/>
              <a:t>String strName1 = "Humpty dumpty"; //</a:t>
            </a:r>
            <a:r>
              <a:rPr lang="zh-CN" altLang="en-US" sz="2100" dirty="0"/>
              <a:t>字符串字面量</a:t>
            </a:r>
          </a:p>
          <a:p>
            <a:pPr lvl="1" eaLnBrk="1" hangingPunct="1">
              <a:lnSpc>
                <a:spcPct val="120000"/>
              </a:lnSpc>
              <a:spcBef>
                <a:spcPts val="20"/>
              </a:spcBef>
              <a:spcAft>
                <a:spcPts val="0"/>
              </a:spcAft>
              <a:buClr>
                <a:schemeClr val="tx1"/>
              </a:buClr>
              <a:buNone/>
            </a:pPr>
            <a:r>
              <a:rPr lang="zh-CN" altLang="en-US" sz="2100" dirty="0"/>
              <a:t> </a:t>
            </a:r>
            <a:r>
              <a:rPr lang="en-US" altLang="zh-CN" sz="2100" dirty="0"/>
              <a:t>String strName2 = new String("Egg");</a:t>
            </a:r>
          </a:p>
          <a:p>
            <a:pPr>
              <a:lnSpc>
                <a:spcPct val="120000"/>
              </a:lnSpc>
              <a:spcBef>
                <a:spcPts val="20"/>
              </a:spcBef>
              <a:spcAft>
                <a:spcPts val="0"/>
              </a:spcAft>
              <a:buClr>
                <a:srgbClr val="000000"/>
              </a:buClr>
            </a:pPr>
            <a:r>
              <a:rPr lang="zh-CN" altLang="en-US" sz="2100" dirty="0"/>
              <a:t>两个或多个字符串可以用"+"运算符合并起来。例如：</a:t>
            </a:r>
          </a:p>
          <a:p>
            <a:pPr lvl="1" eaLnBrk="1" hangingPunct="1">
              <a:lnSpc>
                <a:spcPct val="120000"/>
              </a:lnSpc>
              <a:spcBef>
                <a:spcPts val="20"/>
              </a:spcBef>
              <a:spcAft>
                <a:spcPts val="0"/>
              </a:spcAft>
              <a:buClr>
                <a:schemeClr val="tx1"/>
              </a:buClr>
              <a:buNone/>
            </a:pPr>
            <a:r>
              <a:rPr lang="en-US" altLang="zh-CN" sz="2100" dirty="0"/>
              <a:t>strName3 = strName1+ " is the name of an " + strName2;</a:t>
            </a:r>
          </a:p>
          <a:p>
            <a:pPr>
              <a:lnSpc>
                <a:spcPct val="120000"/>
              </a:lnSpc>
              <a:spcBef>
                <a:spcPts val="20"/>
              </a:spcBef>
              <a:spcAft>
                <a:spcPts val="0"/>
              </a:spcAft>
              <a:buClr>
                <a:srgbClr val="000000"/>
              </a:buClr>
            </a:pPr>
            <a:r>
              <a:rPr lang="zh-CN" altLang="en-US" sz="2100" dirty="0"/>
              <a:t>字符串的长度可以通过 </a:t>
            </a:r>
            <a:r>
              <a:rPr lang="en-US" altLang="zh-CN" sz="2100" dirty="0"/>
              <a:t>String </a:t>
            </a:r>
            <a:r>
              <a:rPr lang="zh-CN" altLang="en-US" sz="2100" dirty="0"/>
              <a:t>类中的函数计算。例如：</a:t>
            </a:r>
          </a:p>
          <a:p>
            <a:pPr lvl="1" eaLnBrk="1" hangingPunct="1">
              <a:lnSpc>
                <a:spcPct val="120000"/>
              </a:lnSpc>
              <a:spcBef>
                <a:spcPts val="20"/>
              </a:spcBef>
              <a:spcAft>
                <a:spcPts val="0"/>
              </a:spcAft>
              <a:buClr>
                <a:schemeClr val="tx1"/>
              </a:buClr>
              <a:buNone/>
            </a:pPr>
            <a:r>
              <a:rPr lang="en-US" altLang="zh-CN" sz="2100" dirty="0"/>
              <a:t>int numLength = strName2.length();</a:t>
            </a:r>
          </a:p>
          <a:p>
            <a:pPr>
              <a:lnSpc>
                <a:spcPct val="120000"/>
              </a:lnSpc>
              <a:spcBef>
                <a:spcPts val="20"/>
              </a:spcBef>
              <a:spcAft>
                <a:spcPts val="0"/>
              </a:spcAft>
              <a:buClr>
                <a:srgbClr val="000000"/>
              </a:buClr>
            </a:pPr>
            <a:r>
              <a:rPr lang="zh-CN" altLang="en-US" sz="2100" dirty="0"/>
              <a:t>也可将数字添加到字符串类型中。例如：</a:t>
            </a:r>
          </a:p>
          <a:p>
            <a:pPr lvl="1" eaLnBrk="1" hangingPunct="1">
              <a:lnSpc>
                <a:spcPct val="120000"/>
              </a:lnSpc>
              <a:spcBef>
                <a:spcPts val="20"/>
              </a:spcBef>
              <a:spcAft>
                <a:spcPts val="0"/>
              </a:spcAft>
              <a:buClr>
                <a:schemeClr val="tx1"/>
              </a:buClr>
              <a:buNone/>
            </a:pPr>
            <a:r>
              <a:rPr lang="en-US" altLang="zh-CN" sz="2100" dirty="0"/>
              <a:t>String strVar = "Mark" + (1+1);</a:t>
            </a:r>
          </a:p>
          <a:p>
            <a:pPr lvl="1" eaLnBrk="1" hangingPunct="1">
              <a:lnSpc>
                <a:spcPct val="120000"/>
              </a:lnSpc>
              <a:spcBef>
                <a:spcPts val="20"/>
              </a:spcBef>
              <a:buClr>
                <a:schemeClr val="tx1"/>
              </a:buClr>
              <a:buNone/>
            </a:pPr>
            <a:r>
              <a:rPr lang="en-US" altLang="zh-CN" sz="2100" dirty="0"/>
              <a:t>String strVar = "Mark" + 1+1;</a:t>
            </a:r>
          </a:p>
        </p:txBody>
      </p:sp>
    </p:spTree>
    <p:custDataLst>
      <p:tags r:id="rId1"/>
    </p:custData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lstStyle/>
          <a:p>
            <a:pPr algn="l" eaLnBrk="1" hangingPunct="1">
              <a:lnSpc>
                <a:spcPct val="150000"/>
              </a:lnSpc>
              <a:spcAft>
                <a:spcPts val="0"/>
              </a:spcAft>
              <a:buClr>
                <a:srgbClr val="000000"/>
              </a:buClr>
              <a:buSzTx/>
            </a:pPr>
            <a:r>
              <a:rPr lang="zh-CN" altLang="en-US" sz="2800" dirty="0"/>
              <a:t>可以使用"+"来连接字符串以达到拼接字符串的目的.但"+"会产生一个新的String实例。</a:t>
            </a:r>
          </a:p>
          <a:p>
            <a:pPr algn="l" eaLnBrk="1" hangingPunct="1">
              <a:lnSpc>
                <a:spcPct val="150000"/>
              </a:lnSpc>
              <a:spcBef>
                <a:spcPts val="20"/>
              </a:spcBef>
              <a:spcAft>
                <a:spcPts val="0"/>
              </a:spcAft>
              <a:buClr>
                <a:srgbClr val="000000"/>
              </a:buClr>
              <a:buSzTx/>
            </a:pPr>
            <a:r>
              <a:rPr lang="zh-CN" altLang="en-US" sz="2800" dirty="0"/>
              <a:t>如果程序对这种需求很多时,对象的生成是需要内存空间和时间,不断的生成String实例便是一个没有效率的行为。</a:t>
            </a:r>
          </a:p>
          <a:p>
            <a:pPr algn="l" eaLnBrk="1" hangingPunct="1">
              <a:lnSpc>
                <a:spcPct val="150000"/>
              </a:lnSpc>
              <a:spcBef>
                <a:spcPts val="20"/>
              </a:spcBef>
              <a:spcAft>
                <a:spcPts val="0"/>
              </a:spcAft>
              <a:buClr>
                <a:srgbClr val="000000"/>
              </a:buClr>
              <a:buSzTx/>
            </a:pPr>
            <a:r>
              <a:rPr lang="zh-CN" altLang="en-US" sz="2800" dirty="0"/>
              <a:t>方法改进：</a:t>
            </a:r>
          </a:p>
          <a:p>
            <a:pPr marL="843280" lvl="3" indent="-386080" algn="l" eaLnBrk="1" hangingPunct="1">
              <a:lnSpc>
                <a:spcPct val="150000"/>
              </a:lnSpc>
              <a:spcBef>
                <a:spcPts val="20"/>
              </a:spcBef>
              <a:buClr>
                <a:srgbClr val="000000"/>
              </a:buClr>
              <a:buSzTx/>
            </a:pPr>
            <a:r>
              <a:rPr lang="zh-CN" altLang="en-US" sz="2330" dirty="0"/>
              <a:t>使用StringBuffer的append方法替换"+"</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字符串</a:t>
            </a:r>
          </a:p>
        </p:txBody>
      </p:sp>
    </p:spTree>
    <p:custDataLst>
      <p:tags r:id="rId1"/>
    </p:custData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p:cNvSpPr>
          <p:nvPr>
            <p:ph type="title"/>
          </p:nvPr>
        </p:nvSpPr>
        <p:spPr/>
        <p:txBody>
          <a:bodyPr vert="horz" wrap="square" lIns="96011" tIns="48005" rIns="96011" bIns="48005" anchor="ctr"/>
          <a:lstStyle/>
          <a:p>
            <a:pPr eaLnBrk="1" hangingPunct="1">
              <a:spcAft>
                <a:spcPts val="0"/>
              </a:spcAft>
            </a:pPr>
            <a:r>
              <a:rPr lang="zh-CN" altLang="en-US" dirty="0"/>
              <a:t>字符串池</a:t>
            </a:r>
          </a:p>
        </p:txBody>
      </p:sp>
      <p:sp>
        <p:nvSpPr>
          <p:cNvPr id="132099" name="Rectangle 3"/>
          <p:cNvSpPr>
            <a:spLocks noGrp="1"/>
          </p:cNvSpPr>
          <p:nvPr>
            <p:ph idx="1"/>
          </p:nvPr>
        </p:nvSpPr>
        <p:spPr/>
        <p:txBody>
          <a:bodyPr vert="horz" wrap="square" lIns="96011" tIns="48005" rIns="96011" bIns="48005" anchor="t">
            <a:normAutofit/>
          </a:bodyPr>
          <a:lstStyle/>
          <a:p>
            <a:pPr algn="l" eaLnBrk="1" hangingPunct="1">
              <a:lnSpc>
                <a:spcPct val="150000"/>
              </a:lnSpc>
              <a:spcAft>
                <a:spcPts val="0"/>
              </a:spcAft>
              <a:buClr>
                <a:srgbClr val="000000"/>
              </a:buClr>
              <a:buSzTx/>
            </a:pPr>
            <a:r>
              <a:rPr lang="zh-CN" altLang="en-US" sz="2800" dirty="0">
                <a:solidFill>
                  <a:schemeClr val="tx1"/>
                </a:solidFill>
              </a:rPr>
              <a:t>Java 程序可包含许多字符串字面量</a:t>
            </a:r>
          </a:p>
          <a:p>
            <a:pPr algn="l" eaLnBrk="1" hangingPunct="1">
              <a:lnSpc>
                <a:spcPct val="150000"/>
              </a:lnSpc>
              <a:spcBef>
                <a:spcPts val="20"/>
              </a:spcBef>
              <a:spcAft>
                <a:spcPts val="0"/>
              </a:spcAft>
              <a:buClr>
                <a:srgbClr val="000000"/>
              </a:buClr>
              <a:buSzTx/>
            </a:pPr>
            <a:r>
              <a:rPr lang="zh-CN" altLang="en-US" sz="2800" dirty="0">
                <a:solidFill>
                  <a:schemeClr val="tx1"/>
                </a:solidFill>
              </a:rPr>
              <a:t>"字符串池"：用来存放在程序中创建的所有字符串字面量</a:t>
            </a:r>
          </a:p>
          <a:p>
            <a:pPr algn="l" eaLnBrk="1" hangingPunct="1">
              <a:lnSpc>
                <a:spcPct val="150000"/>
              </a:lnSpc>
              <a:spcBef>
                <a:spcPts val="20"/>
              </a:spcBef>
              <a:buClr>
                <a:srgbClr val="000000"/>
              </a:buClr>
              <a:buSzTx/>
            </a:pPr>
            <a:r>
              <a:rPr lang="zh-CN" altLang="en-US" sz="2800" dirty="0">
                <a:solidFill>
                  <a:schemeClr val="tx1"/>
                </a:solidFill>
              </a:rPr>
              <a:t>任何时候创建字符串字面量，系统都会搜索字符串池，查看是否存在该字符串</a:t>
            </a:r>
            <a:r>
              <a:rPr lang="zh-CN" altLang="en-US" sz="2940" dirty="0">
                <a:solidFill>
                  <a:srgbClr val="FF0000"/>
                </a:solidFill>
              </a:rPr>
              <a:t>字面量</a:t>
            </a:r>
            <a:r>
              <a:rPr lang="zh-CN" altLang="en-US" sz="2940" dirty="0">
                <a:solidFill>
                  <a:schemeClr val="tx1"/>
                </a:solidFill>
              </a:rPr>
              <a:t>。</a:t>
            </a:r>
          </a:p>
        </p:txBody>
      </p:sp>
      <p:grpSp>
        <p:nvGrpSpPr>
          <p:cNvPr id="132100" name="Group 4"/>
          <p:cNvGrpSpPr/>
          <p:nvPr/>
        </p:nvGrpSpPr>
        <p:grpSpPr>
          <a:xfrm>
            <a:off x="840105" y="4160520"/>
            <a:ext cx="8401050" cy="1680210"/>
            <a:chOff x="0" y="0"/>
            <a:chExt cx="5040" cy="1008"/>
          </a:xfrm>
        </p:grpSpPr>
        <p:sp>
          <p:nvSpPr>
            <p:cNvPr id="132101" name="Rectangle 5"/>
            <p:cNvSpPr/>
            <p:nvPr/>
          </p:nvSpPr>
          <p:spPr>
            <a:xfrm>
              <a:off x="3408" y="0"/>
              <a:ext cx="720" cy="1008"/>
            </a:xfrm>
            <a:prstGeom prst="rect">
              <a:avLst/>
            </a:prstGeom>
            <a:noFill/>
            <a:ln w="9525" cap="flat" cmpd="sng">
              <a:solidFill>
                <a:schemeClr val="tx1"/>
              </a:solidFill>
              <a:prstDash val="solid"/>
              <a:miter/>
              <a:headEnd type="none" w="med" len="med"/>
              <a:tailEnd type="none" w="med" len="med"/>
            </a:ln>
          </p:spPr>
          <p:txBody>
            <a:bodyPr wrap="none" anchor="ctr"/>
            <a:lstStyle/>
            <a:p>
              <a:pPr eaLnBrk="1" hangingPunct="1">
                <a:lnSpc>
                  <a:spcPct val="80000"/>
                </a:lnSpc>
                <a:spcBef>
                  <a:spcPct val="20000"/>
                </a:spcBef>
              </a:pPr>
              <a:r>
                <a:rPr lang="en-US" altLang="zh-CN" sz="2100" b="1" dirty="0">
                  <a:latin typeface="Arial" panose="020B0604020202020204" pitchFamily="34" charset="0"/>
                </a:rPr>
                <a:t>Sunday</a:t>
              </a:r>
            </a:p>
            <a:p>
              <a:pPr eaLnBrk="1" hangingPunct="1">
                <a:lnSpc>
                  <a:spcPct val="80000"/>
                </a:lnSpc>
                <a:spcBef>
                  <a:spcPct val="20000"/>
                </a:spcBef>
              </a:pPr>
              <a:r>
                <a:rPr lang="en-US" altLang="zh-CN" sz="2100" b="1" dirty="0">
                  <a:latin typeface="Arial" panose="020B0604020202020204" pitchFamily="34" charset="0"/>
                </a:rPr>
                <a:t>Monday</a:t>
              </a:r>
            </a:p>
            <a:p>
              <a:pPr eaLnBrk="1" hangingPunct="1">
                <a:lnSpc>
                  <a:spcPct val="80000"/>
                </a:lnSpc>
                <a:spcBef>
                  <a:spcPct val="20000"/>
                </a:spcBef>
              </a:pPr>
              <a:r>
                <a:rPr lang="en-US" altLang="zh-CN" sz="2100" b="1" dirty="0">
                  <a:latin typeface="Arial" panose="020B0604020202020204" pitchFamily="34" charset="0"/>
                </a:rPr>
                <a:t>Hello</a:t>
              </a:r>
            </a:p>
            <a:p>
              <a:pPr eaLnBrk="1" hangingPunct="1">
                <a:lnSpc>
                  <a:spcPct val="80000"/>
                </a:lnSpc>
                <a:spcBef>
                  <a:spcPct val="20000"/>
                </a:spcBef>
              </a:pPr>
              <a:r>
                <a:rPr lang="en-US" altLang="zh-CN" sz="2100" b="1" dirty="0">
                  <a:latin typeface="Arial" panose="020B0604020202020204" pitchFamily="34" charset="0"/>
                </a:rPr>
                <a:t>Aptech</a:t>
              </a:r>
            </a:p>
            <a:p>
              <a:pPr eaLnBrk="1" hangingPunct="1">
                <a:lnSpc>
                  <a:spcPct val="80000"/>
                </a:lnSpc>
                <a:spcBef>
                  <a:spcPct val="20000"/>
                </a:spcBef>
              </a:pPr>
              <a:r>
                <a:rPr lang="en-US" altLang="zh-CN" sz="2100" b="1" dirty="0">
                  <a:latin typeface="Arial" panose="020B0604020202020204" pitchFamily="34" charset="0"/>
                </a:rPr>
                <a:t>World</a:t>
              </a:r>
            </a:p>
          </p:txBody>
        </p:sp>
        <p:sp>
          <p:nvSpPr>
            <p:cNvPr id="132102" name="Rectangle 6"/>
            <p:cNvSpPr/>
            <p:nvPr/>
          </p:nvSpPr>
          <p:spPr>
            <a:xfrm>
              <a:off x="3168" y="0"/>
              <a:ext cx="240" cy="1008"/>
            </a:xfrm>
            <a:prstGeom prst="rect">
              <a:avLst/>
            </a:prstGeom>
            <a:noFill/>
            <a:ln w="9525" cap="flat" cmpd="sng">
              <a:solidFill>
                <a:schemeClr val="tx1"/>
              </a:solidFill>
              <a:prstDash val="solid"/>
              <a:miter/>
              <a:headEnd type="none" w="med" len="med"/>
              <a:tailEnd type="none" w="med" len="med"/>
            </a:ln>
          </p:spPr>
          <p:txBody>
            <a:bodyPr wrap="none" anchor="ctr"/>
            <a:lstStyle/>
            <a:p>
              <a:pPr algn="ctr" eaLnBrk="1" hangingPunct="1">
                <a:lnSpc>
                  <a:spcPct val="80000"/>
                </a:lnSpc>
                <a:spcBef>
                  <a:spcPct val="20000"/>
                </a:spcBef>
              </a:pPr>
              <a:r>
                <a:rPr lang="en-US" altLang="zh-CN" sz="2100" b="1" dirty="0">
                  <a:latin typeface="Arial" panose="020B0604020202020204" pitchFamily="34" charset="0"/>
                </a:rPr>
                <a:t>1</a:t>
              </a:r>
            </a:p>
            <a:p>
              <a:pPr algn="ctr" eaLnBrk="1" hangingPunct="1">
                <a:lnSpc>
                  <a:spcPct val="80000"/>
                </a:lnSpc>
                <a:spcBef>
                  <a:spcPct val="20000"/>
                </a:spcBef>
              </a:pPr>
              <a:r>
                <a:rPr lang="en-US" altLang="zh-CN" sz="2100" b="1" dirty="0">
                  <a:latin typeface="Arial" panose="020B0604020202020204" pitchFamily="34" charset="0"/>
                </a:rPr>
                <a:t>2</a:t>
              </a:r>
            </a:p>
            <a:p>
              <a:pPr algn="ctr" eaLnBrk="1" hangingPunct="1">
                <a:lnSpc>
                  <a:spcPct val="80000"/>
                </a:lnSpc>
                <a:spcBef>
                  <a:spcPct val="20000"/>
                </a:spcBef>
              </a:pPr>
              <a:r>
                <a:rPr lang="en-US" altLang="zh-CN" sz="2100" b="1" dirty="0">
                  <a:latin typeface="Arial" panose="020B0604020202020204" pitchFamily="34" charset="0"/>
                </a:rPr>
                <a:t>3</a:t>
              </a:r>
            </a:p>
            <a:p>
              <a:pPr algn="ctr" eaLnBrk="1" hangingPunct="1">
                <a:lnSpc>
                  <a:spcPct val="80000"/>
                </a:lnSpc>
                <a:spcBef>
                  <a:spcPct val="20000"/>
                </a:spcBef>
              </a:pPr>
              <a:r>
                <a:rPr lang="en-US" altLang="zh-CN" sz="2100" b="1" dirty="0">
                  <a:latin typeface="Arial" panose="020B0604020202020204" pitchFamily="34" charset="0"/>
                </a:rPr>
                <a:t>4</a:t>
              </a:r>
            </a:p>
            <a:p>
              <a:pPr algn="ctr" eaLnBrk="1" hangingPunct="1">
                <a:lnSpc>
                  <a:spcPct val="80000"/>
                </a:lnSpc>
                <a:spcBef>
                  <a:spcPct val="20000"/>
                </a:spcBef>
              </a:pPr>
              <a:r>
                <a:rPr lang="en-US" altLang="zh-CN" sz="2100" b="1" dirty="0">
                  <a:latin typeface="Arial" panose="020B0604020202020204" pitchFamily="34" charset="0"/>
                </a:rPr>
                <a:t>N</a:t>
              </a:r>
            </a:p>
          </p:txBody>
        </p:sp>
        <p:sp>
          <p:nvSpPr>
            <p:cNvPr id="132103" name="Rectangle 7"/>
            <p:cNvSpPr/>
            <p:nvPr/>
          </p:nvSpPr>
          <p:spPr>
            <a:xfrm>
              <a:off x="480" y="192"/>
              <a:ext cx="2064" cy="240"/>
            </a:xfrm>
            <a:prstGeom prst="rect">
              <a:avLst/>
            </a:prstGeom>
            <a:noFill/>
            <a:ln w="9525" cap="flat" cmpd="sng">
              <a:solidFill>
                <a:schemeClr val="tx1"/>
              </a:solidFill>
              <a:prstDash val="solid"/>
              <a:miter/>
              <a:headEnd type="none" w="med" len="med"/>
              <a:tailEnd type="none" w="med" len="med"/>
            </a:ln>
          </p:spPr>
          <p:txBody>
            <a:bodyPr wrap="none" anchor="ctr"/>
            <a:lstStyle/>
            <a:p>
              <a:pPr algn="ctr" eaLnBrk="1" hangingPunct="1">
                <a:lnSpc>
                  <a:spcPct val="80000"/>
                </a:lnSpc>
                <a:spcBef>
                  <a:spcPct val="20000"/>
                </a:spcBef>
              </a:pPr>
              <a:r>
                <a:rPr lang="en-US" altLang="zh-CN" sz="2100" b="1" dirty="0">
                  <a:latin typeface="Courier New" panose="02070309020205020404" pitchFamily="49" charset="0"/>
                  <a:cs typeface="Courier New" panose="02070309020205020404" pitchFamily="49" charset="0"/>
                </a:rPr>
                <a:t>String day= "Monday";</a:t>
              </a:r>
              <a:endParaRPr lang="en-US" altLang="zh-CN" sz="2100" b="1" dirty="0">
                <a:latin typeface="Courier New" panose="02070309020205020404" pitchFamily="49" charset="0"/>
                <a:ea typeface="Courier New" panose="02070309020205020404" pitchFamily="49" charset="0"/>
              </a:endParaRPr>
            </a:p>
          </p:txBody>
        </p:sp>
        <p:sp>
          <p:nvSpPr>
            <p:cNvPr id="132104" name="Rectangle 8"/>
            <p:cNvSpPr/>
            <p:nvPr/>
          </p:nvSpPr>
          <p:spPr>
            <a:xfrm>
              <a:off x="0" y="624"/>
              <a:ext cx="2544" cy="240"/>
            </a:xfrm>
            <a:prstGeom prst="rect">
              <a:avLst/>
            </a:prstGeom>
            <a:noFill/>
            <a:ln w="9525" cap="flat" cmpd="sng">
              <a:solidFill>
                <a:schemeClr val="tx1"/>
              </a:solidFill>
              <a:prstDash val="solid"/>
              <a:miter/>
              <a:headEnd type="none" w="med" len="med"/>
              <a:tailEnd type="none" w="med" len="med"/>
            </a:ln>
          </p:spPr>
          <p:txBody>
            <a:bodyPr wrap="none" anchor="ctr"/>
            <a:lstStyle/>
            <a:p>
              <a:pPr algn="ctr" eaLnBrk="1" hangingPunct="1">
                <a:lnSpc>
                  <a:spcPct val="80000"/>
                </a:lnSpc>
                <a:spcBef>
                  <a:spcPct val="20000"/>
                </a:spcBef>
              </a:pPr>
              <a:r>
                <a:rPr lang="en-US" altLang="zh-CN" sz="2100" b="1" dirty="0">
                  <a:latin typeface="Courier New" panose="02070309020205020404" pitchFamily="49" charset="0"/>
                  <a:cs typeface="Courier New" panose="02070309020205020404" pitchFamily="49" charset="0"/>
                </a:rPr>
                <a:t>String weekday = "Monday";</a:t>
              </a:r>
              <a:endParaRPr lang="en-US" altLang="zh-CN" sz="2100" b="1" dirty="0">
                <a:latin typeface="Courier New" panose="02070309020205020404" pitchFamily="49" charset="0"/>
                <a:ea typeface="Courier New" panose="02070309020205020404" pitchFamily="49" charset="0"/>
              </a:endParaRPr>
            </a:p>
          </p:txBody>
        </p:sp>
        <p:sp>
          <p:nvSpPr>
            <p:cNvPr id="132105" name="Line 9"/>
            <p:cNvSpPr/>
            <p:nvPr/>
          </p:nvSpPr>
          <p:spPr>
            <a:xfrm>
              <a:off x="2544" y="288"/>
              <a:ext cx="672" cy="0"/>
            </a:xfrm>
            <a:prstGeom prst="line">
              <a:avLst/>
            </a:prstGeom>
            <a:ln w="9525" cap="flat" cmpd="sng">
              <a:solidFill>
                <a:schemeClr val="tx1"/>
              </a:solidFill>
              <a:prstDash val="solid"/>
              <a:headEnd type="none" w="med" len="med"/>
              <a:tailEnd type="triangle" w="med" len="med"/>
            </a:ln>
          </p:spPr>
        </p:sp>
        <p:sp>
          <p:nvSpPr>
            <p:cNvPr id="132106" name="Line 10"/>
            <p:cNvSpPr/>
            <p:nvPr/>
          </p:nvSpPr>
          <p:spPr>
            <a:xfrm flipV="1">
              <a:off x="2544" y="336"/>
              <a:ext cx="672" cy="384"/>
            </a:xfrm>
            <a:prstGeom prst="line">
              <a:avLst/>
            </a:prstGeom>
            <a:ln w="9525" cap="flat" cmpd="sng">
              <a:solidFill>
                <a:schemeClr val="tx1"/>
              </a:solidFill>
              <a:prstDash val="solid"/>
              <a:headEnd type="none" w="med" len="med"/>
              <a:tailEnd type="triangle" w="med" len="med"/>
            </a:ln>
          </p:spPr>
        </p:sp>
        <p:sp>
          <p:nvSpPr>
            <p:cNvPr id="132107" name="Text Box 11"/>
            <p:cNvSpPr txBox="1"/>
            <p:nvPr/>
          </p:nvSpPr>
          <p:spPr>
            <a:xfrm>
              <a:off x="4224" y="672"/>
              <a:ext cx="816" cy="210"/>
            </a:xfrm>
            <a:prstGeom prst="rect">
              <a:avLst/>
            </a:prstGeom>
            <a:noFill/>
            <a:ln w="9525">
              <a:noFill/>
            </a:ln>
          </p:spPr>
          <p:txBody>
            <a:bodyPr>
              <a:spAutoFit/>
            </a:bodyPr>
            <a:lstStyle/>
            <a:p>
              <a:pPr algn="ctr" eaLnBrk="1" hangingPunct="1">
                <a:lnSpc>
                  <a:spcPct val="80000"/>
                </a:lnSpc>
                <a:spcBef>
                  <a:spcPct val="50000"/>
                </a:spcBef>
              </a:pPr>
              <a:r>
                <a:rPr lang="zh-CN" altLang="en-US" sz="2100" b="1" dirty="0">
                  <a:latin typeface="Arial" panose="020B0604020202020204" pitchFamily="34" charset="0"/>
                </a:rPr>
                <a:t>字符串池</a:t>
              </a:r>
            </a:p>
          </p:txBody>
        </p:sp>
      </p:grpSp>
    </p:spTree>
    <p:custDataLst>
      <p:tags r:id="rId1"/>
    </p:custData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90000"/>
          </a:bodyPr>
          <a:lstStyle/>
          <a:p>
            <a:pPr algn="l" eaLnBrk="1" hangingPunct="1">
              <a:lnSpc>
                <a:spcPct val="150000"/>
              </a:lnSpc>
              <a:spcAft>
                <a:spcPts val="0"/>
              </a:spcAft>
              <a:buClr>
                <a:srgbClr val="000000"/>
              </a:buClr>
              <a:buSzTx/>
            </a:pPr>
            <a:r>
              <a:rPr lang="zh-CN" altLang="en-US" sz="3200" dirty="0"/>
              <a:t>比较字符串对象：</a:t>
            </a:r>
          </a:p>
          <a:p>
            <a:pPr marL="843280" lvl="3" indent="-386080" algn="l" eaLnBrk="1" hangingPunct="1">
              <a:lnSpc>
                <a:spcPct val="150000"/>
              </a:lnSpc>
              <a:spcBef>
                <a:spcPts val="20"/>
              </a:spcBef>
              <a:spcAft>
                <a:spcPts val="0"/>
              </a:spcAft>
              <a:buClr>
                <a:srgbClr val="000000"/>
              </a:buClr>
              <a:buSzTx/>
            </a:pPr>
            <a:r>
              <a:rPr lang="zh-CN" altLang="en-US" sz="2665" dirty="0"/>
              <a:t>String s1=new String("hello");</a:t>
            </a:r>
          </a:p>
          <a:p>
            <a:pPr marL="843280" lvl="3" indent="-386080" algn="l" eaLnBrk="1" hangingPunct="1">
              <a:lnSpc>
                <a:spcPct val="150000"/>
              </a:lnSpc>
              <a:spcBef>
                <a:spcPts val="20"/>
              </a:spcBef>
              <a:spcAft>
                <a:spcPts val="0"/>
              </a:spcAft>
              <a:buClr>
                <a:srgbClr val="000000"/>
              </a:buClr>
              <a:buSzTx/>
            </a:pPr>
            <a:r>
              <a:rPr lang="zh-CN" altLang="en-US" sz="2665" dirty="0"/>
              <a:t>String s2=new String("hello");</a:t>
            </a:r>
          </a:p>
          <a:p>
            <a:pPr marL="843280" lvl="3" indent="-386080" algn="l" eaLnBrk="1" hangingPunct="1">
              <a:lnSpc>
                <a:spcPct val="150000"/>
              </a:lnSpc>
              <a:spcBef>
                <a:spcPts val="20"/>
              </a:spcBef>
              <a:spcAft>
                <a:spcPts val="0"/>
              </a:spcAft>
              <a:buClr>
                <a:srgbClr val="000000"/>
              </a:buClr>
              <a:buSzTx/>
            </a:pPr>
            <a:r>
              <a:rPr lang="zh-CN" altLang="en-US" sz="2665" dirty="0"/>
              <a:t>String s3="hello";</a:t>
            </a:r>
          </a:p>
          <a:p>
            <a:pPr marL="843280" lvl="3" indent="-386080" algn="l" eaLnBrk="1" hangingPunct="1">
              <a:lnSpc>
                <a:spcPct val="150000"/>
              </a:lnSpc>
              <a:spcBef>
                <a:spcPts val="20"/>
              </a:spcBef>
              <a:spcAft>
                <a:spcPts val="0"/>
              </a:spcAft>
              <a:buClr>
                <a:srgbClr val="000000"/>
              </a:buClr>
              <a:buSzTx/>
            </a:pPr>
            <a:r>
              <a:rPr lang="zh-CN" altLang="en-US" sz="2665" dirty="0"/>
              <a:t>String s4 ="hello";</a:t>
            </a:r>
          </a:p>
          <a:p>
            <a:pPr marL="843280" lvl="3" indent="-386080" algn="l" eaLnBrk="1" hangingPunct="1">
              <a:lnSpc>
                <a:spcPct val="150000"/>
              </a:lnSpc>
              <a:spcBef>
                <a:spcPts val="20"/>
              </a:spcBef>
              <a:spcAft>
                <a:spcPts val="0"/>
              </a:spcAft>
              <a:buClr>
                <a:srgbClr val="000000"/>
              </a:buClr>
              <a:buSzTx/>
            </a:pPr>
            <a:r>
              <a:rPr lang="zh-CN" altLang="en-US" sz="2665" dirty="0"/>
              <a:t>s1==s2?</a:t>
            </a:r>
          </a:p>
          <a:p>
            <a:pPr marL="843280" lvl="3" indent="-386080" algn="l" eaLnBrk="1" hangingPunct="1">
              <a:lnSpc>
                <a:spcPct val="150000"/>
              </a:lnSpc>
              <a:spcBef>
                <a:spcPts val="20"/>
              </a:spcBef>
              <a:spcAft>
                <a:spcPts val="0"/>
              </a:spcAft>
              <a:buClr>
                <a:srgbClr val="000000"/>
              </a:buClr>
              <a:buSzTx/>
            </a:pPr>
            <a:r>
              <a:rPr lang="zh-CN" altLang="en-US" sz="2665" dirty="0"/>
              <a:t>s3==s4?</a:t>
            </a:r>
          </a:p>
          <a:p>
            <a:pPr marL="843280" lvl="3" indent="-386080" algn="l" eaLnBrk="1" hangingPunct="1">
              <a:lnSpc>
                <a:spcPct val="150000"/>
              </a:lnSpc>
              <a:spcBef>
                <a:spcPts val="20"/>
              </a:spcBef>
              <a:buClr>
                <a:srgbClr val="000000"/>
              </a:buClr>
              <a:buSzTx/>
            </a:pPr>
            <a:r>
              <a:rPr lang="zh-CN" altLang="en-US" sz="2665" dirty="0"/>
              <a:t>System.identityHashCode(s3)</a:t>
            </a:r>
          </a:p>
        </p:txBody>
      </p:sp>
      <p:sp>
        <p:nvSpPr>
          <p:cNvPr id="2" name="标题 1"/>
          <p:cNvSpPr>
            <a:spLocks noGrp="1"/>
          </p:cNvSpPr>
          <p:nvPr>
            <p:ph type="title"/>
            <p:custDataLst>
              <p:tags r:id="rId3"/>
            </p:custDataLst>
          </p:nvPr>
        </p:nvSpPr>
        <p:spPr/>
        <p:txBody>
          <a:bodyPr/>
          <a:lstStyle/>
          <a:p>
            <a:pPr eaLnBrk="1" hangingPunct="1">
              <a:spcAft>
                <a:spcPts val="0"/>
              </a:spcAft>
            </a:pPr>
            <a:r>
              <a:rPr lang="zh-CN" altLang="en-US" dirty="0"/>
              <a:t>字符串池</a:t>
            </a:r>
          </a:p>
        </p:txBody>
      </p:sp>
    </p:spTree>
    <p:custDataLst>
      <p:tags r:id="rId1"/>
    </p:custData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Autofit/>
          </a:bodyPr>
          <a:lstStyle/>
          <a:p>
            <a:pPr algn="l" eaLnBrk="1" hangingPunct="1">
              <a:lnSpc>
                <a:spcPct val="150000"/>
              </a:lnSpc>
              <a:spcAft>
                <a:spcPts val="0"/>
              </a:spcAft>
              <a:buClr>
                <a:srgbClr val="000000"/>
              </a:buClr>
              <a:buSzTx/>
            </a:pPr>
            <a:r>
              <a:rPr lang="zh-CN" altLang="en-US" sz="2800" dirty="0"/>
              <a:t>charAt() : 返回字符串中某个特定位置的字符 </a:t>
            </a:r>
          </a:p>
          <a:p>
            <a:pPr algn="l" eaLnBrk="1" hangingPunct="1">
              <a:lnSpc>
                <a:spcPct val="150000"/>
              </a:lnSpc>
              <a:spcBef>
                <a:spcPts val="20"/>
              </a:spcBef>
              <a:spcAft>
                <a:spcPts val="0"/>
              </a:spcAft>
              <a:buClr>
                <a:srgbClr val="000000"/>
              </a:buClr>
              <a:buSzTx/>
            </a:pPr>
            <a:r>
              <a:rPr lang="zh-CN" altLang="en-US" sz="2800" dirty="0"/>
              <a:t>indexOf() :返回字符串中某个特定字符或子字符串首次出现的索引 </a:t>
            </a:r>
          </a:p>
          <a:p>
            <a:pPr algn="l" eaLnBrk="1" hangingPunct="1">
              <a:lnSpc>
                <a:spcPct val="150000"/>
              </a:lnSpc>
              <a:spcBef>
                <a:spcPts val="20"/>
              </a:spcBef>
              <a:spcAft>
                <a:spcPts val="0"/>
              </a:spcAft>
              <a:buClr>
                <a:srgbClr val="000000"/>
              </a:buClr>
              <a:buSzTx/>
            </a:pPr>
            <a:r>
              <a:rPr lang="zh-CN" altLang="en-US" sz="2800" dirty="0"/>
              <a:t>toUpperCase() : 将字符串内的所有字符从小写改为大写 </a:t>
            </a:r>
          </a:p>
          <a:p>
            <a:pPr algn="l" eaLnBrk="1" hangingPunct="1">
              <a:lnSpc>
                <a:spcPct val="150000"/>
              </a:lnSpc>
              <a:spcBef>
                <a:spcPts val="20"/>
              </a:spcBef>
              <a:spcAft>
                <a:spcPts val="0"/>
              </a:spcAft>
              <a:buClr>
                <a:srgbClr val="000000"/>
              </a:buClr>
              <a:buSzTx/>
            </a:pPr>
            <a:r>
              <a:rPr lang="zh-CN" altLang="en-US" sz="2800" dirty="0"/>
              <a:t>toLowerCase() : 将字符串内的所有字符从大写改为小写</a:t>
            </a:r>
          </a:p>
          <a:p>
            <a:pPr marL="386080" lvl="2" indent="-386080" algn="l" eaLnBrk="1" hangingPunct="1">
              <a:lnSpc>
                <a:spcPct val="150000"/>
              </a:lnSpc>
              <a:spcBef>
                <a:spcPts val="20"/>
              </a:spcBef>
              <a:buClr>
                <a:srgbClr val="000000"/>
              </a:buClr>
              <a:buSzTx/>
            </a:pPr>
            <a:r>
              <a:rPr lang="zh-CN" altLang="en-US" sz="2800" dirty="0"/>
              <a:t>其它更多方法参见《API文档》</a:t>
            </a:r>
          </a:p>
        </p:txBody>
      </p:sp>
      <p:sp>
        <p:nvSpPr>
          <p:cNvPr id="2" name="标题 1"/>
          <p:cNvSpPr>
            <a:spLocks noGrp="1"/>
          </p:cNvSpPr>
          <p:nvPr>
            <p:ph type="title"/>
            <p:custDataLst>
              <p:tags r:id="rId3"/>
            </p:custDataLst>
          </p:nvPr>
        </p:nvSpPr>
        <p:spPr/>
        <p:txBody>
          <a:bodyPr/>
          <a:lstStyle/>
          <a:p>
            <a:pPr eaLnBrk="1" hangingPunct="1">
              <a:spcAft>
                <a:spcPts val="0"/>
              </a:spcAft>
            </a:pPr>
            <a:r>
              <a:rPr lang="en-US" altLang="zh-CN" dirty="0"/>
              <a:t>String </a:t>
            </a:r>
            <a:r>
              <a:rPr lang="zh-CN" altLang="en-US" dirty="0"/>
              <a:t>类方法</a:t>
            </a:r>
          </a:p>
        </p:txBody>
      </p:sp>
    </p:spTree>
    <p:custDataLst>
      <p:tags r:id="rId1"/>
    </p:custData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a:bodyPr>
          <a:lstStyle/>
          <a:p>
            <a:pPr eaLnBrk="1" hangingPunct="1">
              <a:lnSpc>
                <a:spcPct val="150000"/>
              </a:lnSpc>
              <a:spcAft>
                <a:spcPts val="0"/>
              </a:spcAft>
              <a:buClr>
                <a:srgbClr val="000000"/>
              </a:buClr>
              <a:buSzTx/>
            </a:pPr>
            <a:r>
              <a:rPr lang="en-US" altLang="zh-CN" dirty="0">
                <a:hlinkClick r:id="rId5" action="ppaction://hlinkfile"/>
              </a:rPr>
              <a:t>Java.lang.Byte</a:t>
            </a:r>
            <a:r>
              <a:rPr lang="zh-CN" altLang="en-US" dirty="0"/>
              <a:t>类</a:t>
            </a:r>
          </a:p>
          <a:p>
            <a:pPr marL="1143000" lvl="2" indent="-228600" eaLnBrk="1" hangingPunct="1">
              <a:lnSpc>
                <a:spcPct val="150000"/>
              </a:lnSpc>
              <a:spcBef>
                <a:spcPts val="20"/>
              </a:spcBef>
              <a:spcAft>
                <a:spcPts val="0"/>
              </a:spcAft>
              <a:buClr>
                <a:schemeClr val="bg2"/>
              </a:buClr>
              <a:buSzTx/>
              <a:buFont typeface="Wingdings" panose="05000000000000000000" pitchFamily="2" charset="2"/>
              <a:buChar char="l"/>
            </a:pPr>
            <a:r>
              <a:rPr lang="en-US" altLang="zh-CN" dirty="0"/>
              <a:t>public static byte parseByte(String s) throws NumberFormatException</a:t>
            </a:r>
          </a:p>
          <a:p>
            <a:pPr lvl="0" eaLnBrk="1" hangingPunct="1">
              <a:lnSpc>
                <a:spcPct val="150000"/>
              </a:lnSpc>
              <a:spcBef>
                <a:spcPts val="20"/>
              </a:spcBef>
              <a:spcAft>
                <a:spcPts val="0"/>
              </a:spcAft>
              <a:buClr>
                <a:srgbClr val="000000"/>
              </a:buClr>
              <a:buSzTx/>
            </a:pPr>
            <a:r>
              <a:rPr lang="zh-CN" altLang="en-US" dirty="0">
                <a:hlinkClick r:id="rId6" action="ppaction://hlinkfile"/>
              </a:rPr>
              <a:t>Java</a:t>
            </a:r>
            <a:r>
              <a:rPr lang="en-US" altLang="zh-CN" dirty="0">
                <a:hlinkClick r:id="rId6" action="ppaction://hlinkfile"/>
              </a:rPr>
              <a:t>.lang.Integer</a:t>
            </a:r>
            <a:r>
              <a:rPr lang="zh-CN" altLang="en-US" dirty="0"/>
              <a:t>类</a:t>
            </a:r>
          </a:p>
          <a:p>
            <a:pPr marL="1143000" lvl="2" indent="-228600" eaLnBrk="1" hangingPunct="1">
              <a:lnSpc>
                <a:spcPct val="150000"/>
              </a:lnSpc>
              <a:spcBef>
                <a:spcPts val="20"/>
              </a:spcBef>
              <a:buClr>
                <a:schemeClr val="bg2"/>
              </a:buClr>
              <a:buSzTx/>
              <a:buFont typeface="Wingdings" panose="05000000000000000000" pitchFamily="2" charset="2"/>
              <a:buChar char="l"/>
            </a:pPr>
            <a:r>
              <a:rPr lang="en-US" altLang="zh-CN" dirty="0"/>
              <a:t>public static int parseInt(String s) throws NumberFormatException</a:t>
            </a:r>
          </a:p>
          <a:p>
            <a:pPr marL="742950" lvl="1" indent="-285750" eaLnBrk="1" hangingPunct="1">
              <a:lnSpc>
                <a:spcPct val="150000"/>
              </a:lnSpc>
              <a:buClr>
                <a:schemeClr val="accent1"/>
              </a:buClr>
              <a:buSzTx/>
              <a:buFont typeface="Wingdings" panose="05000000000000000000" pitchFamily="2" charset="2"/>
              <a:buChar char="l"/>
            </a:pPr>
            <a:endParaRPr lang="en-US" altLang="zh-CN" dirty="0"/>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字符串和数值的转换</a:t>
            </a:r>
          </a:p>
        </p:txBody>
      </p:sp>
    </p:spTree>
    <p:custDataLst>
      <p:tags r:id="rId1"/>
    </p:custData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a:bodyPr>
          <a:lstStyle/>
          <a:p>
            <a:pPr algn="l" eaLnBrk="1" hangingPunct="1">
              <a:lnSpc>
                <a:spcPct val="150000"/>
              </a:lnSpc>
              <a:spcAft>
                <a:spcPts val="0"/>
              </a:spcAft>
              <a:buClr>
                <a:srgbClr val="000000"/>
              </a:buClr>
              <a:buSzTx/>
            </a:pPr>
            <a:r>
              <a:rPr lang="en-US" altLang="zh-CN" sz="2520" dirty="0"/>
              <a:t>J</a:t>
            </a:r>
            <a:r>
              <a:rPr lang="zh-CN" altLang="en-US" sz="2800" dirty="0"/>
              <a:t>ava 具有8种基本数据类型：byte、 short、 int、 long、 boolean、char、float 及 double</a:t>
            </a:r>
          </a:p>
          <a:p>
            <a:pPr algn="l" eaLnBrk="1" hangingPunct="1">
              <a:lnSpc>
                <a:spcPct val="150000"/>
              </a:lnSpc>
              <a:spcBef>
                <a:spcPts val="20"/>
              </a:spcBef>
              <a:spcAft>
                <a:spcPts val="0"/>
              </a:spcAft>
              <a:buClr>
                <a:srgbClr val="000000"/>
              </a:buClr>
              <a:buSzTx/>
            </a:pPr>
            <a:r>
              <a:rPr lang="zh-CN" altLang="en-US" sz="2800" dirty="0"/>
              <a:t>Java 中的运算符可划分为四个子集：算术运算符、位运算符、关系运算符、逻辑运算符</a:t>
            </a:r>
          </a:p>
          <a:p>
            <a:pPr algn="l" eaLnBrk="1" hangingPunct="1">
              <a:lnSpc>
                <a:spcPct val="150000"/>
              </a:lnSpc>
              <a:spcBef>
                <a:spcPts val="20"/>
              </a:spcBef>
              <a:buClr>
                <a:srgbClr val="000000"/>
              </a:buClr>
              <a:buSzTx/>
            </a:pPr>
            <a:r>
              <a:rPr lang="zh-CN" altLang="en-US" sz="2800" dirty="0"/>
              <a:t>&amp; 运算符适用于如下子集：逻辑和位。逻辑 &amp; 以条件表达式为操作数，而位 &amp; 则以数字为操作数</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总结</a:t>
            </a:r>
            <a:r>
              <a:rPr lang="en-US" altLang="zh-CN" dirty="0"/>
              <a:t>2-1</a:t>
            </a:r>
          </a:p>
        </p:txBody>
      </p:sp>
    </p:spTree>
    <p:custDataLst>
      <p:tags r:id="rId1"/>
    </p:custData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Autofit/>
          </a:bodyPr>
          <a:lstStyle/>
          <a:p>
            <a:pPr>
              <a:lnSpc>
                <a:spcPct val="120000"/>
              </a:lnSpc>
              <a:spcAft>
                <a:spcPts val="0"/>
              </a:spcAft>
              <a:buClr>
                <a:srgbClr val="000000"/>
              </a:buClr>
            </a:pPr>
            <a:r>
              <a:rPr lang="en-US" altLang="zh-CN" sz="2520" dirty="0"/>
              <a:t>Java </a:t>
            </a:r>
            <a:r>
              <a:rPr lang="zh-CN" altLang="en-US" sz="2520" dirty="0"/>
              <a:t>支持下列控制结构： </a:t>
            </a:r>
          </a:p>
          <a:p>
            <a:pPr marL="800100" lvl="2" indent="-342900">
              <a:lnSpc>
                <a:spcPct val="120000"/>
              </a:lnSpc>
              <a:spcBef>
                <a:spcPts val="1000"/>
              </a:spcBef>
              <a:spcAft>
                <a:spcPts val="0"/>
              </a:spcAft>
              <a:buClr>
                <a:srgbClr val="000000"/>
              </a:buClr>
            </a:pPr>
            <a:r>
              <a:rPr lang="zh-CN" altLang="en-US" sz="1890" dirty="0"/>
              <a:t>选择（ </a:t>
            </a:r>
            <a:r>
              <a:rPr lang="en-US" altLang="zh-CN" sz="1890" dirty="0"/>
              <a:t>if-else</a:t>
            </a:r>
            <a:r>
              <a:rPr lang="zh-CN" altLang="en-US" sz="1890" dirty="0"/>
              <a:t>、</a:t>
            </a:r>
            <a:r>
              <a:rPr lang="en-US" altLang="zh-CN" sz="1890" dirty="0"/>
              <a:t>switch</a:t>
            </a:r>
            <a:r>
              <a:rPr lang="zh-CN" altLang="en-US" sz="1890" dirty="0"/>
              <a:t>）</a:t>
            </a:r>
          </a:p>
          <a:p>
            <a:pPr marL="800100" lvl="2" indent="-342900">
              <a:lnSpc>
                <a:spcPct val="120000"/>
              </a:lnSpc>
              <a:spcBef>
                <a:spcPts val="1000"/>
              </a:spcBef>
              <a:spcAft>
                <a:spcPts val="0"/>
              </a:spcAft>
              <a:buClr>
                <a:srgbClr val="000000"/>
              </a:buClr>
            </a:pPr>
            <a:r>
              <a:rPr lang="zh-CN" altLang="en-US" sz="1890" dirty="0"/>
              <a:t>循环（</a:t>
            </a:r>
            <a:r>
              <a:rPr lang="en-US" altLang="zh-CN" sz="1890" dirty="0"/>
              <a:t>while</a:t>
            </a:r>
            <a:r>
              <a:rPr lang="zh-CN" altLang="en-US" sz="1890" dirty="0"/>
              <a:t>、</a:t>
            </a:r>
            <a:r>
              <a:rPr lang="en-US" altLang="zh-CN" sz="1890" dirty="0"/>
              <a:t>do-while</a:t>
            </a:r>
            <a:r>
              <a:rPr lang="zh-CN" altLang="en-US" sz="1890" dirty="0"/>
              <a:t>、</a:t>
            </a:r>
            <a:r>
              <a:rPr lang="en-US" altLang="zh-CN" sz="1890" dirty="0"/>
              <a:t>for</a:t>
            </a:r>
            <a:r>
              <a:rPr lang="zh-CN" altLang="en-US" sz="1890" dirty="0"/>
              <a:t>）</a:t>
            </a:r>
          </a:p>
          <a:p>
            <a:pPr marL="800100" lvl="2" indent="-342900">
              <a:lnSpc>
                <a:spcPct val="120000"/>
              </a:lnSpc>
              <a:spcBef>
                <a:spcPts val="1000"/>
              </a:spcBef>
              <a:spcAft>
                <a:spcPts val="0"/>
              </a:spcAft>
              <a:buClr>
                <a:srgbClr val="000000"/>
              </a:buClr>
            </a:pPr>
            <a:r>
              <a:rPr lang="zh-CN" altLang="en-US" sz="1890" dirty="0"/>
              <a:t>跳转（</a:t>
            </a:r>
            <a:r>
              <a:rPr lang="en-US" altLang="zh-CN" sz="1890" dirty="0"/>
              <a:t>break</a:t>
            </a:r>
            <a:r>
              <a:rPr lang="zh-CN" altLang="en-US" sz="1890" dirty="0"/>
              <a:t>、</a:t>
            </a:r>
            <a:r>
              <a:rPr lang="en-US" altLang="zh-CN" sz="1890" dirty="0"/>
              <a:t>continue</a:t>
            </a:r>
            <a:r>
              <a:rPr lang="zh-CN" altLang="en-US" sz="1890" dirty="0"/>
              <a:t>）</a:t>
            </a:r>
          </a:p>
          <a:p>
            <a:pPr>
              <a:lnSpc>
                <a:spcPct val="120000"/>
              </a:lnSpc>
              <a:spcBef>
                <a:spcPts val="20"/>
              </a:spcBef>
              <a:spcAft>
                <a:spcPts val="0"/>
              </a:spcAft>
              <a:buClr>
                <a:srgbClr val="000000"/>
              </a:buClr>
            </a:pPr>
            <a:r>
              <a:rPr lang="en-US" altLang="zh-CN" sz="2520" dirty="0"/>
              <a:t>break </a:t>
            </a:r>
            <a:r>
              <a:rPr lang="zh-CN" altLang="en-US" sz="2520" dirty="0"/>
              <a:t>语句在循环中用于立即从当前循环终止控制或者终止所标识的循环</a:t>
            </a:r>
          </a:p>
          <a:p>
            <a:pPr>
              <a:lnSpc>
                <a:spcPct val="120000"/>
              </a:lnSpc>
              <a:spcBef>
                <a:spcPts val="20"/>
              </a:spcBef>
              <a:spcAft>
                <a:spcPts val="0"/>
              </a:spcAft>
              <a:buClr>
                <a:srgbClr val="000000"/>
              </a:buClr>
            </a:pPr>
            <a:r>
              <a:rPr lang="en-US" altLang="zh-CN" sz="2520" dirty="0"/>
              <a:t>continue </a:t>
            </a:r>
            <a:r>
              <a:rPr lang="zh-CN" altLang="en-US" sz="2520" dirty="0"/>
              <a:t>语句则是从其调用处跳至循环的开始处或者跳至所标识的循环开始处</a:t>
            </a:r>
          </a:p>
          <a:p>
            <a:pPr>
              <a:lnSpc>
                <a:spcPct val="120000"/>
              </a:lnSpc>
              <a:spcBef>
                <a:spcPts val="20"/>
              </a:spcBef>
              <a:buClr>
                <a:srgbClr val="000000"/>
              </a:buClr>
            </a:pPr>
            <a:r>
              <a:rPr lang="zh-CN" altLang="en-US" sz="2520" dirty="0"/>
              <a:t>数组可用来将同一类型的数据存储在连续的内存位置</a:t>
            </a:r>
          </a:p>
        </p:txBody>
      </p:sp>
      <p:sp>
        <p:nvSpPr>
          <p:cNvPr id="2" name="标题 1"/>
          <p:cNvSpPr>
            <a:spLocks noGrp="1"/>
          </p:cNvSpPr>
          <p:nvPr>
            <p:ph type="title"/>
            <p:custDataLst>
              <p:tags r:id="rId3"/>
            </p:custDataLst>
          </p:nvPr>
        </p:nvSpPr>
        <p:spPr/>
        <p:txBody>
          <a:bodyPr>
            <a:normAutofit fontScale="90000"/>
          </a:bodyPr>
          <a:lstStyle/>
          <a:p>
            <a:pPr eaLnBrk="1" hangingPunct="1">
              <a:spcAft>
                <a:spcPts val="0"/>
              </a:spcAft>
            </a:pPr>
            <a:r>
              <a:rPr lang="zh-CN" altLang="en-US" dirty="0"/>
              <a:t>总结</a:t>
            </a:r>
            <a:r>
              <a:rPr lang="en-US" altLang="zh-CN" dirty="0"/>
              <a:t>2-2</a:t>
            </a:r>
          </a:p>
        </p:txBody>
      </p:sp>
    </p:spTree>
    <p:custDataLst>
      <p:tags r:id="rId1"/>
    </p:custData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bg>
      <p:bgPr>
        <a:solidFill>
          <a:srgbClr val="F2F2F2"/>
        </a:solidFill>
        <a:effectLst/>
      </p:bgPr>
    </p:bg>
    <p:spTree>
      <p:nvGrpSpPr>
        <p:cNvPr id="1" name=""/>
        <p:cNvGrpSpPr/>
        <p:nvPr/>
      </p:nvGrpSpPr>
      <p:grpSpPr>
        <a:xfrm>
          <a:off x="0" y="0"/>
          <a:ext cx="0" cy="0"/>
          <a:chOff x="0" y="0"/>
          <a:chExt cx="0" cy="0"/>
        </a:xfrm>
      </p:grpSpPr>
      <p:sp>
        <p:nvSpPr>
          <p:cNvPr id="143362" name="TextBox 3"/>
          <p:cNvSpPr/>
          <p:nvPr/>
        </p:nvSpPr>
        <p:spPr>
          <a:xfrm>
            <a:off x="3948113" y="2205038"/>
            <a:ext cx="2914650" cy="1106805"/>
          </a:xfrm>
          <a:prstGeom prst="rect">
            <a:avLst/>
          </a:prstGeom>
          <a:noFill/>
          <a:ln w="9525">
            <a:noFill/>
          </a:ln>
        </p:spPr>
        <p:txBody>
          <a:bodyPr wrap="none" anchor="t">
            <a:spAutoFit/>
          </a:bodyPr>
          <a:lstStyle/>
          <a:p>
            <a:pPr>
              <a:spcAft>
                <a:spcPts val="0"/>
              </a:spcAft>
              <a:buFont typeface="Arial" panose="020B0604020202020204" pitchFamily="34" charset="0"/>
              <a:buNone/>
            </a:pPr>
            <a:r>
              <a:rPr lang="en-US" altLang="zh-CN" sz="6600" b="1" dirty="0">
                <a:solidFill>
                  <a:srgbClr val="00B0F0"/>
                </a:solidFill>
                <a:latin typeface="Calibri" panose="020F0502020204030204" pitchFamily="34" charset="0"/>
                <a:ea typeface="宋体" panose="02010600030101010101" pitchFamily="2" charset="-122"/>
                <a:sym typeface="Calibri" panose="020F0502020204030204" pitchFamily="34" charset="0"/>
              </a:rPr>
              <a:t>Thanks!</a:t>
            </a:r>
            <a:endParaRPr lang="zh-CN" altLang="en-US" sz="6600" b="1" dirty="0">
              <a:solidFill>
                <a:srgbClr val="00B0F0"/>
              </a:solidFill>
              <a:latin typeface="Calibri" panose="020F0502020204030204" pitchFamily="34" charset="0"/>
              <a:ea typeface="宋体" panose="02010600030101010101" pitchFamily="2" charset="-122"/>
              <a:sym typeface="Calibri" panose="020F0502020204030204"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ee249eea-e67e-4481-b26e-cdd14ae75e5e"/>
  <p:tag name="COMMONDATA" val="eyJoZGlkIjoiZmYwYjU2MzQxMWU3OWZjNzk4OWUyOWM0NDJmODEwZTYifQ=="/>
</p:tagLst>
</file>

<file path=ppt/tags/tag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82d48525-4b6b-469a-a845-e803f615743f}"/>
</p:tagLst>
</file>

<file path=ppt/tags/tag1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2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2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2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3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4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4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4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4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5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5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5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6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6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6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6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6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7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86"/>
</p:tagLst>
</file>

<file path=ppt/tags/tag7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7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8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8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8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8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8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9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9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9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9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9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9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9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9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9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9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0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0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0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0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0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0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1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1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1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1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1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1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1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1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1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2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2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2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2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3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3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3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3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4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4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4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4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4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5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5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6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6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6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6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6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6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7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7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7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7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8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8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8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9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9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9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1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1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19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Lst>
</file>

<file path=ppt/tags/tag19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2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2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20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2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2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2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2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2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20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2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2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ags/tag21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86"/>
  <p:tag name="KSO_WM_TAG_VERSION" val="1.0"/>
  <p:tag name="KSO_WM_SLIDE_ID" val="custom286_2"/>
  <p:tag name="KSO_WM_SLIDE_INDEX" val="2"/>
  <p:tag name="KSO_WM_SLIDE_ITEM_CNT" val="1"/>
  <p:tag name="KSO_WM_SLIDE_LAYOUT" val="a_f"/>
  <p:tag name="KSO_WM_SLIDE_LAYOUT_CNT" val="1_1"/>
  <p:tag name="KSO_WM_SLIDE_TYPE" val="text"/>
  <p:tag name="KSO_WM_BEAUTIFY_FLAG" val="#wm#"/>
  <p:tag name="KSO_WM_SLIDE_POSITION" val="112*139"/>
  <p:tag name="KSO_WM_SLIDE_SIZE" val="559*352"/>
</p:tagLst>
</file>

<file path=ppt/tags/tag2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f"/>
  <p:tag name="KSO_WM_UNIT_INDEX" val="1"/>
  <p:tag name="KSO_WM_UNIT_ID" val="custom510_2*f*1"/>
  <p:tag name="KSO_WM_UNIT_CLEAR" val="1"/>
  <p:tag name="KSO_WM_UNIT_LAYERLEVEL" val="1"/>
  <p:tag name="KSO_WM_UNIT_VALUE" val="176"/>
  <p:tag name="KSO_WM_UNIT_HIGHLIGHT" val="0"/>
  <p:tag name="KSO_WM_UNIT_COMPATIBLE" val="0"/>
  <p:tag name="KSO_WM_UNIT_PRESET_TEXT_INDEX" val="5"/>
  <p:tag name="KSO_WM_UNIT_PRESET_TEXT_LEN" val="232"/>
</p:tagLst>
</file>

<file path=ppt/tags/tag2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86"/>
  <p:tag name="KSO_WM_UNIT_TYPE" val="a"/>
  <p:tag name="KSO_WM_UNIT_INDEX" val="1"/>
  <p:tag name="KSO_WM_UNIT_ID" val="custom510_2*a*1"/>
  <p:tag name="KSO_WM_UNIT_CLEAR" val="1"/>
  <p:tag name="KSO_WM_UNIT_LAYERLEVEL" val="1"/>
  <p:tag name="KSO_WM_UNIT_VALUE" val="18"/>
  <p:tag name="KSO_WM_UNIT_ISCONTENTSTITLE" val="0"/>
  <p:tag name="KSO_WM_UNIT_HIGHLIGHT" val="0"/>
  <p:tag name="KSO_WM_UNIT_COMPATIBLE" val="0"/>
  <p:tag name="KSO_WM_UNIT_PRESET_TEXT_INDEX" val="3"/>
  <p:tag name="KSO_WM_UNIT_PRESET_TEXT_LEN" val="17"/>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9777</Words>
  <Application>Microsoft Office PowerPoint</Application>
  <PresentationFormat>自定义</PresentationFormat>
  <Paragraphs>1490</Paragraphs>
  <Slides>118</Slides>
  <Notes>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118</vt:i4>
      </vt:variant>
    </vt:vector>
  </HeadingPairs>
  <TitlesOfParts>
    <vt:vector size="134" baseType="lpstr">
      <vt:lpstr>Arial</vt:lpstr>
      <vt:lpstr>Impact</vt:lpstr>
      <vt:lpstr>Comic Sans MS</vt:lpstr>
      <vt:lpstr>Latha</vt:lpstr>
      <vt:lpstr>Tahoma</vt:lpstr>
      <vt:lpstr>Wingdings</vt:lpstr>
      <vt:lpstr>Arial Black</vt:lpstr>
      <vt:lpstr>Calibri</vt:lpstr>
      <vt:lpstr>Consolas</vt:lpstr>
      <vt:lpstr>FrankRuehl</vt:lpstr>
      <vt:lpstr>Felix Titling</vt:lpstr>
      <vt:lpstr>微软雅黑</vt:lpstr>
      <vt:lpstr>宋体</vt:lpstr>
      <vt:lpstr>Courier New</vt:lpstr>
      <vt:lpstr>方正姚体</vt:lpstr>
      <vt:lpstr>Office 主题​​</vt:lpstr>
      <vt:lpstr>PowerPoint 演示文稿</vt:lpstr>
      <vt:lpstr>课前思考</vt:lpstr>
      <vt:lpstr>Java语法基础</vt:lpstr>
      <vt:lpstr>主要内容</vt:lpstr>
      <vt:lpstr>PowerPoint 演示文稿</vt:lpstr>
      <vt:lpstr>词法规则</vt:lpstr>
      <vt:lpstr>关键字</vt:lpstr>
      <vt:lpstr>标识符</vt:lpstr>
      <vt:lpstr>标识符</vt:lpstr>
      <vt:lpstr>标识符</vt:lpstr>
      <vt:lpstr>分隔符</vt:lpstr>
      <vt:lpstr>PowerPoint 演示文稿</vt:lpstr>
      <vt:lpstr>数据类型</vt:lpstr>
      <vt:lpstr>数据类型</vt:lpstr>
      <vt:lpstr>类型转换 (casting)</vt:lpstr>
      <vt:lpstr>类型转换 (casting)</vt:lpstr>
      <vt:lpstr>类型转换 (casting)</vt:lpstr>
      <vt:lpstr>类型转换 (casting)</vt:lpstr>
      <vt:lpstr>类型转换 (casting)</vt:lpstr>
      <vt:lpstr>PowerPoint 演示文稿</vt:lpstr>
      <vt:lpstr>常量</vt:lpstr>
      <vt:lpstr>常量</vt:lpstr>
      <vt:lpstr>常量</vt:lpstr>
      <vt:lpstr>常量</vt:lpstr>
      <vt:lpstr>常量</vt:lpstr>
      <vt:lpstr>常量</vt:lpstr>
      <vt:lpstr>常量</vt:lpstr>
      <vt:lpstr>变量</vt:lpstr>
      <vt:lpstr>变量</vt:lpstr>
      <vt:lpstr>变量</vt:lpstr>
      <vt:lpstr>变量</vt:lpstr>
      <vt:lpstr>变量</vt:lpstr>
      <vt:lpstr>变量</vt:lpstr>
      <vt:lpstr>var</vt:lpstr>
      <vt:lpstr>PowerPoint 演示文稿</vt:lpstr>
      <vt:lpstr>运算符 (operator)</vt:lpstr>
      <vt:lpstr>运算符 (operator)</vt:lpstr>
      <vt:lpstr>运算符 (operator)</vt:lpstr>
      <vt:lpstr>运算符 (operator)</vt:lpstr>
      <vt:lpstr>运算符 (operator)</vt:lpstr>
      <vt:lpstr>运算符 (operator)</vt:lpstr>
      <vt:lpstr>运算符 (operator)</vt:lpstr>
      <vt:lpstr>运算符 (operator)</vt:lpstr>
      <vt:lpstr>运算符 (operator)</vt:lpstr>
      <vt:lpstr>运算符 (operator)</vt:lpstr>
      <vt:lpstr>运算符 (operator)</vt:lpstr>
      <vt:lpstr>运算符 (operator)</vt:lpstr>
      <vt:lpstr>运算符 (operator)</vt:lpstr>
      <vt:lpstr>运算符 (operator)</vt:lpstr>
      <vt:lpstr>运算符 (operator)</vt:lpstr>
      <vt:lpstr>运算符 (operator)</vt:lpstr>
      <vt:lpstr>运算符 (operator)</vt:lpstr>
      <vt:lpstr>运算符 (operator)</vt:lpstr>
      <vt:lpstr>运算符 (operator)</vt:lpstr>
      <vt:lpstr>自增、自减运算符</vt:lpstr>
      <vt:lpstr>运算符的优先级</vt:lpstr>
      <vt:lpstr>表达式 (expression)</vt:lpstr>
      <vt:lpstr>表达式 (expression)</vt:lpstr>
      <vt:lpstr>表达式 (expression)</vt:lpstr>
      <vt:lpstr>表达式 (expression)</vt:lpstr>
      <vt:lpstr>表达式 (expression)</vt:lpstr>
      <vt:lpstr>表达式 (expression)</vt:lpstr>
      <vt:lpstr>表达式 (expression)</vt:lpstr>
      <vt:lpstr>PowerPoint 演示文稿</vt:lpstr>
      <vt:lpstr>语句 (statement)</vt:lpstr>
      <vt:lpstr>条件选择语句</vt:lpstr>
      <vt:lpstr>条件选择语句</vt:lpstr>
      <vt:lpstr>条件选择语句</vt:lpstr>
      <vt:lpstr>条件选择语句</vt:lpstr>
      <vt:lpstr>条件选择语句</vt:lpstr>
      <vt:lpstr>条件选择语句</vt:lpstr>
      <vt:lpstr>switch/开关语句</vt:lpstr>
      <vt:lpstr>switch/开关语句</vt:lpstr>
      <vt:lpstr>switch表达式(JDK21进行了增强)</vt:lpstr>
      <vt:lpstr>循环控制语句</vt:lpstr>
      <vt:lpstr>循环控制语句</vt:lpstr>
      <vt:lpstr>循环控制语句</vt:lpstr>
      <vt:lpstr>循环控制语句</vt:lpstr>
      <vt:lpstr>循环控制语句</vt:lpstr>
      <vt:lpstr>循环控制语句</vt:lpstr>
      <vt:lpstr>循环控制语句</vt:lpstr>
      <vt:lpstr>循环控制语句</vt:lpstr>
      <vt:lpstr>跳转/转向语句</vt:lpstr>
      <vt:lpstr>循环语句中途退出</vt:lpstr>
      <vt:lpstr>循环语句中途退出</vt:lpstr>
      <vt:lpstr>循环语句中途退出（续）</vt:lpstr>
      <vt:lpstr>PowerPoint 演示文稿</vt:lpstr>
      <vt:lpstr>其他语句</vt:lpstr>
      <vt:lpstr>PowerPoint 演示文稿</vt:lpstr>
      <vt:lpstr>概念</vt:lpstr>
      <vt:lpstr>一维数组</vt:lpstr>
      <vt:lpstr>一维数组</vt:lpstr>
      <vt:lpstr>一维数组</vt:lpstr>
      <vt:lpstr>一维数组</vt:lpstr>
      <vt:lpstr>一维数组</vt:lpstr>
      <vt:lpstr>一维数组</vt:lpstr>
      <vt:lpstr>一维数组:数组引用的复用(reuse)</vt:lpstr>
      <vt:lpstr>针对数组的foreach循环（jdk1.5）</vt:lpstr>
      <vt:lpstr>多维数组</vt:lpstr>
      <vt:lpstr>多维数组</vt:lpstr>
      <vt:lpstr>多维数组</vt:lpstr>
      <vt:lpstr>多维数组</vt:lpstr>
      <vt:lpstr>多维数组</vt:lpstr>
      <vt:lpstr>多维数组</vt:lpstr>
      <vt:lpstr>多维数组</vt:lpstr>
      <vt:lpstr>多维数组</vt:lpstr>
      <vt:lpstr>数组的界限</vt:lpstr>
      <vt:lpstr>命令行参数</vt:lpstr>
      <vt:lpstr>命令行参数</vt:lpstr>
      <vt:lpstr>字符串</vt:lpstr>
      <vt:lpstr>字符串</vt:lpstr>
      <vt:lpstr>字符串池</vt:lpstr>
      <vt:lpstr>字符串池</vt:lpstr>
      <vt:lpstr>String 类方法</vt:lpstr>
      <vt:lpstr>字符串和数值的转换</vt:lpstr>
      <vt:lpstr>总结2-1</vt:lpstr>
      <vt:lpstr>总结2-2</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lixzva</dc:creator>
  <cp:lastModifiedBy>尔里德 李</cp:lastModifiedBy>
  <cp:revision>279</cp:revision>
  <cp:lastPrinted>2016-11-07T04:06:00Z</cp:lastPrinted>
  <dcterms:created xsi:type="dcterms:W3CDTF">2012-10-26T07:13:00Z</dcterms:created>
  <dcterms:modified xsi:type="dcterms:W3CDTF">2025-02-19T10:21:42Z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2BA29452DEC244EA8CAAAD9CAAE8AE32</vt:lpwstr>
  </property>
</Properties>
</file>