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2" r:id="rId3"/>
  </p:sldMasterIdLst>
  <p:notesMasterIdLst>
    <p:notesMasterId r:id="rId15"/>
  </p:notesMasterIdLst>
  <p:handoutMasterIdLst>
    <p:handoutMasterId r:id="rId22"/>
  </p:handoutMasterIdLst>
  <p:sldIdLst>
    <p:sldId id="257" r:id="rId4"/>
    <p:sldId id="425" r:id="rId5"/>
    <p:sldId id="440" r:id="rId6"/>
    <p:sldId id="426" r:id="rId7"/>
    <p:sldId id="427" r:id="rId8"/>
    <p:sldId id="428" r:id="rId9"/>
    <p:sldId id="429" r:id="rId10"/>
    <p:sldId id="430" r:id="rId11"/>
    <p:sldId id="431" r:id="rId12"/>
    <p:sldId id="432" r:id="rId13"/>
    <p:sldId id="433" r:id="rId14"/>
    <p:sldId id="434" r:id="rId16"/>
    <p:sldId id="435" r:id="rId17"/>
    <p:sldId id="436" r:id="rId18"/>
    <p:sldId id="437" r:id="rId19"/>
    <p:sldId id="438" r:id="rId20"/>
    <p:sldId id="439" r:id="rId21"/>
  </p:sldIdLst>
  <p:sldSz cx="12192000" cy="6858000"/>
  <p:notesSz cx="6858000" cy="9144000"/>
  <p:embeddedFontLst>
    <p:embeddedFont>
      <p:font typeface="微软雅黑" panose="020B0503020204020204" charset="-122"/>
      <p:regular r:id="rId27"/>
    </p:embeddedFont>
    <p:embeddedFont>
      <p:font typeface="Calibri" panose="020F0502020204030204" charset="0"/>
      <p:regular r:id="rId28"/>
      <p:bold r:id="rId29"/>
      <p:italic r:id="rId30"/>
      <p:boldItalic r:id="rId31"/>
    </p:embeddedFont>
    <p:embeddedFont>
      <p:font typeface="Arial Black" panose="020B0A04020102020204" pitchFamily="34" charset="0"/>
      <p:bold r:id="rId32"/>
    </p:embeddedFont>
  </p:embeddedFontLst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216D"/>
    <a:srgbClr val="CC99FF"/>
    <a:srgbClr val="68174B"/>
    <a:srgbClr val="FFFFFF"/>
    <a:srgbClr val="AFABAB"/>
    <a:srgbClr val="7F7F7F"/>
    <a:srgbClr val="767171"/>
    <a:srgbClr val="4F4B4B"/>
    <a:srgbClr val="4B1136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092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3" Type="http://schemas.openxmlformats.org/officeDocument/2006/relationships/tags" Target="tags/tag35.xml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D8E420-9D67-4E04-AAC0-CD197AFC47C8}" type="datetimeFigureOut">
              <a:rPr lang="zh-CN" altLang="en-US" smtClean="0">
                <a:latin typeface="Noto Sans S Chinese Black" panose="020B0A00000000000000" pitchFamily="34" charset="-122"/>
                <a:ea typeface="Noto Sans S Chinese Black" panose="020B0A00000000000000" pitchFamily="34" charset="-122"/>
              </a:rPr>
            </a:fld>
            <a:endParaRPr lang="zh-CN" altLang="en-US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82D08-7386-4E2F-A9E1-10702E2F33D5}" type="slidenum">
              <a:rPr lang="zh-CN" altLang="en-US" smtClean="0">
                <a:latin typeface="Noto Sans S Chinese Black" panose="020B0A00000000000000" pitchFamily="34" charset="-122"/>
                <a:ea typeface="Noto Sans S Chinese Black" panose="020B0A00000000000000" pitchFamily="34" charset="-122"/>
              </a:rPr>
            </a:fld>
            <a:endParaRPr lang="zh-CN" altLang="en-US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20BF01C-9CE3-4B24-9374-6145C2B338C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9" descr="南开大学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188" y="66675"/>
            <a:ext cx="2463800" cy="760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8D99A82-D64C-4D65-9369-2187D866FEA7}" type="slidenum">
              <a:rPr lang="zh-CN" altLang="en-US" smtClean="0"/>
            </a:fld>
            <a:endParaRPr lang="zh-CN" altLang="en-US"/>
          </a:p>
        </p:txBody>
      </p:sp>
      <p:sp>
        <p:nvSpPr>
          <p:cNvPr id="8" name="箭头: 五边形 7"/>
          <p:cNvSpPr/>
          <p:nvPr userDrawn="1"/>
        </p:nvSpPr>
        <p:spPr>
          <a:xfrm>
            <a:off x="0" y="298174"/>
            <a:ext cx="3468757" cy="496956"/>
          </a:xfrm>
          <a:prstGeom prst="homePlate">
            <a:avLst/>
          </a:prstGeom>
          <a:solidFill>
            <a:srgbClr val="6817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60" b="25920"/>
          <a:stretch>
            <a:fillRect/>
          </a:stretch>
        </p:blipFill>
        <p:spPr>
          <a:xfrm>
            <a:off x="9843180" y="203719"/>
            <a:ext cx="2019301" cy="762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3075" name="图片 6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>
                <a:solidFill>
                  <a:schemeClr val="lt1"/>
                </a:solidFill>
              </a:endParaRPr>
            </a:p>
          </p:txBody>
        </p:sp>
        <p:pic>
          <p:nvPicPr>
            <p:cNvPr id="3077" name="图片 7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86890" y="257810"/>
            <a:ext cx="10401935" cy="548640"/>
          </a:xfrm>
          <a:ln>
            <a:noFill/>
          </a:ln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 dirty="0"/>
              <a:t>单击此处编辑标题</a:t>
            </a:r>
            <a:endParaRPr lang="zh-CN" alt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4099" name="图片 7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pic>
          <p:nvPicPr>
            <p:cNvPr id="4101" name="图片 8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31340" y="200025"/>
            <a:ext cx="7876540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单击此处编辑文本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5123" name="图片 7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pic>
          <p:nvPicPr>
            <p:cNvPr id="5125" name="图片 8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13560" y="212090"/>
            <a:ext cx="7919720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60" b="25920"/>
          <a:stretch>
            <a:fillRect/>
          </a:stretch>
        </p:blipFill>
        <p:spPr>
          <a:xfrm>
            <a:off x="9843180" y="203719"/>
            <a:ext cx="2019301" cy="762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>
            <p:custDataLst>
              <p:tags r:id="rId2"/>
            </p:custDataLst>
          </p:nvPr>
        </p:nvSpPr>
        <p:spPr>
          <a:xfrm rot="5400000">
            <a:off x="5134769" y="-3017044"/>
            <a:ext cx="1922463" cy="12192000"/>
          </a:xfrm>
          <a:prstGeom prst="rect">
            <a:avLst/>
          </a:prstGeom>
          <a:solidFill>
            <a:srgbClr val="6817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zh-CN" altLang="en-US" sz="1350" strike="noStrike" noProof="1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pic>
        <p:nvPicPr>
          <p:cNvPr id="7171" name="图片 9" descr="南开大学logo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628188" y="66675"/>
            <a:ext cx="2463800" cy="760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00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192735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400" spc="20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8" Type="http://schemas.openxmlformats.org/officeDocument/2006/relationships/theme" Target="../theme/theme2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013" y="608013"/>
            <a:ext cx="10969625" cy="706437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4"/>
            </p:custDataLst>
          </p:nvPr>
        </p:nvSpPr>
        <p:spPr>
          <a:xfrm>
            <a:off x="608013" y="1490663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C96D6-D75D-4657-9902-6BA7C064019A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F575B-2F74-41A5-94FC-C655C1CED715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transition spd="med">
    <p:fade/>
  </p:transition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rgbClr val="711A5F"/>
          </a:solidFill>
          <a:uFillTx/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Clr>
          <a:srgbClr val="BB66AA"/>
        </a:buClr>
        <a:buFont typeface="Arial" panose="020B0604020202020204" pitchFamily="34" charset="0"/>
        <a:buChar char="●"/>
        <a:defRPr sz="3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Clr>
          <a:srgbClr val="BB66AA"/>
        </a:buClr>
        <a:buFont typeface="Arial" panose="020B0604020202020204" pitchFamily="34" charset="0"/>
        <a:buChar char="•"/>
        <a:tabLst>
          <a:tab pos="1609725" algn="l"/>
          <a:tab pos="1609725" algn="l"/>
          <a:tab pos="1609725" algn="l"/>
          <a:tab pos="1609725" algn="l"/>
        </a:tabLst>
        <a:defRPr sz="2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Clr>
          <a:srgbClr val="BB66AA"/>
        </a:buClr>
        <a:buFont typeface="Arial" panose="020B0604020202020204" pitchFamily="34" charset="0"/>
        <a:buChar char="•"/>
        <a:defRPr sz="2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Clr>
          <a:srgbClr val="BB66AA"/>
        </a:buClr>
        <a:buFont typeface="Arial" panose="020B0604020202020204" pitchFamily="34" charset="0"/>
        <a:buChar char="•"/>
        <a:defRPr sz="24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Clr>
          <a:srgbClr val="BB66AA"/>
        </a:buClr>
        <a:buFont typeface="Arial" panose="020B0604020202020204" pitchFamily="34" charset="0"/>
        <a:buChar char="•"/>
        <a:defRPr sz="1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tags" Target="../tags/tag16.xml"/><Relationship Id="rId4" Type="http://schemas.openxmlformats.org/officeDocument/2006/relationships/image" Target="../media/image7.png"/><Relationship Id="rId3" Type="http://schemas.openxmlformats.org/officeDocument/2006/relationships/tags" Target="../tags/tag15.xml"/><Relationship Id="rId2" Type="http://schemas.openxmlformats.org/officeDocument/2006/relationships/image" Target="../media/image6.png"/><Relationship Id="rId1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0.png"/><Relationship Id="rId2" Type="http://schemas.openxmlformats.org/officeDocument/2006/relationships/tags" Target="../tags/tag17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4.png"/><Relationship Id="rId3" Type="http://schemas.openxmlformats.org/officeDocument/2006/relationships/tags" Target="../tags/tag18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image" Target="../media/image14.png"/><Relationship Id="rId15" Type="http://schemas.openxmlformats.org/officeDocument/2006/relationships/slideLayout" Target="../slideLayouts/slideLayout8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image" Target="../media/image13.png"/><Relationship Id="rId11" Type="http://schemas.openxmlformats.org/officeDocument/2006/relationships/tags" Target="../tags/tag27.xml"/><Relationship Id="rId10" Type="http://schemas.openxmlformats.org/officeDocument/2006/relationships/image" Target="../media/image12.png"/><Relationship Id="rId1" Type="http://schemas.openxmlformats.org/officeDocument/2006/relationships/tags" Target="../tags/tag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8.xml"/><Relationship Id="rId7" Type="http://schemas.openxmlformats.org/officeDocument/2006/relationships/image" Target="../media/image18.png"/><Relationship Id="rId6" Type="http://schemas.openxmlformats.org/officeDocument/2006/relationships/tags" Target="../tags/tag32.xml"/><Relationship Id="rId5" Type="http://schemas.openxmlformats.org/officeDocument/2006/relationships/image" Target="../media/image17.png"/><Relationship Id="rId4" Type="http://schemas.openxmlformats.org/officeDocument/2006/relationships/tags" Target="../tags/tag31.xml"/><Relationship Id="rId3" Type="http://schemas.openxmlformats.org/officeDocument/2006/relationships/image" Target="../media/image16.png"/><Relationship Id="rId2" Type="http://schemas.openxmlformats.org/officeDocument/2006/relationships/tags" Target="../tags/tag30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1" Type="http://schemas.openxmlformats.org/officeDocument/2006/relationships/tags" Target="../tags/tag3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2.png"/><Relationship Id="rId1" Type="http://schemas.openxmlformats.org/officeDocument/2006/relationships/tags" Target="../tags/tag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 rot="5400000">
            <a:off x="5135072" y="-1493404"/>
            <a:ext cx="1921856" cy="9144000"/>
          </a:xfrm>
          <a:prstGeom prst="rect">
            <a:avLst/>
          </a:prstGeom>
          <a:solidFill>
            <a:srgbClr val="6817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4078561" y="2576900"/>
            <a:ext cx="3792220" cy="1002766"/>
            <a:chOff x="3512141" y="2581672"/>
            <a:chExt cx="5056293" cy="1337021"/>
          </a:xfrm>
        </p:grpSpPr>
        <p:sp>
          <p:nvSpPr>
            <p:cNvPr id="6" name="_3"/>
            <p:cNvSpPr/>
            <p:nvPr/>
          </p:nvSpPr>
          <p:spPr>
            <a:xfrm>
              <a:off x="4072759" y="3534306"/>
              <a:ext cx="4361180" cy="384387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7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Noto Sans S Chinese Black" panose="020B0A00000000000000" pitchFamily="34" charset="-122"/>
                  <a:cs typeface="Times New Roman" panose="02020603050405020304" pitchFamily="18" charset="0"/>
                </a:rPr>
                <a:t>——Practice of Programming </a:t>
              </a:r>
              <a:r>
                <a:rPr kumimoji="0" lang="en-US" altLang="zh-CN" sz="127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Noto Sans S Chinese Black" panose="020B0A00000000000000" pitchFamily="34" charset="-122"/>
                  <a:cs typeface="Times New Roman" panose="02020603050405020304" pitchFamily="18" charset="0"/>
                </a:rPr>
                <a:t>Language 1——</a:t>
              </a:r>
              <a:endParaRPr kumimoji="0" lang="en-US" altLang="zh-CN" sz="127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Noto Sans S Chinese Black" panose="020B0A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" name="_3"/>
            <p:cNvSpPr/>
            <p:nvPr/>
          </p:nvSpPr>
          <p:spPr>
            <a:xfrm>
              <a:off x="3512141" y="2581672"/>
              <a:ext cx="5056293" cy="952500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4050" b="1" spc="300" noProof="0" dirty="0">
                  <a:solidFill>
                    <a:schemeClr val="bg1"/>
                  </a:solidFill>
                  <a:latin typeface="Arial" panose="020B0604020202020204" pitchFamily="34" charset="0"/>
                  <a:ea typeface="Noto Sans S Chinese Bold" panose="020B0800000000000000" pitchFamily="34" charset="-122"/>
                  <a:cs typeface="Arial" panose="020B0604020202020204" pitchFamily="34" charset="0"/>
                </a:rPr>
                <a:t>Week6:Te</a:t>
              </a:r>
              <a:r>
                <a:rPr lang="en-US" altLang="zh-CN" sz="4050" b="1" spc="300" noProof="0" dirty="0">
                  <a:solidFill>
                    <a:schemeClr val="bg1"/>
                  </a:solidFill>
                  <a:latin typeface="Arial" panose="020B0604020202020204" pitchFamily="34" charset="0"/>
                  <a:ea typeface="Noto Sans S Chinese Bold" panose="020B0800000000000000" pitchFamily="34" charset="-122"/>
                  <a:cs typeface="Arial" panose="020B0604020202020204" pitchFamily="34" charset="0"/>
                </a:rPr>
                <a:t>tris</a:t>
              </a:r>
              <a:endParaRPr lang="en-US" altLang="zh-CN" sz="4050" b="1" spc="300" noProof="0" dirty="0">
                <a:solidFill>
                  <a:schemeClr val="bg1"/>
                </a:solidFill>
                <a:latin typeface="Arial" panose="020B0604020202020204" pitchFamily="34" charset="0"/>
                <a:ea typeface="Noto Sans S Chinese Bold" panose="020B0800000000000000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073650" y="4815205"/>
            <a:ext cx="18027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solidFill>
                  <a:srgbClr val="6817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Shen Shuyin</a:t>
            </a:r>
            <a:endParaRPr lang="en-US" altLang="zh-CN" b="1">
              <a:solidFill>
                <a:srgbClr val="6817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b="1">
                <a:solidFill>
                  <a:srgbClr val="6817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Spring</a:t>
            </a:r>
            <a:endParaRPr lang="en-US" altLang="zh-CN" b="1">
              <a:solidFill>
                <a:srgbClr val="6817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800" spc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new </a:t>
            </a:r>
            <a:r>
              <a:rPr lang="en-US" altLang="zh-CN" sz="1800" spc="0" noProof="0" dirty="0" err="1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int</a:t>
            </a:r>
            <a:r>
              <a:rPr lang="en-US" altLang="zh-CN" sz="1800" spc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[4,4,2] = {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800" spc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{{0, 0}, {-1, 0}, {1, 0}, {0, -1}},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800" spc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</a:t>
            </a:r>
            <a:r>
              <a:rPr lang="en-US" altLang="zh-CN" sz="180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{{0, 0}, {1, 0}, {0, 1}, {0, -1}},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800" spc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{{0, 0}, {-1, 0}, {1, 0}, {0, 1}},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800" spc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{{0, 0}, {-1, 0}, {0, 1}, {0, -1}}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800" spc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           };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9"/>
          <a:stretch>
            <a:fillRect/>
          </a:stretch>
        </p:blipFill>
        <p:spPr bwMode="auto">
          <a:xfrm>
            <a:off x="5810250" y="1143000"/>
            <a:ext cx="485775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下箭头 5"/>
          <p:cNvSpPr/>
          <p:nvPr/>
        </p:nvSpPr>
        <p:spPr>
          <a:xfrm>
            <a:off x="2483168" y="3123248"/>
            <a:ext cx="500062" cy="150018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7349" name="TextBox 6"/>
          <p:cNvSpPr txBox="1">
            <a:spLocks noChangeArrowheads="1"/>
          </p:cNvSpPr>
          <p:nvPr/>
        </p:nvSpPr>
        <p:spPr bwMode="auto">
          <a:xfrm>
            <a:off x="963930" y="4741863"/>
            <a:ext cx="342900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  <a:t>{{4, 2}, {5, 2}, {4, 3}, {4, 1}},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7350" name="TextBox 7"/>
          <p:cNvSpPr txBox="1">
            <a:spLocks noChangeArrowheads="1"/>
          </p:cNvSpPr>
          <p:nvPr/>
        </p:nvSpPr>
        <p:spPr bwMode="auto">
          <a:xfrm>
            <a:off x="2974023" y="3429000"/>
            <a:ext cx="3500437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  <a:t>Add 4 to each x coord.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  <a:t>Add 2 to each y coord.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73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352" name="TextBox 9"/>
          <p:cNvSpPr txBox="1">
            <a:spLocks noChangeArrowheads="1"/>
          </p:cNvSpPr>
          <p:nvPr/>
        </p:nvSpPr>
        <p:spPr bwMode="auto">
          <a:xfrm>
            <a:off x="608330" y="3340100"/>
            <a:ext cx="1643063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  <a:t>Position of a Tetris block:</a:t>
            </a:r>
            <a:b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  <a:t> (4, 2)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7353" name="TextBox 10"/>
          <p:cNvSpPr txBox="1">
            <a:spLocks noChangeArrowheads="1"/>
          </p:cNvSpPr>
          <p:nvPr/>
        </p:nvSpPr>
        <p:spPr bwMode="auto">
          <a:xfrm>
            <a:off x="822643" y="5199698"/>
            <a:ext cx="400050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  <a:t>Positions of 4 subblocks of Tetris block (4, 2) :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FC2E91-C63B-4C91-90BF-8FC8CD0D21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</a:fld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63641" y="5965652"/>
            <a:ext cx="279861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x= 4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; y=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Review</a:t>
            </a:r>
            <a:endParaRPr lang="en-US" altLang="zh-CN"/>
          </a:p>
        </p:txBody>
      </p:sp>
      <p:pic>
        <p:nvPicPr>
          <p:cNvPr id="8" name="内容占位符 7"/>
          <p:cNvPicPr>
            <a:picLocks noChangeAspect="1"/>
          </p:cNvPicPr>
          <p:nvPr>
            <p:ph sz="half"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23265" y="1501140"/>
            <a:ext cx="4800600" cy="1927860"/>
          </a:xfrm>
          <a:prstGeom prst="rect">
            <a:avLst/>
          </a:prstGeom>
        </p:spPr>
      </p:pic>
      <p:pic>
        <p:nvPicPr>
          <p:cNvPr id="12" name="内容占位符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23265" y="4024630"/>
            <a:ext cx="5176520" cy="17011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" name="内容占位符 4"/>
          <p:cNvPicPr>
            <a:picLocks noChangeAspect="1"/>
          </p:cNvPicPr>
          <p:nvPr>
            <p:ph sz="half" idx="2"/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814310" y="1408430"/>
            <a:ext cx="3126740" cy="22625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Basic Function</a:t>
            </a: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genBlock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Get the type and rotation state randomly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Initialize the coordinate x and y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FC2E91-C63B-4C91-90BF-8FC8CD0D21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</a:fld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Generate a Tetris block randomly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FC2E91-C63B-4C91-90BF-8FC8CD0D21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</a:fld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10" name="内容占位符 9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979920" y="1501140"/>
            <a:ext cx="4039235" cy="4748530"/>
          </a:xfrm>
          <a:prstGeom prst="rect">
            <a:avLst/>
          </a:prstGeom>
        </p:spPr>
      </p:pic>
      <p:sp>
        <p:nvSpPr>
          <p:cNvPr id="12" name="内容占位符 11"/>
          <p:cNvSpPr/>
          <p:nvPr>
            <p:ph sz="half" idx="1"/>
          </p:nvPr>
        </p:nvSpPr>
        <p:spPr/>
        <p:txBody>
          <a:bodyPr/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x=?</a:t>
            </a:r>
            <a:endParaRPr lang="en-US" altLang="zh-CN"/>
          </a:p>
          <a:p>
            <a:r>
              <a:rPr lang="en-US" altLang="zh-CN"/>
              <a:t>y=?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5600700" y="1810385"/>
            <a:ext cx="13074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x=4,y=2</a:t>
            </a:r>
            <a:endParaRPr lang="en-US" altLang="zh-CN" sz="2400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59790" y="1501140"/>
            <a:ext cx="3585210" cy="29991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Move the Tetris block</a:t>
            </a: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Clr>
                <a:srgbClr val="97216D"/>
              </a:buClr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Determine which key is input ( a:left, s:down, d:right, w:rotation, q:quit)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Clr>
                <a:srgbClr val="97216D"/>
              </a:buClr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Erase the block by using </a:t>
            </a:r>
            <a:r>
              <a:rPr lang="en-US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drawTetrisBlock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() with background color.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Clr>
                <a:srgbClr val="97216D"/>
              </a:buClr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Modifying the positions of coordinate.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Clr>
                <a:srgbClr val="97216D"/>
              </a:buClr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Draw the block at new positions.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FC2E91-C63B-4C91-90BF-8FC8CD0D21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</a:fld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Judge whether the block cross the border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46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We can move tetris block to where it will go. And then judge whether none of 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the subblock crosses the border.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2468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1130" y="2642870"/>
            <a:ext cx="6262370" cy="3493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FC2E91-C63B-4C91-90BF-8FC8CD0D2192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Judge whether the block cross the border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491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Before moving left</a:t>
            </a:r>
            <a:endParaRPr lang="en-US" altLang="zh-CN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Block coord: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(0,7)</a:t>
            </a:r>
            <a:endParaRPr lang="en-US" altLang="zh-CN" sz="200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Subblock coords:</a:t>
            </a:r>
            <a:endParaRPr lang="en-US" altLang="zh-CN" sz="200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{{0,7},{0,6},{0,8},{1,7}}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4453255" y="1458595"/>
            <a:ext cx="3072130" cy="20281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After moving left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Block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coord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(-1,7)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Subblock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coords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: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{{-1,7},{-1,6},{-1,8},{0,7}}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608330" y="3646805"/>
            <a:ext cx="5065395" cy="2729230"/>
            <a:chOff x="2410" y="5715"/>
            <a:chExt cx="7977" cy="4298"/>
          </a:xfrm>
        </p:grpSpPr>
        <p:pic>
          <p:nvPicPr>
            <p:cNvPr id="74756" name="Picture 4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01" y="5715"/>
              <a:ext cx="3387" cy="4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3494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10" y="5955"/>
              <a:ext cx="3417" cy="40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右箭头 10"/>
            <p:cNvSpPr/>
            <p:nvPr/>
          </p:nvSpPr>
          <p:spPr>
            <a:xfrm>
              <a:off x="5775" y="7538"/>
              <a:ext cx="1238" cy="56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2" name="内容占位符 2"/>
            <p:cNvSpPr txBox="1"/>
            <p:nvPr/>
          </p:nvSpPr>
          <p:spPr bwMode="auto">
            <a:xfrm>
              <a:off x="5663" y="6638"/>
              <a:ext cx="1575" cy="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7D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Press ‘a’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7D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  [left]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13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FC2E91-C63B-4C91-90BF-8FC8CD0D21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</a:fld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228725" y="4804410"/>
            <a:ext cx="558165" cy="51816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3761740" y="4734560"/>
            <a:ext cx="558165" cy="51816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832090" y="1490345"/>
            <a:ext cx="3273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/>
              <a:t>Check each subblock to see whether it cross the border.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907405" y="3655060"/>
            <a:ext cx="6179820" cy="2491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Before moving left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{x,y}=</a:t>
            </a: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{0,7}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Coords of subblocks: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{x,y}+Block[Type][Rotate]=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{{0,7},{0,6},{0,8},{1,7}}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2400">
                <a:cs typeface="Arial" panose="020B0604020202020204" pitchFamily="34" charset="0"/>
                <a:sym typeface="+mn-ea"/>
              </a:rPr>
              <a:t>Judge whether the block cross the border</a:t>
            </a:r>
            <a:endParaRPr lang="en-US" altLang="zh-CN" sz="2400">
              <a:cs typeface="Arial" panose="020B0604020202020204" pitchFamily="34" charset="0"/>
              <a:sym typeface="+mn-ea"/>
            </a:endParaRPr>
          </a:p>
        </p:txBody>
      </p:sp>
      <p:sp>
        <p:nvSpPr>
          <p:cNvPr id="11" name="内容占位符 2"/>
          <p:cNvSpPr txBox="1"/>
          <p:nvPr/>
        </p:nvSpPr>
        <p:spPr bwMode="auto">
          <a:xfrm>
            <a:off x="609918" y="3793173"/>
            <a:ext cx="2643187" cy="1285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Before moving left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Block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coord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(0,7)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Subblock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coords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:</a:t>
            </a:r>
            <a:endParaRPr kumimoji="0" lang="en-US" altLang="zh-CN" sz="1600" b="0" i="0" u="none" strike="noStrike" cap="none" spc="150" normalizeH="0" baseline="0">
              <a:solidFill>
                <a:schemeClr val="tx1"/>
              </a:solidFill>
              <a:uFillTx/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{{0,7},{0,6},{0,8},{1,7}}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2" name="下箭头 11"/>
          <p:cNvSpPr/>
          <p:nvPr/>
        </p:nvSpPr>
        <p:spPr>
          <a:xfrm>
            <a:off x="1786890" y="3458845"/>
            <a:ext cx="214313" cy="2857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" name="内容占位符 2"/>
          <p:cNvSpPr txBox="1"/>
          <p:nvPr/>
        </p:nvSpPr>
        <p:spPr bwMode="auto">
          <a:xfrm>
            <a:off x="609600" y="5187633"/>
            <a:ext cx="2643188" cy="1285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After moving left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Block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coord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{0-1,7}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Subblock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coords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: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{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willBeX,willBeY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} =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{{-1,7},{-1,6},{-1,8},{0,7}}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8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FC2E91-C63B-4C91-90BF-8FC8CD0D21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</a:fld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4244975" y="3235325"/>
            <a:ext cx="7824470" cy="3154680"/>
            <a:chOff x="6685" y="5095"/>
            <a:chExt cx="12322" cy="4968"/>
          </a:xfrm>
        </p:grpSpPr>
        <p:pic>
          <p:nvPicPr>
            <p:cNvPr id="45" name="图片 44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6685" y="5095"/>
              <a:ext cx="12323" cy="4969"/>
            </a:xfrm>
            <a:prstGeom prst="rect">
              <a:avLst/>
            </a:prstGeom>
          </p:spPr>
        </p:pic>
        <p:grpSp>
          <p:nvGrpSpPr>
            <p:cNvPr id="32" name="组合 31"/>
            <p:cNvGrpSpPr/>
            <p:nvPr/>
          </p:nvGrpSpPr>
          <p:grpSpPr>
            <a:xfrm rot="0">
              <a:off x="7553" y="6752"/>
              <a:ext cx="6522" cy="1610"/>
              <a:chOff x="9169" y="5442"/>
              <a:chExt cx="6522" cy="1610"/>
            </a:xfrm>
          </p:grpSpPr>
          <p:grpSp>
            <p:nvGrpSpPr>
              <p:cNvPr id="33" name="组合 32"/>
              <p:cNvGrpSpPr/>
              <p:nvPr/>
            </p:nvGrpSpPr>
            <p:grpSpPr>
              <a:xfrm>
                <a:off x="9169" y="5442"/>
                <a:ext cx="6522" cy="1611"/>
                <a:chOff x="9169" y="5442"/>
                <a:chExt cx="6522" cy="1611"/>
              </a:xfrm>
            </p:grpSpPr>
            <p:sp>
              <p:nvSpPr>
                <p:cNvPr id="34" name="矩形 33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11472" y="6201"/>
                  <a:ext cx="3645" cy="853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" name="矩形 34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10849" y="6201"/>
                  <a:ext cx="384" cy="853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" name="TextBox 21"/>
                <p:cNvSpPr txBox="1">
                  <a:spLocks noChangeArrowheads="1"/>
                </p:cNvSpPr>
                <p:nvPr>
                  <p:custDataLst>
                    <p:tags r:id="rId5"/>
                  </p:custDataLst>
                </p:nvPr>
              </p:nvSpPr>
              <p:spPr bwMode="auto">
                <a:xfrm>
                  <a:off x="9169" y="5442"/>
                  <a:ext cx="2398" cy="8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ea typeface="宋体" panose="02010600030101010101" pitchFamily="2" charset="-122"/>
                      <a:cs typeface="Arial" panose="020B0604020202020204" pitchFamily="34" charset="0"/>
                    </a:rPr>
                    <a:t>Coord of tetris block</a:t>
                  </a:r>
                  <a:endPara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" name="TextBox 23"/>
                <p:cNvSpPr txBox="1">
                  <a:spLocks noChangeArrowheads="1"/>
                </p:cNvSpPr>
                <p:nvPr>
                  <p:custDataLst>
                    <p:tags r:id="rId6"/>
                  </p:custDataLst>
                </p:nvPr>
              </p:nvSpPr>
              <p:spPr bwMode="auto">
                <a:xfrm>
                  <a:off x="12335" y="5442"/>
                  <a:ext cx="3357" cy="8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ea typeface="宋体" panose="02010600030101010101" pitchFamily="2" charset="-122"/>
                      <a:cs typeface="Arial" panose="020B0604020202020204" pitchFamily="34" charset="0"/>
                    </a:rPr>
                    <a:t>Relative coords of subblocks</a:t>
                  </a:r>
                  <a:endPara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38" name="直接连接符 37"/>
              <p:cNvCxnSpPr/>
              <p:nvPr>
                <p:custDataLst>
                  <p:tags r:id="rId7"/>
                </p:custDataLst>
              </p:nvPr>
            </p:nvCxnSpPr>
            <p:spPr>
              <a:xfrm rot="5400000" flipH="1" flipV="1">
                <a:off x="10815" y="5973"/>
                <a:ext cx="476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>
                <p:custDataLst>
                  <p:tags r:id="rId8"/>
                </p:custDataLst>
              </p:nvPr>
            </p:nvCxnSpPr>
            <p:spPr>
              <a:xfrm rot="5400000" flipH="1" flipV="1">
                <a:off x="13192" y="5918"/>
                <a:ext cx="565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0" name="组合 39"/>
          <p:cNvGrpSpPr/>
          <p:nvPr/>
        </p:nvGrpSpPr>
        <p:grpSpPr>
          <a:xfrm>
            <a:off x="4074795" y="889635"/>
            <a:ext cx="4194175" cy="2059940"/>
            <a:chOff x="2410" y="5715"/>
            <a:chExt cx="7977" cy="4298"/>
          </a:xfrm>
        </p:grpSpPr>
        <p:pic>
          <p:nvPicPr>
            <p:cNvPr id="41" name="Picture 4"/>
            <p:cNvPicPr>
              <a:picLocks noChangeAspect="1" noChangeArrowheads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01" y="5715"/>
              <a:ext cx="3387" cy="4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" name="Picture 5"/>
            <p:cNvPicPr>
              <a:picLocks noChangeAspect="1" noChangeArrowheads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10" y="5955"/>
              <a:ext cx="3417" cy="40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" name="右箭头 42"/>
            <p:cNvSpPr/>
            <p:nvPr>
              <p:custDataLst>
                <p:tags r:id="rId13"/>
              </p:custDataLst>
            </p:nvPr>
          </p:nvSpPr>
          <p:spPr>
            <a:xfrm>
              <a:off x="5775" y="7538"/>
              <a:ext cx="1238" cy="56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4" name="内容占位符 2"/>
            <p:cNvSpPr txBox="1"/>
            <p:nvPr>
              <p:custDataLst>
                <p:tags r:id="rId14"/>
              </p:custDataLst>
            </p:nvPr>
          </p:nvSpPr>
          <p:spPr bwMode="auto">
            <a:xfrm>
              <a:off x="5663" y="6638"/>
              <a:ext cx="1575" cy="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7D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Press ‘a’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7D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  [left]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2" grpId="0" bldLvl="0" animBg="1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GoLeftV1(int x, int y, int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Type,int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Rotate)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GoRightV1()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FC2E91-C63B-4C91-90BF-8FC8CD0D21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</a:fld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515" y="3395663"/>
            <a:ext cx="3429000" cy="144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55F21D-B9DE-4887-A99D-B5E0B4B0666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65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latin typeface="Arial" panose="020B0604020202020204" pitchFamily="34" charset="0"/>
                <a:cs typeface="Arial" panose="020B0604020202020204" pitchFamily="34" charset="0"/>
              </a:rPr>
              <a:t>Landed Tetris Blocks</a:t>
            </a:r>
            <a:endParaRPr lang="en-US" altLang="zh-CN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349365" y="1821180"/>
            <a:ext cx="5316855" cy="3924300"/>
            <a:chOff x="7911" y="3252"/>
            <a:chExt cx="8373" cy="6180"/>
          </a:xfrm>
        </p:grpSpPr>
        <p:pic>
          <p:nvPicPr>
            <p:cNvPr id="8" name="Picture 3"/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11" y="3252"/>
              <a:ext cx="3870" cy="6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4"/>
            <p:cNvPicPr>
              <a:picLocks noChangeAspect="1" noChangeArrowheads="1"/>
            </p:cNvPicPr>
            <p:nvPr>
              <p:custDataLst>
                <p:tags r:id="rId4"/>
              </p:custDataLst>
            </p:nvPr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92" y="3252"/>
              <a:ext cx="4392" cy="6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0" name="内容占位符 9"/>
          <p:cNvPicPr>
            <a:picLocks noChangeAspect="1"/>
          </p:cNvPicPr>
          <p:nvPr>
            <p:ph sz="half" idx="1"/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45515" y="1583055"/>
            <a:ext cx="3221990" cy="11353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Modify canGoLeftV1() and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canGoRightV1()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Not cross other landed blocks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7216D"/>
              </a:buClr>
            </a:pP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canFall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(int x, int y, int Type, int Rotate 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Not cross the game bottom(Y)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Not cross other landed blocks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Clr>
                <a:srgbClr val="97216D"/>
              </a:buClr>
            </a:pP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LandedBlocks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[X][Y]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FC2E91-C63B-4C91-90BF-8FC8CD0D21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</a:fld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Landing a tetris block</a:t>
            </a: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FC2E91-C63B-4C91-90BF-8FC8CD0D21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" name="内容占位符 7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79575" y="1357630"/>
            <a:ext cx="8456930" cy="48145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>
                <a:latin typeface="Arial" panose="020B0604020202020204" pitchFamily="34" charset="0"/>
                <a:cs typeface="Arial" panose="020B0604020202020204" pitchFamily="34" charset="0"/>
              </a:rPr>
              <a:t>Landing a tetris block</a:t>
            </a:r>
            <a:endParaRPr lang="en-US" altLang="zh-CN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963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0913" y="2258954"/>
            <a:ext cx="3219450" cy="450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8080" t="43262"/>
          <a:stretch>
            <a:fillRect/>
          </a:stretch>
        </p:blipFill>
        <p:spPr>
          <a:xfrm>
            <a:off x="1743134" y="2327551"/>
            <a:ext cx="5711766" cy="2059018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landBlock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(int x, int y, int type, int rotate)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FC2E91-C63B-4C91-90BF-8FC8CD0D21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</a:fld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  <a:endParaRPr lang="en-US" altLang="zh-C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659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Clr>
                <a:srgbClr val="97216D"/>
              </a:buClr>
            </a:pP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moveBlock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buClr>
                <a:srgbClr val="97216D"/>
              </a:buClr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Determine which key is input ( a:left, s:down, d:right, w:rotation, q:quit)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buClr>
                <a:srgbClr val="97216D"/>
              </a:buClr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Check the collision and landing status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buClr>
                <a:srgbClr val="97216D"/>
              </a:buClr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Change the coordinate(x, y)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Clr>
                <a:srgbClr val="97216D"/>
              </a:buClr>
            </a:pPr>
            <a:r>
              <a:rPr lang="en-US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canRotate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buClr>
                <a:srgbClr val="97216D"/>
              </a:buClr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New Rotate state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buClr>
                <a:srgbClr val="97216D"/>
              </a:buClr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Cross game border 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buClr>
                <a:srgbClr val="97216D"/>
              </a:buClr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Cross landed blocks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FC2E91-C63B-4C91-90BF-8FC8CD0D21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</a:fld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Homework</a:t>
            </a: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Generate a Tetris block that can move and rotate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moveBlock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canGoLeft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(),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anGoRight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(),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anFall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(),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anRotate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landBlock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genBlock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FC2E91-C63B-4C91-90BF-8FC8CD0D21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</a:fld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>
                <a:cs typeface="Arial" panose="020B0604020202020204" pitchFamily="34" charset="0"/>
                <a:sym typeface="+mn-ea"/>
              </a:rPr>
              <a:t>Homework</a:t>
            </a: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FC2E91-C63B-4C91-90BF-8FC8CD0D21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l="1256"/>
          <a:stretch>
            <a:fillRect/>
          </a:stretch>
        </p:blipFill>
        <p:spPr>
          <a:xfrm>
            <a:off x="4037330" y="1371600"/>
            <a:ext cx="3393440" cy="5123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PP_MARK_KEY" val="4009fc62-181b-4858-b937-28414374710c"/>
  <p:tag name="COMMONDATA" val="eyJoZGlkIjoiNWMxYTUwMmFiYzY0NzE4OWIxZThhZmRkMmYyMWVmOTMifQ=="/>
  <p:tag name="commondata" val="eyJoZGlkIjoiNTU0ZmIwYTQ3NzlmZGUxZmU3Zjk0M2IyZTNmM2IxNjAifQ=="/>
</p:tagLst>
</file>

<file path=ppt/theme/theme1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自定义 3">
      <a:dk1>
        <a:srgbClr val="711A5F"/>
      </a:dk1>
      <a:lt1>
        <a:srgbClr val="FFFFFF"/>
      </a:lt1>
      <a:dk2>
        <a:srgbClr val="711A5F"/>
      </a:dk2>
      <a:lt2>
        <a:srgbClr val="FFFFFF"/>
      </a:lt2>
      <a:accent1>
        <a:srgbClr val="D8929B"/>
      </a:accent1>
      <a:accent2>
        <a:srgbClr val="C7C3E3"/>
      </a:accent2>
      <a:accent3>
        <a:srgbClr val="A07DA0"/>
      </a:accent3>
      <a:accent4>
        <a:srgbClr val="48005F"/>
      </a:accent4>
      <a:accent5>
        <a:srgbClr val="E1A08B"/>
      </a:accent5>
      <a:accent6>
        <a:srgbClr val="AD9CC2"/>
      </a:accent6>
      <a:hlink>
        <a:srgbClr val="C7C3E3"/>
      </a:hlink>
      <a:folHlink>
        <a:srgbClr val="48005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2349</Words>
  <Application>WPS 演示</Application>
  <PresentationFormat>全屏显示(4:3)</PresentationFormat>
  <Paragraphs>179</Paragraphs>
  <Slides>17</Slides>
  <Notes>0</Notes>
  <HiddenSlides>0</HiddenSlides>
  <MMClips>2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Noto Sans S Chinese Black</vt:lpstr>
      <vt:lpstr>微软雅黑</vt:lpstr>
      <vt:lpstr>Times New Roman</vt:lpstr>
      <vt:lpstr>Noto Sans S Chinese Bold</vt:lpstr>
      <vt:lpstr>Calibri</vt:lpstr>
      <vt:lpstr>Arial Black</vt:lpstr>
      <vt:lpstr>Arial Unicode MS</vt:lpstr>
      <vt:lpstr>1_OfficePLUS</vt:lpstr>
      <vt:lpstr>2_Office 主题​​</vt:lpstr>
      <vt:lpstr>PowerPoint 演示文稿</vt:lpstr>
      <vt:lpstr>Review</vt:lpstr>
      <vt:lpstr>Review</vt:lpstr>
      <vt:lpstr>Basic Function</vt:lpstr>
      <vt:lpstr>Generate a Tetris block randomly</vt:lpstr>
      <vt:lpstr>Move the Tetris block</vt:lpstr>
      <vt:lpstr>Judge whether the block cross the border</vt:lpstr>
      <vt:lpstr>Judge whether the block cross the border</vt:lpstr>
      <vt:lpstr>Judge whether the block cross the border</vt:lpstr>
      <vt:lpstr>Practice</vt:lpstr>
      <vt:lpstr>Landed Tetris Blocks</vt:lpstr>
      <vt:lpstr>Practice</vt:lpstr>
      <vt:lpstr>Landing a tetris block</vt:lpstr>
      <vt:lpstr>Landing a tetris block</vt:lpstr>
      <vt:lpstr>Practice</vt:lpstr>
      <vt:lpstr>Homework</vt:lpstr>
      <vt:lpstr>Homework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zhhang918</dc:creator>
  <cp:lastModifiedBy>沈舒尹</cp:lastModifiedBy>
  <cp:revision>258</cp:revision>
  <dcterms:created xsi:type="dcterms:W3CDTF">2020-04-18T12:57:00Z</dcterms:created>
  <dcterms:modified xsi:type="dcterms:W3CDTF">2026-03-17T07:47:27Z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AE8C04300EF34350A603174A850034C1_13</vt:lpwstr>
  </property>
  <property fmtid="{D5CDD505-2E9C-101B-9397-08002B2CF9AE}" pid="3" name="KSOProductBuildVer">
    <vt:lpwstr>2052-12.1.0.21915</vt:lpwstr>
  </property>
</Properties>
</file>