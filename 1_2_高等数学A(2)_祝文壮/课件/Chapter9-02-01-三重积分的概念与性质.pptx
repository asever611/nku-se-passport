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4DDE6E-217C-4362-BDFF-20A25C841233}" type="datetimeFigureOut">
              <a:rPr lang="zh-CN" altLang="en-US" smtClean="0"/>
              <a:t>2024/4/4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288EE9-941F-46FA-A54C-06A28682D6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9808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288EE9-941F-46FA-A54C-06A28682D6F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42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4059-F156-4946-9452-E6BF2CB69CCC}" type="datetimeFigureOut">
              <a:rPr lang="zh-CN" altLang="en-US" smtClean="0"/>
              <a:t>2024/4/4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DD451-72BD-427D-93E1-BAD2E5C83E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564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4059-F156-4946-9452-E6BF2CB69CCC}" type="datetimeFigureOut">
              <a:rPr lang="zh-CN" altLang="en-US" smtClean="0"/>
              <a:t>2024/4/4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DD451-72BD-427D-93E1-BAD2E5C83E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8203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4059-F156-4946-9452-E6BF2CB69CCC}" type="datetimeFigureOut">
              <a:rPr lang="zh-CN" altLang="en-US" smtClean="0"/>
              <a:t>2024/4/4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DD451-72BD-427D-93E1-BAD2E5C83E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9340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4059-F156-4946-9452-E6BF2CB69CCC}" type="datetimeFigureOut">
              <a:rPr lang="zh-CN" altLang="en-US" smtClean="0"/>
              <a:t>2024/4/4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DD451-72BD-427D-93E1-BAD2E5C83E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3171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4059-F156-4946-9452-E6BF2CB69CCC}" type="datetimeFigureOut">
              <a:rPr lang="zh-CN" altLang="en-US" smtClean="0"/>
              <a:t>2024/4/4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DD451-72BD-427D-93E1-BAD2E5C83E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6068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4059-F156-4946-9452-E6BF2CB69CCC}" type="datetimeFigureOut">
              <a:rPr lang="zh-CN" altLang="en-US" smtClean="0"/>
              <a:t>2024/4/4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DD451-72BD-427D-93E1-BAD2E5C83E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632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4059-F156-4946-9452-E6BF2CB69CCC}" type="datetimeFigureOut">
              <a:rPr lang="zh-CN" altLang="en-US" smtClean="0"/>
              <a:t>2024/4/4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DD451-72BD-427D-93E1-BAD2E5C83E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7675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4059-F156-4946-9452-E6BF2CB69CCC}" type="datetimeFigureOut">
              <a:rPr lang="zh-CN" altLang="en-US" smtClean="0"/>
              <a:t>2024/4/4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DD451-72BD-427D-93E1-BAD2E5C83E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9321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4059-F156-4946-9452-E6BF2CB69CCC}" type="datetimeFigureOut">
              <a:rPr lang="zh-CN" altLang="en-US" smtClean="0"/>
              <a:t>2024/4/4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DD451-72BD-427D-93E1-BAD2E5C83E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46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4059-F156-4946-9452-E6BF2CB69CCC}" type="datetimeFigureOut">
              <a:rPr lang="zh-CN" altLang="en-US" smtClean="0"/>
              <a:t>2024/4/4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DD451-72BD-427D-93E1-BAD2E5C83E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4677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4059-F156-4946-9452-E6BF2CB69CCC}" type="datetimeFigureOut">
              <a:rPr lang="zh-CN" altLang="en-US" smtClean="0"/>
              <a:t>2024/4/4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DD451-72BD-427D-93E1-BAD2E5C83E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0645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1008F6-9903-4647-9BD9-442DA52521B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9061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14059-F156-4946-9452-E6BF2CB69CCC}" type="datetimeFigureOut">
              <a:rPr lang="zh-CN" altLang="en-US" smtClean="0"/>
              <a:t>2024/4/4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6DD451-72BD-427D-93E1-BAD2E5C83E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9684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oleObject" Target="../embeddings/oleObject11.bin"/><Relationship Id="rId18" Type="http://schemas.openxmlformats.org/officeDocument/2006/relationships/image" Target="../media/image14.wmf"/><Relationship Id="rId3" Type="http://schemas.openxmlformats.org/officeDocument/2006/relationships/image" Target="../media/image7.wmf"/><Relationship Id="rId7" Type="http://schemas.openxmlformats.org/officeDocument/2006/relationships/image" Target="../media/image9.wmf"/><Relationship Id="rId12" Type="http://schemas.openxmlformats.org/officeDocument/2006/relationships/image" Target="../media/image11.wmf"/><Relationship Id="rId17" Type="http://schemas.openxmlformats.org/officeDocument/2006/relationships/oleObject" Target="../embeddings/oleObject13.bin"/><Relationship Id="rId2" Type="http://schemas.openxmlformats.org/officeDocument/2006/relationships/oleObject" Target="../embeddings/oleObject6.bin"/><Relationship Id="rId16" Type="http://schemas.openxmlformats.org/officeDocument/2006/relationships/image" Target="../media/image13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.bin"/><Relationship Id="rId11" Type="http://schemas.openxmlformats.org/officeDocument/2006/relationships/oleObject" Target="../embeddings/oleObject10.bin"/><Relationship Id="rId5" Type="http://schemas.openxmlformats.org/officeDocument/2006/relationships/image" Target="../media/image8.wmf"/><Relationship Id="rId15" Type="http://schemas.openxmlformats.org/officeDocument/2006/relationships/oleObject" Target="../embeddings/oleObject12.bin"/><Relationship Id="rId10" Type="http://schemas.openxmlformats.org/officeDocument/2006/relationships/image" Target="../media/image10.wmf"/><Relationship Id="rId4" Type="http://schemas.openxmlformats.org/officeDocument/2006/relationships/oleObject" Target="../embeddings/oleObject7.bin"/><Relationship Id="rId9" Type="http://schemas.openxmlformats.org/officeDocument/2006/relationships/oleObject" Target="../embeddings/oleObject9.bin"/><Relationship Id="rId14" Type="http://schemas.openxmlformats.org/officeDocument/2006/relationships/image" Target="../media/image12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image" Target="../media/image16.wmf"/><Relationship Id="rId7" Type="http://schemas.openxmlformats.org/officeDocument/2006/relationships/image" Target="../media/image18.e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20.wmf"/><Relationship Id="rId5" Type="http://schemas.openxmlformats.org/officeDocument/2006/relationships/image" Target="../media/image17.wmf"/><Relationship Id="rId10" Type="http://schemas.openxmlformats.org/officeDocument/2006/relationships/oleObject" Target="../embeddings/oleObject19.bin"/><Relationship Id="rId4" Type="http://schemas.openxmlformats.org/officeDocument/2006/relationships/oleObject" Target="../embeddings/oleObject16.bin"/><Relationship Id="rId9" Type="http://schemas.openxmlformats.org/officeDocument/2006/relationships/image" Target="../media/image19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13" Type="http://schemas.openxmlformats.org/officeDocument/2006/relationships/oleObject" Target="../embeddings/oleObject25.bin"/><Relationship Id="rId18" Type="http://schemas.openxmlformats.org/officeDocument/2006/relationships/image" Target="../media/image28.wmf"/><Relationship Id="rId26" Type="http://schemas.openxmlformats.org/officeDocument/2006/relationships/image" Target="../media/image32.wmf"/><Relationship Id="rId3" Type="http://schemas.openxmlformats.org/officeDocument/2006/relationships/oleObject" Target="../embeddings/oleObject20.bin"/><Relationship Id="rId21" Type="http://schemas.openxmlformats.org/officeDocument/2006/relationships/oleObject" Target="../embeddings/oleObject29.bin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25.wmf"/><Relationship Id="rId17" Type="http://schemas.openxmlformats.org/officeDocument/2006/relationships/oleObject" Target="../embeddings/oleObject27.bin"/><Relationship Id="rId25" Type="http://schemas.openxmlformats.org/officeDocument/2006/relationships/oleObject" Target="../embeddings/oleObject31.bin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7.wmf"/><Relationship Id="rId20" Type="http://schemas.openxmlformats.org/officeDocument/2006/relationships/image" Target="../media/image29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wmf"/><Relationship Id="rId11" Type="http://schemas.openxmlformats.org/officeDocument/2006/relationships/oleObject" Target="../embeddings/oleObject24.bin"/><Relationship Id="rId24" Type="http://schemas.openxmlformats.org/officeDocument/2006/relationships/image" Target="../media/image31.wmf"/><Relationship Id="rId5" Type="http://schemas.openxmlformats.org/officeDocument/2006/relationships/oleObject" Target="../embeddings/oleObject21.bin"/><Relationship Id="rId15" Type="http://schemas.openxmlformats.org/officeDocument/2006/relationships/oleObject" Target="../embeddings/oleObject26.bin"/><Relationship Id="rId23" Type="http://schemas.openxmlformats.org/officeDocument/2006/relationships/oleObject" Target="../embeddings/oleObject30.bin"/><Relationship Id="rId10" Type="http://schemas.openxmlformats.org/officeDocument/2006/relationships/image" Target="../media/image24.wmf"/><Relationship Id="rId19" Type="http://schemas.openxmlformats.org/officeDocument/2006/relationships/oleObject" Target="../embeddings/oleObject28.bin"/><Relationship Id="rId4" Type="http://schemas.openxmlformats.org/officeDocument/2006/relationships/image" Target="../media/image21.wmf"/><Relationship Id="rId9" Type="http://schemas.openxmlformats.org/officeDocument/2006/relationships/oleObject" Target="../embeddings/oleObject23.bin"/><Relationship Id="rId14" Type="http://schemas.openxmlformats.org/officeDocument/2006/relationships/image" Target="../media/image26.wmf"/><Relationship Id="rId22" Type="http://schemas.openxmlformats.org/officeDocument/2006/relationships/image" Target="../media/image30.wmf"/><Relationship Id="rId27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33.bin"/><Relationship Id="rId10" Type="http://schemas.openxmlformats.org/officeDocument/2006/relationships/image" Target="../media/image36.wmf"/><Relationship Id="rId4" Type="http://schemas.openxmlformats.org/officeDocument/2006/relationships/image" Target="../media/image33.wmf"/><Relationship Id="rId9" Type="http://schemas.openxmlformats.org/officeDocument/2006/relationships/oleObject" Target="../embeddings/oleObject35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3" Type="http://schemas.openxmlformats.org/officeDocument/2006/relationships/image" Target="../media/image37.wmf"/><Relationship Id="rId7" Type="http://schemas.openxmlformats.org/officeDocument/2006/relationships/image" Target="../media/image39.wmf"/><Relationship Id="rId12" Type="http://schemas.openxmlformats.org/officeDocument/2006/relationships/image" Target="../media/image1.png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8.bin"/><Relationship Id="rId11" Type="http://schemas.openxmlformats.org/officeDocument/2006/relationships/image" Target="../media/image41.wmf"/><Relationship Id="rId5" Type="http://schemas.openxmlformats.org/officeDocument/2006/relationships/image" Target="../media/image38.wmf"/><Relationship Id="rId10" Type="http://schemas.openxmlformats.org/officeDocument/2006/relationships/oleObject" Target="../embeddings/oleObject40.bin"/><Relationship Id="rId4" Type="http://schemas.openxmlformats.org/officeDocument/2006/relationships/oleObject" Target="../embeddings/oleObject37.bin"/><Relationship Id="rId9" Type="http://schemas.openxmlformats.org/officeDocument/2006/relationships/image" Target="../media/image40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13" Type="http://schemas.openxmlformats.org/officeDocument/2006/relationships/oleObject" Target="../embeddings/oleObject46.bin"/><Relationship Id="rId18" Type="http://schemas.openxmlformats.org/officeDocument/2006/relationships/image" Target="../media/image49.wmf"/><Relationship Id="rId3" Type="http://schemas.openxmlformats.org/officeDocument/2006/relationships/oleObject" Target="../embeddings/oleObject41.bin"/><Relationship Id="rId21" Type="http://schemas.openxmlformats.org/officeDocument/2006/relationships/oleObject" Target="../embeddings/oleObject50.bin"/><Relationship Id="rId7" Type="http://schemas.openxmlformats.org/officeDocument/2006/relationships/oleObject" Target="../embeddings/oleObject43.bin"/><Relationship Id="rId12" Type="http://schemas.openxmlformats.org/officeDocument/2006/relationships/image" Target="../media/image46.wmf"/><Relationship Id="rId17" Type="http://schemas.openxmlformats.org/officeDocument/2006/relationships/oleObject" Target="../embeddings/oleObject48.bin"/><Relationship Id="rId2" Type="http://schemas.openxmlformats.org/officeDocument/2006/relationships/image" Target="../media/image1.png"/><Relationship Id="rId16" Type="http://schemas.openxmlformats.org/officeDocument/2006/relationships/image" Target="../media/image48.wmf"/><Relationship Id="rId20" Type="http://schemas.openxmlformats.org/officeDocument/2006/relationships/image" Target="../media/image50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wmf"/><Relationship Id="rId11" Type="http://schemas.openxmlformats.org/officeDocument/2006/relationships/oleObject" Target="../embeddings/oleObject45.bin"/><Relationship Id="rId5" Type="http://schemas.openxmlformats.org/officeDocument/2006/relationships/oleObject" Target="../embeddings/oleObject42.bin"/><Relationship Id="rId15" Type="http://schemas.openxmlformats.org/officeDocument/2006/relationships/oleObject" Target="../embeddings/oleObject47.bin"/><Relationship Id="rId10" Type="http://schemas.openxmlformats.org/officeDocument/2006/relationships/image" Target="../media/image45.wmf"/><Relationship Id="rId19" Type="http://schemas.openxmlformats.org/officeDocument/2006/relationships/oleObject" Target="../embeddings/oleObject49.bin"/><Relationship Id="rId4" Type="http://schemas.openxmlformats.org/officeDocument/2006/relationships/image" Target="../media/image42.wmf"/><Relationship Id="rId9" Type="http://schemas.openxmlformats.org/officeDocument/2006/relationships/oleObject" Target="../embeddings/oleObject44.bin"/><Relationship Id="rId14" Type="http://schemas.openxmlformats.org/officeDocument/2006/relationships/image" Target="../media/image47.wmf"/><Relationship Id="rId22" Type="http://schemas.openxmlformats.org/officeDocument/2006/relationships/image" Target="../media/image51.wmf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7.wmf"/><Relationship Id="rId18" Type="http://schemas.openxmlformats.org/officeDocument/2006/relationships/image" Target="../media/image1.png"/><Relationship Id="rId26" Type="http://schemas.openxmlformats.org/officeDocument/2006/relationships/image" Target="../media/image63.wmf"/><Relationship Id="rId39" Type="http://schemas.openxmlformats.org/officeDocument/2006/relationships/oleObject" Target="../embeddings/oleObject69.bin"/><Relationship Id="rId21" Type="http://schemas.openxmlformats.org/officeDocument/2006/relationships/oleObject" Target="../embeddings/oleObject60.bin"/><Relationship Id="rId34" Type="http://schemas.openxmlformats.org/officeDocument/2006/relationships/image" Target="../media/image67.wmf"/><Relationship Id="rId7" Type="http://schemas.openxmlformats.org/officeDocument/2006/relationships/image" Target="../media/image54.wmf"/><Relationship Id="rId12" Type="http://schemas.openxmlformats.org/officeDocument/2006/relationships/oleObject" Target="../embeddings/oleObject56.bin"/><Relationship Id="rId17" Type="http://schemas.openxmlformats.org/officeDocument/2006/relationships/image" Target="../media/image59.wmf"/><Relationship Id="rId25" Type="http://schemas.openxmlformats.org/officeDocument/2006/relationships/oleObject" Target="../embeddings/oleObject62.bin"/><Relationship Id="rId33" Type="http://schemas.openxmlformats.org/officeDocument/2006/relationships/oleObject" Target="../embeddings/oleObject66.bin"/><Relationship Id="rId38" Type="http://schemas.openxmlformats.org/officeDocument/2006/relationships/image" Target="../media/image69.wmf"/><Relationship Id="rId2" Type="http://schemas.openxmlformats.org/officeDocument/2006/relationships/oleObject" Target="../embeddings/oleObject51.bin"/><Relationship Id="rId16" Type="http://schemas.openxmlformats.org/officeDocument/2006/relationships/oleObject" Target="../embeddings/oleObject58.bin"/><Relationship Id="rId20" Type="http://schemas.openxmlformats.org/officeDocument/2006/relationships/image" Target="../media/image60.wmf"/><Relationship Id="rId29" Type="http://schemas.openxmlformats.org/officeDocument/2006/relationships/oleObject" Target="../embeddings/oleObject6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3.bin"/><Relationship Id="rId11" Type="http://schemas.openxmlformats.org/officeDocument/2006/relationships/image" Target="../media/image56.wmf"/><Relationship Id="rId24" Type="http://schemas.openxmlformats.org/officeDocument/2006/relationships/image" Target="../media/image62.wmf"/><Relationship Id="rId32" Type="http://schemas.openxmlformats.org/officeDocument/2006/relationships/image" Target="../media/image66.wmf"/><Relationship Id="rId37" Type="http://schemas.openxmlformats.org/officeDocument/2006/relationships/oleObject" Target="../embeddings/oleObject68.bin"/><Relationship Id="rId40" Type="http://schemas.openxmlformats.org/officeDocument/2006/relationships/image" Target="../media/image70.wmf"/><Relationship Id="rId5" Type="http://schemas.openxmlformats.org/officeDocument/2006/relationships/image" Target="../media/image53.wmf"/><Relationship Id="rId15" Type="http://schemas.openxmlformats.org/officeDocument/2006/relationships/image" Target="../media/image58.wmf"/><Relationship Id="rId23" Type="http://schemas.openxmlformats.org/officeDocument/2006/relationships/oleObject" Target="../embeddings/oleObject61.bin"/><Relationship Id="rId28" Type="http://schemas.openxmlformats.org/officeDocument/2006/relationships/image" Target="../media/image64.wmf"/><Relationship Id="rId36" Type="http://schemas.openxmlformats.org/officeDocument/2006/relationships/image" Target="../media/image68.wmf"/><Relationship Id="rId10" Type="http://schemas.openxmlformats.org/officeDocument/2006/relationships/oleObject" Target="../embeddings/oleObject55.bin"/><Relationship Id="rId19" Type="http://schemas.openxmlformats.org/officeDocument/2006/relationships/oleObject" Target="../embeddings/oleObject59.bin"/><Relationship Id="rId31" Type="http://schemas.openxmlformats.org/officeDocument/2006/relationships/oleObject" Target="../embeddings/oleObject65.bin"/><Relationship Id="rId4" Type="http://schemas.openxmlformats.org/officeDocument/2006/relationships/oleObject" Target="../embeddings/oleObject52.bin"/><Relationship Id="rId9" Type="http://schemas.openxmlformats.org/officeDocument/2006/relationships/image" Target="../media/image55.wmf"/><Relationship Id="rId14" Type="http://schemas.openxmlformats.org/officeDocument/2006/relationships/oleObject" Target="../embeddings/oleObject57.bin"/><Relationship Id="rId22" Type="http://schemas.openxmlformats.org/officeDocument/2006/relationships/image" Target="../media/image61.wmf"/><Relationship Id="rId27" Type="http://schemas.openxmlformats.org/officeDocument/2006/relationships/oleObject" Target="../embeddings/oleObject63.bin"/><Relationship Id="rId30" Type="http://schemas.openxmlformats.org/officeDocument/2006/relationships/image" Target="../media/image65.wmf"/><Relationship Id="rId35" Type="http://schemas.openxmlformats.org/officeDocument/2006/relationships/oleObject" Target="../embeddings/oleObject67.bin"/><Relationship Id="rId8" Type="http://schemas.openxmlformats.org/officeDocument/2006/relationships/oleObject" Target="../embeddings/oleObject54.bin"/><Relationship Id="rId3" Type="http://schemas.openxmlformats.org/officeDocument/2006/relationships/image" Target="../media/image5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7"/>
          <p:cNvSpPr txBox="1">
            <a:spLocks noChangeArrowheads="1"/>
          </p:cNvSpPr>
          <p:nvPr/>
        </p:nvSpPr>
        <p:spPr bwMode="auto">
          <a:xfrm>
            <a:off x="4135727" y="1451929"/>
            <a:ext cx="3151825" cy="769441"/>
          </a:xfrm>
          <a:prstGeom prst="rect">
            <a:avLst/>
          </a:prstGeom>
          <a:noFill/>
          <a:ln w="50800" cmpd="thickThin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4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2.  </a:t>
            </a:r>
            <a:r>
              <a:rPr lang="zh-CN" altLang="en-US" sz="44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三重积分</a:t>
            </a:r>
            <a:endParaRPr lang="zh-CN" altLang="en-US" sz="4800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9219" name="AutoShape 9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4043363" y="5553075"/>
            <a:ext cx="3581400" cy="381000"/>
          </a:xfrm>
          <a:prstGeom prst="actionButtonBlank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9220" name="Text Box 10"/>
          <p:cNvSpPr txBox="1">
            <a:spLocks noChangeArrowheads="1"/>
          </p:cNvSpPr>
          <p:nvPr/>
        </p:nvSpPr>
        <p:spPr bwMode="auto">
          <a:xfrm>
            <a:off x="10455869" y="108586"/>
            <a:ext cx="1553630" cy="523220"/>
          </a:xfrm>
          <a:prstGeom prst="rect">
            <a:avLst/>
          </a:prstGeom>
          <a:noFill/>
          <a:ln w="222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dirty="0">
                <a:solidFill>
                  <a:schemeClr val="accent2"/>
                </a:solidFill>
                <a:ea typeface="楷体_GB2312" pitchFamily="49" charset="-122"/>
              </a:rPr>
              <a:t> </a:t>
            </a:r>
            <a:r>
              <a:rPr kumimoji="0" lang="en-US" altLang="zh-CN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9</a:t>
            </a:r>
            <a:r>
              <a:rPr kumimoji="0" lang="zh-CN" altLang="en-US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</a:t>
            </a:r>
          </a:p>
        </p:txBody>
      </p:sp>
      <p:sp>
        <p:nvSpPr>
          <p:cNvPr id="9221" name="文本框 1"/>
          <p:cNvSpPr txBox="1">
            <a:spLocks noChangeArrowheads="1"/>
          </p:cNvSpPr>
          <p:nvPr/>
        </p:nvSpPr>
        <p:spPr bwMode="auto">
          <a:xfrm>
            <a:off x="2927351" y="2763838"/>
            <a:ext cx="6043642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2.1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、三重积分的概念与性质</a:t>
            </a:r>
            <a:endParaRPr lang="en-US" altLang="zh-CN" b="1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2.2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、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在直角坐标系下三重积分的计算</a:t>
            </a:r>
            <a:endParaRPr lang="en-US" altLang="zh-CN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2.3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、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在柱坐标系下三重积分的计算</a:t>
            </a:r>
            <a:endParaRPr lang="en-US" altLang="zh-CN" b="1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2.4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、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在球坐标系下三重积分的计算</a:t>
            </a:r>
            <a:endParaRPr lang="en-US" altLang="zh-CN" b="1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2.5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、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三重积分的一般换元公式</a:t>
            </a:r>
          </a:p>
        </p:txBody>
      </p:sp>
    </p:spTree>
    <p:extLst>
      <p:ext uri="{BB962C8B-B14F-4D97-AF65-F5344CB8AC3E}">
        <p14:creationId xmlns:p14="http://schemas.microsoft.com/office/powerpoint/2010/main" val="2395718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Text Box 2"/>
          <p:cNvSpPr txBox="1">
            <a:spLocks noChangeArrowheads="1"/>
          </p:cNvSpPr>
          <p:nvPr/>
        </p:nvSpPr>
        <p:spPr bwMode="auto">
          <a:xfrm>
            <a:off x="1556727" y="1604266"/>
            <a:ext cx="2327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问题的提出：</a:t>
            </a:r>
            <a:endParaRPr lang="zh-CN" altLang="en-US" sz="2000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297990" name="Text Box 6"/>
          <p:cNvSpPr txBox="1">
            <a:spLocks noChangeArrowheads="1"/>
          </p:cNvSpPr>
          <p:nvPr/>
        </p:nvSpPr>
        <p:spPr bwMode="auto">
          <a:xfrm>
            <a:off x="1556727" y="3523041"/>
            <a:ext cx="289083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取极限三个步骤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274" name="Rectangle 10"/>
          <p:cNvSpPr>
            <a:spLocks noGrp="1" noChangeArrowheads="1"/>
          </p:cNvSpPr>
          <p:nvPr>
            <p:ph type="title"/>
          </p:nvPr>
        </p:nvSpPr>
        <p:spPr>
          <a:xfrm>
            <a:off x="1651794" y="511851"/>
            <a:ext cx="6681788" cy="1100137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2.1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三重积分的概念及性质</a:t>
            </a:r>
          </a:p>
        </p:txBody>
      </p:sp>
      <p:graphicFrame>
        <p:nvGraphicFramePr>
          <p:cNvPr id="10245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3193838"/>
              </p:ext>
            </p:extLst>
          </p:nvPr>
        </p:nvGraphicFramePr>
        <p:xfrm>
          <a:off x="3606801" y="1646111"/>
          <a:ext cx="632777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03500" imgH="215900" progId="Equation.DSMT4">
                  <p:embed/>
                </p:oleObj>
              </mc:Choice>
              <mc:Fallback>
                <p:oleObj name="Equation" r:id="rId3" imgW="26035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6801" y="1646111"/>
                        <a:ext cx="6327775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6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8756408"/>
              </p:ext>
            </p:extLst>
          </p:nvPr>
        </p:nvGraphicFramePr>
        <p:xfrm>
          <a:off x="1651794" y="2255762"/>
          <a:ext cx="316865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33500" imgH="215900" progId="Equation.DSMT4">
                  <p:embed/>
                </p:oleObj>
              </mc:Choice>
              <mc:Fallback>
                <p:oleObj name="Equation" r:id="rId5" imgW="13335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794" y="2255762"/>
                        <a:ext cx="3168650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1375619"/>
              </p:ext>
            </p:extLst>
          </p:nvPr>
        </p:nvGraphicFramePr>
        <p:xfrm>
          <a:off x="2325689" y="2990943"/>
          <a:ext cx="7608887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213100" imgH="215900" progId="Equation.DSMT4">
                  <p:embed/>
                </p:oleObj>
              </mc:Choice>
              <mc:Fallback>
                <p:oleObj name="Equation" r:id="rId7" imgW="32131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5689" y="2990943"/>
                        <a:ext cx="7608887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8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6543615"/>
              </p:ext>
            </p:extLst>
          </p:nvPr>
        </p:nvGraphicFramePr>
        <p:xfrm>
          <a:off x="1651794" y="4216881"/>
          <a:ext cx="5748338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349500" imgH="228600" progId="Equation.DSMT4">
                  <p:embed/>
                </p:oleObj>
              </mc:Choice>
              <mc:Fallback>
                <p:oleObj name="Equation" r:id="rId9" imgW="23495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794" y="4216881"/>
                        <a:ext cx="5748338" cy="56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9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5655282"/>
              </p:ext>
            </p:extLst>
          </p:nvPr>
        </p:nvGraphicFramePr>
        <p:xfrm>
          <a:off x="2146088" y="4819113"/>
          <a:ext cx="316547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257300" imgH="228600" progId="Equation.DSMT4">
                  <p:embed/>
                </p:oleObj>
              </mc:Choice>
              <mc:Fallback>
                <p:oleObj name="Equation" r:id="rId11" imgW="12573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6088" y="4819113"/>
                        <a:ext cx="316547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56079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7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7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986" grpId="0" autoUpdateAnimBg="0"/>
      <p:bldP spid="297990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90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034762"/>
              </p:ext>
            </p:extLst>
          </p:nvPr>
        </p:nvGraphicFramePr>
        <p:xfrm>
          <a:off x="6846888" y="1071563"/>
          <a:ext cx="1611312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98400" imgH="228600" progId="Equation.DSMT4">
                  <p:embed/>
                </p:oleObj>
              </mc:Choice>
              <mc:Fallback>
                <p:oleObj name="Equation" r:id="rId2" imgW="698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6888" y="1071563"/>
                        <a:ext cx="1611312" cy="52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90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6347927"/>
              </p:ext>
            </p:extLst>
          </p:nvPr>
        </p:nvGraphicFramePr>
        <p:xfrm>
          <a:off x="4441032" y="1691789"/>
          <a:ext cx="3575050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549400" imgH="228600" progId="Equation.3">
                  <p:embed/>
                </p:oleObj>
              </mc:Choice>
              <mc:Fallback>
                <p:oleObj name="公式" r:id="rId4" imgW="15494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1032" y="1691789"/>
                        <a:ext cx="3575050" cy="52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90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9266322"/>
              </p:ext>
            </p:extLst>
          </p:nvPr>
        </p:nvGraphicFramePr>
        <p:xfrm>
          <a:off x="4292600" y="2719694"/>
          <a:ext cx="3722687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612900" imgH="431800" progId="Equation.3">
                  <p:embed/>
                </p:oleObj>
              </mc:Choice>
              <mc:Fallback>
                <p:oleObj name="公式" r:id="rId6" imgW="16129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2600" y="2719694"/>
                        <a:ext cx="3722687" cy="998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9016" name="Text Box 8"/>
          <p:cNvSpPr txBox="1">
            <a:spLocks noChangeArrowheads="1"/>
          </p:cNvSpPr>
          <p:nvPr/>
        </p:nvSpPr>
        <p:spPr bwMode="auto">
          <a:xfrm>
            <a:off x="2279651" y="3644354"/>
            <a:ext cx="17764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(3)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取极限</a:t>
            </a:r>
          </a:p>
        </p:txBody>
      </p:sp>
      <p:graphicFrame>
        <p:nvGraphicFramePr>
          <p:cNvPr id="299017" name="Object 9"/>
          <p:cNvGraphicFramePr>
            <a:graphicFrameLocks noChangeAspect="1"/>
          </p:cNvGraphicFramePr>
          <p:nvPr/>
        </p:nvGraphicFramePr>
        <p:xfrm>
          <a:off x="4087814" y="4005264"/>
          <a:ext cx="4281487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854200" imgH="431800" progId="Equation.3">
                  <p:embed/>
                </p:oleObj>
              </mc:Choice>
              <mc:Fallback>
                <p:oleObj name="公式" r:id="rId9" imgW="18542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7814" y="4005264"/>
                        <a:ext cx="4281487" cy="998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9018" name="Text Box 10"/>
          <p:cNvSpPr txBox="1">
            <a:spLocks noChangeArrowheads="1"/>
          </p:cNvSpPr>
          <p:nvPr/>
        </p:nvSpPr>
        <p:spPr bwMode="auto">
          <a:xfrm>
            <a:off x="2279651" y="5013326"/>
            <a:ext cx="898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其中</a:t>
            </a:r>
          </a:p>
        </p:txBody>
      </p:sp>
      <p:graphicFrame>
        <p:nvGraphicFramePr>
          <p:cNvPr id="299019" name="Object 11"/>
          <p:cNvGraphicFramePr>
            <a:graphicFrameLocks noChangeAspect="1"/>
          </p:cNvGraphicFramePr>
          <p:nvPr/>
        </p:nvGraphicFramePr>
        <p:xfrm>
          <a:off x="3663951" y="5084763"/>
          <a:ext cx="3167063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371600" imgH="279400" progId="Equation.3">
                  <p:embed/>
                </p:oleObj>
              </mc:Choice>
              <mc:Fallback>
                <p:oleObj name="公式" r:id="rId11" imgW="1371600" imgH="279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3951" y="5084763"/>
                        <a:ext cx="3167063" cy="646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3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9067831"/>
              </p:ext>
            </p:extLst>
          </p:nvPr>
        </p:nvGraphicFramePr>
        <p:xfrm>
          <a:off x="2211877" y="1085058"/>
          <a:ext cx="4776787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006600" imgH="228600" progId="Equation.DSMT4">
                  <p:embed/>
                </p:oleObj>
              </mc:Choice>
              <mc:Fallback>
                <p:oleObj name="Equation" r:id="rId13" imgW="2006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1877" y="1085058"/>
                        <a:ext cx="4776787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4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7742446"/>
              </p:ext>
            </p:extLst>
          </p:nvPr>
        </p:nvGraphicFramePr>
        <p:xfrm>
          <a:off x="8564809" y="1088233"/>
          <a:ext cx="2047875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863225" imgH="228501" progId="Equation.DSMT4">
                  <p:embed/>
                </p:oleObj>
              </mc:Choice>
              <mc:Fallback>
                <p:oleObj name="Equation" r:id="rId15" imgW="863225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64809" y="1088233"/>
                        <a:ext cx="2047875" cy="541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5" name="对象 3"/>
          <p:cNvGraphicFramePr>
            <a:graphicFrameLocks noChangeAspect="1"/>
          </p:cNvGraphicFramePr>
          <p:nvPr/>
        </p:nvGraphicFramePr>
        <p:xfrm>
          <a:off x="2273300" y="2274889"/>
          <a:ext cx="512445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159000" imgH="228600" progId="Equation.DSMT4">
                  <p:embed/>
                </p:oleObj>
              </mc:Choice>
              <mc:Fallback>
                <p:oleObj name="Equation" r:id="rId17" imgW="2159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3300" y="2274889"/>
                        <a:ext cx="512445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59934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99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99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9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99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9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99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016" grpId="0" autoUpdateAnimBg="0"/>
      <p:bldP spid="299018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52685" y="255738"/>
            <a:ext cx="3249043" cy="64140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三重积分的定义</a:t>
            </a:r>
          </a:p>
        </p:txBody>
      </p:sp>
      <p:graphicFrame>
        <p:nvGraphicFramePr>
          <p:cNvPr id="12292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4932541"/>
              </p:ext>
            </p:extLst>
          </p:nvPr>
        </p:nvGraphicFramePr>
        <p:xfrm>
          <a:off x="2118148" y="1113942"/>
          <a:ext cx="7873130" cy="523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41700" imgH="2286000" progId="Equation.DSMT4">
                  <p:embed/>
                </p:oleObj>
              </mc:Choice>
              <mc:Fallback>
                <p:oleObj name="Equation" r:id="rId2" imgW="3441700" imgH="2286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148" y="1113942"/>
                        <a:ext cx="7873130" cy="5230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67651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39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3208835"/>
              </p:ext>
            </p:extLst>
          </p:nvPr>
        </p:nvGraphicFramePr>
        <p:xfrm>
          <a:off x="2455864" y="2695816"/>
          <a:ext cx="7007313" cy="988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378700" imgH="1041400" progId="Equation.3">
                  <p:embed/>
                </p:oleObj>
              </mc:Choice>
              <mc:Fallback>
                <p:oleObj name="公式" r:id="rId2" imgW="7378700" imgH="1041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864" y="2695816"/>
                        <a:ext cx="7007313" cy="9887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57" name="Object 5"/>
          <p:cNvGraphicFramePr>
            <a:graphicFrameLocks noChangeAspect="1"/>
          </p:cNvGraphicFramePr>
          <p:nvPr/>
        </p:nvGraphicFramePr>
        <p:xfrm>
          <a:off x="5448301" y="3246438"/>
          <a:ext cx="309562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08100" imgH="241300" progId="Equation.DSMT4">
                  <p:embed/>
                </p:oleObj>
              </mc:Choice>
              <mc:Fallback>
                <p:oleObj name="Equation" r:id="rId4" imgW="1308100" imgH="241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1" y="3246438"/>
                        <a:ext cx="3095625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0552883"/>
              </p:ext>
            </p:extLst>
          </p:nvPr>
        </p:nvGraphicFramePr>
        <p:xfrm>
          <a:off x="2455864" y="3736976"/>
          <a:ext cx="7104063" cy="157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7058774" imgH="1585038" progId="Word.Document.8">
                  <p:embed/>
                </p:oleObj>
              </mc:Choice>
              <mc:Fallback>
                <p:oleObj name="Document" r:id="rId6" imgW="7058774" imgH="158503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864" y="3736976"/>
                        <a:ext cx="7104063" cy="157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5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1702912"/>
              </p:ext>
            </p:extLst>
          </p:nvPr>
        </p:nvGraphicFramePr>
        <p:xfrm>
          <a:off x="2455864" y="5436500"/>
          <a:ext cx="6568684" cy="421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7124700" imgH="457200" progId="Equation.3">
                  <p:embed/>
                </p:oleObj>
              </mc:Choice>
              <mc:Fallback>
                <p:oleObj name="公式" r:id="rId8" imgW="71247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864" y="5436500"/>
                        <a:ext cx="6568684" cy="4216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8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5465528"/>
              </p:ext>
            </p:extLst>
          </p:nvPr>
        </p:nvGraphicFramePr>
        <p:xfrm>
          <a:off x="2455864" y="933511"/>
          <a:ext cx="6613134" cy="16375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768600" imgH="685800" progId="Equation.DSMT4">
                  <p:embed/>
                </p:oleObj>
              </mc:Choice>
              <mc:Fallback>
                <p:oleObj name="Equation" r:id="rId10" imgW="276860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864" y="933511"/>
                        <a:ext cx="6613134" cy="16375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439803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3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3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3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53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870858" y="1006475"/>
          <a:ext cx="10432868" cy="5075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58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5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612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5399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13" marB="45713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       分       割</a:t>
                      </a:r>
                    </a:p>
                  </a:txBody>
                  <a:tcPr marL="91439" marR="91439" marT="45713" marB="45713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        近似求和</a:t>
                      </a:r>
                    </a:p>
                  </a:txBody>
                  <a:tcPr marL="91439" marR="91439" marT="45713" marB="45713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           取   极   限</a:t>
                      </a:r>
                    </a:p>
                  </a:txBody>
                  <a:tcPr marL="91439" marR="91439" marT="45713" marB="4571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0243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13" marB="4571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13" marB="4571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13" marB="4571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13" marB="4571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7403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13" marB="4571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13" marB="4571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13" marB="4571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13" marB="4571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62193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13" marB="4571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13" marB="4571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13" marB="4571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13" marB="4571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366" name="对象 4"/>
          <p:cNvGraphicFramePr>
            <a:graphicFrameLocks noChangeAspect="1"/>
          </p:cNvGraphicFramePr>
          <p:nvPr/>
        </p:nvGraphicFramePr>
        <p:xfrm>
          <a:off x="1639889" y="1885157"/>
          <a:ext cx="1346200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85800" imgH="330200" progId="Equation.DSMT4">
                  <p:embed/>
                </p:oleObj>
              </mc:Choice>
              <mc:Fallback>
                <p:oleObj name="Equation" r:id="rId3" imgW="6858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9889" y="1885157"/>
                        <a:ext cx="1346200" cy="649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7" name="对象 5"/>
          <p:cNvGraphicFramePr>
            <a:graphicFrameLocks noChangeAspect="1"/>
          </p:cNvGraphicFramePr>
          <p:nvPr/>
        </p:nvGraphicFramePr>
        <p:xfrm>
          <a:off x="1389064" y="3471069"/>
          <a:ext cx="1847850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77900" imgH="381000" progId="Equation.DSMT4">
                  <p:embed/>
                </p:oleObj>
              </mc:Choice>
              <mc:Fallback>
                <p:oleObj name="Equation" r:id="rId5" imgW="9779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9064" y="3471069"/>
                        <a:ext cx="1847850" cy="71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8" name="对象 6"/>
          <p:cNvGraphicFramePr>
            <a:graphicFrameLocks noChangeAspect="1"/>
          </p:cNvGraphicFramePr>
          <p:nvPr/>
        </p:nvGraphicFramePr>
        <p:xfrm>
          <a:off x="3533890" y="1757363"/>
          <a:ext cx="2036762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16000" imgH="457200" progId="Equation.DSMT4">
                  <p:embed/>
                </p:oleObj>
              </mc:Choice>
              <mc:Fallback>
                <p:oleObj name="Equation" r:id="rId7" imgW="10160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3890" y="1757363"/>
                        <a:ext cx="2036762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9" name="对象 7"/>
          <p:cNvGraphicFramePr>
            <a:graphicFrameLocks noChangeAspect="1"/>
          </p:cNvGraphicFramePr>
          <p:nvPr/>
        </p:nvGraphicFramePr>
        <p:xfrm>
          <a:off x="3702665" y="3425826"/>
          <a:ext cx="1498600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38200" imgH="457200" progId="Equation.DSMT4">
                  <p:embed/>
                </p:oleObj>
              </mc:Choice>
              <mc:Fallback>
                <p:oleObj name="Equation" r:id="rId9" imgW="8382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2665" y="3425826"/>
                        <a:ext cx="1498600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70" name="对象 8"/>
          <p:cNvGraphicFramePr>
            <a:graphicFrameLocks noChangeAspect="1"/>
          </p:cNvGraphicFramePr>
          <p:nvPr/>
        </p:nvGraphicFramePr>
        <p:xfrm>
          <a:off x="6159501" y="1484313"/>
          <a:ext cx="1666875" cy="149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927100" imgH="901700" progId="Equation.DSMT4">
                  <p:embed/>
                </p:oleObj>
              </mc:Choice>
              <mc:Fallback>
                <p:oleObj name="Equation" r:id="rId11" imgW="927100" imgH="901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9501" y="1484313"/>
                        <a:ext cx="1666875" cy="1492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71" name="对象 9"/>
          <p:cNvGraphicFramePr>
            <a:graphicFrameLocks noChangeAspect="1"/>
          </p:cNvGraphicFramePr>
          <p:nvPr/>
        </p:nvGraphicFramePr>
        <p:xfrm>
          <a:off x="5953125" y="2994025"/>
          <a:ext cx="1957388" cy="155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040948" imgH="901309" progId="Equation.DSMT4">
                  <p:embed/>
                </p:oleObj>
              </mc:Choice>
              <mc:Fallback>
                <p:oleObj name="Equation" r:id="rId13" imgW="1040948" imgH="90130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3125" y="2994025"/>
                        <a:ext cx="1957388" cy="155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72" name="对象 10"/>
          <p:cNvGraphicFramePr>
            <a:graphicFrameLocks noChangeAspect="1"/>
          </p:cNvGraphicFramePr>
          <p:nvPr/>
        </p:nvGraphicFramePr>
        <p:xfrm>
          <a:off x="8648973" y="1541463"/>
          <a:ext cx="1855788" cy="1336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002865" imgH="723586" progId="Equation.DSMT4">
                  <p:embed/>
                </p:oleObj>
              </mc:Choice>
              <mc:Fallback>
                <p:oleObj name="Equation" r:id="rId15" imgW="1002865" imgH="72358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48973" y="1541463"/>
                        <a:ext cx="1855788" cy="1336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73" name="对象 11"/>
          <p:cNvGraphicFramePr>
            <a:graphicFrameLocks noChangeAspect="1"/>
          </p:cNvGraphicFramePr>
          <p:nvPr/>
        </p:nvGraphicFramePr>
        <p:xfrm>
          <a:off x="8357757" y="3118643"/>
          <a:ext cx="2498725" cy="1306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384300" imgH="723900" progId="Equation.DSMT4">
                  <p:embed/>
                </p:oleObj>
              </mc:Choice>
              <mc:Fallback>
                <p:oleObj name="Equation" r:id="rId17" imgW="1384300" imgH="723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7757" y="3118643"/>
                        <a:ext cx="2498725" cy="1306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74" name="对象 12"/>
          <p:cNvGraphicFramePr>
            <a:graphicFrameLocks noChangeAspect="1"/>
          </p:cNvGraphicFramePr>
          <p:nvPr/>
        </p:nvGraphicFramePr>
        <p:xfrm>
          <a:off x="979125" y="5028781"/>
          <a:ext cx="2185987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295400" imgH="381000" progId="Equation.DSMT4">
                  <p:embed/>
                </p:oleObj>
              </mc:Choice>
              <mc:Fallback>
                <p:oleObj name="Equation" r:id="rId19" imgW="12954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9125" y="5028781"/>
                        <a:ext cx="2185987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75" name="对象 13"/>
          <p:cNvGraphicFramePr>
            <a:graphicFrameLocks noChangeAspect="1"/>
          </p:cNvGraphicFramePr>
          <p:nvPr/>
        </p:nvGraphicFramePr>
        <p:xfrm>
          <a:off x="3608388" y="4851695"/>
          <a:ext cx="1565275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876300" imgH="457200" progId="Equation.DSMT4">
                  <p:embed/>
                </p:oleObj>
              </mc:Choice>
              <mc:Fallback>
                <p:oleObj name="Equation" r:id="rId21" imgW="8763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8388" y="4851695"/>
                        <a:ext cx="1565275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76" name="对象 14"/>
          <p:cNvGraphicFramePr>
            <a:graphicFrameLocks noChangeAspect="1"/>
          </p:cNvGraphicFramePr>
          <p:nvPr/>
        </p:nvGraphicFramePr>
        <p:xfrm>
          <a:off x="5959475" y="4519613"/>
          <a:ext cx="1981200" cy="1465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218671" imgH="901309" progId="Equation.DSMT4">
                  <p:embed/>
                </p:oleObj>
              </mc:Choice>
              <mc:Fallback>
                <p:oleObj name="Equation" r:id="rId23" imgW="1218671" imgH="90130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9475" y="4519613"/>
                        <a:ext cx="1981200" cy="1465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77" name="对象 15"/>
          <p:cNvGraphicFramePr>
            <a:graphicFrameLocks noChangeAspect="1"/>
          </p:cNvGraphicFramePr>
          <p:nvPr/>
        </p:nvGraphicFramePr>
        <p:xfrm>
          <a:off x="8383950" y="4592558"/>
          <a:ext cx="2476500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371600" imgH="723900" progId="Equation.DSMT4">
                  <p:embed/>
                </p:oleObj>
              </mc:Choice>
              <mc:Fallback>
                <p:oleObj name="Equation" r:id="rId25" imgW="1371600" imgH="723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3950" y="4592558"/>
                        <a:ext cx="2476500" cy="130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78" name="文本框 1"/>
          <p:cNvSpPr txBox="1">
            <a:spLocks noChangeArrowheads="1"/>
          </p:cNvSpPr>
          <p:nvPr/>
        </p:nvSpPr>
        <p:spPr bwMode="auto">
          <a:xfrm>
            <a:off x="4125913" y="374651"/>
            <a:ext cx="34163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7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7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FF0000"/>
                </a:solidFill>
                <a:ea typeface="宋体" panose="02010600030101010101" pitchFamily="2" charset="-122"/>
              </a:rPr>
              <a:t>三种积分定义对照表</a:t>
            </a:r>
          </a:p>
        </p:txBody>
      </p:sp>
    </p:spTree>
    <p:extLst>
      <p:ext uri="{BB962C8B-B14F-4D97-AF65-F5344CB8AC3E}">
        <p14:creationId xmlns:p14="http://schemas.microsoft.com/office/powerpoint/2010/main" val="2409590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文本框 2"/>
          <p:cNvSpPr txBox="1">
            <a:spLocks noChangeArrowheads="1"/>
          </p:cNvSpPr>
          <p:nvPr/>
        </p:nvSpPr>
        <p:spPr bwMode="auto">
          <a:xfrm>
            <a:off x="1847850" y="549275"/>
            <a:ext cx="9017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注：</a:t>
            </a:r>
          </a:p>
        </p:txBody>
      </p:sp>
      <p:graphicFrame>
        <p:nvGraphicFramePr>
          <p:cNvPr id="14340" name="对象 3"/>
          <p:cNvGraphicFramePr>
            <a:graphicFrameLocks noChangeAspect="1"/>
          </p:cNvGraphicFramePr>
          <p:nvPr/>
        </p:nvGraphicFramePr>
        <p:xfrm>
          <a:off x="2566988" y="549275"/>
          <a:ext cx="7364412" cy="1157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908300" imgH="457200" progId="Equation.DSMT4">
                  <p:embed/>
                </p:oleObj>
              </mc:Choice>
              <mc:Fallback>
                <p:oleObj name="Equation" r:id="rId3" imgW="29083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549275"/>
                        <a:ext cx="7364412" cy="1157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1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4011408"/>
              </p:ext>
            </p:extLst>
          </p:nvPr>
        </p:nvGraphicFramePr>
        <p:xfrm>
          <a:off x="2566988" y="1968069"/>
          <a:ext cx="7434263" cy="145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111480" imgH="609480" progId="Equation.DSMT4">
                  <p:embed/>
                </p:oleObj>
              </mc:Choice>
              <mc:Fallback>
                <p:oleObj name="Equation" r:id="rId5" imgW="3111480" imgH="609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1968069"/>
                        <a:ext cx="7434263" cy="145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2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4766213"/>
              </p:ext>
            </p:extLst>
          </p:nvPr>
        </p:nvGraphicFramePr>
        <p:xfrm>
          <a:off x="2661194" y="5580881"/>
          <a:ext cx="65532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768600" imgH="215900" progId="Equation.DSMT4">
                  <p:embed/>
                </p:oleObj>
              </mc:Choice>
              <mc:Fallback>
                <p:oleObj name="Equation" r:id="rId7" imgW="27686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1194" y="5580881"/>
                        <a:ext cx="655320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2842415"/>
              </p:ext>
            </p:extLst>
          </p:nvPr>
        </p:nvGraphicFramePr>
        <p:xfrm>
          <a:off x="2661194" y="3422219"/>
          <a:ext cx="5280025" cy="20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209680" imgH="850680" progId="Equation.DSMT4">
                  <p:embed/>
                </p:oleObj>
              </mc:Choice>
              <mc:Fallback>
                <p:oleObj name="Equation" r:id="rId9" imgW="2209680" imgH="850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1194" y="3422219"/>
                        <a:ext cx="5280025" cy="203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973741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1996487"/>
              </p:ext>
            </p:extLst>
          </p:nvPr>
        </p:nvGraphicFramePr>
        <p:xfrm>
          <a:off x="1576251" y="853440"/>
          <a:ext cx="8708570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0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40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8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0678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4" marR="91444" marT="45707" marB="45707"/>
                </a:tc>
                <a:tc>
                  <a:txBody>
                    <a:bodyPr/>
                    <a:lstStyle/>
                    <a:p>
                      <a:r>
                        <a:rPr lang="zh-CN" altLang="en-US" sz="2800" dirty="0"/>
                        <a:t>            二重积分</a:t>
                      </a:r>
                    </a:p>
                  </a:txBody>
                  <a:tcPr marL="91444" marR="91444" marT="45707" marB="45707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                   </a:t>
                      </a:r>
                      <a:r>
                        <a:rPr lang="zh-CN" altLang="en-US" sz="2800" dirty="0"/>
                        <a:t>三重积分</a:t>
                      </a:r>
                    </a:p>
                  </a:txBody>
                  <a:tcPr marL="91444" marR="91444" marT="45707" marB="4570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4273">
                <a:tc>
                  <a:txBody>
                    <a:bodyPr/>
                    <a:lstStyle/>
                    <a:p>
                      <a:endParaRPr lang="en-US" altLang="zh-CN" sz="1800" dirty="0"/>
                    </a:p>
                    <a:p>
                      <a:endParaRPr lang="en-US" altLang="zh-CN" sz="1800" dirty="0"/>
                    </a:p>
                    <a:p>
                      <a:r>
                        <a:rPr lang="zh-CN" altLang="en-US" sz="2800" b="1" dirty="0"/>
                        <a:t>几</a:t>
                      </a:r>
                      <a:endParaRPr lang="en-US" altLang="zh-CN" sz="2800" b="1" dirty="0"/>
                    </a:p>
                    <a:p>
                      <a:r>
                        <a:rPr lang="zh-CN" altLang="en-US" sz="2800" b="1" dirty="0"/>
                        <a:t>何</a:t>
                      </a:r>
                      <a:endParaRPr lang="en-US" altLang="zh-CN" sz="2800" b="1" dirty="0"/>
                    </a:p>
                    <a:p>
                      <a:r>
                        <a:rPr lang="zh-CN" altLang="en-US" sz="2800" b="1" dirty="0"/>
                        <a:t>意</a:t>
                      </a:r>
                      <a:endParaRPr lang="en-US" altLang="zh-CN" sz="2800" b="1" dirty="0"/>
                    </a:p>
                    <a:p>
                      <a:r>
                        <a:rPr lang="zh-CN" altLang="en-US" sz="2800" b="1" dirty="0"/>
                        <a:t>义</a:t>
                      </a:r>
                    </a:p>
                  </a:txBody>
                  <a:tcPr marL="91444" marR="91444" marT="45707" marB="45707"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(1)</a:t>
                      </a:r>
                      <a:r>
                        <a:rPr lang="zh-CN" altLang="en-US" sz="2400" b="1" dirty="0"/>
                        <a:t>曲顶柱体的体积：</a:t>
                      </a:r>
                      <a:endParaRPr lang="en-US" altLang="zh-CN" sz="2400" b="1" dirty="0"/>
                    </a:p>
                    <a:p>
                      <a:r>
                        <a:rPr lang="zh-CN" altLang="en-US" sz="2400" b="1" dirty="0"/>
                        <a:t>底</a:t>
                      </a:r>
                      <a:r>
                        <a:rPr lang="en-US" altLang="zh-CN" sz="2400" b="1" dirty="0"/>
                        <a:t>——</a:t>
                      </a:r>
                      <a:r>
                        <a:rPr lang="en-US" altLang="zh-CN" sz="24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altLang="zh-CN" sz="2400" b="1" i="1" dirty="0"/>
                        <a:t>, </a:t>
                      </a:r>
                      <a:r>
                        <a:rPr lang="zh-CN" altLang="en-US" sz="2400" b="1" i="0" dirty="0"/>
                        <a:t>曲顶</a:t>
                      </a:r>
                      <a:r>
                        <a:rPr lang="en-US" altLang="zh-CN" sz="2400" b="1" i="0" dirty="0"/>
                        <a:t>——</a:t>
                      </a:r>
                      <a:r>
                        <a:rPr lang="en-US" altLang="zh-CN" sz="24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altLang="zh-CN" sz="24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24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x, y</a:t>
                      </a:r>
                      <a:r>
                        <a:rPr lang="en-US" altLang="zh-CN" sz="24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endParaRPr lang="en-US" altLang="zh-CN" sz="2800" b="1" i="0" dirty="0"/>
                    </a:p>
                    <a:p>
                      <a:endParaRPr lang="en-US" altLang="zh-CN" sz="2400" b="1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altLang="zh-CN" sz="24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(2)</a:t>
                      </a:r>
                      <a:r>
                        <a:rPr lang="zh-CN" altLang="en-US" sz="2400" b="1" i="0" dirty="0"/>
                        <a:t>平面薄板面积：</a:t>
                      </a:r>
                      <a:endParaRPr lang="en-US" altLang="zh-CN" sz="2400" b="1" i="0" dirty="0"/>
                    </a:p>
                    <a:p>
                      <a:r>
                        <a:rPr lang="zh-CN" altLang="en-US" sz="2400" b="1" i="0" dirty="0"/>
                        <a:t>薄板所在平面区域</a:t>
                      </a:r>
                      <a:r>
                        <a:rPr lang="en-US" altLang="zh-CN" sz="2400" b="0" i="0" dirty="0"/>
                        <a:t>——</a:t>
                      </a:r>
                      <a:r>
                        <a:rPr lang="en-US" altLang="zh-CN" sz="24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CN" altLang="en-US" sz="24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4" marR="91444" marT="45707" marB="45707"/>
                </a:tc>
                <a:tc>
                  <a:txBody>
                    <a:bodyPr/>
                    <a:lstStyle/>
                    <a:p>
                      <a:endParaRPr lang="en-US" altLang="zh-CN" sz="1800" dirty="0"/>
                    </a:p>
                    <a:p>
                      <a:r>
                        <a:rPr lang="zh-CN" altLang="en-US" sz="2400" b="1" dirty="0"/>
                        <a:t>空间立体的体积：</a:t>
                      </a:r>
                      <a:endParaRPr lang="en-US" altLang="zh-CN" sz="2400" b="1" dirty="0"/>
                    </a:p>
                    <a:p>
                      <a:r>
                        <a:rPr lang="zh-CN" altLang="en-US" sz="2400" b="1" i="0" dirty="0"/>
                        <a:t>立体所在空间区域</a:t>
                      </a:r>
                      <a:r>
                        <a:rPr lang="en-US" altLang="zh-CN" sz="2400" b="0" i="0" dirty="0"/>
                        <a:t>——</a:t>
                      </a:r>
                      <a:r>
                        <a:rPr lang="el-GR" altLang="zh-CN" sz="24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Ω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4" marR="91444" marT="45707" marB="4570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4329">
                <a:tc>
                  <a:txBody>
                    <a:bodyPr/>
                    <a:lstStyle/>
                    <a:p>
                      <a:endParaRPr lang="en-US" altLang="zh-CN" sz="1800" dirty="0"/>
                    </a:p>
                    <a:p>
                      <a:r>
                        <a:rPr lang="zh-CN" altLang="en-US" sz="2800" b="1" dirty="0"/>
                        <a:t>物</a:t>
                      </a:r>
                      <a:endParaRPr lang="en-US" altLang="zh-CN" sz="2800" b="1" dirty="0"/>
                    </a:p>
                    <a:p>
                      <a:r>
                        <a:rPr lang="zh-CN" altLang="en-US" sz="2800" b="1" dirty="0"/>
                        <a:t>理</a:t>
                      </a:r>
                      <a:endParaRPr lang="en-US" altLang="zh-CN" sz="2800" b="1" dirty="0"/>
                    </a:p>
                    <a:p>
                      <a:r>
                        <a:rPr lang="zh-CN" altLang="en-US" sz="2800" b="1" dirty="0"/>
                        <a:t>意</a:t>
                      </a:r>
                      <a:endParaRPr lang="en-US" altLang="zh-CN" sz="2800" b="1" dirty="0"/>
                    </a:p>
                    <a:p>
                      <a:r>
                        <a:rPr lang="zh-CN" altLang="en-US" sz="2800" b="1" dirty="0"/>
                        <a:t>义</a:t>
                      </a:r>
                    </a:p>
                  </a:txBody>
                  <a:tcPr marL="91444" marR="91444" marT="45707" marB="45707"/>
                </a:tc>
                <a:tc>
                  <a:txBody>
                    <a:bodyPr/>
                    <a:lstStyle/>
                    <a:p>
                      <a:r>
                        <a:rPr lang="zh-CN" alt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平面薄板质量：</a:t>
                      </a:r>
                      <a:endParaRPr lang="en-US" altLang="zh-CN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薄板所在区域</a:t>
                      </a:r>
                      <a:r>
                        <a:rPr lang="en-US" altLang="zh-CN" sz="24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——</a:t>
                      </a:r>
                      <a:r>
                        <a:rPr lang="en-US" altLang="zh-CN" sz="24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薄板密度</a:t>
                      </a:r>
                      <a:r>
                        <a:rPr lang="en-US" altLang="zh-CN" sz="2400" b="1" i="0" dirty="0"/>
                        <a:t>——</a:t>
                      </a:r>
                      <a:r>
                        <a:rPr lang="en-US" altLang="zh-CN" sz="24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altLang="zh-CN" sz="24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24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x, y</a:t>
                      </a:r>
                      <a:r>
                        <a:rPr lang="en-US" altLang="zh-CN" sz="24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2400" b="1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zh-CN" altLang="en-US" sz="2400" b="1" dirty="0"/>
                    </a:p>
                  </a:txBody>
                  <a:tcPr marL="91444" marR="91444" marT="45707" marB="45707"/>
                </a:tc>
                <a:tc>
                  <a:txBody>
                    <a:bodyPr/>
                    <a:lstStyle/>
                    <a:p>
                      <a:r>
                        <a:rPr lang="zh-CN" altLang="en-US" sz="2400" b="1" dirty="0"/>
                        <a:t>空间立体的质量：</a:t>
                      </a:r>
                      <a:endParaRPr lang="en-US" altLang="zh-CN" sz="2400" b="1" dirty="0"/>
                    </a:p>
                    <a:p>
                      <a:r>
                        <a:rPr lang="zh-CN" altLang="en-US" sz="2400" b="1" i="0" dirty="0"/>
                        <a:t>立体所在空间区域</a:t>
                      </a:r>
                      <a:r>
                        <a:rPr lang="en-US" altLang="zh-CN" sz="2400" b="1" i="0" dirty="0"/>
                        <a:t>——</a:t>
                      </a:r>
                      <a:r>
                        <a:rPr lang="el-GR" altLang="zh-CN" sz="24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Ω</a:t>
                      </a:r>
                      <a:endParaRPr lang="en-US" altLang="zh-CN" sz="2400" b="1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zh-CN" altLang="en-US" sz="2400" b="1" i="0" dirty="0"/>
                        <a:t>立体的密度</a:t>
                      </a:r>
                      <a:r>
                        <a:rPr lang="en-US" altLang="zh-CN" sz="2400" b="0" i="0" dirty="0"/>
                        <a:t>——</a:t>
                      </a:r>
                      <a:r>
                        <a:rPr lang="en-US" altLang="zh-CN" sz="24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altLang="zh-CN" sz="24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24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x, y, z</a:t>
                      </a:r>
                      <a:r>
                        <a:rPr lang="en-US" altLang="zh-CN" sz="24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2400" b="1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zh-CN" altLang="en-US" sz="1800" dirty="0"/>
                    </a:p>
                  </a:txBody>
                  <a:tcPr marL="91444" marR="91444" marT="45707" marB="4570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405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5391662"/>
              </p:ext>
            </p:extLst>
          </p:nvPr>
        </p:nvGraphicFramePr>
        <p:xfrm>
          <a:off x="2415898" y="2111230"/>
          <a:ext cx="2440828" cy="814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3000" imgH="381000" progId="Equation.DSMT4">
                  <p:embed/>
                </p:oleObj>
              </mc:Choice>
              <mc:Fallback>
                <p:oleObj name="Equation" r:id="rId2" imgW="11430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5898" y="2111230"/>
                        <a:ext cx="2440828" cy="8143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6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8187446"/>
              </p:ext>
            </p:extLst>
          </p:nvPr>
        </p:nvGraphicFramePr>
        <p:xfrm>
          <a:off x="2962021" y="3619075"/>
          <a:ext cx="1348581" cy="7781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60113" imgH="380835" progId="Equation.DSMT4">
                  <p:embed/>
                </p:oleObj>
              </mc:Choice>
              <mc:Fallback>
                <p:oleObj name="Equation" r:id="rId4" imgW="660113" imgH="38083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2021" y="3619075"/>
                        <a:ext cx="1348581" cy="7781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7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5655253"/>
              </p:ext>
            </p:extLst>
          </p:nvPr>
        </p:nvGraphicFramePr>
        <p:xfrm>
          <a:off x="2548396" y="5572948"/>
          <a:ext cx="2377366" cy="7837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55700" imgH="381000" progId="Equation.DSMT4">
                  <p:embed/>
                </p:oleObj>
              </mc:Choice>
              <mc:Fallback>
                <p:oleObj name="Equation" r:id="rId6" imgW="11557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8396" y="5572948"/>
                        <a:ext cx="2377366" cy="7837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8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6029139"/>
              </p:ext>
            </p:extLst>
          </p:nvPr>
        </p:nvGraphicFramePr>
        <p:xfrm>
          <a:off x="6283690" y="2485861"/>
          <a:ext cx="1400174" cy="7241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36600" imgH="381000" progId="Equation.DSMT4">
                  <p:embed/>
                </p:oleObj>
              </mc:Choice>
              <mc:Fallback>
                <p:oleObj name="Equation" r:id="rId8" imgW="7366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3690" y="2485861"/>
                        <a:ext cx="1400174" cy="7241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9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7185813"/>
              </p:ext>
            </p:extLst>
          </p:nvPr>
        </p:nvGraphicFramePr>
        <p:xfrm>
          <a:off x="6396901" y="5566605"/>
          <a:ext cx="2765469" cy="7901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33500" imgH="381000" progId="Equation.DSMT4">
                  <p:embed/>
                </p:oleObj>
              </mc:Choice>
              <mc:Fallback>
                <p:oleObj name="Equation" r:id="rId10" imgW="13335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6901" y="5566605"/>
                        <a:ext cx="2765469" cy="7901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10" name="文本框 8"/>
          <p:cNvSpPr txBox="1">
            <a:spLocks noChangeArrowheads="1"/>
          </p:cNvSpPr>
          <p:nvPr/>
        </p:nvSpPr>
        <p:spPr bwMode="auto">
          <a:xfrm>
            <a:off x="3636312" y="132599"/>
            <a:ext cx="471635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1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两种积分实际意义对照表</a:t>
            </a:r>
          </a:p>
        </p:txBody>
      </p:sp>
    </p:spTree>
    <p:extLst>
      <p:ext uri="{BB962C8B-B14F-4D97-AF65-F5344CB8AC3E}">
        <p14:creationId xmlns:p14="http://schemas.microsoft.com/office/powerpoint/2010/main" val="256772763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C1686A3-A20A-46F8-9B8F-34BF920EC603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984468"/>
              </p:ext>
            </p:extLst>
          </p:nvPr>
        </p:nvGraphicFramePr>
        <p:xfrm>
          <a:off x="661852" y="771427"/>
          <a:ext cx="10855877" cy="555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3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651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054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      </a:t>
                      </a:r>
                      <a:r>
                        <a:rPr lang="zh-CN" altLang="en-US" sz="2400" dirty="0"/>
                        <a:t>二重积分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                     三重积分</a:t>
                      </a: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3144"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</a:t>
                      </a:r>
                      <a:endParaRPr lang="en-US" altLang="zh-CN" sz="1800" dirty="0"/>
                    </a:p>
                    <a:p>
                      <a:r>
                        <a:rPr lang="en-US" altLang="zh-CN" sz="1800" dirty="0"/>
                        <a:t>   </a:t>
                      </a:r>
                      <a:r>
                        <a:rPr lang="zh-CN" altLang="en-US" sz="2400" b="1" dirty="0"/>
                        <a:t>线性性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3144">
                <a:tc>
                  <a:txBody>
                    <a:bodyPr/>
                    <a:lstStyle/>
                    <a:p>
                      <a:endParaRPr lang="en-US" altLang="zh-CN" sz="1800" dirty="0"/>
                    </a:p>
                    <a:p>
                      <a:r>
                        <a:rPr lang="zh-CN" altLang="en-US" sz="1800" dirty="0"/>
                        <a:t>  </a:t>
                      </a:r>
                      <a:r>
                        <a:rPr lang="zh-CN" altLang="en-US" sz="2400" b="1" dirty="0"/>
                        <a:t>区域</a:t>
                      </a:r>
                      <a:r>
                        <a:rPr lang="en-US" altLang="zh-CN" sz="2400" b="1" dirty="0"/>
                        <a:t>(</a:t>
                      </a:r>
                      <a:r>
                        <a:rPr lang="zh-CN" altLang="en-US" sz="2400" b="1" dirty="0"/>
                        <a:t>间</a:t>
                      </a:r>
                      <a:r>
                        <a:rPr lang="en-US" altLang="zh-CN" sz="2400" b="1" dirty="0"/>
                        <a:t>)</a:t>
                      </a:r>
                    </a:p>
                    <a:p>
                      <a:r>
                        <a:rPr lang="zh-CN" altLang="en-US" sz="2400" b="1" dirty="0"/>
                        <a:t>   可加性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0820">
                <a:tc>
                  <a:txBody>
                    <a:bodyPr/>
                    <a:lstStyle/>
                    <a:p>
                      <a:endParaRPr lang="en-US" altLang="zh-CN" sz="1800" dirty="0"/>
                    </a:p>
                    <a:p>
                      <a:r>
                        <a:rPr lang="en-US" altLang="zh-CN" sz="1800" dirty="0"/>
                        <a:t>   </a:t>
                      </a:r>
                      <a:r>
                        <a:rPr lang="zh-CN" altLang="en-US" sz="2400" b="1" dirty="0"/>
                        <a:t>保序性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5977">
                <a:tc>
                  <a:txBody>
                    <a:bodyPr/>
                    <a:lstStyle/>
                    <a:p>
                      <a:endParaRPr lang="en-US" altLang="zh-CN" sz="1800" dirty="0"/>
                    </a:p>
                    <a:p>
                      <a:r>
                        <a:rPr lang="zh-CN" altLang="en-US" sz="1800" dirty="0"/>
                        <a:t> </a:t>
                      </a:r>
                      <a:r>
                        <a:rPr lang="zh-CN" altLang="en-US" sz="2400" b="1" dirty="0"/>
                        <a:t>估值定理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zh-CN" altLang="en-US" sz="2400" b="1" dirty="0"/>
                        <a:t>   积分中</a:t>
                      </a:r>
                      <a:endParaRPr lang="en-US" altLang="zh-CN" sz="2400" b="1" dirty="0"/>
                    </a:p>
                    <a:p>
                      <a:r>
                        <a:rPr lang="en-US" altLang="zh-CN" sz="2400" b="1" dirty="0"/>
                        <a:t>   </a:t>
                      </a:r>
                      <a:r>
                        <a:rPr lang="zh-CN" altLang="en-US" sz="2400" b="1" dirty="0"/>
                        <a:t>值定理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7441" name="对象 5"/>
          <p:cNvGraphicFramePr>
            <a:graphicFrameLocks noChangeAspect="1"/>
          </p:cNvGraphicFramePr>
          <p:nvPr/>
        </p:nvGraphicFramePr>
        <p:xfrm>
          <a:off x="6524625" y="1296988"/>
          <a:ext cx="3435350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40000" imgH="774700" progId="Equation.DSMT4">
                  <p:embed/>
                </p:oleObj>
              </mc:Choice>
              <mc:Fallback>
                <p:oleObj name="Equation" r:id="rId3" imgW="2540000" imgH="774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4625" y="1296988"/>
                        <a:ext cx="3435350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42" name="对象 6"/>
          <p:cNvGraphicFramePr>
            <a:graphicFrameLocks noChangeAspect="1"/>
          </p:cNvGraphicFramePr>
          <p:nvPr/>
        </p:nvGraphicFramePr>
        <p:xfrm>
          <a:off x="6443663" y="2325689"/>
          <a:ext cx="3321050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349500" imgH="800100" progId="Equation.DSMT4">
                  <p:embed/>
                </p:oleObj>
              </mc:Choice>
              <mc:Fallback>
                <p:oleObj name="Equation" r:id="rId5" imgW="2349500" imgH="800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2325689"/>
                        <a:ext cx="3321050" cy="1127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43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6940966"/>
              </p:ext>
            </p:extLst>
          </p:nvPr>
        </p:nvGraphicFramePr>
        <p:xfrm>
          <a:off x="6299200" y="3479802"/>
          <a:ext cx="3514933" cy="961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184400" imgH="596900" progId="Equation.DSMT4">
                  <p:embed/>
                </p:oleObj>
              </mc:Choice>
              <mc:Fallback>
                <p:oleObj name="Equation" r:id="rId7" imgW="2184400" imgH="596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9200" y="3479802"/>
                        <a:ext cx="3514933" cy="9612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44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548107"/>
              </p:ext>
            </p:extLst>
          </p:nvPr>
        </p:nvGraphicFramePr>
        <p:xfrm>
          <a:off x="6506576" y="4494426"/>
          <a:ext cx="337185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146300" imgH="596900" progId="Equation.DSMT4">
                  <p:embed/>
                </p:oleObj>
              </mc:Choice>
              <mc:Fallback>
                <p:oleObj name="Equation" r:id="rId9" imgW="2146300" imgH="596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6576" y="4494426"/>
                        <a:ext cx="337185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45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3352096"/>
              </p:ext>
            </p:extLst>
          </p:nvPr>
        </p:nvGraphicFramePr>
        <p:xfrm>
          <a:off x="6514940" y="5363489"/>
          <a:ext cx="3243263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044700" imgH="609600" progId="Equation.DSMT4">
                  <p:embed/>
                </p:oleObj>
              </mc:Choice>
              <mc:Fallback>
                <p:oleObj name="Equation" r:id="rId11" imgW="2044700" imgH="609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4940" y="5363489"/>
                        <a:ext cx="3243263" cy="963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46" name="对象 13"/>
          <p:cNvGraphicFramePr>
            <a:graphicFrameLocks noChangeAspect="1"/>
          </p:cNvGraphicFramePr>
          <p:nvPr/>
        </p:nvGraphicFramePr>
        <p:xfrm>
          <a:off x="2705100" y="1285605"/>
          <a:ext cx="2919412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159000" imgH="774700" progId="Equation.DSMT4">
                  <p:embed/>
                </p:oleObj>
              </mc:Choice>
              <mc:Fallback>
                <p:oleObj name="Equation" r:id="rId13" imgW="2159000" imgH="774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5100" y="1285605"/>
                        <a:ext cx="2919412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47" name="对象 14"/>
          <p:cNvGraphicFramePr>
            <a:graphicFrameLocks noChangeAspect="1"/>
          </p:cNvGraphicFramePr>
          <p:nvPr/>
        </p:nvGraphicFramePr>
        <p:xfrm>
          <a:off x="2638358" y="2310607"/>
          <a:ext cx="2747962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968500" imgH="800100" progId="Equation.DSMT4">
                  <p:embed/>
                </p:oleObj>
              </mc:Choice>
              <mc:Fallback>
                <p:oleObj name="Equation" r:id="rId15" imgW="1968500" imgH="800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8358" y="2310607"/>
                        <a:ext cx="2747962" cy="1114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48" name="对象 15"/>
          <p:cNvGraphicFramePr>
            <a:graphicFrameLocks noChangeAspect="1"/>
          </p:cNvGraphicFramePr>
          <p:nvPr/>
        </p:nvGraphicFramePr>
        <p:xfrm>
          <a:off x="2651307" y="3479801"/>
          <a:ext cx="2874962" cy="950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803400" imgH="596900" progId="Equation.DSMT4">
                  <p:embed/>
                </p:oleObj>
              </mc:Choice>
              <mc:Fallback>
                <p:oleObj name="Equation" r:id="rId17" imgW="1803400" imgH="596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1307" y="3479801"/>
                        <a:ext cx="2874962" cy="950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49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6519078"/>
              </p:ext>
            </p:extLst>
          </p:nvPr>
        </p:nvGraphicFramePr>
        <p:xfrm>
          <a:off x="2705100" y="4494426"/>
          <a:ext cx="2892425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943100" imgH="596900" progId="Equation.DSMT4">
                  <p:embed/>
                </p:oleObj>
              </mc:Choice>
              <mc:Fallback>
                <p:oleObj name="Equation" r:id="rId19" imgW="1943100" imgH="596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5100" y="4494426"/>
                        <a:ext cx="2892425" cy="88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50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7619680"/>
              </p:ext>
            </p:extLst>
          </p:nvPr>
        </p:nvGraphicFramePr>
        <p:xfrm>
          <a:off x="2672489" y="5390875"/>
          <a:ext cx="2679700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689100" imgH="609600" progId="Equation.DSMT4">
                  <p:embed/>
                </p:oleObj>
              </mc:Choice>
              <mc:Fallback>
                <p:oleObj name="Equation" r:id="rId21" imgW="1689100" imgH="609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2489" y="5390875"/>
                        <a:ext cx="2679700" cy="963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51" name="文本框 1"/>
          <p:cNvSpPr txBox="1">
            <a:spLocks noChangeArrowheads="1"/>
          </p:cNvSpPr>
          <p:nvPr/>
        </p:nvSpPr>
        <p:spPr bwMode="auto">
          <a:xfrm>
            <a:off x="4226811" y="194198"/>
            <a:ext cx="34163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两种积分性质对照表</a:t>
            </a:r>
          </a:p>
        </p:txBody>
      </p:sp>
    </p:spTree>
    <p:extLst>
      <p:ext uri="{BB962C8B-B14F-4D97-AF65-F5344CB8AC3E}">
        <p14:creationId xmlns:p14="http://schemas.microsoft.com/office/powerpoint/2010/main" val="1890614947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754035"/>
              </p:ext>
            </p:extLst>
          </p:nvPr>
        </p:nvGraphicFramePr>
        <p:xfrm>
          <a:off x="879191" y="868156"/>
          <a:ext cx="10501745" cy="56118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3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0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376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56" marR="91456" marT="45701" marB="45701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                  </a:t>
                      </a:r>
                      <a:r>
                        <a:rPr lang="zh-CN" altLang="en-US" sz="2000" dirty="0"/>
                        <a:t>二重积分</a:t>
                      </a:r>
                    </a:p>
                  </a:txBody>
                  <a:tcPr marL="91456" marR="91456" marT="45701" marB="45701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                              </a:t>
                      </a:r>
                      <a:r>
                        <a:rPr lang="zh-CN" altLang="en-US" sz="2000" dirty="0"/>
                        <a:t>三重积分</a:t>
                      </a:r>
                    </a:p>
                  </a:txBody>
                  <a:tcPr marL="91456" marR="91456" marT="45701" marB="4570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2218">
                <a:tc>
                  <a:txBody>
                    <a:bodyPr/>
                    <a:lstStyle/>
                    <a:p>
                      <a:endParaRPr lang="en-US" altLang="zh-CN" sz="1800" dirty="0"/>
                    </a:p>
                    <a:p>
                      <a:endParaRPr lang="en-US" altLang="zh-CN" sz="1800" dirty="0"/>
                    </a:p>
                    <a:p>
                      <a:r>
                        <a:rPr lang="zh-CN" altLang="en-US" sz="2000" b="1" dirty="0"/>
                        <a:t>奇偶对称</a:t>
                      </a:r>
                    </a:p>
                  </a:txBody>
                  <a:tcPr marL="91456" marR="91456" marT="45701" marB="45701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56" marR="91456" marT="45701" marB="45701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56" marR="91456" marT="45701" marB="4570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2218">
                <a:tc>
                  <a:txBody>
                    <a:bodyPr/>
                    <a:lstStyle/>
                    <a:p>
                      <a:endParaRPr lang="en-US" altLang="zh-CN" sz="1800" dirty="0"/>
                    </a:p>
                    <a:p>
                      <a:endParaRPr lang="en-US" altLang="zh-CN" sz="1800" dirty="0"/>
                    </a:p>
                    <a:p>
                      <a:r>
                        <a:rPr lang="zh-CN" altLang="en-US" sz="2000" b="1" dirty="0"/>
                        <a:t>轮换对称</a:t>
                      </a:r>
                    </a:p>
                  </a:txBody>
                  <a:tcPr marL="91456" marR="91456" marT="45701" marB="45701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56" marR="91456" marT="45701" marB="45701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56" marR="91456" marT="45701" marB="4570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1646225" y="1365267"/>
          <a:ext cx="4168799" cy="4028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13000" imgH="228600" progId="Equation.DSMT4">
                  <p:embed/>
                </p:oleObj>
              </mc:Choice>
              <mc:Fallback>
                <p:oleObj name="Equation" r:id="rId2" imgW="2413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6225" y="1365267"/>
                        <a:ext cx="4168799" cy="4028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3636021"/>
              </p:ext>
            </p:extLst>
          </p:nvPr>
        </p:nvGraphicFramePr>
        <p:xfrm>
          <a:off x="1476240" y="1717063"/>
          <a:ext cx="2579681" cy="426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11280" imgH="203040" progId="Equation.DSMT4">
                  <p:embed/>
                </p:oleObj>
              </mc:Choice>
              <mc:Fallback>
                <p:oleObj name="Equation" r:id="rId4" imgW="15112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240" y="1717063"/>
                        <a:ext cx="2579681" cy="4267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3915910"/>
              </p:ext>
            </p:extLst>
          </p:nvPr>
        </p:nvGraphicFramePr>
        <p:xfrm>
          <a:off x="1476240" y="4016223"/>
          <a:ext cx="3435350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28800" imgH="457200" progId="Equation.DSMT4">
                  <p:embed/>
                </p:oleObj>
              </mc:Choice>
              <mc:Fallback>
                <p:oleObj name="Equation" r:id="rId6" imgW="18288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240" y="4016223"/>
                        <a:ext cx="3435350" cy="874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2559325"/>
              </p:ext>
            </p:extLst>
          </p:nvPr>
        </p:nvGraphicFramePr>
        <p:xfrm>
          <a:off x="2128003" y="4890936"/>
          <a:ext cx="3080432" cy="7395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79600" imgH="381000" progId="Equation.DSMT4">
                  <p:embed/>
                </p:oleObj>
              </mc:Choice>
              <mc:Fallback>
                <p:oleObj name="Equation" r:id="rId8" imgW="18796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8003" y="4890936"/>
                        <a:ext cx="3080432" cy="7395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/>
        </p:nvGraphicFramePr>
        <p:xfrm>
          <a:off x="6126945" y="1373419"/>
          <a:ext cx="5253991" cy="3986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086100" imgH="228600" progId="Equation.DSMT4">
                  <p:embed/>
                </p:oleObj>
              </mc:Choice>
              <mc:Fallback>
                <p:oleObj name="Equation" r:id="rId10" imgW="30861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6945" y="1373419"/>
                        <a:ext cx="5253991" cy="3986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"/>
          <p:cNvGraphicFramePr>
            <a:graphicFrameLocks noChangeAspect="1"/>
          </p:cNvGraphicFramePr>
          <p:nvPr/>
        </p:nvGraphicFramePr>
        <p:xfrm>
          <a:off x="5994843" y="1754498"/>
          <a:ext cx="2731499" cy="4117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65080" imgH="203040" progId="Equation.DSMT4">
                  <p:embed/>
                </p:oleObj>
              </mc:Choice>
              <mc:Fallback>
                <p:oleObj name="Equation" r:id="rId12" imgW="1765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4843" y="1754498"/>
                        <a:ext cx="2731499" cy="4117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9211678"/>
              </p:ext>
            </p:extLst>
          </p:nvPr>
        </p:nvGraphicFramePr>
        <p:xfrm>
          <a:off x="6260771" y="3903925"/>
          <a:ext cx="4391025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501640" imgH="457200" progId="Equation.DSMT4">
                  <p:embed/>
                </p:oleObj>
              </mc:Choice>
              <mc:Fallback>
                <p:oleObj name="Equation" r:id="rId14" imgW="250164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0771" y="3903925"/>
                        <a:ext cx="4391025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2474266"/>
              </p:ext>
            </p:extLst>
          </p:nvPr>
        </p:nvGraphicFramePr>
        <p:xfrm>
          <a:off x="6003812" y="4657277"/>
          <a:ext cx="3416535" cy="6875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412720" imgH="380880" progId="Equation.DSMT4">
                  <p:embed/>
                </p:oleObj>
              </mc:Choice>
              <mc:Fallback>
                <p:oleObj name="Equation" r:id="rId16" imgW="24127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3812" y="4657277"/>
                        <a:ext cx="3416535" cy="6875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61" name="文本框 1"/>
          <p:cNvSpPr txBox="1">
            <a:spLocks noChangeArrowheads="1"/>
          </p:cNvSpPr>
          <p:nvPr/>
        </p:nvSpPr>
        <p:spPr bwMode="auto">
          <a:xfrm>
            <a:off x="1717579" y="5765649"/>
            <a:ext cx="958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1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tx1"/>
                </a:solidFill>
                <a:ea typeface="宋体" panose="02010600030101010101" pitchFamily="2" charset="-122"/>
              </a:rPr>
              <a:t>特别，</a:t>
            </a:r>
          </a:p>
        </p:txBody>
      </p:sp>
      <p:graphicFrame>
        <p:nvGraphicFramePr>
          <p:cNvPr id="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6079214"/>
              </p:ext>
            </p:extLst>
          </p:nvPr>
        </p:nvGraphicFramePr>
        <p:xfrm>
          <a:off x="2591210" y="5682040"/>
          <a:ext cx="2154018" cy="7218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549080" imgH="380880" progId="Equation.DSMT4">
                  <p:embed/>
                </p:oleObj>
              </mc:Choice>
              <mc:Fallback>
                <p:oleObj name="Equation" r:id="rId19" imgW="15490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1210" y="5682040"/>
                        <a:ext cx="2154018" cy="7218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63" name="文本框 14"/>
          <p:cNvSpPr txBox="1">
            <a:spLocks noChangeArrowheads="1"/>
          </p:cNvSpPr>
          <p:nvPr/>
        </p:nvSpPr>
        <p:spPr bwMode="auto">
          <a:xfrm>
            <a:off x="5994843" y="5926771"/>
            <a:ext cx="8049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1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tx1"/>
                </a:solidFill>
                <a:ea typeface="宋体" panose="02010600030101010101" pitchFamily="2" charset="-122"/>
              </a:rPr>
              <a:t>特别，</a:t>
            </a:r>
          </a:p>
        </p:txBody>
      </p:sp>
      <p:graphicFrame>
        <p:nvGraphicFramePr>
          <p:cNvPr id="1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9278584"/>
              </p:ext>
            </p:extLst>
          </p:nvPr>
        </p:nvGraphicFramePr>
        <p:xfrm>
          <a:off x="6738117" y="5801873"/>
          <a:ext cx="4459212" cy="6731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552700" imgH="381000" progId="Equation.DSMT4">
                  <p:embed/>
                </p:oleObj>
              </mc:Choice>
              <mc:Fallback>
                <p:oleObj name="Equation" r:id="rId21" imgW="25527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8117" y="5801873"/>
                        <a:ext cx="4459212" cy="6731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65" name="文本框 12"/>
          <p:cNvSpPr txBox="1">
            <a:spLocks noChangeArrowheads="1"/>
          </p:cNvSpPr>
          <p:nvPr/>
        </p:nvSpPr>
        <p:spPr bwMode="auto">
          <a:xfrm>
            <a:off x="3730625" y="403225"/>
            <a:ext cx="41338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1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两种积分对称性质对照表</a:t>
            </a:r>
          </a:p>
        </p:txBody>
      </p:sp>
      <p:graphicFrame>
        <p:nvGraphicFramePr>
          <p:cNvPr id="17" name="Object 2"/>
          <p:cNvGraphicFramePr>
            <a:graphicFrameLocks noChangeAspect="1"/>
          </p:cNvGraphicFramePr>
          <p:nvPr/>
        </p:nvGraphicFramePr>
        <p:xfrm>
          <a:off x="3012934" y="3637500"/>
          <a:ext cx="595312" cy="20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330120" imgH="114120" progId="Equation.DSMT4">
                  <p:embed/>
                </p:oleObj>
              </mc:Choice>
              <mc:Fallback>
                <p:oleObj name="Equation" r:id="rId23" imgW="330120" imgH="114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2934" y="3637500"/>
                        <a:ext cx="595312" cy="209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1339492"/>
              </p:ext>
            </p:extLst>
          </p:nvPr>
        </p:nvGraphicFramePr>
        <p:xfrm>
          <a:off x="3729205" y="2011821"/>
          <a:ext cx="2009950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282680" imgH="380880" progId="Equation.DSMT4">
                  <p:embed/>
                </p:oleObj>
              </mc:Choice>
              <mc:Fallback>
                <p:oleObj name="Equation" r:id="rId25" imgW="12826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9205" y="2011821"/>
                        <a:ext cx="2009950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6949632"/>
              </p:ext>
            </p:extLst>
          </p:nvPr>
        </p:nvGraphicFramePr>
        <p:xfrm>
          <a:off x="1497196" y="2500679"/>
          <a:ext cx="2358466" cy="40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434960" imgH="203040" progId="Equation.DSMT4">
                  <p:embed/>
                </p:oleObj>
              </mc:Choice>
              <mc:Fallback>
                <p:oleObj name="Equation" r:id="rId27" imgW="14349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7196" y="2500679"/>
                        <a:ext cx="2358466" cy="40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7991996"/>
              </p:ext>
            </p:extLst>
          </p:nvPr>
        </p:nvGraphicFramePr>
        <p:xfrm>
          <a:off x="2525871" y="2923758"/>
          <a:ext cx="3060101" cy="759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2133360" imgH="406080" progId="Equation.DSMT4">
                  <p:embed/>
                </p:oleObj>
              </mc:Choice>
              <mc:Fallback>
                <p:oleObj name="Equation" r:id="rId29" imgW="21333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5871" y="2923758"/>
                        <a:ext cx="3060101" cy="7598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"/>
          <p:cNvGraphicFramePr>
            <a:graphicFrameLocks noChangeAspect="1"/>
          </p:cNvGraphicFramePr>
          <p:nvPr/>
        </p:nvGraphicFramePr>
        <p:xfrm>
          <a:off x="7045234" y="2910029"/>
          <a:ext cx="4152095" cy="7840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2514600" imgH="406080" progId="Equation.DSMT4">
                  <p:embed/>
                </p:oleObj>
              </mc:Choice>
              <mc:Fallback>
                <p:oleObj name="Equation" r:id="rId31" imgW="25146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5234" y="2910029"/>
                        <a:ext cx="4152095" cy="7840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"/>
          <p:cNvGraphicFramePr>
            <a:graphicFrameLocks noChangeAspect="1"/>
          </p:cNvGraphicFramePr>
          <p:nvPr/>
        </p:nvGraphicFramePr>
        <p:xfrm>
          <a:off x="8516170" y="2084874"/>
          <a:ext cx="2711173" cy="7445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1485720" imgH="380880" progId="Equation.DSMT4">
                  <p:embed/>
                </p:oleObj>
              </mc:Choice>
              <mc:Fallback>
                <p:oleObj name="Equation" r:id="rId33" imgW="14857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16170" y="2084874"/>
                        <a:ext cx="2711173" cy="7445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"/>
          <p:cNvGraphicFramePr>
            <a:graphicFrameLocks noChangeAspect="1"/>
          </p:cNvGraphicFramePr>
          <p:nvPr/>
        </p:nvGraphicFramePr>
        <p:xfrm>
          <a:off x="5955599" y="2496590"/>
          <a:ext cx="2560571" cy="41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1701720" imgH="203040" progId="Equation.DSMT4">
                  <p:embed/>
                </p:oleObj>
              </mc:Choice>
              <mc:Fallback>
                <p:oleObj name="Equation" r:id="rId35" imgW="1701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5599" y="2496590"/>
                        <a:ext cx="2560571" cy="41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"/>
          <p:cNvGraphicFramePr>
            <a:graphicFrameLocks noChangeAspect="1"/>
          </p:cNvGraphicFramePr>
          <p:nvPr/>
        </p:nvGraphicFramePr>
        <p:xfrm>
          <a:off x="8158628" y="3676720"/>
          <a:ext cx="595312" cy="20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330120" imgH="114120" progId="Equation.DSMT4">
                  <p:embed/>
                </p:oleObj>
              </mc:Choice>
              <mc:Fallback>
                <p:oleObj name="Equation" r:id="rId37" imgW="330120" imgH="114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8628" y="3676720"/>
                        <a:ext cx="595312" cy="209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8790916"/>
              </p:ext>
            </p:extLst>
          </p:nvPr>
        </p:nvGraphicFramePr>
        <p:xfrm>
          <a:off x="7533923" y="5235611"/>
          <a:ext cx="3663406" cy="6888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2400120" imgH="380880" progId="Equation.DSMT4">
                  <p:embed/>
                </p:oleObj>
              </mc:Choice>
              <mc:Fallback>
                <p:oleObj name="Equation" r:id="rId39" imgW="24001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3923" y="5235611"/>
                        <a:ext cx="3663406" cy="6888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63684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18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2" dur="500"/>
                                        <p:tgtEl>
                                          <p:spTgt spid="18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61" grpId="0"/>
      <p:bldP spid="18463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3133</TotalTime>
  <Words>250</Words>
  <Application>Microsoft Office PowerPoint</Application>
  <PresentationFormat>宽屏</PresentationFormat>
  <Paragraphs>74</Paragraphs>
  <Slides>10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华文行楷</vt:lpstr>
      <vt:lpstr>楷体_GB2312</vt:lpstr>
      <vt:lpstr>宋体</vt:lpstr>
      <vt:lpstr>Arial</vt:lpstr>
      <vt:lpstr>Calibri</vt:lpstr>
      <vt:lpstr>Calibri Light</vt:lpstr>
      <vt:lpstr>Times New Roman</vt:lpstr>
      <vt:lpstr>Office 主题</vt:lpstr>
      <vt:lpstr>Equation</vt:lpstr>
      <vt:lpstr>公式</vt:lpstr>
      <vt:lpstr>Document</vt:lpstr>
      <vt:lpstr>PowerPoint 演示文稿</vt:lpstr>
      <vt:lpstr>2.1、三重积分的概念及性质</vt:lpstr>
      <vt:lpstr>PowerPoint 演示文稿</vt:lpstr>
      <vt:lpstr>三重积分的定义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尔里德 李</cp:lastModifiedBy>
  <cp:revision>26</cp:revision>
  <dcterms:created xsi:type="dcterms:W3CDTF">2020-03-03T14:16:09Z</dcterms:created>
  <dcterms:modified xsi:type="dcterms:W3CDTF">2024-04-04T07:49:43Z</dcterms:modified>
</cp:coreProperties>
</file>