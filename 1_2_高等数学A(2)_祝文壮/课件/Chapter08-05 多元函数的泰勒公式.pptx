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8" r:id="rId2"/>
    <p:sldId id="27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7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2024/3/17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7.wmf"/><Relationship Id="rId5" Type="http://schemas.openxmlformats.org/officeDocument/2006/relationships/image" Target="../media/image4.e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w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3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31.e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7.bin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4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42" name="Text Box 18"/>
          <p:cNvSpPr txBox="1">
            <a:spLocks noChangeArrowheads="1"/>
          </p:cNvSpPr>
          <p:nvPr/>
        </p:nvSpPr>
        <p:spPr bwMode="auto">
          <a:xfrm>
            <a:off x="2711624" y="2708920"/>
            <a:ext cx="6362550" cy="707886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第五节</a:t>
            </a:r>
            <a:r>
              <a:rPr lang="zh-CN" altLang="en-US" sz="40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多元函数的泰勒公式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058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584" y="683097"/>
            <a:ext cx="3240856" cy="575791"/>
          </a:xfrm>
        </p:spPr>
        <p:txBody>
          <a:bodyPr/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一、问题的提出  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287764" y="2206482"/>
          <a:ext cx="7583487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81600" imgH="2450880" progId="Equation.DSMT4">
                  <p:embed/>
                </p:oleObj>
              </mc:Choice>
              <mc:Fallback>
                <p:oleObj name="Equation" r:id="rId2" imgW="7581600" imgH="245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764" y="2206482"/>
                        <a:ext cx="7583487" cy="245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287764" y="1473129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一元函数的泰勒公式：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438400" y="4760913"/>
          <a:ext cx="741045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7413480" imgH="1352160" progId="Word.Document.8">
                  <p:embed/>
                </p:oleObj>
              </mc:Choice>
              <mc:Fallback>
                <p:oleObj name="文档" r:id="rId4" imgW="7413480" imgH="1352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760913"/>
                        <a:ext cx="741045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3606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4" name="Group 14"/>
          <p:cNvGrpSpPr>
            <a:grpSpLocks/>
          </p:cNvGrpSpPr>
          <p:nvPr/>
        </p:nvGrpSpPr>
        <p:grpSpPr bwMode="auto">
          <a:xfrm>
            <a:off x="2424113" y="3838575"/>
            <a:ext cx="7415212" cy="527050"/>
            <a:chOff x="567" y="2341"/>
            <a:chExt cx="4671" cy="332"/>
          </a:xfrm>
        </p:grpSpPr>
        <p:sp>
          <p:nvSpPr>
            <p:cNvPr id="5128" name="Text Box 8"/>
            <p:cNvSpPr txBox="1">
              <a:spLocks noChangeArrowheads="1"/>
            </p:cNvSpPr>
            <p:nvPr/>
          </p:nvSpPr>
          <p:spPr bwMode="auto">
            <a:xfrm>
              <a:off x="567" y="2341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证</a:t>
              </a:r>
              <a:endParaRPr lang="zh-CN" altLang="en-US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29" name="Text Box 9"/>
            <p:cNvSpPr txBox="1">
              <a:spLocks noChangeArrowheads="1"/>
            </p:cNvSpPr>
            <p:nvPr/>
          </p:nvSpPr>
          <p:spPr bwMode="auto">
            <a:xfrm>
              <a:off x="975" y="2341"/>
              <a:ext cx="1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引入函数</a:t>
              </a:r>
            </a:p>
          </p:txBody>
        </p:sp>
        <p:graphicFrame>
          <p:nvGraphicFramePr>
            <p:cNvPr id="5130" name="Object 10"/>
            <p:cNvGraphicFramePr>
              <a:graphicFrameLocks noChangeAspect="1"/>
            </p:cNvGraphicFramePr>
            <p:nvPr/>
          </p:nvGraphicFramePr>
          <p:xfrm>
            <a:off x="2018" y="2387"/>
            <a:ext cx="322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0" imgH="203040" progId="Equation.DSMT4">
                    <p:embed/>
                  </p:oleObj>
                </mc:Choice>
                <mc:Fallback>
                  <p:oleObj name="Equation" r:id="rId2" imgW="2286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2387"/>
                          <a:ext cx="3220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873619"/>
              </p:ext>
            </p:extLst>
          </p:nvPr>
        </p:nvGraphicFramePr>
        <p:xfrm>
          <a:off x="2424112" y="972247"/>
          <a:ext cx="7923087" cy="1972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730918" imgH="1930269" progId="Word.Document.8">
                  <p:embed/>
                </p:oleObj>
              </mc:Choice>
              <mc:Fallback>
                <p:oleObj name="Document" r:id="rId4" imgW="7730918" imgH="193026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2" y="972247"/>
                        <a:ext cx="7923087" cy="1972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5"/>
          <p:cNvSpPr>
            <a:spLocks noGrp="1" noChangeArrowheads="1"/>
          </p:cNvSpPr>
          <p:nvPr>
            <p:ph type="title"/>
          </p:nvPr>
        </p:nvSpPr>
        <p:spPr>
          <a:xfrm>
            <a:off x="2143059" y="319684"/>
            <a:ext cx="4679999" cy="576362"/>
          </a:xfrm>
          <a:noFill/>
        </p:spPr>
        <p:txBody>
          <a:bodyPr/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二、中值定理和泰勒公式</a:t>
            </a:r>
          </a:p>
        </p:txBody>
      </p:sp>
      <p:graphicFrame>
        <p:nvGraphicFramePr>
          <p:cNvPr id="5135" name="Object 1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7547922"/>
              </p:ext>
            </p:extLst>
          </p:nvPr>
        </p:nvGraphicFramePr>
        <p:xfrm>
          <a:off x="3000376" y="5503863"/>
          <a:ext cx="66960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43200" imgH="241200" progId="Equation.DSMT4">
                  <p:embed/>
                </p:oleObj>
              </mc:Choice>
              <mc:Fallback>
                <p:oleObj name="Equation" r:id="rId6" imgW="2743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5503863"/>
                        <a:ext cx="66960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511478"/>
              </p:ext>
            </p:extLst>
          </p:nvPr>
        </p:nvGraphicFramePr>
        <p:xfrm>
          <a:off x="2424113" y="2809875"/>
          <a:ext cx="77470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000" imgH="457200" progId="Equation.DSMT4">
                  <p:embed/>
                </p:oleObj>
              </mc:Choice>
              <mc:Fallback>
                <p:oleObj name="Equation" r:id="rId8" imgW="3429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809875"/>
                        <a:ext cx="77470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7" name="Group 17"/>
          <p:cNvGrpSpPr>
            <a:grpSpLocks/>
          </p:cNvGrpSpPr>
          <p:nvPr/>
        </p:nvGrpSpPr>
        <p:grpSpPr bwMode="auto">
          <a:xfrm>
            <a:off x="2640014" y="4422775"/>
            <a:ext cx="7777162" cy="534988"/>
            <a:chOff x="567" y="2704"/>
            <a:chExt cx="4899" cy="337"/>
          </a:xfrm>
        </p:grpSpPr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567" y="2704"/>
              <a:ext cx="489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显然                                      内可微 </a:t>
              </a:r>
              <a:r>
                <a:rPr lang="en-US" altLang="zh-CN" sz="2800" b="1" dirty="0"/>
                <a:t>,</a:t>
              </a:r>
              <a:r>
                <a:rPr lang="zh-CN" altLang="en-US" sz="2800" b="1" dirty="0"/>
                <a:t>由中值定理                                                            </a:t>
              </a:r>
              <a:endParaRPr lang="zh-CN" altLang="en-US" dirty="0"/>
            </a:p>
          </p:txBody>
        </p:sp>
        <p:graphicFrame>
          <p:nvGraphicFramePr>
            <p:cNvPr id="513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9491531"/>
                </p:ext>
              </p:extLst>
            </p:nvPr>
          </p:nvGraphicFramePr>
          <p:xfrm>
            <a:off x="1111" y="2727"/>
            <a:ext cx="2300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87240" imgH="215640" progId="Equation.DSMT4">
                    <p:embed/>
                  </p:oleObj>
                </mc:Choice>
                <mc:Fallback>
                  <p:oleObj name="Equation" r:id="rId10" imgW="15872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727"/>
                          <a:ext cx="2300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33" name="Object 13"/>
          <p:cNvGraphicFramePr>
            <a:graphicFrameLocks noChangeAspect="1"/>
          </p:cNvGraphicFramePr>
          <p:nvPr/>
        </p:nvGraphicFramePr>
        <p:xfrm>
          <a:off x="2627313" y="5022851"/>
          <a:ext cx="72136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58840" imgH="203040" progId="Equation.DSMT4">
                  <p:embed/>
                </p:oleObj>
              </mc:Choice>
              <mc:Fallback>
                <p:oleObj name="Equation" r:id="rId12" imgW="295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022851"/>
                        <a:ext cx="72136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18"/>
          <p:cNvGraphicFramePr>
            <a:graphicFrameLocks noGrp="1" noChangeAspect="1"/>
          </p:cNvGraphicFramePr>
          <p:nvPr>
            <p:ph sz="half" idx="2"/>
          </p:nvPr>
        </p:nvGraphicFramePr>
        <p:xfrm>
          <a:off x="3216275" y="6049963"/>
          <a:ext cx="16954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600" imgH="203040" progId="Equation.DSMT4">
                  <p:embed/>
                </p:oleObj>
              </mc:Choice>
              <mc:Fallback>
                <p:oleObj name="Equation" r:id="rId14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6049963"/>
                        <a:ext cx="16954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24622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274935"/>
              </p:ext>
            </p:extLst>
          </p:nvPr>
        </p:nvGraphicFramePr>
        <p:xfrm>
          <a:off x="2135559" y="836712"/>
          <a:ext cx="7782617" cy="197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693476" imgH="1951149" progId="Word.Document.8">
                  <p:embed/>
                </p:oleObj>
              </mc:Choice>
              <mc:Fallback>
                <p:oleObj name="Document" r:id="rId2" imgW="7693476" imgH="19511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59" y="836712"/>
                        <a:ext cx="7782617" cy="197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504051"/>
              </p:ext>
            </p:extLst>
          </p:nvPr>
        </p:nvGraphicFramePr>
        <p:xfrm>
          <a:off x="2207568" y="2564904"/>
          <a:ext cx="7782617" cy="289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12000" imgH="3238200" progId="Equation.DSMT4">
                  <p:embed/>
                </p:oleObj>
              </mc:Choice>
              <mc:Fallback>
                <p:oleObj name="Equation" r:id="rId4" imgW="8712000" imgH="32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2564904"/>
                        <a:ext cx="7782617" cy="2893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56413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590800" y="914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其中记号</a:t>
            </a:r>
            <a:endParaRPr lang="zh-CN" altLang="en-US"/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2438400" y="1676400"/>
          <a:ext cx="327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76360" imgH="965160" progId="Equation.3">
                  <p:embed/>
                </p:oleObj>
              </mc:Choice>
              <mc:Fallback>
                <p:oleObj name="公式" r:id="rId2" imgW="32763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76400"/>
                        <a:ext cx="327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5" name="Group 17"/>
          <p:cNvGrpSpPr>
            <a:grpSpLocks/>
          </p:cNvGrpSpPr>
          <p:nvPr/>
        </p:nvGrpSpPr>
        <p:grpSpPr bwMode="auto">
          <a:xfrm>
            <a:off x="3048000" y="2895606"/>
            <a:ext cx="4643438" cy="604839"/>
            <a:chOff x="960" y="1824"/>
            <a:chExt cx="2925" cy="381"/>
          </a:xfrm>
        </p:grpSpPr>
        <p:graphicFrame>
          <p:nvGraphicFramePr>
            <p:cNvPr id="717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0659825"/>
                </p:ext>
              </p:extLst>
            </p:nvPr>
          </p:nvGraphicFramePr>
          <p:xfrm>
            <a:off x="1474" y="1836"/>
            <a:ext cx="241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74640" imgH="241200" progId="Equation.DSMT4">
                    <p:embed/>
                  </p:oleObj>
                </mc:Choice>
                <mc:Fallback>
                  <p:oleObj name="Equation" r:id="rId4" imgW="1574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1836"/>
                          <a:ext cx="2411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960" y="1824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表示</a:t>
              </a:r>
              <a:endParaRPr lang="zh-CN" altLang="en-US"/>
            </a:p>
          </p:txBody>
        </p:sp>
      </p:grp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2559050" y="3670300"/>
          <a:ext cx="3416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16040" imgH="1028520" progId="Equation.3">
                  <p:embed/>
                </p:oleObj>
              </mc:Choice>
              <mc:Fallback>
                <p:oleObj name="公式" r:id="rId6" imgW="341604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3670300"/>
                        <a:ext cx="3416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6" name="Group 18"/>
          <p:cNvGrpSpPr>
            <a:grpSpLocks/>
          </p:cNvGrpSpPr>
          <p:nvPr/>
        </p:nvGrpSpPr>
        <p:grpSpPr bwMode="auto">
          <a:xfrm>
            <a:off x="2438400" y="5029201"/>
            <a:ext cx="7402513" cy="595313"/>
            <a:chOff x="576" y="3168"/>
            <a:chExt cx="4663" cy="375"/>
          </a:xfrm>
        </p:grpSpPr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576" y="3168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表示</a:t>
              </a:r>
              <a:endParaRPr lang="zh-CN" altLang="en-US"/>
            </a:p>
          </p:txBody>
        </p:sp>
        <p:graphicFrame>
          <p:nvGraphicFramePr>
            <p:cNvPr id="717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2091297"/>
                </p:ext>
              </p:extLst>
            </p:nvPr>
          </p:nvGraphicFramePr>
          <p:xfrm>
            <a:off x="1111" y="3175"/>
            <a:ext cx="412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844720" imgH="253800" progId="Equation.DSMT4">
                    <p:embed/>
                  </p:oleObj>
                </mc:Choice>
                <mc:Fallback>
                  <p:oleObj name="Equation" r:id="rId8" imgW="2844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3175"/>
                          <a:ext cx="4128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32899879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438400" y="12954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一般地</a:t>
            </a:r>
            <a:r>
              <a:rPr lang="en-US" altLang="zh-CN" sz="2800" b="1"/>
              <a:t>,</a:t>
            </a:r>
            <a:r>
              <a:rPr lang="zh-CN" altLang="en-US" sz="2800" b="1"/>
              <a:t>记号</a:t>
            </a: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4572000" y="990600"/>
          <a:ext cx="4495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95680" imgH="1079280" progId="Equation.3">
                  <p:embed/>
                </p:oleObj>
              </mc:Choice>
              <mc:Fallback>
                <p:oleObj name="公式" r:id="rId2" imgW="4495680" imgH="1079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90600"/>
                        <a:ext cx="44958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3505200" y="2286000"/>
          <a:ext cx="4343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343400" imgH="990360" progId="Equation.3">
                  <p:embed/>
                </p:oleObj>
              </mc:Choice>
              <mc:Fallback>
                <p:oleObj name="公式" r:id="rId4" imgW="434340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86000"/>
                        <a:ext cx="4343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2514600" y="33670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3505200" y="33670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引入函数</a:t>
            </a:r>
          </a:p>
        </p:txBody>
      </p:sp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3124200" y="4114800"/>
          <a:ext cx="598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81400" imgH="457200" progId="Equation.3">
                  <p:embed/>
                </p:oleObj>
              </mc:Choice>
              <mc:Fallback>
                <p:oleObj name="公式" r:id="rId6" imgW="5981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14800"/>
                        <a:ext cx="5981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2667000" y="47244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显然</a:t>
            </a:r>
            <a:endParaRPr lang="zh-CN" altLang="en-US"/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3797300" y="4800600"/>
          <a:ext cx="267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79480" imgH="457200" progId="Equation.3">
                  <p:embed/>
                </p:oleObj>
              </mc:Choice>
              <mc:Fallback>
                <p:oleObj name="公式" r:id="rId8" imgW="2679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4800600"/>
                        <a:ext cx="267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12"/>
          <p:cNvGraphicFramePr>
            <a:graphicFrameLocks noChangeAspect="1"/>
          </p:cNvGraphicFramePr>
          <p:nvPr/>
        </p:nvGraphicFramePr>
        <p:xfrm>
          <a:off x="3810000" y="5486400"/>
          <a:ext cx="3784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84320" imgH="457200" progId="Equation.3">
                  <p:embed/>
                </p:oleObj>
              </mc:Choice>
              <mc:Fallback>
                <p:oleObj name="公式" r:id="rId10" imgW="37843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486400"/>
                        <a:ext cx="3784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48429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autoUpdateAnimBg="0"/>
      <p:bldP spid="40967" grpId="0" autoUpdateAnimBg="0"/>
      <p:bldP spid="4097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4" name="Group 12"/>
          <p:cNvGrpSpPr>
            <a:grpSpLocks/>
          </p:cNvGrpSpPr>
          <p:nvPr/>
        </p:nvGrpSpPr>
        <p:grpSpPr bwMode="auto">
          <a:xfrm>
            <a:off x="2438400" y="914401"/>
            <a:ext cx="7620000" cy="519113"/>
            <a:chOff x="672" y="1776"/>
            <a:chExt cx="4800" cy="327"/>
          </a:xfrm>
        </p:grpSpPr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672" y="1776"/>
              <a:ext cx="48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由        的定义及多元复合函数的求导法则</a:t>
              </a:r>
              <a:r>
                <a:rPr lang="en-US" altLang="zh-CN" sz="2800" b="1"/>
                <a:t>,</a:t>
              </a:r>
              <a:r>
                <a:rPr lang="zh-CN" altLang="en-US" sz="2800" b="1"/>
                <a:t>可得</a:t>
              </a:r>
            </a:p>
          </p:txBody>
        </p:sp>
        <p:graphicFrame>
          <p:nvGraphicFramePr>
            <p:cNvPr id="8203" name="Object 11"/>
            <p:cNvGraphicFramePr>
              <a:graphicFrameLocks noChangeAspect="1"/>
            </p:cNvGraphicFramePr>
            <p:nvPr/>
          </p:nvGraphicFramePr>
          <p:xfrm>
            <a:off x="960" y="1824"/>
            <a:ext cx="464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736560" imgH="406080" progId="Equation.3">
                    <p:embed/>
                  </p:oleObj>
                </mc:Choice>
                <mc:Fallback>
                  <p:oleObj name="公式" r:id="rId2" imgW="7365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824"/>
                          <a:ext cx="464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487054"/>
              </p:ext>
            </p:extLst>
          </p:nvPr>
        </p:nvGraphicFramePr>
        <p:xfrm>
          <a:off x="2438400" y="1639664"/>
          <a:ext cx="7402016" cy="172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1480" imgH="723600" progId="Equation.DSMT4">
                  <p:embed/>
                </p:oleObj>
              </mc:Choice>
              <mc:Fallback>
                <p:oleObj name="Equation" r:id="rId4" imgW="31114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39664"/>
                        <a:ext cx="7402016" cy="1721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131361"/>
              </p:ext>
            </p:extLst>
          </p:nvPr>
        </p:nvGraphicFramePr>
        <p:xfrm>
          <a:off x="2701984" y="3768629"/>
          <a:ext cx="7151817" cy="1186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0360" imgH="507960" progId="Equation.DSMT4">
                  <p:embed/>
                </p:oleObj>
              </mc:Choice>
              <mc:Fallback>
                <p:oleObj name="Equation" r:id="rId6" imgW="30603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984" y="3768629"/>
                        <a:ext cx="7151817" cy="1186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5"/>
          <p:cNvGraphicFramePr>
            <a:graphicFrameLocks noChangeAspect="1"/>
          </p:cNvGraphicFramePr>
          <p:nvPr/>
        </p:nvGraphicFramePr>
        <p:xfrm>
          <a:off x="3048000" y="5410201"/>
          <a:ext cx="20828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82600" imgH="253800" progId="Equation.3">
                  <p:embed/>
                </p:oleObj>
              </mc:Choice>
              <mc:Fallback>
                <p:oleObj name="公式" r:id="rId8" imgW="2082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1"/>
                        <a:ext cx="20828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48746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614614" y="977900"/>
          <a:ext cx="6529387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527520" imgH="2070000" progId="Equation.3">
                  <p:embed/>
                </p:oleObj>
              </mc:Choice>
              <mc:Fallback>
                <p:oleObj name="公式" r:id="rId2" imgW="6527520" imgH="20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4" y="977900"/>
                        <a:ext cx="6529387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438400" y="3276601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利用一元函数的麦克劳林公式，得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2667000" y="3962400"/>
          <a:ext cx="68468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45040" imgH="1981080" progId="Equation.3">
                  <p:embed/>
                </p:oleObj>
              </mc:Choice>
              <mc:Fallback>
                <p:oleObj name="公式" r:id="rId4" imgW="6845040" imgH="1981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684688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77578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463801" y="812800"/>
          <a:ext cx="7446963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558410" imgH="1948154" progId="Word.Document.8">
                  <p:embed/>
                </p:oleObj>
              </mc:Choice>
              <mc:Fallback>
                <p:oleObj name="文档" r:id="rId2" imgW="7558410" imgH="19481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1" y="812800"/>
                        <a:ext cx="7446963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436814" y="2674938"/>
          <a:ext cx="7850187" cy="329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229600" imgH="3454200" progId="Equation.3">
                  <p:embed/>
                </p:oleObj>
              </mc:Choice>
              <mc:Fallback>
                <p:oleObj name="公式" r:id="rId4" imgW="8229600" imgH="345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4" y="2674938"/>
                        <a:ext cx="7850187" cy="329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49108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919536" y="921543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669978"/>
              </p:ext>
            </p:extLst>
          </p:nvPr>
        </p:nvGraphicFramePr>
        <p:xfrm>
          <a:off x="2438400" y="1440655"/>
          <a:ext cx="689768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95800" imgH="1562040" progId="Equation.3">
                  <p:embed/>
                </p:oleObj>
              </mc:Choice>
              <mc:Fallback>
                <p:oleObj name="公式" r:id="rId2" imgW="6895800" imgH="1562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0655"/>
                        <a:ext cx="6897688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8616280" y="3140968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证毕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734333"/>
              </p:ext>
            </p:extLst>
          </p:nvPr>
        </p:nvGraphicFramePr>
        <p:xfrm>
          <a:off x="1991544" y="3861048"/>
          <a:ext cx="8493323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055289" imgH="1188689" progId="Word.Document.8">
                  <p:embed/>
                </p:oleObj>
              </mc:Choice>
              <mc:Fallback>
                <p:oleObj name="Document" r:id="rId4" imgW="8055289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3861048"/>
                        <a:ext cx="8493323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67298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438400" y="962026"/>
          <a:ext cx="7570788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579330" imgH="1777641" progId="Word.Document.8">
                  <p:embed/>
                </p:oleObj>
              </mc:Choice>
              <mc:Fallback>
                <p:oleObj name="文档" r:id="rId2" imgW="7579330" imgH="17776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62026"/>
                        <a:ext cx="7570788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438400" y="2895600"/>
          <a:ext cx="7900988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899120" imgH="2019240" progId="Equation.3">
                  <p:embed/>
                </p:oleObj>
              </mc:Choice>
              <mc:Fallback>
                <p:oleObj name="公式" r:id="rId4" imgW="7899120" imgH="2019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95600"/>
                        <a:ext cx="7900988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5638800" y="4171951"/>
            <a:ext cx="3022600" cy="519113"/>
            <a:chOff x="1296" y="3239"/>
            <a:chExt cx="1904" cy="327"/>
          </a:xfrm>
        </p:grpSpPr>
        <p:sp>
          <p:nvSpPr>
            <p:cNvPr id="41989" name="Text Box 5"/>
            <p:cNvSpPr txBox="1">
              <a:spLocks noChangeArrowheads="1"/>
            </p:cNvSpPr>
            <p:nvPr/>
          </p:nvSpPr>
          <p:spPr bwMode="auto">
            <a:xfrm>
              <a:off x="1296" y="3239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其中</a:t>
              </a:r>
            </a:p>
          </p:txBody>
        </p:sp>
        <p:graphicFrame>
          <p:nvGraphicFramePr>
            <p:cNvPr id="41990" name="Object 6"/>
            <p:cNvGraphicFramePr>
              <a:graphicFrameLocks noChangeAspect="1"/>
            </p:cNvGraphicFramePr>
            <p:nvPr/>
          </p:nvGraphicFramePr>
          <p:xfrm>
            <a:off x="1848" y="3240"/>
            <a:ext cx="135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145960" imgH="495000" progId="Equation.3">
                    <p:embed/>
                  </p:oleObj>
                </mc:Choice>
                <mc:Fallback>
                  <p:oleObj name="公式" r:id="rId6" imgW="2145960" imgH="49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8" y="3240"/>
                          <a:ext cx="135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2438400" y="5029200"/>
          <a:ext cx="75438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7550280" imgH="1189080" progId="Word.Document.8">
                  <p:embed/>
                </p:oleObj>
              </mc:Choice>
              <mc:Fallback>
                <p:oleObj name="文档" r:id="rId8" imgW="7550280" imgH="1189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29200"/>
                        <a:ext cx="75438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36794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820612"/>
              </p:ext>
            </p:extLst>
          </p:nvPr>
        </p:nvGraphicFramePr>
        <p:xfrm>
          <a:off x="2063552" y="903928"/>
          <a:ext cx="6552728" cy="561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413400" imgH="551160" progId="Word.Document.8">
                  <p:embed/>
                </p:oleObj>
              </mc:Choice>
              <mc:Fallback>
                <p:oleObj name="文档" r:id="rId2" imgW="6413400" imgH="551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903928"/>
                        <a:ext cx="6552728" cy="561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974959"/>
              </p:ext>
            </p:extLst>
          </p:nvPr>
        </p:nvGraphicFramePr>
        <p:xfrm>
          <a:off x="2711624" y="1471614"/>
          <a:ext cx="5885499" cy="1813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360" imgH="723600" progId="Equation.DSMT4">
                  <p:embed/>
                </p:oleObj>
              </mc:Choice>
              <mc:Fallback>
                <p:oleObj name="Equation" r:id="rId4" imgW="23493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471614"/>
                        <a:ext cx="5885499" cy="1813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1991544" y="3308796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上式称为</a:t>
            </a:r>
            <a:r>
              <a:rPr lang="zh-CN" altLang="en-US" sz="2800" b="1" dirty="0">
                <a:solidFill>
                  <a:srgbClr val="FF0000"/>
                </a:solidFill>
              </a:rPr>
              <a:t>二元函数的拉格朗日中值公式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2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930884"/>
              </p:ext>
            </p:extLst>
          </p:nvPr>
        </p:nvGraphicFramePr>
        <p:xfrm>
          <a:off x="2063552" y="3833792"/>
          <a:ext cx="8492554" cy="2089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8116852" imgH="2001188" progId="Word.Document.8">
                  <p:embed/>
                </p:oleObj>
              </mc:Choice>
              <mc:Fallback>
                <p:oleObj name="Document" r:id="rId6" imgW="8116852" imgH="20011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3833792"/>
                        <a:ext cx="8492554" cy="2089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70649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2438400" y="819150"/>
          <a:ext cx="68580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008480" imgH="1189080" progId="Word.Document.8">
                  <p:embed/>
                </p:oleObj>
              </mc:Choice>
              <mc:Fallback>
                <p:oleObj name="文档" r:id="rId2" imgW="7008480" imgH="1189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819150"/>
                        <a:ext cx="68580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2438400" y="2122489"/>
          <a:ext cx="7239000" cy="289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089560" imgH="3238200" progId="Equation.3">
                  <p:embed/>
                </p:oleObj>
              </mc:Choice>
              <mc:Fallback>
                <p:oleObj name="公式" r:id="rId4" imgW="8089560" imgH="32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22489"/>
                        <a:ext cx="7239000" cy="289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6781800" y="5094288"/>
          <a:ext cx="1524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23880" imgH="393480" progId="Equation.3">
                  <p:embed/>
                </p:oleObj>
              </mc:Choice>
              <mc:Fallback>
                <p:oleObj name="公式" r:id="rId6" imgW="1523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094288"/>
                        <a:ext cx="1524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897708"/>
              </p:ext>
            </p:extLst>
          </p:nvPr>
        </p:nvGraphicFramePr>
        <p:xfrm>
          <a:off x="9552384" y="5092872"/>
          <a:ext cx="457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7200" imgH="393480" progId="Equation.3">
                  <p:embed/>
                </p:oleObj>
              </mc:Choice>
              <mc:Fallback>
                <p:oleObj name="公式" r:id="rId8" imgW="457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2384" y="5092872"/>
                        <a:ext cx="457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5761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438400" y="909638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657600" y="895350"/>
          <a:ext cx="615315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160680" imgH="1199520" progId="Word.Document.8">
                  <p:embed/>
                </p:oleObj>
              </mc:Choice>
              <mc:Fallback>
                <p:oleObj name="文档" r:id="rId2" imgW="6160680" imgH="1199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895350"/>
                        <a:ext cx="615315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514600" y="226298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047452"/>
              </p:ext>
            </p:extLst>
          </p:nvPr>
        </p:nvGraphicFramePr>
        <p:xfrm>
          <a:off x="3352800" y="2022476"/>
          <a:ext cx="51752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431640" progId="Equation.DSMT4">
                  <p:embed/>
                </p:oleObj>
              </mc:Choice>
              <mc:Fallback>
                <p:oleObj name="Equation" r:id="rId4" imgW="2234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022476"/>
                        <a:ext cx="517525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443449"/>
              </p:ext>
            </p:extLst>
          </p:nvPr>
        </p:nvGraphicFramePr>
        <p:xfrm>
          <a:off x="2615586" y="2963692"/>
          <a:ext cx="7296837" cy="1024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3320" imgH="431640" progId="Equation.DSMT4">
                  <p:embed/>
                </p:oleObj>
              </mc:Choice>
              <mc:Fallback>
                <p:oleObj name="Equation" r:id="rId6" imgW="3073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5586" y="2963692"/>
                        <a:ext cx="7296837" cy="1024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ChangeAspect="1"/>
          </p:cNvGraphicFramePr>
          <p:nvPr/>
        </p:nvGraphicFramePr>
        <p:xfrm>
          <a:off x="3048000" y="3962400"/>
          <a:ext cx="34163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16040" imgH="939600" progId="Equation.3">
                  <p:embed/>
                </p:oleObj>
              </mc:Choice>
              <mc:Fallback>
                <p:oleObj name="公式" r:id="rId8" imgW="34160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62400"/>
                        <a:ext cx="34163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7239000" y="4329114"/>
          <a:ext cx="19304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30320" imgH="393480" progId="Equation.3">
                  <p:embed/>
                </p:oleObj>
              </mc:Choice>
              <mc:Fallback>
                <p:oleObj name="公式" r:id="rId10" imgW="1930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329114"/>
                        <a:ext cx="19304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6" name="Object 20"/>
          <p:cNvGraphicFramePr>
            <a:graphicFrameLocks noChangeAspect="1"/>
          </p:cNvGraphicFramePr>
          <p:nvPr/>
        </p:nvGraphicFramePr>
        <p:xfrm>
          <a:off x="3048000" y="5003800"/>
          <a:ext cx="3657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657600" imgH="939600" progId="Equation.3">
                  <p:embed/>
                </p:oleObj>
              </mc:Choice>
              <mc:Fallback>
                <p:oleObj name="公式" r:id="rId12" imgW="365760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03800"/>
                        <a:ext cx="3657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013876"/>
              </p:ext>
            </p:extLst>
          </p:nvPr>
        </p:nvGraphicFramePr>
        <p:xfrm>
          <a:off x="7239000" y="5325636"/>
          <a:ext cx="21971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97080" imgH="393480" progId="Equation.3">
                  <p:embed/>
                </p:oleObj>
              </mc:Choice>
              <mc:Fallback>
                <p:oleObj name="公式" r:id="rId14" imgW="2197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25636"/>
                        <a:ext cx="21971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99999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162908"/>
              </p:ext>
            </p:extLst>
          </p:nvPr>
        </p:nvGraphicFramePr>
        <p:xfrm>
          <a:off x="2451538" y="781794"/>
          <a:ext cx="7604902" cy="105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469800" progId="Equation.DSMT4">
                  <p:embed/>
                </p:oleObj>
              </mc:Choice>
              <mc:Fallback>
                <p:oleObj name="Equation" r:id="rId2" imgW="3377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538" y="781794"/>
                        <a:ext cx="7604902" cy="1057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067270"/>
              </p:ext>
            </p:extLst>
          </p:nvPr>
        </p:nvGraphicFramePr>
        <p:xfrm>
          <a:off x="2718707" y="1954227"/>
          <a:ext cx="6005982" cy="2338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320" imgH="1028520" progId="Equation.DSMT4">
                  <p:embed/>
                </p:oleObj>
              </mc:Choice>
              <mc:Fallback>
                <p:oleObj name="Equation" r:id="rId4" imgW="2641320" imgH="1028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707" y="1954227"/>
                        <a:ext cx="6005982" cy="2338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974880"/>
              </p:ext>
            </p:extLst>
          </p:nvPr>
        </p:nvGraphicFramePr>
        <p:xfrm>
          <a:off x="2718707" y="4293095"/>
          <a:ext cx="7481749" cy="176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88960" imgH="774360" progId="Equation.DSMT4">
                  <p:embed/>
                </p:oleObj>
              </mc:Choice>
              <mc:Fallback>
                <p:oleObj name="Equation" r:id="rId6" imgW="328896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707" y="4293095"/>
                        <a:ext cx="7481749" cy="1762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62669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743200" y="990601"/>
          <a:ext cx="28702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879640" imgH="617760" progId="Word.Document.8">
                  <p:embed/>
                </p:oleObj>
              </mc:Choice>
              <mc:Fallback>
                <p:oleObj name="文档" r:id="rId2" imgW="2879640" imgH="617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90601"/>
                        <a:ext cx="28702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819400" y="1676400"/>
          <a:ext cx="72151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13320" imgH="838080" progId="Equation.3">
                  <p:embed/>
                </p:oleObj>
              </mc:Choice>
              <mc:Fallback>
                <p:oleObj name="公式" r:id="rId4" imgW="72133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76400"/>
                        <a:ext cx="72151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743200" y="27432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其中</a:t>
            </a:r>
            <a:endParaRPr lang="zh-CN" altLang="en-US"/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3429000" y="3200400"/>
          <a:ext cx="5589588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587920" imgH="2070000" progId="Equation.3">
                  <p:embed/>
                </p:oleObj>
              </mc:Choice>
              <mc:Fallback>
                <p:oleObj name="公式" r:id="rId6" imgW="5587920" imgH="20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200400"/>
                        <a:ext cx="5589588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23030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81</Words>
  <Application>Microsoft Office PowerPoint</Application>
  <PresentationFormat>宽屏</PresentationFormat>
  <Paragraphs>24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Equation</vt:lpstr>
      <vt:lpstr>文档</vt:lpstr>
      <vt:lpstr>Document</vt:lpstr>
      <vt:lpstr>公式</vt:lpstr>
      <vt:lpstr>PowerPoint 演示文稿</vt:lpstr>
      <vt:lpstr>一、问题的提出  </vt:lpstr>
      <vt:lpstr>二、中值定理和泰勒公式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75</cp:revision>
  <dcterms:created xsi:type="dcterms:W3CDTF">2009-06-13T01:14:34Z</dcterms:created>
  <dcterms:modified xsi:type="dcterms:W3CDTF">2024-03-17T06:17:10Z</dcterms:modified>
</cp:coreProperties>
</file>