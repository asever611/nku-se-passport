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2" r:id="rId3"/>
  </p:sldMasterIdLst>
  <p:notesMasterIdLst>
    <p:notesMasterId r:id="rId25"/>
  </p:notesMasterIdLst>
  <p:handoutMasterIdLst>
    <p:handoutMasterId r:id="rId26"/>
  </p:handoutMasterIdLst>
  <p:sldIdLst>
    <p:sldId id="412" r:id="rId4"/>
    <p:sldId id="395" r:id="rId5"/>
    <p:sldId id="396" r:id="rId6"/>
    <p:sldId id="397" r:id="rId7"/>
    <p:sldId id="393" r:id="rId8"/>
    <p:sldId id="394" r:id="rId9"/>
    <p:sldId id="444" r:id="rId10"/>
    <p:sldId id="413" r:id="rId11"/>
    <p:sldId id="415" r:id="rId12"/>
    <p:sldId id="399" r:id="rId13"/>
    <p:sldId id="400" r:id="rId14"/>
    <p:sldId id="401" r:id="rId15"/>
    <p:sldId id="443" r:id="rId16"/>
    <p:sldId id="445" r:id="rId17"/>
    <p:sldId id="402" r:id="rId18"/>
    <p:sldId id="404" r:id="rId19"/>
    <p:sldId id="433" r:id="rId20"/>
    <p:sldId id="403" r:id="rId21"/>
    <p:sldId id="405" r:id="rId22"/>
    <p:sldId id="406" r:id="rId23"/>
    <p:sldId id="414" r:id="rId24"/>
  </p:sldIdLst>
  <p:sldSz cx="12192000" cy="6858000"/>
  <p:notesSz cx="6858000" cy="9144000"/>
  <p:embeddedFontLst>
    <p:embeddedFont>
      <p:font typeface="微软雅黑" panose="020B0503020204020204" charset="-122"/>
      <p:regular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7216D"/>
    <a:srgbClr val="CC99FF"/>
    <a:srgbClr val="68174B"/>
    <a:srgbClr val="AFABAB"/>
    <a:srgbClr val="7F7F7F"/>
    <a:srgbClr val="767171"/>
    <a:srgbClr val="4F4B4B"/>
    <a:srgbClr val="4B113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0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gs" Target="tags/tag35.xml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8E420-9D67-4E04-AAC0-CD197AFC47C8}" type="datetimeFigureOut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82D08-7386-4E2F-A9E1-10702E2F33D5}" type="slidenum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D99A82-D64C-4D65-9369-2187D866FEA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298174"/>
            <a:ext cx="3468757" cy="496956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b="25920"/>
          <a:stretch>
            <a:fillRect/>
          </a:stretch>
        </p:blipFill>
        <p:spPr>
          <a:xfrm>
            <a:off x="9843180" y="203719"/>
            <a:ext cx="2019301" cy="76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b="25920"/>
          <a:stretch>
            <a:fillRect/>
          </a:stretch>
        </p:blipFill>
        <p:spPr>
          <a:xfrm>
            <a:off x="9843180" y="203719"/>
            <a:ext cx="2019301" cy="76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C96D6-D75D-4657-9902-6BA7C064019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F575B-2F74-41A5-94FC-C655C1CED71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8.png"/><Relationship Id="rId3" Type="http://schemas.openxmlformats.org/officeDocument/2006/relationships/tags" Target="../tags/tag16.xml"/><Relationship Id="rId2" Type="http://schemas.openxmlformats.org/officeDocument/2006/relationships/image" Target="../media/image7.png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tags" Target="../tags/tag19.xml"/><Relationship Id="rId4" Type="http://schemas.openxmlformats.org/officeDocument/2006/relationships/image" Target="../media/image10.png"/><Relationship Id="rId3" Type="http://schemas.openxmlformats.org/officeDocument/2006/relationships/tags" Target="../tags/tag18.xml"/><Relationship Id="rId2" Type="http://schemas.openxmlformats.org/officeDocument/2006/relationships/image" Target="../media/image9.png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12.png"/><Relationship Id="rId16" Type="http://schemas.openxmlformats.org/officeDocument/2006/relationships/slideLayout" Target="../slideLayouts/slideLayout5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tags" Target="../tags/tag3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s://www.jianshu.com/p/3acc8b3c41ca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hyperlink" Target="https://www.apowersoft.cn/free-online-screen-recorder" TargetMode="External"/><Relationship Id="rId1" Type="http://schemas.openxmlformats.org/officeDocument/2006/relationships/hyperlink" Target="https://www.luogu.com.cn/problem/li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Week4:Retro Snake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zh-CN" altLang="en-US">
                <a:cs typeface="Times New Roman" panose="02020603050405020304" pitchFamily="18" charset="0"/>
              </a:rPr>
              <a:t>——Practice of Programming Language 1——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197475" y="4705350"/>
            <a:ext cx="180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 Shuyin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drawUnitBlock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 err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drawSnake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drawBackground()</a:t>
            </a:r>
            <a:endParaRPr lang="en-US" altLang="zh-CN" dirty="0" err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moveSnake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autoMove()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your process</a:t>
            </a:r>
            <a:endParaRPr lang="en-US" altLang="zh-CN" sz="3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514350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Draw a rectangle with game coordinate space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Mapping game coordinates to screen coordinates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Just use game position after encapsulating the coordinate mapping logic.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Moving Control of one rectangle with a while-loop.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Draw the whole snake by calling 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rawUnitBlock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and using a for-loop.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drawUnitBlock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by reading the array (and the color) only.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Encapsulate the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for-loop with “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rawSnake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() ”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buClr>
                <a:srgbClr val="97216D"/>
              </a:buClr>
              <a:buFont typeface="+mj-lt"/>
              <a:buAutoNum type="arabicPeriod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/>
            </a:pP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your process</a:t>
            </a:r>
            <a:endParaRPr lang="en-US" altLang="zh-CN" sz="3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eaLnBrk="1" hangingPunct="1">
              <a:buClr>
                <a:srgbClr val="97216D"/>
              </a:buClr>
              <a:buFont typeface="+mj-lt"/>
              <a:buAutoNum type="arabicPeriod" startAt="4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Make your snake moving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Determine which key is input ( a:left, s:down, d:right, w:up, q:quit)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Erase the snake by using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drawSnake()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with background color or by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drawBackground()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Modifying the positions of snake by updating the array.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Draw the snake at new positions by calling drawSnake().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 eaLnBrk="1" hangingPunct="1">
              <a:buClr>
                <a:srgbClr val="97216D"/>
              </a:buClr>
              <a:buFont typeface="+mj-lt"/>
              <a:buAutoNum type="arabicPeriod"/>
            </a:pPr>
            <a:r>
              <a:rPr lang="en-US" altLang="zh-CN" sz="2400">
                <a:sym typeface="+mn-ea"/>
              </a:rPr>
              <a:t>autoMove() to move the snake toward its current direction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5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Homework Question</a:t>
            </a:r>
            <a:endParaRPr lang="en-US" altLang="zh-CN" sz="355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Order of the code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Copy the snake array from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tail to the head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076" y="4723765"/>
            <a:ext cx="4143375" cy="1133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2159000"/>
            <a:ext cx="6050915" cy="1076960"/>
          </a:xfrm>
          <a:prstGeom prst="rect">
            <a:avLst/>
          </a:prstGeom>
        </p:spPr>
      </p:pic>
      <p:sp>
        <p:nvSpPr>
          <p:cNvPr id="6" name="乘号 5"/>
          <p:cNvSpPr/>
          <p:nvPr/>
        </p:nvSpPr>
        <p:spPr>
          <a:xfrm>
            <a:off x="5455920" y="2459355"/>
            <a:ext cx="871855" cy="47625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69645" y="1109980"/>
            <a:ext cx="4138930" cy="513969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Review</a:t>
            </a:r>
            <a:endParaRPr lang="en-US" altLang="zh-CN"/>
          </a:p>
        </p:txBody>
      </p:sp>
      <p:pic>
        <p:nvPicPr>
          <p:cNvPr id="8" name="内容占位符 7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85305" y="1565910"/>
            <a:ext cx="4214495" cy="3890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Why print array?</a:t>
            </a:r>
            <a:endParaRPr lang="en-US" altLang="zh-CN"/>
          </a:p>
          <a:p>
            <a:pPr lvl="1"/>
            <a:r>
              <a:rPr lang="en-US" altLang="zh-CN"/>
              <a:t>Check if your code is correct.</a:t>
            </a:r>
            <a:endParaRPr lang="en-US" altLang="zh-CN"/>
          </a:p>
          <a:p>
            <a:pPr marL="457200" lvl="1" indent="0">
              <a:buNone/>
            </a:pPr>
            <a:endParaRPr lang="en-US" altLang="zh-CN"/>
          </a:p>
          <a:p>
            <a:pPr marL="228600" lvl="0" indent="-228600">
              <a:buFont typeface="Arial" panose="020B0604020202020204" pitchFamily="34" charset="0"/>
              <a:buChar char="●"/>
            </a:pPr>
            <a:r>
              <a:rPr lang="en-US" altLang="zh-CN">
                <a:solidFill>
                  <a:schemeClr val="tx1"/>
                </a:solidFill>
              </a:rPr>
              <a:t>Open console while running the project.</a:t>
            </a:r>
            <a:endParaRPr lang="en-US" altLang="zh-CN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●"/>
            </a:pPr>
            <a:r>
              <a:rPr lang="en-US" altLang="zh-CN">
                <a:solidFill>
                  <a:schemeClr val="tx1"/>
                </a:solidFill>
              </a:rPr>
              <a:t>initgraph(800,600,</a:t>
            </a:r>
            <a:r>
              <a:rPr lang="en-US" altLang="zh-CN">
                <a:solidFill>
                  <a:srgbClr val="0070C0"/>
                </a:solidFill>
              </a:rPr>
              <a:t>EX_SHOWCONSOLE</a:t>
            </a:r>
            <a:r>
              <a:rPr lang="en-US" altLang="zh-CN">
                <a:solidFill>
                  <a:schemeClr val="tx1"/>
                </a:solidFill>
              </a:rPr>
              <a:t>);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enum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zh-CN" sz="2800"/>
              <a:t>#define</a:t>
            </a:r>
            <a:endParaRPr lang="en-US" altLang="zh-CN" sz="2800"/>
          </a:p>
          <a:p>
            <a:r>
              <a:rPr lang="en-US" altLang="zh-CN" sz="2800"/>
              <a:t>const</a:t>
            </a:r>
            <a:endParaRPr lang="en-US" altLang="zh-CN" sz="2800"/>
          </a:p>
          <a:p>
            <a:r>
              <a:rPr lang="en-US" altLang="zh-CN" sz="2800"/>
              <a:t>enum</a:t>
            </a:r>
            <a:endParaRPr lang="en-US" altLang="zh-CN" sz="2800"/>
          </a:p>
        </p:txBody>
      </p:sp>
      <p:pic>
        <p:nvPicPr>
          <p:cNvPr id="5" name="内容占位符 4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03035" y="1683385"/>
            <a:ext cx="2505075" cy="1028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50355" y="3489960"/>
            <a:ext cx="4182110" cy="3321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50355" y="2846705"/>
            <a:ext cx="4940300" cy="4165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50355" y="4194175"/>
            <a:ext cx="48761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In default, UP = 0, DOWN = 1,LEFT = 2, RIGHT =3</a:t>
            </a:r>
            <a:endParaRPr lang="en-US" altLang="zh-CN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Question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Which are correct in C++?</a:t>
            </a:r>
            <a:endParaRPr lang="en-US" altLang="zh-CN"/>
          </a:p>
          <a:p>
            <a:pPr marL="514350" indent="-514350">
              <a:buFont typeface="+mj-lt"/>
              <a:buAutoNum type="alphaUcPeriod"/>
            </a:pPr>
            <a:r>
              <a:rPr lang="en-US" altLang="zh-CN"/>
              <a:t>enum direction{1,2,3,4};</a:t>
            </a:r>
            <a:endParaRPr lang="en-US" altLang="zh-CN"/>
          </a:p>
          <a:p>
            <a:pPr marL="514350" indent="-514350">
              <a:buFont typeface="+mj-lt"/>
              <a:buAutoNum type="alphaUcPeriod"/>
            </a:pPr>
            <a:r>
              <a:rPr lang="en-US" altLang="zh-CN"/>
              <a:t>enum direction{‘w’,’s’,’a’,’d’};</a:t>
            </a:r>
            <a:endParaRPr lang="en-US" altLang="zh-CN"/>
          </a:p>
          <a:p>
            <a:pPr marL="514350" indent="-514350">
              <a:buFont typeface="+mj-lt"/>
              <a:buAutoNum type="alphaUcPeriod"/>
            </a:pPr>
            <a:r>
              <a:rPr lang="en-US" altLang="zh-CN"/>
              <a:t>enum{UP=1,DOWN=2,LEFT=3,RIGHT=4};</a:t>
            </a:r>
            <a:endParaRPr lang="en-US" altLang="zh-CN"/>
          </a:p>
          <a:p>
            <a:pPr marL="514350" indent="-514350">
              <a:buFont typeface="+mj-lt"/>
              <a:buAutoNum type="alphaUcPeriod"/>
            </a:pPr>
            <a:r>
              <a:rPr lang="en-US" altLang="zh-CN"/>
              <a:t>enum direction{UP,DOWN,LEFT,RIGHT=4};</a:t>
            </a:r>
            <a:endParaRPr lang="en-US" altLang="zh-CN"/>
          </a:p>
          <a:p>
            <a:pPr marL="514350" indent="-514350">
              <a:buFont typeface="+mj-lt"/>
              <a:buAutoNum type="alphaUcPeriod"/>
            </a:pPr>
            <a:r>
              <a:rPr lang="en-US" altLang="zh-CN"/>
              <a:t>enum direction {U,D,L,R};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other functions?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Make your snake game more realistic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Check the collision to the border and body.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Generating the food and eating the food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 eaLnBrk="1" hangingPunct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Length Increasing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5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  <a:endParaRPr lang="en-US" altLang="zh-CN" sz="355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Border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Current Direction (Get new position of snake head)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rgbClr val="97216D"/>
              </a:buClr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using char or int to store the head toward direction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(int toDir;)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Head Coordinate (snake[0][0],snake[0][1])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rgbClr val="97216D"/>
              </a:buClr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Use two variables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(int newHead_x,newHead_y;)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 store new head location.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rgbClr val="97216D"/>
              </a:buClr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Compare the two variables with the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x_border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y_border.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Current Direction(Get new position of snake head)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Loop to check whether the snake go across itself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olidFill>
                  <a:srgbClr val="FFFFFF"/>
                </a:solidFill>
                <a:cs typeface="Arial" panose="020B0604020202020204" pitchFamily="34" charset="0"/>
                <a:sym typeface="+mn-ea"/>
              </a:rPr>
              <a:t>Collision</a:t>
            </a:r>
            <a:endParaRPr lang="zh-CN" altLang="en-US"/>
          </a:p>
        </p:txBody>
      </p:sp>
      <p:grpSp>
        <p:nvGrpSpPr>
          <p:cNvPr id="18" name="Group 22"/>
          <p:cNvGrpSpPr/>
          <p:nvPr/>
        </p:nvGrpSpPr>
        <p:grpSpPr>
          <a:xfrm>
            <a:off x="1597978" y="1000248"/>
            <a:ext cx="8670925" cy="5538470"/>
            <a:chOff x="630873" y="730266"/>
            <a:chExt cx="8670925" cy="5538470"/>
          </a:xfrm>
        </p:grpSpPr>
        <p:grpSp>
          <p:nvGrpSpPr>
            <p:cNvPr id="20" name="Group 15"/>
            <p:cNvGrpSpPr/>
            <p:nvPr/>
          </p:nvGrpSpPr>
          <p:grpSpPr>
            <a:xfrm>
              <a:off x="630873" y="1828800"/>
              <a:ext cx="8143875" cy="4162425"/>
              <a:chOff x="630873" y="1828800"/>
              <a:chExt cx="8143875" cy="4162425"/>
            </a:xfrm>
          </p:grpSpPr>
          <p:grpSp>
            <p:nvGrpSpPr>
              <p:cNvPr id="24" name="Group 1"/>
              <p:cNvGrpSpPr/>
              <p:nvPr/>
            </p:nvGrpSpPr>
            <p:grpSpPr>
              <a:xfrm>
                <a:off x="630873" y="1828800"/>
                <a:ext cx="8143875" cy="4162425"/>
                <a:chOff x="214313" y="1785938"/>
                <a:chExt cx="8143875" cy="4162425"/>
              </a:xfrm>
            </p:grpSpPr>
            <p:pic>
              <p:nvPicPr>
                <p:cNvPr id="25" name="Picture 3"/>
                <p:cNvPicPr>
                  <a:picLocks noChangeAspect="1" noChangeArrowheads="1"/>
                </p:cNvPicPr>
                <p:nvPr>
                  <p:custDataLst>
                    <p:tags r:id="rId1"/>
                  </p:custDataLst>
                </p:nvPr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71813" y="2500313"/>
                  <a:ext cx="4838700" cy="3448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6" name="组合 11"/>
                <p:cNvGrpSpPr/>
                <p:nvPr/>
              </p:nvGrpSpPr>
              <p:grpSpPr bwMode="auto">
                <a:xfrm>
                  <a:off x="2143125" y="1785938"/>
                  <a:ext cx="6215063" cy="3716337"/>
                  <a:chOff x="1214414" y="1785926"/>
                  <a:chExt cx="6215106" cy="3715570"/>
                </a:xfrm>
              </p:grpSpPr>
              <p:cxnSp>
                <p:nvCxnSpPr>
                  <p:cNvPr id="27" name="直接箭头连接符 4"/>
                  <p:cNvCxnSpPr/>
                  <p:nvPr>
                    <p:custDataLst>
                      <p:tags r:id="rId3"/>
                    </p:custDataLst>
                  </p:nvPr>
                </p:nvCxnSpPr>
                <p:spPr>
                  <a:xfrm>
                    <a:off x="1714480" y="2214463"/>
                    <a:ext cx="5286412" cy="1587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箭头连接符 6"/>
                  <p:cNvCxnSpPr/>
                  <p:nvPr>
                    <p:custDataLst>
                      <p:tags r:id="rId4"/>
                    </p:custDataLst>
                  </p:nvPr>
                </p:nvCxnSpPr>
                <p:spPr>
                  <a:xfrm rot="5400000">
                    <a:off x="71757" y="3857185"/>
                    <a:ext cx="3285447" cy="3175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TextBox 7"/>
                  <p:cNvSpPr txBox="1">
                    <a:spLocks noChangeArrowheads="1"/>
                  </p:cNvSpPr>
                  <p:nvPr>
                    <p:custDataLst>
                      <p:tags r:id="rId5"/>
                    </p:custDataLst>
                  </p:nvPr>
                </p:nvSpPr>
                <p:spPr bwMode="auto">
                  <a:xfrm>
                    <a:off x="7143768" y="1785926"/>
                    <a:ext cx="285752" cy="3682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 i="1">
                        <a:cs typeface="Arial" panose="020B0604020202020204" pitchFamily="34" charset="0"/>
                      </a:rPr>
                      <a:t>x</a:t>
                    </a:r>
                    <a:endParaRPr lang="en-US" altLang="zh-CN" sz="1800" i="1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" name="TextBox 8"/>
                  <p:cNvSpPr txBox="1">
                    <a:spLocks noChangeArrowheads="1"/>
                  </p:cNvSpPr>
                  <p:nvPr>
                    <p:custDataLst>
                      <p:tags r:id="rId6"/>
                    </p:custDataLst>
                  </p:nvPr>
                </p:nvSpPr>
                <p:spPr bwMode="auto">
                  <a:xfrm>
                    <a:off x="1214414" y="5072074"/>
                    <a:ext cx="285752" cy="3682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 i="1">
                        <a:cs typeface="Arial" panose="020B0604020202020204" pitchFamily="34" charset="0"/>
                      </a:rPr>
                      <a:t>y</a:t>
                    </a:r>
                    <a:endParaRPr lang="en-US" altLang="zh-CN" sz="1800" i="1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" name="TextBox 9"/>
                  <p:cNvSpPr txBox="1">
                    <a:spLocks noChangeArrowheads="1"/>
                  </p:cNvSpPr>
                  <p:nvPr>
                    <p:custDataLst>
                      <p:tags r:id="rId7"/>
                    </p:custDataLst>
                  </p:nvPr>
                </p:nvSpPr>
                <p:spPr bwMode="auto">
                  <a:xfrm>
                    <a:off x="1357290" y="1857365"/>
                    <a:ext cx="857256" cy="3682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800" dirty="0">
                        <a:cs typeface="Arial" panose="020B0604020202020204" pitchFamily="34" charset="0"/>
                      </a:rPr>
                      <a:t>(</a:t>
                    </a:r>
                    <a:r>
                      <a:rPr lang="en-US" altLang="zh-CN" sz="1800" i="1" dirty="0">
                        <a:cs typeface="Arial" panose="020B0604020202020204" pitchFamily="34" charset="0"/>
                      </a:rPr>
                      <a:t>0,0</a:t>
                    </a:r>
                    <a:r>
                      <a:rPr lang="en-US" altLang="zh-CN" sz="1800" dirty="0">
                        <a:cs typeface="Arial" panose="020B0604020202020204" pitchFamily="34" charset="0"/>
                      </a:rPr>
                      <a:t>)</a:t>
                    </a:r>
                    <a:endParaRPr lang="zh-CN" altLang="en-US" sz="1800" dirty="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2" name="线形标注 1 12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214313" y="1857375"/>
                  <a:ext cx="1857375" cy="785813"/>
                </a:xfrm>
                <a:prstGeom prst="borderCallout1">
                  <a:avLst>
                    <a:gd name="adj1" fmla="val 43002"/>
                    <a:gd name="adj2" fmla="val 101380"/>
                    <a:gd name="adj3" fmla="val 219204"/>
                    <a:gd name="adj4" fmla="val 393130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head</a:t>
                  </a:r>
                  <a:endPara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 eaLnBrk="1" hangingPunct="1">
                    <a:defRPr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(x, y)</a:t>
                  </a:r>
                  <a:endPara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矩形 1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527290" y="3573462"/>
                  <a:ext cx="285750" cy="285750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34" name="Straight Arrow Connector 12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8229600" y="2751826"/>
                <a:ext cx="0" cy="3148642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14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3666226" y="5900468"/>
                <a:ext cx="458062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6" name="矩形 35"/>
            <p:cNvSpPr/>
            <p:nvPr>
              <p:custDataLst>
                <p:tags r:id="rId12"/>
              </p:custDataLst>
            </p:nvPr>
          </p:nvSpPr>
          <p:spPr>
            <a:xfrm>
              <a:off x="8246853" y="3616324"/>
              <a:ext cx="285750" cy="285750"/>
            </a:xfrm>
            <a:prstGeom prst="rect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Arrow Connector 18"/>
            <p:cNvCxnSpPr/>
            <p:nvPr>
              <p:custDataLst>
                <p:tags r:id="rId13"/>
              </p:custDataLst>
            </p:nvPr>
          </p:nvCxnSpPr>
          <p:spPr>
            <a:xfrm>
              <a:off x="7986982" y="4067354"/>
              <a:ext cx="54514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线形标注 1 12"/>
            <p:cNvSpPr/>
            <p:nvPr>
              <p:custDataLst>
                <p:tags r:id="rId14"/>
              </p:custDataLst>
            </p:nvPr>
          </p:nvSpPr>
          <p:spPr>
            <a:xfrm>
              <a:off x="2889442" y="730266"/>
              <a:ext cx="1857375" cy="785813"/>
            </a:xfrm>
            <a:prstGeom prst="borderCallout1">
              <a:avLst>
                <a:gd name="adj1" fmla="val 43002"/>
                <a:gd name="adj2" fmla="val 101380"/>
                <a:gd name="adj3" fmla="val 367403"/>
                <a:gd name="adj4" fmla="val 288631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head</a:t>
              </a:r>
              <a:endPara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(?, ?)</a:t>
              </a:r>
              <a:endPara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998018" y="5900436"/>
              <a:ext cx="23037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cs typeface="Arial" panose="020B0604020202020204" pitchFamily="34" charset="0"/>
                </a:rPr>
                <a:t>x_border, y_border</a:t>
              </a:r>
              <a:r>
                <a:rPr lang="en-US" altLang="zh-CN" sz="1800" dirty="0">
                  <a:cs typeface="Arial" panose="020B0604020202020204" pitchFamily="34" charset="0"/>
                </a:rPr>
                <a:t>)</a:t>
              </a:r>
              <a:endParaRPr lang="zh-CN" altLang="en-US" sz="1800" dirty="0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Practice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bool checkCollision();</a:t>
            </a:r>
            <a:endParaRPr lang="en-US" altLang="zh-CN"/>
          </a:p>
          <a:p>
            <a:pPr marL="0" indent="0">
              <a:buNone/>
            </a:pPr>
            <a:r>
              <a:rPr lang="en-US" altLang="zh-CN" sz="2000">
                <a:solidFill>
                  <a:srgbClr val="00B050"/>
                </a:solidFill>
              </a:rPr>
              <a:t>/*Prepare two new variables for storing the new position of snake head*/</a:t>
            </a:r>
            <a:endParaRPr lang="en-US" altLang="zh-CN" sz="200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/>
              <a:t>int new_head_x,new_head_y;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3916045"/>
            <a:ext cx="6543675" cy="2238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Check Collision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Check the other 3 directions.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</a:t>
            </a:r>
            <a:r>
              <a:rPr lang="en-US" altLang="zh-CN" sz="2400">
                <a:solidFill>
                  <a:srgbClr val="00B050"/>
                </a:solidFill>
              </a:rPr>
              <a:t>/*Determine whether the snake go across itself*/</a:t>
            </a:r>
            <a:endParaRPr lang="en-US" altLang="zh-CN" sz="2400">
              <a:solidFill>
                <a:srgbClr val="00B050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●"/>
            </a:pPr>
            <a:r>
              <a:rPr lang="en-US" altLang="zh-CN">
                <a:solidFill>
                  <a:schemeClr val="tx1"/>
                </a:solidFill>
              </a:rPr>
              <a:t>A for loop the check the whole snake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 sz="2400">
                <a:solidFill>
                  <a:srgbClr val="00B050"/>
                </a:solidFill>
              </a:rPr>
              <a:t>//if the new head location is one of the snake blocks return false.</a:t>
            </a:r>
            <a:endParaRPr lang="en-US" altLang="zh-CN" sz="2400">
              <a:solidFill>
                <a:srgbClr val="00B05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25" y="4862830"/>
            <a:ext cx="6343650" cy="1076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5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</a:t>
            </a:r>
            <a:endParaRPr lang="en-US" altLang="zh-CN" sz="355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Generate Food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1" action="ppaction://hlinkfile"/>
              </a:rPr>
              <a:t>Random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Coordinate (food_x,food_y)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Food should be inside the border (border check)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Food could not generate on the snake(body check)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drawUnitBlock() with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(food_x,food_y) and food color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Eat Food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 the condition?</a:t>
            </a:r>
            <a:r>
              <a:rPr lang="en-US" altLang="zh-CN" dirty="0">
                <a:solidFill>
                  <a:srgbClr val="9721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(food_x,food_y)  and snake head</a:t>
            </a:r>
            <a:endParaRPr lang="en-US" altLang="zh-CN" dirty="0">
              <a:solidFill>
                <a:srgbClr val="97216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Regenerate the food (Call genFood())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Record the score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Clr>
                <a:srgbClr val="97216D"/>
              </a:buClr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97216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 Length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0" indent="-228600">
              <a:buClr>
                <a:srgbClr val="97216D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Increase Length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Clr>
                <a:srgbClr val="97216D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How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？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2-D Array?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Pointer?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Length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increaseLength()</a:t>
            </a:r>
            <a:endParaRPr lang="en-US" altLang="zh-CN"/>
          </a:p>
          <a:p>
            <a:r>
              <a:rPr lang="en-US" altLang="zh-CN"/>
              <a:t>length++;    </a:t>
            </a:r>
            <a:r>
              <a:rPr lang="en-US" altLang="zh-CN">
                <a:solidFill>
                  <a:srgbClr val="00B050"/>
                </a:solidFill>
              </a:rPr>
              <a:t>// global variable</a:t>
            </a:r>
            <a:r>
              <a:rPr lang="en-US" altLang="zh-CN">
                <a:solidFill>
                  <a:srgbClr val="00B050"/>
                </a:solidFill>
              </a:rPr>
              <a:t> length</a:t>
            </a:r>
            <a:endParaRPr lang="en-US" altLang="zh-CN"/>
          </a:p>
          <a:p>
            <a:r>
              <a:rPr lang="en-US" altLang="zh-CN"/>
              <a:t>How does snake </a:t>
            </a:r>
            <a:r>
              <a:rPr lang="en-US" altLang="zh-CN"/>
              <a:t>array change</a:t>
            </a:r>
            <a:r>
              <a:rPr lang="zh-CN" altLang="en-US"/>
              <a:t>？</a:t>
            </a:r>
            <a:r>
              <a:rPr lang="en-US" altLang="zh-CN"/>
              <a:t>    </a:t>
            </a:r>
            <a:endParaRPr lang="en-US" altLang="zh-CN"/>
          </a:p>
          <a:p>
            <a:pPr lvl="1"/>
            <a:r>
              <a:rPr lang="en-US" altLang="zh-CN"/>
              <a:t>The current position of the tail is equal to the previous position of the tail.”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snake[length-1][0] = tailX;   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snake[length-1][1] = tailY;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altLang="zh-CN" sz="2400">
                <a:solidFill>
                  <a:srgbClr val="00B050"/>
                </a:solidFill>
                <a:sym typeface="+mn-ea"/>
              </a:rPr>
              <a:t>//when calling autoMove() or moveSnake() update tailX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 and tailY</a:t>
            </a:r>
            <a:endParaRPr lang="en-US" altLang="zh-CN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5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Function</a:t>
            </a:r>
            <a:endParaRPr lang="en-US" altLang="zh-CN" sz="355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Clr>
                <a:srgbClr val="97216D"/>
              </a:buClr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Initialize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Model: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food coordinate,snake array,direction....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View:initgraph, drawBackground,genFood and drawSnake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while(checkCollision()){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 while (!_kbhit()&amp;&amp;</a:t>
            </a:r>
            <a:r>
              <a:rPr lang="en-US" altLang="zh-CN" sz="1200" dirty="0">
                <a:cs typeface="Arial" panose="020B0604020202020204" pitchFamily="34" charset="0"/>
                <a:sym typeface="+mn-ea"/>
              </a:rPr>
              <a:t>checkCollision()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)   </a:t>
            </a:r>
            <a:r>
              <a:rPr lang="en-US" altLang="zh-CN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//Auto move or keyboard control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{      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   autoMove();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   eatFood();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speedControl();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   ,..... } 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if(</a:t>
            </a:r>
            <a:r>
              <a:rPr lang="en-US" altLang="zh-CN" sz="1200" dirty="0">
                <a:cs typeface="Arial" panose="020B0604020202020204" pitchFamily="34" charset="0"/>
                <a:sym typeface="+mn-ea"/>
              </a:rPr>
              <a:t>_kbhit())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input = _getch() </a:t>
            </a:r>
            <a:r>
              <a:rPr lang="en-US" altLang="zh-CN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//get keyboard</a:t>
            </a:r>
            <a:endParaRPr lang="en-US" altLang="zh-CN" sz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moveSnake()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...}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your procedure by flowchart</a:t>
            </a:r>
            <a:endParaRPr lang="en-US" altLang="zh-CN" sz="2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WPS</a:t>
            </a:r>
            <a:endParaRPr lang="en-US" altLang="zh-CN"/>
          </a:p>
          <a:p>
            <a:r>
              <a:rPr lang="zh-CN" altLang="en-US"/>
              <a:t>飞书</a:t>
            </a:r>
            <a:endParaRPr lang="zh-CN" altLang="en-US"/>
          </a:p>
          <a:p>
            <a:r>
              <a:rPr lang="en-US" altLang="zh-CN"/>
              <a:t>Visio</a:t>
            </a:r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2686685" y="1332865"/>
            <a:ext cx="7143750" cy="5071745"/>
            <a:chOff x="2813" y="2363"/>
            <a:chExt cx="11250" cy="7987"/>
          </a:xfrm>
        </p:grpSpPr>
        <p:sp>
          <p:nvSpPr>
            <p:cNvPr id="4" name="圆角矩形 3"/>
            <p:cNvSpPr/>
            <p:nvPr/>
          </p:nvSpPr>
          <p:spPr>
            <a:xfrm>
              <a:off x="5790" y="3038"/>
              <a:ext cx="1575" cy="78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Start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5850" y="9000"/>
              <a:ext cx="1575" cy="7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End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950" y="4275"/>
              <a:ext cx="3263" cy="7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1. Draw a border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913" y="4283"/>
              <a:ext cx="3150" cy="7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3.1 Erase cursor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at old position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" name="菱形 7"/>
            <p:cNvSpPr/>
            <p:nvPr/>
          </p:nvSpPr>
          <p:spPr>
            <a:xfrm>
              <a:off x="5625" y="6863"/>
              <a:ext cx="2025" cy="90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Press ‘Q’?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950" y="5625"/>
              <a:ext cx="3263" cy="7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2. Draw a cursor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箭头连接符 10"/>
            <p:cNvCxnSpPr>
              <a:stCxn id="8" idx="2"/>
              <a:endCxn id="5" idx="0"/>
            </p:cNvCxnSpPr>
            <p:nvPr/>
          </p:nvCxnSpPr>
          <p:spPr>
            <a:xfrm rot="5400000">
              <a:off x="6017" y="8383"/>
              <a:ext cx="1238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186" name="TextBox 11"/>
            <p:cNvSpPr txBox="1">
              <a:spLocks noChangeArrowheads="1"/>
            </p:cNvSpPr>
            <p:nvPr/>
          </p:nvSpPr>
          <p:spPr bwMode="auto">
            <a:xfrm>
              <a:off x="6075" y="7988"/>
              <a:ext cx="78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13" name="直接箭头连接符 12"/>
            <p:cNvCxnSpPr>
              <a:stCxn id="4" idx="2"/>
              <a:endCxn id="6" idx="0"/>
            </p:cNvCxnSpPr>
            <p:nvPr/>
          </p:nvCxnSpPr>
          <p:spPr>
            <a:xfrm rot="16200000" flipH="1">
              <a:off x="6354" y="4049"/>
              <a:ext cx="450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rot="16200000" flipH="1">
              <a:off x="6370" y="5300"/>
              <a:ext cx="450" cy="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rot="16200000" flipH="1">
              <a:off x="6415" y="6635"/>
              <a:ext cx="450" cy="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肘形连接符 18"/>
            <p:cNvCxnSpPr>
              <a:stCxn id="8" idx="3"/>
              <a:endCxn id="26" idx="2"/>
            </p:cNvCxnSpPr>
            <p:nvPr/>
          </p:nvCxnSpPr>
          <p:spPr>
            <a:xfrm flipV="1">
              <a:off x="7650" y="5140"/>
              <a:ext cx="1725" cy="2173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191" name="TextBox 20"/>
            <p:cNvSpPr txBox="1">
              <a:spLocks noChangeArrowheads="1"/>
            </p:cNvSpPr>
            <p:nvPr/>
          </p:nvSpPr>
          <p:spPr bwMode="auto">
            <a:xfrm>
              <a:off x="7763" y="6750"/>
              <a:ext cx="787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N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6" name="菱形 25"/>
            <p:cNvSpPr/>
            <p:nvPr/>
          </p:nvSpPr>
          <p:spPr>
            <a:xfrm>
              <a:off x="8363" y="4240"/>
              <a:ext cx="2025" cy="90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Press ‘A’?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29" name="直接箭头连接符 28"/>
            <p:cNvCxnSpPr>
              <a:stCxn id="26" idx="3"/>
              <a:endCxn id="7" idx="1"/>
            </p:cNvCxnSpPr>
            <p:nvPr/>
          </p:nvCxnSpPr>
          <p:spPr>
            <a:xfrm flipV="1">
              <a:off x="10388" y="4675"/>
              <a:ext cx="525" cy="1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194" name="TextBox 31"/>
            <p:cNvSpPr txBox="1">
              <a:spLocks noChangeArrowheads="1"/>
            </p:cNvSpPr>
            <p:nvPr/>
          </p:nvSpPr>
          <p:spPr bwMode="auto">
            <a:xfrm>
              <a:off x="10350" y="4255"/>
              <a:ext cx="78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0913" y="5513"/>
              <a:ext cx="3150" cy="7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3.2 Draw cursor at new position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>
            <a:xfrm rot="16200000" flipH="1">
              <a:off x="12220" y="5300"/>
              <a:ext cx="450" cy="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形状 38"/>
            <p:cNvCxnSpPr>
              <a:stCxn id="33" idx="2"/>
            </p:cNvCxnSpPr>
            <p:nvPr/>
          </p:nvCxnSpPr>
          <p:spPr>
            <a:xfrm rot="5400000">
              <a:off x="5625" y="3487"/>
              <a:ext cx="4050" cy="9675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肘形连接符 42"/>
            <p:cNvCxnSpPr/>
            <p:nvPr/>
          </p:nvCxnSpPr>
          <p:spPr>
            <a:xfrm flipV="1">
              <a:off x="2813" y="6638"/>
              <a:ext cx="3825" cy="3712"/>
            </a:xfrm>
            <a:prstGeom prst="bentConnector3">
              <a:avLst>
                <a:gd name="adj1" fmla="val -72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endCxn id="60" idx="2"/>
            </p:cNvCxnSpPr>
            <p:nvPr/>
          </p:nvCxnSpPr>
          <p:spPr>
            <a:xfrm flipV="1">
              <a:off x="9373" y="3825"/>
              <a:ext cx="0" cy="41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0" name="TextBox 56"/>
            <p:cNvSpPr txBox="1">
              <a:spLocks noChangeArrowheads="1"/>
            </p:cNvSpPr>
            <p:nvPr/>
          </p:nvSpPr>
          <p:spPr bwMode="auto">
            <a:xfrm>
              <a:off x="9450" y="3713"/>
              <a:ext cx="78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N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0" name="菱形 59"/>
            <p:cNvSpPr/>
            <p:nvPr/>
          </p:nvSpPr>
          <p:spPr>
            <a:xfrm>
              <a:off x="8360" y="2925"/>
              <a:ext cx="2025" cy="90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Press ‘D’?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1" name="直接箭头连接符 60"/>
            <p:cNvCxnSpPr>
              <a:stCxn id="60" idx="0"/>
            </p:cNvCxnSpPr>
            <p:nvPr/>
          </p:nvCxnSpPr>
          <p:spPr>
            <a:xfrm flipV="1">
              <a:off x="9373" y="2475"/>
              <a:ext cx="0" cy="45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3" name="TextBox 63"/>
            <p:cNvSpPr txBox="1">
              <a:spLocks noChangeArrowheads="1"/>
            </p:cNvSpPr>
            <p:nvPr/>
          </p:nvSpPr>
          <p:spPr bwMode="auto">
            <a:xfrm>
              <a:off x="10350" y="2700"/>
              <a:ext cx="78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6" name="直接箭头连接符 65"/>
            <p:cNvCxnSpPr>
              <a:stCxn id="60" idx="3"/>
            </p:cNvCxnSpPr>
            <p:nvPr/>
          </p:nvCxnSpPr>
          <p:spPr>
            <a:xfrm>
              <a:off x="10385" y="3375"/>
              <a:ext cx="450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5" name="TextBox 66"/>
            <p:cNvSpPr txBox="1">
              <a:spLocks noChangeArrowheads="1"/>
            </p:cNvSpPr>
            <p:nvPr/>
          </p:nvSpPr>
          <p:spPr bwMode="auto">
            <a:xfrm>
              <a:off x="9450" y="2363"/>
              <a:ext cx="78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N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04975" y="907415"/>
            <a:ext cx="21793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5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Homework</a:t>
            </a:r>
            <a:endParaRPr lang="en-US" altLang="zh-CN" sz="355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completely project files.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 Creativity and Functionality: 30%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 Game Mechanics Implementation: 25%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 Graphics and User Interface Design: 20%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 Code Quality and Efficiency: 15%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small video to show how it works.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Some useful web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hlinkClick r:id="rId1" action="ppaction://hlinkfile"/>
              </a:rPr>
              <a:t>https://www.luogu.com.cn/problem/list</a:t>
            </a:r>
            <a:endParaRPr lang="zh-CN" altLang="en-US"/>
          </a:p>
          <a:p>
            <a:r>
              <a:rPr lang="zh-CN" altLang="en-US">
                <a:hlinkClick r:id="rId2" action="ppaction://hlinkfile"/>
              </a:rPr>
              <a:t>https://www.apowersoft.cn/free-online-screen-recorder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PP_MARK_KEY" val="4009fc62-181b-4858-b937-28414374710c"/>
  <p:tag name="COMMONDATA" val="eyJoZGlkIjoiOTk5YjBiZTExNzdkZTMzZGJkYjE3NzExMTJjOGEwMDIifQ=="/>
  <p:tag name="commondata" val="eyJoZGlkIjoiNTU0ZmIwYTQ3NzlmZGUxZmU3Zjk0M2IyZTNmM2IxNjAifQ=="/>
</p:tagLst>
</file>

<file path=ppt/theme/theme1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3803</Words>
  <Application>WPS 演示</Application>
  <PresentationFormat>全屏显示(4:3)</PresentationFormat>
  <Paragraphs>223</Paragraphs>
  <Slides>21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Noto Sans S Chinese Black</vt:lpstr>
      <vt:lpstr>微软雅黑</vt:lpstr>
      <vt:lpstr>Times New Roman</vt:lpstr>
      <vt:lpstr>Arial Unicode MS</vt:lpstr>
      <vt:lpstr>Calibri</vt:lpstr>
      <vt:lpstr>1_OfficePLUS</vt:lpstr>
      <vt:lpstr>2_Office 主题​​</vt:lpstr>
      <vt:lpstr>Week4:Retro Snake</vt:lpstr>
      <vt:lpstr>Review</vt:lpstr>
      <vt:lpstr>Review your process</vt:lpstr>
      <vt:lpstr>Review your process</vt:lpstr>
      <vt:lpstr>Homework Question</vt:lpstr>
      <vt:lpstr>Review</vt:lpstr>
      <vt:lpstr>print</vt:lpstr>
      <vt:lpstr>enum</vt:lpstr>
      <vt:lpstr>Question</vt:lpstr>
      <vt:lpstr>Any other functions?</vt:lpstr>
      <vt:lpstr>Collision</vt:lpstr>
      <vt:lpstr>Collision</vt:lpstr>
      <vt:lpstr>Practice</vt:lpstr>
      <vt:lpstr>Check Collision</vt:lpstr>
      <vt:lpstr>Food</vt:lpstr>
      <vt:lpstr>Increase Length</vt:lpstr>
      <vt:lpstr>Length</vt:lpstr>
      <vt:lpstr>Main Function</vt:lpstr>
      <vt:lpstr>Design your procedure by flowchart</vt:lpstr>
      <vt:lpstr>Homework</vt:lpstr>
      <vt:lpstr>Some useful web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zhhang918</dc:creator>
  <cp:lastModifiedBy>沈舒尹</cp:lastModifiedBy>
  <cp:revision>209</cp:revision>
  <dcterms:created xsi:type="dcterms:W3CDTF">2020-04-18T12:57:00Z</dcterms:created>
  <dcterms:modified xsi:type="dcterms:W3CDTF">2026-03-17T07:46:57Z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007A52AF19C5419087ADE05BD9574941</vt:lpwstr>
  </property>
  <property fmtid="{D5CDD505-2E9C-101B-9397-08002B2CF9AE}" pid="3" name="KSOProductBuildVer">
    <vt:lpwstr>2052-12.1.0.21915</vt:lpwstr>
  </property>
</Properties>
</file>