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2" r:id="rId3"/>
  </p:sldMasterIdLst>
  <p:notesMasterIdLst>
    <p:notesMasterId r:id="rId8"/>
  </p:notesMasterIdLst>
  <p:handoutMasterIdLst>
    <p:handoutMasterId r:id="rId23"/>
  </p:handoutMasterIdLst>
  <p:sldIdLst>
    <p:sldId id="425" r:id="rId4"/>
    <p:sldId id="412" r:id="rId5"/>
    <p:sldId id="440" r:id="rId6"/>
    <p:sldId id="413" r:id="rId7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39" r:id="rId20"/>
    <p:sldId id="441" r:id="rId21"/>
    <p:sldId id="442" r:id="rId22"/>
  </p:sldIdLst>
  <p:sldSz cx="12192000" cy="6858000"/>
  <p:notesSz cx="6858000" cy="9144000"/>
  <p:embeddedFontLst>
    <p:embeddedFont>
      <p:font typeface="微软雅黑" panose="020B0503020204020204" charset="-122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黑体" panose="02010609060101010101" pitchFamily="49" charset="-122"/>
      <p:regular r:id="rId33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7216D"/>
    <a:srgbClr val="CC99FF"/>
    <a:srgbClr val="68174B"/>
    <a:srgbClr val="AFABAB"/>
    <a:srgbClr val="7F7F7F"/>
    <a:srgbClr val="767171"/>
    <a:srgbClr val="4F4B4B"/>
    <a:srgbClr val="4B1136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0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gs" Target="tags/tag29.xml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8E420-9D67-4E04-AAC0-CD197AFC47C8}" type="datetimeFigureOut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82D08-7386-4E2F-A9E1-10702E2F33D5}" type="slidenum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3-21T20:02:08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700.000 807.000,'2.000'0.000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0198AF-D765-480D-BF5C-100D1A9715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014EAB-F627-43E3-B33B-3491B3C298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9C8154-D89A-4A10-B9FF-63AC8FC214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D99A82-D64C-4D65-9369-2187D866FEA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298174"/>
            <a:ext cx="3468757" cy="496956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0" b="25920"/>
          <a:stretch>
            <a:fillRect/>
          </a:stretch>
        </p:blipFill>
        <p:spPr>
          <a:xfrm>
            <a:off x="9843180" y="203719"/>
            <a:ext cx="2019301" cy="76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0" b="25920"/>
          <a:stretch>
            <a:fillRect/>
          </a:stretch>
        </p:blipFill>
        <p:spPr>
          <a:xfrm>
            <a:off x="9843180" y="203719"/>
            <a:ext cx="2019301" cy="76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C96D6-D75D-4657-9902-6BA7C064019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F575B-2F74-41A5-94FC-C655C1CED715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customXml" Target="../ink/ink1.xml"/><Relationship Id="rId3" Type="http://schemas.openxmlformats.org/officeDocument/2006/relationships/image" Target="../media/image5.png"/><Relationship Id="rId2" Type="http://schemas.microsoft.com/office/2007/relationships/media" Target="file:///D:\3.&#36719;&#20214;&#23398;&#38498;&#23454;&#39564;&#35838;\4.&#39640;&#32423;&#35821;&#35328;&#32534;&#31243;&#23454;&#35757;1\2022-2023-2\&#23398;&#29983;&#25104;&#26524;&#23637;&#31034;\2023&#24180;&#20420;&#32599;&#26031;&#26041;&#22359;&#23637;&#31034;.MP4" TargetMode="External"/><Relationship Id="rId1" Type="http://schemas.openxmlformats.org/officeDocument/2006/relationships/video" Target="file:///D:\3.&#36719;&#20214;&#23398;&#38498;&#23454;&#39564;&#35838;\4.&#39640;&#32423;&#35821;&#35328;&#32534;&#31243;&#23454;&#35757;1\2022-2023-2\&#23398;&#29983;&#25104;&#26524;&#23637;&#31034;\2023&#24180;&#20420;&#32599;&#26031;&#26041;&#22359;&#23637;&#31034;.MP4" TargetMode="Externa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image" Target="../media/image8.png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1.emf"/><Relationship Id="rId2" Type="http://schemas.openxmlformats.org/officeDocument/2006/relationships/oleObject" Target="../embeddings/oleObject3.bin"/><Relationship Id="rId1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noProof="0" dirty="0">
                <a:solidFill>
                  <a:schemeClr val="bg1"/>
                </a:solidFill>
                <a:ea typeface="Noto Sans S Chinese Bold" panose="020B0800000000000000" pitchFamily="34" charset="-122"/>
                <a:cs typeface="Arial" panose="020B0604020202020204" pitchFamily="34" charset="0"/>
                <a:sym typeface="+mn-ea"/>
              </a:rPr>
              <a:t>Week5:</a:t>
            </a:r>
            <a:r>
              <a:rPr lang="en-US" altLang="zh-CN" noProof="0" dirty="0">
                <a:solidFill>
                  <a:schemeClr val="bg1"/>
                </a:solidFill>
                <a:ea typeface="Noto Sans S Chinese Bold" panose="020B0800000000000000" pitchFamily="34" charset="-122"/>
                <a:cs typeface="Arial" panose="020B0604020202020204" pitchFamily="34" charset="0"/>
                <a:sym typeface="+mn-ea"/>
              </a:rPr>
              <a:t>Tetris</a:t>
            </a:r>
            <a:endParaRPr lang="en-US" altLang="zh-CN" noProof="0" dirty="0">
              <a:solidFill>
                <a:schemeClr val="bg1"/>
              </a:solidFill>
              <a:ea typeface="Noto Sans S Chinese Bold" panose="020B0800000000000000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pPr algn="ctr"/>
            <a:r>
              <a:rPr lang="zh-CN" altLang="en-US">
                <a:cs typeface="Times New Roman" panose="02020603050405020304" pitchFamily="18" charset="0"/>
              </a:rPr>
              <a:t>—— Practice of Programming Language 1——</a:t>
            </a: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5174615" y="4705350"/>
            <a:ext cx="180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 Shuyin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Tetris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What is Tetris?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Create Blocks(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Tetriminos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Move Left or Right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Rotate the Blocks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Remove the row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Introduction</a:t>
            </a:r>
            <a:endParaRPr lang="en-US" altLang="zh-CN"/>
          </a:p>
        </p:txBody>
      </p:sp>
      <p:pic>
        <p:nvPicPr>
          <p:cNvPr id="4" name="2023年俄罗斯方块展示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59560" y="1402080"/>
            <a:ext cx="8620760" cy="47631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4445000" y="5124450"/>
              <a:ext cx="12700" cy="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4445000" y="5124450"/>
                <a:ext cx="12700" cy="36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zh-CN" altLang="en-US"/>
              <a:t>How to represent blocks?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</a:t>
            </a:r>
            <a:r>
              <a:rPr lang="zh-CN" altLang="en-US"/>
              <a:t>Array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325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844DFA-A80F-4561-830E-5D813AB2ED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Tetris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Object 3"/>
          <p:cNvGraphicFramePr>
            <a:graphicFrameLocks noGrp="1" noChangeAspect="1"/>
          </p:cNvGraphicFramePr>
          <p:nvPr>
            <p:custDataLst>
              <p:tags r:id="rId1"/>
            </p:custDataLst>
          </p:nvPr>
        </p:nvGraphicFramePr>
        <p:xfrm>
          <a:off x="7577347" y="2037075"/>
          <a:ext cx="369379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Visio" r:id="rId2" imgW="12700000" imgH="14145260" progId="Visio.Drawing.6">
                  <p:embed/>
                </p:oleObj>
              </mc:Choice>
              <mc:Fallback>
                <p:oleObj name="Visio" r:id="rId2" imgW="12700000" imgH="14145260" progId="Visio.Drawing.6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7347" y="2037075"/>
                        <a:ext cx="3693795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Review Screen Space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844DFA-A80F-4561-830E-5D813AB2ED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445895" y="1500505"/>
            <a:ext cx="8143875" cy="4654550"/>
            <a:chOff x="2738" y="2813"/>
            <a:chExt cx="12825" cy="7330"/>
          </a:xfrm>
        </p:grpSpPr>
        <p:pic>
          <p:nvPicPr>
            <p:cNvPr id="9" name="Picture 3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8" y="3938"/>
              <a:ext cx="7620" cy="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" name="组合 11"/>
            <p:cNvGrpSpPr/>
            <p:nvPr/>
          </p:nvGrpSpPr>
          <p:grpSpPr bwMode="auto">
            <a:xfrm>
              <a:off x="5775" y="2813"/>
              <a:ext cx="9788" cy="5852"/>
              <a:chOff x="1214414" y="1785926"/>
              <a:chExt cx="6215106" cy="3715570"/>
            </a:xfrm>
          </p:grpSpPr>
          <p:cxnSp>
            <p:nvCxnSpPr>
              <p:cNvPr id="11" name="直接箭头连接符 10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1714480" y="2214463"/>
                <a:ext cx="5286412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>
                <p:custDataLst>
                  <p:tags r:id="rId4"/>
                </p:custDataLst>
              </p:nvPr>
            </p:nvCxnSpPr>
            <p:spPr>
              <a:xfrm rot="5400000">
                <a:off x="71757" y="3857185"/>
                <a:ext cx="3285447" cy="317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7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143768" y="1785926"/>
                <a:ext cx="285752" cy="368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cs typeface="Arial" panose="020B0604020202020204" pitchFamily="34" charset="0"/>
                  </a:rPr>
                  <a:t>x</a:t>
                </a:r>
                <a:endParaRPr lang="en-US" altLang="zh-CN" sz="1800" i="1"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Box 8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214414" y="5072074"/>
                <a:ext cx="285752" cy="368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cs typeface="Arial" panose="020B0604020202020204" pitchFamily="34" charset="0"/>
                  </a:rPr>
                  <a:t>y</a:t>
                </a:r>
                <a:endParaRPr lang="en-US" altLang="zh-CN" sz="1800" i="1">
                  <a:cs typeface="Arial" panose="020B0604020202020204" pitchFamily="34" charset="0"/>
                </a:endParaRPr>
              </a:p>
            </p:txBody>
          </p:sp>
          <p:sp>
            <p:nvSpPr>
              <p:cNvPr id="18" name="TextBox 9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357290" y="1857365"/>
                <a:ext cx="857256" cy="368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cs typeface="Arial" panose="020B0604020202020204" pitchFamily="34" charset="0"/>
                  </a:rPr>
                  <a:t>(</a:t>
                </a:r>
                <a:r>
                  <a:rPr lang="en-US" altLang="zh-CN" sz="1800" i="1">
                    <a:cs typeface="Arial" panose="020B0604020202020204" pitchFamily="34" charset="0"/>
                  </a:rPr>
                  <a:t>0,0</a:t>
                </a:r>
                <a:r>
                  <a:rPr lang="en-US" altLang="zh-CN" sz="1800">
                    <a:cs typeface="Arial" panose="020B0604020202020204" pitchFamily="34" charset="0"/>
                  </a:rPr>
                  <a:t>)</a:t>
                </a:r>
                <a:endParaRPr lang="zh-CN" altLang="en-US" sz="18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" name="线形标注 1 18"/>
            <p:cNvSpPr/>
            <p:nvPr>
              <p:custDataLst>
                <p:tags r:id="rId8"/>
              </p:custDataLst>
            </p:nvPr>
          </p:nvSpPr>
          <p:spPr>
            <a:xfrm>
              <a:off x="2738" y="2925"/>
              <a:ext cx="2925" cy="1238"/>
            </a:xfrm>
            <a:prstGeom prst="borderCallout1">
              <a:avLst>
                <a:gd name="adj1" fmla="val 43002"/>
                <a:gd name="adj2" fmla="val 101380"/>
                <a:gd name="adj3" fmla="val 106987"/>
                <a:gd name="adj4" fmla="val 16271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zh-CN" baseline="-25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origin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altLang="zh-CN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altLang="zh-CN" baseline="-25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origin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9"/>
              </p:custDataLst>
            </p:nvPr>
          </p:nvSpPr>
          <p:spPr>
            <a:xfrm>
              <a:off x="12465" y="6975"/>
              <a:ext cx="450" cy="45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1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563" y="9563"/>
              <a:ext cx="855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err="1">
                  <a:cs typeface="Arial" panose="020B0604020202020204" pitchFamily="34" charset="0"/>
                </a:rPr>
                <a:t>rectangle</a:t>
              </a:r>
              <a:r>
                <a:rPr lang="en-US" altLang="zh-CN" sz="1800" dirty="0">
                  <a:cs typeface="Arial" panose="020B0604020202020204" pitchFamily="34" charset="0"/>
                </a:rPr>
                <a:t>(left, top,right,bottom);</a:t>
              </a:r>
              <a:endParaRPr lang="zh-CN" altLang="en-US" sz="1800" dirty="0">
                <a:cs typeface="Arial" panose="020B0604020202020204" pitchFamily="34" charset="0"/>
              </a:endParaRPr>
            </a:p>
          </p:txBody>
        </p:sp>
        <p:cxnSp>
          <p:nvCxnSpPr>
            <p:cNvPr id="22" name="Straight Connector 2"/>
            <p:cNvCxnSpPr/>
            <p:nvPr>
              <p:custDataLst>
                <p:tags r:id="rId11"/>
              </p:custDataLst>
            </p:nvPr>
          </p:nvCxnSpPr>
          <p:spPr>
            <a:xfrm flipH="1">
              <a:off x="10507" y="6975"/>
              <a:ext cx="1958" cy="2621"/>
            </a:xfrm>
            <a:prstGeom prst="line">
              <a:avLst/>
            </a:prstGeom>
            <a:ln w="1905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13" y="2500313"/>
            <a:ext cx="483870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Screen</a:t>
            </a:r>
            <a:r>
              <a:rPr lang="zh-CN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v.s. Game coordinates space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652" name="组合 11"/>
          <p:cNvGrpSpPr/>
          <p:nvPr/>
        </p:nvGrpSpPr>
        <p:grpSpPr bwMode="auto">
          <a:xfrm>
            <a:off x="3667125" y="1785938"/>
            <a:ext cx="6215063" cy="3716337"/>
            <a:chOff x="1214414" y="1785926"/>
            <a:chExt cx="6215106" cy="3715570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1714480" y="2214463"/>
              <a:ext cx="5286412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rot="5400000">
              <a:off x="71757" y="3857185"/>
              <a:ext cx="3285447" cy="317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660" name="TextBox 7"/>
            <p:cNvSpPr txBox="1">
              <a:spLocks noChangeArrowheads="1"/>
            </p:cNvSpPr>
            <p:nvPr/>
          </p:nvSpPr>
          <p:spPr bwMode="auto">
            <a:xfrm>
              <a:off x="7143768" y="1785926"/>
              <a:ext cx="285752" cy="368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endPara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7661" name="TextBox 8"/>
            <p:cNvSpPr txBox="1">
              <a:spLocks noChangeArrowheads="1"/>
            </p:cNvSpPr>
            <p:nvPr/>
          </p:nvSpPr>
          <p:spPr bwMode="auto">
            <a:xfrm>
              <a:off x="1214414" y="5072074"/>
              <a:ext cx="285752" cy="368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endPara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7662" name="TextBox 9"/>
            <p:cNvSpPr txBox="1">
              <a:spLocks noChangeArrowheads="1"/>
            </p:cNvSpPr>
            <p:nvPr/>
          </p:nvSpPr>
          <p:spPr bwMode="auto">
            <a:xfrm>
              <a:off x="1357290" y="1857365"/>
              <a:ext cx="857256" cy="368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kumimoji="0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0,0</a:t>
              </a: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线形标注 1 12"/>
          <p:cNvSpPr/>
          <p:nvPr/>
        </p:nvSpPr>
        <p:spPr>
          <a:xfrm>
            <a:off x="1738313" y="1857375"/>
            <a:ext cx="1857375" cy="785813"/>
          </a:xfrm>
          <a:prstGeom prst="borderCallout1">
            <a:avLst>
              <a:gd name="adj1" fmla="val 43002"/>
              <a:gd name="adj2" fmla="val 101380"/>
              <a:gd name="adj3" fmla="val 106987"/>
              <a:gd name="adj4" fmla="val 162715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kumimoji="0" lang="en-US" altLang="zh-CN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origin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kumimoji="0" lang="en-US" altLang="zh-CN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origin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左大括号 13"/>
          <p:cNvSpPr/>
          <p:nvPr/>
        </p:nvSpPr>
        <p:spPr>
          <a:xfrm>
            <a:off x="4491038" y="3595688"/>
            <a:ext cx="46037" cy="21431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线形标注 1 14"/>
          <p:cNvSpPr/>
          <p:nvPr/>
        </p:nvSpPr>
        <p:spPr>
          <a:xfrm>
            <a:off x="1738313" y="3143250"/>
            <a:ext cx="1857375" cy="785813"/>
          </a:xfrm>
          <a:prstGeom prst="borderCallout1">
            <a:avLst>
              <a:gd name="adj1" fmla="val 43002"/>
              <a:gd name="adj2" fmla="val 101380"/>
              <a:gd name="adj3" fmla="val 71466"/>
              <a:gd name="adj4" fmla="val 148723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block_width</a:t>
            </a:r>
            <a:endParaRPr kumimoji="0" lang="en-US" altLang="zh-CN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524000" y="4429125"/>
            <a:ext cx="292893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left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x_orgin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+ 11 *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block_width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524000" y="5643563"/>
            <a:ext cx="292893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top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y_origin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 + 6  *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block_width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844DFA-A80F-4561-830E-5D813AB2ED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build="allAtOnce"/>
      <p:bldP spid="15" grpId="0" bldLvl="0" animBg="1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How to represent a Tetris block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spc="0" noProof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new int[4,4,2] {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spc="0" noProof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{1, 0}, {0, -1}},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spc="0" noProof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{1, 0}, {1, 0}, {0, -1}},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spc="0" noProof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{1, 0}, {0, 1}},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spc="0" noProof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{0, 1}, {0, -1}}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spc="0" noProof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         };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55301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608400" y="3190981"/>
          <a:ext cx="5176800" cy="1368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name="Visio" r:id="rId1" imgW="8354060" imgH="2212340" progId="Visio.Drawing.6">
                  <p:embed/>
                </p:oleObj>
              </mc:Choice>
              <mc:Fallback>
                <p:oleObj name="Visio" r:id="rId1" imgW="8354060" imgH="2212340" progId="Visio.Drawing.6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00" y="3190981"/>
                        <a:ext cx="5176800" cy="1368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9"/>
          <a:stretch>
            <a:fillRect/>
          </a:stretch>
        </p:blipFill>
        <p:spPr bwMode="auto">
          <a:xfrm>
            <a:off x="5810250" y="1143000"/>
            <a:ext cx="485775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630998" y="1314768"/>
            <a:ext cx="4929187" cy="1938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new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[4,4,2] = 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{{0, 0}, {-1, 0}, {1, 0}, {0, -1}},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{{0, 0}, {1, 0}, {0, 1}, {0, -1}},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{{0, 0}, {-1, 0}, {1, 0}, {0, 1}},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{{0, 0}, {-1, 0}, {0, 1}, {0, -1}}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};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3452813" y="3141663"/>
            <a:ext cx="500062" cy="15001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349" name="TextBox 6"/>
          <p:cNvSpPr txBox="1">
            <a:spLocks noChangeArrowheads="1"/>
          </p:cNvSpPr>
          <p:nvPr/>
        </p:nvSpPr>
        <p:spPr bwMode="auto">
          <a:xfrm>
            <a:off x="2381250" y="4814888"/>
            <a:ext cx="34290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{{4, 2}, {5, 2}, {4, 3}, {4, 1}},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350" name="TextBox 7"/>
          <p:cNvSpPr txBox="1">
            <a:spLocks noChangeArrowheads="1"/>
          </p:cNvSpPr>
          <p:nvPr/>
        </p:nvSpPr>
        <p:spPr bwMode="auto">
          <a:xfrm>
            <a:off x="3881438" y="3457575"/>
            <a:ext cx="3500437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Add 4 to each x coord.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Add 2 to each y coord.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3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DrawTetrisBlock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by using relative coordinates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52" name="TextBox 9"/>
          <p:cNvSpPr txBox="1">
            <a:spLocks noChangeArrowheads="1"/>
          </p:cNvSpPr>
          <p:nvPr/>
        </p:nvSpPr>
        <p:spPr bwMode="auto">
          <a:xfrm>
            <a:off x="1952625" y="3340100"/>
            <a:ext cx="1643063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Position of a Tetris block:</a:t>
            </a:r>
            <a:b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 (4, 2)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353" name="TextBox 10"/>
          <p:cNvSpPr txBox="1">
            <a:spLocks noChangeArrowheads="1"/>
          </p:cNvSpPr>
          <p:nvPr/>
        </p:nvSpPr>
        <p:spPr bwMode="auto">
          <a:xfrm>
            <a:off x="604520" y="5364480"/>
            <a:ext cx="587311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  <a:t>Game coordinate of the central Tetris block (4, 2) :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8185" y="5674360"/>
            <a:ext cx="39738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4;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= 2;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left = x_origin + x * block_width;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top = y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_origin + y * block_width;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How to represent Tetris blocks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/>
          <p:nvPr>
            <p:ph sz="half" idx="1"/>
          </p:nvPr>
        </p:nvSpPr>
        <p:spPr/>
        <p:txBody>
          <a:bodyPr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new int[7,4,4,2]{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 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{1, 0}, {0, -1}},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{1, 0}, {0, 1}, {0, -1}},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{1, 0}, {0, 1}},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{0, 1}, {0, -1}}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	 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{1, 0}, {0, -1}},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{1, 0}, {1, 0}, {0, -1}},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{1, 0}, {0, 1}},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{0, 1}, {0, -1}}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         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 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{1, 0}, {0, -1}},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{1, 0}, {1, 0}, {0, -1}},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{1, 0}, {0, 1}},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	{{0, 0}, {-1, 0}, {0, 1}, {0, -1}}	         },……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	}</a:t>
            </a:r>
            <a:endParaRPr lang="en-US" altLang="zh-CN" sz="1600" spc="0" noProof="0" dirty="0">
              <a:ln>
                <a:noFill/>
              </a:ln>
              <a:solidFill>
                <a:srgbClr val="000000"/>
              </a:solidFill>
              <a:effectLst/>
              <a:uLnTx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6" name="Object 4"/>
          <p:cNvGraphicFramePr>
            <a:graphicFrameLocks noGrp="1" noChangeAspect="1"/>
          </p:cNvGraphicFramePr>
          <p:nvPr>
            <p:custDataLst>
              <p:tags r:id="rId1"/>
            </p:custDataLst>
          </p:nvPr>
        </p:nvGraphicFramePr>
        <p:xfrm>
          <a:off x="7496810" y="1289050"/>
          <a:ext cx="2563495" cy="517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Visio" r:id="rId2" imgW="8354060" imgH="16842740" progId="Visio.Drawing.6">
                  <p:embed/>
                </p:oleObj>
              </mc:Choice>
              <mc:Fallback>
                <p:oleObj name="Visio" r:id="rId2" imgW="8354060" imgH="16842740" progId="Visio.Drawing.6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6810" y="1289050"/>
                        <a:ext cx="2563495" cy="5171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Initialize the Array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7 Types, 4 Rotations,4 Blocks, 2 Dimensions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 blocks[?][?][?][?]=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C2E91-C63B-4C91-90BF-8FC8CD0D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Complete the array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 blocks[ ]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 Tetris Blocks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Function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drawUnitBlock(x, y, color)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Function drawTetrisBlock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Draw 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Unit Block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77745" y="2450465"/>
            <a:ext cx="7629525" cy="2838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How to draw by type and rotation?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blocks[7][4][4][2]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7 Types, 4 Rotations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4 Blocks, 2 Dimensions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drawTetrisBlock</a:t>
            </a:r>
            <a:r>
              <a:rPr lang="en-US" altLang="zh-C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(...)</a:t>
            </a:r>
            <a:endParaRPr lang="en-US" altLang="zh-CN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Homework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the function </a:t>
            </a:r>
            <a:r>
              <a:rPr lang="en-US" altLang="zh-CN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rawTetrisBlock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draw all the Tetris Blocks on one graph.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Or you can generate the </a:t>
            </a:r>
            <a:r>
              <a:rPr lang="en-US" altLang="zh-CN" dirty="0" err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iType</a:t>
            </a:r>
            <a:r>
              <a:rPr lang="en-US" altLang="zh-CN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and </a:t>
            </a:r>
            <a:r>
              <a:rPr lang="en-US" altLang="zh-CN" dirty="0" err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iRotation</a:t>
            </a:r>
            <a:r>
              <a:rPr lang="en-US" altLang="zh-CN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randomly.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solidFill>
                <a:srgbClr val="3D40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solidFill>
                <a:srgbClr val="3D40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4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39355" y="1501140"/>
            <a:ext cx="2919730" cy="4748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olidFill>
                  <a:schemeClr val="bg1"/>
                </a:solidFill>
                <a:cs typeface="Arial" panose="020B0604020202020204" pitchFamily="34" charset="0"/>
                <a:sym typeface="+mn-ea"/>
              </a:rPr>
              <a:t>Thinking</a:t>
            </a:r>
            <a:endParaRPr lang="en-US" altLang="zh-CN" dirty="0">
              <a:solidFill>
                <a:schemeClr val="bg1"/>
              </a:solidFill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Design your game view.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Any other functions do we need?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</a:t>
            </a:r>
            <a:r>
              <a:rPr lang="zh-CN" altLang="en-US"/>
              <a:t>andle of the window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HWND GetHWnd();</a:t>
            </a:r>
            <a:endParaRPr lang="zh-CN" altLang="en-US"/>
          </a:p>
          <a:p>
            <a:pPr lvl="1"/>
            <a:r>
              <a:rPr lang="zh-CN" altLang="en-US"/>
              <a:t>SetWindowText(GetHWnd(), "界面</a:t>
            </a:r>
            <a:r>
              <a:rPr lang="en-US" altLang="zh-CN"/>
              <a:t>1</a:t>
            </a:r>
            <a:r>
              <a:rPr lang="zh-CN" altLang="en-US"/>
              <a:t>");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Switch </a:t>
            </a:r>
            <a:r>
              <a:rPr lang="en-US" altLang="zh-CN"/>
              <a:t>Window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First  closegraph();</a:t>
            </a:r>
            <a:endParaRPr lang="en-US" altLang="zh-CN"/>
          </a:p>
          <a:p>
            <a:r>
              <a:rPr lang="en-US" altLang="zh-CN"/>
              <a:t>Then  initgraph();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PP_MARK_KEY" val="4009fc62-181b-4858-b937-28414374710c"/>
  <p:tag name="COMMONDATA" val="eyJoZGlkIjoiOTk5YjBiZTExNzdkZTMzZGJkYjE3NzExMTJjOGEwMDIifQ=="/>
  <p:tag name="commondata" val="eyJoZGlkIjoiNTU0ZmIwYTQ3NzlmZGUxZmU3Zjk0M2IyZTNmM2IxNjAifQ=="/>
</p:tagLst>
</file>

<file path=ppt/theme/theme1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2292</Words>
  <Application>WPS 演示</Application>
  <PresentationFormat>全屏显示(4:3)</PresentationFormat>
  <Paragraphs>175</Paragraphs>
  <Slides>18</Slides>
  <Notes>0</Notes>
  <HiddenSlides>0</HiddenSlides>
  <MMClips>2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Noto Sans S Chinese Black</vt:lpstr>
      <vt:lpstr>微软雅黑</vt:lpstr>
      <vt:lpstr>Times New Roman</vt:lpstr>
      <vt:lpstr>Noto Sans S Chinese Bold</vt:lpstr>
      <vt:lpstr>Calibri</vt:lpstr>
      <vt:lpstr>黑体</vt:lpstr>
      <vt:lpstr>Arial Unicode MS</vt:lpstr>
      <vt:lpstr>1_OfficePLUS</vt:lpstr>
      <vt:lpstr>2_Office 主题​​</vt:lpstr>
      <vt:lpstr>Visio.Drawing.6</vt:lpstr>
      <vt:lpstr>Visio.Drawing.6</vt:lpstr>
      <vt:lpstr>Visio.Drawing.6</vt:lpstr>
      <vt:lpstr>Week5:Tetris</vt:lpstr>
      <vt:lpstr>Tetris</vt:lpstr>
      <vt:lpstr>Introduction</vt:lpstr>
      <vt:lpstr>Tetris</vt:lpstr>
      <vt:lpstr>Review Screen Space</vt:lpstr>
      <vt:lpstr>Screen v.s. Game coordinates space</vt:lpstr>
      <vt:lpstr>How to represent a Tetris block</vt:lpstr>
      <vt:lpstr>DrawTetrisBlock by using relative coordinates</vt:lpstr>
      <vt:lpstr>How to represent Tetris blocks</vt:lpstr>
      <vt:lpstr>Data</vt:lpstr>
      <vt:lpstr>Practice</vt:lpstr>
      <vt:lpstr>Draw Unit Block</vt:lpstr>
      <vt:lpstr>How to draw by type and rotation?</vt:lpstr>
      <vt:lpstr>Practice</vt:lpstr>
      <vt:lpstr>Homework</vt:lpstr>
      <vt:lpstr>Thinking</vt:lpstr>
      <vt:lpstr>Handle of the window</vt:lpstr>
      <vt:lpstr>Switch Window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zhhang918</dc:creator>
  <cp:lastModifiedBy>沈舒尹</cp:lastModifiedBy>
  <cp:revision>224</cp:revision>
  <dcterms:created xsi:type="dcterms:W3CDTF">2020-04-18T12:57:00Z</dcterms:created>
  <dcterms:modified xsi:type="dcterms:W3CDTF">2026-03-17T07:47:11Z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007A52AF19C5419087ADE05BD9574941</vt:lpwstr>
  </property>
  <property fmtid="{D5CDD505-2E9C-101B-9397-08002B2CF9AE}" pid="3" name="KSOProductBuildVer">
    <vt:lpwstr>2052-12.1.0.21915</vt:lpwstr>
  </property>
</Properties>
</file>