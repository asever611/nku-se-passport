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4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2"/>
  </p:sldMasterIdLst>
  <p:notesMasterIdLst>
    <p:notesMasterId r:id="rId49"/>
  </p:notesMasterIdLst>
  <p:handoutMasterIdLst>
    <p:handoutMasterId r:id="rId50"/>
  </p:handoutMasterIdLst>
  <p:sldIdLst>
    <p:sldId id="1103" r:id="rId3"/>
    <p:sldId id="1377" r:id="rId4"/>
    <p:sldId id="1366" r:id="rId5"/>
    <p:sldId id="1501" r:id="rId6"/>
    <p:sldId id="1378" r:id="rId7"/>
    <p:sldId id="1379" r:id="rId8"/>
    <p:sldId id="1502" r:id="rId9"/>
    <p:sldId id="1503" r:id="rId10"/>
    <p:sldId id="1380" r:id="rId11"/>
    <p:sldId id="1381" r:id="rId12"/>
    <p:sldId id="1382" r:id="rId13"/>
    <p:sldId id="1383" r:id="rId14"/>
    <p:sldId id="1384" r:id="rId15"/>
    <p:sldId id="1385" r:id="rId16"/>
    <p:sldId id="1386" r:id="rId17"/>
    <p:sldId id="1388" r:id="rId18"/>
    <p:sldId id="1389" r:id="rId19"/>
    <p:sldId id="1390" r:id="rId20"/>
    <p:sldId id="1391" r:id="rId21"/>
    <p:sldId id="1392" r:id="rId22"/>
    <p:sldId id="1504" r:id="rId23"/>
    <p:sldId id="1393" r:id="rId24"/>
    <p:sldId id="1599" r:id="rId25"/>
    <p:sldId id="1394" r:id="rId26"/>
    <p:sldId id="1395" r:id="rId27"/>
    <p:sldId id="1396" r:id="rId28"/>
    <p:sldId id="1601" r:id="rId29"/>
    <p:sldId id="1397" r:id="rId30"/>
    <p:sldId id="1398" r:id="rId31"/>
    <p:sldId id="1399" r:id="rId32"/>
    <p:sldId id="1400" r:id="rId33"/>
    <p:sldId id="1401" r:id="rId34"/>
    <p:sldId id="1402" r:id="rId35"/>
    <p:sldId id="1464" r:id="rId36"/>
    <p:sldId id="1465" r:id="rId37"/>
    <p:sldId id="1466" r:id="rId38"/>
    <p:sldId id="1467" r:id="rId39"/>
    <p:sldId id="1468" r:id="rId40"/>
    <p:sldId id="1403" r:id="rId41"/>
    <p:sldId id="1404" r:id="rId42"/>
    <p:sldId id="1405" r:id="rId43"/>
    <p:sldId id="1406" r:id="rId44"/>
    <p:sldId id="1505" r:id="rId45"/>
    <p:sldId id="1506" r:id="rId46"/>
    <p:sldId id="1603" r:id="rId47"/>
    <p:sldId id="645" r:id="rId48"/>
  </p:sldIdLst>
  <p:sldSz cx="9144000" cy="6858000" type="screen4x3"/>
  <p:notesSz cx="7099300" cy="10234613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4436"/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892" autoAdjust="0"/>
  </p:normalViewPr>
  <p:slideViewPr>
    <p:cSldViewPr snapToGrid="0" showGuides="1">
      <p:cViewPr varScale="1">
        <p:scale>
          <a:sx n="59" d="100"/>
          <a:sy n="59" d="100"/>
        </p:scale>
        <p:origin x="1260" y="48"/>
      </p:cViewPr>
      <p:guideLst>
        <p:guide orient="horz" pos="210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2024/11/26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  <a:t>2024/11/26</a:t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3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2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3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4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3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4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6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7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0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1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2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4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5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5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  <a:t>2024/11/26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4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4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讲  图（</a:t>
            </a:r>
            <a:r>
              <a:rPr lang="en-US" altLang="zh-CN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FC1F8-377C-415F-9C94-4201F0AEB4EB}" type="slidenum">
              <a:rPr lang="en-US" altLang="zh-CN" smtClean="0"/>
              <a:t>1</a:t>
            </a:fld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最短路径算法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zh-CN" altLang="en-US">
                <a:sym typeface="+mn-ea"/>
              </a:rPr>
              <a:t>Dijkstra算法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en-US" altLang="zh-CN">
                <a:solidFill>
                  <a:schemeClr val="tx1"/>
                </a:solidFill>
              </a:rPr>
              <a:t>Floyd</a:t>
            </a:r>
            <a:r>
              <a:rPr lang="zh-CN" altLang="en-US">
                <a:solidFill>
                  <a:schemeClr val="tx1"/>
                </a:solidFill>
              </a:rPr>
              <a:t>算法</a:t>
            </a:r>
          </a:p>
          <a:p>
            <a:pPr lvl="1"/>
            <a:r>
              <a:rPr lang="en-US" altLang="zh-CN">
                <a:solidFill>
                  <a:schemeClr val="tx1"/>
                </a:solidFill>
              </a:rPr>
              <a:t>Bellman</a:t>
            </a:r>
            <a:r>
              <a:rPr lang="zh-CN" altLang="en-US">
                <a:solidFill>
                  <a:schemeClr val="tx1"/>
                </a:solidFill>
              </a:rPr>
              <a:t>算法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最短路径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946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18770"/>
            <a:ext cx="4347845" cy="93916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>
                <a:sym typeface="+mn-ea"/>
              </a:rPr>
              <a:t>问题描述</a:t>
            </a:r>
          </a:p>
        </p:txBody>
      </p:sp>
      <p:sp>
        <p:nvSpPr>
          <p:cNvPr id="9789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给定：连通有向图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及其中的顶点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找到：从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的最短路径及其长度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旅游者：最经济的出行路线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路由器：最快地将数据包传送到目标位置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路径规划：多边形环境中的自主机器人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......</a:t>
            </a:r>
          </a:p>
        </p:txBody>
      </p:sp>
      <p:pic>
        <p:nvPicPr>
          <p:cNvPr id="6149" name="Picture 5" descr="shortest-path-e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198" y="2045970"/>
            <a:ext cx="3238500" cy="2344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0" name="Picture 6" descr="未标题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750" y="4131310"/>
            <a:ext cx="2731135" cy="20459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最短路径问题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无权图的最短路径问题</a:t>
            </a:r>
            <a:endParaRPr lang="en-US" altLang="zh-CN"/>
          </a:p>
          <a:p>
            <a:pPr lvl="1"/>
            <a:r>
              <a:rPr lang="zh-CN" altLang="en-US"/>
              <a:t>比较简单，即两点之间边数最少的路径</a:t>
            </a:r>
            <a:r>
              <a:rPr lang="en-US" altLang="zh-CN"/>
              <a:t>(BFS)</a:t>
            </a:r>
          </a:p>
          <a:p>
            <a:r>
              <a:rPr lang="zh-CN" altLang="en-US">
                <a:solidFill>
                  <a:srgbClr val="0000CC"/>
                </a:solidFill>
              </a:rPr>
              <a:t>有向带权图</a:t>
            </a:r>
            <a:r>
              <a:rPr lang="zh-CN" altLang="en-US"/>
              <a:t>的最短路径问题</a:t>
            </a:r>
            <a:endParaRPr lang="en-US" altLang="zh-CN"/>
          </a:p>
          <a:p>
            <a:pPr lvl="1"/>
            <a:r>
              <a:rPr lang="zh-CN" altLang="en-US"/>
              <a:t>可理解为两地间交通费用最少问题</a:t>
            </a:r>
            <a:endParaRPr lang="en-US" altLang="zh-CN"/>
          </a:p>
          <a:p>
            <a:pPr lvl="1"/>
            <a:r>
              <a:rPr lang="zh-CN" altLang="en-US"/>
              <a:t>分为单源最短路径、每对点最短路径两类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5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单源最短路径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有向图</a:t>
            </a:r>
            <a:r>
              <a:rPr lang="en-US" altLang="zh-CN"/>
              <a:t>G</a:t>
            </a:r>
            <a:r>
              <a:rPr lang="zh-CN" altLang="en-US"/>
              <a:t>，每条边都有非负权重（耗费）</a:t>
            </a:r>
          </a:p>
          <a:p>
            <a:r>
              <a:rPr lang="zh-CN" altLang="en-US"/>
              <a:t>路径长度</a:t>
            </a:r>
            <a:r>
              <a:rPr lang="en-US" altLang="zh-CN"/>
              <a:t>——</a:t>
            </a:r>
            <a:r>
              <a:rPr lang="zh-CN" altLang="en-US"/>
              <a:t>路径中边的权重之和</a:t>
            </a:r>
          </a:p>
          <a:p>
            <a:r>
              <a:rPr lang="zh-CN" altLang="en-US"/>
              <a:t>单源最短路径：给定源顶点</a:t>
            </a:r>
            <a:r>
              <a:rPr lang="en-US" altLang="zh-CN"/>
              <a:t>s</a:t>
            </a:r>
            <a:r>
              <a:rPr lang="zh-CN" altLang="en-US"/>
              <a:t>，求它到其他任意顶点（目的顶点）的最短路径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6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>
                <a:sym typeface="+mn-ea"/>
              </a:rPr>
              <a:t>E. W. Dijkstra</a:t>
            </a:r>
          </a:p>
        </p:txBody>
      </p:sp>
      <p:sp>
        <p:nvSpPr>
          <p:cNvPr id="9625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Turing Award, 1972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196" name="Picture 5" descr="dijkst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13" y="2308225"/>
            <a:ext cx="3136900" cy="3136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Picture 7" descr="Edsger_Wybe_Dijkstr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450" y="2044700"/>
            <a:ext cx="2508250" cy="3689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6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连通图中，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到每个顶点都有（至少）一条最短路径</a:t>
            </a: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就同一起点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而言，任何最短路径的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前缀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，也是一条最短路径</a:t>
            </a: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就同一起点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而言，所有最短路径的并，不含回路</a:t>
            </a:r>
          </a:p>
        </p:txBody>
      </p:sp>
      <p:sp>
        <p:nvSpPr>
          <p:cNvPr id="1053709" name="Oval 13"/>
          <p:cNvSpPr>
            <a:spLocks noChangeArrowheads="1"/>
          </p:cNvSpPr>
          <p:nvPr/>
        </p:nvSpPr>
        <p:spPr bwMode="auto">
          <a:xfrm>
            <a:off x="468313" y="49418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53710" name="Oval 14"/>
          <p:cNvSpPr>
            <a:spLocks noChangeArrowheads="1"/>
          </p:cNvSpPr>
          <p:nvPr/>
        </p:nvSpPr>
        <p:spPr bwMode="auto">
          <a:xfrm flipH="1">
            <a:off x="1577975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1" name="Oval 15"/>
          <p:cNvSpPr>
            <a:spLocks noChangeArrowheads="1"/>
          </p:cNvSpPr>
          <p:nvPr/>
        </p:nvSpPr>
        <p:spPr bwMode="auto">
          <a:xfrm flipH="1">
            <a:off x="2628900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2" name="Oval 16"/>
          <p:cNvSpPr>
            <a:spLocks noChangeArrowheads="1"/>
          </p:cNvSpPr>
          <p:nvPr/>
        </p:nvSpPr>
        <p:spPr bwMode="auto">
          <a:xfrm flipH="1">
            <a:off x="4787900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3" name="Oval 17"/>
          <p:cNvSpPr>
            <a:spLocks noChangeArrowheads="1"/>
          </p:cNvSpPr>
          <p:nvPr/>
        </p:nvSpPr>
        <p:spPr bwMode="auto">
          <a:xfrm flipH="1">
            <a:off x="5868988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4" name="Oval 18"/>
          <p:cNvSpPr>
            <a:spLocks noChangeArrowheads="1"/>
          </p:cNvSpPr>
          <p:nvPr/>
        </p:nvSpPr>
        <p:spPr bwMode="auto">
          <a:xfrm flipH="1">
            <a:off x="7308850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5" name="Oval 19"/>
          <p:cNvSpPr>
            <a:spLocks noChangeArrowheads="1"/>
          </p:cNvSpPr>
          <p:nvPr/>
        </p:nvSpPr>
        <p:spPr bwMode="auto">
          <a:xfrm flipH="1">
            <a:off x="8389938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 useBgFill="1">
        <p:nvSpPr>
          <p:cNvPr id="1053716" name="Oval 20"/>
          <p:cNvSpPr/>
          <p:nvPr/>
        </p:nvSpPr>
        <p:spPr>
          <a:xfrm>
            <a:off x="4427538" y="60213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endParaRPr lang="en-US" altLang="zh-CN" sz="18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53717" name="AutoShape 21"/>
          <p:cNvSpPr/>
          <p:nvPr/>
        </p:nvSpPr>
        <p:spPr>
          <a:xfrm rot="16200000">
            <a:off x="4427538" y="1965325"/>
            <a:ext cx="288925" cy="7921625"/>
          </a:xfrm>
          <a:prstGeom prst="leftBrace">
            <a:avLst>
              <a:gd name="adj1" fmla="val 228479"/>
              <a:gd name="adj2" fmla="val 50000"/>
            </a:avLst>
          </a:prstGeom>
          <a:noFill/>
          <a:ln w="28575" cap="flat" cmpd="sng">
            <a:solidFill>
              <a:srgbClr val="272727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18000" rIns="0" bIns="18000" anchor="ctr"/>
          <a:lstStyle/>
          <a:p>
            <a:endParaRPr lang="zh-CN" altLang="en-US" dirty="0">
              <a:latin typeface="Calibri" panose="020F0502020204030204" charset="0"/>
            </a:endParaRPr>
          </a:p>
        </p:txBody>
      </p:sp>
      <p:sp useBgFill="1">
        <p:nvSpPr>
          <p:cNvPr id="1053718" name="Oval 22"/>
          <p:cNvSpPr/>
          <p:nvPr/>
        </p:nvSpPr>
        <p:spPr>
          <a:xfrm>
            <a:off x="2628900" y="55419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</a:p>
        </p:txBody>
      </p:sp>
      <p:sp>
        <p:nvSpPr>
          <p:cNvPr id="1053719" name="AutoShape 23"/>
          <p:cNvSpPr/>
          <p:nvPr/>
        </p:nvSpPr>
        <p:spPr>
          <a:xfrm rot="16200000">
            <a:off x="2627313" y="3286125"/>
            <a:ext cx="288925" cy="4321175"/>
          </a:xfrm>
          <a:prstGeom prst="leftBrace">
            <a:avLst>
              <a:gd name="adj1" fmla="val 124633"/>
              <a:gd name="adj2" fmla="val 50000"/>
            </a:avLst>
          </a:prstGeom>
          <a:noFill/>
          <a:ln w="28575" cap="flat" cmpd="sng">
            <a:solidFill>
              <a:srgbClr val="272727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18000" rIns="0" bIns="18000" anchor="ctr"/>
          <a:lstStyle/>
          <a:p>
            <a:endParaRPr lang="zh-CN" altLang="en-US" dirty="0">
              <a:latin typeface="Calibri" panose="020F0502020204030204" charset="0"/>
            </a:endParaRPr>
          </a:p>
        </p:txBody>
      </p:sp>
      <p:cxnSp>
        <p:nvCxnSpPr>
          <p:cNvPr id="1053720" name="AutoShape 24"/>
          <p:cNvCxnSpPr>
            <a:stCxn id="1053709" idx="0"/>
            <a:endCxn id="1053712" idx="0"/>
          </p:cNvCxnSpPr>
          <p:nvPr/>
        </p:nvCxnSpPr>
        <p:spPr>
          <a:xfrm rot="5400000" flipV="1">
            <a:off x="2771775" y="2768600"/>
            <a:ext cx="1588" cy="4319588"/>
          </a:xfrm>
          <a:prstGeom prst="curvedConnector3">
            <a:avLst>
              <a:gd name="adj1" fmla="val -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3721" name="Oval 25"/>
          <p:cNvSpPr/>
          <p:nvPr/>
        </p:nvSpPr>
        <p:spPr>
          <a:xfrm>
            <a:off x="1908175" y="4367213"/>
            <a:ext cx="1727200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: || </a:t>
            </a:r>
            <a:r>
              <a:rPr lang="zh-CN" altLang="en-US" sz="1800" b="1" dirty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18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||</a:t>
            </a:r>
          </a:p>
        </p:txBody>
      </p:sp>
      <p:cxnSp>
        <p:nvCxnSpPr>
          <p:cNvPr id="1053722" name="AutoShape 26"/>
          <p:cNvCxnSpPr>
            <a:stCxn id="1053710" idx="6"/>
            <a:endCxn id="1053709" idx="6"/>
          </p:cNvCxnSpPr>
          <p:nvPr/>
        </p:nvCxnSpPr>
        <p:spPr>
          <a:xfrm rot="10800000">
            <a:off x="769938" y="5086350"/>
            <a:ext cx="79533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1053723" name="AutoShape 27"/>
          <p:cNvCxnSpPr>
            <a:stCxn id="1053711" idx="6"/>
            <a:endCxn id="1053710" idx="2"/>
          </p:cNvCxnSpPr>
          <p:nvPr/>
        </p:nvCxnSpPr>
        <p:spPr>
          <a:xfrm rot="10800000">
            <a:off x="1881188" y="5086350"/>
            <a:ext cx="73501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1053724" name="AutoShape 28"/>
          <p:cNvCxnSpPr>
            <a:stCxn id="1053712" idx="6"/>
            <a:endCxn id="1053711" idx="2"/>
          </p:cNvCxnSpPr>
          <p:nvPr/>
        </p:nvCxnSpPr>
        <p:spPr>
          <a:xfrm rot="10800000">
            <a:off x="2932113" y="5086350"/>
            <a:ext cx="18430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dash"/>
            <a:headEnd type="triangle" w="med" len="med"/>
            <a:tailEnd type="none" w="med" len="med"/>
          </a:ln>
        </p:spPr>
      </p:cxnSp>
      <p:cxnSp>
        <p:nvCxnSpPr>
          <p:cNvPr id="1053725" name="AutoShape 29"/>
          <p:cNvCxnSpPr>
            <a:stCxn id="1053713" idx="6"/>
            <a:endCxn id="1053712" idx="2"/>
          </p:cNvCxnSpPr>
          <p:nvPr/>
        </p:nvCxnSpPr>
        <p:spPr>
          <a:xfrm rot="10800000">
            <a:off x="5091113" y="5086350"/>
            <a:ext cx="7651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1053726" name="AutoShape 30"/>
          <p:cNvCxnSpPr>
            <a:stCxn id="1053715" idx="6"/>
            <a:endCxn id="1053714" idx="2"/>
          </p:cNvCxnSpPr>
          <p:nvPr/>
        </p:nvCxnSpPr>
        <p:spPr>
          <a:xfrm rot="10800000">
            <a:off x="7612063" y="5086350"/>
            <a:ext cx="7651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1053727" name="AutoShape 31"/>
          <p:cNvCxnSpPr>
            <a:stCxn id="1053714" idx="6"/>
            <a:endCxn id="1053713" idx="2"/>
          </p:cNvCxnSpPr>
          <p:nvPr/>
        </p:nvCxnSpPr>
        <p:spPr>
          <a:xfrm rot="10800000">
            <a:off x="6172200" y="5086350"/>
            <a:ext cx="112395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dash"/>
            <a:headEnd type="triangle" w="med" len="med"/>
            <a:tailEnd type="none" w="med" len="med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单源最短路径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537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0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537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537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537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537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537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537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537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0537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0537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0537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6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10537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10537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0537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300" fill="hold"/>
                                        <p:tgtEl>
                                          <p:spTgt spid="10537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7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10537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10537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0537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0537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8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537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0537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0537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" dur="300" fill="hold"/>
                                        <p:tgtEl>
                                          <p:spTgt spid="10537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9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10537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300" fill="hold"/>
                                        <p:tgtEl>
                                          <p:spTgt spid="1053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300" fill="hold"/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900"/>
                                        <p:tgtEl>
                                          <p:spTgt spid="105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0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10537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300" fill="hold"/>
                                        <p:tgtEl>
                                          <p:spTgt spid="1053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900"/>
                                        <p:tgtEl>
                                          <p:spTgt spid="105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1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10537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10537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0537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900"/>
                                        <p:tgtEl>
                                          <p:spTgt spid="105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2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0537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0537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537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900"/>
                                        <p:tgtEl>
                                          <p:spTgt spid="105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3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10537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10537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0537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900"/>
                                        <p:tgtEl>
                                          <p:spTgt spid="105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4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0537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0537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0537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900"/>
                                        <p:tgtEl>
                                          <p:spTgt spid="105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537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0537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0537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900"/>
                                        <p:tgtEl>
                                          <p:spTgt spid="105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6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10537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10537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10537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900"/>
                                        <p:tgtEl>
                                          <p:spTgt spid="1053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7"/>
                  </p:tgtEl>
                </p:cond>
              </p:nextCondLst>
            </p:seq>
          </p:childTnLst>
        </p:cTn>
      </p:par>
    </p:tnLst>
    <p:bldLst>
      <p:bldP spid="1053709" grpId="0" bldLvl="0" animBg="1"/>
      <p:bldP spid="1053709" grpId="1" bldLvl="0" animBg="1"/>
      <p:bldP spid="1053709" grpId="2" bldLvl="0" animBg="1"/>
      <p:bldP spid="1053710" grpId="0" bldLvl="0" animBg="1"/>
      <p:bldP spid="1053711" grpId="0" bldLvl="0" animBg="1"/>
      <p:bldP spid="1053712" grpId="0" bldLvl="0" animBg="1"/>
      <p:bldP spid="1053713" grpId="0" bldLvl="0" animBg="1"/>
      <p:bldP spid="1053714" grpId="0" bldLvl="0" animBg="1"/>
      <p:bldP spid="1053715" grpId="0" bldLvl="0" animBg="1"/>
      <p:bldP spid="1053716" grpId="0" animBg="1"/>
      <p:bldP spid="1053716" grpId="1" animBg="1"/>
      <p:bldP spid="1053718" grpId="0" animBg="1"/>
      <p:bldP spid="1053718" grpId="1" animBg="1"/>
      <p:bldP spid="1053721" grpId="0" animBg="1"/>
      <p:bldP spid="105372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单源最短路径例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5604" name="Picture 4" descr="short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75" y="2023745"/>
            <a:ext cx="703897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9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Dijkstra</a:t>
            </a:r>
            <a:r>
              <a:rPr lang="zh-CN" altLang="en-US"/>
              <a:t>算法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S</a:t>
            </a:r>
            <a:r>
              <a:rPr lang="zh-CN" altLang="en-US"/>
              <a:t>：“已求出最短路径顶点集合”，初始为</a:t>
            </a:r>
            <a:r>
              <a:rPr lang="en-US" altLang="zh-CN"/>
              <a:t>{s}</a:t>
            </a:r>
          </a:p>
          <a:p>
            <a:r>
              <a:rPr lang="en-US" altLang="zh-CN"/>
              <a:t>L=V - S</a:t>
            </a:r>
          </a:p>
          <a:p>
            <a:r>
              <a:rPr lang="zh-CN" altLang="en-US"/>
              <a:t>每个步骤从</a:t>
            </a:r>
            <a:r>
              <a:rPr lang="en-US" altLang="zh-CN"/>
              <a:t>L</a:t>
            </a:r>
            <a:r>
              <a:rPr lang="zh-CN" altLang="en-US"/>
              <a:t>选取一个顶点</a:t>
            </a:r>
            <a:r>
              <a:rPr lang="en-US" altLang="zh-CN"/>
              <a:t>v</a:t>
            </a:r>
            <a:r>
              <a:rPr lang="zh-CN" altLang="en-US"/>
              <a:t>加入</a:t>
            </a:r>
            <a:r>
              <a:rPr lang="en-US" altLang="zh-CN"/>
              <a:t>S</a:t>
            </a:r>
          </a:p>
          <a:p>
            <a:r>
              <a:rPr lang="zh-CN" altLang="en-US"/>
              <a:t>贪心准则：</a:t>
            </a:r>
            <a:r>
              <a:rPr lang="en-US" altLang="zh-CN"/>
              <a:t>v</a:t>
            </a:r>
            <a:r>
              <a:rPr lang="zh-CN" altLang="en-US"/>
              <a:t>是</a:t>
            </a:r>
            <a:r>
              <a:rPr lang="en-US" altLang="zh-CN"/>
              <a:t>L</a:t>
            </a:r>
            <a:r>
              <a:rPr lang="zh-CN" altLang="en-US"/>
              <a:t>中距</a:t>
            </a:r>
            <a:r>
              <a:rPr lang="en-US" altLang="zh-CN"/>
              <a:t>s</a:t>
            </a:r>
            <a:r>
              <a:rPr lang="zh-CN" altLang="en-US"/>
              <a:t>距离最短者</a:t>
            </a:r>
          </a:p>
          <a:p>
            <a:r>
              <a:rPr lang="zh-CN" altLang="en-US"/>
              <a:t>新最短路径</a:t>
            </a:r>
            <a:r>
              <a:rPr lang="en-US" altLang="zh-CN">
                <a:sym typeface="Wingdings" panose="05000000000000000000" pitchFamily="2" charset="2"/>
              </a:rPr>
              <a:t>=</a:t>
            </a:r>
            <a:r>
              <a:rPr lang="zh-CN" altLang="en-US">
                <a:sym typeface="Wingdings" panose="05000000000000000000" pitchFamily="2" charset="2"/>
              </a:rPr>
              <a:t>已有最短路径</a:t>
            </a:r>
            <a:r>
              <a:rPr lang="en-US" altLang="zh-CN">
                <a:sym typeface="Wingdings" panose="05000000000000000000" pitchFamily="2" charset="2"/>
              </a:rPr>
              <a:t>+</a:t>
            </a:r>
            <a:r>
              <a:rPr lang="zh-CN" altLang="en-US">
                <a:sym typeface="Wingdings" panose="05000000000000000000" pitchFamily="2" charset="2"/>
              </a:rPr>
              <a:t>一条边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每个顶点无需保存其完整路径，保存路径中它的前一顶点即可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10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实现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数组</a:t>
            </a:r>
            <a:r>
              <a:rPr lang="en-US" altLang="zh-CN"/>
              <a:t>p</a:t>
            </a:r>
            <a:r>
              <a:rPr lang="zh-CN" altLang="en-US"/>
              <a:t>：保存路径（上例：</a:t>
            </a:r>
            <a:r>
              <a:rPr lang="en-US" altLang="zh-CN"/>
              <a:t>[0, 1, 1, 3, 4]</a:t>
            </a:r>
            <a:r>
              <a:rPr lang="zh-CN" altLang="en-US"/>
              <a:t>）</a:t>
            </a:r>
          </a:p>
          <a:p>
            <a:pPr lvl="1"/>
            <a:r>
              <a:rPr lang="en-US" altLang="zh-CN"/>
              <a:t>p[i]</a:t>
            </a:r>
            <a:r>
              <a:rPr lang="zh-CN" altLang="en-US"/>
              <a:t>：最短路径中顶点</a:t>
            </a:r>
            <a:r>
              <a:rPr lang="en-US" altLang="zh-CN"/>
              <a:t>i</a:t>
            </a:r>
            <a:r>
              <a:rPr lang="zh-CN" altLang="en-US"/>
              <a:t>的前驱顶点</a:t>
            </a:r>
          </a:p>
          <a:p>
            <a:pPr lvl="1"/>
            <a:r>
              <a:rPr lang="zh-CN" altLang="en-US"/>
              <a:t>从终点开始，逆向即可获取路径</a:t>
            </a:r>
          </a:p>
          <a:p>
            <a:r>
              <a:rPr lang="zh-CN" altLang="en-US"/>
              <a:t>数组</a:t>
            </a:r>
            <a:r>
              <a:rPr lang="en-US" altLang="zh-CN"/>
              <a:t>d</a:t>
            </a:r>
            <a:r>
              <a:rPr lang="zh-CN" altLang="en-US"/>
              <a:t>：当前最短路径长度</a:t>
            </a:r>
          </a:p>
          <a:p>
            <a:pPr lvl="1"/>
            <a:r>
              <a:rPr lang="en-US" altLang="zh-CN"/>
              <a:t>i</a:t>
            </a:r>
            <a:r>
              <a:rPr lang="zh-CN" altLang="en-US"/>
              <a:t>在</a:t>
            </a:r>
            <a:r>
              <a:rPr lang="en-US" altLang="zh-CN"/>
              <a:t>S</a:t>
            </a:r>
            <a:r>
              <a:rPr lang="zh-CN" altLang="en-US"/>
              <a:t>中，</a:t>
            </a:r>
            <a:r>
              <a:rPr lang="en-US" altLang="zh-CN"/>
              <a:t>d[i]</a:t>
            </a:r>
            <a:r>
              <a:rPr lang="zh-CN" altLang="en-US"/>
              <a:t>：</a:t>
            </a:r>
            <a:r>
              <a:rPr lang="en-US" altLang="zh-CN"/>
              <a:t>s</a:t>
            </a:r>
            <a:r>
              <a:rPr lang="en-US" altLang="zh-CN">
                <a:sym typeface="Wingdings" panose="05000000000000000000" pitchFamily="2" charset="2"/>
              </a:rPr>
              <a:t>i</a:t>
            </a:r>
            <a:r>
              <a:rPr lang="zh-CN" altLang="en-US">
                <a:sym typeface="Wingdings" panose="05000000000000000000" pitchFamily="2" charset="2"/>
              </a:rPr>
              <a:t>的真正最短路径长度（最终结果）</a:t>
            </a: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i</a:t>
            </a:r>
            <a:r>
              <a:rPr lang="zh-CN" altLang="en-US">
                <a:sym typeface="Wingdings" panose="05000000000000000000" pitchFamily="2" charset="2"/>
              </a:rPr>
              <a:t>在</a:t>
            </a:r>
            <a:r>
              <a:rPr lang="en-US" altLang="zh-CN">
                <a:sym typeface="Wingdings" panose="05000000000000000000" pitchFamily="2" charset="2"/>
              </a:rPr>
              <a:t>L</a:t>
            </a:r>
            <a:r>
              <a:rPr lang="zh-CN" altLang="en-US">
                <a:sym typeface="Wingdings" panose="05000000000000000000" pitchFamily="2" charset="2"/>
              </a:rPr>
              <a:t>中，</a:t>
            </a:r>
            <a:r>
              <a:rPr lang="en-US" altLang="zh-CN">
                <a:sym typeface="Wingdings" panose="05000000000000000000" pitchFamily="2" charset="2"/>
              </a:rPr>
              <a:t>d[i]</a:t>
            </a:r>
            <a:r>
              <a:rPr lang="zh-CN" altLang="en-US">
                <a:sym typeface="Wingdings" panose="05000000000000000000" pitchFamily="2" charset="2"/>
              </a:rPr>
              <a:t>：当前最短路径长度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sj(</a:t>
            </a:r>
            <a:r>
              <a:rPr lang="en-US" altLang="zh-CN">
                <a:latin typeface="宋体" panose="02010600030101010101" pitchFamily="2" charset="-122"/>
                <a:sym typeface="Wingdings" panose="05000000000000000000" pitchFamily="2" charset="2"/>
              </a:rPr>
              <a:t>∈</a:t>
            </a:r>
            <a:r>
              <a:rPr lang="en-US" altLang="zh-CN">
                <a:sym typeface="Wingdings" panose="05000000000000000000" pitchFamily="2" charset="2"/>
              </a:rPr>
              <a:t>S)i</a:t>
            </a:r>
            <a:r>
              <a:rPr lang="zh-CN" altLang="en-US">
                <a:sym typeface="Wingdings" panose="05000000000000000000" pitchFamily="2" charset="2"/>
              </a:rPr>
              <a:t>的路径长度（最短者）：</a:t>
            </a:r>
            <a:r>
              <a:rPr lang="en-US" altLang="zh-CN">
                <a:sym typeface="Wingdings" panose="05000000000000000000" pitchFamily="2" charset="2"/>
              </a:rPr>
              <a:t>d[j]+a[j][i] </a:t>
            </a:r>
          </a:p>
          <a:p>
            <a:pPr lvl="1"/>
            <a:r>
              <a:rPr lang="zh-CN" altLang="en-US">
                <a:sym typeface="Wingdings" panose="05000000000000000000" pitchFamily="2" charset="2"/>
              </a:rPr>
              <a:t>从</a:t>
            </a:r>
            <a:r>
              <a:rPr lang="en-US" altLang="zh-CN">
                <a:sym typeface="Wingdings" panose="05000000000000000000" pitchFamily="2" charset="2"/>
              </a:rPr>
              <a:t>L</a:t>
            </a:r>
            <a:r>
              <a:rPr lang="zh-CN" altLang="en-US">
                <a:sym typeface="Wingdings" panose="05000000000000000000" pitchFamily="2" charset="2"/>
              </a:rPr>
              <a:t>中选择</a:t>
            </a:r>
            <a:r>
              <a:rPr lang="en-US" altLang="zh-CN">
                <a:sym typeface="Wingdings" panose="05000000000000000000" pitchFamily="2" charset="2"/>
              </a:rPr>
              <a:t>v</a:t>
            </a:r>
            <a:r>
              <a:rPr lang="zh-CN" altLang="en-US">
                <a:sym typeface="Wingdings" panose="05000000000000000000" pitchFamily="2" charset="2"/>
              </a:rPr>
              <a:t>加入</a:t>
            </a:r>
            <a:r>
              <a:rPr lang="en-US" altLang="zh-CN">
                <a:sym typeface="Wingdings" panose="05000000000000000000" pitchFamily="2" charset="2"/>
              </a:rPr>
              <a:t>S</a:t>
            </a:r>
            <a:r>
              <a:rPr lang="zh-CN" altLang="en-US">
                <a:sym typeface="Wingdings" panose="05000000000000000000" pitchFamily="2" charset="2"/>
              </a:rPr>
              <a:t>后，</a:t>
            </a:r>
            <a:r>
              <a:rPr lang="en-US" altLang="zh-CN">
                <a:sym typeface="Wingdings" panose="05000000000000000000" pitchFamily="2" charset="2"/>
              </a:rPr>
              <a:t>S</a:t>
            </a:r>
            <a:r>
              <a:rPr lang="zh-CN" altLang="en-US">
                <a:sym typeface="Wingdings" panose="05000000000000000000" pitchFamily="2" charset="2"/>
              </a:rPr>
              <a:t>发生变化，</a:t>
            </a:r>
            <a:r>
              <a:rPr lang="en-US" altLang="zh-CN">
                <a:sym typeface="Wingdings" panose="05000000000000000000" pitchFamily="2" charset="2"/>
              </a:rPr>
              <a:t>L</a:t>
            </a:r>
            <a:r>
              <a:rPr lang="zh-CN" altLang="en-US">
                <a:sym typeface="Wingdings" panose="05000000000000000000" pitchFamily="2" charset="2"/>
              </a:rPr>
              <a:t>中的</a:t>
            </a:r>
            <a:r>
              <a:rPr lang="en-US" altLang="zh-CN">
                <a:sym typeface="Wingdings" panose="05000000000000000000" pitchFamily="2" charset="2"/>
              </a:rPr>
              <a:t>d[i]</a:t>
            </a:r>
            <a:r>
              <a:rPr lang="zh-CN" altLang="en-US">
                <a:sym typeface="Wingdings" panose="05000000000000000000" pitchFamily="2" charset="2"/>
              </a:rPr>
              <a:t>可能变得更小，应进行更新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11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运算实例：解题形式</a:t>
            </a:r>
            <a:r>
              <a:rPr lang="en-US" altLang="zh-CN"/>
              <a:t>1</a:t>
            </a:r>
            <a:endParaRPr lang="zh-CN" altLang="en-US"/>
          </a:p>
        </p:txBody>
      </p:sp>
      <p:pic>
        <p:nvPicPr>
          <p:cNvPr id="28675" name="Picture 4" descr="short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3468688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4549" name="Text Box 5"/>
          <p:cNvSpPr txBox="1">
            <a:spLocks noChangeArrowheads="1"/>
          </p:cNvSpPr>
          <p:nvPr/>
        </p:nvSpPr>
        <p:spPr bwMode="ltGray">
          <a:xfrm>
            <a:off x="6280150" y="1219200"/>
            <a:ext cx="2730500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d={0, 4,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dirty="0">
                <a:solidFill>
                  <a:srgbClr val="0000CC"/>
                </a:solidFill>
                <a:latin typeface="宋体" panose="02010600030101010101" pitchFamily="2" charset="-122"/>
              </a:rPr>
              <a:t>∞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8}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p={0, 1, 1, 0, 1}</a:t>
            </a:r>
          </a:p>
        </p:txBody>
      </p:sp>
      <p:sp>
        <p:nvSpPr>
          <p:cNvPr id="1644550" name="Text Box 6"/>
          <p:cNvSpPr txBox="1">
            <a:spLocks noChangeArrowheads="1"/>
          </p:cNvSpPr>
          <p:nvPr/>
        </p:nvSpPr>
        <p:spPr bwMode="ltGray">
          <a:xfrm>
            <a:off x="6280150" y="2205038"/>
            <a:ext cx="2432050" cy="101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d={0, 4,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8} 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p={0, 1, 1, 3, 1}</a:t>
            </a:r>
            <a:endParaRPr lang="en-US" altLang="zh-CN" sz="20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1644551" name="Text Box 7"/>
          <p:cNvSpPr txBox="1">
            <a:spLocks noChangeArrowheads="1"/>
          </p:cNvSpPr>
          <p:nvPr/>
        </p:nvSpPr>
        <p:spPr bwMode="ltGray">
          <a:xfrm>
            <a:off x="6280150" y="3200400"/>
            <a:ext cx="2252663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d={0,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} 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p={0, 1, 1, 3, 4}</a:t>
            </a:r>
          </a:p>
        </p:txBody>
      </p:sp>
      <p:sp>
        <p:nvSpPr>
          <p:cNvPr id="1644552" name="Text Box 8"/>
          <p:cNvSpPr txBox="1">
            <a:spLocks noChangeArrowheads="1"/>
          </p:cNvSpPr>
          <p:nvPr/>
        </p:nvSpPr>
        <p:spPr bwMode="ltGray">
          <a:xfrm>
            <a:off x="6280150" y="4298950"/>
            <a:ext cx="2252663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d={0,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6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} 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p={0, 1, 1, 3, 4}</a:t>
            </a:r>
          </a:p>
        </p:txBody>
      </p:sp>
      <p:sp>
        <p:nvSpPr>
          <p:cNvPr id="1644553" name="Text Box 9"/>
          <p:cNvSpPr txBox="1">
            <a:spLocks noChangeArrowheads="1"/>
          </p:cNvSpPr>
          <p:nvPr/>
        </p:nvSpPr>
        <p:spPr bwMode="ltGray">
          <a:xfrm>
            <a:off x="6280150" y="5426075"/>
            <a:ext cx="2071688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0000CC"/>
                </a:solidFill>
              </a:rPr>
              <a:t>      1  2  3  4   5</a:t>
            </a:r>
            <a:br>
              <a:rPr lang="en-US" altLang="zh-CN" sz="2000">
                <a:solidFill>
                  <a:srgbClr val="0000CC"/>
                </a:solidFill>
              </a:rPr>
            </a:br>
            <a:r>
              <a:rPr lang="en-US" altLang="zh-CN" sz="2000">
                <a:solidFill>
                  <a:srgbClr val="0000CC"/>
                </a:solidFill>
              </a:rPr>
              <a:t>d={0, 4, 2, 3, 6} </a:t>
            </a:r>
            <a:br>
              <a:rPr lang="en-US" altLang="zh-CN" sz="2000">
                <a:solidFill>
                  <a:srgbClr val="0000CC"/>
                </a:solidFill>
              </a:rPr>
            </a:br>
            <a:r>
              <a:rPr lang="en-US" altLang="zh-CN" sz="2000">
                <a:solidFill>
                  <a:srgbClr val="0000CC"/>
                </a:solidFill>
                <a:sym typeface="Wingdings" panose="05000000000000000000" pitchFamily="2" charset="2"/>
              </a:rPr>
              <a:t>p={0, 1, 1, 3, 4}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851275" y="1628775"/>
            <a:ext cx="2341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S={1}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851275" y="2519363"/>
            <a:ext cx="2341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S={1, 3}, 1</a:t>
            </a:r>
            <a:r>
              <a:rPr lang="en-US" altLang="zh-CN" b="1">
                <a:solidFill>
                  <a:srgbClr val="FF0000"/>
                </a:solidFill>
                <a:sym typeface="Wingdings" panose="05000000000000000000" pitchFamily="2" charset="2"/>
              </a:rPr>
              <a:t>3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851275" y="3600450"/>
            <a:ext cx="2341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S={1, 3, 4}, 1</a:t>
            </a:r>
            <a:r>
              <a:rPr lang="en-US" altLang="zh-CN" b="1">
                <a:solidFill>
                  <a:srgbClr val="FF0000"/>
                </a:solidFill>
                <a:sym typeface="Wingdings" panose="05000000000000000000" pitchFamily="2" charset="2"/>
              </a:rPr>
              <a:t>34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851275" y="4679950"/>
            <a:ext cx="2341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S={1, 3, 4, 2}, 1</a:t>
            </a:r>
            <a:r>
              <a:rPr lang="en-US" altLang="zh-CN" b="1">
                <a:solidFill>
                  <a:srgbClr val="FF0000"/>
                </a:solidFill>
                <a:sym typeface="Wingdings" panose="05000000000000000000" pitchFamily="2" charset="2"/>
              </a:rPr>
              <a:t>2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851275" y="5768975"/>
            <a:ext cx="23415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S={1, 3, 4, 2, 5}</a:t>
            </a:r>
          </a:p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1</a:t>
            </a:r>
            <a:r>
              <a:rPr lang="en-US" altLang="zh-CN" b="1">
                <a:solidFill>
                  <a:srgbClr val="FF0000"/>
                </a:solidFill>
                <a:sym typeface="Wingdings" panose="05000000000000000000" pitchFamily="2" charset="2"/>
              </a:rPr>
              <a:t>345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12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4549" grpId="0" autoUpdateAnimBg="0"/>
      <p:bldP spid="1644550" grpId="0" autoUpdateAnimBg="0"/>
      <p:bldP spid="1644551" grpId="0" autoUpdateAnimBg="0"/>
      <p:bldP spid="1644552" grpId="0" autoUpdateAnimBg="0"/>
      <p:bldP spid="1644553" grpId="0" autoUpdateAnimBg="0"/>
      <p:bldP spid="10" grpId="0"/>
      <p:bldP spid="11" grpId="0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运算实例</a:t>
            </a:r>
          </a:p>
        </p:txBody>
      </p:sp>
      <p:pic>
        <p:nvPicPr>
          <p:cNvPr id="2970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5475" y="1635125"/>
            <a:ext cx="3368675" cy="3600450"/>
          </a:xfrm>
          <a:noFill/>
        </p:spPr>
      </p:pic>
      <p:pic>
        <p:nvPicPr>
          <p:cNvPr id="29701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323" y="1628458"/>
            <a:ext cx="4557712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13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2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7513" y="1635125"/>
            <a:ext cx="3616325" cy="3587750"/>
          </a:xfrm>
          <a:noFill/>
        </p:spPr>
      </p:pic>
      <p:pic>
        <p:nvPicPr>
          <p:cNvPr id="30725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75" y="1622425"/>
            <a:ext cx="3890963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14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174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313" y="1625600"/>
            <a:ext cx="3922712" cy="3597275"/>
          </a:xfrm>
          <a:noFill/>
        </p:spPr>
      </p:pic>
      <p:pic>
        <p:nvPicPr>
          <p:cNvPr id="31749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35125"/>
            <a:ext cx="4260850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15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Dijkstra</a:t>
            </a:r>
            <a:r>
              <a:rPr lang="zh-CN" altLang="en-US"/>
              <a:t>算法伪代码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AutoNum type="arabicParenR"/>
            </a:pPr>
            <a:r>
              <a:rPr lang="zh-CN" altLang="en-US" sz="2400"/>
              <a:t>初始化</a:t>
            </a:r>
            <a:r>
              <a:rPr lang="en-US" altLang="zh-CN" sz="2400" i="1"/>
              <a:t>d</a:t>
            </a:r>
            <a:r>
              <a:rPr lang="en-US" altLang="zh-CN" sz="2400"/>
              <a:t>[</a:t>
            </a:r>
            <a:r>
              <a:rPr lang="en-US" altLang="zh-CN" sz="2400" i="1"/>
              <a:t>i</a:t>
            </a:r>
            <a:r>
              <a:rPr lang="en-US" altLang="zh-CN" sz="2400"/>
              <a:t>]=</a:t>
            </a:r>
            <a:r>
              <a:rPr lang="en-US" altLang="zh-CN" sz="2400" i="1"/>
              <a:t>a</a:t>
            </a:r>
            <a:r>
              <a:rPr lang="en-US" altLang="zh-CN" sz="2400"/>
              <a:t>[</a:t>
            </a:r>
            <a:r>
              <a:rPr lang="en-US" altLang="zh-CN" sz="2400" i="1"/>
              <a:t>s</a:t>
            </a:r>
            <a:r>
              <a:rPr lang="en-US" altLang="zh-CN" sz="2400"/>
              <a:t>][</a:t>
            </a:r>
            <a:r>
              <a:rPr lang="en-US" altLang="zh-CN" sz="2400" i="1"/>
              <a:t>i</a:t>
            </a:r>
            <a:r>
              <a:rPr lang="en-US" altLang="zh-CN" sz="2400"/>
              <a:t>]</a:t>
            </a:r>
            <a:r>
              <a:rPr lang="zh-CN" altLang="en-US" sz="2400"/>
              <a:t>（</a:t>
            </a:r>
            <a:r>
              <a:rPr lang="en-US" altLang="zh-CN" sz="2400"/>
              <a:t>1≤</a:t>
            </a:r>
            <a:r>
              <a:rPr lang="en-US" altLang="zh-CN" sz="2400" i="1"/>
              <a:t>i</a:t>
            </a:r>
            <a:r>
              <a:rPr lang="en-US" altLang="zh-CN" sz="2400"/>
              <a:t>≤</a:t>
            </a:r>
            <a:r>
              <a:rPr lang="en-US" altLang="zh-CN" sz="2400" i="1"/>
              <a:t>n</a:t>
            </a:r>
            <a:r>
              <a:rPr lang="zh-CN" altLang="en-US" sz="2400"/>
              <a:t>）</a:t>
            </a:r>
            <a:br>
              <a:rPr lang="zh-CN" altLang="en-US" sz="2400"/>
            </a:br>
            <a:r>
              <a:rPr lang="zh-CN" altLang="en-US" sz="2400"/>
              <a:t>对于邻接于</a:t>
            </a:r>
            <a:r>
              <a:rPr lang="en-US" altLang="zh-CN" sz="2400" i="1"/>
              <a:t>s</a:t>
            </a:r>
            <a:r>
              <a:rPr lang="zh-CN" altLang="en-US" sz="2400"/>
              <a:t>的所有顶点</a:t>
            </a:r>
            <a:r>
              <a:rPr lang="en-US" altLang="zh-CN" sz="2400" i="1"/>
              <a:t>i</a:t>
            </a:r>
            <a:r>
              <a:rPr lang="zh-CN" altLang="en-US" sz="2400"/>
              <a:t>，置</a:t>
            </a:r>
            <a:r>
              <a:rPr lang="en-US" altLang="zh-CN" sz="2400" i="1"/>
              <a:t>p</a:t>
            </a:r>
            <a:r>
              <a:rPr lang="en-US" altLang="zh-CN" sz="2400"/>
              <a:t>[</a:t>
            </a:r>
            <a:r>
              <a:rPr lang="en-US" altLang="zh-CN" sz="2400" i="1"/>
              <a:t>i</a:t>
            </a:r>
            <a:r>
              <a:rPr lang="en-US" altLang="zh-CN" sz="2400"/>
              <a:t>]=</a:t>
            </a:r>
            <a:r>
              <a:rPr lang="en-US" altLang="zh-CN" sz="2400" i="1"/>
              <a:t>s</a:t>
            </a:r>
            <a:r>
              <a:rPr lang="zh-CN" altLang="en-US" sz="2400"/>
              <a:t>，对于其余的顶点置</a:t>
            </a:r>
            <a:r>
              <a:rPr lang="en-US" altLang="zh-CN" sz="2400" i="1"/>
              <a:t>p</a:t>
            </a:r>
            <a:r>
              <a:rPr lang="en-US" altLang="zh-CN" sz="2400"/>
              <a:t>[</a:t>
            </a:r>
            <a:r>
              <a:rPr lang="en-US" altLang="zh-CN" sz="2400" i="1"/>
              <a:t>i</a:t>
            </a:r>
            <a:r>
              <a:rPr lang="en-US" altLang="zh-CN" sz="2400"/>
              <a:t>]=0</a:t>
            </a:r>
            <a:br>
              <a:rPr lang="en-US" altLang="zh-CN" sz="2400"/>
            </a:br>
            <a:r>
              <a:rPr lang="zh-CN" altLang="en-US" sz="2400"/>
              <a:t>对于</a:t>
            </a:r>
            <a:r>
              <a:rPr lang="en-US" altLang="zh-CN" sz="2400" i="1"/>
              <a:t>p</a:t>
            </a:r>
            <a:r>
              <a:rPr lang="en-US" altLang="zh-CN" sz="2400"/>
              <a:t>[</a:t>
            </a:r>
            <a:r>
              <a:rPr lang="en-US" altLang="zh-CN" sz="2400" i="1"/>
              <a:t>i</a:t>
            </a:r>
            <a:r>
              <a:rPr lang="en-US" altLang="zh-CN" sz="2400"/>
              <a:t>]</a:t>
            </a:r>
            <a:r>
              <a:rPr lang="en-US" altLang="zh-CN" sz="2400">
                <a:ea typeface="Arial Unicode MS" panose="020B0604020202020204" charset="-122"/>
                <a:cs typeface="Arial Unicode MS" panose="020B0604020202020204" charset="-122"/>
              </a:rPr>
              <a:t>≠</a:t>
            </a:r>
            <a:r>
              <a:rPr lang="en-US" altLang="zh-CN" sz="2400"/>
              <a:t>0</a:t>
            </a:r>
            <a:r>
              <a:rPr lang="zh-CN" altLang="en-US" sz="2400"/>
              <a:t>的所有顶点建立</a:t>
            </a:r>
            <a:r>
              <a:rPr lang="en-US" altLang="zh-CN" sz="2400" i="1"/>
              <a:t>L</a:t>
            </a:r>
            <a:r>
              <a:rPr lang="zh-CN" altLang="en-US" sz="2400"/>
              <a:t>表</a:t>
            </a:r>
          </a:p>
          <a:p>
            <a:pPr marL="533400" indent="-533400">
              <a:buFont typeface="Wingdings" panose="05000000000000000000" pitchFamily="2" charset="2"/>
              <a:buAutoNum type="arabicParenR"/>
            </a:pPr>
            <a:r>
              <a:rPr lang="zh-CN" altLang="en-US" sz="2400"/>
              <a:t>若</a:t>
            </a:r>
            <a:r>
              <a:rPr lang="en-US" altLang="zh-CN" sz="2400" i="1"/>
              <a:t>L</a:t>
            </a:r>
            <a:r>
              <a:rPr lang="zh-CN" altLang="en-US" sz="2400"/>
              <a:t>为空，终止，否则转至</a:t>
            </a:r>
            <a:r>
              <a:rPr lang="en-US" altLang="zh-CN" sz="2400"/>
              <a:t>3)</a:t>
            </a:r>
          </a:p>
          <a:p>
            <a:pPr marL="533400" indent="-533400">
              <a:buFont typeface="Wingdings" panose="05000000000000000000" pitchFamily="2" charset="2"/>
              <a:buAutoNum type="arabicParenR"/>
            </a:pPr>
            <a:r>
              <a:rPr lang="zh-CN" altLang="en-US" sz="2400"/>
              <a:t>从</a:t>
            </a:r>
            <a:r>
              <a:rPr lang="en-US" altLang="zh-CN" sz="2400" i="1"/>
              <a:t>L</a:t>
            </a:r>
            <a:r>
              <a:rPr lang="zh-CN" altLang="en-US" sz="2400"/>
              <a:t>中删除</a:t>
            </a:r>
            <a:r>
              <a:rPr lang="en-US" altLang="zh-CN" sz="2400" i="1"/>
              <a:t>d</a:t>
            </a:r>
            <a:r>
              <a:rPr lang="zh-CN" altLang="en-US" sz="2400"/>
              <a:t>值最小的顶点</a:t>
            </a:r>
          </a:p>
          <a:p>
            <a:pPr marL="533400" indent="-533400">
              <a:buFont typeface="Wingdings" panose="05000000000000000000" pitchFamily="2" charset="2"/>
              <a:buAutoNum type="arabicParenR"/>
            </a:pPr>
            <a:r>
              <a:rPr lang="zh-CN" altLang="en-US" sz="2400"/>
              <a:t>对于与</a:t>
            </a:r>
            <a:r>
              <a:rPr lang="en-US" altLang="zh-CN" sz="2400" i="1"/>
              <a:t>i</a:t>
            </a:r>
            <a:r>
              <a:rPr lang="zh-CN" altLang="en-US" sz="2400"/>
              <a:t>邻接的所有还未到达的顶点</a:t>
            </a:r>
            <a:r>
              <a:rPr lang="en-US" altLang="zh-CN" sz="2400" i="1"/>
              <a:t>j</a:t>
            </a:r>
            <a:r>
              <a:rPr lang="zh-CN" altLang="en-US" sz="2400"/>
              <a:t>，更新</a:t>
            </a:r>
            <a:r>
              <a:rPr lang="en-US" altLang="zh-CN" sz="2400" i="1"/>
              <a:t>d</a:t>
            </a:r>
            <a:r>
              <a:rPr lang="en-US" altLang="zh-CN" sz="2400"/>
              <a:t>[</a:t>
            </a:r>
            <a:r>
              <a:rPr lang="en-US" altLang="zh-CN" sz="2400" i="1"/>
              <a:t>j</a:t>
            </a:r>
            <a:r>
              <a:rPr lang="en-US" altLang="zh-CN" sz="2400"/>
              <a:t>]</a:t>
            </a:r>
            <a:r>
              <a:rPr lang="zh-CN" altLang="en-US" sz="2400"/>
              <a:t>值为</a:t>
            </a:r>
            <a:r>
              <a:rPr lang="en-US" altLang="zh-CN" sz="2400" i="1"/>
              <a:t>min</a:t>
            </a:r>
            <a:r>
              <a:rPr lang="en-US" altLang="zh-CN" sz="2400"/>
              <a:t>{</a:t>
            </a:r>
            <a:r>
              <a:rPr lang="en-US" altLang="zh-CN" sz="2400" i="1"/>
              <a:t>d</a:t>
            </a:r>
            <a:r>
              <a:rPr lang="en-US" altLang="zh-CN" sz="2400"/>
              <a:t>[</a:t>
            </a:r>
            <a:r>
              <a:rPr lang="en-US" altLang="zh-CN" sz="2400" i="1"/>
              <a:t>j</a:t>
            </a:r>
            <a:r>
              <a:rPr lang="en-US" altLang="zh-CN" sz="2400"/>
              <a:t>], </a:t>
            </a:r>
            <a:r>
              <a:rPr lang="en-US" altLang="zh-CN" sz="2400" i="1"/>
              <a:t>d</a:t>
            </a:r>
            <a:r>
              <a:rPr lang="en-US" altLang="zh-CN" sz="2400"/>
              <a:t>[</a:t>
            </a:r>
            <a:r>
              <a:rPr lang="en-US" altLang="zh-CN" sz="2400" i="1"/>
              <a:t>i</a:t>
            </a:r>
            <a:r>
              <a:rPr lang="en-US" altLang="zh-CN" sz="2400"/>
              <a:t>]+</a:t>
            </a:r>
            <a:r>
              <a:rPr lang="en-US" altLang="zh-CN" sz="2400" i="1"/>
              <a:t>a</a:t>
            </a:r>
            <a:r>
              <a:rPr lang="en-US" altLang="zh-CN" sz="2400"/>
              <a:t>[</a:t>
            </a:r>
            <a:r>
              <a:rPr lang="en-US" altLang="zh-CN" sz="2400" i="1"/>
              <a:t>i</a:t>
            </a:r>
            <a:r>
              <a:rPr lang="en-US" altLang="zh-CN" sz="2400"/>
              <a:t>][</a:t>
            </a:r>
            <a:r>
              <a:rPr lang="en-US" altLang="zh-CN" sz="2400" i="1"/>
              <a:t>j</a:t>
            </a:r>
            <a:r>
              <a:rPr lang="en-US" altLang="zh-CN" sz="2400"/>
              <a:t>]}</a:t>
            </a:r>
            <a:br>
              <a:rPr lang="en-US" altLang="zh-CN" sz="2400"/>
            </a:br>
            <a:r>
              <a:rPr lang="zh-CN" altLang="en-US" sz="2400"/>
              <a:t>若</a:t>
            </a:r>
            <a:r>
              <a:rPr lang="en-US" altLang="zh-CN" sz="2400" i="1"/>
              <a:t>d</a:t>
            </a:r>
            <a:r>
              <a:rPr lang="en-US" altLang="zh-CN" sz="2400"/>
              <a:t>[</a:t>
            </a:r>
            <a:r>
              <a:rPr lang="en-US" altLang="zh-CN" sz="2400" i="1"/>
              <a:t>j</a:t>
            </a:r>
            <a:r>
              <a:rPr lang="en-US" altLang="zh-CN" sz="2400"/>
              <a:t>]</a:t>
            </a:r>
            <a:r>
              <a:rPr lang="zh-CN" altLang="en-US" sz="2400"/>
              <a:t>发生了变化且</a:t>
            </a:r>
            <a:r>
              <a:rPr lang="en-US" altLang="zh-CN" sz="2400" i="1"/>
              <a:t>j</a:t>
            </a:r>
            <a:r>
              <a:rPr lang="zh-CN" altLang="en-US" sz="2400"/>
              <a:t>还未在</a:t>
            </a:r>
            <a:r>
              <a:rPr lang="en-US" altLang="zh-CN" sz="2400" i="1"/>
              <a:t>L</a:t>
            </a:r>
            <a:r>
              <a:rPr lang="zh-CN" altLang="en-US" sz="2400"/>
              <a:t>中，则置</a:t>
            </a:r>
            <a:r>
              <a:rPr lang="en-US" altLang="zh-CN" sz="2400" i="1"/>
              <a:t>p</a:t>
            </a:r>
            <a:r>
              <a:rPr lang="en-US" altLang="zh-CN" sz="2400"/>
              <a:t>[</a:t>
            </a:r>
            <a:r>
              <a:rPr lang="en-US" altLang="zh-CN" sz="2400" i="1"/>
              <a:t>j</a:t>
            </a:r>
            <a:r>
              <a:rPr lang="en-US" altLang="zh-CN" sz="2400"/>
              <a:t>]=i</a:t>
            </a:r>
            <a:r>
              <a:rPr lang="zh-CN" altLang="en-US" sz="2400"/>
              <a:t>，并将</a:t>
            </a:r>
            <a:r>
              <a:rPr lang="en-US" altLang="zh-CN" sz="2400" i="1"/>
              <a:t>j</a:t>
            </a:r>
            <a:r>
              <a:rPr lang="zh-CN" altLang="en-US" sz="2400"/>
              <a:t>加入</a:t>
            </a:r>
            <a:r>
              <a:rPr lang="en-US" altLang="zh-CN" sz="2400" i="1"/>
              <a:t>L</a:t>
            </a:r>
            <a:r>
              <a:rPr lang="zh-CN" altLang="en-US" sz="2400"/>
              <a:t>，转至</a:t>
            </a:r>
            <a:r>
              <a:rPr lang="en-US" altLang="zh-CN" sz="2400"/>
              <a:t>2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16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无序链表实现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void AdjacencyWDigraph&lt;T&gt;::ShortestPaths(int s,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       T d[], int p[])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Shortest paths from vertex s, return shortest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// distances in d and predecessor info in p.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 (s &lt; 1 || s &gt; n) throw OutOfBounds();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Chain&lt;int&gt; L;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list of reachable vertices for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         // which paths have yet to be found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ChainIterator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&lt;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int&gt; I;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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17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无序链表实现（续）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// initialize d, p, and L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for (int i = 1; i &lt;= n; i++){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d[i] = a[s][i];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if (d[i] == NoEdge) p[i] = 0;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else {p[i] = s; 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L.Insert(0,i);}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</a:p>
          <a:p>
            <a:pPr>
              <a:buClrTx/>
              <a:buFontTx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18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无序链表实现（续）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// update d and p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while (!L.IsEmpty()) 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more paths exist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// find vertex *v in L with least d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int *v = I.Initialize(L);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int *w = I.Next();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while (w) {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if (d[*w] &lt; d[*v]) v = w;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w = I.Next();}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19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无序链表实现（续）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int i = *v;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L.Delete(*v);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for (int j = 1; j &lt;= n; j++) {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if (a[i][j] != NoEdge &amp;&amp; (!p[j] ||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	             d[j] &gt; d[i] + a[i][j])) {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d[j] = d[i] + a[i][j];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 (!p[j]) L.Insert(0,j);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p[j] = i;}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}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20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>
                <a:sym typeface="+mn-ea"/>
              </a:rPr>
              <a:t>SPT</a:t>
            </a:r>
            <a:r>
              <a:rPr lang="en-US" altLang="zh-CN">
                <a:sym typeface="+mn-ea"/>
              </a:rPr>
              <a:t>-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shortest path tree</a:t>
            </a:r>
            <a:endParaRPr lang="en-US" altLang="zh-CN">
              <a:sym typeface="+mn-ea"/>
            </a:endParaRPr>
          </a:p>
        </p:txBody>
      </p:sp>
      <p:sp>
        <p:nvSpPr>
          <p:cNvPr id="10547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所有最短路径的并，构成一棵树（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shortest path tree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</a:p>
        </p:txBody>
      </p:sp>
      <p:sp>
        <p:nvSpPr>
          <p:cNvPr id="1054743" name="Oval 23"/>
          <p:cNvSpPr>
            <a:spLocks noChangeArrowheads="1"/>
          </p:cNvSpPr>
          <p:nvPr/>
        </p:nvSpPr>
        <p:spPr bwMode="auto">
          <a:xfrm>
            <a:off x="827088" y="25654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54744" name="Oval 24"/>
          <p:cNvSpPr>
            <a:spLocks noChangeArrowheads="1"/>
          </p:cNvSpPr>
          <p:nvPr/>
        </p:nvSpPr>
        <p:spPr bwMode="auto">
          <a:xfrm flipH="1">
            <a:off x="2266950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5" name="Oval 25"/>
          <p:cNvSpPr>
            <a:spLocks noChangeArrowheads="1"/>
          </p:cNvSpPr>
          <p:nvPr/>
        </p:nvSpPr>
        <p:spPr bwMode="auto">
          <a:xfrm flipH="1">
            <a:off x="3692525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827088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252663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8" name="Oval 28"/>
          <p:cNvSpPr>
            <a:spLocks noChangeArrowheads="1"/>
          </p:cNvSpPr>
          <p:nvPr/>
        </p:nvSpPr>
        <p:spPr bwMode="auto">
          <a:xfrm flipH="1">
            <a:off x="3676650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9" name="Oval 29"/>
          <p:cNvSpPr>
            <a:spLocks noChangeArrowheads="1"/>
          </p:cNvSpPr>
          <p:nvPr/>
        </p:nvSpPr>
        <p:spPr bwMode="auto">
          <a:xfrm flipH="1">
            <a:off x="827088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0" name="Oval 30"/>
          <p:cNvSpPr>
            <a:spLocks noChangeArrowheads="1"/>
          </p:cNvSpPr>
          <p:nvPr/>
        </p:nvSpPr>
        <p:spPr bwMode="auto">
          <a:xfrm flipH="1">
            <a:off x="3708400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1" name="Oval 31"/>
          <p:cNvSpPr>
            <a:spLocks noChangeArrowheads="1"/>
          </p:cNvSpPr>
          <p:nvPr/>
        </p:nvSpPr>
        <p:spPr bwMode="auto">
          <a:xfrm>
            <a:off x="5148263" y="25654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54752" name="Oval 32"/>
          <p:cNvSpPr>
            <a:spLocks noChangeArrowheads="1"/>
          </p:cNvSpPr>
          <p:nvPr/>
        </p:nvSpPr>
        <p:spPr bwMode="auto">
          <a:xfrm flipH="1">
            <a:off x="6588125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3" name="Oval 33"/>
          <p:cNvSpPr>
            <a:spLocks noChangeArrowheads="1"/>
          </p:cNvSpPr>
          <p:nvPr/>
        </p:nvSpPr>
        <p:spPr bwMode="auto">
          <a:xfrm flipH="1">
            <a:off x="8013700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4" name="Oval 34"/>
          <p:cNvSpPr>
            <a:spLocks noChangeArrowheads="1"/>
          </p:cNvSpPr>
          <p:nvPr/>
        </p:nvSpPr>
        <p:spPr bwMode="auto">
          <a:xfrm flipH="1">
            <a:off x="5148263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5" name="Oval 35"/>
          <p:cNvSpPr>
            <a:spLocks noChangeArrowheads="1"/>
          </p:cNvSpPr>
          <p:nvPr/>
        </p:nvSpPr>
        <p:spPr bwMode="auto">
          <a:xfrm flipH="1">
            <a:off x="6573838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6" name="Oval 36"/>
          <p:cNvSpPr>
            <a:spLocks noChangeArrowheads="1"/>
          </p:cNvSpPr>
          <p:nvPr/>
        </p:nvSpPr>
        <p:spPr bwMode="auto">
          <a:xfrm flipH="1">
            <a:off x="7997825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7" name="Oval 37"/>
          <p:cNvSpPr>
            <a:spLocks noChangeArrowheads="1"/>
          </p:cNvSpPr>
          <p:nvPr/>
        </p:nvSpPr>
        <p:spPr bwMode="auto">
          <a:xfrm flipH="1">
            <a:off x="5148263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8" name="Oval 38"/>
          <p:cNvSpPr>
            <a:spLocks noChangeArrowheads="1"/>
          </p:cNvSpPr>
          <p:nvPr/>
        </p:nvSpPr>
        <p:spPr bwMode="auto">
          <a:xfrm flipH="1">
            <a:off x="8027988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59" name="AutoShape 39"/>
          <p:cNvCxnSpPr>
            <a:stCxn id="1054743" idx="2"/>
            <a:endCxn id="1054749" idx="6"/>
          </p:cNvCxnSpPr>
          <p:nvPr/>
        </p:nvCxnSpPr>
        <p:spPr>
          <a:xfrm rot="10800000" flipH="1" flipV="1">
            <a:off x="812800" y="2709863"/>
            <a:ext cx="1588" cy="2879725"/>
          </a:xfrm>
          <a:prstGeom prst="curvedConnector3">
            <a:avLst>
              <a:gd name="adj1" fmla="val -1350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0" name="Oval 40"/>
          <p:cNvSpPr/>
          <p:nvPr/>
        </p:nvSpPr>
        <p:spPr>
          <a:xfrm>
            <a:off x="46672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15</a:t>
            </a:r>
          </a:p>
        </p:txBody>
      </p:sp>
      <p:cxnSp>
        <p:nvCxnSpPr>
          <p:cNvPr id="1054761" name="AutoShape 41"/>
          <p:cNvCxnSpPr>
            <a:stCxn id="1054751" idx="2"/>
            <a:endCxn id="1054757" idx="6"/>
          </p:cNvCxnSpPr>
          <p:nvPr/>
        </p:nvCxnSpPr>
        <p:spPr>
          <a:xfrm rot="10800000" flipH="1" flipV="1">
            <a:off x="5133975" y="2709863"/>
            <a:ext cx="1588" cy="2879725"/>
          </a:xfrm>
          <a:prstGeom prst="curvedConnector3">
            <a:avLst>
              <a:gd name="adj1" fmla="val -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2" name="Oval 42"/>
          <p:cNvSpPr/>
          <p:nvPr/>
        </p:nvSpPr>
        <p:spPr>
          <a:xfrm>
            <a:off x="4786313" y="4005263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15</a:t>
            </a:r>
          </a:p>
        </p:txBody>
      </p:sp>
      <p:cxnSp>
        <p:nvCxnSpPr>
          <p:cNvPr id="1054763" name="AutoShape 43"/>
          <p:cNvCxnSpPr>
            <a:stCxn id="1054743" idx="4"/>
            <a:endCxn id="1054746" idx="0"/>
          </p:cNvCxnSpPr>
          <p:nvPr/>
        </p:nvCxnSpPr>
        <p:spPr>
          <a:xfrm rot="5400000">
            <a:off x="409575" y="3429000"/>
            <a:ext cx="1122363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4" name="Oval 44"/>
          <p:cNvSpPr/>
          <p:nvPr/>
        </p:nvSpPr>
        <p:spPr>
          <a:xfrm>
            <a:off x="827088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</a:p>
        </p:txBody>
      </p:sp>
      <p:cxnSp>
        <p:nvCxnSpPr>
          <p:cNvPr id="1054765" name="AutoShape 45"/>
          <p:cNvCxnSpPr>
            <a:stCxn id="1054751" idx="4"/>
            <a:endCxn id="1054754" idx="0"/>
          </p:cNvCxnSpPr>
          <p:nvPr/>
        </p:nvCxnSpPr>
        <p:spPr>
          <a:xfrm rot="5400000">
            <a:off x="4730750" y="3429000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6" name="Oval 46"/>
          <p:cNvSpPr/>
          <p:nvPr/>
        </p:nvSpPr>
        <p:spPr>
          <a:xfrm>
            <a:off x="5146675" y="328612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</a:p>
        </p:txBody>
      </p:sp>
      <p:cxnSp>
        <p:nvCxnSpPr>
          <p:cNvPr id="1054767" name="AutoShape 47"/>
          <p:cNvCxnSpPr>
            <a:stCxn id="1054746" idx="4"/>
            <a:endCxn id="1054749" idx="0"/>
          </p:cNvCxnSpPr>
          <p:nvPr/>
        </p:nvCxnSpPr>
        <p:spPr>
          <a:xfrm rot="5400000">
            <a:off x="409575" y="4868863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8" name="Oval 48"/>
          <p:cNvSpPr/>
          <p:nvPr/>
        </p:nvSpPr>
        <p:spPr>
          <a:xfrm>
            <a:off x="827088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1054769" name="AutoShape 49"/>
          <p:cNvCxnSpPr>
            <a:stCxn id="1054748" idx="4"/>
            <a:endCxn id="1054750" idx="0"/>
          </p:cNvCxnSpPr>
          <p:nvPr/>
        </p:nvCxnSpPr>
        <p:spPr>
          <a:xfrm rot="16200000" flipH="1">
            <a:off x="3275013" y="4852988"/>
            <a:ext cx="1122362" cy="31750"/>
          </a:xfrm>
          <a:prstGeom prst="curvedConnector3">
            <a:avLst>
              <a:gd name="adj1" fmla="val 49931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0" name="Oval 50"/>
          <p:cNvSpPr/>
          <p:nvPr/>
        </p:nvSpPr>
        <p:spPr>
          <a:xfrm>
            <a:off x="3706813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</a:p>
        </p:txBody>
      </p:sp>
      <p:cxnSp>
        <p:nvCxnSpPr>
          <p:cNvPr id="1054771" name="AutoShape 51"/>
          <p:cNvCxnSpPr>
            <a:stCxn id="1054747" idx="3"/>
            <a:endCxn id="1054750" idx="7"/>
          </p:cNvCxnSpPr>
          <p:nvPr/>
        </p:nvCxnSpPr>
        <p:spPr>
          <a:xfrm>
            <a:off x="2498725" y="4265613"/>
            <a:ext cx="1252538" cy="12065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2" name="Oval 52"/>
          <p:cNvSpPr/>
          <p:nvPr/>
        </p:nvSpPr>
        <p:spPr>
          <a:xfrm>
            <a:off x="2986088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16</a:t>
            </a:r>
          </a:p>
        </p:txBody>
      </p:sp>
      <p:cxnSp>
        <p:nvCxnSpPr>
          <p:cNvPr id="1054773" name="AutoShape 53"/>
          <p:cNvCxnSpPr>
            <a:stCxn id="1054745" idx="5"/>
            <a:endCxn id="1054747" idx="1"/>
          </p:cNvCxnSpPr>
          <p:nvPr/>
        </p:nvCxnSpPr>
        <p:spPr>
          <a:xfrm rot="5400000">
            <a:off x="2513013" y="2809875"/>
            <a:ext cx="1206500" cy="1236663"/>
          </a:xfrm>
          <a:prstGeom prst="curvedConnector3">
            <a:avLst>
              <a:gd name="adj1" fmla="val 5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4" name="Oval 54"/>
          <p:cNvSpPr/>
          <p:nvPr/>
        </p:nvSpPr>
        <p:spPr>
          <a:xfrm>
            <a:off x="2986088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cxnSp>
        <p:nvCxnSpPr>
          <p:cNvPr id="1054775" name="AutoShape 55"/>
          <p:cNvCxnSpPr>
            <a:stCxn id="1054746" idx="1"/>
            <a:endCxn id="1054745" idx="5"/>
          </p:cNvCxnSpPr>
          <p:nvPr/>
        </p:nvCxnSpPr>
        <p:spPr>
          <a:xfrm flipV="1">
            <a:off x="1073150" y="2825750"/>
            <a:ext cx="2662238" cy="12065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6" name="Oval 56"/>
          <p:cNvSpPr/>
          <p:nvPr/>
        </p:nvSpPr>
        <p:spPr>
          <a:xfrm>
            <a:off x="2266950" y="328612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18</a:t>
            </a:r>
          </a:p>
        </p:txBody>
      </p:sp>
      <p:cxnSp>
        <p:nvCxnSpPr>
          <p:cNvPr id="1054777" name="AutoShape 57"/>
          <p:cNvCxnSpPr>
            <a:stCxn id="1054754" idx="1"/>
            <a:endCxn id="1054753" idx="5"/>
          </p:cNvCxnSpPr>
          <p:nvPr/>
        </p:nvCxnSpPr>
        <p:spPr>
          <a:xfrm flipV="1">
            <a:off x="5394325" y="2825750"/>
            <a:ext cx="2662238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8" name="Oval 58"/>
          <p:cNvSpPr/>
          <p:nvPr/>
        </p:nvSpPr>
        <p:spPr>
          <a:xfrm>
            <a:off x="6586538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18</a:t>
            </a: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130300" y="4149725"/>
            <a:ext cx="11096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154622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30</a:t>
            </a:r>
          </a:p>
        </p:txBody>
      </p:sp>
      <p:cxnSp>
        <p:nvCxnSpPr>
          <p:cNvPr id="1054781" name="AutoShape 61"/>
          <p:cNvCxnSpPr>
            <a:stCxn id="1054755" idx="2"/>
            <a:endCxn id="1054756" idx="6"/>
          </p:cNvCxnSpPr>
          <p:nvPr/>
        </p:nvCxnSpPr>
        <p:spPr>
          <a:xfrm>
            <a:off x="6877050" y="4149725"/>
            <a:ext cx="11080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2" name="Oval 62"/>
          <p:cNvSpPr/>
          <p:nvPr/>
        </p:nvSpPr>
        <p:spPr>
          <a:xfrm>
            <a:off x="7307263" y="400685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</a:p>
        </p:txBody>
      </p:sp>
      <p:cxnSp>
        <p:nvCxnSpPr>
          <p:cNvPr id="1054783" name="AutoShape 63"/>
          <p:cNvCxnSpPr>
            <a:stCxn id="1054749" idx="1"/>
            <a:endCxn id="1054747" idx="5"/>
          </p:cNvCxnSpPr>
          <p:nvPr/>
        </p:nvCxnSpPr>
        <p:spPr>
          <a:xfrm flipV="1">
            <a:off x="1073150" y="4265613"/>
            <a:ext cx="1222375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4" name="Oval 64"/>
          <p:cNvSpPr/>
          <p:nvPr/>
        </p:nvSpPr>
        <p:spPr>
          <a:xfrm>
            <a:off x="1546225" y="4725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</a:p>
        </p:txBody>
      </p:sp>
      <p:cxnSp>
        <p:nvCxnSpPr>
          <p:cNvPr id="1054785" name="AutoShape 65"/>
          <p:cNvCxnSpPr>
            <a:stCxn id="1054748" idx="0"/>
            <a:endCxn id="1054745" idx="4"/>
          </p:cNvCxnSpPr>
          <p:nvPr/>
        </p:nvCxnSpPr>
        <p:spPr>
          <a:xfrm flipV="1">
            <a:off x="3821113" y="2868613"/>
            <a:ext cx="15875" cy="11223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6" name="Oval 66"/>
          <p:cNvSpPr/>
          <p:nvPr/>
        </p:nvSpPr>
        <p:spPr>
          <a:xfrm>
            <a:off x="3706813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</a:p>
        </p:txBody>
      </p:sp>
      <p:cxnSp>
        <p:nvCxnSpPr>
          <p:cNvPr id="1054787" name="AutoShape 67"/>
          <p:cNvCxnSpPr>
            <a:stCxn id="1054749" idx="2"/>
            <a:endCxn id="1054750" idx="6"/>
          </p:cNvCxnSpPr>
          <p:nvPr/>
        </p:nvCxnSpPr>
        <p:spPr>
          <a:xfrm>
            <a:off x="1130300" y="5589588"/>
            <a:ext cx="25654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8" name="Oval 68"/>
          <p:cNvSpPr/>
          <p:nvPr/>
        </p:nvSpPr>
        <p:spPr>
          <a:xfrm>
            <a:off x="2266950" y="544512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40</a:t>
            </a:r>
          </a:p>
        </p:txBody>
      </p:sp>
      <p:cxnSp>
        <p:nvCxnSpPr>
          <p:cNvPr id="1054789" name="AutoShape 69"/>
          <p:cNvCxnSpPr>
            <a:stCxn id="1054744" idx="2"/>
            <a:endCxn id="1054745" idx="6"/>
          </p:cNvCxnSpPr>
          <p:nvPr/>
        </p:nvCxnSpPr>
        <p:spPr>
          <a:xfrm>
            <a:off x="2570163" y="2709863"/>
            <a:ext cx="11096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0" name="Oval 70"/>
          <p:cNvSpPr/>
          <p:nvPr/>
        </p:nvSpPr>
        <p:spPr>
          <a:xfrm>
            <a:off x="2970213" y="256540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25</a:t>
            </a:r>
          </a:p>
        </p:txBody>
      </p:sp>
      <p:cxnSp>
        <p:nvCxnSpPr>
          <p:cNvPr id="1054791" name="AutoShape 71"/>
          <p:cNvCxnSpPr>
            <a:stCxn id="1054743" idx="6"/>
            <a:endCxn id="1054744" idx="6"/>
          </p:cNvCxnSpPr>
          <p:nvPr/>
        </p:nvCxnSpPr>
        <p:spPr>
          <a:xfrm>
            <a:off x="1128713" y="2709863"/>
            <a:ext cx="1125537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2" name="Oval 72"/>
          <p:cNvSpPr/>
          <p:nvPr/>
        </p:nvSpPr>
        <p:spPr>
          <a:xfrm>
            <a:off x="1546225" y="256540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</a:p>
        </p:txBody>
      </p:sp>
      <p:cxnSp>
        <p:nvCxnSpPr>
          <p:cNvPr id="1054793" name="AutoShape 73"/>
          <p:cNvCxnSpPr>
            <a:stCxn id="1054747" idx="2"/>
            <a:endCxn id="1054748" idx="6"/>
          </p:cNvCxnSpPr>
          <p:nvPr/>
        </p:nvCxnSpPr>
        <p:spPr>
          <a:xfrm>
            <a:off x="2555875" y="4149725"/>
            <a:ext cx="1108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4" name="Oval 74"/>
          <p:cNvSpPr/>
          <p:nvPr/>
        </p:nvSpPr>
        <p:spPr>
          <a:xfrm>
            <a:off x="298767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</a:p>
        </p:txBody>
      </p:sp>
      <p:cxnSp>
        <p:nvCxnSpPr>
          <p:cNvPr id="1054795" name="AutoShape 75"/>
          <p:cNvCxnSpPr>
            <a:stCxn id="1054751" idx="6"/>
            <a:endCxn id="1054752" idx="6"/>
          </p:cNvCxnSpPr>
          <p:nvPr/>
        </p:nvCxnSpPr>
        <p:spPr>
          <a:xfrm>
            <a:off x="5449888" y="2709863"/>
            <a:ext cx="112553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6" name="Oval 76"/>
          <p:cNvSpPr/>
          <p:nvPr/>
        </p:nvSpPr>
        <p:spPr>
          <a:xfrm>
            <a:off x="5853113" y="256540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</a:p>
        </p:txBody>
      </p:sp>
      <p:cxnSp>
        <p:nvCxnSpPr>
          <p:cNvPr id="1054797" name="AutoShape 77"/>
          <p:cNvCxnSpPr>
            <a:stCxn id="1054753" idx="5"/>
            <a:endCxn id="1054755" idx="1"/>
          </p:cNvCxnSpPr>
          <p:nvPr/>
        </p:nvCxnSpPr>
        <p:spPr>
          <a:xfrm rot="5400000">
            <a:off x="6834188" y="2809875"/>
            <a:ext cx="1206500" cy="1236663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8" name="Oval 78"/>
          <p:cNvSpPr/>
          <p:nvPr/>
        </p:nvSpPr>
        <p:spPr>
          <a:xfrm>
            <a:off x="7307263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cxnSp>
        <p:nvCxnSpPr>
          <p:cNvPr id="1054799" name="AutoShape 79"/>
          <p:cNvCxnSpPr>
            <a:stCxn id="1054755" idx="3"/>
            <a:endCxn id="1054758" idx="7"/>
          </p:cNvCxnSpPr>
          <p:nvPr/>
        </p:nvCxnSpPr>
        <p:spPr>
          <a:xfrm>
            <a:off x="6819900" y="4265613"/>
            <a:ext cx="1250950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800" name="Oval 80"/>
          <p:cNvSpPr/>
          <p:nvPr/>
        </p:nvSpPr>
        <p:spPr>
          <a:xfrm>
            <a:off x="7289800" y="4725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547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54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54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54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54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547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54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54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054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547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0547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547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4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0547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5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0547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547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7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547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8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0547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054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900"/>
                                        <p:tgtEl>
                                          <p:spTgt spid="105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9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0547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1054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900"/>
                                        <p:tgtEl>
                                          <p:spTgt spid="105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0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0547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1054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"/>
                            </p:stCondLst>
                            <p:childTnLst>
                              <p:par>
                                <p:cTn id="2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900"/>
                                        <p:tgtEl>
                                          <p:spTgt spid="105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1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0547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054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500"/>
                            </p:stCondLst>
                            <p:childTnLst>
                              <p:par>
                                <p:cTn id="2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900"/>
                                        <p:tgtEl>
                                          <p:spTgt spid="105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2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0547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300" fill="hold"/>
                                        <p:tgtEl>
                                          <p:spTgt spid="1054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500"/>
                            </p:stCondLst>
                            <p:childTnLst>
                              <p:par>
                                <p:cTn id="2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3" dur="900"/>
                                        <p:tgtEl>
                                          <p:spTgt spid="10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3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0547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054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500"/>
                            </p:stCondLst>
                            <p:childTnLst>
                              <p:par>
                                <p:cTn id="2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5" dur="900"/>
                                        <p:tgtEl>
                                          <p:spTgt spid="10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4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0547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300" fill="hold"/>
                                        <p:tgtEl>
                                          <p:spTgt spid="1054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900"/>
                                        <p:tgtEl>
                                          <p:spTgt spid="105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5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0547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054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9" dur="900"/>
                                        <p:tgtEl>
                                          <p:spTgt spid="105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6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0547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054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500"/>
                            </p:stCondLst>
                            <p:childTnLst>
                              <p:par>
                                <p:cTn id="2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1" dur="900"/>
                                        <p:tgtEl>
                                          <p:spTgt spid="105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7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547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1054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00"/>
                            </p:stCondLst>
                            <p:childTnLst>
                              <p:par>
                                <p:cTn id="3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3" dur="900"/>
                                        <p:tgtEl>
                                          <p:spTgt spid="105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8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0547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054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00"/>
                            </p:stCondLst>
                            <p:childTnLst>
                              <p:par>
                                <p:cTn id="3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5" dur="900"/>
                                        <p:tgtEl>
                                          <p:spTgt spid="105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9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0547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054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00"/>
                            </p:stCondLst>
                            <p:childTnLst>
                              <p:par>
                                <p:cTn id="3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7" dur="900"/>
                                        <p:tgtEl>
                                          <p:spTgt spid="105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0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0547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1054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4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9" dur="900"/>
                                        <p:tgtEl>
                                          <p:spTgt spid="105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1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54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1054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00"/>
                            </p:stCondLst>
                            <p:childTnLst>
                              <p:par>
                                <p:cTn id="3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1" dur="900"/>
                                        <p:tgtEl>
                                          <p:spTgt spid="105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2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54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1054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500"/>
                            </p:stCondLst>
                            <p:childTnLst>
                              <p:par>
                                <p:cTn id="3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3" dur="900"/>
                                        <p:tgtEl>
                                          <p:spTgt spid="105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3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547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054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500"/>
                            </p:stCondLst>
                            <p:childTnLst>
                              <p:par>
                                <p:cTn id="3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5" dur="900"/>
                                        <p:tgtEl>
                                          <p:spTgt spid="105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4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0547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1054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500"/>
                            </p:stCondLst>
                            <p:childTnLst>
                              <p:par>
                                <p:cTn id="3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900"/>
                                        <p:tgtEl>
                                          <p:spTgt spid="105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5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547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1054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500"/>
                            </p:stCondLst>
                            <p:childTnLst>
                              <p:par>
                                <p:cTn id="4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9" dur="900"/>
                                        <p:tgtEl>
                                          <p:spTgt spid="105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547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300" fill="hold"/>
                                        <p:tgtEl>
                                          <p:spTgt spid="1054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500"/>
                            </p:stCondLst>
                            <p:childTnLst>
                              <p:par>
                                <p:cTn id="4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1" dur="900"/>
                                        <p:tgtEl>
                                          <p:spTgt spid="105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7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547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054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500"/>
                            </p:stCondLst>
                            <p:childTnLst>
                              <p:par>
                                <p:cTn id="4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3" dur="900"/>
                                        <p:tgtEl>
                                          <p:spTgt spid="105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054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8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0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500"/>
                            </p:stCondLst>
                            <p:childTnLst>
                              <p:par>
                                <p:cTn id="4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5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9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054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500"/>
                            </p:stCondLst>
                            <p:childTnLst>
                              <p:par>
                                <p:cTn id="4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7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0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0547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2" dur="300" fill="hold"/>
                                        <p:tgtEl>
                                          <p:spTgt spid="10547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6" fill="hold">
                            <p:stCondLst>
                              <p:cond delay="500"/>
                            </p:stCondLst>
                            <p:childTnLst>
                              <p:par>
                                <p:cTn id="4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9" dur="900"/>
                                        <p:tgtEl>
                                          <p:spTgt spid="1054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0547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0547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500"/>
                            </p:stCondLst>
                            <p:childTnLst>
                              <p:par>
                                <p:cTn id="4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1" dur="900"/>
                                        <p:tgtEl>
                                          <p:spTgt spid="1054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2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0547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6" dur="300" fill="hold"/>
                                        <p:tgtEl>
                                          <p:spTgt spid="1054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fill="hold">
                            <p:stCondLst>
                              <p:cond delay="500"/>
                            </p:stCondLst>
                            <p:childTnLst>
                              <p:par>
                                <p:cTn id="4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3" dur="900"/>
                                        <p:tgtEl>
                                          <p:spTgt spid="105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0547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8" dur="300" fill="hold"/>
                                        <p:tgtEl>
                                          <p:spTgt spid="1054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0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1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2" fill="hold">
                            <p:stCondLst>
                              <p:cond delay="500"/>
                            </p:stCondLst>
                            <p:childTnLst>
                              <p:par>
                                <p:cTn id="50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5" dur="900"/>
                                        <p:tgtEl>
                                          <p:spTgt spid="105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4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0547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0" dur="300" fill="hold"/>
                                        <p:tgtEl>
                                          <p:spTgt spid="10547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2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3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4" fill="hold">
                            <p:stCondLst>
                              <p:cond delay="500"/>
                            </p:stCondLst>
                            <p:childTnLst>
                              <p:par>
                                <p:cTn id="5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7" dur="900"/>
                                        <p:tgtEl>
                                          <p:spTgt spid="105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5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0547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10547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6" fill="hold">
                            <p:stCondLst>
                              <p:cond delay="500"/>
                            </p:stCondLst>
                            <p:childTnLst>
                              <p:par>
                                <p:cTn id="5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9" dur="900"/>
                                        <p:tgtEl>
                                          <p:spTgt spid="105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6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0547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10547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8" fill="hold">
                            <p:stCondLst>
                              <p:cond delay="500"/>
                            </p:stCondLst>
                            <p:childTnLst>
                              <p:par>
                                <p:cTn id="5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1" dur="900"/>
                                        <p:tgtEl>
                                          <p:spTgt spid="105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7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547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6" dur="300" fill="hold"/>
                                        <p:tgtEl>
                                          <p:spTgt spid="10547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500"/>
                            </p:stCondLst>
                            <p:childTnLst>
                              <p:par>
                                <p:cTn id="5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3" dur="900"/>
                                        <p:tgtEl>
                                          <p:spTgt spid="105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8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10547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8" dur="300" fill="hold"/>
                                        <p:tgtEl>
                                          <p:spTgt spid="1054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0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1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2" fill="hold">
                            <p:stCondLst>
                              <p:cond delay="500"/>
                            </p:stCondLst>
                            <p:childTnLst>
                              <p:par>
                                <p:cTn id="5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5" dur="900"/>
                                        <p:tgtEl>
                                          <p:spTgt spid="105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9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0547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300" fill="hold"/>
                                        <p:tgtEl>
                                          <p:spTgt spid="1054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4" fill="hold">
                            <p:stCondLst>
                              <p:cond delay="500"/>
                            </p:stCondLst>
                            <p:childTnLst>
                              <p:par>
                                <p:cTn id="5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7" dur="900"/>
                                        <p:tgtEl>
                                          <p:spTgt spid="105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0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0547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2" dur="300" fill="hold"/>
                                        <p:tgtEl>
                                          <p:spTgt spid="10547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4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5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6" fill="hold">
                            <p:stCondLst>
                              <p:cond delay="500"/>
                            </p:stCondLst>
                            <p:childTnLst>
                              <p:par>
                                <p:cTn id="5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9" dur="900"/>
                                        <p:tgtEl>
                                          <p:spTgt spid="105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1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0547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10547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>
                            <p:stCondLst>
                              <p:cond delay="500"/>
                            </p:stCondLst>
                            <p:childTnLst>
                              <p:par>
                                <p:cTn id="5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1" dur="900"/>
                                        <p:tgtEl>
                                          <p:spTgt spid="105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0547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10547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0" fill="hold">
                            <p:stCondLst>
                              <p:cond delay="500"/>
                            </p:stCondLst>
                            <p:childTnLst>
                              <p:par>
                                <p:cTn id="6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3" dur="900"/>
                                        <p:tgtEl>
                                          <p:spTgt spid="105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3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0547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10547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2" fill="hold">
                            <p:stCondLst>
                              <p:cond delay="500"/>
                            </p:stCondLst>
                            <p:childTnLst>
                              <p:par>
                                <p:cTn id="6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5" dur="900"/>
                                        <p:tgtEl>
                                          <p:spTgt spid="105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4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0547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0" dur="300" fill="hold"/>
                                        <p:tgtEl>
                                          <p:spTgt spid="10547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2" dur="300" fill="hold"/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3" dur="300" fill="hold"/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4" fill="hold">
                            <p:stCondLst>
                              <p:cond delay="500"/>
                            </p:stCondLst>
                            <p:childTnLst>
                              <p:par>
                                <p:cTn id="6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7" dur="900"/>
                                        <p:tgtEl>
                                          <p:spTgt spid="1054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5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0547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2" dur="300" fill="hold"/>
                                        <p:tgtEl>
                                          <p:spTgt spid="10547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4" dur="300" fill="hold"/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5" dur="300" fill="hold"/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6" fill="hold">
                            <p:stCondLst>
                              <p:cond delay="500"/>
                            </p:stCondLst>
                            <p:childTnLst>
                              <p:par>
                                <p:cTn id="6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9" dur="900"/>
                                        <p:tgtEl>
                                          <p:spTgt spid="1054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6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0547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4" dur="300" fill="hold"/>
                                        <p:tgtEl>
                                          <p:spTgt spid="10547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6" dur="300" fill="hold"/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7" dur="300" fill="hold"/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8" fill="hold">
                            <p:stCondLst>
                              <p:cond delay="500"/>
                            </p:stCondLst>
                            <p:childTnLst>
                              <p:par>
                                <p:cTn id="6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1" dur="900"/>
                                        <p:tgtEl>
                                          <p:spTgt spid="1054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7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0547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6" dur="300" fill="hold"/>
                                        <p:tgtEl>
                                          <p:spTgt spid="10547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0" fill="hold">
                            <p:stCondLst>
                              <p:cond delay="500"/>
                            </p:stCondLst>
                            <p:childTnLst>
                              <p:par>
                                <p:cTn id="6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3" dur="900"/>
                                        <p:tgtEl>
                                          <p:spTgt spid="1054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8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0547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10548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2" fill="hold">
                            <p:stCondLst>
                              <p:cond delay="500"/>
                            </p:stCondLst>
                            <p:childTnLst>
                              <p:par>
                                <p:cTn id="6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5" dur="900"/>
                                        <p:tgtEl>
                                          <p:spTgt spid="1054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9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0548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0" dur="300" fill="hold"/>
                                        <p:tgtEl>
                                          <p:spTgt spid="10548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4" fill="hold">
                            <p:stCondLst>
                              <p:cond delay="500"/>
                            </p:stCondLst>
                            <p:childTnLst>
                              <p:par>
                                <p:cTn id="6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7" dur="900"/>
                                        <p:tgtEl>
                                          <p:spTgt spid="1054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800"/>
                  </p:tgtEl>
                </p:cond>
              </p:nextCondLst>
            </p:seq>
          </p:childTnLst>
        </p:cTn>
      </p:par>
    </p:tnLst>
    <p:bldLst>
      <p:bldP spid="1054743" grpId="0" bldLvl="0" animBg="1"/>
      <p:bldP spid="1054743" grpId="1" bldLvl="0" animBg="1"/>
      <p:bldP spid="1054743" grpId="2" bldLvl="0" animBg="1"/>
      <p:bldP spid="1054744" grpId="0" bldLvl="0" animBg="1"/>
      <p:bldP spid="1054745" grpId="0" bldLvl="0" animBg="1"/>
      <p:bldP spid="1054746" grpId="0" bldLvl="0" animBg="1"/>
      <p:bldP spid="1054747" grpId="0" bldLvl="0" animBg="1"/>
      <p:bldP spid="1054748" grpId="0" bldLvl="0" animBg="1"/>
      <p:bldP spid="1054749" grpId="0" bldLvl="0" animBg="1"/>
      <p:bldP spid="1054750" grpId="0" bldLvl="0" animBg="1"/>
      <p:bldP spid="1054751" grpId="0" bldLvl="0" animBg="1"/>
      <p:bldP spid="1054751" grpId="1" bldLvl="0" animBg="1"/>
      <p:bldP spid="1054751" grpId="2" bldLvl="0" animBg="1"/>
      <p:bldP spid="1054752" grpId="0" bldLvl="0" animBg="1"/>
      <p:bldP spid="1054753" grpId="0" bldLvl="0" animBg="1"/>
      <p:bldP spid="1054754" grpId="0" bldLvl="0" animBg="1"/>
      <p:bldP spid="1054755" grpId="0" bldLvl="0" animBg="1"/>
      <p:bldP spid="1054756" grpId="0" bldLvl="0" animBg="1"/>
      <p:bldP spid="1054757" grpId="0" bldLvl="0" animBg="1"/>
      <p:bldP spid="1054758" grpId="0" bldLvl="0" animBg="1"/>
      <p:bldP spid="1054760" grpId="0" animBg="1"/>
      <p:bldP spid="1054760" grpId="1" animBg="1"/>
      <p:bldP spid="1054762" grpId="0" animBg="1"/>
      <p:bldP spid="1054762" grpId="1" animBg="1"/>
      <p:bldP spid="1054764" grpId="0" animBg="1"/>
      <p:bldP spid="1054764" grpId="1" animBg="1"/>
      <p:bldP spid="1054766" grpId="0" animBg="1"/>
      <p:bldP spid="1054766" grpId="1" animBg="1"/>
      <p:bldP spid="1054768" grpId="0" animBg="1"/>
      <p:bldP spid="1054768" grpId="1" animBg="1"/>
      <p:bldP spid="1054770" grpId="0" animBg="1"/>
      <p:bldP spid="1054770" grpId="1" animBg="1"/>
      <p:bldP spid="1054772" grpId="0" animBg="1"/>
      <p:bldP spid="1054772" grpId="1" animBg="1"/>
      <p:bldP spid="1054774" grpId="0" animBg="1"/>
      <p:bldP spid="1054774" grpId="1" animBg="1"/>
      <p:bldP spid="1054776" grpId="0" animBg="1"/>
      <p:bldP spid="1054776" grpId="1" animBg="1"/>
      <p:bldP spid="1054778" grpId="0" animBg="1"/>
      <p:bldP spid="1054778" grpId="1" animBg="1"/>
      <p:bldP spid="1054780" grpId="0" animBg="1"/>
      <p:bldP spid="1054780" grpId="1" animBg="1"/>
      <p:bldP spid="1054782" grpId="0" animBg="1"/>
      <p:bldP spid="1054782" grpId="1" animBg="1"/>
      <p:bldP spid="1054784" grpId="0" animBg="1"/>
      <p:bldP spid="1054784" grpId="1" animBg="1"/>
      <p:bldP spid="1054786" grpId="0" animBg="1"/>
      <p:bldP spid="1054786" grpId="1" animBg="1"/>
      <p:bldP spid="1054788" grpId="0" animBg="1"/>
      <p:bldP spid="1054788" grpId="1" animBg="1"/>
      <p:bldP spid="1054790" grpId="0" animBg="1"/>
      <p:bldP spid="1054790" grpId="1" animBg="1"/>
      <p:bldP spid="1054792" grpId="0" animBg="1"/>
      <p:bldP spid="1054792" grpId="1" animBg="1"/>
      <p:bldP spid="1054794" grpId="0" animBg="1"/>
      <p:bldP spid="1054794" grpId="1" animBg="1"/>
      <p:bldP spid="1054796" grpId="0" animBg="1"/>
      <p:bldP spid="1054796" grpId="1" animBg="1"/>
      <p:bldP spid="1054798" grpId="0" animBg="1"/>
      <p:bldP spid="1054798" grpId="1" animBg="1"/>
      <p:bldP spid="1054800" grpId="0" animBg="1"/>
      <p:bldP spid="1054800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每一对点的最短路径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所有点对间的最短路径，</a:t>
            </a:r>
            <a:r>
              <a:rPr lang="en-US" altLang="zh-CN">
                <a:solidFill>
                  <a:schemeClr val="hlink"/>
                </a:solidFill>
              </a:rPr>
              <a:t>all-pairs shortest-paths problem</a:t>
            </a:r>
            <a:r>
              <a:rPr lang="zh-CN" altLang="en-US"/>
              <a:t>，</a:t>
            </a:r>
            <a:r>
              <a:rPr lang="en-US" altLang="zh-CN"/>
              <a:t>n(n-1)</a:t>
            </a:r>
            <a:r>
              <a:rPr lang="zh-CN" altLang="en-US"/>
              <a:t>条</a:t>
            </a:r>
          </a:p>
          <a:p>
            <a:r>
              <a:rPr lang="zh-CN" altLang="en-US"/>
              <a:t>简单算法：每个顶点执行单源最短路径算法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22</a:t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1368108" y="430561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793683" y="430561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655445" y="445071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2087245" y="43056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793048" y="36502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1613535" y="3795395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2059305" y="39525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4226878" y="36502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3088640" y="379539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3520440" y="365029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4226878" y="430625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3088640" y="445135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3520440" y="43062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5653088" y="43037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4514850" y="44488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4946650" y="43037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800668" y="522700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1613535" y="4552315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2094230" y="493998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2936875" y="4594860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792730" y="481901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4226878" y="522700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5653088" y="522700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6975158" y="366363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4514215" y="3795395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5898515" y="3808730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5898515" y="3910330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4514215" y="5372100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3088005" y="5372100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3046095" y="4552950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4472305" y="4550410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4939665" y="39525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32" name="Oval 60"/>
          <p:cNvSpPr/>
          <p:nvPr/>
        </p:nvSpPr>
        <p:spPr>
          <a:xfrm>
            <a:off x="6292850" y="39525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3" name="Oval 60"/>
          <p:cNvSpPr/>
          <p:nvPr/>
        </p:nvSpPr>
        <p:spPr>
          <a:xfrm>
            <a:off x="6292850" y="44510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4" name="Oval 60"/>
          <p:cNvSpPr/>
          <p:nvPr/>
        </p:nvSpPr>
        <p:spPr>
          <a:xfrm>
            <a:off x="5022215" y="52289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5" name="Oval 60"/>
          <p:cNvSpPr/>
          <p:nvPr/>
        </p:nvSpPr>
        <p:spPr>
          <a:xfrm>
            <a:off x="4960620" y="47380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6" name="Oval 60"/>
          <p:cNvSpPr/>
          <p:nvPr/>
        </p:nvSpPr>
        <p:spPr>
          <a:xfrm>
            <a:off x="3629025" y="469423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</a:p>
        </p:txBody>
      </p:sp>
      <p:sp useBgFill="1">
        <p:nvSpPr>
          <p:cNvPr id="37" name="Oval 60"/>
          <p:cNvSpPr/>
          <p:nvPr/>
        </p:nvSpPr>
        <p:spPr>
          <a:xfrm>
            <a:off x="3520440" y="52689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3039110" y="3896995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3629025" y="39785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054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54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054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054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0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00"/>
                            </p:stCondLst>
                            <p:childTnLst>
                              <p:par>
                                <p:cTn id="2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1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1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1054746" grpId="0" bldLvl="0" animBg="1"/>
      <p:bldP spid="1054747" grpId="0" bldLvl="0" animBg="1"/>
      <p:bldP spid="1054780" grpId="0" animBg="1"/>
      <p:bldP spid="1054780" grpId="1" animBg="1"/>
      <p:bldP spid="4" grpId="0" bldLvl="0" animBg="1"/>
      <p:bldP spid="6" grpId="0" animBg="1"/>
      <p:bldP spid="6" grpId="1" animBg="1"/>
      <p:bldP spid="7" grpId="0" bldLvl="0" animBg="1"/>
      <p:bldP spid="9" grpId="0" animBg="1"/>
      <p:bldP spid="9" grpId="1" animBg="1"/>
      <p:bldP spid="10" grpId="0" bldLvl="0" animBg="1"/>
      <p:bldP spid="12" grpId="0" animBg="1"/>
      <p:bldP spid="12" grpId="1" animBg="1"/>
      <p:bldP spid="13" grpId="0" bldLvl="0" animBg="1"/>
      <p:bldP spid="15" grpId="0" animBg="1"/>
      <p:bldP spid="15" grpId="1" animBg="1"/>
      <p:bldP spid="16" grpId="0" bldLvl="0" animBg="1"/>
      <p:bldP spid="18" grpId="0" animBg="1"/>
      <p:bldP spid="18" grpId="1" animBg="1"/>
      <p:bldP spid="20" grpId="0" animBg="1"/>
      <p:bldP spid="20" grpId="1" animBg="1"/>
      <p:bldP spid="21" grpId="0" bldLvl="0" animBg="1"/>
      <p:bldP spid="22" grpId="0" bldLvl="0" animBg="1"/>
      <p:bldP spid="23" grpId="0" bldLvl="0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9" grpId="0" animBg="1"/>
      <p:bldP spid="39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2167573" y="289655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3593148" y="289655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2454910" y="304165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2886710" y="28965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3592513" y="224123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2413000" y="2385695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2858770" y="25434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5026343" y="224123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3888105" y="238633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4319905" y="22412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5026343" y="28971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3888105" y="304228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4319905" y="28971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6452553" y="28946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5314315" y="303974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5746115" y="28946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3600133" y="38179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2413000" y="314325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2893695" y="35309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3736340" y="318579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3592195" y="340995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5026343" y="38179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6452553" y="38179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7774623" y="225456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5313680" y="2385695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6697980" y="2399030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6697980" y="2501265"/>
            <a:ext cx="1118235" cy="13589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5313680" y="3962400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3887470" y="3962400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3845560" y="3143885"/>
            <a:ext cx="1222375" cy="7162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5271770" y="3141345"/>
            <a:ext cx="1222375" cy="71882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5739130" y="25434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32" name="Oval 60"/>
          <p:cNvSpPr/>
          <p:nvPr/>
        </p:nvSpPr>
        <p:spPr>
          <a:xfrm>
            <a:off x="7092315" y="25434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3" name="Oval 60"/>
          <p:cNvSpPr/>
          <p:nvPr/>
        </p:nvSpPr>
        <p:spPr>
          <a:xfrm>
            <a:off x="7092315" y="304196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4" name="Oval 60"/>
          <p:cNvSpPr/>
          <p:nvPr/>
        </p:nvSpPr>
        <p:spPr>
          <a:xfrm>
            <a:off x="5821680" y="381984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5" name="Oval 60"/>
          <p:cNvSpPr/>
          <p:nvPr/>
        </p:nvSpPr>
        <p:spPr>
          <a:xfrm>
            <a:off x="5760085" y="3328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6" name="Oval 60"/>
          <p:cNvSpPr/>
          <p:nvPr/>
        </p:nvSpPr>
        <p:spPr>
          <a:xfrm>
            <a:off x="4428490" y="328517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</a:p>
        </p:txBody>
      </p:sp>
      <p:sp useBgFill="1">
        <p:nvSpPr>
          <p:cNvPr id="37" name="Oval 60"/>
          <p:cNvSpPr/>
          <p:nvPr/>
        </p:nvSpPr>
        <p:spPr>
          <a:xfrm>
            <a:off x="4319905" y="38598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3838575" y="2487930"/>
            <a:ext cx="1229360" cy="4508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4428490" y="256952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054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54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054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054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0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00"/>
                            </p:stCondLst>
                            <p:childTnLst>
                              <p:par>
                                <p:cTn id="2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1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1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1054746" grpId="0" bldLvl="0" animBg="1"/>
      <p:bldP spid="1054747" grpId="0" bldLvl="0" animBg="1"/>
      <p:bldP spid="1054780" grpId="0" animBg="1"/>
      <p:bldP spid="1054780" grpId="1" animBg="1"/>
      <p:bldP spid="4" grpId="0" bldLvl="0" animBg="1"/>
      <p:bldP spid="6" grpId="0" animBg="1"/>
      <p:bldP spid="6" grpId="1" animBg="1"/>
      <p:bldP spid="7" grpId="0" bldLvl="0" animBg="1"/>
      <p:bldP spid="9" grpId="0" animBg="1"/>
      <p:bldP spid="9" grpId="1" animBg="1"/>
      <p:bldP spid="10" grpId="0" bldLvl="0" animBg="1"/>
      <p:bldP spid="12" grpId="0" animBg="1"/>
      <p:bldP spid="12" grpId="1" animBg="1"/>
      <p:bldP spid="13" grpId="0" bldLvl="0" animBg="1"/>
      <p:bldP spid="15" grpId="0" animBg="1"/>
      <p:bldP spid="15" grpId="1" animBg="1"/>
      <p:bldP spid="16" grpId="0" bldLvl="0" animBg="1"/>
      <p:bldP spid="18" grpId="0" animBg="1"/>
      <p:bldP spid="18" grpId="1" animBg="1"/>
      <p:bldP spid="20" grpId="0" animBg="1"/>
      <p:bldP spid="20" grpId="1" animBg="1"/>
      <p:bldP spid="21" grpId="0" bldLvl="0" animBg="1"/>
      <p:bldP spid="22" grpId="0" bldLvl="0" animBg="1"/>
      <p:bldP spid="23" grpId="0" bldLvl="0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9" grpId="0" animBg="1"/>
      <p:bldP spid="39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Floyd</a:t>
            </a:r>
            <a:r>
              <a:rPr lang="zh-CN" altLang="en-US"/>
              <a:t>算法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顶点编号为</a:t>
            </a:r>
            <a:r>
              <a:rPr lang="en-US" altLang="zh-CN"/>
              <a:t>1</a:t>
            </a:r>
            <a:r>
              <a:rPr lang="zh-CN" altLang="en-US"/>
              <a:t>～</a:t>
            </a:r>
            <a:r>
              <a:rPr lang="en-US" altLang="zh-CN"/>
              <a:t>n</a:t>
            </a:r>
          </a:p>
          <a:p>
            <a:r>
              <a:rPr lang="en-US" altLang="zh-CN"/>
              <a:t>c(i,j,k)</a:t>
            </a:r>
            <a:r>
              <a:rPr lang="zh-CN" altLang="en-US"/>
              <a:t>：</a:t>
            </a:r>
            <a:r>
              <a:rPr lang="en-US" altLang="zh-CN"/>
              <a:t>i</a:t>
            </a:r>
            <a:r>
              <a:rPr lang="en-US" altLang="zh-CN">
                <a:sym typeface="Wingdings" panose="05000000000000000000" pitchFamily="2" charset="2"/>
              </a:rPr>
              <a:t>j</a:t>
            </a:r>
            <a:r>
              <a:rPr lang="zh-CN" altLang="en-US">
                <a:sym typeface="Wingdings" panose="05000000000000000000" pitchFamily="2" charset="2"/>
              </a:rPr>
              <a:t>的“最短路径”长度</a:t>
            </a:r>
            <a:r>
              <a:rPr lang="en-US" altLang="zh-CN">
                <a:sym typeface="Wingdings" panose="05000000000000000000" pitchFamily="2" charset="2"/>
              </a:rPr>
              <a:t>——</a:t>
            </a:r>
            <a:r>
              <a:rPr lang="zh-CN" altLang="en-US">
                <a:sym typeface="Wingdings" panose="05000000000000000000" pitchFamily="2" charset="2"/>
              </a:rPr>
              <a:t>加了限制条件，路径中顶点的最大编号为</a:t>
            </a:r>
            <a:r>
              <a:rPr lang="en-US" altLang="zh-CN">
                <a:sym typeface="Wingdings" panose="05000000000000000000" pitchFamily="2" charset="2"/>
              </a:rPr>
              <a:t>k</a:t>
            </a:r>
          </a:p>
          <a:p>
            <a:pPr lvl="1"/>
            <a:r>
              <a:rPr lang="zh-CN" altLang="en-US"/>
              <a:t>存在边</a:t>
            </a:r>
            <a:r>
              <a:rPr lang="en-US" altLang="zh-CN"/>
              <a:t>&lt;i, j&gt;</a:t>
            </a:r>
            <a:r>
              <a:rPr lang="en-US" altLang="zh-CN">
                <a:sym typeface="Wingdings" panose="05000000000000000000" pitchFamily="2" charset="2"/>
              </a:rPr>
              <a:t>c(i, j, 0)=&lt;i, j&gt;</a:t>
            </a:r>
            <a:r>
              <a:rPr lang="zh-CN" altLang="en-US">
                <a:sym typeface="Wingdings" panose="05000000000000000000" pitchFamily="2" charset="2"/>
              </a:rPr>
              <a:t>的长度</a:t>
            </a:r>
          </a:p>
          <a:p>
            <a:pPr lvl="1"/>
            <a:r>
              <a:rPr lang="zh-CN" altLang="en-US">
                <a:sym typeface="Wingdings" panose="05000000000000000000" pitchFamily="2" charset="2"/>
              </a:rPr>
              <a:t>不存在边</a:t>
            </a:r>
            <a:r>
              <a:rPr lang="en-US" altLang="zh-CN">
                <a:sym typeface="Wingdings" panose="05000000000000000000" pitchFamily="2" charset="2"/>
              </a:rPr>
              <a:t>&lt;i, j&gt;c(i, j, 0)=+</a:t>
            </a:r>
            <a:r>
              <a:rPr lang="en-US" altLang="zh-CN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Wingdings" panose="05000000000000000000" pitchFamily="2" charset="2"/>
              </a:rPr>
              <a:t>∞</a:t>
            </a:r>
            <a:endParaRPr lang="en-US" altLang="zh-CN">
              <a:sym typeface="Wingdings" panose="05000000000000000000" pitchFamily="2" charset="2"/>
            </a:endParaRP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c(i, i, 0)=0</a:t>
            </a: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c(i, j, n)——</a:t>
            </a:r>
            <a:r>
              <a:rPr lang="zh-CN" altLang="en-US">
                <a:sym typeface="Wingdings" panose="05000000000000000000" pitchFamily="2" charset="2"/>
              </a:rPr>
              <a:t>最短路径长度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24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Floyd</a:t>
            </a:r>
            <a:r>
              <a:rPr lang="zh-CN" altLang="en-US"/>
              <a:t>算法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Wingdings" panose="05000000000000000000" pitchFamily="2" charset="2"/>
              </a:rPr>
              <a:t>考虑图</a:t>
            </a: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k=0, 1, 2, 3</a:t>
            </a:r>
            <a:r>
              <a:rPr lang="zh-CN" altLang="en-US">
                <a:sym typeface="Wingdings" panose="05000000000000000000" pitchFamily="2" charset="2"/>
              </a:rPr>
              <a:t>，</a:t>
            </a:r>
            <a:r>
              <a:rPr lang="en-US" altLang="zh-CN">
                <a:sym typeface="Wingdings" panose="05000000000000000000" pitchFamily="2" charset="2"/>
              </a:rPr>
              <a:t>c(1, 3, k)= +</a:t>
            </a:r>
            <a:r>
              <a:rPr lang="en-US" altLang="zh-CN" sz="240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Wingdings" panose="05000000000000000000" pitchFamily="2" charset="2"/>
              </a:rPr>
              <a:t>∞</a:t>
            </a:r>
            <a:r>
              <a:rPr lang="en-US" altLang="zh-CN">
                <a:sym typeface="Wingdings" panose="05000000000000000000" pitchFamily="2" charset="2"/>
              </a:rPr>
              <a:t> </a:t>
            </a:r>
            <a:r>
              <a:rPr lang="zh-CN" altLang="en-US">
                <a:sym typeface="Wingdings" panose="05000000000000000000" pitchFamily="2" charset="2"/>
              </a:rPr>
              <a:t>；</a:t>
            </a:r>
            <a:r>
              <a:rPr lang="en-US" altLang="zh-CN">
                <a:sym typeface="Wingdings" panose="05000000000000000000" pitchFamily="2" charset="2"/>
              </a:rPr>
              <a:t>c(1, 3, 4)=28</a:t>
            </a: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k=5, 6, 7</a:t>
            </a:r>
            <a:r>
              <a:rPr lang="zh-CN" altLang="en-US">
                <a:sym typeface="Wingdings" panose="05000000000000000000" pitchFamily="2" charset="2"/>
              </a:rPr>
              <a:t>，</a:t>
            </a:r>
            <a:r>
              <a:rPr lang="en-US" altLang="zh-CN">
                <a:sym typeface="Wingdings" panose="05000000000000000000" pitchFamily="2" charset="2"/>
              </a:rPr>
              <a:t>c(1, 3, k)=10</a:t>
            </a:r>
            <a:r>
              <a:rPr lang="zh-CN" altLang="en-US">
                <a:sym typeface="Wingdings" panose="05000000000000000000" pitchFamily="2" charset="2"/>
              </a:rPr>
              <a:t>；</a:t>
            </a: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k=8, 9, 10</a:t>
            </a:r>
            <a:r>
              <a:rPr lang="zh-CN" altLang="en-US">
                <a:sym typeface="Wingdings" panose="05000000000000000000" pitchFamily="2" charset="2"/>
              </a:rPr>
              <a:t>，</a:t>
            </a:r>
            <a:r>
              <a:rPr lang="en-US" altLang="zh-CN">
                <a:sym typeface="Wingdings" panose="05000000000000000000" pitchFamily="2" charset="2"/>
              </a:rPr>
              <a:t>c(1, 3, k)=9——</a:t>
            </a:r>
            <a:r>
              <a:rPr lang="zh-CN" altLang="en-US">
                <a:sym typeface="Wingdings" panose="05000000000000000000" pitchFamily="2" charset="2"/>
              </a:rPr>
              <a:t>最短路径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25</a:t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1471613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897188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758950" y="45631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2190750" y="44180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896553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1717040" y="390779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2162810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4330383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3192145" y="390779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3623945" y="37626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4330383" y="44186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3192145" y="456374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3623945" y="44186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5756593" y="441610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4618355" y="456120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5050155" y="44161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904173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1717040" y="466471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2197735" y="505237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3040380" y="470725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896235" y="493141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4330383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5756593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7078663" y="377602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4617720" y="390779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6002020" y="392112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6002020" y="402272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461772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319151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3149600" y="466534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4575810" y="466280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5043170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32" name="Oval 60"/>
          <p:cNvSpPr/>
          <p:nvPr/>
        </p:nvSpPr>
        <p:spPr>
          <a:xfrm>
            <a:off x="6396355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3" name="Oval 60"/>
          <p:cNvSpPr/>
          <p:nvPr/>
        </p:nvSpPr>
        <p:spPr>
          <a:xfrm>
            <a:off x="6396355" y="456342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4" name="Oval 60"/>
          <p:cNvSpPr/>
          <p:nvPr/>
        </p:nvSpPr>
        <p:spPr>
          <a:xfrm>
            <a:off x="5125720" y="534130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5" name="Oval 60"/>
          <p:cNvSpPr/>
          <p:nvPr/>
        </p:nvSpPr>
        <p:spPr>
          <a:xfrm>
            <a:off x="5064125" y="48504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6" name="Oval 60"/>
          <p:cNvSpPr/>
          <p:nvPr/>
        </p:nvSpPr>
        <p:spPr>
          <a:xfrm>
            <a:off x="3732530" y="48066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</a:p>
        </p:txBody>
      </p:sp>
      <p:sp useBgFill="1">
        <p:nvSpPr>
          <p:cNvPr id="37" name="Oval 60"/>
          <p:cNvSpPr/>
          <p:nvPr/>
        </p:nvSpPr>
        <p:spPr>
          <a:xfrm>
            <a:off x="3623945" y="53813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3142615" y="400939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3732530" y="4090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如何计算</a:t>
            </a:r>
            <a:r>
              <a:rPr lang="en-US" altLang="zh-CN"/>
              <a:t>c(i, j, k)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顶点最大编号不超过</a:t>
            </a:r>
            <a:r>
              <a:rPr lang="en-US" altLang="zh-CN"/>
              <a:t>k</a:t>
            </a:r>
            <a:r>
              <a:rPr lang="zh-CN" altLang="en-US"/>
              <a:t>，两种情况</a:t>
            </a:r>
          </a:p>
          <a:p>
            <a:pPr lvl="1"/>
            <a:r>
              <a:rPr lang="zh-CN" altLang="en-US"/>
              <a:t>路径不包含</a:t>
            </a:r>
            <a:r>
              <a:rPr lang="en-US" altLang="zh-CN"/>
              <a:t>k</a:t>
            </a:r>
            <a:r>
              <a:rPr lang="zh-CN" altLang="en-US"/>
              <a:t>，</a:t>
            </a:r>
            <a:r>
              <a:rPr lang="en-US" altLang="zh-CN"/>
              <a:t>c(i, j, k)=c(i, j, k-1)</a:t>
            </a:r>
          </a:p>
          <a:p>
            <a:pPr lvl="1"/>
            <a:r>
              <a:rPr lang="zh-CN" altLang="en-US"/>
              <a:t>包含</a:t>
            </a:r>
            <a:r>
              <a:rPr lang="en-US" altLang="zh-CN"/>
              <a:t>k</a:t>
            </a:r>
            <a:r>
              <a:rPr lang="zh-CN" altLang="en-US"/>
              <a:t>，</a:t>
            </a:r>
            <a:r>
              <a:rPr lang="en-US" altLang="zh-CN"/>
              <a:t>c(i, j, k)=c(i, k, k-1) + c(k, j, k-1)</a:t>
            </a: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c(i,j,k)=min{c(i,j,k-1), </a:t>
            </a:r>
            <a:r>
              <a:rPr lang="en-US" altLang="zh-CN"/>
              <a:t>c(i,k,k-1)+c(k,j,k-1)}</a:t>
            </a:r>
          </a:p>
          <a:p>
            <a:r>
              <a:rPr lang="zh-CN" altLang="en-US"/>
              <a:t>递归算法，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r>
              <a:rPr lang="en-US" altLang="zh-CN"/>
              <a:t>(n2</a:t>
            </a:r>
            <a:r>
              <a:rPr lang="en-US" altLang="zh-CN" baseline="30000"/>
              <a:t>n</a:t>
            </a:r>
            <a:r>
              <a:rPr lang="en-US" altLang="zh-CN"/>
              <a:t>)</a:t>
            </a:r>
          </a:p>
          <a:p>
            <a:r>
              <a:rPr lang="zh-CN" altLang="en-US"/>
              <a:t>迭代计算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r>
              <a:rPr lang="en-US" altLang="zh-CN"/>
              <a:t>(n</a:t>
            </a:r>
            <a:r>
              <a:rPr lang="en-US" altLang="zh-CN" baseline="30000"/>
              <a:t>3</a:t>
            </a:r>
            <a:r>
              <a:rPr lang="en-US" altLang="zh-CN"/>
              <a:t>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26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如何计算</a:t>
            </a:r>
            <a:r>
              <a:rPr lang="en-US" altLang="zh-CN"/>
              <a:t>c(i, j, k)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325668"/>
            <a:ext cx="7886700" cy="4686830"/>
          </a:xfrm>
        </p:spPr>
        <p:txBody>
          <a:bodyPr/>
          <a:lstStyle/>
          <a:p>
            <a:pPr lvl="1"/>
            <a:r>
              <a:rPr lang="zh-CN" altLang="en-US"/>
              <a:t>路径不包含</a:t>
            </a:r>
            <a:r>
              <a:rPr lang="en-US" altLang="zh-CN"/>
              <a:t>k</a:t>
            </a:r>
            <a:r>
              <a:rPr lang="zh-CN" altLang="en-US"/>
              <a:t>，</a:t>
            </a:r>
            <a:r>
              <a:rPr lang="en-US" altLang="zh-CN"/>
              <a:t>c(i, j, k)=c(i, j, k-1)</a:t>
            </a:r>
          </a:p>
          <a:p>
            <a:pPr lvl="1"/>
            <a:r>
              <a:rPr lang="zh-CN" altLang="en-US"/>
              <a:t>包含</a:t>
            </a:r>
            <a:r>
              <a:rPr lang="en-US" altLang="zh-CN"/>
              <a:t>k</a:t>
            </a:r>
            <a:r>
              <a:rPr lang="zh-CN" altLang="en-US"/>
              <a:t>，</a:t>
            </a:r>
            <a:r>
              <a:rPr lang="en-US" altLang="zh-CN"/>
              <a:t>c(i, j, k)=c(i, k, k-1) + c(k, j, k-1)</a:t>
            </a:r>
          </a:p>
          <a:p>
            <a:pPr marL="342900" lvl="1" indent="0">
              <a:buNone/>
            </a:pPr>
            <a:r>
              <a:rPr lang="en-US" altLang="zh-CN">
                <a:sym typeface="Wingdings" panose="05000000000000000000" pitchFamily="2" charset="2"/>
              </a:rPr>
              <a:t>	c(i,j,k)=min{c(i,j,k-1), </a:t>
            </a:r>
            <a:r>
              <a:rPr lang="en-US" altLang="zh-CN"/>
              <a:t>c(i,k,k-1)+c(k,j,k-1)}</a:t>
            </a:r>
          </a:p>
          <a:p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27</a:t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1471613" y="4938078"/>
            <a:ext cx="287338" cy="288925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897188" y="4938078"/>
            <a:ext cx="287338" cy="288925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758950" y="509143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2190750" y="493807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896553" y="4282758"/>
            <a:ext cx="287338" cy="288925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1717040" y="443611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2162810" y="45850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4330383" y="428275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3192145" y="44361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3623945" y="42827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4330383" y="49387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3192145" y="509206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3623945" y="49387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5756593" y="493617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4618355" y="508952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5050155" y="493617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904173" y="5859463"/>
            <a:ext cx="287338" cy="288925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1717040" y="519303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2197735" y="557244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3040380" y="523557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896235" y="545147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4330383" y="58594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5756593" y="58594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7078663" y="42960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4617720" y="443611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6002020" y="444944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6002020" y="455104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4617720" y="601281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3191510" y="601281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3149600" y="519366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4575810" y="519112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5043170" y="45850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32" name="Oval 60"/>
          <p:cNvSpPr/>
          <p:nvPr/>
        </p:nvSpPr>
        <p:spPr>
          <a:xfrm>
            <a:off x="6396355" y="45850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3" name="Oval 60"/>
          <p:cNvSpPr/>
          <p:nvPr/>
        </p:nvSpPr>
        <p:spPr>
          <a:xfrm>
            <a:off x="6396355" y="50834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4" name="Oval 60"/>
          <p:cNvSpPr/>
          <p:nvPr/>
        </p:nvSpPr>
        <p:spPr>
          <a:xfrm>
            <a:off x="5125720" y="586136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5" name="Oval 60"/>
          <p:cNvSpPr/>
          <p:nvPr/>
        </p:nvSpPr>
        <p:spPr>
          <a:xfrm>
            <a:off x="5064125" y="53705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6" name="Oval 60"/>
          <p:cNvSpPr/>
          <p:nvPr/>
        </p:nvSpPr>
        <p:spPr>
          <a:xfrm>
            <a:off x="3732530" y="532669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</a:p>
        </p:txBody>
      </p:sp>
      <p:sp useBgFill="1">
        <p:nvSpPr>
          <p:cNvPr id="37" name="Oval 60"/>
          <p:cNvSpPr/>
          <p:nvPr/>
        </p:nvSpPr>
        <p:spPr>
          <a:xfrm>
            <a:off x="3623945" y="590137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3142615" y="453771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3732530" y="46110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graphicFrame>
        <p:nvGraphicFramePr>
          <p:cNvPr id="1772613" name="Group 6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049655" y="2605723"/>
          <a:ext cx="5322570" cy="792480"/>
        </p:xfrm>
        <a:graphic>
          <a:graphicData uri="http://schemas.openxmlformats.org/drawingml/2006/table">
            <a:tbl>
              <a:tblPr/>
              <a:tblGrid>
                <a:gridCol w="48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49655" y="3484880"/>
            <a:ext cx="6659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>
                <a:sym typeface="+mn-ea"/>
              </a:rPr>
              <a:t>包含</a:t>
            </a: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c(1, 3, 5)=c(1,5,4)+c(5,3,4)</a:t>
            </a:r>
            <a:r>
              <a:rPr lang="zh-CN" altLang="en-US">
                <a:sym typeface="+mn-ea"/>
              </a:rPr>
              <a:t>；</a:t>
            </a:r>
            <a:r>
              <a:rPr lang="en-US" altLang="zh-CN">
                <a:sym typeface="+mn-ea"/>
              </a:rPr>
              <a:t>c(1, 8, 5)=c(1,5,4)+c(5,8,4)</a:t>
            </a:r>
            <a:endParaRPr lang="zh-CN" altLang="en-US"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49655" y="3853180"/>
            <a:ext cx="71805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>
                <a:sym typeface="+mn-ea"/>
              </a:rPr>
              <a:t>不包含</a:t>
            </a: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c(1, 2, 5)&lt;c(1,5,4)+c(5,2,4)</a:t>
            </a:r>
            <a:r>
              <a:rPr lang="zh-CN" altLang="en-US">
                <a:sym typeface="+mn-ea"/>
              </a:rPr>
              <a:t>；</a:t>
            </a:r>
            <a:r>
              <a:rPr lang="en-US" altLang="zh-CN">
                <a:sym typeface="+mn-ea"/>
              </a:rPr>
              <a:t>c(1, 4, 5)&lt;c(1,5,4)+c(5,4,4) </a:t>
            </a:r>
            <a:r>
              <a:rPr lang="zh-CN" altLang="en-US">
                <a:sym typeface="+mn-ea"/>
              </a:rPr>
              <a:t>等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迭代计算伪代码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7780338" cy="4570412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/ /</a:t>
            </a:r>
            <a:r>
              <a:rPr lang="zh-CN" altLang="en-US" sz="2000"/>
              <a:t>寻找最短路径的长度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/ /</a:t>
            </a:r>
            <a:r>
              <a:rPr lang="zh-CN" altLang="en-US" sz="2000"/>
              <a:t>初始化</a:t>
            </a:r>
            <a:r>
              <a:rPr lang="en-US" altLang="zh-CN" sz="2000"/>
              <a:t>c</a:t>
            </a:r>
            <a:r>
              <a:rPr lang="zh-CN" altLang="en-US" sz="2000"/>
              <a:t>（</a:t>
            </a:r>
            <a:r>
              <a:rPr lang="en-US" altLang="zh-CN" sz="2000" i="1"/>
              <a:t>i</a:t>
            </a:r>
            <a:r>
              <a:rPr lang="zh-CN" altLang="en-US" sz="2000"/>
              <a:t>，</a:t>
            </a:r>
            <a:r>
              <a:rPr lang="en-US" altLang="zh-CN" sz="2000" i="1"/>
              <a:t>j</a:t>
            </a:r>
            <a:r>
              <a:rPr lang="zh-CN" altLang="en-US" sz="2000"/>
              <a:t>，</a:t>
            </a:r>
            <a:r>
              <a:rPr lang="en-US" altLang="zh-CN" sz="2000"/>
              <a:t>1</a:t>
            </a:r>
            <a:r>
              <a:rPr lang="zh-CN" altLang="en-US" sz="2000"/>
              <a:t>）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for  (int i=1</a:t>
            </a:r>
            <a:r>
              <a:rPr lang="zh-CN" altLang="en-US" sz="2000"/>
              <a:t>； </a:t>
            </a:r>
            <a:r>
              <a:rPr lang="en-US" altLang="zh-CN" sz="2000"/>
              <a:t>i &lt; = n ; i ++)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for (int </a:t>
            </a:r>
            <a:r>
              <a:rPr lang="en-US" altLang="zh-CN" sz="2000" i="1"/>
              <a:t>j</a:t>
            </a:r>
            <a:r>
              <a:rPr lang="en-US" altLang="zh-CN" sz="2000"/>
              <a:t>=1; </a:t>
            </a:r>
            <a:r>
              <a:rPr lang="en-US" altLang="zh-CN" sz="2000" i="1"/>
              <a:t>j</a:t>
            </a:r>
            <a:r>
              <a:rPr lang="en-US" altLang="zh-CN" sz="2000"/>
              <a:t>&lt;=n; </a:t>
            </a:r>
            <a:r>
              <a:rPr lang="en-US" altLang="zh-CN" sz="2000" i="1"/>
              <a:t>j</a:t>
            </a:r>
            <a:r>
              <a:rPr lang="en-US" altLang="zh-CN" sz="2000"/>
              <a:t>++)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   c( i ,</a:t>
            </a:r>
            <a:r>
              <a:rPr lang="en-US" altLang="zh-CN" sz="2000" i="1"/>
              <a:t>j</a:t>
            </a:r>
            <a:r>
              <a:rPr lang="en-US" altLang="zh-CN" sz="2000"/>
              <a:t>, 0) = a (i ,</a:t>
            </a:r>
            <a:r>
              <a:rPr lang="en-US" altLang="zh-CN" sz="2000" i="1"/>
              <a:t>j</a:t>
            </a:r>
            <a:r>
              <a:rPr lang="en-US" altLang="zh-CN" sz="2000"/>
              <a:t>); // a </a:t>
            </a:r>
            <a:r>
              <a:rPr lang="zh-CN" altLang="en-US" sz="2000"/>
              <a:t>是长度邻接矩阵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/ /</a:t>
            </a:r>
            <a:r>
              <a:rPr lang="zh-CN" altLang="en-US" sz="2000"/>
              <a:t>计算</a:t>
            </a:r>
            <a:r>
              <a:rPr lang="en-US" altLang="zh-CN" sz="2000"/>
              <a:t>c ( i ,</a:t>
            </a:r>
            <a:r>
              <a:rPr lang="en-US" altLang="zh-CN" sz="2000" i="1"/>
              <a:t>j</a:t>
            </a:r>
            <a:r>
              <a:rPr lang="en-US" altLang="zh-CN" sz="2000"/>
              <a:t>, k ) ( 0 &lt; k &lt; = n 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for(int k=1;k&lt;=n;k++)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for (int i=1;i&lt;=n;i++)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   for (int </a:t>
            </a:r>
            <a:r>
              <a:rPr lang="en-US" altLang="zh-CN" sz="2000" i="1"/>
              <a:t>j</a:t>
            </a:r>
            <a:r>
              <a:rPr lang="en-US" altLang="zh-CN" sz="2000"/>
              <a:t>= 1 ;</a:t>
            </a:r>
            <a:r>
              <a:rPr lang="en-US" altLang="zh-CN" sz="2000" i="1"/>
              <a:t>j</a:t>
            </a:r>
            <a:r>
              <a:rPr lang="en-US" altLang="zh-CN" sz="2000"/>
              <a:t>&lt; = n ;</a:t>
            </a:r>
            <a:r>
              <a:rPr lang="en-US" altLang="zh-CN" sz="2000" i="1"/>
              <a:t>j</a:t>
            </a:r>
            <a:r>
              <a:rPr lang="en-US" altLang="zh-CN" sz="2000"/>
              <a:t>+ + 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if (c(i,k,k-1)+c(k, </a:t>
            </a:r>
            <a:r>
              <a:rPr lang="en-US" altLang="zh-CN" sz="2000" i="1"/>
              <a:t>j</a:t>
            </a:r>
            <a:r>
              <a:rPr lang="en-US" altLang="zh-CN" sz="2000"/>
              <a:t>, k - 1) &lt; c (i, </a:t>
            </a:r>
            <a:r>
              <a:rPr lang="en-US" altLang="zh-CN" sz="2000" i="1"/>
              <a:t>j</a:t>
            </a:r>
            <a:r>
              <a:rPr lang="en-US" altLang="zh-CN" sz="2000"/>
              <a:t>, k - 1))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   c(i, </a:t>
            </a:r>
            <a:r>
              <a:rPr lang="en-US" altLang="zh-CN" sz="2000" i="1"/>
              <a:t>j</a:t>
            </a:r>
            <a:r>
              <a:rPr lang="en-US" altLang="zh-CN" sz="2000"/>
              <a:t>, k) = c(i, k, k - 1) + c(k, </a:t>
            </a:r>
            <a:r>
              <a:rPr lang="en-US" altLang="zh-CN" sz="2000" i="1"/>
              <a:t>j</a:t>
            </a:r>
            <a:r>
              <a:rPr lang="en-US" altLang="zh-CN" sz="2000"/>
              <a:t>, k - 1) 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else c(i, </a:t>
            </a:r>
            <a:r>
              <a:rPr lang="en-US" altLang="zh-CN" sz="2000" i="1"/>
              <a:t>j</a:t>
            </a:r>
            <a:r>
              <a:rPr lang="en-US" altLang="zh-CN" sz="2000"/>
              <a:t>, k) = c (i, </a:t>
            </a:r>
            <a:r>
              <a:rPr lang="en-US" altLang="zh-CN" sz="2000" i="1"/>
              <a:t>j</a:t>
            </a:r>
            <a:r>
              <a:rPr lang="en-US" altLang="zh-CN" sz="2000"/>
              <a:t>, k - 1);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28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Floyd</a:t>
            </a:r>
            <a:r>
              <a:rPr lang="zh-CN" altLang="en-US"/>
              <a:t>算法例</a:t>
            </a:r>
          </a:p>
        </p:txBody>
      </p:sp>
      <p:graphicFrame>
        <p:nvGraphicFramePr>
          <p:cNvPr id="1772613" name="Group 6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495800" y="19510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075" name="Text Box 65"/>
          <p:cNvSpPr txBox="1">
            <a:spLocks noChangeArrowheads="1"/>
          </p:cNvSpPr>
          <p:nvPr/>
        </p:nvSpPr>
        <p:spPr bwMode="ltGray">
          <a:xfrm>
            <a:off x="4495800" y="1447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C0</a:t>
            </a:r>
          </a:p>
        </p:txBody>
      </p:sp>
      <p:pic>
        <p:nvPicPr>
          <p:cNvPr id="44076" name="Picture 66" descr="floyd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05000"/>
            <a:ext cx="376872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29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Floyd</a:t>
            </a:r>
            <a:r>
              <a:rPr lang="zh-CN" altLang="en-US"/>
              <a:t>算法例（续）</a:t>
            </a:r>
          </a:p>
        </p:txBody>
      </p:sp>
      <p:graphicFrame>
        <p:nvGraphicFramePr>
          <p:cNvPr id="1773571" name="Group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099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C0</a:t>
            </a:r>
          </a:p>
        </p:txBody>
      </p:sp>
      <p:sp>
        <p:nvSpPr>
          <p:cNvPr id="45100" name="Text Box 45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c(i,j,1)=min(c(i,j,0), c(i,1,0)+c(1,j,0))</a:t>
            </a:r>
          </a:p>
        </p:txBody>
      </p:sp>
      <p:graphicFrame>
        <p:nvGraphicFramePr>
          <p:cNvPr id="1773614" name="Group 4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141" name="Text Box 86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C1</a:t>
            </a: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266700" y="2889250"/>
            <a:ext cx="3767138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263525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 bwMode="auto">
          <a:xfrm>
            <a:off x="419100" y="2165350"/>
            <a:ext cx="3767138" cy="25193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30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Floyd</a:t>
            </a:r>
            <a:r>
              <a:rPr lang="zh-CN" altLang="en-US"/>
              <a:t>算法例（续）</a:t>
            </a:r>
          </a:p>
        </p:txBody>
      </p:sp>
      <p:graphicFrame>
        <p:nvGraphicFramePr>
          <p:cNvPr id="1774595" name="Group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123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C1</a:t>
            </a:r>
          </a:p>
        </p:txBody>
      </p:sp>
      <p:sp>
        <p:nvSpPr>
          <p:cNvPr id="46124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c(i,j,2)=min(c(i,j,1), c(i,2,1)+c(2,j,1))</a:t>
            </a:r>
          </a:p>
        </p:txBody>
      </p:sp>
      <p:graphicFrame>
        <p:nvGraphicFramePr>
          <p:cNvPr id="1774678" name="Group 8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165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C2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266700" y="3249613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 rot="16200000">
            <a:off x="981075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>
            <a:off x="419100" y="2024063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31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Floyd</a:t>
            </a:r>
            <a:r>
              <a:rPr lang="zh-CN" altLang="en-US"/>
              <a:t>算法例（续）</a:t>
            </a:r>
          </a:p>
        </p:txBody>
      </p:sp>
      <p:graphicFrame>
        <p:nvGraphicFramePr>
          <p:cNvPr id="1775619" name="Group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147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C2</a:t>
            </a:r>
          </a:p>
        </p:txBody>
      </p:sp>
      <p:sp>
        <p:nvSpPr>
          <p:cNvPr id="47148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c(i,j,3)=min(c(i,j,2), c(i,3,2)+c(3,j,2))</a:t>
            </a:r>
          </a:p>
        </p:txBody>
      </p:sp>
      <p:graphicFrame>
        <p:nvGraphicFramePr>
          <p:cNvPr id="1775703" name="Group 87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189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C3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19100" y="2097088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266700" y="3786188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1697037" y="3252788"/>
            <a:ext cx="2519363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32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Floyd</a:t>
            </a:r>
            <a:r>
              <a:rPr lang="zh-CN" altLang="en-US"/>
              <a:t>算法例（续）</a:t>
            </a:r>
          </a:p>
        </p:txBody>
      </p:sp>
      <p:graphicFrame>
        <p:nvGraphicFramePr>
          <p:cNvPr id="1776643" name="Group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171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C3</a:t>
            </a:r>
          </a:p>
        </p:txBody>
      </p:sp>
      <p:sp>
        <p:nvSpPr>
          <p:cNvPr id="48172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c(i,j,4)=min(c(i,j,3), c(i,4,3)+c(4,j,3))</a:t>
            </a:r>
          </a:p>
        </p:txBody>
      </p:sp>
      <p:graphicFrame>
        <p:nvGraphicFramePr>
          <p:cNvPr id="1776685" name="Group 4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213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C4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19100" y="2097088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266700" y="4144963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2235200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33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Floyd</a:t>
            </a:r>
            <a:r>
              <a:rPr lang="zh-CN" altLang="en-US"/>
              <a:t>算法例</a:t>
            </a:r>
          </a:p>
        </p:txBody>
      </p:sp>
      <p:graphicFrame>
        <p:nvGraphicFramePr>
          <p:cNvPr id="1772613" name="Group 6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495800" y="19510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075" name="Text Box 65"/>
          <p:cNvSpPr txBox="1">
            <a:spLocks noChangeArrowheads="1"/>
          </p:cNvSpPr>
          <p:nvPr/>
        </p:nvSpPr>
        <p:spPr bwMode="ltGray">
          <a:xfrm>
            <a:off x="4495800" y="1447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C0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34</a:t>
            </a:fld>
            <a:endParaRPr lang="zh-CN" altLang="en-US" noProof="0" dirty="0"/>
          </a:p>
        </p:txBody>
      </p:sp>
      <p:pic>
        <p:nvPicPr>
          <p:cNvPr id="44076" name="Picture 66" descr="C:/Users/18711/AppData/Local/Temp/kaimatting/20201123123330/output_aiMatting_20201123123521.pngoutput_aiMatting_2020112312352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8130" y="2085340"/>
            <a:ext cx="3768725" cy="1931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Floyd</a:t>
            </a:r>
            <a:r>
              <a:rPr lang="zh-CN" altLang="en-US"/>
              <a:t>算法例（续）</a:t>
            </a:r>
          </a:p>
        </p:txBody>
      </p:sp>
      <p:graphicFrame>
        <p:nvGraphicFramePr>
          <p:cNvPr id="1773571" name="Group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099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C0</a:t>
            </a:r>
          </a:p>
        </p:txBody>
      </p:sp>
      <p:sp>
        <p:nvSpPr>
          <p:cNvPr id="45100" name="Text Box 45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c(i,j,1)=min(c(i,j,0), c(i,1,0)+c(1,j,0))</a:t>
            </a:r>
          </a:p>
        </p:txBody>
      </p:sp>
      <p:graphicFrame>
        <p:nvGraphicFramePr>
          <p:cNvPr id="1773614" name="Group 4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679315" y="1979613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141" name="Text Box 86"/>
          <p:cNvSpPr txBox="1">
            <a:spLocks noChangeArrowheads="1"/>
          </p:cNvSpPr>
          <p:nvPr/>
        </p:nvSpPr>
        <p:spPr bwMode="ltGray">
          <a:xfrm>
            <a:off x="8054975" y="2141855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C1</a:t>
            </a: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266700" y="2889250"/>
            <a:ext cx="3767138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263525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 bwMode="auto">
          <a:xfrm>
            <a:off x="419100" y="2165350"/>
            <a:ext cx="3767138" cy="25193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35</a:t>
            </a:fld>
            <a:endParaRPr lang="zh-CN" altLang="en-US" noProof="0" dirty="0"/>
          </a:p>
        </p:txBody>
      </p:sp>
      <p:graphicFrame>
        <p:nvGraphicFramePr>
          <p:cNvPr id="3" name="Group 46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679315" y="43513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Box 86"/>
          <p:cNvSpPr txBox="1">
            <a:spLocks noChangeArrowheads="1"/>
          </p:cNvSpPr>
          <p:nvPr/>
        </p:nvSpPr>
        <p:spPr bwMode="ltGray">
          <a:xfrm>
            <a:off x="8054975" y="4586605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key1</a:t>
            </a: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Floyd</a:t>
            </a:r>
            <a:r>
              <a:rPr lang="zh-CN" altLang="en-US"/>
              <a:t>算法例（续）</a:t>
            </a:r>
          </a:p>
        </p:txBody>
      </p:sp>
      <p:graphicFrame>
        <p:nvGraphicFramePr>
          <p:cNvPr id="1774595" name="Group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123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C1</a:t>
            </a:r>
          </a:p>
        </p:txBody>
      </p:sp>
      <p:sp>
        <p:nvSpPr>
          <p:cNvPr id="46124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c(i,j,2)=min(c(i,j,1), c(i,2,1)+c(2,j,1))</a:t>
            </a:r>
          </a:p>
        </p:txBody>
      </p:sp>
      <p:graphicFrame>
        <p:nvGraphicFramePr>
          <p:cNvPr id="1774678" name="Group 8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614545" y="189388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165" name="Text Box 85"/>
          <p:cNvSpPr txBox="1">
            <a:spLocks noChangeArrowheads="1"/>
          </p:cNvSpPr>
          <p:nvPr/>
        </p:nvSpPr>
        <p:spPr bwMode="ltGray">
          <a:xfrm>
            <a:off x="8049895" y="1894205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C2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266700" y="3249613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 rot="16200000">
            <a:off x="981075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>
            <a:off x="419100" y="2024063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36</a:t>
            </a:fld>
            <a:endParaRPr lang="zh-CN" altLang="en-US" noProof="0" dirty="0"/>
          </a:p>
        </p:txBody>
      </p:sp>
      <p:graphicFrame>
        <p:nvGraphicFramePr>
          <p:cNvPr id="3" name="Group 46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614545" y="434879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Box 86"/>
          <p:cNvSpPr txBox="1">
            <a:spLocks noChangeArrowheads="1"/>
          </p:cNvSpPr>
          <p:nvPr/>
        </p:nvSpPr>
        <p:spPr bwMode="ltGray">
          <a:xfrm>
            <a:off x="8049895" y="4739640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key2</a:t>
            </a: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Floyd</a:t>
            </a:r>
            <a:r>
              <a:rPr lang="zh-CN" altLang="en-US"/>
              <a:t>算法例（续）</a:t>
            </a:r>
          </a:p>
        </p:txBody>
      </p:sp>
      <p:graphicFrame>
        <p:nvGraphicFramePr>
          <p:cNvPr id="1775619" name="Group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147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C2</a:t>
            </a:r>
          </a:p>
        </p:txBody>
      </p:sp>
      <p:sp>
        <p:nvSpPr>
          <p:cNvPr id="47148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c(i,j,3)=min(c(i,j,2), c(i,3,2)+c(3,j,2))</a:t>
            </a:r>
          </a:p>
        </p:txBody>
      </p:sp>
      <p:graphicFrame>
        <p:nvGraphicFramePr>
          <p:cNvPr id="1775703" name="Group 87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836160" y="189388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189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C3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19100" y="2097088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266700" y="3786188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1697037" y="3252788"/>
            <a:ext cx="2519363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37</a:t>
            </a:fld>
            <a:endParaRPr lang="zh-CN" altLang="en-US" noProof="0" dirty="0"/>
          </a:p>
        </p:txBody>
      </p:sp>
      <p:graphicFrame>
        <p:nvGraphicFramePr>
          <p:cNvPr id="3" name="Group 46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836160" y="4338003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Box 86"/>
          <p:cNvSpPr txBox="1">
            <a:spLocks noChangeArrowheads="1"/>
          </p:cNvSpPr>
          <p:nvPr/>
        </p:nvSpPr>
        <p:spPr bwMode="ltGray">
          <a:xfrm>
            <a:off x="8268970" y="4685030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key3</a:t>
            </a: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Floyd</a:t>
            </a:r>
            <a:r>
              <a:rPr lang="zh-CN" altLang="en-US"/>
              <a:t>算法例（续）</a:t>
            </a:r>
          </a:p>
        </p:txBody>
      </p:sp>
      <p:graphicFrame>
        <p:nvGraphicFramePr>
          <p:cNvPr id="1776643" name="Group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171" name="Text Box 43"/>
          <p:cNvSpPr txBox="1">
            <a:spLocks noChangeArrowheads="1"/>
          </p:cNvSpPr>
          <p:nvPr/>
        </p:nvSpPr>
        <p:spPr bwMode="ltGray">
          <a:xfrm>
            <a:off x="609600" y="1524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C3</a:t>
            </a:r>
          </a:p>
        </p:txBody>
      </p:sp>
      <p:sp>
        <p:nvSpPr>
          <p:cNvPr id="48172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c(i,j,4)=min(c(i,j,3), c(i,4,3)+c(4,j,3))</a:t>
            </a:r>
          </a:p>
        </p:txBody>
      </p:sp>
      <p:graphicFrame>
        <p:nvGraphicFramePr>
          <p:cNvPr id="1776685" name="Group 4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914900" y="1860233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213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C4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19100" y="2097088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266700" y="4144963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2235200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38</a:t>
            </a:fld>
            <a:endParaRPr lang="zh-CN" altLang="en-US" noProof="0" dirty="0"/>
          </a:p>
        </p:txBody>
      </p:sp>
      <p:graphicFrame>
        <p:nvGraphicFramePr>
          <p:cNvPr id="3" name="Group 46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914900" y="4250373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Box 86"/>
          <p:cNvSpPr txBox="1">
            <a:spLocks noChangeArrowheads="1"/>
          </p:cNvSpPr>
          <p:nvPr/>
        </p:nvSpPr>
        <p:spPr bwMode="ltGray">
          <a:xfrm>
            <a:off x="8268970" y="4685030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key3</a:t>
            </a: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最终代码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void AdjacencyWDigraph&lt;T&gt;::AllPairs(T **c, int **kay)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All pairs shortest paths.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// Compute c[i][j] and kay[i][j] for all i and j.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// initialize c[i][j] = c(i,j,0)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for (int i = 1; i &lt;= n; i++)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for (int j = 1; j &lt;= n; j++) {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c[i][j] = a[i][j];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kay[i][j] = 0;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}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for (i = 1; i &lt;= n; i++)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c[i][i] = 0;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39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最终代码（续）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compute c[i][j] = c(i,j,k)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for (int k = 1; k &lt;= n; k++)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for (int i = 1; i &lt;= n; i++)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for (int j = 1; j &lt;= n; j++) {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T t1 = c[i][k];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T t2 = c[k][j];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T t3 = c[i][j];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if (t1 != NoEdge &amp;&amp; t2 != NoEdge &amp;&amp;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(t3 == NoEdge || t1 + t2 &lt; t3)) {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c[i][j] = t1 + t2;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kay[i][j] = k;}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}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40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最终代码（续）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void outputPath(int **kay, int i, int j)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// Actual code to output i to j path.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if (i == j) return;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if (kay[i][j] == 0) cout &lt;&lt; j &lt;&lt; ' ';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else {outputPath(kay, i, kay[i][j]);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      outputPath(kay, kay[i][j], j);}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41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最终代码（续）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void OutputPath(T **c, int **kay, T NoEdge,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      int i, int j)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Output shortest path from i to j.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 (c[i][j] == NoEdge) {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cout &lt;&lt; "There is no path from " &lt;&lt; i &lt;&lt; " to "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&lt;&lt; j &lt;&lt; endl;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return;}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cout &lt;&lt; "The path is" &lt;&lt; endl;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cout &lt;&lt; i &lt;&lt; ' ';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outputPath(kay,i,j);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cout &lt;&lt; endl;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42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单源最短路径</a:t>
            </a:r>
            <a:r>
              <a:rPr lang="en-US" altLang="zh-CN"/>
              <a:t>-Bellman-Ford</a:t>
            </a:r>
            <a:r>
              <a:rPr lang="zh-CN" altLang="en-US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可以检验负权回路</a:t>
            </a:r>
          </a:p>
          <a:p>
            <a:r>
              <a:rPr lang="zh-CN" altLang="en-US"/>
              <a:t>思路：</a:t>
            </a:r>
            <a:br>
              <a:rPr lang="zh-CN" altLang="en-US"/>
            </a:br>
            <a:r>
              <a:rPr lang="zh-CN" altLang="en-US"/>
              <a:t>对每个</a:t>
            </a:r>
            <a:r>
              <a:rPr lang="en-US" altLang="zh-CN"/>
              <a:t>S-V</a:t>
            </a:r>
            <a:r>
              <a:rPr lang="zh-CN" altLang="en-US"/>
              <a:t>尝试加入全部边。如果可以缩短距离，则认为该边为最短路径候选。</a:t>
            </a:r>
            <a:br>
              <a:rPr lang="zh-CN" altLang="en-US"/>
            </a:br>
            <a:r>
              <a:rPr lang="zh-CN" altLang="en-US"/>
              <a:t>每个最短路径最多有</a:t>
            </a:r>
            <a:r>
              <a:rPr lang="en-US" altLang="zh-CN"/>
              <a:t>n-1</a:t>
            </a:r>
            <a:r>
              <a:rPr lang="zh-CN" altLang="en-US"/>
              <a:t>条边。所以最多尝试</a:t>
            </a:r>
            <a:r>
              <a:rPr lang="en-US" altLang="zh-CN"/>
              <a:t>n-1</a:t>
            </a:r>
            <a:r>
              <a:rPr lang="zh-CN" altLang="en-US"/>
              <a:t>次即可以。</a:t>
            </a:r>
            <a:br>
              <a:rPr lang="zh-CN" altLang="en-US"/>
            </a:br>
            <a:r>
              <a:rPr lang="zh-CN" altLang="en-US"/>
              <a:t>如果第</a:t>
            </a:r>
            <a:r>
              <a:rPr lang="en-US" altLang="zh-CN"/>
              <a:t>n</a:t>
            </a:r>
            <a:r>
              <a:rPr lang="zh-CN" altLang="en-US"/>
              <a:t>次仍然会减少权值，则说明存在负权回路。</a:t>
            </a:r>
          </a:p>
          <a:p>
            <a:r>
              <a:rPr lang="zh-CN" altLang="en-US"/>
              <a:t>优化：Shortest Path Faster Algorithm</a:t>
            </a:r>
            <a:r>
              <a:rPr lang="en-US" altLang="zh-CN"/>
              <a:t>-SPFA</a:t>
            </a:r>
          </a:p>
          <a:p>
            <a:pPr lvl="1"/>
            <a:r>
              <a:rPr lang="zh-CN" altLang="en-US" sz="2000"/>
              <a:t>使用队列，快速检测是否已经得到最短路径，及时跳出循环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Bellman-Ford</a:t>
            </a:r>
            <a:r>
              <a:rPr lang="zh-CN" altLang="en-US">
                <a:sym typeface="+mn-ea"/>
              </a:rPr>
              <a:t>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关键代码</a:t>
            </a:r>
          </a:p>
          <a:p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777875" y="1943100"/>
            <a:ext cx="7588250" cy="4615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bool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Bellman_Ford()  </a:t>
            </a:r>
          </a:p>
          <a:p>
            <a:pPr indent="0"/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 = 1; i &lt;= nodenum; ++i) </a:t>
            </a:r>
            <a:r>
              <a:rPr lang="zh-CN" sz="1400" b="0">
                <a:solidFill>
                  <a:srgbClr val="008200"/>
                </a:solidFill>
                <a:ea typeface="宋体" panose="02010600030101010101" pitchFamily="2" charset="-122"/>
              </a:rPr>
              <a:t>//初始化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dis[i] = (i == original ? 0 : MAX);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 = 1; i &lt;= nodenum - 1; ++i)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j = 1; j &lt;= edgenum; ++j)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if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(dis[edge[j].v] &gt; dis[edge[j].u] + edge[j].cost) </a:t>
            </a:r>
            <a:b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        </a:t>
            </a:r>
            <a:r>
              <a:rPr lang="zh-CN" sz="1400" b="0">
                <a:solidFill>
                  <a:srgbClr val="008200"/>
                </a:solidFill>
                <a:ea typeface="宋体" panose="02010600030101010101" pitchFamily="2" charset="-122"/>
              </a:rPr>
              <a:t>//尝试加入边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dis[edge[j].v] = dis[edge[j].u] + edge[j].cost;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pre[edge[j].v] = edge[j].u;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bool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flag = 1; </a:t>
            </a:r>
            <a:r>
              <a:rPr lang="zh-CN" sz="1400" b="0">
                <a:solidFill>
                  <a:srgbClr val="008200"/>
                </a:solidFill>
                <a:ea typeface="宋体" panose="02010600030101010101" pitchFamily="2" charset="-122"/>
              </a:rPr>
              <a:t>//判断是否含有负权回路  ，再次加入一次边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 = 1; i &lt;= edgenum; ++i)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if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(dis[edge[i].v] &gt; dis[edge[i].u] + edge[i].cost)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flag = 0;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break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  </a:t>
            </a:r>
            <a:endParaRPr lang="en-US" sz="1400" b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return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flag;  </a:t>
            </a:r>
          </a:p>
          <a:p>
            <a:pPr indent="0"/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  <a:endParaRPr lang="en-US" altLang="en-US" sz="1400" b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Bellman-Ford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45</a:t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621348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046923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900430" y="45631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1340485" y="44180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046288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858520" y="390779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1312545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3480118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2333625" y="390779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2773680" y="37626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3480118" y="44186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2333625" y="456374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2773680" y="44186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4906328" y="441610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3759835" y="456120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4199890" y="44161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05390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858520" y="466471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1347470" y="505237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2181860" y="470725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045970" y="493141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348011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490632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6228398" y="377602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3759200" y="390779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5143500" y="392112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5143500" y="402272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375920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233299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2291080" y="466534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3717290" y="466280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4192905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32" name="Oval 60"/>
          <p:cNvSpPr/>
          <p:nvPr/>
        </p:nvSpPr>
        <p:spPr>
          <a:xfrm>
            <a:off x="5546090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3" name="Oval 60"/>
          <p:cNvSpPr/>
          <p:nvPr/>
        </p:nvSpPr>
        <p:spPr>
          <a:xfrm>
            <a:off x="5546090" y="456342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4" name="Oval 60"/>
          <p:cNvSpPr/>
          <p:nvPr/>
        </p:nvSpPr>
        <p:spPr>
          <a:xfrm>
            <a:off x="4275455" y="534130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35" name="Oval 60"/>
          <p:cNvSpPr/>
          <p:nvPr/>
        </p:nvSpPr>
        <p:spPr>
          <a:xfrm>
            <a:off x="4213860" y="48504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36" name="Oval 60"/>
          <p:cNvSpPr/>
          <p:nvPr/>
        </p:nvSpPr>
        <p:spPr>
          <a:xfrm>
            <a:off x="2882265" y="48066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</a:p>
        </p:txBody>
      </p:sp>
      <p:sp useBgFill="1">
        <p:nvSpPr>
          <p:cNvPr id="37" name="Oval 60"/>
          <p:cNvSpPr/>
          <p:nvPr/>
        </p:nvSpPr>
        <p:spPr>
          <a:xfrm>
            <a:off x="2773680" y="53813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2284095" y="400939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2882265" y="4090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46" name="AutoShape 3"/>
          <p:cNvSpPr/>
          <p:nvPr/>
        </p:nvSpPr>
        <p:spPr>
          <a:xfrm>
            <a:off x="185483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47" name="AutoShape 4"/>
          <p:cNvSpPr/>
          <p:nvPr/>
        </p:nvSpPr>
        <p:spPr>
          <a:xfrm>
            <a:off x="223329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50" name="AutoShape 5"/>
          <p:cNvSpPr/>
          <p:nvPr/>
        </p:nvSpPr>
        <p:spPr>
          <a:xfrm>
            <a:off x="261175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51" name="AutoShape 6"/>
          <p:cNvSpPr/>
          <p:nvPr/>
        </p:nvSpPr>
        <p:spPr>
          <a:xfrm>
            <a:off x="298958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52" name="AutoShape 7"/>
          <p:cNvSpPr/>
          <p:nvPr/>
        </p:nvSpPr>
        <p:spPr>
          <a:xfrm>
            <a:off x="336804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40" name="AutoShape 8"/>
          <p:cNvSpPr/>
          <p:nvPr/>
        </p:nvSpPr>
        <p:spPr>
          <a:xfrm>
            <a:off x="374650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6</a:t>
            </a:r>
          </a:p>
        </p:txBody>
      </p:sp>
      <p:sp>
        <p:nvSpPr>
          <p:cNvPr id="54" name="AutoShape 9"/>
          <p:cNvSpPr/>
          <p:nvPr/>
        </p:nvSpPr>
        <p:spPr>
          <a:xfrm>
            <a:off x="412305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55" name="AutoShape 14"/>
          <p:cNvSpPr/>
          <p:nvPr/>
        </p:nvSpPr>
        <p:spPr>
          <a:xfrm>
            <a:off x="5213350" y="213169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10</a:t>
            </a:r>
          </a:p>
        </p:txBody>
      </p:sp>
      <p:sp>
        <p:nvSpPr>
          <p:cNvPr id="56" name="AutoShape 9"/>
          <p:cNvSpPr/>
          <p:nvPr/>
        </p:nvSpPr>
        <p:spPr>
          <a:xfrm>
            <a:off x="449326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41" name="AutoShape 3"/>
          <p:cNvSpPr/>
          <p:nvPr>
            <p:custDataLst>
              <p:tags r:id="rId2"/>
            </p:custDataLst>
          </p:nvPr>
        </p:nvSpPr>
        <p:spPr>
          <a:xfrm>
            <a:off x="22066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AutoShape 4"/>
          <p:cNvSpPr/>
          <p:nvPr/>
        </p:nvSpPr>
        <p:spPr>
          <a:xfrm>
            <a:off x="25850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AutoShape 5"/>
          <p:cNvSpPr/>
          <p:nvPr/>
        </p:nvSpPr>
        <p:spPr>
          <a:xfrm>
            <a:off x="296354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AutoShape 6"/>
          <p:cNvSpPr/>
          <p:nvPr/>
        </p:nvSpPr>
        <p:spPr>
          <a:xfrm>
            <a:off x="334200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5" name="AutoShape 7"/>
          <p:cNvSpPr/>
          <p:nvPr/>
        </p:nvSpPr>
        <p:spPr>
          <a:xfrm>
            <a:off x="372046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48" name="AutoShape 8"/>
          <p:cNvSpPr/>
          <p:nvPr/>
        </p:nvSpPr>
        <p:spPr>
          <a:xfrm>
            <a:off x="40989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9" name="AutoShape 9"/>
          <p:cNvSpPr/>
          <p:nvPr/>
        </p:nvSpPr>
        <p:spPr>
          <a:xfrm>
            <a:off x="44773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53" name="AutoShape 14"/>
          <p:cNvSpPr/>
          <p:nvPr/>
        </p:nvSpPr>
        <p:spPr>
          <a:xfrm>
            <a:off x="1833801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endParaRPr kumimoji="1" lang="en-US" altLang="zh-CN" sz="1500" b="1" dirty="0">
              <a:ln>
                <a:noFill/>
              </a:ln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7" name="AutoShape 9"/>
          <p:cNvSpPr/>
          <p:nvPr/>
        </p:nvSpPr>
        <p:spPr>
          <a:xfrm>
            <a:off x="485489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AutoShape 9"/>
          <p:cNvSpPr/>
          <p:nvPr/>
        </p:nvSpPr>
        <p:spPr>
          <a:xfrm>
            <a:off x="485521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59" name="AutoShape 9"/>
          <p:cNvSpPr/>
          <p:nvPr/>
        </p:nvSpPr>
        <p:spPr>
          <a:xfrm>
            <a:off x="521303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AutoShape 7"/>
          <p:cNvSpPr/>
          <p:nvPr/>
        </p:nvSpPr>
        <p:spPr>
          <a:xfrm>
            <a:off x="3724275" y="23876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43560" y="2375535"/>
            <a:ext cx="728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>
                <a:sym typeface="+mn-ea"/>
              </a:rPr>
              <a:t>dis[n]</a:t>
            </a:r>
          </a:p>
        </p:txBody>
      </p:sp>
      <p:sp>
        <p:nvSpPr>
          <p:cNvPr id="62" name="AutoShape 9"/>
          <p:cNvSpPr/>
          <p:nvPr/>
        </p:nvSpPr>
        <p:spPr>
          <a:xfrm>
            <a:off x="4458335" y="23907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AutoShape 3"/>
          <p:cNvSpPr/>
          <p:nvPr>
            <p:custDataLst>
              <p:tags r:id="rId3"/>
            </p:custDataLst>
          </p:nvPr>
        </p:nvSpPr>
        <p:spPr>
          <a:xfrm>
            <a:off x="220662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64" name="AutoShape 4"/>
          <p:cNvSpPr/>
          <p:nvPr/>
        </p:nvSpPr>
        <p:spPr>
          <a:xfrm>
            <a:off x="258508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65" name="AutoShape 5"/>
          <p:cNvSpPr/>
          <p:nvPr/>
        </p:nvSpPr>
        <p:spPr>
          <a:xfrm>
            <a:off x="296354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66" name="AutoShape 6"/>
          <p:cNvSpPr/>
          <p:nvPr/>
        </p:nvSpPr>
        <p:spPr>
          <a:xfrm>
            <a:off x="334200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67" name="AutoShape 7"/>
          <p:cNvSpPr/>
          <p:nvPr/>
        </p:nvSpPr>
        <p:spPr>
          <a:xfrm>
            <a:off x="372046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68" name="AutoShape 8"/>
          <p:cNvSpPr/>
          <p:nvPr/>
        </p:nvSpPr>
        <p:spPr>
          <a:xfrm>
            <a:off x="409892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69" name="AutoShape 9"/>
          <p:cNvSpPr/>
          <p:nvPr/>
        </p:nvSpPr>
        <p:spPr>
          <a:xfrm>
            <a:off x="447738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70" name="AutoShape 14"/>
          <p:cNvSpPr/>
          <p:nvPr/>
        </p:nvSpPr>
        <p:spPr>
          <a:xfrm>
            <a:off x="1833801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71" name="AutoShape 9"/>
          <p:cNvSpPr/>
          <p:nvPr/>
        </p:nvSpPr>
        <p:spPr>
          <a:xfrm>
            <a:off x="4854893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72" name="AutoShape 9"/>
          <p:cNvSpPr/>
          <p:nvPr/>
        </p:nvSpPr>
        <p:spPr>
          <a:xfrm>
            <a:off x="5213033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73" name="AutoShape 7"/>
          <p:cNvSpPr/>
          <p:nvPr/>
        </p:nvSpPr>
        <p:spPr>
          <a:xfrm>
            <a:off x="3724275" y="27336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543560" y="2721610"/>
            <a:ext cx="767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>
                <a:sym typeface="+mn-ea"/>
              </a:rPr>
              <a:t>pre[n]</a:t>
            </a:r>
          </a:p>
        </p:txBody>
      </p:sp>
      <p:sp>
        <p:nvSpPr>
          <p:cNvPr id="75" name="AutoShape 9"/>
          <p:cNvSpPr/>
          <p:nvPr/>
        </p:nvSpPr>
        <p:spPr>
          <a:xfrm>
            <a:off x="4458335" y="27368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76" name="AutoShape 3"/>
          <p:cNvSpPr/>
          <p:nvPr>
            <p:custDataLst>
              <p:tags r:id="rId4"/>
            </p:custDataLst>
          </p:nvPr>
        </p:nvSpPr>
        <p:spPr>
          <a:xfrm>
            <a:off x="2206625" y="27412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77" name="AutoShape 5"/>
          <p:cNvSpPr/>
          <p:nvPr/>
        </p:nvSpPr>
        <p:spPr>
          <a:xfrm>
            <a:off x="2963545" y="27381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78" name="AutoShape 3"/>
          <p:cNvSpPr/>
          <p:nvPr>
            <p:custDataLst>
              <p:tags r:id="rId5"/>
            </p:custDataLst>
          </p:nvPr>
        </p:nvSpPr>
        <p:spPr>
          <a:xfrm>
            <a:off x="2206625" y="24060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9" name="AutoShape 5"/>
          <p:cNvSpPr/>
          <p:nvPr/>
        </p:nvSpPr>
        <p:spPr>
          <a:xfrm>
            <a:off x="296354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80" name="Group 69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6918960" y="1521143"/>
          <a:ext cx="1943100" cy="4777105"/>
        </p:xfrm>
        <a:graphic>
          <a:graphicData uri="http://schemas.openxmlformats.org/drawingml/2006/table">
            <a:tbl>
              <a:tblPr/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index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1" name="右箭头 80"/>
          <p:cNvSpPr/>
          <p:nvPr/>
        </p:nvSpPr>
        <p:spPr>
          <a:xfrm>
            <a:off x="6516370" y="2451735"/>
            <a:ext cx="343535" cy="1631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2054225" y="1660525"/>
            <a:ext cx="3307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>
                <a:sym typeface="+mn-ea"/>
              </a:rPr>
              <a:t>dis[s,v]&gt;dis[s,u]+edge[u,v].cost</a:t>
            </a:r>
          </a:p>
        </p:txBody>
      </p:sp>
      <p:sp>
        <p:nvSpPr>
          <p:cNvPr id="83" name="AutoShape 6"/>
          <p:cNvSpPr/>
          <p:nvPr/>
        </p:nvSpPr>
        <p:spPr>
          <a:xfrm>
            <a:off x="3336925" y="24060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4" name="AutoShape 6"/>
          <p:cNvSpPr/>
          <p:nvPr/>
        </p:nvSpPr>
        <p:spPr>
          <a:xfrm>
            <a:off x="3336925" y="27412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85" name="AutoShape 4"/>
          <p:cNvSpPr/>
          <p:nvPr/>
        </p:nvSpPr>
        <p:spPr>
          <a:xfrm>
            <a:off x="2585085" y="27495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86" name="AutoShape 4"/>
          <p:cNvSpPr/>
          <p:nvPr/>
        </p:nvSpPr>
        <p:spPr>
          <a:xfrm>
            <a:off x="2585085" y="24060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7" name="AutoShape 7"/>
          <p:cNvSpPr/>
          <p:nvPr/>
        </p:nvSpPr>
        <p:spPr>
          <a:xfrm>
            <a:off x="3720465" y="23876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AutoShape 7"/>
          <p:cNvSpPr/>
          <p:nvPr/>
        </p:nvSpPr>
        <p:spPr>
          <a:xfrm>
            <a:off x="3720465" y="27336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89" name="AutoShape 8"/>
          <p:cNvSpPr/>
          <p:nvPr/>
        </p:nvSpPr>
        <p:spPr>
          <a:xfrm>
            <a:off x="40989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0" name="AutoShape 8"/>
          <p:cNvSpPr/>
          <p:nvPr/>
        </p:nvSpPr>
        <p:spPr>
          <a:xfrm>
            <a:off x="409892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91" name="AutoShape 4"/>
          <p:cNvSpPr/>
          <p:nvPr/>
        </p:nvSpPr>
        <p:spPr>
          <a:xfrm>
            <a:off x="2585085" y="27565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92" name="AutoShape 4"/>
          <p:cNvSpPr/>
          <p:nvPr/>
        </p:nvSpPr>
        <p:spPr>
          <a:xfrm>
            <a:off x="2585085" y="2413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3" name="AutoShape 8"/>
          <p:cNvSpPr/>
          <p:nvPr/>
        </p:nvSpPr>
        <p:spPr>
          <a:xfrm>
            <a:off x="445833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4" name="AutoShape 8"/>
          <p:cNvSpPr/>
          <p:nvPr/>
        </p:nvSpPr>
        <p:spPr>
          <a:xfrm>
            <a:off x="445833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95" name="AutoShape 7"/>
          <p:cNvSpPr/>
          <p:nvPr/>
        </p:nvSpPr>
        <p:spPr>
          <a:xfrm>
            <a:off x="3698875" y="2399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" name="AutoShape 7"/>
          <p:cNvSpPr/>
          <p:nvPr/>
        </p:nvSpPr>
        <p:spPr>
          <a:xfrm>
            <a:off x="3698875" y="27451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97" name="AutoShape 8"/>
          <p:cNvSpPr/>
          <p:nvPr/>
        </p:nvSpPr>
        <p:spPr>
          <a:xfrm>
            <a:off x="5213350" y="2413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8" name="AutoShape 8"/>
          <p:cNvSpPr/>
          <p:nvPr/>
        </p:nvSpPr>
        <p:spPr>
          <a:xfrm>
            <a:off x="5213350" y="27590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99" name="AutoShape 8"/>
          <p:cNvSpPr/>
          <p:nvPr/>
        </p:nvSpPr>
        <p:spPr>
          <a:xfrm>
            <a:off x="4855210" y="24098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kumimoji="1" lang="en-US" altLang="zh-CN" sz="1500" b="1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0" name="AutoShape 8"/>
          <p:cNvSpPr/>
          <p:nvPr/>
        </p:nvSpPr>
        <p:spPr>
          <a:xfrm>
            <a:off x="4855210" y="27559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10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50" autoRev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" dur="250" autoRev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250" autoRev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50" autoRev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250" autoRev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" dur="250" autoRev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250" autoRev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50" autoRev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00694 0.070556 " pathEditMode="relative" rAng="0" ptsTypes="">
                                      <p:cBhvr>
                                        <p:cTn id="5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4 0.073055 L -0.000694 0.124444 " pathEditMode="relative" rAng="0" ptsTypes="">
                                      <p:cBhvr>
                                        <p:cTn id="6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667 0.123148 L -0.000694 0.164537 " pathEditMode="relative" ptsTypes="">
                                      <p:cBhvr>
                                        <p:cTn id="7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36 0.163241 L 0.000208 0.200833 " pathEditMode="relative" rAng="0" ptsTypes="">
                                      <p:cBhvr>
                                        <p:cTn id="8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4 0.199630 L -0.001667 0.238426 " pathEditMode="relative" ptsTypes="">
                                      <p:cBhvr>
                                        <p:cTn id="9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235926 L -0.001667 0.279815 " pathEditMode="relative" ptsTypes="">
                                      <p:cBhvr>
                                        <p:cTn id="10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279815 L -0.002569 0.326204 " pathEditMode="relative" ptsTypes="">
                                      <p:cBhvr>
                                        <p:cTn id="106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0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70 0.326204 L -0.002570 0.370000 " pathEditMode="relative" rAng="0" ptsTypes="">
                                      <p:cBhvr>
                                        <p:cTn id="11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0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368796 L -0.002569 0.407593 " pathEditMode="relative" ptsTypes="">
                                      <p:cBhvr>
                                        <p:cTn id="12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0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407593 L -0.003542 0.446481 " pathEditMode="relative" ptsTypes="">
                                      <p:cBhvr>
                                        <p:cTn id="13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0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445185 L -0.002569 0.496574 " pathEditMode="relative" ptsTypes="">
                                      <p:cBhvr>
                                        <p:cTn id="134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76" grpId="0" bldLvl="0" animBg="1"/>
      <p:bldP spid="77" grpId="0" bldLvl="0" animBg="1"/>
      <p:bldP spid="78" grpId="0" animBg="1"/>
      <p:bldP spid="79" grpId="0" animBg="1"/>
      <p:bldP spid="81" grpId="0" animBg="1"/>
      <p:bldP spid="81" grpId="1" animBg="1"/>
      <p:bldP spid="81" grpId="2" animBg="1"/>
      <p:bldP spid="81" grpId="3" animBg="1"/>
      <p:bldP spid="81" grpId="4" animBg="1"/>
      <p:bldP spid="81" grpId="5" animBg="1"/>
      <p:bldP spid="81" grpId="6" animBg="1"/>
      <p:bldP spid="81" grpId="7" animBg="1"/>
      <p:bldP spid="81" grpId="8" animBg="1"/>
      <p:bldP spid="81" grpId="9" animBg="1"/>
      <p:bldP spid="81" grpId="10" animBg="1"/>
      <p:bldP spid="81" grpId="11" animBg="1"/>
      <p:bldP spid="83" grpId="0" bldLvl="0" animBg="1"/>
      <p:bldP spid="83" grpId="1" bldLvl="0" animBg="1"/>
      <p:bldP spid="83" grpId="2" animBg="1"/>
      <p:bldP spid="84" grpId="0" animBg="1"/>
      <p:bldP spid="85" grpId="0" bldLvl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bldLvl="0" animBg="1"/>
      <p:bldP spid="92" grpId="0" bldLvl="0" animBg="1"/>
      <p:bldP spid="93" grpId="0" bldLvl="0" animBg="1"/>
      <p:bldP spid="94" grpId="0" bldLvl="0" animBg="1"/>
      <p:bldP spid="95" grpId="0" bldLvl="0" animBg="1"/>
      <p:bldP spid="96" grpId="0" bldLvl="0" animBg="1"/>
      <p:bldP spid="97" grpId="0" bldLvl="0" animBg="1"/>
      <p:bldP spid="98" grpId="0" bldLvl="0" animBg="1"/>
      <p:bldP spid="99" grpId="0" bldLvl="0" animBg="1"/>
      <p:bldP spid="100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  <a:t>46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9fe7bdc-2cd0-4a90-867d-383fac97d7ca}"/>
  <p:tag name="TABLE_ENDDRAG_ORIGIN_RECT" val="419*57"/>
  <p:tag name="TABLE_ENDDRAG_RECT" val="82*228*419*5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9d243b7-4734-4d0c-ae65-7934a2ccaf2a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b470eef-05af-4ec7-9036-5464d86ae832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e552f6c-966e-4da2-93e2-a264d881cf77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3db69d3-ff8c-48f9-8530-98424484c251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c316a8b-307f-4b4f-9221-e8267ba12ab4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b428664-b3e3-4e14-a2ee-8b3cad43c48c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73d9b03-687d-4820-8dd2-629638ff85f2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8e0d013-e94c-4314-972d-b303fe477cf1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1788b54-5c85-4215-be40-e33392460006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730ff88-1613-42ac-832e-fbf93eca13a0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a0e417c-77b7-401d-9649-3ec4ffdcb4f2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7be213e-55a0-48c7-802b-e76bf972fcee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e9df731-049e-49a7-be4e-ce763198b454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23a2d7e-7b85-4ecb-8b0c-16a78d07c0ff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4e13f58-e498-4c15-937d-0850b6d86cb9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c890b6b-6150-40bd-ab6a-8b4fe8577712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2c223c8-ff45-4f20-85ad-9b08264ff87f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60cd95f-5781-47ed-b521-930d1d445363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332914d-1460-40e2-899d-d4818b29b18c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73241ce-c11b-461b-8af4-3f502e83ed59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9b27683-c734-42eb-b84e-77b9c9c1ee39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eb7e11f-f293-4704-a8e4-0cdaf6fdb6d4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9d243b7-4734-4d0c-ae65-7934a2ccaf2a}"/>
  <p:tag name="TABLE_ENDDRAG_ORIGIN_RECT" val="153*301"/>
  <p:tag name="TABLE_ENDDRAG_RECT" val="557*88*153*30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4037</Words>
  <Application>Microsoft Office PowerPoint</Application>
  <PresentationFormat>全屏显示(4:3)</PresentationFormat>
  <Paragraphs>1145</Paragraphs>
  <Slides>46</Slides>
  <Notes>4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59" baseType="lpstr">
      <vt:lpstr>Arial Unicode MS</vt:lpstr>
      <vt:lpstr>Microsoft YaHei UI</vt:lpstr>
      <vt:lpstr>宋体</vt:lpstr>
      <vt:lpstr>微软雅黑</vt:lpstr>
      <vt:lpstr>Arial</vt:lpstr>
      <vt:lpstr>Calibri</vt:lpstr>
      <vt:lpstr>Consolas</vt:lpstr>
      <vt:lpstr>Symbol</vt:lpstr>
      <vt:lpstr>Tahoma</vt:lpstr>
      <vt:lpstr>Times New Roman</vt:lpstr>
      <vt:lpstr>Wingdings</vt:lpstr>
      <vt:lpstr>basetag20163155_docer802382.通用教学课件</vt:lpstr>
      <vt:lpstr>1_Office 主题​​</vt:lpstr>
      <vt:lpstr>第11讲  图（2）</vt:lpstr>
      <vt:lpstr>主要内容</vt:lpstr>
      <vt:lpstr>最短路径</vt:lpstr>
      <vt:lpstr>问题描述</vt:lpstr>
      <vt:lpstr>最短路径问题</vt:lpstr>
      <vt:lpstr>单源最短路径</vt:lpstr>
      <vt:lpstr>E. W. Dijkstra</vt:lpstr>
      <vt:lpstr>单源最短路径</vt:lpstr>
      <vt:lpstr>单源最短路径例</vt:lpstr>
      <vt:lpstr>Dijkstra算法</vt:lpstr>
      <vt:lpstr>实现</vt:lpstr>
      <vt:lpstr>运算实例：解题形式1</vt:lpstr>
      <vt:lpstr>运算实例</vt:lpstr>
      <vt:lpstr>PowerPoint 演示文稿</vt:lpstr>
      <vt:lpstr>PowerPoint 演示文稿</vt:lpstr>
      <vt:lpstr>Dijkstra算法伪代码</vt:lpstr>
      <vt:lpstr>无序链表实现</vt:lpstr>
      <vt:lpstr>无序链表实现（续）</vt:lpstr>
      <vt:lpstr>无序链表实现（续）</vt:lpstr>
      <vt:lpstr>无序链表实现（续）</vt:lpstr>
      <vt:lpstr>SPT-shortest path tree</vt:lpstr>
      <vt:lpstr>每一对点的最短路径</vt:lpstr>
      <vt:lpstr>PowerPoint 演示文稿</vt:lpstr>
      <vt:lpstr>Floyd算法</vt:lpstr>
      <vt:lpstr>Floyd算法</vt:lpstr>
      <vt:lpstr>如何计算c(i, j, k)</vt:lpstr>
      <vt:lpstr>如何计算c(i, j, k)</vt:lpstr>
      <vt:lpstr>迭代计算伪代码</vt:lpstr>
      <vt:lpstr>Floyd算法例</vt:lpstr>
      <vt:lpstr>Floyd算法例（续）</vt:lpstr>
      <vt:lpstr>Floyd算法例（续）</vt:lpstr>
      <vt:lpstr>Floyd算法例（续）</vt:lpstr>
      <vt:lpstr>Floyd算法例（续）</vt:lpstr>
      <vt:lpstr>Floyd算法例</vt:lpstr>
      <vt:lpstr>Floyd算法例（续）</vt:lpstr>
      <vt:lpstr>Floyd算法例（续）</vt:lpstr>
      <vt:lpstr>Floyd算法例（续）</vt:lpstr>
      <vt:lpstr>Floyd算法例（续）</vt:lpstr>
      <vt:lpstr>最终代码</vt:lpstr>
      <vt:lpstr>最终代码（续）</vt:lpstr>
      <vt:lpstr>最终代码（续）</vt:lpstr>
      <vt:lpstr>最终代码（续）</vt:lpstr>
      <vt:lpstr>单源最短路径-Bellman-Ford算法</vt:lpstr>
      <vt:lpstr>Bellman-Ford算法</vt:lpstr>
      <vt:lpstr>Bellman-Ford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尔里德 李</cp:lastModifiedBy>
  <cp:revision>124</cp:revision>
  <cp:lastPrinted>2017-09-11T08:45:00Z</cp:lastPrinted>
  <dcterms:created xsi:type="dcterms:W3CDTF">2017-09-04T08:16:00Z</dcterms:created>
  <dcterms:modified xsi:type="dcterms:W3CDTF">2024-11-26T05:29:01Z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2052-11.1.0.10495</vt:lpwstr>
  </property>
  <property fmtid="{D5CDD505-2E9C-101B-9397-08002B2CF9AE}" pid="13" name="ICV">
    <vt:lpwstr>97CF4AE2314444A3916A9098D4212607</vt:lpwstr>
  </property>
</Properties>
</file>