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</p:sldMasterIdLst>
  <p:notesMasterIdLst>
    <p:notesMasterId r:id="rId9"/>
  </p:notesMasterIdLst>
  <p:handoutMasterIdLst>
    <p:handoutMasterId r:id="rId18"/>
  </p:handoutMasterIdLst>
  <p:sldIdLst>
    <p:sldId id="453" r:id="rId4"/>
    <p:sldId id="466" r:id="rId5"/>
    <p:sldId id="443" r:id="rId6"/>
    <p:sldId id="444" r:id="rId7"/>
    <p:sldId id="445" r:id="rId8"/>
    <p:sldId id="446" r:id="rId10"/>
    <p:sldId id="447" r:id="rId11"/>
    <p:sldId id="448" r:id="rId12"/>
    <p:sldId id="449" r:id="rId13"/>
    <p:sldId id="450" r:id="rId14"/>
    <p:sldId id="451" r:id="rId15"/>
    <p:sldId id="452" r:id="rId16"/>
    <p:sldId id="467" r:id="rId17"/>
  </p:sldIdLst>
  <p:sldSz cx="12192000" cy="6858000"/>
  <p:notesSz cx="6858000" cy="9144000"/>
  <p:embeddedFontLst>
    <p:embeddedFont>
      <p:font typeface="微软雅黑" panose="020B050302020402020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16D"/>
    <a:srgbClr val="CC99FF"/>
    <a:srgbClr val="68174B"/>
    <a:srgbClr val="FFFFFF"/>
    <a:srgbClr val="AFABAB"/>
    <a:srgbClr val="7F7F7F"/>
    <a:srgbClr val="767171"/>
    <a:srgbClr val="4F4B4B"/>
    <a:srgbClr val="4B113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0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20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E420-9D67-4E04-AAC0-CD197AFC47C8}" type="datetimeFigureOut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2D08-7386-4E2F-A9E1-10702E2F33D5}" type="slidenum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12566-8264-40C4-81E7-576388701A5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 descr="学院logo"/>
          <p:cNvPicPr>
            <a:picLocks noChangeAspect="1"/>
          </p:cNvPicPr>
          <p:nvPr userDrawn="1"/>
        </p:nvPicPr>
        <p:blipFill>
          <a:blip r:embed="rId3"/>
          <a:srcRect l="16426" t="16556" r="16806" b="16435"/>
          <a:stretch>
            <a:fillRect/>
          </a:stretch>
        </p:blipFill>
        <p:spPr>
          <a:xfrm>
            <a:off x="11056620" y="0"/>
            <a:ext cx="1135380" cy="854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学院logo"/>
          <p:cNvPicPr>
            <a:picLocks noChangeAspect="1"/>
          </p:cNvPicPr>
          <p:nvPr userDrawn="1"/>
        </p:nvPicPr>
        <p:blipFill>
          <a:blip r:embed="rId2"/>
          <a:srcRect l="16426" t="16556" r="16806" b="16435"/>
          <a:stretch>
            <a:fillRect/>
          </a:stretch>
        </p:blipFill>
        <p:spPr>
          <a:xfrm>
            <a:off x="11056620" y="0"/>
            <a:ext cx="1135380" cy="854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96D6-D75D-4657-9902-6BA7C06401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575B-2F74-41A5-94FC-C655C1CED71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tags" Target="../tags/tag17.xml"/><Relationship Id="rId4" Type="http://schemas.openxmlformats.org/officeDocument/2006/relationships/image" Target="../media/image6.png"/><Relationship Id="rId3" Type="http://schemas.openxmlformats.org/officeDocument/2006/relationships/tags" Target="../tags/tag16.xml"/><Relationship Id="rId2" Type="http://schemas.openxmlformats.org/officeDocument/2006/relationships/image" Target="../media/image5.png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.png"/><Relationship Id="rId3" Type="http://schemas.openxmlformats.org/officeDocument/2006/relationships/tags" Target="../tags/tag18.xml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Week7:Tetris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anose="020B0A00000000000000" pitchFamily="34" charset="-122"/>
                <a:cs typeface="Times New Roman" panose="02020603050405020304" pitchFamily="18" charset="0"/>
                <a:sym typeface="+mn-ea"/>
              </a:rPr>
              <a:t>——Practice of Programming Language 1——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Noto Sans S Chinese Black" panose="020B0A00000000000000" pitchFamily="34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073650" y="4815205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</a:t>
            </a:r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1">
              <a:buClr>
                <a:srgbClr val="97216D"/>
              </a:buClr>
            </a:pP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moveBlock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</a:t>
            </a:r>
            <a:endParaRPr lang="en-US" altLang="zh-CN" sz="3200" dirty="0">
              <a:cs typeface="Arial" panose="020B0604020202020204" pitchFamily="34" charset="0"/>
              <a:sym typeface="+mn-ea"/>
            </a:endParaRPr>
          </a:p>
          <a:p>
            <a:pPr lvl="2">
              <a:buClr>
                <a:srgbClr val="97216D"/>
              </a:buClr>
            </a:pPr>
            <a:r>
              <a:rPr lang="en-US" altLang="zh-CN" sz="3200" dirty="0">
                <a:cs typeface="Arial" panose="020B0604020202020204" pitchFamily="34" charset="0"/>
                <a:sym typeface="+mn-ea"/>
              </a:rPr>
              <a:t>change(x,y)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canGoLeft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(),</a:t>
            </a: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canGoRight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(),</a:t>
            </a: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canFall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(),</a:t>
            </a: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canRotate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</a:t>
            </a:r>
            <a:endParaRPr lang="en-US" altLang="zh-CN" sz="3200" dirty="0">
              <a:cs typeface="Arial" panose="020B0604020202020204" pitchFamily="34" charset="0"/>
              <a:sym typeface="+mn-ea"/>
            </a:endParaRPr>
          </a:p>
          <a:p>
            <a:pPr lvl="2">
              <a:buClr>
                <a:srgbClr val="97216D"/>
              </a:buClr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Encapsulation?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landBlock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</a:t>
            </a:r>
            <a:endParaRPr lang="en-US" altLang="zh-CN" sz="3200" dirty="0">
              <a:cs typeface="Arial" panose="020B0604020202020204" pitchFamily="34" charset="0"/>
              <a:sym typeface="+mn-ea"/>
            </a:endParaRPr>
          </a:p>
          <a:p>
            <a:pPr lvl="2">
              <a:buClr>
                <a:srgbClr val="97216D"/>
              </a:buClr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LandBlock[CoorX][CoorY]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buClr>
                <a:srgbClr val="97216D"/>
              </a:buClr>
            </a:pPr>
            <a:r>
              <a:rPr lang="en-US" altLang="zh-CN" sz="3200" dirty="0" err="1">
                <a:cs typeface="Arial" panose="020B0604020202020204" pitchFamily="34" charset="0"/>
                <a:sym typeface="+mn-ea"/>
              </a:rPr>
              <a:t>genBlock</a:t>
            </a:r>
            <a:r>
              <a:rPr lang="en-US" altLang="zh-CN" sz="3200" dirty="0">
                <a:cs typeface="Arial" panose="020B0604020202020204" pitchFamily="34" charset="0"/>
                <a:sym typeface="+mn-ea"/>
              </a:rPr>
              <a:t>()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Remove the blocks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if the row is occupied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LandBlock[ ][ ]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function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one row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Remove the row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Update LandBlock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>
                <a:cs typeface="Arial" panose="020B0604020202020204" pitchFamily="34" charset="0"/>
              </a:rPr>
              <a:t>Task: Romove completely occupied rows</a:t>
            </a:r>
            <a:endParaRPr lang="en-US" altLang="zh-CN" sz="2400"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>
            <p:ph sz="half" idx="2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920" y="1598295"/>
            <a:ext cx="3276600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27785" y="3911600"/>
            <a:ext cx="3522980" cy="2239645"/>
          </a:xfrm>
          <a:prstGeom prst="rect">
            <a:avLst/>
          </a:prstGeom>
        </p:spPr>
      </p:pic>
      <p:pic>
        <p:nvPicPr>
          <p:cNvPr id="11" name="内容占位符 10"/>
          <p:cNvPicPr>
            <a:picLocks noChangeAspect="1"/>
          </p:cNvPicPr>
          <p:nvPr>
            <p:ph sz="half" idx="1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27150" y="1229995"/>
            <a:ext cx="3523615" cy="2449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2214563"/>
            <a:ext cx="321945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Task: </a:t>
            </a:r>
            <a:r>
              <a:rPr lang="en-US" altLang="zh-CN" sz="3200" dirty="0" err="1"/>
              <a:t>Romove</a:t>
            </a:r>
            <a:r>
              <a:rPr lang="en-US" altLang="zh-CN" sz="3200" dirty="0"/>
              <a:t> completely occupied rows</a:t>
            </a:r>
            <a:endParaRPr lang="en-US" altLang="zh-CN" sz="3200" dirty="0"/>
          </a:p>
        </p:txBody>
      </p:sp>
      <p:pic>
        <p:nvPicPr>
          <p:cNvPr id="727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2143125"/>
            <a:ext cx="3276600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右箭头 8"/>
          <p:cNvSpPr/>
          <p:nvPr/>
        </p:nvSpPr>
        <p:spPr>
          <a:xfrm rot="10800000">
            <a:off x="5881688" y="5429250"/>
            <a:ext cx="1000125" cy="428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2" name="TextBox 9"/>
          <p:cNvSpPr txBox="1">
            <a:spLocks noChangeArrowheads="1"/>
          </p:cNvSpPr>
          <p:nvPr/>
        </p:nvSpPr>
        <p:spPr bwMode="auto">
          <a:xfrm>
            <a:off x="5381625" y="5059363"/>
            <a:ext cx="1857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RemoveRow(16)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5381510" y="6414135"/>
            <a:ext cx="1936115" cy="330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9920" y="1297940"/>
            <a:ext cx="4815840" cy="183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cs typeface="Arial" panose="020B0604020202020204" pitchFamily="34" charset="0"/>
              </a:rPr>
              <a:t>Practice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bool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isOccupiedCompletely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status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removeRow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Update data:LandBlock[][]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>
                <a:cs typeface="Arial" panose="020B0604020202020204" pitchFamily="34" charset="0"/>
              </a:rPr>
              <a:t>Task: </a:t>
            </a:r>
            <a:r>
              <a:rPr lang="en-US" altLang="zh-CN" sz="2400" dirty="0" err="1">
                <a:cs typeface="Arial" panose="020B0604020202020204" pitchFamily="34" charset="0"/>
              </a:rPr>
              <a:t>Romove</a:t>
            </a:r>
            <a:r>
              <a:rPr lang="en-US" altLang="zh-CN" sz="2400" dirty="0">
                <a:cs typeface="Arial" panose="020B0604020202020204" pitchFamily="34" charset="0"/>
              </a:rPr>
              <a:t> completely occupied rows</a:t>
            </a:r>
            <a:endParaRPr lang="en-US" altLang="zh-CN" sz="2400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whole rows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Remove rows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Landblocks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Update Game board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Clear gameboard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 unit block by color number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525818" y="2091315"/>
            <a:ext cx="5684982" cy="4552950"/>
            <a:chOff x="3001818" y="2091315"/>
            <a:chExt cx="5684982" cy="455295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2091315"/>
              <a:ext cx="3276600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" name="Group 14"/>
            <p:cNvGrpSpPr/>
            <p:nvPr/>
          </p:nvGrpSpPr>
          <p:grpSpPr>
            <a:xfrm>
              <a:off x="3001818" y="5989843"/>
              <a:ext cx="2603212" cy="383248"/>
              <a:chOff x="3001818" y="5989843"/>
              <a:chExt cx="2603212" cy="383248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>
                <a:off x="3001818" y="6345259"/>
                <a:ext cx="2546062" cy="27832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3307485" y="5989843"/>
                <a:ext cx="229754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Remove this row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880" y="2143702"/>
            <a:ext cx="321945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Practice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emoveWholeRows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and Update every row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pdateLandedBlock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Clear game board</a:t>
            </a:r>
            <a:endParaRPr lang="en-US" altLang="zh-CN" dirty="0" err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Use drawUnitBlock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(),and LandBlock[][] to draw new blocks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cs typeface="Arial" panose="020B0604020202020204" pitchFamily="34" charset="0"/>
              </a:rPr>
              <a:t>Design a Flow Chart to Conclude your Code.</a:t>
            </a:r>
            <a:endParaRPr lang="en-US" altLang="zh-CN" sz="2000"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129213" y="2143125"/>
            <a:ext cx="1000125" cy="500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Start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167313" y="5929313"/>
            <a:ext cx="1000125" cy="5000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End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95813" y="2928938"/>
            <a:ext cx="2071687" cy="5000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 Draw a border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82000" y="2933700"/>
            <a:ext cx="2000250" cy="5000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3.1 Erase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blocks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at old position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5024438" y="4572000"/>
            <a:ext cx="1285875" cy="57150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Press ‘Q’?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95813" y="3786188"/>
            <a:ext cx="2071687" cy="5000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 Draw a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TBlocks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0" name="直接箭头连接符 9"/>
          <p:cNvCxnSpPr>
            <a:stCxn id="8" idx="2"/>
            <a:endCxn id="5" idx="0"/>
          </p:cNvCxnSpPr>
          <p:nvPr/>
        </p:nvCxnSpPr>
        <p:spPr>
          <a:xfrm rot="5400000">
            <a:off x="5273676" y="5537200"/>
            <a:ext cx="785812" cy="15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63" name="TextBox 11"/>
          <p:cNvSpPr txBox="1">
            <a:spLocks noChangeArrowheads="1"/>
          </p:cNvSpPr>
          <p:nvPr/>
        </p:nvSpPr>
        <p:spPr bwMode="auto">
          <a:xfrm>
            <a:off x="5310188" y="5286375"/>
            <a:ext cx="500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2" name="直接箭头连接符 11"/>
          <p:cNvCxnSpPr>
            <a:stCxn id="4" idx="2"/>
            <a:endCxn id="6" idx="0"/>
          </p:cNvCxnSpPr>
          <p:nvPr/>
        </p:nvCxnSpPr>
        <p:spPr>
          <a:xfrm rot="16200000" flipH="1">
            <a:off x="5487194" y="2785269"/>
            <a:ext cx="28575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16200000" flipH="1">
            <a:off x="5497513" y="3579812"/>
            <a:ext cx="28575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rot="16200000" flipH="1">
            <a:off x="5526088" y="4427537"/>
            <a:ext cx="28575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8"/>
          <p:cNvCxnSpPr>
            <a:stCxn id="8" idx="3"/>
            <a:endCxn id="17" idx="2"/>
          </p:cNvCxnSpPr>
          <p:nvPr/>
        </p:nvCxnSpPr>
        <p:spPr>
          <a:xfrm flipV="1">
            <a:off x="6310313" y="3478213"/>
            <a:ext cx="1095375" cy="137953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68" name="TextBox 20"/>
          <p:cNvSpPr txBox="1">
            <a:spLocks noChangeArrowheads="1"/>
          </p:cNvSpPr>
          <p:nvPr/>
        </p:nvSpPr>
        <p:spPr bwMode="auto">
          <a:xfrm>
            <a:off x="6381750" y="4500563"/>
            <a:ext cx="500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菱形 16"/>
          <p:cNvSpPr/>
          <p:nvPr/>
        </p:nvSpPr>
        <p:spPr>
          <a:xfrm>
            <a:off x="6762750" y="2906713"/>
            <a:ext cx="1285875" cy="57150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Press ‘A’?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8" name="直接箭头连接符 17"/>
          <p:cNvCxnSpPr>
            <a:stCxn id="17" idx="3"/>
            <a:endCxn id="7" idx="1"/>
          </p:cNvCxnSpPr>
          <p:nvPr/>
        </p:nvCxnSpPr>
        <p:spPr>
          <a:xfrm flipV="1">
            <a:off x="8048625" y="3182938"/>
            <a:ext cx="333375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71" name="TextBox 31"/>
          <p:cNvSpPr txBox="1">
            <a:spLocks noChangeArrowheads="1"/>
          </p:cNvSpPr>
          <p:nvPr/>
        </p:nvSpPr>
        <p:spPr bwMode="auto">
          <a:xfrm>
            <a:off x="8024813" y="2916238"/>
            <a:ext cx="500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382000" y="3714750"/>
            <a:ext cx="2000250" cy="5000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3.2 Draw blocks at new position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rot="16200000" flipH="1">
            <a:off x="9212263" y="3579812"/>
            <a:ext cx="28575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形状 21"/>
          <p:cNvCxnSpPr>
            <a:stCxn id="20" idx="2"/>
          </p:cNvCxnSpPr>
          <p:nvPr/>
        </p:nvCxnSpPr>
        <p:spPr>
          <a:xfrm rot="5400000">
            <a:off x="5024438" y="2428875"/>
            <a:ext cx="2571750" cy="61436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/>
          <p:nvPr/>
        </p:nvCxnSpPr>
        <p:spPr>
          <a:xfrm flipV="1">
            <a:off x="3238500" y="4429125"/>
            <a:ext cx="2428875" cy="2357438"/>
          </a:xfrm>
          <a:prstGeom prst="bentConnector3">
            <a:avLst>
              <a:gd name="adj1" fmla="val -72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7" idx="0"/>
          </p:cNvCxnSpPr>
          <p:nvPr/>
        </p:nvCxnSpPr>
        <p:spPr>
          <a:xfrm rot="16200000" flipV="1">
            <a:off x="7226300" y="2727325"/>
            <a:ext cx="334963" cy="23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77" name="TextBox 56"/>
          <p:cNvSpPr txBox="1">
            <a:spLocks noChangeArrowheads="1"/>
          </p:cNvSpPr>
          <p:nvPr/>
        </p:nvSpPr>
        <p:spPr bwMode="auto">
          <a:xfrm>
            <a:off x="7453313" y="2571750"/>
            <a:ext cx="500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菱形 25"/>
          <p:cNvSpPr/>
          <p:nvPr/>
        </p:nvSpPr>
        <p:spPr>
          <a:xfrm>
            <a:off x="6738938" y="2071688"/>
            <a:ext cx="1285875" cy="57150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Press ‘s’?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 rot="16200000" flipV="1">
            <a:off x="7226301" y="1941512"/>
            <a:ext cx="334962" cy="23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80" name="TextBox 63"/>
          <p:cNvSpPr txBox="1">
            <a:spLocks noChangeArrowheads="1"/>
          </p:cNvSpPr>
          <p:nvPr/>
        </p:nvSpPr>
        <p:spPr bwMode="auto">
          <a:xfrm>
            <a:off x="8024813" y="1928813"/>
            <a:ext cx="500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9" name="直接箭头连接符 28"/>
          <p:cNvCxnSpPr>
            <a:stCxn id="26" idx="3"/>
          </p:cNvCxnSpPr>
          <p:nvPr/>
        </p:nvCxnSpPr>
        <p:spPr>
          <a:xfrm>
            <a:off x="8024813" y="23574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82" name="TextBox 66"/>
          <p:cNvSpPr txBox="1">
            <a:spLocks noChangeArrowheads="1"/>
          </p:cNvSpPr>
          <p:nvPr/>
        </p:nvSpPr>
        <p:spPr bwMode="auto">
          <a:xfrm>
            <a:off x="7453313" y="1714500"/>
            <a:ext cx="500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0845" y="2066459"/>
            <a:ext cx="1394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Thinking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Auto Fall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While loop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_kbhit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Sleep()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Similar as hit key ‘s’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Clr>
                <a:srgbClr val="97216D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Over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Clr>
                <a:srgbClr val="97216D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LandBlock[][]?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Homework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Clr>
                <a:srgbClr val="97216D"/>
              </a:buClr>
            </a:pPr>
            <a:r>
              <a:rPr lang="en-US" altLang="zh-CN" sz="2800" dirty="0">
                <a:cs typeface="Arial" panose="020B0604020202020204" pitchFamily="34" charset="0"/>
                <a:sym typeface="+mn-ea"/>
              </a:rPr>
              <a:t>The completely project files.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- Creativity and Functionality: 30%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- Game Mechanics Implementation: 25%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- Graphics and User Interface Design: 20%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- Code Quality and Efficiency: 15%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sz="2800" dirty="0">
                <a:cs typeface="Arial" panose="020B0604020202020204" pitchFamily="34" charset="0"/>
                <a:sym typeface="+mn-ea"/>
              </a:rPr>
              <a:t>A small video to show how it works.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cs typeface="Arial" panose="020B0604020202020204" pitchFamily="34" charset="0"/>
              </a:rPr>
              <a:t>Hint</a:t>
            </a:r>
            <a:endParaRPr lang="en-US" altLang="zh-CN" sz="3600" dirty="0" err="1">
              <a:cs typeface="Arial" panose="020B0604020202020204" pitchFamily="34" charset="0"/>
            </a:endParaRPr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Representation (with Functions)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Life cycle of data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Temporary / local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Global ( cross Process/ Function)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Session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Persistent Object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Eliminates flickering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BeginBatchDraw();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FlushBatchDraw();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EndBatchDraw();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Sleep()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85050" y="1554480"/>
            <a:ext cx="4001770" cy="1819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Windows API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Windows application programming interface</a:t>
            </a:r>
            <a:r>
              <a:rPr lang="en-US" altLang="zh-CN"/>
              <a:t>(API)</a:t>
            </a:r>
            <a:r>
              <a:rPr lang="zh-CN" altLang="en-US"/>
              <a:t> for desktop and server applications.</a:t>
            </a:r>
            <a:endParaRPr lang="zh-CN" altLang="en-US"/>
          </a:p>
          <a:p>
            <a:r>
              <a:rPr lang="zh-CN" altLang="en-US"/>
              <a:t>Create a traditional Windows Desktop application (C++).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PP_MARK_KEY" val="4009fc62-181b-4858-b937-28414374710c"/>
  <p:tag name="COMMONDATA" val="eyJoZGlkIjoiOTk5YjBiZTExNzdkZTMzZGJkYjE3NzExMTJjOGEwMDI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1660</Words>
  <Application>WPS 演示</Application>
  <PresentationFormat>全屏显示(4:3)</PresentationFormat>
  <Paragraphs>137</Paragraphs>
  <Slides>13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Noto Sans S Chinese Black</vt:lpstr>
      <vt:lpstr>微软雅黑</vt:lpstr>
      <vt:lpstr>Times New Roman</vt:lpstr>
      <vt:lpstr>Arial</vt:lpstr>
      <vt:lpstr>Calibri</vt:lpstr>
      <vt:lpstr>Arial Unicode MS</vt:lpstr>
      <vt:lpstr>1_OfficePLUS</vt:lpstr>
      <vt:lpstr>2_Office 主题​​</vt:lpstr>
      <vt:lpstr>Week7:Tetris</vt:lpstr>
      <vt:lpstr>Review</vt:lpstr>
      <vt:lpstr>Remove the blocks</vt:lpstr>
      <vt:lpstr>Task: Romove completely occupied rows</vt:lpstr>
      <vt:lpstr>Task: Romove completely occupied rows</vt:lpstr>
      <vt:lpstr>Practice</vt:lpstr>
      <vt:lpstr>Task: Romove completely occupied rows</vt:lpstr>
      <vt:lpstr>Practice</vt:lpstr>
      <vt:lpstr>Design a Flow Chart to Conclude your Code.</vt:lpstr>
      <vt:lpstr>Thinking</vt:lpstr>
      <vt:lpstr>Homework</vt:lpstr>
      <vt:lpstr>Hint</vt:lpstr>
      <vt:lpstr>Windows API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zhhang918</dc:creator>
  <cp:lastModifiedBy>沈舒尹</cp:lastModifiedBy>
  <cp:revision>276</cp:revision>
  <dcterms:created xsi:type="dcterms:W3CDTF">2020-04-18T12:57:00Z</dcterms:created>
  <dcterms:modified xsi:type="dcterms:W3CDTF">2026-03-17T07:47:42Z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7A9B9509455A49BC94559FD43E33BDA8_13</vt:lpwstr>
  </property>
  <property fmtid="{D5CDD505-2E9C-101B-9397-08002B2CF9AE}" pid="3" name="KSOProductBuildVer">
    <vt:lpwstr>2052-12.1.0.21915</vt:lpwstr>
  </property>
</Properties>
</file>