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34"/>
  </p:notesMasterIdLst>
  <p:sldIdLst>
    <p:sldId id="283" r:id="rId6"/>
    <p:sldId id="380" r:id="rId7"/>
    <p:sldId id="383" r:id="rId8"/>
    <p:sldId id="382" r:id="rId9"/>
    <p:sldId id="263" r:id="rId10"/>
    <p:sldId id="266" r:id="rId11"/>
    <p:sldId id="268" r:id="rId12"/>
    <p:sldId id="267" r:id="rId13"/>
    <p:sldId id="269" r:id="rId14"/>
    <p:sldId id="270" r:id="rId15"/>
    <p:sldId id="271" r:id="rId16"/>
    <p:sldId id="272" r:id="rId17"/>
    <p:sldId id="273" r:id="rId18"/>
    <p:sldId id="274" r:id="rId19"/>
    <p:sldId id="275" r:id="rId20"/>
    <p:sldId id="285" r:id="rId21"/>
    <p:sldId id="286" r:id="rId22"/>
    <p:sldId id="279" r:id="rId23"/>
    <p:sldId id="284" r:id="rId24"/>
    <p:sldId id="280" r:id="rId25"/>
    <p:sldId id="281" r:id="rId26"/>
    <p:sldId id="276" r:id="rId27"/>
    <p:sldId id="277" r:id="rId28"/>
    <p:sldId id="278" r:id="rId29"/>
    <p:sldId id="384" r:id="rId30"/>
    <p:sldId id="287" r:id="rId31"/>
    <p:sldId id="258" r:id="rId32"/>
    <p:sldId id="26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3"/>
            <p14:sldId id="380"/>
            <p14:sldId id="383"/>
            <p14:sldId id="382"/>
            <p14:sldId id="263"/>
            <p14:sldId id="266"/>
            <p14:sldId id="268"/>
            <p14:sldId id="267"/>
            <p14:sldId id="269"/>
            <p14:sldId id="270"/>
            <p14:sldId id="271"/>
            <p14:sldId id="272"/>
            <p14:sldId id="273"/>
            <p14:sldId id="274"/>
            <p14:sldId id="275"/>
            <p14:sldId id="285"/>
            <p14:sldId id="286"/>
            <p14:sldId id="279"/>
            <p14:sldId id="284"/>
            <p14:sldId id="280"/>
            <p14:sldId id="281"/>
            <p14:sldId id="276"/>
            <p14:sldId id="277"/>
            <p14:sldId id="278"/>
            <p14:sldId id="384"/>
            <p14:sldId id="287"/>
          </p14:sldIdLst>
        </p14:section>
        <p14:section name="Appendix: Image Descriptions for Unsighted Students" id="{9E859B0B-078E-463E-89A6-21C20DD280C4}">
          <p14:sldIdLst>
            <p14:sldId id="258"/>
            <p14:sldId id="264"/>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3" autoAdjust="0"/>
    <p:restoredTop sz="86375"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33" d="100"/>
        <a:sy n="33" d="100"/>
      </p:scale>
      <p:origin x="0" y="-13008"/>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E906C5-157E-4580-BEC1-8F722C42C113}" type="datetimeFigureOut">
              <a:rPr lang="zh-CN" altLang="en-US" smtClean="0"/>
              <a:t>2025/9/11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49B470-BEC1-4004-B3B6-4906E48B46D6}" type="slidenum">
              <a:rPr lang="zh-CN" altLang="en-US" smtClean="0"/>
              <a:t>‹#›</a:t>
            </a:fld>
            <a:endParaRPr lang="zh-CN" altLang="en-US"/>
          </a:p>
        </p:txBody>
      </p:sp>
    </p:spTree>
    <p:extLst>
      <p:ext uri="{BB962C8B-B14F-4D97-AF65-F5344CB8AC3E}">
        <p14:creationId xmlns:p14="http://schemas.microsoft.com/office/powerpoint/2010/main" val="963874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i="0" dirty="0">
                <a:solidFill>
                  <a:srgbClr val="0F1115"/>
                </a:solidFill>
                <a:effectLst/>
                <a:latin typeface="Menlo"/>
              </a:rPr>
              <a:t>答案 </a:t>
            </a:r>
            <a:r>
              <a:rPr lang="en-US" altLang="zh-CN" b="0" i="0" dirty="0">
                <a:solidFill>
                  <a:srgbClr val="0F1115"/>
                </a:solidFill>
                <a:effectLst/>
                <a:latin typeface="Menlo"/>
              </a:rPr>
              <a:t>C) </a:t>
            </a:r>
            <a:r>
              <a:rPr lang="zh-CN" altLang="en-US" b="0" i="0" dirty="0">
                <a:solidFill>
                  <a:srgbClr val="0F1115"/>
                </a:solidFill>
                <a:effectLst/>
                <a:latin typeface="Menlo"/>
              </a:rPr>
              <a:t>定义为实现软件工程活动目标所需完成的具体工作。</a:t>
            </a:r>
            <a:endParaRPr lang="en-US" altLang="zh-CN" b="0" i="0" dirty="0">
              <a:solidFill>
                <a:srgbClr val="0F1115"/>
              </a:solidFill>
              <a:effectLst/>
              <a:latin typeface="Menlo"/>
            </a:endParaRPr>
          </a:p>
          <a:p>
            <a:pPr algn="l">
              <a:buFont typeface="Arial" panose="020B0604020202020204" pitchFamily="34" charset="0"/>
              <a:buNone/>
            </a:pPr>
            <a:r>
              <a:rPr lang="zh-CN" altLang="en-US" b="0" i="0" dirty="0">
                <a:solidFill>
                  <a:srgbClr val="0F1115"/>
                </a:solidFill>
                <a:effectLst/>
                <a:latin typeface="Menlo"/>
              </a:rPr>
              <a:t>其他选项解析：</a:t>
            </a:r>
            <a:br>
              <a:rPr lang="en-US" altLang="zh-CN" b="0" i="0" dirty="0">
                <a:solidFill>
                  <a:srgbClr val="0F1115"/>
                </a:solidFill>
                <a:effectLst/>
                <a:latin typeface="Menlo"/>
              </a:rPr>
            </a:br>
            <a:r>
              <a:rPr lang="en-US" altLang="zh-CN" b="0" i="0" dirty="0">
                <a:solidFill>
                  <a:srgbClr val="0F1115"/>
                </a:solidFill>
                <a:effectLst/>
                <a:latin typeface="quote-cjk-patch"/>
              </a:rPr>
              <a:t>A) </a:t>
            </a:r>
            <a:r>
              <a:rPr lang="zh-CN" altLang="en-US" b="0" i="0" dirty="0">
                <a:solidFill>
                  <a:srgbClr val="0F1115"/>
                </a:solidFill>
                <a:effectLst/>
                <a:latin typeface="quote-cjk-patch"/>
              </a:rPr>
              <a:t>保证最终软件产品能按时、按预算交付。错误原因： 定义任务集是规划工作，但它本身无法保证结果。项目成功还取决于众多其他因素（如风险、技术变化、团队能力等）。</a:t>
            </a:r>
          </a:p>
          <a:p>
            <a:pPr algn="l">
              <a:buFont typeface="Arial" panose="020B0604020202020204" pitchFamily="34" charset="0"/>
              <a:buNone/>
            </a:pPr>
            <a:r>
              <a:rPr lang="en-US" altLang="zh-CN" b="0" i="0" dirty="0">
                <a:solidFill>
                  <a:srgbClr val="0F1115"/>
                </a:solidFill>
                <a:effectLst/>
                <a:latin typeface="quote-cjk-patch"/>
              </a:rPr>
              <a:t>B) </a:t>
            </a:r>
            <a:r>
              <a:rPr lang="zh-CN" altLang="en-US" b="0" i="0" dirty="0">
                <a:solidFill>
                  <a:srgbClr val="0F1115"/>
                </a:solidFill>
                <a:effectLst/>
                <a:latin typeface="quote-cjk-patch"/>
              </a:rPr>
              <a:t>提供一个团队必须遵循的、不可更改的刚性计划以确保纪律。错误原因： 过程模型（如螺旋、</a:t>
            </a:r>
            <a:r>
              <a:rPr lang="en-US" altLang="zh-CN" b="0" i="0" dirty="0">
                <a:solidFill>
                  <a:srgbClr val="0F1115"/>
                </a:solidFill>
                <a:effectLst/>
                <a:latin typeface="quote-cjk-patch"/>
              </a:rPr>
              <a:t>UP</a:t>
            </a:r>
            <a:r>
              <a:rPr lang="zh-CN" altLang="en-US" b="0" i="0" dirty="0">
                <a:solidFill>
                  <a:srgbClr val="0F1115"/>
                </a:solidFill>
                <a:effectLst/>
                <a:latin typeface="quote-cjk-patch"/>
              </a:rPr>
              <a:t>）都强调适应性和变化，任务集应能根据项目反馈进行调整，而非僵化不变。</a:t>
            </a:r>
          </a:p>
          <a:p>
            <a:pPr algn="l">
              <a:buFont typeface="Arial" panose="020B0604020202020204" pitchFamily="34" charset="0"/>
              <a:buNone/>
            </a:pPr>
            <a:r>
              <a:rPr lang="en-US" altLang="zh-CN" b="0" i="0" dirty="0">
                <a:solidFill>
                  <a:srgbClr val="0F1115"/>
                </a:solidFill>
                <a:effectLst/>
                <a:latin typeface="quote-cjk-patch"/>
              </a:rPr>
              <a:t>D) </a:t>
            </a:r>
            <a:r>
              <a:rPr lang="zh-CN" altLang="en-US" b="0" i="0" dirty="0">
                <a:solidFill>
                  <a:srgbClr val="0F1115"/>
                </a:solidFill>
                <a:effectLst/>
                <a:latin typeface="quote-cjk-patch"/>
              </a:rPr>
              <a:t>取代质量保证和风险管理等 </a:t>
            </a:r>
            <a:r>
              <a:rPr lang="en-US" altLang="zh-CN" b="0" i="0" dirty="0">
                <a:solidFill>
                  <a:srgbClr val="0F1115"/>
                </a:solidFill>
                <a:effectLst/>
                <a:latin typeface="quote-cjk-patch"/>
              </a:rPr>
              <a:t>umbrella activities</a:t>
            </a:r>
            <a:r>
              <a:rPr lang="zh-CN" altLang="en-US" b="0" i="0" dirty="0">
                <a:solidFill>
                  <a:srgbClr val="0F1115"/>
                </a:solidFill>
                <a:effectLst/>
                <a:latin typeface="quote-cjk-patch"/>
              </a:rPr>
              <a:t>。</a:t>
            </a:r>
            <a:r>
              <a:rPr lang="en-US" altLang="zh-CN" b="0" i="0" dirty="0">
                <a:solidFill>
                  <a:srgbClr val="0F1115"/>
                </a:solidFill>
                <a:effectLst/>
                <a:latin typeface="quote-cjk-patch"/>
              </a:rPr>
              <a:t> </a:t>
            </a:r>
            <a:r>
              <a:rPr lang="zh-CN" altLang="en-US" b="0" i="0" dirty="0">
                <a:solidFill>
                  <a:srgbClr val="0F1115"/>
                </a:solidFill>
                <a:effectLst/>
                <a:latin typeface="quote-cjk-patch"/>
              </a:rPr>
              <a:t>错误原因： 任务集和 </a:t>
            </a:r>
            <a:r>
              <a:rPr lang="en-US" altLang="zh-CN" b="0" i="0" dirty="0">
                <a:solidFill>
                  <a:srgbClr val="0F1115"/>
                </a:solidFill>
                <a:effectLst/>
                <a:latin typeface="quote-cjk-patch"/>
              </a:rPr>
              <a:t>umbrella activities</a:t>
            </a:r>
            <a:r>
              <a:rPr lang="zh-CN" altLang="en-US" b="0" i="0" dirty="0">
                <a:solidFill>
                  <a:srgbClr val="0F1115"/>
                </a:solidFill>
                <a:effectLst/>
                <a:latin typeface="quote-cjk-patch"/>
              </a:rPr>
              <a:t>（ </a:t>
            </a:r>
            <a:r>
              <a:rPr lang="en-US" altLang="zh-CN" b="0" i="0" dirty="0">
                <a:solidFill>
                  <a:srgbClr val="0F1115"/>
                </a:solidFill>
                <a:effectLst/>
                <a:latin typeface="quote-cjk-patch"/>
              </a:rPr>
              <a:t>umbrella activities</a:t>
            </a:r>
            <a:r>
              <a:rPr lang="zh-CN" altLang="en-US" b="0" i="0" dirty="0">
                <a:solidFill>
                  <a:srgbClr val="0F1115"/>
                </a:solidFill>
                <a:effectLst/>
                <a:latin typeface="quote-cjk-patch"/>
              </a:rPr>
              <a:t>）是互补共存的关系。任务集定义“做什么”，而 </a:t>
            </a:r>
            <a:r>
              <a:rPr lang="en-US" altLang="zh-CN" b="0" i="0" dirty="0">
                <a:solidFill>
                  <a:srgbClr val="0F1115"/>
                </a:solidFill>
                <a:effectLst/>
                <a:latin typeface="quote-cjk-patch"/>
              </a:rPr>
              <a:t>umbrella activities </a:t>
            </a:r>
            <a:r>
              <a:rPr lang="zh-CN" altLang="en-US" b="0" i="0" dirty="0">
                <a:solidFill>
                  <a:srgbClr val="0F1115"/>
                </a:solidFill>
                <a:effectLst/>
                <a:latin typeface="quote-cjk-patch"/>
              </a:rPr>
              <a:t>是“如何保障”整个过程的质量和管理。</a:t>
            </a:r>
          </a:p>
          <a:p>
            <a:endParaRPr lang="zh-CN" altLang="en-US" dirty="0"/>
          </a:p>
        </p:txBody>
      </p:sp>
      <p:sp>
        <p:nvSpPr>
          <p:cNvPr id="4" name="Slide Number Placeholder 3"/>
          <p:cNvSpPr>
            <a:spLocks noGrp="1"/>
          </p:cNvSpPr>
          <p:nvPr>
            <p:ph type="sldNum" sz="quarter" idx="5"/>
          </p:nvPr>
        </p:nvSpPr>
        <p:spPr/>
        <p:txBody>
          <a:bodyPr/>
          <a:lstStyle/>
          <a:p>
            <a:fld id="{5DF462FF-8FB5-4A46-9970-0F987739CACB}" type="slidenum">
              <a:rPr lang="zh-CN" altLang="en-US" smtClean="0"/>
              <a:t>22</a:t>
            </a:fld>
            <a:endParaRPr lang="zh-CN" altLang="en-US"/>
          </a:p>
        </p:txBody>
      </p:sp>
    </p:spTree>
    <p:extLst>
      <p:ext uri="{BB962C8B-B14F-4D97-AF65-F5344CB8AC3E}">
        <p14:creationId xmlns:p14="http://schemas.microsoft.com/office/powerpoint/2010/main" val="3939944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i="0" dirty="0">
                <a:solidFill>
                  <a:srgbClr val="0F1115"/>
                </a:solidFill>
                <a:effectLst/>
                <a:latin typeface="Menlo"/>
              </a:rPr>
              <a:t>答案：</a:t>
            </a:r>
            <a:r>
              <a:rPr lang="en-US" altLang="zh-CN" b="0" i="0" dirty="0">
                <a:solidFill>
                  <a:srgbClr val="0F1115"/>
                </a:solidFill>
                <a:effectLst/>
                <a:latin typeface="Menlo"/>
              </a:rPr>
              <a:t>B) </a:t>
            </a:r>
            <a:r>
              <a:rPr lang="zh-CN" altLang="en-US" b="0" i="0" dirty="0">
                <a:solidFill>
                  <a:srgbClr val="0F1115"/>
                </a:solidFill>
                <a:effectLst/>
                <a:latin typeface="Menlo"/>
              </a:rPr>
              <a:t>软件失效主要不是由于部件老化，而是由于未发现的缺陷或其环境的变化。</a:t>
            </a:r>
            <a:endParaRPr lang="en-US" altLang="zh-CN" b="0" i="0" dirty="0">
              <a:solidFill>
                <a:srgbClr val="0F1115"/>
              </a:solidFill>
              <a:effectLst/>
              <a:latin typeface="Menlo"/>
            </a:endParaRPr>
          </a:p>
          <a:p>
            <a:pPr algn="l">
              <a:buFont typeface="Arial" panose="020B0604020202020204" pitchFamily="34" charset="0"/>
              <a:buNone/>
            </a:pPr>
            <a:r>
              <a:rPr lang="en-US" altLang="zh-CN" b="0" i="0" dirty="0">
                <a:solidFill>
                  <a:srgbClr val="0F1115"/>
                </a:solidFill>
                <a:effectLst/>
                <a:latin typeface="quote-cjk-patch"/>
              </a:rPr>
              <a:t>A) </a:t>
            </a:r>
            <a:r>
              <a:rPr lang="zh-CN" altLang="en-US" b="0" i="0" dirty="0">
                <a:solidFill>
                  <a:srgbClr val="0F1115"/>
                </a:solidFill>
                <a:effectLst/>
                <a:latin typeface="quote-cjk-patch"/>
              </a:rPr>
              <a:t>软件永远不会失败，在其整个生命周期内的失败率为零。错误原因： 软件当然会失败（有缺陷），但失败率不会像硬件一样随着时间推移而必然上升；曲线可能保持平稳或因变更而波动。</a:t>
            </a:r>
          </a:p>
          <a:p>
            <a:pPr algn="l">
              <a:buFont typeface="Arial" panose="020B0604020202020204" pitchFamily="34" charset="0"/>
              <a:buNone/>
            </a:pPr>
            <a:r>
              <a:rPr lang="en-US" altLang="zh-CN" b="0" i="0" dirty="0">
                <a:solidFill>
                  <a:srgbClr val="0F1115"/>
                </a:solidFill>
                <a:effectLst/>
                <a:latin typeface="quote-cjk-patch"/>
              </a:rPr>
              <a:t>C) </a:t>
            </a:r>
            <a:r>
              <a:rPr lang="zh-CN" altLang="en-US" b="0" i="0" dirty="0">
                <a:solidFill>
                  <a:srgbClr val="0F1115"/>
                </a:solidFill>
                <a:effectLst/>
                <a:latin typeface="quote-cjk-patch"/>
              </a:rPr>
              <a:t>软件一旦部署给客户，就完全不需要维护。错误原因： 正相反，软件正是因为会“退化”（需求变化、环境变化、发现新缺陷）而需要大量的维护工作来使其保持价值。</a:t>
            </a:r>
          </a:p>
          <a:p>
            <a:pPr algn="l">
              <a:buFont typeface="Arial" panose="020B0604020202020204" pitchFamily="34" charset="0"/>
              <a:buNone/>
            </a:pPr>
            <a:r>
              <a:rPr lang="en-US" altLang="zh-CN" b="0" i="0" dirty="0">
                <a:solidFill>
                  <a:srgbClr val="0F1115"/>
                </a:solidFill>
                <a:effectLst/>
                <a:latin typeface="quote-cjk-patch"/>
              </a:rPr>
              <a:t>D) </a:t>
            </a:r>
            <a:r>
              <a:rPr lang="zh-CN" altLang="en-US" b="0" i="0" dirty="0">
                <a:solidFill>
                  <a:srgbClr val="0F1115"/>
                </a:solidFill>
                <a:effectLst/>
                <a:latin typeface="quote-cjk-patch"/>
              </a:rPr>
              <a:t>软件维护和演化的成本总是低于其初始开发成本。错误原因： 对于大多数长期使用的软件系统来说，维护和演化的总成本通常会远远超过其初始开发成本。</a:t>
            </a:r>
          </a:p>
          <a:p>
            <a:endParaRPr lang="zh-CN" altLang="en-US" dirty="0"/>
          </a:p>
        </p:txBody>
      </p:sp>
      <p:sp>
        <p:nvSpPr>
          <p:cNvPr id="4" name="Slide Number Placeholder 3"/>
          <p:cNvSpPr>
            <a:spLocks noGrp="1"/>
          </p:cNvSpPr>
          <p:nvPr>
            <p:ph type="sldNum" sz="quarter" idx="5"/>
          </p:nvPr>
        </p:nvSpPr>
        <p:spPr/>
        <p:txBody>
          <a:bodyPr/>
          <a:lstStyle/>
          <a:p>
            <a:fld id="{5DF462FF-8FB5-4A46-9970-0F987739CACB}" type="slidenum">
              <a:rPr lang="zh-CN" altLang="en-US" smtClean="0"/>
              <a:t>23</a:t>
            </a:fld>
            <a:endParaRPr lang="zh-CN" altLang="en-US"/>
          </a:p>
        </p:txBody>
      </p:sp>
    </p:spTree>
    <p:extLst>
      <p:ext uri="{BB962C8B-B14F-4D97-AF65-F5344CB8AC3E}">
        <p14:creationId xmlns:p14="http://schemas.microsoft.com/office/powerpoint/2010/main" val="3402096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zh-CN" altLang="en-US" b="1" i="0" dirty="0">
                <a:solidFill>
                  <a:srgbClr val="0F1115"/>
                </a:solidFill>
                <a:effectLst/>
                <a:latin typeface="quote-cjk-patch"/>
              </a:rPr>
              <a:t>核心问题 ：我们为什么在这里？</a:t>
            </a:r>
            <a:endParaRPr lang="zh-CN" altLang="en-US" b="0" i="0" dirty="0">
              <a:solidFill>
                <a:srgbClr val="0F1115"/>
              </a:solidFill>
              <a:effectLst/>
              <a:latin typeface="quote-cjk-patch"/>
            </a:endParaRPr>
          </a:p>
          <a:p>
            <a:pPr algn="l">
              <a:buFont typeface="Arial" panose="020B0604020202020204" pitchFamily="34" charset="0"/>
              <a:buNone/>
            </a:pPr>
            <a:r>
              <a:rPr lang="zh-CN" altLang="en-US" b="1" i="0" dirty="0">
                <a:solidFill>
                  <a:srgbClr val="0F1115"/>
                </a:solidFill>
                <a:effectLst/>
                <a:latin typeface="quote-cjk-patch"/>
              </a:rPr>
              <a:t>下方小字</a:t>
            </a:r>
            <a:endParaRPr lang="zh-CN" altLang="en-US" b="0" i="0" dirty="0">
              <a:solidFill>
                <a:srgbClr val="0F1115"/>
              </a:solidFill>
              <a:effectLst/>
              <a:latin typeface="quote-cjk-patch"/>
            </a:endParaRPr>
          </a:p>
          <a:p>
            <a:pPr marL="742950" lvl="1" indent="-285750" algn="l">
              <a:buFont typeface="Arial" panose="020B0604020202020204" pitchFamily="34" charset="0"/>
              <a:buChar char="•"/>
            </a:pPr>
            <a:r>
              <a:rPr lang="zh-CN" altLang="en-US" b="0" i="0" dirty="0">
                <a:solidFill>
                  <a:srgbClr val="0F1115"/>
                </a:solidFill>
                <a:effectLst/>
                <a:latin typeface="quote-cjk-patch"/>
              </a:rPr>
              <a:t>好找工作？</a:t>
            </a:r>
          </a:p>
          <a:p>
            <a:pPr marL="742950" lvl="1" indent="-285750" algn="l">
              <a:buFont typeface="Arial" panose="020B0604020202020204" pitchFamily="34" charset="0"/>
              <a:buChar char="•"/>
            </a:pPr>
            <a:r>
              <a:rPr lang="zh-CN" altLang="en-US" b="0" i="0" dirty="0">
                <a:solidFill>
                  <a:srgbClr val="0F1115"/>
                </a:solidFill>
                <a:effectLst/>
                <a:latin typeface="quote-cjk-patch"/>
              </a:rPr>
              <a:t>兴趣驱动？</a:t>
            </a:r>
          </a:p>
          <a:p>
            <a:pPr marL="742950" lvl="1" indent="-285750" algn="l">
              <a:buFont typeface="Arial" panose="020B0604020202020204" pitchFamily="34" charset="0"/>
              <a:buChar char="•"/>
            </a:pPr>
            <a:r>
              <a:rPr lang="zh-CN" altLang="en-US" b="0" i="0" dirty="0">
                <a:solidFill>
                  <a:srgbClr val="0F1115"/>
                </a:solidFill>
                <a:effectLst/>
                <a:latin typeface="quote-cjk-patch"/>
              </a:rPr>
              <a:t>改变世界？</a:t>
            </a:r>
          </a:p>
          <a:p>
            <a:pPr marL="742950" lvl="1" indent="-285750" algn="l">
              <a:buFont typeface="Arial" panose="020B0604020202020204" pitchFamily="34" charset="0"/>
              <a:buChar char="•"/>
            </a:pPr>
            <a:r>
              <a:rPr lang="en-US" altLang="zh-CN" b="0" i="0" dirty="0">
                <a:solidFill>
                  <a:srgbClr val="0F1115"/>
                </a:solidFill>
                <a:effectLst/>
                <a:latin typeface="quote-cjk-patch"/>
              </a:rPr>
              <a:t>...</a:t>
            </a:r>
            <a:r>
              <a:rPr lang="zh-CN" altLang="en-US" b="0" i="0" dirty="0">
                <a:solidFill>
                  <a:srgbClr val="0F1115"/>
                </a:solidFill>
                <a:effectLst/>
                <a:latin typeface="quote-cjk-patch"/>
              </a:rPr>
              <a:t>还是？</a:t>
            </a:r>
          </a:p>
          <a:p>
            <a:pPr algn="l"/>
            <a:r>
              <a:rPr lang="zh-CN" altLang="en-US" b="1" i="0" dirty="0">
                <a:solidFill>
                  <a:srgbClr val="0F1115"/>
                </a:solidFill>
                <a:effectLst/>
                <a:latin typeface="quote-cjk-patch"/>
              </a:rPr>
              <a:t>（此页目的：引发学生对自己学习动机的初始思考）</a:t>
            </a:r>
            <a:endParaRPr lang="zh-CN" altLang="en-US" b="0" i="0" dirty="0">
              <a:solidFill>
                <a:srgbClr val="0F1115"/>
              </a:solidFill>
              <a:effectLst/>
              <a:latin typeface="quote-cjk-patch"/>
            </a:endParaRPr>
          </a:p>
          <a:p>
            <a:endParaRPr lang="zh-CN" altLang="en-US" dirty="0"/>
          </a:p>
        </p:txBody>
      </p:sp>
      <p:sp>
        <p:nvSpPr>
          <p:cNvPr id="4" name="Slide Number Placeholder 3"/>
          <p:cNvSpPr>
            <a:spLocks noGrp="1"/>
          </p:cNvSpPr>
          <p:nvPr>
            <p:ph type="sldNum" sz="quarter" idx="5"/>
          </p:nvPr>
        </p:nvSpPr>
        <p:spPr/>
        <p:txBody>
          <a:bodyPr/>
          <a:lstStyle/>
          <a:p>
            <a:fld id="{5DF462FF-8FB5-4A46-9970-0F987739CACB}" type="slidenum">
              <a:rPr lang="zh-CN" altLang="en-US" smtClean="0"/>
              <a:t>24</a:t>
            </a:fld>
            <a:endParaRPr lang="zh-CN" altLang="en-US"/>
          </a:p>
        </p:txBody>
      </p:sp>
    </p:spTree>
    <p:extLst>
      <p:ext uri="{BB962C8B-B14F-4D97-AF65-F5344CB8AC3E}">
        <p14:creationId xmlns:p14="http://schemas.microsoft.com/office/powerpoint/2010/main" val="3693212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zh-CN" altLang="en-US" b="0" dirty="0">
                <a:solidFill>
                  <a:srgbClr val="0F1115"/>
                </a:solidFill>
                <a:effectLst/>
                <a:latin typeface="quote-cjk-patch"/>
              </a:rPr>
              <a:t>时代的浪潮：一个新的疑问</a:t>
            </a:r>
          </a:p>
          <a:p>
            <a:pPr algn="l">
              <a:buFont typeface="Arial" panose="020B0604020202020204" pitchFamily="34" charset="0"/>
              <a:buNone/>
            </a:pPr>
            <a:r>
              <a:rPr lang="zh-CN" altLang="en-US" b="1" i="0" dirty="0">
                <a:solidFill>
                  <a:srgbClr val="0F1115"/>
                </a:solidFill>
                <a:effectLst/>
                <a:latin typeface="quote-cjk-patch"/>
              </a:rPr>
              <a:t>核心问题：</a:t>
            </a:r>
            <a:endParaRPr lang="en-US" altLang="zh-CN" b="1" i="0" dirty="0">
              <a:solidFill>
                <a:srgbClr val="0F1115"/>
              </a:solidFill>
              <a:effectLst/>
              <a:latin typeface="quote-cjk-patch"/>
            </a:endParaRPr>
          </a:p>
          <a:p>
            <a:pPr algn="l">
              <a:buFont typeface="Arial" panose="020B0604020202020204" pitchFamily="34" charset="0"/>
              <a:buNone/>
            </a:pPr>
            <a:r>
              <a:rPr lang="en-US" altLang="zh-CN" b="0" i="0" dirty="0">
                <a:solidFill>
                  <a:srgbClr val="0F1115"/>
                </a:solidFill>
                <a:effectLst/>
                <a:latin typeface="quote-cjk-patch"/>
              </a:rPr>
              <a:t>- </a:t>
            </a:r>
            <a:r>
              <a:rPr lang="zh-CN" altLang="en-US" b="0" i="0" dirty="0">
                <a:solidFill>
                  <a:srgbClr val="0F1115"/>
                </a:solidFill>
                <a:effectLst/>
                <a:latin typeface="quote-cjk-patch"/>
              </a:rPr>
              <a:t>当我们有了</a:t>
            </a:r>
            <a:r>
              <a:rPr lang="en-US" altLang="zh-CN" b="0" i="0" dirty="0">
                <a:solidFill>
                  <a:srgbClr val="0F1115"/>
                </a:solidFill>
                <a:effectLst/>
                <a:latin typeface="quote-cjk-patch"/>
              </a:rPr>
              <a:t>ChatGPT...</a:t>
            </a:r>
          </a:p>
          <a:p>
            <a:pPr algn="l">
              <a:buFont typeface="Arial" panose="020B0604020202020204" pitchFamily="34" charset="0"/>
              <a:buNone/>
            </a:pPr>
            <a:r>
              <a:rPr lang="en-US" altLang="zh-CN" b="0" i="0" dirty="0">
                <a:solidFill>
                  <a:srgbClr val="0F1115"/>
                </a:solidFill>
                <a:effectLst/>
                <a:latin typeface="quote-cjk-patch"/>
              </a:rPr>
              <a:t>- </a:t>
            </a:r>
            <a:r>
              <a:rPr lang="zh-CN" altLang="en-US" b="0" i="0" dirty="0">
                <a:solidFill>
                  <a:srgbClr val="0F1115"/>
                </a:solidFill>
                <a:effectLst/>
                <a:latin typeface="quote-cjk-patch"/>
              </a:rPr>
              <a:t>当</a:t>
            </a:r>
            <a:r>
              <a:rPr lang="en-US" altLang="zh-CN" b="0" i="0" dirty="0">
                <a:solidFill>
                  <a:srgbClr val="0F1115"/>
                </a:solidFill>
                <a:effectLst/>
                <a:latin typeface="quote-cjk-patch"/>
              </a:rPr>
              <a:t>GitHub Copilot</a:t>
            </a:r>
            <a:r>
              <a:rPr lang="zh-CN" altLang="en-US" b="0" i="0" dirty="0">
                <a:solidFill>
                  <a:srgbClr val="0F1115"/>
                </a:solidFill>
                <a:effectLst/>
                <a:latin typeface="quote-cjk-patch"/>
              </a:rPr>
              <a:t>能自动补全代码</a:t>
            </a:r>
            <a:r>
              <a:rPr lang="en-US" altLang="zh-CN" b="0" i="0" dirty="0">
                <a:solidFill>
                  <a:srgbClr val="0F1115"/>
                </a:solidFill>
                <a:effectLst/>
                <a:latin typeface="quote-cjk-patch"/>
              </a:rPr>
              <a:t>...</a:t>
            </a:r>
          </a:p>
          <a:p>
            <a:pPr algn="l">
              <a:buFont typeface="Arial" panose="020B0604020202020204" pitchFamily="34" charset="0"/>
              <a:buNone/>
            </a:pPr>
            <a:r>
              <a:rPr lang="en-US" altLang="zh-CN" b="0" i="0" dirty="0">
                <a:solidFill>
                  <a:srgbClr val="0F1115"/>
                </a:solidFill>
                <a:effectLst/>
                <a:latin typeface="quote-cjk-patch"/>
              </a:rPr>
              <a:t>- </a:t>
            </a:r>
            <a:r>
              <a:rPr lang="zh-CN" altLang="en-US" b="0" i="0" dirty="0">
                <a:solidFill>
                  <a:srgbClr val="0F1115"/>
                </a:solidFill>
                <a:effectLst/>
                <a:latin typeface="quote-cjk-patch"/>
              </a:rPr>
              <a:t>当</a:t>
            </a:r>
            <a:r>
              <a:rPr lang="en-US" altLang="zh-CN" b="0" i="0" dirty="0">
                <a:solidFill>
                  <a:srgbClr val="0F1115"/>
                </a:solidFill>
                <a:effectLst/>
                <a:latin typeface="quote-cjk-patch"/>
              </a:rPr>
              <a:t>AI</a:t>
            </a:r>
            <a:r>
              <a:rPr lang="zh-CN" altLang="en-US" b="0" i="0" dirty="0">
                <a:solidFill>
                  <a:srgbClr val="0F1115"/>
                </a:solidFill>
                <a:effectLst/>
                <a:latin typeface="quote-cjk-patch"/>
              </a:rPr>
              <a:t>能在秒级内创建一个完整项目</a:t>
            </a:r>
            <a:r>
              <a:rPr lang="en-US" altLang="zh-CN" b="0" i="0" dirty="0">
                <a:solidFill>
                  <a:srgbClr val="0F1115"/>
                </a:solidFill>
                <a:effectLst/>
                <a:latin typeface="quote-cjk-patch"/>
              </a:rPr>
              <a:t>...</a:t>
            </a:r>
            <a:endParaRPr lang="zh-CN" altLang="en-US" b="0" i="0" dirty="0">
              <a:solidFill>
                <a:srgbClr val="0F1115"/>
              </a:solidFill>
              <a:effectLst/>
              <a:latin typeface="quote-cjk-patch"/>
            </a:endParaRPr>
          </a:p>
          <a:p>
            <a:pPr algn="l">
              <a:buFont typeface="Arial" panose="020B0604020202020204" pitchFamily="34" charset="0"/>
              <a:buNone/>
            </a:pPr>
            <a:r>
              <a:rPr lang="zh-CN" altLang="en-US" b="1" i="0" dirty="0">
                <a:solidFill>
                  <a:srgbClr val="0F1115"/>
                </a:solidFill>
                <a:effectLst/>
                <a:latin typeface="quote-cjk-patch"/>
              </a:rPr>
              <a:t>最终问题</a:t>
            </a:r>
            <a:r>
              <a:rPr lang="en-US" altLang="zh-CN" b="1" i="0" dirty="0">
                <a:solidFill>
                  <a:srgbClr val="0F1115"/>
                </a:solidFill>
                <a:effectLst/>
                <a:latin typeface="quote-cjk-patch"/>
              </a:rPr>
              <a:t>:</a:t>
            </a:r>
          </a:p>
          <a:p>
            <a:pPr algn="l">
              <a:buFont typeface="Arial" panose="020B0604020202020204" pitchFamily="34" charset="0"/>
              <a:buNone/>
            </a:pPr>
            <a:r>
              <a:rPr lang="en-US" altLang="zh-CN" b="0" i="0" dirty="0">
                <a:solidFill>
                  <a:srgbClr val="0F1115"/>
                </a:solidFill>
                <a:effectLst/>
                <a:latin typeface="quote-cjk-patch"/>
              </a:rPr>
              <a:t>- </a:t>
            </a:r>
            <a:r>
              <a:rPr lang="zh-CN" altLang="en-US" b="0" i="0" dirty="0">
                <a:solidFill>
                  <a:srgbClr val="0F1115"/>
                </a:solidFill>
                <a:effectLst/>
                <a:latin typeface="quote-cjk-patch"/>
              </a:rPr>
              <a:t>我们今天的努力，还有意义吗？</a:t>
            </a:r>
            <a:endParaRPr lang="en-US" altLang="zh-CN" b="0" i="0" dirty="0">
              <a:solidFill>
                <a:srgbClr val="0F1115"/>
              </a:solidFill>
              <a:effectLst/>
              <a:latin typeface="quote-cjk-patch"/>
            </a:endParaRPr>
          </a:p>
          <a:p>
            <a:pPr algn="l">
              <a:buFont typeface="Arial" panose="020B0604020202020204" pitchFamily="34" charset="0"/>
              <a:buNone/>
            </a:pPr>
            <a:r>
              <a:rPr lang="en-US" altLang="zh-CN" b="0" i="0" dirty="0">
                <a:solidFill>
                  <a:srgbClr val="0F1115"/>
                </a:solidFill>
                <a:effectLst/>
                <a:latin typeface="quote-cjk-patch"/>
              </a:rPr>
              <a:t>-</a:t>
            </a:r>
            <a:r>
              <a:rPr lang="zh-CN" altLang="en-US" b="0" i="0" dirty="0">
                <a:solidFill>
                  <a:srgbClr val="0F1115"/>
                </a:solidFill>
                <a:effectLst/>
                <a:latin typeface="quote-cjk-patch"/>
              </a:rPr>
              <a:t>我们手中的“金饭碗”，还牢靠吗？</a:t>
            </a:r>
          </a:p>
          <a:p>
            <a:endParaRPr lang="zh-CN" altLang="en-US" b="0" dirty="0"/>
          </a:p>
        </p:txBody>
      </p:sp>
      <p:sp>
        <p:nvSpPr>
          <p:cNvPr id="4" name="Slide Number Placeholder 3"/>
          <p:cNvSpPr>
            <a:spLocks noGrp="1"/>
          </p:cNvSpPr>
          <p:nvPr>
            <p:ph type="sldNum" sz="quarter" idx="5"/>
          </p:nvPr>
        </p:nvSpPr>
        <p:spPr/>
        <p:txBody>
          <a:bodyPr/>
          <a:lstStyle/>
          <a:p>
            <a:fld id="{5DF462FF-8FB5-4A46-9970-0F987739CACB}" type="slidenum">
              <a:rPr lang="zh-CN" altLang="en-US" smtClean="0"/>
              <a:t>25</a:t>
            </a:fld>
            <a:endParaRPr lang="zh-CN" altLang="en-US"/>
          </a:p>
        </p:txBody>
      </p:sp>
    </p:spTree>
    <p:extLst>
      <p:ext uri="{BB962C8B-B14F-4D97-AF65-F5344CB8AC3E}">
        <p14:creationId xmlns:p14="http://schemas.microsoft.com/office/powerpoint/2010/main" val="663828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atin typeface="Times New Roman" panose="02020603050405020304" pitchFamily="18" charset="0"/>
                <a:cs typeface="Times New Roman" panose="02020603050405020304" pitchFamily="18" charset="0"/>
              </a:defRPr>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lvl1pPr>
              <a:defRPr>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4048347"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4048347"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
        <p:nvSpPr>
          <p:cNvPr id="12" name="Content Placeholder 5">
            <a:extLst>
              <a:ext uri="{FF2B5EF4-FFF2-40B4-BE49-F238E27FC236}">
                <a16:creationId xmlns:a16="http://schemas.microsoft.com/office/drawing/2014/main" id="{BE1470B2-4B4B-4272-8EFE-1E42737D1B3C}"/>
              </a:ext>
            </a:extLst>
          </p:cNvPr>
          <p:cNvSpPr>
            <a:spLocks noGrp="1"/>
          </p:cNvSpPr>
          <p:nvPr>
            <p:ph sz="quarter" idx="19" hasCustomPrompt="1"/>
          </p:nvPr>
        </p:nvSpPr>
        <p:spPr>
          <a:xfrm>
            <a:off x="4578065" y="4635164"/>
            <a:ext cx="4048347"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D5A6E116-39FC-41DD-A4B6-19BB681046FE}"/>
              </a:ext>
            </a:extLst>
          </p:cNvPr>
          <p:cNvSpPr>
            <a:spLocks noGrp="1"/>
          </p:cNvSpPr>
          <p:nvPr>
            <p:ph sz="quarter" idx="20" hasCustomPrompt="1"/>
          </p:nvPr>
        </p:nvSpPr>
        <p:spPr>
          <a:xfrm>
            <a:off x="4578065" y="5514975"/>
            <a:ext cx="4048347"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Tree>
    <p:extLst>
      <p:ext uri="{BB962C8B-B14F-4D97-AF65-F5344CB8AC3E}">
        <p14:creationId xmlns:p14="http://schemas.microsoft.com/office/powerpoint/2010/main" val="25452099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59842"/>
            <a:ext cx="8229600" cy="724942"/>
          </a:xfrm>
        </p:spPr>
        <p:txBody>
          <a:bodyPr/>
          <a:lstStyle>
            <a:lvl1pPr algn="l">
              <a:defRPr sz="4000">
                <a:latin typeface="+mn-lt"/>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9E37B4A-CA6E-4DAF-B674-17C71E40770E}" type="datetimeFigureOut">
              <a:rPr lang="zh-CN" altLang="en-US"/>
              <a:pPr>
                <a:defRPr/>
              </a:pPr>
              <a:t>2025/9/11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D37EBD-CB22-445B-8D13-670BD629B05C}" type="slidenum">
              <a:rPr lang="zh-CN" altLang="en-US"/>
              <a:pPr>
                <a:defRPr/>
              </a:pPr>
              <a:t>‹#›</a:t>
            </a:fld>
            <a:endParaRPr lang="zh-CN" altLang="en-US"/>
          </a:p>
        </p:txBody>
      </p:sp>
    </p:spTree>
    <p:extLst>
      <p:ext uri="{BB962C8B-B14F-4D97-AF65-F5344CB8AC3E}">
        <p14:creationId xmlns:p14="http://schemas.microsoft.com/office/powerpoint/2010/main" val="3580587951"/>
      </p:ext>
    </p:extLst>
  </p:cSld>
  <p:clrMapOvr>
    <a:masterClrMapping/>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atin typeface="Times New Roman" panose="02020603050405020304" pitchFamily="18" charset="0"/>
                <a:cs typeface="Times New Roman" panose="02020603050405020304" pitchFamily="18" charset="0"/>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atin typeface="Times New Roman" panose="02020603050405020304" pitchFamily="18" charset="0"/>
                <a:cs typeface="Times New Roman" panose="02020603050405020304" pitchFamily="18" charset="0"/>
              </a:defRPr>
            </a:lvl1pPr>
            <a:lvl2pPr marL="344488" indent="-342900">
              <a:buFont typeface="Arial" panose="020B0604020202020204" pitchFamily="34" charset="0"/>
              <a:buChar char="•"/>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3968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647825"/>
            <a:ext cx="8458200" cy="46005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266885"/>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65E0AE6C-7730-4CD4-B5F5-733D17B5497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4" r:id="rId7"/>
    <p:sldLayoutId id="2147483705" r:id="rId8"/>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
        <p:nvSpPr>
          <p:cNvPr id="14" name="Short Copyright">
            <a:extLst>
              <a:ext uri="{FF2B5EF4-FFF2-40B4-BE49-F238E27FC236}">
                <a16:creationId xmlns:a16="http://schemas.microsoft.com/office/drawing/2014/main" id="{5F41FE73-54FE-43CD-B935-566870C515D8}"/>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C69A58A0-D202-4D72-8DFE-CE2DED52E86C}"/>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hyperlink" Target="https://www.migufun.com/5gcampus/?pageId=102003"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1</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Software and Software Engineering</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Introduction</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41452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15E6EDC-E3C5-5CD8-1C99-4AB00C765503}"/>
              </a:ext>
            </a:extLst>
          </p:cNvPr>
          <p:cNvPicPr>
            <a:picLocks noChangeAspect="1"/>
          </p:cNvPicPr>
          <p:nvPr/>
        </p:nvPicPr>
        <p:blipFill>
          <a:blip r:embed="rId2"/>
          <a:stretch>
            <a:fillRect/>
          </a:stretch>
        </p:blipFill>
        <p:spPr>
          <a:xfrm>
            <a:off x="1619672" y="836712"/>
            <a:ext cx="6013759" cy="3479979"/>
          </a:xfrm>
          <a:prstGeom prst="rect">
            <a:avLst/>
          </a:prstGeom>
        </p:spPr>
      </p:pic>
      <p:pic>
        <p:nvPicPr>
          <p:cNvPr id="6" name="图片 5">
            <a:extLst>
              <a:ext uri="{FF2B5EF4-FFF2-40B4-BE49-F238E27FC236}">
                <a16:creationId xmlns:a16="http://schemas.microsoft.com/office/drawing/2014/main" id="{52EF2318-811A-5BC8-D1FE-F91B448BCD26}"/>
              </a:ext>
            </a:extLst>
          </p:cNvPr>
          <p:cNvPicPr>
            <a:picLocks noChangeAspect="1"/>
          </p:cNvPicPr>
          <p:nvPr/>
        </p:nvPicPr>
        <p:blipFill>
          <a:blip r:embed="rId3"/>
          <a:stretch>
            <a:fillRect/>
          </a:stretch>
        </p:blipFill>
        <p:spPr>
          <a:xfrm>
            <a:off x="155348" y="4316691"/>
            <a:ext cx="8833304" cy="1574881"/>
          </a:xfrm>
          <a:prstGeom prst="rect">
            <a:avLst/>
          </a:prstGeom>
        </p:spPr>
      </p:pic>
      <p:sp>
        <p:nvSpPr>
          <p:cNvPr id="2" name="Title 1">
            <a:extLst>
              <a:ext uri="{FF2B5EF4-FFF2-40B4-BE49-F238E27FC236}">
                <a16:creationId xmlns:a16="http://schemas.microsoft.com/office/drawing/2014/main" id="{C5746555-F5A8-1471-2BC4-BBC7F28C83C0}"/>
              </a:ext>
            </a:extLst>
          </p:cNvPr>
          <p:cNvSpPr>
            <a:spLocks noGrp="1"/>
          </p:cNvSpPr>
          <p:nvPr>
            <p:ph type="title"/>
          </p:nvPr>
        </p:nvSpPr>
        <p:spPr>
          <a:xfrm>
            <a:off x="252158" y="158101"/>
            <a:ext cx="8458200" cy="678611"/>
          </a:xfrm>
        </p:spPr>
        <p:txBody>
          <a:bodyPr>
            <a:noAutofit/>
          </a:bodyPr>
          <a:lstStyle/>
          <a:p>
            <a:r>
              <a:rPr lang="en-US" altLang="zh-CN" sz="3600" dirty="0"/>
              <a:t>Lecturer</a:t>
            </a:r>
            <a:endParaRPr lang="en-US" sz="3600" noProof="0" dirty="0"/>
          </a:p>
        </p:txBody>
      </p:sp>
    </p:spTree>
    <p:extLst>
      <p:ext uri="{BB962C8B-B14F-4D97-AF65-F5344CB8AC3E}">
        <p14:creationId xmlns:p14="http://schemas.microsoft.com/office/powerpoint/2010/main" val="3632643718"/>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CCE8-7F17-0C83-294E-60FA9845340A}"/>
              </a:ext>
            </a:extLst>
          </p:cNvPr>
          <p:cNvSpPr>
            <a:spLocks noGrp="1"/>
          </p:cNvSpPr>
          <p:nvPr>
            <p:ph type="title"/>
          </p:nvPr>
        </p:nvSpPr>
        <p:spPr>
          <a:xfrm>
            <a:off x="421957" y="318388"/>
            <a:ext cx="8117205" cy="607859"/>
          </a:xfrm>
        </p:spPr>
        <p:txBody>
          <a:bodyPr>
            <a:normAutofit fontScale="90000"/>
          </a:bodyPr>
          <a:lstStyle/>
          <a:p>
            <a:r>
              <a:rPr lang="en-US" altLang="zh-CN" dirty="0"/>
              <a:t>Grading Policy</a:t>
            </a:r>
            <a:endParaRPr lang="zh-CN" altLang="en-US" dirty="0"/>
          </a:p>
        </p:txBody>
      </p:sp>
      <p:graphicFrame>
        <p:nvGraphicFramePr>
          <p:cNvPr id="5" name="Table 4">
            <a:extLst>
              <a:ext uri="{FF2B5EF4-FFF2-40B4-BE49-F238E27FC236}">
                <a16:creationId xmlns:a16="http://schemas.microsoft.com/office/drawing/2014/main" id="{1DE8F4CC-BE0D-8B48-326E-DA2870DB5067}"/>
              </a:ext>
            </a:extLst>
          </p:cNvPr>
          <p:cNvGraphicFramePr>
            <a:graphicFrameLocks noGrp="1"/>
          </p:cNvGraphicFramePr>
          <p:nvPr/>
        </p:nvGraphicFramePr>
        <p:xfrm>
          <a:off x="381000" y="1295400"/>
          <a:ext cx="8554962" cy="5333290"/>
        </p:xfrm>
        <a:graphic>
          <a:graphicData uri="http://schemas.openxmlformats.org/drawingml/2006/table">
            <a:tbl>
              <a:tblPr>
                <a:tableStyleId>{00A15C55-8517-42AA-B614-E9B94910E393}</a:tableStyleId>
              </a:tblPr>
              <a:tblGrid>
                <a:gridCol w="1077081">
                  <a:extLst>
                    <a:ext uri="{9D8B030D-6E8A-4147-A177-3AD203B41FA5}">
                      <a16:colId xmlns:a16="http://schemas.microsoft.com/office/drawing/2014/main" val="3440007944"/>
                    </a:ext>
                  </a:extLst>
                </a:gridCol>
                <a:gridCol w="2286000">
                  <a:extLst>
                    <a:ext uri="{9D8B030D-6E8A-4147-A177-3AD203B41FA5}">
                      <a16:colId xmlns:a16="http://schemas.microsoft.com/office/drawing/2014/main" val="1647271711"/>
                    </a:ext>
                  </a:extLst>
                </a:gridCol>
                <a:gridCol w="914400">
                  <a:extLst>
                    <a:ext uri="{9D8B030D-6E8A-4147-A177-3AD203B41FA5}">
                      <a16:colId xmlns:a16="http://schemas.microsoft.com/office/drawing/2014/main" val="1717710343"/>
                    </a:ext>
                  </a:extLst>
                </a:gridCol>
                <a:gridCol w="4277481">
                  <a:extLst>
                    <a:ext uri="{9D8B030D-6E8A-4147-A177-3AD203B41FA5}">
                      <a16:colId xmlns:a16="http://schemas.microsoft.com/office/drawing/2014/main" val="4287402869"/>
                    </a:ext>
                  </a:extLst>
                </a:gridCol>
              </a:tblGrid>
              <a:tr h="251052">
                <a:tc>
                  <a:txBody>
                    <a:bodyPr/>
                    <a:lstStyle/>
                    <a:p>
                      <a:pPr algn="l"/>
                      <a:r>
                        <a:rPr lang="en-US" sz="1600" b="1" dirty="0">
                          <a:solidFill>
                            <a:schemeClr val="bg1"/>
                          </a:solidFill>
                          <a:effectLst/>
                        </a:rPr>
                        <a:t>Type</a:t>
                      </a:r>
                      <a:endParaRPr lang="en-US" sz="1600" b="1" dirty="0">
                        <a:solidFill>
                          <a:schemeClr val="bg1"/>
                        </a:solidFill>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tc>
                  <a:txBody>
                    <a:bodyPr/>
                    <a:lstStyle/>
                    <a:p>
                      <a:pPr algn="l"/>
                      <a:r>
                        <a:rPr lang="en-US" sz="1600" b="1" dirty="0">
                          <a:solidFill>
                            <a:schemeClr val="bg1"/>
                          </a:solidFill>
                          <a:effectLst/>
                        </a:rPr>
                        <a:t>Component</a:t>
                      </a:r>
                      <a:endParaRPr lang="en-US" sz="1600" b="0" dirty="0">
                        <a:solidFill>
                          <a:schemeClr val="bg1"/>
                        </a:solidFill>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tc>
                  <a:txBody>
                    <a:bodyPr/>
                    <a:lstStyle/>
                    <a:p>
                      <a:pPr algn="l"/>
                      <a:r>
                        <a:rPr lang="en-US" sz="1600" b="1">
                          <a:solidFill>
                            <a:schemeClr val="bg1"/>
                          </a:solidFill>
                          <a:effectLst/>
                        </a:rPr>
                        <a:t>Weight</a:t>
                      </a:r>
                      <a:endParaRPr lang="en-US" sz="1600" b="0">
                        <a:solidFill>
                          <a:schemeClr val="bg1"/>
                        </a:solidFill>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tc>
                  <a:txBody>
                    <a:bodyPr/>
                    <a:lstStyle/>
                    <a:p>
                      <a:pPr algn="l"/>
                      <a:r>
                        <a:rPr lang="en-US" sz="1600" b="1" dirty="0">
                          <a:solidFill>
                            <a:schemeClr val="bg1"/>
                          </a:solidFill>
                          <a:effectLst/>
                        </a:rPr>
                        <a:t>Details</a:t>
                      </a:r>
                      <a:endParaRPr lang="en-US" sz="1600" b="0" dirty="0">
                        <a:solidFill>
                          <a:schemeClr val="bg1"/>
                        </a:solidFill>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extLst>
                  <a:ext uri="{0D108BD9-81ED-4DB2-BD59-A6C34878D82A}">
                    <a16:rowId xmlns:a16="http://schemas.microsoft.com/office/drawing/2014/main" val="2481613204"/>
                  </a:ext>
                </a:extLst>
              </a:tr>
              <a:tr h="1094627">
                <a:tc>
                  <a:txBody>
                    <a:bodyPr/>
                    <a:lstStyle/>
                    <a:p>
                      <a:r>
                        <a:rPr lang="en-US" sz="1600" b="0" dirty="0">
                          <a:effectLst/>
                        </a:rPr>
                        <a:t>Individual</a:t>
                      </a:r>
                      <a:endParaRPr lang="en-US" sz="16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Final Examination</a:t>
                      </a:r>
                      <a:endParaRPr lang="en-US" sz="16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600" b="0" dirty="0">
                          <a:effectLst/>
                        </a:rPr>
                        <a:t>50%</a:t>
                      </a:r>
                      <a:endParaRPr lang="zh-CN" alt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A comprehensive exam assessing understanding of core software engineering principles, methodologies, and theoretical knowledge covered throughout the course.</a:t>
                      </a:r>
                      <a:endParaRPr 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0148673"/>
                  </a:ext>
                </a:extLst>
              </a:tr>
              <a:tr h="1140460">
                <a:tc rowSpan="2">
                  <a:txBody>
                    <a:bodyPr/>
                    <a:lstStyle/>
                    <a:p>
                      <a:r>
                        <a:rPr lang="en-US" sz="1400" b="0" dirty="0">
                          <a:effectLst/>
                        </a:rPr>
                        <a:t>Group</a:t>
                      </a:r>
                      <a:endParaRPr lang="en-US" sz="14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Group Project</a:t>
                      </a:r>
                    </a:p>
                    <a:p>
                      <a:r>
                        <a:rPr lang="en-US" sz="1400" b="0" dirty="0">
                          <a:effectLst/>
                        </a:rPr>
                        <a:t>(</a:t>
                      </a:r>
                      <a:r>
                        <a:rPr lang="zh-CN" altLang="en-US" sz="1400" b="0" dirty="0">
                          <a:solidFill>
                            <a:schemeClr val="accent1">
                              <a:lumMod val="75000"/>
                            </a:schemeClr>
                          </a:solidFill>
                          <a:effectLst/>
                          <a:hlinkClick r:id="rId2">
                            <a:extLst>
                              <a:ext uri="{A12FA001-AC4F-418D-AE19-62706E023703}">
                                <ahyp:hlinkClr xmlns:ahyp="http://schemas.microsoft.com/office/drawing/2018/hyperlinkcolor" val="tx"/>
                              </a:ext>
                            </a:extLst>
                          </a:hlinkClick>
                        </a:rPr>
                        <a:t>动感地带</a:t>
                      </a:r>
                      <a:r>
                        <a:rPr lang="en-US" altLang="zh-CN" sz="1400" b="0" dirty="0">
                          <a:solidFill>
                            <a:schemeClr val="accent1">
                              <a:lumMod val="75000"/>
                            </a:schemeClr>
                          </a:solidFill>
                          <a:effectLst/>
                          <a:hlinkClick r:id="rId2">
                            <a:extLst>
                              <a:ext uri="{A12FA001-AC4F-418D-AE19-62706E023703}">
                                <ahyp:hlinkClr xmlns:ahyp="http://schemas.microsoft.com/office/drawing/2018/hyperlinkcolor" val="tx"/>
                              </a:ext>
                            </a:extLst>
                          </a:hlinkClick>
                        </a:rPr>
                        <a:t>AI</a:t>
                      </a:r>
                      <a:r>
                        <a:rPr lang="zh-CN" altLang="en-US" sz="1400" b="0" dirty="0">
                          <a:solidFill>
                            <a:schemeClr val="accent1">
                              <a:lumMod val="75000"/>
                            </a:schemeClr>
                          </a:solidFill>
                          <a:effectLst/>
                          <a:hlinkClick r:id="rId2">
                            <a:extLst>
                              <a:ext uri="{A12FA001-AC4F-418D-AE19-62706E023703}">
                                <ahyp:hlinkClr xmlns:ahyp="http://schemas.microsoft.com/office/drawing/2018/hyperlinkcolor" val="tx"/>
                              </a:ext>
                            </a:extLst>
                          </a:hlinkClick>
                        </a:rPr>
                        <a:t>高校创智计划</a:t>
                      </a:r>
                      <a:r>
                        <a:rPr lang="en-US" sz="1400" b="0" dirty="0">
                          <a:effectLst/>
                        </a:rPr>
                        <a:t>)</a:t>
                      </a:r>
                      <a:endParaRPr lang="en-US" sz="14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600" b="0" dirty="0">
                          <a:effectLst/>
                        </a:rPr>
                        <a:t>35%</a:t>
                      </a:r>
                      <a:endParaRPr lang="zh-CN" alt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A hands-on project evaluating the entire software lifecycle: requirement elicitation, system design, implementation, testing, and deployment. Key focus on teamwork, tool usage, and creating a functional, valuable product.</a:t>
                      </a:r>
                      <a:endParaRPr 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4507528"/>
                  </a:ext>
                </a:extLst>
              </a:tr>
              <a:tr h="1094627">
                <a:tc vMerge="1">
                  <a:txBody>
                    <a:bodyPr/>
                    <a:lstStyle/>
                    <a:p>
                      <a:endParaRPr lang="en-US" sz="1800" b="0" i="1" dirty="0">
                        <a:effectLst/>
                        <a:latin typeface="quote-cjk-patch"/>
                      </a:endParaRPr>
                    </a:p>
                  </a:txBody>
                  <a:tcPr marL="55177" marR="61308" marT="38318" marB="38318" anchor="ctr"/>
                </a:tc>
                <a:tc>
                  <a:txBody>
                    <a:bodyPr/>
                    <a:lstStyle/>
                    <a:p>
                      <a:r>
                        <a:rPr lang="en-US" sz="1600" b="0" dirty="0">
                          <a:effectLst/>
                        </a:rPr>
                        <a:t>Conference-Style Paper</a:t>
                      </a:r>
                      <a:endParaRPr lang="en-US" sz="16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600" b="0" dirty="0">
                          <a:effectLst/>
                        </a:rPr>
                        <a:t>10%</a:t>
                      </a:r>
                      <a:endParaRPr lang="zh-CN" alt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A complete academic paper formatted for a target conference. Must include abstract, introduction, methodology, results, discussion, and conclusions. Evaluates ability to communicate research and technical work formally.</a:t>
                      </a:r>
                      <a:endParaRPr 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3491745"/>
                  </a:ext>
                </a:extLst>
              </a:tr>
              <a:tr h="838835">
                <a:tc>
                  <a:txBody>
                    <a:bodyPr/>
                    <a:lstStyle/>
                    <a:p>
                      <a:r>
                        <a:rPr lang="en-US" sz="1600" b="0" dirty="0">
                          <a:effectLst/>
                        </a:rPr>
                        <a:t>Individual</a:t>
                      </a:r>
                      <a:endParaRPr lang="en-US" sz="16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Class Participation &amp; Quizzes</a:t>
                      </a:r>
                      <a:endParaRPr lang="en-US" sz="1600" b="0" i="1" dirty="0">
                        <a:effectLst/>
                        <a:latin typeface="quote-cjk-patch"/>
                      </a:endParaRPr>
                    </a:p>
                  </a:txBody>
                  <a:tcPr marL="55177"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600" b="0" dirty="0">
                          <a:effectLst/>
                        </a:rPr>
                        <a:t>5%</a:t>
                      </a:r>
                      <a:endParaRPr lang="zh-CN" alt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0" dirty="0">
                          <a:effectLst/>
                        </a:rPr>
                        <a:t>Based on active contribution to lectures, in-class exercises. Attendance is a prerequisite for earning these points.</a:t>
                      </a:r>
                      <a:endParaRPr lang="en-US" sz="1600" b="0" dirty="0">
                        <a:effectLst/>
                        <a:latin typeface="quote-cjk-patch"/>
                      </a:endParaRPr>
                    </a:p>
                  </a:txBody>
                  <a:tcPr marL="61308" marR="61308" marT="38318" marB="383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9382589"/>
                  </a:ext>
                </a:extLst>
              </a:tr>
            </a:tbl>
          </a:graphicData>
        </a:graphic>
      </p:graphicFrame>
    </p:spTree>
    <p:extLst>
      <p:ext uri="{BB962C8B-B14F-4D97-AF65-F5344CB8AC3E}">
        <p14:creationId xmlns:p14="http://schemas.microsoft.com/office/powerpoint/2010/main" val="809825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4</a:t>
            </a:fld>
            <a:endParaRPr lang="en-US" dirty="0"/>
          </a:p>
        </p:txBody>
      </p:sp>
      <p:pic>
        <p:nvPicPr>
          <p:cNvPr id="5" name="图片 4">
            <a:extLst>
              <a:ext uri="{FF2B5EF4-FFF2-40B4-BE49-F238E27FC236}">
                <a16:creationId xmlns:a16="http://schemas.microsoft.com/office/drawing/2014/main" id="{EE548C82-1621-D6FE-1506-86353ADFAC77}"/>
              </a:ext>
            </a:extLst>
          </p:cNvPr>
          <p:cNvPicPr>
            <a:picLocks noChangeAspect="1"/>
          </p:cNvPicPr>
          <p:nvPr/>
        </p:nvPicPr>
        <p:blipFill>
          <a:blip r:embed="rId2"/>
          <a:stretch>
            <a:fillRect/>
          </a:stretch>
        </p:blipFill>
        <p:spPr>
          <a:xfrm>
            <a:off x="0" y="737249"/>
            <a:ext cx="9144000" cy="4314157"/>
          </a:xfrm>
          <a:prstGeom prst="rect">
            <a:avLst/>
          </a:prstGeom>
        </p:spPr>
      </p:pic>
      <p:sp>
        <p:nvSpPr>
          <p:cNvPr id="11" name="文本框 10">
            <a:extLst>
              <a:ext uri="{FF2B5EF4-FFF2-40B4-BE49-F238E27FC236}">
                <a16:creationId xmlns:a16="http://schemas.microsoft.com/office/drawing/2014/main" id="{9966B659-F5DC-8B55-8B0E-240CDE491D5F}"/>
              </a:ext>
            </a:extLst>
          </p:cNvPr>
          <p:cNvSpPr txBox="1"/>
          <p:nvPr/>
        </p:nvSpPr>
        <p:spPr>
          <a:xfrm>
            <a:off x="1958273" y="5677802"/>
            <a:ext cx="5862680" cy="369332"/>
          </a:xfrm>
          <a:prstGeom prst="rect">
            <a:avLst/>
          </a:prstGeom>
          <a:noFill/>
        </p:spPr>
        <p:txBody>
          <a:bodyPr wrap="square">
            <a:spAutoFit/>
          </a:bodyPr>
          <a:lstStyle/>
          <a:p>
            <a:r>
              <a:rPr lang="zh-CN" altLang="en-US" dirty="0"/>
              <a:t>https://www.migufun.com/5gcampus/?pageId=102003</a:t>
            </a:r>
          </a:p>
        </p:txBody>
      </p:sp>
    </p:spTree>
    <p:extLst>
      <p:ext uri="{BB962C8B-B14F-4D97-AF65-F5344CB8AC3E}">
        <p14:creationId xmlns:p14="http://schemas.microsoft.com/office/powerpoint/2010/main" val="2251106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3600" noProof="0" dirty="0"/>
              <a:t>Nature of Software – Defining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476162"/>
          </a:xfrm>
        </p:spPr>
        <p:txBody>
          <a:bodyPr vert="horz" lIns="91440" tIns="45720" rIns="91440" bIns="45720" rtlCol="0">
            <a:noAutofit/>
          </a:bodyPr>
          <a:lstStyle/>
          <a:p>
            <a:pPr>
              <a:spcBef>
                <a:spcPct val="50000"/>
              </a:spcBef>
            </a:pPr>
            <a:r>
              <a:rPr lang="en-US" altLang="en-US" sz="2400" i="1" noProof="0" dirty="0">
                <a:solidFill>
                  <a:schemeClr val="tx1"/>
                </a:solidFill>
              </a:rPr>
              <a:t>Software is:</a:t>
            </a:r>
          </a:p>
          <a:p>
            <a:pPr marL="403200" indent="-403200">
              <a:spcBef>
                <a:spcPts val="1000"/>
              </a:spcBef>
              <a:spcAft>
                <a:spcPts val="0"/>
              </a:spcAft>
              <a:buFont typeface="+mj-lt"/>
              <a:buAutoNum type="arabicParenR"/>
            </a:pPr>
            <a:r>
              <a:rPr lang="en-US" altLang="en-US" sz="2400" i="1" noProof="0" dirty="0">
                <a:solidFill>
                  <a:schemeClr val="tx1"/>
                </a:solidFill>
              </a:rPr>
              <a:t>Instructions (computer programs) that when executed provide desired features, function, and performance;</a:t>
            </a:r>
          </a:p>
          <a:p>
            <a:pPr marL="403200" indent="-403200">
              <a:spcBef>
                <a:spcPts val="1000"/>
              </a:spcBef>
              <a:spcAft>
                <a:spcPts val="0"/>
              </a:spcAft>
              <a:buFont typeface="+mj-lt"/>
              <a:buAutoNum type="arabicParenR"/>
            </a:pPr>
            <a:r>
              <a:rPr lang="en-US" altLang="en-US" sz="2400" i="1" noProof="0" dirty="0">
                <a:solidFill>
                  <a:schemeClr val="tx1"/>
                </a:solidFill>
              </a:rPr>
              <a:t>Data structures that enable the programs to adequately manipulate information.</a:t>
            </a:r>
          </a:p>
          <a:p>
            <a:pPr marL="403200" indent="-403200">
              <a:spcBef>
                <a:spcPts val="1000"/>
              </a:spcBef>
              <a:spcAft>
                <a:spcPts val="0"/>
              </a:spcAft>
              <a:buFont typeface="+mj-lt"/>
              <a:buAutoNum type="arabicParenR"/>
            </a:pPr>
            <a:r>
              <a:rPr lang="en-US" altLang="en-US" sz="2400" i="1" dirty="0">
                <a:solidFill>
                  <a:schemeClr val="tx1"/>
                </a:solidFill>
              </a:rPr>
              <a:t>D</a:t>
            </a:r>
            <a:r>
              <a:rPr lang="en-US" altLang="en-US" sz="2400" i="1" noProof="0" dirty="0" err="1">
                <a:solidFill>
                  <a:schemeClr val="tx1"/>
                </a:solidFill>
              </a:rPr>
              <a:t>ocumentation</a:t>
            </a:r>
            <a:r>
              <a:rPr lang="en-US" altLang="en-US" sz="2400" i="1" noProof="0" dirty="0">
                <a:solidFill>
                  <a:schemeClr val="tx1"/>
                </a:solidFill>
              </a:rPr>
              <a:t> that describes the operation and use of the programs.</a:t>
            </a:r>
            <a:endParaRPr lang="en-US" altLang="en-US" sz="24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503147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What is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29940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t>Software is developed or engineered it is not manufactured in the classical sense.</a:t>
            </a:r>
          </a:p>
          <a:p>
            <a:pPr marL="291600" indent="-291600">
              <a:spcBef>
                <a:spcPts val="1000"/>
              </a:spcBef>
              <a:spcAft>
                <a:spcPts val="0"/>
              </a:spcAft>
              <a:buFont typeface="Arial" panose="020B0604020202020204" pitchFamily="34" charset="0"/>
              <a:buChar char="•"/>
            </a:pPr>
            <a:r>
              <a:rPr lang="en-US" altLang="en-US" sz="2400" i="1" noProof="0" dirty="0"/>
              <a:t>Software doesn't "wear out“ but i</a:t>
            </a:r>
            <a:r>
              <a:rPr lang="en-US" altLang="zh-CN" sz="2400" i="1" noProof="0" dirty="0"/>
              <a:t>t</a:t>
            </a:r>
            <a:r>
              <a:rPr lang="en-US" altLang="en-US" sz="2400" i="1" noProof="0" dirty="0"/>
              <a:t> does deteriorate.</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i="1" noProof="0" dirty="0"/>
              <a:t>Although the industry is moving toward component-based construction, most software continues to be custom-built.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132758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Software Application Domains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73891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System software.</a:t>
            </a:r>
          </a:p>
          <a:p>
            <a:pPr marL="291600" indent="-291600">
              <a:spcBef>
                <a:spcPts val="1000"/>
              </a:spcBef>
              <a:spcAft>
                <a:spcPts val="0"/>
              </a:spcAft>
              <a:buFont typeface="Arial" panose="020B0604020202020204" pitchFamily="34" charset="0"/>
              <a:buChar char="•"/>
            </a:pPr>
            <a:r>
              <a:rPr lang="en-US" altLang="en-US" sz="2400" noProof="0" dirty="0"/>
              <a:t>Application software.</a:t>
            </a:r>
          </a:p>
          <a:p>
            <a:pPr marL="291600" indent="-291600">
              <a:spcBef>
                <a:spcPts val="1000"/>
              </a:spcBef>
              <a:spcAft>
                <a:spcPts val="0"/>
              </a:spcAft>
              <a:buFont typeface="Arial" panose="020B0604020202020204" pitchFamily="34" charset="0"/>
              <a:buChar char="•"/>
            </a:pPr>
            <a:r>
              <a:rPr lang="en-US" altLang="en-US" sz="2400" noProof="0" dirty="0"/>
              <a:t>Engineering/Scientific software.</a:t>
            </a:r>
          </a:p>
          <a:p>
            <a:pPr marL="291600" indent="-291600">
              <a:spcBef>
                <a:spcPts val="1000"/>
              </a:spcBef>
              <a:spcAft>
                <a:spcPts val="0"/>
              </a:spcAft>
              <a:buFont typeface="Arial" panose="020B0604020202020204" pitchFamily="34" charset="0"/>
              <a:buChar char="•"/>
            </a:pPr>
            <a:r>
              <a:rPr lang="en-US" altLang="en-US" sz="2400" noProof="0" dirty="0"/>
              <a:t>Embedded software.</a:t>
            </a:r>
          </a:p>
          <a:p>
            <a:pPr marL="291600" indent="-291600">
              <a:spcBef>
                <a:spcPts val="1000"/>
              </a:spcBef>
              <a:spcAft>
                <a:spcPts val="0"/>
              </a:spcAft>
              <a:buFont typeface="Arial" panose="020B0604020202020204" pitchFamily="34" charset="0"/>
              <a:buChar char="•"/>
            </a:pPr>
            <a:r>
              <a:rPr lang="en-US" altLang="en-US" sz="2400" noProof="0" dirty="0"/>
              <a:t>Product-line software.</a:t>
            </a:r>
          </a:p>
          <a:p>
            <a:pPr marL="291600" indent="-291600">
              <a:spcBef>
                <a:spcPts val="1000"/>
              </a:spcBef>
              <a:spcAft>
                <a:spcPts val="0"/>
              </a:spcAft>
              <a:buFont typeface="Arial" panose="020B0604020202020204" pitchFamily="34" charset="0"/>
              <a:buChar char="•"/>
            </a:pPr>
            <a:r>
              <a:rPr lang="en-US" altLang="en-US" sz="2400" noProof="0" dirty="0"/>
              <a:t>Web/Mobile applications.</a:t>
            </a:r>
          </a:p>
          <a:p>
            <a:pPr marL="291600" indent="-291600">
              <a:spcBef>
                <a:spcPts val="1000"/>
              </a:spcBef>
              <a:spcAft>
                <a:spcPts val="0"/>
              </a:spcAft>
              <a:buFont typeface="Arial" panose="020B0604020202020204" pitchFamily="34" charset="0"/>
              <a:buChar char="•"/>
            </a:pPr>
            <a:r>
              <a:rPr lang="en-US" altLang="en-US" sz="2400" noProof="0" dirty="0"/>
              <a:t>AI software (robotics, neural nets, game playing).</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4073033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Wear versus Deterioration</a:t>
            </a:r>
          </a:p>
        </p:txBody>
      </p:sp>
      <p:pic>
        <p:nvPicPr>
          <p:cNvPr id="10" name="Picture 9" descr="A graph showing wear versus deterioration is plotted for failure rate versus time.">
            <a:extLst>
              <a:ext uri="{FF2B5EF4-FFF2-40B4-BE49-F238E27FC236}">
                <a16:creationId xmlns:a16="http://schemas.microsoft.com/office/drawing/2014/main" id="{4CAB204E-0121-4B18-B5EA-5B0C871A5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252" y="1446414"/>
            <a:ext cx="5895095" cy="4556668"/>
          </a:xfrm>
          <a:prstGeom prst="rect">
            <a:avLst/>
          </a:prstGeom>
        </p:spPr>
      </p:pic>
      <p:sp>
        <p:nvSpPr>
          <p:cNvPr id="17" name="Text Placeholder 16">
            <a:extLst>
              <a:ext uri="{FF2B5EF4-FFF2-40B4-BE49-F238E27FC236}">
                <a16:creationId xmlns:a16="http://schemas.microsoft.com/office/drawing/2014/main" id="{15A1D1DA-B725-4558-BD94-D939F50EB0C8}"/>
              </a:ext>
            </a:extLst>
          </p:cNvPr>
          <p:cNvSpPr>
            <a:spLocks noGrp="1"/>
          </p:cNvSpPr>
          <p:nvPr>
            <p:ph type="body" sz="quarter" idx="12"/>
          </p:nvPr>
        </p:nvSpPr>
        <p:spPr>
          <a:xfrm>
            <a:off x="3249321" y="6255327"/>
            <a:ext cx="3141088" cy="259773"/>
          </a:xfrm>
        </p:spPr>
        <p:txBody>
          <a:bodyPr/>
          <a:lstStyle/>
          <a:p>
            <a:r>
              <a:rPr lang="en-US" sz="1200" noProof="0" dirty="0">
                <a:hlinkClick r:id="rId3" action="ppaction://hlinksldjump"/>
              </a:rPr>
              <a:t>Access the text alternative for slide images.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3680177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Legacy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337821"/>
          </a:xfrm>
        </p:spPr>
        <p:txBody>
          <a:bodyPr vert="horz" lIns="91440" tIns="45720" rIns="91440" bIns="45720" rtlCol="0">
            <a:noAutofit/>
          </a:bodyPr>
          <a:lstStyle/>
          <a:p>
            <a:pPr>
              <a:lnSpc>
                <a:spcPct val="90000"/>
              </a:lnSpc>
            </a:pPr>
            <a:r>
              <a:rPr lang="en-US" altLang="en-US" sz="2400" i="1" noProof="0" dirty="0">
                <a:solidFill>
                  <a:schemeClr val="tx1"/>
                </a:solidFill>
              </a:rPr>
              <a:t>Why must software change?</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adapted</a:t>
            </a:r>
            <a:r>
              <a:rPr lang="en-US" altLang="en-US" sz="2000" noProof="0" dirty="0">
                <a:solidFill>
                  <a:schemeClr val="tx1"/>
                </a:solidFill>
              </a:rPr>
              <a:t> to meet the needs of new computing environments or technology,</a:t>
            </a:r>
            <a:r>
              <a:rPr lang="zh-CN" altLang="en-US" sz="2000" noProof="0" dirty="0">
                <a:solidFill>
                  <a:schemeClr val="tx1"/>
                </a:solidFill>
              </a:rPr>
              <a:t> </a:t>
            </a:r>
            <a:r>
              <a:rPr lang="en-US" altLang="zh-CN" sz="2000" noProof="0" dirty="0">
                <a:solidFill>
                  <a:schemeClr val="tx1"/>
                </a:solidFill>
              </a:rPr>
              <a:t>e.g. cloud </a:t>
            </a:r>
            <a:r>
              <a:rPr lang="en-US" altLang="zh-CN" sz="2000" dirty="0">
                <a:solidFill>
                  <a:schemeClr val="tx1"/>
                </a:solidFill>
              </a:rPr>
              <a:t>c</a:t>
            </a:r>
            <a:r>
              <a:rPr lang="en-US" altLang="zh-CN" sz="2000" noProof="0" dirty="0" err="1">
                <a:solidFill>
                  <a:schemeClr val="tx1"/>
                </a:solidFill>
              </a:rPr>
              <a:t>omputing</a:t>
            </a:r>
            <a:endParaRPr lang="en-US" altLang="en-US" sz="2000" noProof="0" dirty="0">
              <a:solidFill>
                <a:schemeClr val="tx1"/>
              </a:solidFill>
            </a:endParaRP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enhanced</a:t>
            </a:r>
            <a:r>
              <a:rPr lang="en-US" altLang="en-US" sz="2000" noProof="0" dirty="0">
                <a:solidFill>
                  <a:schemeClr val="tx1"/>
                </a:solidFill>
              </a:rPr>
              <a:t> to implement new business requirements</a:t>
            </a:r>
            <a:r>
              <a:rPr lang="en-US" altLang="en-US" sz="2000" dirty="0">
                <a:solidFill>
                  <a:schemeClr val="tx1"/>
                </a:solidFill>
              </a:rPr>
              <a:t>,</a:t>
            </a:r>
            <a:r>
              <a:rPr lang="zh-CN" altLang="en-US" sz="2000" dirty="0">
                <a:solidFill>
                  <a:schemeClr val="tx1"/>
                </a:solidFill>
              </a:rPr>
              <a:t> </a:t>
            </a:r>
            <a:r>
              <a:rPr lang="en-US" altLang="zh-CN" sz="2000" dirty="0">
                <a:solidFill>
                  <a:schemeClr val="tx1"/>
                </a:solidFill>
              </a:rPr>
              <a:t>e.g.</a:t>
            </a:r>
            <a:r>
              <a:rPr lang="zh-CN" altLang="en-US" sz="2000" dirty="0">
                <a:solidFill>
                  <a:schemeClr val="tx1"/>
                </a:solidFill>
              </a:rPr>
              <a:t> </a:t>
            </a:r>
            <a:r>
              <a:rPr lang="en-US" altLang="zh-CN" sz="2000" dirty="0">
                <a:solidFill>
                  <a:schemeClr val="tx1"/>
                </a:solidFill>
              </a:rPr>
              <a:t>e-commerce</a:t>
            </a:r>
            <a:endParaRPr lang="en-US" altLang="en-US" sz="2000" noProof="0" dirty="0">
              <a:solidFill>
                <a:schemeClr val="tx1"/>
              </a:solidFill>
            </a:endParaRPr>
          </a:p>
          <a:p>
            <a:pPr marL="291600" lvl="2" indent="-291600">
              <a:spcBef>
                <a:spcPts val="1000"/>
              </a:spcBef>
              <a:spcAft>
                <a:spcPts val="0"/>
              </a:spcAft>
            </a:pPr>
            <a:r>
              <a:rPr lang="en-US" altLang="en-US" sz="2000" noProof="0" dirty="0">
                <a:solidFill>
                  <a:schemeClr val="tx1"/>
                </a:solidFill>
              </a:rPr>
              <a:t>Software must be </a:t>
            </a:r>
            <a:r>
              <a:rPr lang="en-US" altLang="en-US" sz="2000" i="1" noProof="0" dirty="0">
                <a:solidFill>
                  <a:schemeClr val="tx1"/>
                </a:solidFill>
              </a:rPr>
              <a:t>extended</a:t>
            </a:r>
            <a:r>
              <a:rPr lang="en-US" altLang="en-US" sz="2000" noProof="0" dirty="0">
                <a:solidFill>
                  <a:schemeClr val="tx1"/>
                </a:solidFill>
              </a:rPr>
              <a:t> to make it interoperable with other more modern systems or databases, e.g. AI framework</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re-architected</a:t>
            </a:r>
            <a:r>
              <a:rPr lang="en-US" altLang="en-US" sz="2000" noProof="0" dirty="0">
                <a:solidFill>
                  <a:schemeClr val="tx1"/>
                </a:solidFill>
              </a:rPr>
              <a:t> to make it viable within a network environment</a:t>
            </a:r>
            <a:r>
              <a:rPr lang="en-US" altLang="en-US" sz="2000" dirty="0">
                <a:solidFill>
                  <a:schemeClr val="tx1"/>
                </a:solidFill>
              </a:rPr>
              <a:t>, e.g. data center virtualization</a:t>
            </a:r>
            <a:endParaRPr lang="en-US" altLang="en-US" sz="20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967782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Defining the Discipline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167699"/>
          </a:xfrm>
        </p:spPr>
        <p:txBody>
          <a:bodyPr vert="horz" lIns="91440" tIns="45720" rIns="91440" bIns="45720" rtlCol="0">
            <a:noAutofit/>
          </a:bodyPr>
          <a:lstStyle/>
          <a:p>
            <a:r>
              <a:rPr lang="en-US" altLang="en-US" sz="2400" noProof="0" dirty="0"/>
              <a:t>The IEEE </a:t>
            </a:r>
            <a:r>
              <a:rPr lang="en-US" altLang="en-US" sz="2400" noProof="0" dirty="0">
                <a:solidFill>
                  <a:schemeClr val="tx1"/>
                </a:solidFill>
              </a:rPr>
              <a:t>definition</a:t>
            </a:r>
            <a:r>
              <a:rPr lang="en-US" altLang="en-US" sz="2400" noProof="0" dirty="0"/>
              <a:t>:</a:t>
            </a:r>
          </a:p>
          <a:p>
            <a:pPr marL="231775" lvl="2" indent="-231775">
              <a:spcBef>
                <a:spcPts val="300"/>
              </a:spcBef>
              <a:buNone/>
            </a:pPr>
            <a:r>
              <a:rPr lang="en-US" altLang="en-US" sz="2200" i="1" noProof="0" dirty="0"/>
              <a:t>Software Engineering:</a:t>
            </a:r>
          </a:p>
          <a:p>
            <a:pPr marL="403200" lvl="3" indent="-403200">
              <a:spcBef>
                <a:spcPts val="1000"/>
              </a:spcBef>
              <a:spcAft>
                <a:spcPts val="0"/>
              </a:spcAft>
              <a:buFont typeface="+mj-lt"/>
              <a:buAutoNum type="arabicPeriod"/>
            </a:pPr>
            <a:r>
              <a:rPr lang="en-US" altLang="en-US" sz="2000" i="1" noProof="0" dirty="0"/>
              <a:t>The application of a </a:t>
            </a:r>
            <a:r>
              <a:rPr lang="en-US" altLang="en-US" sz="2000" i="1" noProof="0" dirty="0">
                <a:solidFill>
                  <a:schemeClr val="folHlink"/>
                </a:solidFill>
              </a:rPr>
              <a:t>systematic, disciplined, quantifiable approach</a:t>
            </a:r>
            <a:r>
              <a:rPr lang="en-US" altLang="en-US" sz="2000" i="1" noProof="0" dirty="0"/>
              <a:t> to the </a:t>
            </a:r>
            <a:r>
              <a:rPr lang="en-US" altLang="en-US" sz="2000" i="1" noProof="0" dirty="0">
                <a:solidFill>
                  <a:schemeClr val="folHlink"/>
                </a:solidFill>
              </a:rPr>
              <a:t>development, operation, and maintenance</a:t>
            </a:r>
            <a:r>
              <a:rPr lang="en-US" altLang="en-US" sz="2000" i="1" noProof="0" dirty="0"/>
              <a:t> of software; that is, the application of engineering to software.</a:t>
            </a:r>
          </a:p>
          <a:p>
            <a:pPr marL="403200" lvl="3" indent="-403200">
              <a:spcBef>
                <a:spcPts val="1000"/>
              </a:spcBef>
              <a:spcAft>
                <a:spcPts val="0"/>
              </a:spcAft>
              <a:buFont typeface="+mj-lt"/>
              <a:buAutoNum type="arabicPeriod"/>
            </a:pPr>
            <a:r>
              <a:rPr lang="en-US" altLang="en-US" sz="2000" i="1" noProof="0" dirty="0"/>
              <a:t>The study of approaches as in (1).</a:t>
            </a:r>
            <a:endParaRPr lang="en-US" altLang="en-US" sz="28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3053874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Software Engineering Layers</a:t>
            </a:r>
          </a:p>
        </p:txBody>
      </p:sp>
      <p:pic>
        <p:nvPicPr>
          <p:cNvPr id="10" name="Picture 9" descr="Software engineering layers from top to bottom are: tools, methods, process, and A quality focus. ">
            <a:extLst>
              <a:ext uri="{FF2B5EF4-FFF2-40B4-BE49-F238E27FC236}">
                <a16:creationId xmlns:a16="http://schemas.microsoft.com/office/drawing/2014/main" id="{438CA3B7-5163-4FB6-A493-414E76C7A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66" y="1872395"/>
            <a:ext cx="7810422" cy="3750674"/>
          </a:xfrm>
          <a:prstGeom prst="rect">
            <a:avLst/>
          </a:prstGeom>
        </p:spPr>
      </p:pic>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2073745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Process Framework Activities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391523"/>
          </a:xfrm>
        </p:spPr>
        <p:txBody>
          <a:bodyPr vert="horz" lIns="91440" tIns="45720" rIns="91440" bIns="45720" rtlCol="0">
            <a:noAutofit/>
          </a:bodyPr>
          <a:lstStyle/>
          <a:p>
            <a:pPr>
              <a:spcBef>
                <a:spcPts val="1000"/>
              </a:spcBef>
              <a:spcAft>
                <a:spcPts val="0"/>
              </a:spcAft>
            </a:pPr>
            <a:r>
              <a:rPr lang="en-US" altLang="en-US" sz="2400" noProof="0" dirty="0">
                <a:solidFill>
                  <a:schemeClr val="tx1"/>
                </a:solidFill>
              </a:rPr>
              <a:t>Communication – Understand the problem.</a:t>
            </a:r>
          </a:p>
          <a:p>
            <a:pPr>
              <a:spcBef>
                <a:spcPts val="1000"/>
              </a:spcBef>
              <a:spcAft>
                <a:spcPts val="0"/>
              </a:spcAft>
            </a:pPr>
            <a:r>
              <a:rPr lang="en-US" altLang="en-US" sz="2400" noProof="0" dirty="0">
                <a:solidFill>
                  <a:schemeClr val="tx1"/>
                </a:solidFill>
              </a:rPr>
              <a:t>Planning – Tasks, Dependencies, Schedule, Resources</a:t>
            </a:r>
          </a:p>
          <a:p>
            <a:pPr>
              <a:spcBef>
                <a:spcPts val="1000"/>
              </a:spcBef>
              <a:spcAft>
                <a:spcPts val="0"/>
              </a:spcAft>
            </a:pPr>
            <a:r>
              <a:rPr lang="en-US" altLang="en-US" sz="2400" noProof="0" dirty="0">
                <a:solidFill>
                  <a:schemeClr val="tx1"/>
                </a:solidFill>
              </a:rPr>
              <a:t>Modeling.</a:t>
            </a:r>
          </a:p>
          <a:p>
            <a:pPr marL="291600" lvl="2" indent="-291600">
              <a:spcBef>
                <a:spcPts val="1000"/>
              </a:spcBef>
              <a:spcAft>
                <a:spcPts val="0"/>
              </a:spcAft>
            </a:pPr>
            <a:r>
              <a:rPr lang="en-US" altLang="en-US" sz="2200" noProof="0" dirty="0">
                <a:solidFill>
                  <a:schemeClr val="tx1"/>
                </a:solidFill>
              </a:rPr>
              <a:t>Analysis of requirements.</a:t>
            </a:r>
          </a:p>
          <a:p>
            <a:pPr marL="291600" lvl="2" indent="-291600">
              <a:spcBef>
                <a:spcPts val="1000"/>
              </a:spcBef>
              <a:spcAft>
                <a:spcPts val="0"/>
              </a:spcAft>
            </a:pPr>
            <a:r>
              <a:rPr lang="en-US" altLang="en-US" sz="2200" noProof="0" dirty="0">
                <a:solidFill>
                  <a:schemeClr val="tx1"/>
                </a:solidFill>
              </a:rPr>
              <a:t>Design.</a:t>
            </a:r>
          </a:p>
        </p:txBody>
      </p:sp>
      <p:sp>
        <p:nvSpPr>
          <p:cNvPr id="10" name="Content Placeholder 9">
            <a:extLst>
              <a:ext uri="{FF2B5EF4-FFF2-40B4-BE49-F238E27FC236}">
                <a16:creationId xmlns:a16="http://schemas.microsoft.com/office/drawing/2014/main" id="{3F1F179D-E8E6-48E7-8E9A-53A916AAAF55}"/>
              </a:ext>
            </a:extLst>
          </p:cNvPr>
          <p:cNvSpPr>
            <a:spLocks noGrp="1"/>
          </p:cNvSpPr>
          <p:nvPr>
            <p:ph sz="quarter" idx="15"/>
          </p:nvPr>
        </p:nvSpPr>
        <p:spPr>
          <a:xfrm>
            <a:off x="342900" y="3857330"/>
            <a:ext cx="8383772" cy="1437683"/>
          </a:xfrm>
        </p:spPr>
        <p:txBody>
          <a:bodyPr>
            <a:normAutofit/>
          </a:bodyPr>
          <a:lstStyle/>
          <a:p>
            <a:pPr>
              <a:spcAft>
                <a:spcPts val="0"/>
              </a:spcAft>
            </a:pPr>
            <a:r>
              <a:rPr lang="en-US" altLang="en-US" sz="2400" noProof="0" dirty="0">
                <a:solidFill>
                  <a:schemeClr val="tx1"/>
                </a:solidFill>
              </a:rPr>
              <a:t>Construction:</a:t>
            </a:r>
          </a:p>
          <a:p>
            <a:pPr marL="291600" lvl="2" indent="-291600">
              <a:spcBef>
                <a:spcPts val="1000"/>
              </a:spcBef>
              <a:spcAft>
                <a:spcPts val="0"/>
              </a:spcAft>
            </a:pPr>
            <a:r>
              <a:rPr lang="en-US" altLang="en-US" sz="2200" noProof="0" dirty="0">
                <a:solidFill>
                  <a:schemeClr val="tx1"/>
                </a:solidFill>
              </a:rPr>
              <a:t>Code generation.</a:t>
            </a:r>
          </a:p>
          <a:p>
            <a:pPr marL="291600" lvl="2" indent="-291600">
              <a:spcBef>
                <a:spcPts val="1000"/>
              </a:spcBef>
              <a:spcAft>
                <a:spcPts val="0"/>
              </a:spcAft>
            </a:pPr>
            <a:r>
              <a:rPr lang="en-US" altLang="en-US" sz="2200" noProof="0" dirty="0">
                <a:solidFill>
                  <a:schemeClr val="tx1"/>
                </a:solidFill>
              </a:rPr>
              <a:t>Testing.</a:t>
            </a:r>
          </a:p>
        </p:txBody>
      </p:sp>
      <p:sp>
        <p:nvSpPr>
          <p:cNvPr id="11" name="Content Placeholder 10">
            <a:extLst>
              <a:ext uri="{FF2B5EF4-FFF2-40B4-BE49-F238E27FC236}">
                <a16:creationId xmlns:a16="http://schemas.microsoft.com/office/drawing/2014/main" id="{8C02830F-C27A-4559-A0D4-FEA583A96F7A}"/>
              </a:ext>
            </a:extLst>
          </p:cNvPr>
          <p:cNvSpPr>
            <a:spLocks noGrp="1"/>
          </p:cNvSpPr>
          <p:nvPr>
            <p:ph sz="quarter" idx="16"/>
          </p:nvPr>
        </p:nvSpPr>
        <p:spPr>
          <a:xfrm>
            <a:off x="342900" y="5484111"/>
            <a:ext cx="8383772" cy="489901"/>
          </a:xfrm>
        </p:spPr>
        <p:txBody>
          <a:bodyPr>
            <a:noAutofit/>
          </a:bodyPr>
          <a:lstStyle/>
          <a:p>
            <a:r>
              <a:rPr lang="en-US" altLang="en-US" sz="2400" noProof="0" dirty="0">
                <a:solidFill>
                  <a:schemeClr val="tx1"/>
                </a:solidFill>
              </a:rPr>
              <a:t>Deployment.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995180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Umbrella Activities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spcBef>
                <a:spcPts val="1000"/>
              </a:spcBef>
              <a:spcAft>
                <a:spcPts val="0"/>
              </a:spcAft>
            </a:pPr>
            <a:r>
              <a:rPr lang="en-US" altLang="en-US" sz="2400" noProof="0" dirty="0"/>
              <a:t>Umbrella activities help a software team manage and control the process, quality,</a:t>
            </a:r>
            <a:r>
              <a:rPr lang="en-US" altLang="en-US" sz="2400" dirty="0"/>
              <a:t> change and risk.</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noProof="0" dirty="0"/>
              <a:t>Software project tracking and control.</a:t>
            </a:r>
          </a:p>
          <a:p>
            <a:pPr marL="291600" indent="-291600">
              <a:spcBef>
                <a:spcPts val="1000"/>
              </a:spcBef>
              <a:spcAft>
                <a:spcPts val="0"/>
              </a:spcAft>
              <a:buFont typeface="Arial" panose="020B0604020202020204" pitchFamily="34" charset="0"/>
              <a:buChar char="•"/>
            </a:pPr>
            <a:r>
              <a:rPr lang="en-US" altLang="en-US" sz="2400" noProof="0" dirty="0"/>
              <a:t>Risk management.</a:t>
            </a:r>
          </a:p>
          <a:p>
            <a:pPr marL="291600" indent="-291600">
              <a:spcBef>
                <a:spcPts val="1000"/>
              </a:spcBef>
              <a:spcAft>
                <a:spcPts val="0"/>
              </a:spcAft>
              <a:buFont typeface="Arial" panose="020B0604020202020204" pitchFamily="34" charset="0"/>
              <a:buChar char="•"/>
            </a:pPr>
            <a:r>
              <a:rPr lang="en-US" altLang="en-US" sz="2400" noProof="0" dirty="0"/>
              <a:t>Software quality assurance.</a:t>
            </a:r>
          </a:p>
          <a:p>
            <a:pPr marL="291600" indent="-291600">
              <a:spcBef>
                <a:spcPts val="1000"/>
              </a:spcBef>
              <a:spcAft>
                <a:spcPts val="0"/>
              </a:spcAft>
              <a:buFont typeface="Arial" panose="020B0604020202020204" pitchFamily="34" charset="0"/>
              <a:buChar char="•"/>
            </a:pPr>
            <a:r>
              <a:rPr lang="en-US" altLang="en-US" sz="2400" noProof="0" dirty="0"/>
              <a:t>Technical reviews.</a:t>
            </a:r>
          </a:p>
          <a:p>
            <a:pPr marL="291600" indent="-291600">
              <a:spcBef>
                <a:spcPts val="1000"/>
              </a:spcBef>
              <a:spcAft>
                <a:spcPts val="0"/>
              </a:spcAft>
              <a:buFont typeface="Arial" panose="020B0604020202020204" pitchFamily="34" charset="0"/>
              <a:buChar char="•"/>
            </a:pPr>
            <a:r>
              <a:rPr lang="en-US" altLang="en-US" sz="2400" noProof="0" dirty="0"/>
              <a:t>Measurement – KPIs (Key </a:t>
            </a:r>
            <a:r>
              <a:rPr lang="en-US" altLang="en-US" sz="2400" noProof="0"/>
              <a:t>Performance Indicators).</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noProof="0" dirty="0"/>
              <a:t>Software configuration management.</a:t>
            </a:r>
          </a:p>
          <a:p>
            <a:pPr marL="291600" indent="-291600">
              <a:spcBef>
                <a:spcPts val="1000"/>
              </a:spcBef>
              <a:spcAft>
                <a:spcPts val="0"/>
              </a:spcAft>
              <a:buFont typeface="Arial" panose="020B0604020202020204" pitchFamily="34" charset="0"/>
              <a:buChar char="•"/>
            </a:pPr>
            <a:r>
              <a:rPr lang="en-US" altLang="en-US" sz="2400" noProof="0" dirty="0"/>
              <a:t>Reusability management.</a:t>
            </a:r>
          </a:p>
          <a:p>
            <a:pPr marL="291600" indent="-291600">
              <a:spcBef>
                <a:spcPts val="1000"/>
              </a:spcBef>
              <a:spcAft>
                <a:spcPts val="0"/>
              </a:spcAft>
              <a:buFont typeface="Arial" panose="020B0604020202020204" pitchFamily="34" charset="0"/>
              <a:buChar char="•"/>
            </a:pPr>
            <a:r>
              <a:rPr lang="en-US" altLang="en-US" sz="2400" noProof="0" dirty="0"/>
              <a:t>Work product preparation and production.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1733441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noProof="0" dirty="0"/>
              <a:t>Process Difference Requiring Adaptation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890714"/>
          </a:xfrm>
        </p:spPr>
        <p:txBody>
          <a:bodyPr vert="horz" lIns="91440" tIns="45720" rIns="91440" bIns="45720" rtlCol="0">
            <a:noAutofit/>
          </a:bodyPr>
          <a:lstStyle/>
          <a:p>
            <a:pPr marL="291600" lvl="1" indent="-291600">
              <a:spcBef>
                <a:spcPts val="1000"/>
              </a:spcBef>
              <a:spcAft>
                <a:spcPts val="0"/>
              </a:spcAft>
            </a:pPr>
            <a:r>
              <a:rPr lang="en-US" altLang="en-US" sz="1800" noProof="0" dirty="0"/>
              <a:t>Overall flow of activities, actions, and tasks and the interdependencies among them.</a:t>
            </a:r>
          </a:p>
          <a:p>
            <a:pPr marL="291600" lvl="1" indent="-291600">
              <a:spcBef>
                <a:spcPts val="1000"/>
              </a:spcBef>
              <a:spcAft>
                <a:spcPts val="0"/>
              </a:spcAft>
            </a:pPr>
            <a:r>
              <a:rPr lang="en-US" altLang="en-US" sz="1800" noProof="0" dirty="0"/>
              <a:t>Degree to which actions and tasks are defined within each framework activity.</a:t>
            </a:r>
          </a:p>
          <a:p>
            <a:pPr marL="291600" lvl="1" indent="-291600">
              <a:spcBef>
                <a:spcPts val="1000"/>
              </a:spcBef>
              <a:spcAft>
                <a:spcPts val="0"/>
              </a:spcAft>
            </a:pPr>
            <a:r>
              <a:rPr lang="en-US" altLang="en-US" sz="1800" noProof="0" dirty="0"/>
              <a:t>Degree to which work products are identified and required.</a:t>
            </a:r>
          </a:p>
          <a:p>
            <a:pPr marL="291600" lvl="1" indent="-291600">
              <a:spcBef>
                <a:spcPts val="1000"/>
              </a:spcBef>
              <a:spcAft>
                <a:spcPts val="0"/>
              </a:spcAft>
            </a:pPr>
            <a:r>
              <a:rPr lang="en-US" altLang="en-US" sz="1800" noProof="0" dirty="0"/>
              <a:t>Manner which quality assurance activities are applied.</a:t>
            </a:r>
          </a:p>
          <a:p>
            <a:pPr marL="291600" lvl="1" indent="-291600">
              <a:spcBef>
                <a:spcPts val="1000"/>
              </a:spcBef>
              <a:spcAft>
                <a:spcPts val="0"/>
              </a:spcAft>
            </a:pPr>
            <a:r>
              <a:rPr lang="en-US" altLang="en-US" sz="1800" noProof="0" dirty="0"/>
              <a:t>Manner in which project tracking and control activities are applied.</a:t>
            </a:r>
          </a:p>
          <a:p>
            <a:pPr marL="291600" lvl="1" indent="-291600">
              <a:spcBef>
                <a:spcPts val="1000"/>
              </a:spcBef>
              <a:spcAft>
                <a:spcPts val="0"/>
              </a:spcAft>
            </a:pPr>
            <a:r>
              <a:rPr lang="en-US" altLang="en-US" sz="1800" noProof="0" dirty="0"/>
              <a:t>Overall degree of detail and rigor with which the process is described.</a:t>
            </a:r>
          </a:p>
          <a:p>
            <a:pPr marL="291600" lvl="1" indent="-291600">
              <a:spcBef>
                <a:spcPts val="1000"/>
              </a:spcBef>
              <a:spcAft>
                <a:spcPts val="0"/>
              </a:spcAft>
            </a:pPr>
            <a:r>
              <a:rPr lang="en-US" altLang="en-US" sz="1800" noProof="0" dirty="0"/>
              <a:t>Degree to which the customer and other stakeholders are involved with the project.</a:t>
            </a:r>
          </a:p>
          <a:p>
            <a:pPr marL="291600" lvl="1" indent="-291600">
              <a:spcBef>
                <a:spcPts val="1000"/>
              </a:spcBef>
              <a:spcAft>
                <a:spcPts val="0"/>
              </a:spcAft>
            </a:pPr>
            <a:r>
              <a:rPr lang="en-US" altLang="en-US" sz="1800" noProof="0" dirty="0"/>
              <a:t>Level of autonomy given to the software team.</a:t>
            </a:r>
          </a:p>
          <a:p>
            <a:pPr marL="291600" lvl="1" indent="-291600">
              <a:spcBef>
                <a:spcPts val="1000"/>
              </a:spcBef>
              <a:spcAft>
                <a:spcPts val="0"/>
              </a:spcAft>
            </a:pPr>
            <a:r>
              <a:rPr lang="en-US" altLang="en-US" sz="1800" noProof="0" dirty="0"/>
              <a:t>Degree to which team organization and roles are prescribed.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3277322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3600" noProof="0" dirty="0"/>
              <a:t>Essence of Software Engineering Practice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r>
              <a:rPr lang="en-US" altLang="en-US" sz="2400" noProof="0" dirty="0" err="1">
                <a:solidFill>
                  <a:schemeClr val="tx1"/>
                </a:solidFill>
              </a:rPr>
              <a:t>Polya</a:t>
            </a:r>
            <a:r>
              <a:rPr lang="en-US" altLang="en-US" sz="2400" noProof="0" dirty="0">
                <a:solidFill>
                  <a:schemeClr val="tx1"/>
                </a:solidFill>
              </a:rPr>
              <a:t> suggests:</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Understand the problem</a:t>
            </a:r>
            <a:r>
              <a:rPr lang="en-US" altLang="en-US" sz="2400" noProof="0" dirty="0">
                <a:solidFill>
                  <a:schemeClr val="tx1"/>
                </a:solidFill>
                <a:cs typeface="Nirmala UI" panose="020B0502040204020203" pitchFamily="34" charset="0"/>
              </a:rPr>
              <a:t> (communication and analysis).</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Plan a solution</a:t>
            </a:r>
            <a:r>
              <a:rPr lang="en-US" altLang="en-US" sz="2400" noProof="0" dirty="0">
                <a:solidFill>
                  <a:schemeClr val="tx1"/>
                </a:solidFill>
                <a:cs typeface="Nirmala UI" panose="020B0502040204020203" pitchFamily="34" charset="0"/>
              </a:rPr>
              <a:t> (modeling and software design).</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Carry out the plan</a:t>
            </a:r>
            <a:r>
              <a:rPr lang="en-US" altLang="en-US" sz="2400" noProof="0" dirty="0">
                <a:solidFill>
                  <a:schemeClr val="tx1"/>
                </a:solidFill>
                <a:cs typeface="Nirmala UI" panose="020B0502040204020203" pitchFamily="34" charset="0"/>
              </a:rPr>
              <a:t> (code generation).</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Examine result for accuracy</a:t>
            </a:r>
            <a:r>
              <a:rPr lang="en-US" altLang="en-US" sz="2400" noProof="0" dirty="0">
                <a:solidFill>
                  <a:schemeClr val="tx1"/>
                </a:solidFill>
                <a:cs typeface="Nirmala UI" panose="020B0502040204020203" pitchFamily="34" charset="0"/>
              </a:rPr>
              <a:t> (testing &amp; quality assurance).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1152574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Understand the Problem</a:t>
            </a:r>
          </a:p>
        </p:txBody>
      </p:sp>
      <p:sp>
        <p:nvSpPr>
          <p:cNvPr id="13" name="Content Placeholder 12">
            <a:extLst>
              <a:ext uri="{FF2B5EF4-FFF2-40B4-BE49-F238E27FC236}">
                <a16:creationId xmlns:a16="http://schemas.microsoft.com/office/drawing/2014/main" id="{9484E896-F163-4B4A-91A6-32729F632945}"/>
              </a:ext>
            </a:extLst>
          </p:cNvPr>
          <p:cNvSpPr>
            <a:spLocks noGrp="1"/>
          </p:cNvSpPr>
          <p:nvPr>
            <p:ph sz="quarter" idx="11"/>
          </p:nvPr>
        </p:nvSpPr>
        <p:spPr>
          <a:xfrm>
            <a:off x="342900" y="1276710"/>
            <a:ext cx="8458200" cy="488295"/>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Who has a stake in the solution to the problem?</a:t>
            </a:r>
            <a:endParaRPr lang="en-US" altLang="en-US" sz="2400" noProof="0" dirty="0">
              <a:solidFill>
                <a:schemeClr val="tx1"/>
              </a:solidFill>
            </a:endParaRPr>
          </a:p>
        </p:txBody>
      </p:sp>
      <p:sp>
        <p:nvSpPr>
          <p:cNvPr id="16" name="Content Placeholder 15">
            <a:extLst>
              <a:ext uri="{FF2B5EF4-FFF2-40B4-BE49-F238E27FC236}">
                <a16:creationId xmlns:a16="http://schemas.microsoft.com/office/drawing/2014/main" id="{75046F5B-32F0-407A-AC35-CCD9BDC15B9F}"/>
              </a:ext>
            </a:extLst>
          </p:cNvPr>
          <p:cNvSpPr>
            <a:spLocks noGrp="1"/>
          </p:cNvSpPr>
          <p:nvPr>
            <p:ph sz="quarter" idx="14"/>
          </p:nvPr>
        </p:nvSpPr>
        <p:spPr>
          <a:xfrm>
            <a:off x="342900" y="1818557"/>
            <a:ext cx="8458200" cy="449332"/>
          </a:xfrm>
        </p:spPr>
        <p:txBody>
          <a:bodyPr>
            <a:noAutofit/>
          </a:bodyPr>
          <a:lstStyle/>
          <a:p>
            <a:pPr lvl="2" indent="0">
              <a:spcBef>
                <a:spcPts val="1000"/>
              </a:spcBef>
              <a:spcAft>
                <a:spcPts val="0"/>
              </a:spcAft>
              <a:buNone/>
            </a:pPr>
            <a:r>
              <a:rPr lang="en-US" altLang="en-US" sz="2200" noProof="0" dirty="0">
                <a:solidFill>
                  <a:schemeClr val="tx1"/>
                </a:solidFill>
              </a:rPr>
              <a:t>That is, who are the stakeholders?</a:t>
            </a:r>
          </a:p>
        </p:txBody>
      </p:sp>
      <p:sp>
        <p:nvSpPr>
          <p:cNvPr id="17" name="Content Placeholder 16">
            <a:extLst>
              <a:ext uri="{FF2B5EF4-FFF2-40B4-BE49-F238E27FC236}">
                <a16:creationId xmlns:a16="http://schemas.microsoft.com/office/drawing/2014/main" id="{46EC76FC-3382-45A4-90B9-1A1F3C4A9918}"/>
              </a:ext>
            </a:extLst>
          </p:cNvPr>
          <p:cNvSpPr>
            <a:spLocks noGrp="1"/>
          </p:cNvSpPr>
          <p:nvPr>
            <p:ph sz="quarter" idx="15"/>
          </p:nvPr>
        </p:nvSpPr>
        <p:spPr>
          <a:xfrm>
            <a:off x="342900" y="2455702"/>
            <a:ext cx="8458200" cy="471398"/>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What are the unknowns?</a:t>
            </a:r>
          </a:p>
        </p:txBody>
      </p:sp>
      <p:sp>
        <p:nvSpPr>
          <p:cNvPr id="18" name="Content Placeholder 17">
            <a:extLst>
              <a:ext uri="{FF2B5EF4-FFF2-40B4-BE49-F238E27FC236}">
                <a16:creationId xmlns:a16="http://schemas.microsoft.com/office/drawing/2014/main" id="{8A769AD5-7625-4E44-9379-641144E3FE6A}"/>
              </a:ext>
            </a:extLst>
          </p:cNvPr>
          <p:cNvSpPr>
            <a:spLocks noGrp="1"/>
          </p:cNvSpPr>
          <p:nvPr>
            <p:ph sz="quarter" idx="16"/>
          </p:nvPr>
        </p:nvSpPr>
        <p:spPr>
          <a:xfrm>
            <a:off x="342900" y="2999974"/>
            <a:ext cx="8458200" cy="758555"/>
          </a:xfrm>
        </p:spPr>
        <p:txBody>
          <a:bodyPr>
            <a:noAutofit/>
          </a:bodyPr>
          <a:lstStyle/>
          <a:p>
            <a:pPr lvl="2" indent="0">
              <a:spcBef>
                <a:spcPts val="1000"/>
              </a:spcBef>
              <a:spcAft>
                <a:spcPts val="0"/>
              </a:spcAft>
              <a:buNone/>
            </a:pPr>
            <a:r>
              <a:rPr lang="en-US" altLang="en-US" sz="2200" noProof="0" dirty="0">
                <a:solidFill>
                  <a:schemeClr val="tx1"/>
                </a:solidFill>
              </a:rPr>
              <a:t>What data, functions, and features are required to properly solve the problem?</a:t>
            </a:r>
          </a:p>
        </p:txBody>
      </p:sp>
      <p:sp>
        <p:nvSpPr>
          <p:cNvPr id="19" name="Content Placeholder 18">
            <a:extLst>
              <a:ext uri="{FF2B5EF4-FFF2-40B4-BE49-F238E27FC236}">
                <a16:creationId xmlns:a16="http://schemas.microsoft.com/office/drawing/2014/main" id="{F3CD8122-63FC-4224-A41F-F47ED608A606}"/>
              </a:ext>
            </a:extLst>
          </p:cNvPr>
          <p:cNvSpPr>
            <a:spLocks noGrp="1"/>
          </p:cNvSpPr>
          <p:nvPr>
            <p:ph sz="quarter" idx="17"/>
          </p:nvPr>
        </p:nvSpPr>
        <p:spPr>
          <a:xfrm>
            <a:off x="342900" y="3989361"/>
            <a:ext cx="8283512" cy="454680"/>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Can the problem be compartmentalized?</a:t>
            </a:r>
          </a:p>
        </p:txBody>
      </p:sp>
      <p:sp>
        <p:nvSpPr>
          <p:cNvPr id="20" name="Content Placeholder 19">
            <a:extLst>
              <a:ext uri="{FF2B5EF4-FFF2-40B4-BE49-F238E27FC236}">
                <a16:creationId xmlns:a16="http://schemas.microsoft.com/office/drawing/2014/main" id="{EBE089A9-F1EC-44AE-8968-C8AA9F7C9F63}"/>
              </a:ext>
            </a:extLst>
          </p:cNvPr>
          <p:cNvSpPr>
            <a:spLocks noGrp="1"/>
          </p:cNvSpPr>
          <p:nvPr>
            <p:ph sz="quarter" idx="18"/>
          </p:nvPr>
        </p:nvSpPr>
        <p:spPr>
          <a:xfrm>
            <a:off x="342900" y="4497378"/>
            <a:ext cx="8458200" cy="758555"/>
          </a:xfrm>
        </p:spPr>
        <p:txBody>
          <a:bodyPr>
            <a:noAutofit/>
          </a:bodyPr>
          <a:lstStyle/>
          <a:p>
            <a:pPr lvl="2" indent="0">
              <a:spcBef>
                <a:spcPts val="1000"/>
              </a:spcBef>
              <a:spcAft>
                <a:spcPts val="0"/>
              </a:spcAft>
              <a:buNone/>
            </a:pPr>
            <a:r>
              <a:rPr lang="en-US" altLang="en-US" sz="2200" noProof="0" dirty="0">
                <a:solidFill>
                  <a:schemeClr val="tx1"/>
                </a:solidFill>
              </a:rPr>
              <a:t>Is it possible to represent smaller problems that may be easier to understand?</a:t>
            </a:r>
          </a:p>
        </p:txBody>
      </p:sp>
      <p:sp>
        <p:nvSpPr>
          <p:cNvPr id="21" name="Content Placeholder 20">
            <a:extLst>
              <a:ext uri="{FF2B5EF4-FFF2-40B4-BE49-F238E27FC236}">
                <a16:creationId xmlns:a16="http://schemas.microsoft.com/office/drawing/2014/main" id="{07733C8B-1783-411D-BDB1-24DD5DDC4A1C}"/>
              </a:ext>
            </a:extLst>
          </p:cNvPr>
          <p:cNvSpPr>
            <a:spLocks noGrp="1"/>
          </p:cNvSpPr>
          <p:nvPr>
            <p:ph sz="quarter" idx="19"/>
          </p:nvPr>
        </p:nvSpPr>
        <p:spPr>
          <a:xfrm>
            <a:off x="342900" y="5511436"/>
            <a:ext cx="8458200" cy="486828"/>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Can the problem be represented graphically?</a:t>
            </a:r>
            <a:endParaRPr lang="en-US" altLang="en-US" sz="2400" noProof="0" dirty="0">
              <a:solidFill>
                <a:schemeClr val="tx1"/>
              </a:solidFill>
            </a:endParaRPr>
          </a:p>
        </p:txBody>
      </p:sp>
      <p:sp>
        <p:nvSpPr>
          <p:cNvPr id="22" name="Content Placeholder 21">
            <a:extLst>
              <a:ext uri="{FF2B5EF4-FFF2-40B4-BE49-F238E27FC236}">
                <a16:creationId xmlns:a16="http://schemas.microsoft.com/office/drawing/2014/main" id="{671F8BFA-CF02-41A7-AC08-5B552D93194A}"/>
              </a:ext>
            </a:extLst>
          </p:cNvPr>
          <p:cNvSpPr>
            <a:spLocks noGrp="1"/>
          </p:cNvSpPr>
          <p:nvPr>
            <p:ph sz="quarter" idx="20"/>
          </p:nvPr>
        </p:nvSpPr>
        <p:spPr>
          <a:xfrm>
            <a:off x="342901" y="6072605"/>
            <a:ext cx="6079164" cy="391990"/>
          </a:xfrm>
        </p:spPr>
        <p:txBody>
          <a:bodyPr>
            <a:noAutofit/>
          </a:bodyPr>
          <a:lstStyle/>
          <a:p>
            <a:pPr lvl="2" indent="0">
              <a:spcBef>
                <a:spcPts val="1000"/>
              </a:spcBef>
              <a:spcAft>
                <a:spcPts val="0"/>
              </a:spcAft>
              <a:buNone/>
            </a:pPr>
            <a:r>
              <a:rPr lang="en-US" altLang="en-US" sz="2200" noProof="0" dirty="0">
                <a:solidFill>
                  <a:schemeClr val="tx1"/>
                </a:solidFill>
              </a:rPr>
              <a:t>Can an analysis model be created?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1161994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Plan a Solution</a:t>
            </a:r>
          </a:p>
        </p:txBody>
      </p:sp>
      <p:sp>
        <p:nvSpPr>
          <p:cNvPr id="13" name="Content Placeholder 12">
            <a:extLst>
              <a:ext uri="{FF2B5EF4-FFF2-40B4-BE49-F238E27FC236}">
                <a16:creationId xmlns:a16="http://schemas.microsoft.com/office/drawing/2014/main" id="{9484E896-F163-4B4A-91A6-32729F632945}"/>
              </a:ext>
            </a:extLst>
          </p:cNvPr>
          <p:cNvSpPr>
            <a:spLocks noGrp="1"/>
          </p:cNvSpPr>
          <p:nvPr>
            <p:ph sz="quarter" idx="11"/>
          </p:nvPr>
        </p:nvSpPr>
        <p:spPr>
          <a:xfrm>
            <a:off x="342900" y="1276710"/>
            <a:ext cx="8458200" cy="488295"/>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t>Have you seen similar problems before?</a:t>
            </a:r>
          </a:p>
        </p:txBody>
      </p:sp>
      <p:sp>
        <p:nvSpPr>
          <p:cNvPr id="16" name="Content Placeholder 15">
            <a:extLst>
              <a:ext uri="{FF2B5EF4-FFF2-40B4-BE49-F238E27FC236}">
                <a16:creationId xmlns:a16="http://schemas.microsoft.com/office/drawing/2014/main" id="{75046F5B-32F0-407A-AC35-CCD9BDC15B9F}"/>
              </a:ext>
            </a:extLst>
          </p:cNvPr>
          <p:cNvSpPr>
            <a:spLocks noGrp="1"/>
          </p:cNvSpPr>
          <p:nvPr>
            <p:ph sz="quarter" idx="14"/>
          </p:nvPr>
        </p:nvSpPr>
        <p:spPr>
          <a:xfrm>
            <a:off x="342900" y="1839823"/>
            <a:ext cx="8458200" cy="1081512"/>
          </a:xfrm>
        </p:spPr>
        <p:txBody>
          <a:bodyPr>
            <a:noAutofit/>
          </a:bodyPr>
          <a:lstStyle/>
          <a:p>
            <a:pPr marL="518400"/>
            <a:r>
              <a:rPr lang="en-US" altLang="en-US" sz="2200" noProof="0" dirty="0"/>
              <a:t>Are there patterns that are recognizable in a potential solution? Is there existing software that implements the data, functions, and features that are required?</a:t>
            </a:r>
          </a:p>
        </p:txBody>
      </p:sp>
      <p:sp>
        <p:nvSpPr>
          <p:cNvPr id="17" name="Content Placeholder 16">
            <a:extLst>
              <a:ext uri="{FF2B5EF4-FFF2-40B4-BE49-F238E27FC236}">
                <a16:creationId xmlns:a16="http://schemas.microsoft.com/office/drawing/2014/main" id="{46EC76FC-3382-45A4-90B9-1A1F3C4A9918}"/>
              </a:ext>
            </a:extLst>
          </p:cNvPr>
          <p:cNvSpPr>
            <a:spLocks noGrp="1"/>
          </p:cNvSpPr>
          <p:nvPr>
            <p:ph sz="quarter" idx="15"/>
          </p:nvPr>
        </p:nvSpPr>
        <p:spPr>
          <a:xfrm>
            <a:off x="342900" y="3070749"/>
            <a:ext cx="8458200" cy="471398"/>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t>Has a similar problem been solved?</a:t>
            </a:r>
          </a:p>
        </p:txBody>
      </p:sp>
      <p:sp>
        <p:nvSpPr>
          <p:cNvPr id="18" name="Content Placeholder 17">
            <a:extLst>
              <a:ext uri="{FF2B5EF4-FFF2-40B4-BE49-F238E27FC236}">
                <a16:creationId xmlns:a16="http://schemas.microsoft.com/office/drawing/2014/main" id="{8A769AD5-7625-4E44-9379-641144E3FE6A}"/>
              </a:ext>
            </a:extLst>
          </p:cNvPr>
          <p:cNvSpPr>
            <a:spLocks noGrp="1"/>
          </p:cNvSpPr>
          <p:nvPr>
            <p:ph sz="quarter" idx="16"/>
          </p:nvPr>
        </p:nvSpPr>
        <p:spPr>
          <a:xfrm>
            <a:off x="342900" y="3573733"/>
            <a:ext cx="8458200" cy="454680"/>
          </a:xfrm>
        </p:spPr>
        <p:txBody>
          <a:bodyPr>
            <a:normAutofit/>
          </a:bodyPr>
          <a:lstStyle/>
          <a:p>
            <a:pPr marL="518400">
              <a:spcBef>
                <a:spcPts val="1000"/>
              </a:spcBef>
              <a:spcAft>
                <a:spcPts val="0"/>
              </a:spcAft>
            </a:pPr>
            <a:r>
              <a:rPr lang="en-US" altLang="en-US" sz="2200" noProof="0" dirty="0"/>
              <a:t>If so, are elements of the solution reusable?</a:t>
            </a:r>
          </a:p>
        </p:txBody>
      </p:sp>
      <p:sp>
        <p:nvSpPr>
          <p:cNvPr id="19" name="Content Placeholder 18">
            <a:extLst>
              <a:ext uri="{FF2B5EF4-FFF2-40B4-BE49-F238E27FC236}">
                <a16:creationId xmlns:a16="http://schemas.microsoft.com/office/drawing/2014/main" id="{F3CD8122-63FC-4224-A41F-F47ED608A606}"/>
              </a:ext>
            </a:extLst>
          </p:cNvPr>
          <p:cNvSpPr>
            <a:spLocks noGrp="1"/>
          </p:cNvSpPr>
          <p:nvPr>
            <p:ph sz="quarter" idx="17"/>
          </p:nvPr>
        </p:nvSpPr>
        <p:spPr>
          <a:xfrm>
            <a:off x="342900" y="4167029"/>
            <a:ext cx="4611872" cy="454680"/>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t>Can subproblems be defined?</a:t>
            </a:r>
            <a:endParaRPr lang="en-US" altLang="en-US" sz="2400" noProof="0" dirty="0"/>
          </a:p>
        </p:txBody>
      </p:sp>
      <p:sp>
        <p:nvSpPr>
          <p:cNvPr id="20" name="Content Placeholder 19">
            <a:extLst>
              <a:ext uri="{FF2B5EF4-FFF2-40B4-BE49-F238E27FC236}">
                <a16:creationId xmlns:a16="http://schemas.microsoft.com/office/drawing/2014/main" id="{EBE089A9-F1EC-44AE-8968-C8AA9F7C9F63}"/>
              </a:ext>
            </a:extLst>
          </p:cNvPr>
          <p:cNvSpPr>
            <a:spLocks noGrp="1"/>
          </p:cNvSpPr>
          <p:nvPr>
            <p:ph sz="quarter" idx="18"/>
          </p:nvPr>
        </p:nvSpPr>
        <p:spPr>
          <a:xfrm>
            <a:off x="342900" y="4675046"/>
            <a:ext cx="8458200" cy="454681"/>
          </a:xfrm>
        </p:spPr>
        <p:txBody>
          <a:bodyPr>
            <a:normAutofit/>
          </a:bodyPr>
          <a:lstStyle/>
          <a:p>
            <a:pPr marL="518400"/>
            <a:r>
              <a:rPr lang="en-US" altLang="en-US" sz="2200" noProof="0" dirty="0"/>
              <a:t>If so, are solutions readily apparent for the subproblems?</a:t>
            </a:r>
            <a:endParaRPr lang="en-US" sz="2200" noProof="0" dirty="0"/>
          </a:p>
        </p:txBody>
      </p:sp>
      <p:sp>
        <p:nvSpPr>
          <p:cNvPr id="21" name="Content Placeholder 20">
            <a:extLst>
              <a:ext uri="{FF2B5EF4-FFF2-40B4-BE49-F238E27FC236}">
                <a16:creationId xmlns:a16="http://schemas.microsoft.com/office/drawing/2014/main" id="{07733C8B-1783-411D-BDB1-24DD5DDC4A1C}"/>
              </a:ext>
            </a:extLst>
          </p:cNvPr>
          <p:cNvSpPr>
            <a:spLocks noGrp="1"/>
          </p:cNvSpPr>
          <p:nvPr>
            <p:ph sz="quarter" idx="19"/>
          </p:nvPr>
        </p:nvSpPr>
        <p:spPr>
          <a:xfrm>
            <a:off x="342900" y="5193695"/>
            <a:ext cx="8458200" cy="804569"/>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t>Can you represent a solution in a manner that leads to effective implementation?</a:t>
            </a:r>
          </a:p>
        </p:txBody>
      </p:sp>
      <p:sp>
        <p:nvSpPr>
          <p:cNvPr id="22" name="Content Placeholder 21">
            <a:extLst>
              <a:ext uri="{FF2B5EF4-FFF2-40B4-BE49-F238E27FC236}">
                <a16:creationId xmlns:a16="http://schemas.microsoft.com/office/drawing/2014/main" id="{671F8BFA-CF02-41A7-AC08-5B552D93194A}"/>
              </a:ext>
            </a:extLst>
          </p:cNvPr>
          <p:cNvSpPr>
            <a:spLocks noGrp="1"/>
          </p:cNvSpPr>
          <p:nvPr>
            <p:ph sz="quarter" idx="20"/>
          </p:nvPr>
        </p:nvSpPr>
        <p:spPr>
          <a:xfrm>
            <a:off x="342900" y="6072605"/>
            <a:ext cx="6546997" cy="480595"/>
          </a:xfrm>
        </p:spPr>
        <p:txBody>
          <a:bodyPr>
            <a:noAutofit/>
          </a:bodyPr>
          <a:lstStyle/>
          <a:p>
            <a:pPr marL="518400"/>
            <a:r>
              <a:rPr lang="en-US" altLang="en-US" sz="2200" noProof="0" dirty="0"/>
              <a:t>Can a design model be created?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3296432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Carryout the Plan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7477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Does the solution conform to the plan?</a:t>
            </a:r>
            <a:endParaRPr lang="en-US" altLang="en-US" sz="2400" noProof="0" dirty="0">
              <a:solidFill>
                <a:schemeClr val="tx1"/>
              </a:solidFill>
            </a:endParaRPr>
          </a:p>
        </p:txBody>
      </p:sp>
      <p:sp>
        <p:nvSpPr>
          <p:cNvPr id="12" name="Content Placeholder 11">
            <a:extLst>
              <a:ext uri="{FF2B5EF4-FFF2-40B4-BE49-F238E27FC236}">
                <a16:creationId xmlns:a16="http://schemas.microsoft.com/office/drawing/2014/main" id="{6ABDD683-F18A-4A69-9D30-86580DE6B03B}"/>
              </a:ext>
            </a:extLst>
          </p:cNvPr>
          <p:cNvSpPr>
            <a:spLocks noGrp="1"/>
          </p:cNvSpPr>
          <p:nvPr>
            <p:ph sz="quarter" idx="15"/>
          </p:nvPr>
        </p:nvSpPr>
        <p:spPr>
          <a:xfrm>
            <a:off x="342900" y="1816603"/>
            <a:ext cx="8458200" cy="474776"/>
          </a:xfrm>
        </p:spPr>
        <p:txBody>
          <a:bodyPr>
            <a:normAutofit/>
          </a:bodyPr>
          <a:lstStyle/>
          <a:p>
            <a:pPr lvl="2" indent="0">
              <a:spcBef>
                <a:spcPts val="1000"/>
              </a:spcBef>
              <a:spcAft>
                <a:spcPts val="0"/>
              </a:spcAft>
              <a:buNone/>
            </a:pPr>
            <a:r>
              <a:rPr lang="en-US" altLang="en-US" sz="2200" noProof="0" dirty="0">
                <a:solidFill>
                  <a:schemeClr val="tx1"/>
                </a:solidFill>
              </a:rPr>
              <a:t>Is source code traceable to the design model?</a:t>
            </a:r>
            <a:endParaRPr lang="en-US" altLang="en-US" sz="2400" i="1" noProof="0" dirty="0">
              <a:solidFill>
                <a:schemeClr val="tx1"/>
              </a:solidFill>
            </a:endParaRPr>
          </a:p>
        </p:txBody>
      </p:sp>
      <p:sp>
        <p:nvSpPr>
          <p:cNvPr id="13" name="Content Placeholder 12">
            <a:extLst>
              <a:ext uri="{FF2B5EF4-FFF2-40B4-BE49-F238E27FC236}">
                <a16:creationId xmlns:a16="http://schemas.microsoft.com/office/drawing/2014/main" id="{452D4F8C-7612-45AD-A08E-F981904551DA}"/>
              </a:ext>
            </a:extLst>
          </p:cNvPr>
          <p:cNvSpPr>
            <a:spLocks noGrp="1"/>
          </p:cNvSpPr>
          <p:nvPr>
            <p:ph sz="quarter" idx="16"/>
          </p:nvPr>
        </p:nvSpPr>
        <p:spPr>
          <a:xfrm>
            <a:off x="342900" y="2631922"/>
            <a:ext cx="8458200" cy="474776"/>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Is each component part of the solution provably correct?</a:t>
            </a:r>
            <a:endParaRPr lang="en-US" altLang="en-US" sz="2400" noProof="0" dirty="0">
              <a:solidFill>
                <a:schemeClr val="tx1"/>
              </a:solidFill>
            </a:endParaRPr>
          </a:p>
        </p:txBody>
      </p:sp>
      <p:sp>
        <p:nvSpPr>
          <p:cNvPr id="14" name="Content Placeholder 13">
            <a:extLst>
              <a:ext uri="{FF2B5EF4-FFF2-40B4-BE49-F238E27FC236}">
                <a16:creationId xmlns:a16="http://schemas.microsoft.com/office/drawing/2014/main" id="{2F7F4AA5-EBF8-4ABD-8074-C68D68807BA2}"/>
              </a:ext>
            </a:extLst>
          </p:cNvPr>
          <p:cNvSpPr>
            <a:spLocks noGrp="1"/>
          </p:cNvSpPr>
          <p:nvPr>
            <p:ph sz="quarter" idx="17"/>
          </p:nvPr>
        </p:nvSpPr>
        <p:spPr>
          <a:xfrm>
            <a:off x="342900" y="3198734"/>
            <a:ext cx="8458200" cy="763168"/>
          </a:xfrm>
        </p:spPr>
        <p:txBody>
          <a:bodyPr>
            <a:normAutofit/>
          </a:bodyPr>
          <a:lstStyle/>
          <a:p>
            <a:pPr lvl="2" indent="0">
              <a:spcBef>
                <a:spcPts val="1000"/>
              </a:spcBef>
              <a:spcAft>
                <a:spcPts val="0"/>
              </a:spcAft>
              <a:buNone/>
            </a:pPr>
            <a:r>
              <a:rPr lang="en-US" altLang="en-US" sz="2200" noProof="0" dirty="0">
                <a:solidFill>
                  <a:schemeClr val="tx1"/>
                </a:solidFill>
              </a:rPr>
              <a:t>Has the design and code been reviewed, or better, have correctness proofs been applied to algorithm?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536724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Examine the Result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52019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Is it possible to test each component part of the solution?</a:t>
            </a:r>
          </a:p>
        </p:txBody>
      </p:sp>
      <p:sp>
        <p:nvSpPr>
          <p:cNvPr id="12" name="Content Placeholder 11">
            <a:extLst>
              <a:ext uri="{FF2B5EF4-FFF2-40B4-BE49-F238E27FC236}">
                <a16:creationId xmlns:a16="http://schemas.microsoft.com/office/drawing/2014/main" id="{6ABDD683-F18A-4A69-9D30-86580DE6B03B}"/>
              </a:ext>
            </a:extLst>
          </p:cNvPr>
          <p:cNvSpPr>
            <a:spLocks noGrp="1"/>
          </p:cNvSpPr>
          <p:nvPr>
            <p:ph sz="quarter" idx="15"/>
          </p:nvPr>
        </p:nvSpPr>
        <p:spPr>
          <a:xfrm>
            <a:off x="342900" y="1848502"/>
            <a:ext cx="8458200" cy="474776"/>
          </a:xfrm>
        </p:spPr>
        <p:txBody>
          <a:bodyPr>
            <a:normAutofit/>
          </a:bodyPr>
          <a:lstStyle/>
          <a:p>
            <a:pPr lvl="2" indent="0">
              <a:spcBef>
                <a:spcPts val="1000"/>
              </a:spcBef>
              <a:spcAft>
                <a:spcPts val="0"/>
              </a:spcAft>
              <a:buNone/>
            </a:pPr>
            <a:r>
              <a:rPr lang="en-US" altLang="en-US" sz="2200" noProof="0" dirty="0">
                <a:solidFill>
                  <a:schemeClr val="tx1"/>
                </a:solidFill>
              </a:rPr>
              <a:t>Has a reasonable testing strategy been implemented?</a:t>
            </a:r>
            <a:endParaRPr lang="en-US" altLang="en-US" sz="2200" i="1" noProof="0" dirty="0">
              <a:solidFill>
                <a:schemeClr val="tx1"/>
              </a:solidFill>
            </a:endParaRPr>
          </a:p>
        </p:txBody>
      </p:sp>
      <p:sp>
        <p:nvSpPr>
          <p:cNvPr id="13" name="Content Placeholder 12">
            <a:extLst>
              <a:ext uri="{FF2B5EF4-FFF2-40B4-BE49-F238E27FC236}">
                <a16:creationId xmlns:a16="http://schemas.microsoft.com/office/drawing/2014/main" id="{452D4F8C-7612-45AD-A08E-F981904551DA}"/>
              </a:ext>
            </a:extLst>
          </p:cNvPr>
          <p:cNvSpPr>
            <a:spLocks noGrp="1"/>
          </p:cNvSpPr>
          <p:nvPr>
            <p:ph sz="quarter" idx="16"/>
          </p:nvPr>
        </p:nvSpPr>
        <p:spPr>
          <a:xfrm>
            <a:off x="342900" y="2631922"/>
            <a:ext cx="8458200" cy="871510"/>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Does the solution produce results, that conform to the data, functions, and features that are required? </a:t>
            </a:r>
          </a:p>
        </p:txBody>
      </p:sp>
      <p:sp>
        <p:nvSpPr>
          <p:cNvPr id="14" name="Content Placeholder 13">
            <a:extLst>
              <a:ext uri="{FF2B5EF4-FFF2-40B4-BE49-F238E27FC236}">
                <a16:creationId xmlns:a16="http://schemas.microsoft.com/office/drawing/2014/main" id="{2F7F4AA5-EBF8-4ABD-8074-C68D68807BA2}"/>
              </a:ext>
            </a:extLst>
          </p:cNvPr>
          <p:cNvSpPr>
            <a:spLocks noGrp="1"/>
          </p:cNvSpPr>
          <p:nvPr>
            <p:ph sz="quarter" idx="17"/>
          </p:nvPr>
        </p:nvSpPr>
        <p:spPr>
          <a:xfrm>
            <a:off x="329609" y="3574918"/>
            <a:ext cx="8471491" cy="763168"/>
          </a:xfrm>
        </p:spPr>
        <p:txBody>
          <a:bodyPr>
            <a:normAutofit/>
          </a:bodyPr>
          <a:lstStyle/>
          <a:p>
            <a:pPr marL="518400"/>
            <a:r>
              <a:rPr lang="en-US" altLang="en-US" sz="2200" noProof="0" dirty="0">
                <a:solidFill>
                  <a:schemeClr val="tx1"/>
                </a:solidFill>
              </a:rPr>
              <a:t>Has the software been validated against all stakeholder requirements?</a:t>
            </a:r>
            <a:endParaRPr lang="en-US" altLang="en-US" sz="2200" i="1"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4069496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Hooker’s General Principles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709961"/>
          </a:xfrm>
        </p:spPr>
        <p:txBody>
          <a:bodyPr vert="horz" lIns="91440" tIns="45720" rIns="91440" bIns="45720" rtlCol="0">
            <a:noAutofit/>
          </a:bodyPr>
          <a:lstStyle/>
          <a:p>
            <a:pPr marL="403200" indent="-403200">
              <a:spcBef>
                <a:spcPts val="1000"/>
              </a:spcBef>
              <a:spcAft>
                <a:spcPts val="0"/>
              </a:spcAft>
              <a:buFont typeface="+mj-lt"/>
              <a:buAutoNum type="arabicPeriod"/>
            </a:pPr>
            <a:r>
              <a:rPr lang="en-US" altLang="en-US" sz="2400" i="1" noProof="0" dirty="0">
                <a:solidFill>
                  <a:schemeClr val="tx1"/>
                </a:solidFill>
              </a:rPr>
              <a:t>The Reason It All Exists – </a:t>
            </a:r>
            <a:r>
              <a:rPr lang="en-US" altLang="en-US" sz="2400" noProof="0" dirty="0">
                <a:solidFill>
                  <a:schemeClr val="tx1"/>
                </a:solidFill>
              </a:rPr>
              <a:t>provide value to users.</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K</a:t>
            </a:r>
            <a:r>
              <a:rPr lang="en-US" altLang="en-US" sz="100" i="1" noProof="0" dirty="0">
                <a:solidFill>
                  <a:schemeClr val="tx1"/>
                </a:solidFill>
              </a:rPr>
              <a:t> </a:t>
            </a:r>
            <a:r>
              <a:rPr lang="en-US" altLang="en-US" sz="2400" i="1" noProof="0" dirty="0">
                <a:solidFill>
                  <a:schemeClr val="tx1"/>
                </a:solidFill>
              </a:rPr>
              <a:t>I</a:t>
            </a:r>
            <a:r>
              <a:rPr lang="en-US" altLang="en-US" sz="100" i="1" noProof="0" dirty="0">
                <a:solidFill>
                  <a:schemeClr val="tx1"/>
                </a:solidFill>
              </a:rPr>
              <a:t> </a:t>
            </a:r>
            <a:r>
              <a:rPr lang="en-US" altLang="en-US" sz="2400" i="1" noProof="0" dirty="0">
                <a:solidFill>
                  <a:schemeClr val="tx1"/>
                </a:solidFill>
              </a:rPr>
              <a:t>S</a:t>
            </a:r>
            <a:r>
              <a:rPr lang="en-US" altLang="en-US" sz="100" i="1" noProof="0" dirty="0">
                <a:solidFill>
                  <a:schemeClr val="tx1"/>
                </a:solidFill>
              </a:rPr>
              <a:t> </a:t>
            </a:r>
            <a:r>
              <a:rPr lang="en-US" altLang="en-US" sz="2400" i="1" noProof="0" dirty="0" err="1">
                <a:solidFill>
                  <a:schemeClr val="tx1"/>
                </a:solidFill>
              </a:rPr>
              <a:t>S</a:t>
            </a:r>
            <a:r>
              <a:rPr lang="en-US" altLang="en-US" sz="2400" i="1" noProof="0" dirty="0">
                <a:solidFill>
                  <a:schemeClr val="tx1"/>
                </a:solidFill>
              </a:rPr>
              <a:t> (Keep It Simple, Stupid!) </a:t>
            </a:r>
            <a:r>
              <a:rPr lang="en-US" altLang="en-US" sz="2400" noProof="0" dirty="0">
                <a:solidFill>
                  <a:schemeClr val="tx1"/>
                </a:solidFill>
              </a:rPr>
              <a:t>– design simple as it can be.</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Maintain the Vision </a:t>
            </a:r>
            <a:r>
              <a:rPr lang="en-US" altLang="en-US" sz="2400" noProof="0" dirty="0">
                <a:solidFill>
                  <a:schemeClr val="tx1"/>
                </a:solidFill>
              </a:rPr>
              <a:t>– clear vision is essential.</a:t>
            </a:r>
          </a:p>
          <a:p>
            <a:pPr marL="403200" indent="-403200">
              <a:spcBef>
                <a:spcPts val="1000"/>
              </a:spcBef>
              <a:spcAft>
                <a:spcPts val="0"/>
              </a:spcAft>
              <a:buFont typeface="+mj-lt"/>
              <a:buAutoNum type="arabicPeriod"/>
            </a:pPr>
            <a:r>
              <a:rPr lang="en-US" altLang="en-US" sz="2400" i="1" noProof="0" dirty="0">
                <a:solidFill>
                  <a:schemeClr val="tx1"/>
                </a:solidFill>
              </a:rPr>
              <a:t>What You Produce, Others Will Consume.</a:t>
            </a:r>
            <a:endParaRPr lang="en-US" altLang="en-US" sz="2400"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Be Open to the Future </a:t>
            </a:r>
            <a:r>
              <a:rPr lang="en-US" altLang="en-US" sz="2400" noProof="0" dirty="0">
                <a:solidFill>
                  <a:schemeClr val="tx1"/>
                </a:solidFill>
              </a:rPr>
              <a:t>- do not design yourself into a corner.</a:t>
            </a:r>
          </a:p>
          <a:p>
            <a:pPr marL="403200" indent="-403200">
              <a:spcBef>
                <a:spcPts val="1000"/>
              </a:spcBef>
              <a:spcAft>
                <a:spcPts val="0"/>
              </a:spcAft>
              <a:buFont typeface="+mj-lt"/>
              <a:buAutoNum type="arabicPeriod"/>
            </a:pPr>
            <a:r>
              <a:rPr lang="en-US" altLang="en-US" sz="2400" i="1" noProof="0" dirty="0">
                <a:solidFill>
                  <a:schemeClr val="tx1"/>
                </a:solidFill>
              </a:rPr>
              <a:t>Plan Ahead for Reuse </a:t>
            </a:r>
            <a:r>
              <a:rPr lang="en-US" altLang="en-US" sz="2400" noProof="0" dirty="0">
                <a:solidFill>
                  <a:schemeClr val="tx1"/>
                </a:solidFill>
              </a:rPr>
              <a:t>– reduces cost and increases value.</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Think!</a:t>
            </a:r>
            <a:r>
              <a:rPr lang="en-US" altLang="en-US" sz="2400" noProof="0" dirty="0">
                <a:solidFill>
                  <a:schemeClr val="tx1"/>
                </a:solidFill>
              </a:rPr>
              <a:t> – placing thought before action produce results.</a:t>
            </a:r>
            <a:endParaRPr lang="en-US" altLang="en-US" sz="28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2103371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How it all Starts – </a:t>
            </a:r>
            <a:r>
              <a:rPr lang="en-US" noProof="0" dirty="0" err="1"/>
              <a:t>SafeHome</a:t>
            </a:r>
            <a:r>
              <a:rPr lang="en-US" noProof="0" dirty="0"/>
              <a:t> Begins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1588" lvl="1" indent="0">
              <a:spcBef>
                <a:spcPts val="300"/>
              </a:spcBef>
              <a:buNone/>
            </a:pPr>
            <a:r>
              <a:rPr lang="en-US" altLang="en-US" sz="2400" noProof="0" dirty="0">
                <a:solidFill>
                  <a:schemeClr val="tx1"/>
                </a:solidFill>
              </a:rPr>
              <a:t>Every software project is precipitated by some business need—</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correct a defect in an existing application;</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the need to adapt a ‘legacy system’ to a changing business environment;</a:t>
            </a:r>
          </a:p>
          <a:p>
            <a:pPr marL="291600" lvl="2" indent="-291600">
              <a:spcBef>
                <a:spcPts val="1000"/>
              </a:spcBef>
              <a:spcAft>
                <a:spcPts val="0"/>
              </a:spcAft>
            </a:pPr>
            <a:r>
              <a:rPr lang="en-US" altLang="en-US" sz="2400" noProof="0" dirty="0">
                <a:solidFill>
                  <a:schemeClr val="tx1"/>
                </a:solidFill>
              </a:rPr>
              <a:t>The need to extend the functions and features of an existing application, or</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create a new product, service, or system.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122646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957" y="318388"/>
            <a:ext cx="8117205" cy="632224"/>
          </a:xfrm>
          <a:prstGeom prst="rect">
            <a:avLst/>
          </a:prstGeom>
        </p:spPr>
        <p:txBody>
          <a:bodyPr vert="horz" wrap="square" lIns="0" tIns="16510" rIns="0" bIns="0" rtlCol="0">
            <a:spAutoFit/>
          </a:bodyPr>
          <a:lstStyle/>
          <a:p>
            <a:pPr marL="12700">
              <a:lnSpc>
                <a:spcPct val="100000"/>
              </a:lnSpc>
              <a:spcBef>
                <a:spcPts val="130"/>
              </a:spcBef>
            </a:pPr>
            <a:r>
              <a:rPr lang="en-US" altLang="zh-CN" sz="4000" dirty="0">
                <a:latin typeface="Times New Roman"/>
                <a:cs typeface="Times New Roman"/>
              </a:rPr>
              <a:t>Question 1</a:t>
            </a:r>
            <a:endParaRPr lang="en-US" sz="950" dirty="0"/>
          </a:p>
        </p:txBody>
      </p:sp>
      <p:sp>
        <p:nvSpPr>
          <p:cNvPr id="4" name="object 4"/>
          <p:cNvSpPr txBox="1">
            <a:spLocks noGrp="1"/>
          </p:cNvSpPr>
          <p:nvPr>
            <p:ph type="sldNum" sz="quarter" idx="7"/>
          </p:nvPr>
        </p:nvSpPr>
        <p:spPr>
          <a:xfrm>
            <a:off x="8795384" y="6691643"/>
            <a:ext cx="203834" cy="142240"/>
          </a:xfrm>
          <a:prstGeom prst="rect">
            <a:avLst/>
          </a:prstGeom>
        </p:spPr>
        <p:txBody>
          <a:bodyPr vert="horz" wrap="square" lIns="0" tIns="0" rIns="0" bIns="0" rtlCol="0">
            <a:spAutoFit/>
          </a:bodyPr>
          <a:lstStyle>
            <a:defPPr>
              <a:defRPr kern="0"/>
            </a:defPPr>
            <a:lvl1pPr>
              <a:defRPr sz="800" b="0" i="0">
                <a:solidFill>
                  <a:srgbClr val="585858"/>
                </a:solidFill>
                <a:latin typeface="Times New Roman"/>
                <a:cs typeface="Times New Roman"/>
              </a:defRPr>
            </a:lvl1pPr>
          </a:lstStyle>
          <a:p>
            <a:pPr marL="12700">
              <a:lnSpc>
                <a:spcPct val="100000"/>
              </a:lnSpc>
              <a:spcBef>
                <a:spcPts val="50"/>
              </a:spcBef>
            </a:pPr>
            <a:fld id="{81D60167-4931-47E6-BA6A-407CBD079E47}" type="slidenum">
              <a:rPr lang="en-US" altLang="zh-CN" spc="-25" smtClean="0"/>
              <a:pPr marL="38100">
                <a:spcBef>
                  <a:spcPts val="35"/>
                </a:spcBef>
              </a:pPr>
              <a:t>22</a:t>
            </a:fld>
            <a:endParaRPr spc="-25" dirty="0"/>
          </a:p>
        </p:txBody>
      </p:sp>
      <p:sp>
        <p:nvSpPr>
          <p:cNvPr id="5" name="object 5"/>
          <p:cNvSpPr txBox="1">
            <a:spLocks noGrp="1"/>
          </p:cNvSpPr>
          <p:nvPr>
            <p:ph type="ftr" sz="quarter" idx="5"/>
          </p:nvPr>
        </p:nvSpPr>
        <p:spPr>
          <a:xfrm>
            <a:off x="248920" y="6709423"/>
            <a:ext cx="673100" cy="142240"/>
          </a:xfrm>
          <a:prstGeom prst="rect">
            <a:avLst/>
          </a:prstGeom>
        </p:spPr>
        <p:txBody>
          <a:bodyPr vert="horz" wrap="square" lIns="0" tIns="0" rIns="0" bIns="0" rtlCol="0">
            <a:spAutoFit/>
          </a:bodyPr>
          <a:lstStyle>
            <a:defPPr>
              <a:defRPr kern="0"/>
            </a:defPPr>
            <a:lvl1pPr>
              <a:defRPr sz="800" b="0" i="0">
                <a:solidFill>
                  <a:srgbClr val="585858"/>
                </a:solidFill>
                <a:latin typeface="Times New Roman"/>
                <a:cs typeface="Times New Roman"/>
              </a:defRPr>
            </a:lvl1pPr>
          </a:lstStyle>
          <a:p>
            <a:pPr marL="12700">
              <a:lnSpc>
                <a:spcPct val="100000"/>
              </a:lnSpc>
              <a:spcBef>
                <a:spcPts val="35"/>
              </a:spcBef>
            </a:pPr>
            <a:r>
              <a:rPr lang="en-US"/>
              <a:t>©</a:t>
            </a:r>
            <a:r>
              <a:rPr lang="en-US" spc="45"/>
              <a:t> </a:t>
            </a:r>
            <a:r>
              <a:rPr lang="en-US"/>
              <a:t>McGraw</a:t>
            </a:r>
            <a:r>
              <a:rPr lang="en-US" spc="-105"/>
              <a:t> </a:t>
            </a:r>
            <a:r>
              <a:rPr lang="en-US" spc="-20"/>
              <a:t>Hill</a:t>
            </a:r>
            <a:endParaRPr spc="-20" dirty="0"/>
          </a:p>
        </p:txBody>
      </p:sp>
      <p:sp>
        <p:nvSpPr>
          <p:cNvPr id="3" name="object 3"/>
          <p:cNvSpPr txBox="1"/>
          <p:nvPr/>
        </p:nvSpPr>
        <p:spPr>
          <a:xfrm>
            <a:off x="421957" y="1301749"/>
            <a:ext cx="8224520" cy="4519507"/>
          </a:xfrm>
          <a:prstGeom prst="rect">
            <a:avLst/>
          </a:prstGeom>
        </p:spPr>
        <p:txBody>
          <a:bodyPr vert="horz" wrap="square" lIns="0" tIns="13335" rIns="0" bIns="0" rtlCol="0">
            <a:spAutoFit/>
          </a:bodyPr>
          <a:lstStyle/>
          <a:p>
            <a:pPr marL="12700">
              <a:lnSpc>
                <a:spcPts val="2870"/>
              </a:lnSpc>
              <a:spcBef>
                <a:spcPts val="105"/>
              </a:spcBef>
            </a:pPr>
            <a:r>
              <a:rPr lang="en-US" sz="2400" dirty="0">
                <a:latin typeface="Times New Roman"/>
                <a:cs typeface="Times New Roman"/>
              </a:rPr>
              <a:t>A key difference between software and physical products, like hardware, is that software doesn't "wear out." What does this mean in practice?</a:t>
            </a:r>
          </a:p>
          <a:p>
            <a:pPr marL="355600" indent="-342900">
              <a:lnSpc>
                <a:spcPts val="2870"/>
              </a:lnSpc>
              <a:spcBef>
                <a:spcPts val="105"/>
              </a:spcBef>
              <a:buFont typeface="Wingdings" panose="05000000000000000000" pitchFamily="2" charset="2"/>
              <a:buChar char="n"/>
            </a:pPr>
            <a:endParaRPr lang="en-US" sz="2400" dirty="0">
              <a:latin typeface="Times New Roman"/>
              <a:cs typeface="Times New Roman"/>
            </a:endParaRPr>
          </a:p>
          <a:p>
            <a:pPr marL="469900" indent="-457200">
              <a:lnSpc>
                <a:spcPts val="2870"/>
              </a:lnSpc>
              <a:spcBef>
                <a:spcPts val="105"/>
              </a:spcBef>
              <a:buFont typeface="+mj-lt"/>
              <a:buAutoNum type="alphaUcPeriod"/>
            </a:pPr>
            <a:r>
              <a:rPr lang="en-US" sz="2400" dirty="0">
                <a:latin typeface="Times New Roman"/>
                <a:cs typeface="Times New Roman"/>
              </a:rPr>
              <a:t>Software never fails and has a zero failure rate over its entire lifespan.</a:t>
            </a:r>
          </a:p>
          <a:p>
            <a:pPr marL="469900" indent="-457200">
              <a:lnSpc>
                <a:spcPts val="2870"/>
              </a:lnSpc>
              <a:spcBef>
                <a:spcPts val="105"/>
              </a:spcBef>
              <a:buFont typeface="+mj-lt"/>
              <a:buAutoNum type="alphaUcPeriod"/>
            </a:pPr>
            <a:r>
              <a:rPr lang="en-US" sz="2400" dirty="0">
                <a:latin typeface="Times New Roman"/>
                <a:cs typeface="Times New Roman"/>
              </a:rPr>
              <a:t>Software failures are primarily not due to aging components but from undiscovered bugs or changes in its environment.</a:t>
            </a:r>
          </a:p>
          <a:p>
            <a:pPr marL="469900" indent="-457200">
              <a:lnSpc>
                <a:spcPts val="2870"/>
              </a:lnSpc>
              <a:spcBef>
                <a:spcPts val="105"/>
              </a:spcBef>
              <a:buFont typeface="+mj-lt"/>
              <a:buAutoNum type="alphaUcPeriod"/>
            </a:pPr>
            <a:r>
              <a:rPr lang="en-US" sz="2400" dirty="0">
                <a:latin typeface="Times New Roman"/>
                <a:cs typeface="Times New Roman"/>
              </a:rPr>
              <a:t>Software requires no maintenance once it is deployed to the customer.</a:t>
            </a:r>
          </a:p>
          <a:p>
            <a:pPr marL="469900" indent="-457200">
              <a:lnSpc>
                <a:spcPts val="2870"/>
              </a:lnSpc>
              <a:spcBef>
                <a:spcPts val="105"/>
              </a:spcBef>
              <a:buFont typeface="+mj-lt"/>
              <a:buAutoNum type="alphaUcPeriod"/>
            </a:pPr>
            <a:r>
              <a:rPr lang="en-US" sz="2400" dirty="0">
                <a:latin typeface="Times New Roman"/>
                <a:cs typeface="Times New Roman"/>
              </a:rPr>
              <a:t>The cost of maintaining and evolving software is always lower than the initial development cost.</a:t>
            </a:r>
          </a:p>
        </p:txBody>
      </p:sp>
    </p:spTree>
    <p:extLst>
      <p:ext uri="{BB962C8B-B14F-4D97-AF65-F5344CB8AC3E}">
        <p14:creationId xmlns:p14="http://schemas.microsoft.com/office/powerpoint/2010/main" val="3350411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957" y="318388"/>
            <a:ext cx="8117205" cy="632224"/>
          </a:xfrm>
          <a:prstGeom prst="rect">
            <a:avLst/>
          </a:prstGeom>
        </p:spPr>
        <p:txBody>
          <a:bodyPr vert="horz" wrap="square" lIns="0" tIns="16510" rIns="0" bIns="0" rtlCol="0">
            <a:spAutoFit/>
          </a:bodyPr>
          <a:lstStyle/>
          <a:p>
            <a:pPr marL="12700">
              <a:lnSpc>
                <a:spcPct val="100000"/>
              </a:lnSpc>
              <a:spcBef>
                <a:spcPts val="130"/>
              </a:spcBef>
            </a:pPr>
            <a:r>
              <a:rPr lang="en-US" altLang="zh-CN" sz="4000" dirty="0">
                <a:latin typeface="Times New Roman"/>
                <a:cs typeface="Times New Roman"/>
              </a:rPr>
              <a:t>Question 2</a:t>
            </a:r>
            <a:endParaRPr lang="en-US" sz="950" dirty="0"/>
          </a:p>
        </p:txBody>
      </p:sp>
      <p:sp>
        <p:nvSpPr>
          <p:cNvPr id="4" name="object 4"/>
          <p:cNvSpPr txBox="1">
            <a:spLocks noGrp="1"/>
          </p:cNvSpPr>
          <p:nvPr>
            <p:ph type="sldNum" sz="quarter" idx="7"/>
          </p:nvPr>
        </p:nvSpPr>
        <p:spPr>
          <a:xfrm>
            <a:off x="8795384" y="6691643"/>
            <a:ext cx="203834" cy="142240"/>
          </a:xfrm>
          <a:prstGeom prst="rect">
            <a:avLst/>
          </a:prstGeom>
        </p:spPr>
        <p:txBody>
          <a:bodyPr vert="horz" wrap="square" lIns="0" tIns="0" rIns="0" bIns="0" rtlCol="0">
            <a:spAutoFit/>
          </a:bodyPr>
          <a:lstStyle>
            <a:defPPr>
              <a:defRPr kern="0"/>
            </a:defPPr>
            <a:lvl1pPr>
              <a:defRPr sz="800" b="0" i="0">
                <a:solidFill>
                  <a:srgbClr val="585858"/>
                </a:solidFill>
                <a:latin typeface="Times New Roman"/>
                <a:cs typeface="Times New Roman"/>
              </a:defRPr>
            </a:lvl1pPr>
          </a:lstStyle>
          <a:p>
            <a:pPr marL="12700">
              <a:lnSpc>
                <a:spcPct val="100000"/>
              </a:lnSpc>
              <a:spcBef>
                <a:spcPts val="50"/>
              </a:spcBef>
            </a:pPr>
            <a:fld id="{81D60167-4931-47E6-BA6A-407CBD079E47}" type="slidenum">
              <a:rPr lang="en-US" altLang="zh-CN" spc="-25" smtClean="0"/>
              <a:pPr marL="38100">
                <a:spcBef>
                  <a:spcPts val="35"/>
                </a:spcBef>
              </a:pPr>
              <a:t>23</a:t>
            </a:fld>
            <a:endParaRPr spc="-25" dirty="0"/>
          </a:p>
        </p:txBody>
      </p:sp>
      <p:sp>
        <p:nvSpPr>
          <p:cNvPr id="5" name="object 5"/>
          <p:cNvSpPr txBox="1">
            <a:spLocks noGrp="1"/>
          </p:cNvSpPr>
          <p:nvPr>
            <p:ph type="ftr" sz="quarter" idx="5"/>
          </p:nvPr>
        </p:nvSpPr>
        <p:spPr>
          <a:xfrm>
            <a:off x="248920" y="6709423"/>
            <a:ext cx="673100" cy="142240"/>
          </a:xfrm>
          <a:prstGeom prst="rect">
            <a:avLst/>
          </a:prstGeom>
        </p:spPr>
        <p:txBody>
          <a:bodyPr vert="horz" wrap="square" lIns="0" tIns="0" rIns="0" bIns="0" rtlCol="0">
            <a:spAutoFit/>
          </a:bodyPr>
          <a:lstStyle>
            <a:defPPr>
              <a:defRPr kern="0"/>
            </a:defPPr>
            <a:lvl1pPr>
              <a:defRPr sz="800" b="0" i="0">
                <a:solidFill>
                  <a:srgbClr val="585858"/>
                </a:solidFill>
                <a:latin typeface="Times New Roman"/>
                <a:cs typeface="Times New Roman"/>
              </a:defRPr>
            </a:lvl1pPr>
          </a:lstStyle>
          <a:p>
            <a:pPr marL="12700">
              <a:lnSpc>
                <a:spcPct val="100000"/>
              </a:lnSpc>
              <a:spcBef>
                <a:spcPts val="35"/>
              </a:spcBef>
            </a:pPr>
            <a:r>
              <a:rPr lang="en-US"/>
              <a:t>©</a:t>
            </a:r>
            <a:r>
              <a:rPr lang="en-US" spc="45"/>
              <a:t> </a:t>
            </a:r>
            <a:r>
              <a:rPr lang="en-US"/>
              <a:t>McGraw</a:t>
            </a:r>
            <a:r>
              <a:rPr lang="en-US" spc="-105"/>
              <a:t> </a:t>
            </a:r>
            <a:r>
              <a:rPr lang="en-US" spc="-20"/>
              <a:t>Hill</a:t>
            </a:r>
            <a:endParaRPr spc="-20" dirty="0"/>
          </a:p>
        </p:txBody>
      </p:sp>
      <p:sp>
        <p:nvSpPr>
          <p:cNvPr id="3" name="object 3"/>
          <p:cNvSpPr txBox="1"/>
          <p:nvPr/>
        </p:nvSpPr>
        <p:spPr>
          <a:xfrm>
            <a:off x="421957" y="1301749"/>
            <a:ext cx="8224520" cy="4147610"/>
          </a:xfrm>
          <a:prstGeom prst="rect">
            <a:avLst/>
          </a:prstGeom>
        </p:spPr>
        <p:txBody>
          <a:bodyPr vert="horz" wrap="square" lIns="0" tIns="13335" rIns="0" bIns="0" rtlCol="0">
            <a:spAutoFit/>
          </a:bodyPr>
          <a:lstStyle/>
          <a:p>
            <a:pPr marL="12700">
              <a:lnSpc>
                <a:spcPts val="2870"/>
              </a:lnSpc>
              <a:spcBef>
                <a:spcPts val="105"/>
              </a:spcBef>
            </a:pPr>
            <a:r>
              <a:rPr lang="en-US" sz="2400" dirty="0">
                <a:latin typeface="Times New Roman"/>
                <a:cs typeface="Times New Roman"/>
              </a:rPr>
              <a:t>According to the prescriptive model characteristics, what is the primary purpose of defining a "task set" within a software process?</a:t>
            </a:r>
          </a:p>
          <a:p>
            <a:pPr marL="12700">
              <a:lnSpc>
                <a:spcPts val="2870"/>
              </a:lnSpc>
              <a:spcBef>
                <a:spcPts val="105"/>
              </a:spcBef>
            </a:pPr>
            <a:endParaRPr lang="en-US" sz="2400" dirty="0">
              <a:latin typeface="Times New Roman"/>
              <a:cs typeface="Times New Roman"/>
            </a:endParaRPr>
          </a:p>
          <a:p>
            <a:pPr marL="469900" indent="-457200">
              <a:lnSpc>
                <a:spcPts val="2870"/>
              </a:lnSpc>
              <a:spcBef>
                <a:spcPts val="105"/>
              </a:spcBef>
              <a:buFont typeface="+mj-lt"/>
              <a:buAutoNum type="alphaUcPeriod"/>
            </a:pPr>
            <a:r>
              <a:rPr lang="en-US" sz="2400" dirty="0">
                <a:latin typeface="Times New Roman"/>
                <a:cs typeface="Times New Roman"/>
              </a:rPr>
              <a:t>To guarantee that the final software product will be delivered on time and under budget.</a:t>
            </a:r>
          </a:p>
          <a:p>
            <a:pPr marL="469900" indent="-457200">
              <a:lnSpc>
                <a:spcPts val="2870"/>
              </a:lnSpc>
              <a:spcBef>
                <a:spcPts val="105"/>
              </a:spcBef>
              <a:buFont typeface="+mj-lt"/>
              <a:buAutoNum type="alphaUcPeriod"/>
            </a:pPr>
            <a:r>
              <a:rPr lang="en-US" sz="2400" dirty="0">
                <a:latin typeface="Times New Roman"/>
                <a:cs typeface="Times New Roman"/>
              </a:rPr>
              <a:t>To provide a rigid, unchangeable plan that the team must follow to ensure discipline.</a:t>
            </a:r>
          </a:p>
          <a:p>
            <a:pPr marL="469900" indent="-457200">
              <a:lnSpc>
                <a:spcPts val="2870"/>
              </a:lnSpc>
              <a:spcBef>
                <a:spcPts val="105"/>
              </a:spcBef>
              <a:buFont typeface="+mj-lt"/>
              <a:buAutoNum type="alphaUcPeriod"/>
            </a:pPr>
            <a:r>
              <a:rPr lang="en-US" sz="2400" dirty="0">
                <a:latin typeface="Times New Roman"/>
                <a:cs typeface="Times New Roman"/>
              </a:rPr>
              <a:t>To define the actual work to be done to accomplish the objectives of a software engineering action.</a:t>
            </a:r>
          </a:p>
          <a:p>
            <a:pPr marL="469900" indent="-457200">
              <a:lnSpc>
                <a:spcPts val="2870"/>
              </a:lnSpc>
              <a:spcBef>
                <a:spcPts val="105"/>
              </a:spcBef>
              <a:buFont typeface="+mj-lt"/>
              <a:buAutoNum type="alphaUcPeriod"/>
            </a:pPr>
            <a:r>
              <a:rPr lang="en-US" sz="2400" dirty="0">
                <a:latin typeface="Times New Roman"/>
                <a:cs typeface="Times New Roman"/>
              </a:rPr>
              <a:t>To replace the need for umbrella activities like quality assurance and risk management.</a:t>
            </a:r>
          </a:p>
        </p:txBody>
      </p:sp>
    </p:spTree>
    <p:extLst>
      <p:ext uri="{BB962C8B-B14F-4D97-AF65-F5344CB8AC3E}">
        <p14:creationId xmlns:p14="http://schemas.microsoft.com/office/powerpoint/2010/main" val="411107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27CE-F878-6310-0E1E-841D90D1846C}"/>
              </a:ext>
            </a:extLst>
          </p:cNvPr>
          <p:cNvSpPr>
            <a:spLocks noGrp="1"/>
          </p:cNvSpPr>
          <p:nvPr>
            <p:ph type="title"/>
          </p:nvPr>
        </p:nvSpPr>
        <p:spPr>
          <a:xfrm>
            <a:off x="421957" y="318388"/>
            <a:ext cx="8117205" cy="1823576"/>
          </a:xfrm>
        </p:spPr>
        <p:txBody>
          <a:bodyPr/>
          <a:lstStyle/>
          <a:p>
            <a:r>
              <a:rPr lang="en-US" altLang="zh-CN" b="1" i="0" dirty="0">
                <a:solidFill>
                  <a:srgbClr val="0F1115"/>
                </a:solidFill>
                <a:effectLst/>
                <a:latin typeface="quote-cjk-patch"/>
              </a:rPr>
              <a:t>Why did you choose Software Engineering?</a:t>
            </a:r>
            <a:br>
              <a:rPr lang="en-US" altLang="zh-CN" b="0" i="0" dirty="0">
                <a:solidFill>
                  <a:srgbClr val="0F1115"/>
                </a:solidFill>
                <a:effectLst/>
                <a:latin typeface="quote-cjk-patch"/>
              </a:rPr>
            </a:br>
            <a:endParaRPr lang="zh-CN" altLang="en-US" dirty="0"/>
          </a:p>
        </p:txBody>
      </p:sp>
      <p:sp>
        <p:nvSpPr>
          <p:cNvPr id="3" name="Text Placeholder 2">
            <a:extLst>
              <a:ext uri="{FF2B5EF4-FFF2-40B4-BE49-F238E27FC236}">
                <a16:creationId xmlns:a16="http://schemas.microsoft.com/office/drawing/2014/main" id="{FBBE9250-9D9B-2269-2CC9-E59184240CDE}"/>
              </a:ext>
            </a:extLst>
          </p:cNvPr>
          <p:cNvSpPr>
            <a:spLocks noGrp="1"/>
          </p:cNvSpPr>
          <p:nvPr>
            <p:ph type="body" idx="1"/>
          </p:nvPr>
        </p:nvSpPr>
        <p:spPr>
          <a:xfrm>
            <a:off x="457517" y="1905000"/>
            <a:ext cx="7777480" cy="2585323"/>
          </a:xfrm>
        </p:spPr>
        <p:txBody>
          <a:bodyPr>
            <a:normAutofit fontScale="92500" lnSpcReduction="10000"/>
          </a:bodyPr>
          <a:lstStyle/>
          <a:p>
            <a:pPr marL="342900" indent="-342900">
              <a:buFont typeface="Wingdings" panose="05000000000000000000" pitchFamily="2" charset="2"/>
              <a:buChar char="n"/>
            </a:pPr>
            <a:r>
              <a:rPr lang="en-US" altLang="zh-CN" dirty="0"/>
              <a:t>Job Security?</a:t>
            </a:r>
          </a:p>
          <a:p>
            <a:pPr marL="342900" indent="-342900">
              <a:buFont typeface="Wingdings" panose="05000000000000000000" pitchFamily="2" charset="2"/>
              <a:buChar char="n"/>
            </a:pPr>
            <a:endParaRPr lang="en-US" altLang="zh-CN" dirty="0"/>
          </a:p>
          <a:p>
            <a:pPr marL="342900" indent="-342900">
              <a:buFont typeface="Wingdings" panose="05000000000000000000" pitchFamily="2" charset="2"/>
              <a:buChar char="n"/>
            </a:pPr>
            <a:r>
              <a:rPr lang="en-US" altLang="zh-CN" dirty="0"/>
              <a:t>High Salary?</a:t>
            </a:r>
          </a:p>
          <a:p>
            <a:pPr marL="342900" indent="-342900">
              <a:buFont typeface="Wingdings" panose="05000000000000000000" pitchFamily="2" charset="2"/>
              <a:buChar char="n"/>
            </a:pPr>
            <a:endParaRPr lang="en-US" altLang="zh-CN" dirty="0"/>
          </a:p>
          <a:p>
            <a:pPr marL="342900" indent="-342900">
              <a:buFont typeface="Wingdings" panose="05000000000000000000" pitchFamily="2" charset="2"/>
              <a:buChar char="n"/>
            </a:pPr>
            <a:r>
              <a:rPr lang="en-US" altLang="zh-CN" dirty="0"/>
              <a:t>To Build Things?</a:t>
            </a:r>
          </a:p>
          <a:p>
            <a:pPr marL="342900" indent="-342900">
              <a:buFont typeface="Wingdings" panose="05000000000000000000" pitchFamily="2" charset="2"/>
              <a:buChar char="n"/>
            </a:pPr>
            <a:endParaRPr lang="en-US" altLang="zh-CN" dirty="0"/>
          </a:p>
          <a:p>
            <a:pPr marL="342900" indent="-342900">
              <a:buFont typeface="Wingdings" panose="05000000000000000000" pitchFamily="2" charset="2"/>
              <a:buChar char="n"/>
            </a:pPr>
            <a:r>
              <a:rPr lang="en-US" altLang="zh-CN" dirty="0"/>
              <a:t>Passion for Technology?</a:t>
            </a:r>
            <a:endParaRPr lang="zh-CN" altLang="en-US" dirty="0"/>
          </a:p>
        </p:txBody>
      </p:sp>
    </p:spTree>
    <p:extLst>
      <p:ext uri="{BB962C8B-B14F-4D97-AF65-F5344CB8AC3E}">
        <p14:creationId xmlns:p14="http://schemas.microsoft.com/office/powerpoint/2010/main" val="3643115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27CE-F878-6310-0E1E-841D90D1846C}"/>
              </a:ext>
            </a:extLst>
          </p:cNvPr>
          <p:cNvSpPr>
            <a:spLocks noGrp="1"/>
          </p:cNvSpPr>
          <p:nvPr>
            <p:ph type="title"/>
          </p:nvPr>
        </p:nvSpPr>
        <p:spPr>
          <a:xfrm>
            <a:off x="421957" y="318388"/>
            <a:ext cx="8117205" cy="607859"/>
          </a:xfrm>
        </p:spPr>
        <p:txBody>
          <a:bodyPr>
            <a:normAutofit fontScale="90000"/>
          </a:bodyPr>
          <a:lstStyle/>
          <a:p>
            <a:r>
              <a:rPr lang="en-US" altLang="zh-CN" b="1" i="0" dirty="0">
                <a:solidFill>
                  <a:srgbClr val="0F1115"/>
                </a:solidFill>
                <a:effectLst/>
                <a:latin typeface="quote-cjk-patch"/>
              </a:rPr>
              <a:t>The New Reality</a:t>
            </a:r>
            <a:endParaRPr lang="zh-CN" altLang="en-US" dirty="0"/>
          </a:p>
        </p:txBody>
      </p:sp>
      <p:sp>
        <p:nvSpPr>
          <p:cNvPr id="3" name="Text Placeholder 2">
            <a:extLst>
              <a:ext uri="{FF2B5EF4-FFF2-40B4-BE49-F238E27FC236}">
                <a16:creationId xmlns:a16="http://schemas.microsoft.com/office/drawing/2014/main" id="{FBBE9250-9D9B-2269-2CC9-E59184240CDE}"/>
              </a:ext>
            </a:extLst>
          </p:cNvPr>
          <p:cNvSpPr>
            <a:spLocks noGrp="1"/>
          </p:cNvSpPr>
          <p:nvPr>
            <p:ph type="body" idx="1"/>
          </p:nvPr>
        </p:nvSpPr>
        <p:spPr>
          <a:xfrm>
            <a:off x="442277" y="1676400"/>
            <a:ext cx="7777480" cy="1846659"/>
          </a:xfrm>
        </p:spPr>
        <p:txBody>
          <a:bodyPr>
            <a:normAutofit fontScale="92500" lnSpcReduction="10000"/>
          </a:bodyPr>
          <a:lstStyle/>
          <a:p>
            <a:pPr marL="342900" indent="-342900">
              <a:buFont typeface="Wingdings" panose="05000000000000000000" pitchFamily="2" charset="2"/>
              <a:buChar char="n"/>
            </a:pPr>
            <a:r>
              <a:rPr lang="en-US" altLang="zh-CN" dirty="0"/>
              <a:t>What happens when we have ChatGPT?</a:t>
            </a:r>
          </a:p>
          <a:p>
            <a:pPr marL="342900" indent="-342900">
              <a:buFont typeface="Wingdings" panose="05000000000000000000" pitchFamily="2" charset="2"/>
              <a:buChar char="n"/>
            </a:pPr>
            <a:endParaRPr lang="en-US" altLang="zh-CN" dirty="0"/>
          </a:p>
          <a:p>
            <a:pPr marL="342900" indent="-342900">
              <a:buFont typeface="Wingdings" panose="05000000000000000000" pitchFamily="2" charset="2"/>
              <a:buChar char="n"/>
            </a:pPr>
            <a:r>
              <a:rPr lang="en-US" altLang="zh-CN" dirty="0"/>
              <a:t>...when GitHub Copilot writes code for us?</a:t>
            </a:r>
          </a:p>
          <a:p>
            <a:pPr marL="342900" indent="-342900">
              <a:buFont typeface="Wingdings" panose="05000000000000000000" pitchFamily="2" charset="2"/>
              <a:buChar char="n"/>
            </a:pPr>
            <a:endParaRPr lang="en-US" altLang="zh-CN" dirty="0"/>
          </a:p>
          <a:p>
            <a:pPr marL="342900" indent="-342900">
              <a:buFont typeface="Wingdings" panose="05000000000000000000" pitchFamily="2" charset="2"/>
              <a:buChar char="n"/>
            </a:pPr>
            <a:r>
              <a:rPr lang="en-US" altLang="zh-CN" dirty="0"/>
              <a:t>...when AI can generate an entire app in seconds?</a:t>
            </a:r>
            <a:endParaRPr lang="zh-CN" altLang="en-US" dirty="0"/>
          </a:p>
        </p:txBody>
      </p:sp>
      <p:sp>
        <p:nvSpPr>
          <p:cNvPr id="5" name="TextBox 4">
            <a:extLst>
              <a:ext uri="{FF2B5EF4-FFF2-40B4-BE49-F238E27FC236}">
                <a16:creationId xmlns:a16="http://schemas.microsoft.com/office/drawing/2014/main" id="{5DEB0F8C-514B-B67B-F704-5F13FC31F8ED}"/>
              </a:ext>
            </a:extLst>
          </p:cNvPr>
          <p:cNvSpPr txBox="1"/>
          <p:nvPr/>
        </p:nvSpPr>
        <p:spPr>
          <a:xfrm>
            <a:off x="1600200" y="4288452"/>
            <a:ext cx="6492241" cy="523220"/>
          </a:xfrm>
          <a:prstGeom prst="rect">
            <a:avLst/>
          </a:prstGeom>
          <a:noFill/>
        </p:spPr>
        <p:txBody>
          <a:bodyPr wrap="square">
            <a:spAutoFit/>
          </a:bodyPr>
          <a:lstStyle/>
          <a:p>
            <a:pPr algn="l"/>
            <a:r>
              <a:rPr lang="en-US" altLang="zh-CN" sz="2800" b="1" i="0" dirty="0">
                <a:solidFill>
                  <a:srgbClr val="0F1115"/>
                </a:solidFill>
                <a:effectLst/>
                <a:latin typeface="quote-cjk-patch"/>
              </a:rPr>
              <a:t>Does our "golden ticket" still exist?</a:t>
            </a:r>
            <a:endParaRPr lang="en-US" altLang="zh-CN" sz="2800" b="0" i="0" dirty="0">
              <a:solidFill>
                <a:srgbClr val="0F1115"/>
              </a:solidFill>
              <a:effectLst/>
              <a:latin typeface="quote-cjk-patch"/>
            </a:endParaRPr>
          </a:p>
        </p:txBody>
      </p:sp>
    </p:spTree>
    <p:extLst>
      <p:ext uri="{BB962C8B-B14F-4D97-AF65-F5344CB8AC3E}">
        <p14:creationId xmlns:p14="http://schemas.microsoft.com/office/powerpoint/2010/main" val="118457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t>© 2020 McGraw-Hill Education. All rights reserved. Authorized only for instructor use in the classroom.</a:t>
            </a:r>
          </a:p>
          <a:p>
            <a:pPr lvl="0"/>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4015425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a:xfrm>
            <a:off x="342899" y="2310981"/>
            <a:ext cx="7696919" cy="637593"/>
          </a:xfrm>
        </p:spPr>
        <p:txBody>
          <a:bodyPr>
            <a:normAutofit/>
          </a:bodyPr>
          <a:lstStyle/>
          <a:p>
            <a:r>
              <a:rPr lang="en-US" sz="2400"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4245016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92490"/>
            <a:ext cx="8458200" cy="903231"/>
          </a:xfrm>
        </p:spPr>
        <p:txBody>
          <a:bodyPr/>
          <a:lstStyle/>
          <a:p>
            <a:r>
              <a:rPr lang="en-US" sz="3400" noProof="0" dirty="0"/>
              <a:t>Wear versus Deterioration – Text Alternative</a:t>
            </a:r>
          </a:p>
        </p:txBody>
      </p:sp>
      <p:sp>
        <p:nvSpPr>
          <p:cNvPr id="9" name="Text Placeholder 8">
            <a:extLst>
              <a:ext uri="{FF2B5EF4-FFF2-40B4-BE49-F238E27FC236}">
                <a16:creationId xmlns:a16="http://schemas.microsoft.com/office/drawing/2014/main" id="{807C2EF4-254C-4377-806E-80116D50C5C8}"/>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647824"/>
            <a:ext cx="8458200" cy="3797011"/>
          </a:xfrm>
        </p:spPr>
        <p:txBody>
          <a:bodyPr>
            <a:noAutofit/>
          </a:bodyPr>
          <a:lstStyle/>
          <a:p>
            <a:r>
              <a:rPr lang="en-US" sz="2400" noProof="0" dirty="0"/>
              <a:t>A graph showing wear versus deterioration is plotted for failure rate versus time. An idealized curve shows that failure-rate reduces as time increases. The displayed curve has a hyperbolic shape which falls from a high y-value to a near constant y-value as x increases. The actual curve shows that failure-rate reduces and reaches a minimum but rises again with a reduced slope as time increases. When a change is implemented there is sudden spike in the curve resulting in higher failure rate which then falls back towards the actual curve as time increases. The failure rate increases due to side-effects. </a:t>
            </a:r>
          </a:p>
        </p:txBody>
      </p:sp>
      <p:sp>
        <p:nvSpPr>
          <p:cNvPr id="10" name="Text Placeholder 9">
            <a:extLst>
              <a:ext uri="{FF2B5EF4-FFF2-40B4-BE49-F238E27FC236}">
                <a16:creationId xmlns:a16="http://schemas.microsoft.com/office/drawing/2014/main" id="{5CD8D1E9-6727-4E17-8A6E-93BCC813D2FE}"/>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5725299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633</TotalTime>
  <Words>2024</Words>
  <Application>Microsoft Office PowerPoint</Application>
  <PresentationFormat>全屏显示(4:3)</PresentationFormat>
  <Paragraphs>225</Paragraphs>
  <Slides>28</Slides>
  <Notes>4</Notes>
  <HiddenSlides>2</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28</vt:i4>
      </vt:variant>
    </vt:vector>
  </HeadingPairs>
  <TitlesOfParts>
    <vt:vector size="40" baseType="lpstr">
      <vt:lpstr>Menlo</vt:lpstr>
      <vt:lpstr>quote-cjk-patch</vt:lpstr>
      <vt:lpstr>等线</vt:lpstr>
      <vt:lpstr>Arial</vt:lpstr>
      <vt:lpstr>Nirmala UI</vt:lpstr>
      <vt:lpstr>Times New Roman</vt:lpstr>
      <vt:lpstr>Wingdings</vt:lpstr>
      <vt:lpstr>Title Slides Master</vt:lpstr>
      <vt:lpstr>MainContentSlideMaster</vt:lpstr>
      <vt:lpstr>ClosingMaster</vt:lpstr>
      <vt:lpstr>DividerSlideMaster</vt:lpstr>
      <vt:lpstr>ImageDescriptionAppendixSlideMaster</vt:lpstr>
      <vt:lpstr>Chapter 1</vt:lpstr>
      <vt:lpstr>Lecturer</vt:lpstr>
      <vt:lpstr>Grading Policy</vt:lpstr>
      <vt:lpstr>PowerPoint 演示文稿</vt:lpstr>
      <vt:lpstr>Nature of Software – Defining Software</vt:lpstr>
      <vt:lpstr>What is Software?</vt:lpstr>
      <vt:lpstr>Software Application Domains</vt:lpstr>
      <vt:lpstr>Wear versus Deterioration</vt:lpstr>
      <vt:lpstr>Legacy Software</vt:lpstr>
      <vt:lpstr>Defining the Discipline</vt:lpstr>
      <vt:lpstr>Software Engineering Layers</vt:lpstr>
      <vt:lpstr>Process Framework Activities</vt:lpstr>
      <vt:lpstr>Umbrella Activities</vt:lpstr>
      <vt:lpstr>Process Difference Requiring Adaptation</vt:lpstr>
      <vt:lpstr>Essence of Software Engineering Practice</vt:lpstr>
      <vt:lpstr>Understand the Problem</vt:lpstr>
      <vt:lpstr>Plan a Solution</vt:lpstr>
      <vt:lpstr>Carryout the Plan</vt:lpstr>
      <vt:lpstr>Examine the Result</vt:lpstr>
      <vt:lpstr>Hooker’s General Principles</vt:lpstr>
      <vt:lpstr>How it all Starts – SafeHome Begins</vt:lpstr>
      <vt:lpstr>Question 1</vt:lpstr>
      <vt:lpstr>Question 2</vt:lpstr>
      <vt:lpstr>Why did you choose Software Engineering? </vt:lpstr>
      <vt:lpstr>The New Reality</vt:lpstr>
      <vt:lpstr>End of Main Content</vt:lpstr>
      <vt:lpstr>Accessibility Content: Text Alternatives for Images</vt:lpstr>
      <vt:lpstr>Wear versus Deterioration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海宁 张</cp:lastModifiedBy>
  <cp:revision>64</cp:revision>
  <dcterms:created xsi:type="dcterms:W3CDTF">2019-01-22T22:04:31Z</dcterms:created>
  <dcterms:modified xsi:type="dcterms:W3CDTF">2025-09-11T01:25:01Z</dcterms:modified>
</cp:coreProperties>
</file>