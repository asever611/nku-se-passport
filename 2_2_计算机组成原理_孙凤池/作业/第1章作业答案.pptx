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  <p:sldMasterId id="2147483696" r:id="rId4"/>
    <p:sldMasterId id="2147483708" r:id="rId5"/>
  </p:sldMasterIdLst>
  <p:notesMasterIdLst>
    <p:notesMasterId r:id="rId13"/>
  </p:notesMasterIdLst>
  <p:sldIdLst>
    <p:sldId id="265" r:id="rId6"/>
    <p:sldId id="257" r:id="rId7"/>
    <p:sldId id="258" r:id="rId8"/>
    <p:sldId id="260" r:id="rId9"/>
    <p:sldId id="261" r:id="rId10"/>
    <p:sldId id="262" r:id="rId11"/>
    <p:sldId id="263" r:id="rId1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503" autoAdjust="0"/>
  </p:normalViewPr>
  <p:slideViewPr>
    <p:cSldViewPr>
      <p:cViewPr varScale="1">
        <p:scale>
          <a:sx n="104" d="100"/>
          <a:sy n="104" d="100"/>
        </p:scale>
        <p:origin x="-1740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C2F758-7EDD-4DE6-A686-03BB9032C451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3FDE22-C808-4F0C-9C88-CCDE348BEB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12022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smtClean="0"/>
              <a:t>现代计算机都是存储程序式的计算机</a:t>
            </a:r>
          </a:p>
        </p:txBody>
      </p:sp>
      <p:sp>
        <p:nvSpPr>
          <p:cNvPr id="2765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A7C29970-B320-4B29-9498-B0D8A3AB9883}" type="slidenum">
              <a:rPr lang="en-US" altLang="zh-CN">
                <a:solidFill>
                  <a:prstClr val="black"/>
                </a:solidFill>
              </a:rPr>
              <a:pPr/>
              <a:t>2</a:t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smtClean="0"/>
              <a:t>以运算器为中心，使得输入输出设备与存储器之间的数据传送通过运算器完成</a:t>
            </a:r>
          </a:p>
        </p:txBody>
      </p:sp>
      <p:sp>
        <p:nvSpPr>
          <p:cNvPr id="2970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40AFCFD6-B3B6-4932-A5A9-DE00492D095C}" type="slidenum">
              <a:rPr lang="en-US" altLang="zh-CN">
                <a:solidFill>
                  <a:prstClr val="black"/>
                </a:solidFill>
              </a:rPr>
              <a:pPr/>
              <a:t>3</a:t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smtClean="0"/>
              <a:t>分析指令，也就是译码阶段，占用时间较短，在分配时钟节拍时，一般合并到取指阶段</a:t>
            </a:r>
          </a:p>
        </p:txBody>
      </p:sp>
      <p:sp>
        <p:nvSpPr>
          <p:cNvPr id="6144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B9150164-35AD-4213-9446-3720D14B6770}" type="slidenum">
              <a:rPr lang="en-US" altLang="zh-CN">
                <a:solidFill>
                  <a:prstClr val="black"/>
                </a:solidFill>
              </a:rPr>
              <a:pPr/>
              <a:t>4</a:t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C05448EC-4AEA-496A-8F5D-EAE73DF2DC37}" type="slidenum">
              <a:rPr lang="en-US" altLang="zh-CN">
                <a:solidFill>
                  <a:prstClr val="black"/>
                </a:solidFill>
              </a:rPr>
              <a:pPr/>
              <a:t>5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smtClean="0"/>
              <a:t>为了实现按地址访问主存，主存中必须配置两个寄存器</a:t>
            </a:r>
            <a:r>
              <a:rPr lang="en-US" altLang="zh-CN" smtClean="0"/>
              <a:t>MAR</a:t>
            </a:r>
            <a:r>
              <a:rPr lang="zh-CN" altLang="en-US" smtClean="0"/>
              <a:t>和</a:t>
            </a:r>
            <a:r>
              <a:rPr lang="en-US" altLang="zh-CN" smtClean="0"/>
              <a:t>MDR</a:t>
            </a:r>
            <a:r>
              <a:rPr lang="zh-CN" altLang="en-US" smtClean="0"/>
              <a:t>，二者其实起着速度缓冲与暂存的作用，由于计算机的速度远快于内存。</a:t>
            </a:r>
          </a:p>
        </p:txBody>
      </p:sp>
      <p:sp>
        <p:nvSpPr>
          <p:cNvPr id="4710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0EACCD28-2A96-4249-B88D-B6B37A0B187F}" type="slidenum">
              <a:rPr lang="en-US" altLang="zh-CN">
                <a:solidFill>
                  <a:prstClr val="black"/>
                </a:solidFill>
              </a:rPr>
              <a:pPr/>
              <a:t>6</a:t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smtClean="0"/>
              <a:t>计算机性能的优劣根据软件、硬件的各类技术指标综合确定，这里主要讨论硬件的技术指标</a:t>
            </a:r>
            <a:endParaRPr lang="en-US" altLang="zh-CN" smtClean="0"/>
          </a:p>
          <a:p>
            <a:r>
              <a:rPr lang="zh-CN" altLang="en-US" smtClean="0"/>
              <a:t>机器字长会影响数的表示范围、精度、运算速度，受制于硬件的造价</a:t>
            </a:r>
            <a:endParaRPr lang="en-US" altLang="zh-CN" smtClean="0"/>
          </a:p>
          <a:p>
            <a:r>
              <a:rPr lang="zh-CN" altLang="en-US" smtClean="0"/>
              <a:t>最初用完成一次加法或乘法运算所需的时间衡量运算速度，显然不合理，辛普森法综合考虑每条指令的执行时间，以及它们在全部操作中所占的百分比</a:t>
            </a:r>
            <a:endParaRPr lang="en-US" altLang="zh-CN" smtClean="0"/>
          </a:p>
          <a:p>
            <a:r>
              <a:rPr lang="zh-CN" altLang="en-US" smtClean="0"/>
              <a:t>现在普遍采用单位时间内执行指令的平均条数衡量运算速度</a:t>
            </a:r>
          </a:p>
        </p:txBody>
      </p:sp>
      <p:sp>
        <p:nvSpPr>
          <p:cNvPr id="6758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337E3A89-B76D-4C40-A1C6-106AF8C289B7}" type="slidenum">
              <a:rPr lang="en-US" altLang="zh-CN">
                <a:solidFill>
                  <a:prstClr val="black"/>
                </a:solidFill>
              </a:rPr>
              <a:pPr/>
              <a:t>7</a:t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3721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3722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F2D106-F5F0-42F6-84CB-5F28C29A2AAD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7691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16A4477-9EC2-4A1E-BBA7-E8A4D465983F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5432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EBE5574-73A4-417C-A444-6EBEDC41412E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4991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EBC2AC-C0F2-4C49-ABEC-1A6E1F85B1CA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1489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1FD397A-C6BE-4A42-8E84-6E8FB66C3D4B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53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0DA580-7C8C-45C0-8F0E-BB506CA471CE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5414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9D8288-945E-4DDC-AF61-B2B73F98193A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308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E6E001E-EC9E-4D88-9F3A-75DC597EBCCC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1241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9532B64-49C7-41F2-8413-B19838278082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4130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4E720D-5117-4DC9-84D4-11A71DD171BB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7576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6884E78-6B67-4966-A992-355E3B5B2323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98121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3721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3722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F2D106-F5F0-42F6-84CB-5F28C29A2AAD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68820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16A4477-9EC2-4A1E-BBA7-E8A4D465983F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45918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EBE5574-73A4-417C-A444-6EBEDC41412E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24869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EBC2AC-C0F2-4C49-ABEC-1A6E1F85B1CA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74955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1FD397A-C6BE-4A42-8E84-6E8FB66C3D4B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50854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0DA580-7C8C-45C0-8F0E-BB506CA471CE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06954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9D8288-945E-4DDC-AF61-B2B73F98193A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86598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E6E001E-EC9E-4D88-9F3A-75DC597EBCCC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1088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9532B64-49C7-41F2-8413-B19838278082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61985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4E720D-5117-4DC9-84D4-11A71DD171BB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3747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6884E78-6B67-4966-A992-355E3B5B2323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7698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3721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3722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F2D106-F5F0-42F6-84CB-5F28C29A2AAD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97472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16A4477-9EC2-4A1E-BBA7-E8A4D465983F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58416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EBE5574-73A4-417C-A444-6EBEDC41412E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84518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EBC2AC-C0F2-4C49-ABEC-1A6E1F85B1CA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214602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1FD397A-C6BE-4A42-8E84-6E8FB66C3D4B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735733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0DA580-7C8C-45C0-8F0E-BB506CA471CE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239064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9D8288-945E-4DDC-AF61-B2B73F98193A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96548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E6E001E-EC9E-4D88-9F3A-75DC597EBCCC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974956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9532B64-49C7-41F2-8413-B19838278082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59370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4E720D-5117-4DC9-84D4-11A71DD171BB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981872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6884E78-6B67-4966-A992-355E3B5B2323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848357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3721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3722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F2D106-F5F0-42F6-84CB-5F28C29A2AAD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798328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16A4477-9EC2-4A1E-BBA7-E8A4D465983F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157908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EBE5574-73A4-417C-A444-6EBEDC41412E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943955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EBC2AC-C0F2-4C49-ABEC-1A6E1F85B1CA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828889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1FD397A-C6BE-4A42-8E84-6E8FB66C3D4B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2807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0DA580-7C8C-45C0-8F0E-BB506CA471CE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281874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9D8288-945E-4DDC-AF61-B2B73F98193A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933309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E6E001E-EC9E-4D88-9F3A-75DC597EBCCC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219515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9532B64-49C7-41F2-8413-B19838278082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80910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4E720D-5117-4DC9-84D4-11A71DD171BB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9278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6884E78-6B67-4966-A992-355E3B5B2323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956003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3721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3722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F2D106-F5F0-42F6-84CB-5F28C29A2AAD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753787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16A4477-9EC2-4A1E-BBA7-E8A4D465983F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386730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EBE5574-73A4-417C-A444-6EBEDC41412E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865740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EBC2AC-C0F2-4C49-ABEC-1A6E1F85B1CA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027471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1FD397A-C6BE-4A42-8E84-6E8FB66C3D4B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578152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0DA580-7C8C-45C0-8F0E-BB506CA471CE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052828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9D8288-945E-4DDC-AF61-B2B73F98193A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40448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E6E001E-EC9E-4D88-9F3A-75DC597EBCCC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052080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9532B64-49C7-41F2-8413-B19838278082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405748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4E720D-5117-4DC9-84D4-11A71DD171BB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613015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6884E78-6B67-4966-A992-355E3B5B2323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3297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36197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latin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36198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latin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36199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85B16A6-663A-4B09-BEBF-D0376BF914FA}" type="slidenum">
              <a:rPr lang="en-US" altLang="zh-CN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033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34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35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36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37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38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39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3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40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41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42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6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43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3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44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45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46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47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48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49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50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51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52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53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54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55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56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57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3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58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59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60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61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3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62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63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3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41291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l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600">
          <a:solidFill>
            <a:schemeClr val="tx1"/>
          </a:solidFill>
          <a:latin typeface="+mn-lt"/>
          <a:ea typeface="+mn-ea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300">
          <a:solidFill>
            <a:schemeClr val="tx1"/>
          </a:solidFill>
          <a:latin typeface="+mn-lt"/>
          <a:ea typeface="+mn-ea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36197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latin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36198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latin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36199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85B16A6-663A-4B09-BEBF-D0376BF914FA}" type="slidenum">
              <a:rPr lang="en-US" altLang="zh-CN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033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34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35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36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37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38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39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3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40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41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42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6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43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3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44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45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46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47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48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49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50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51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52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53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54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55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56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57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3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58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59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60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61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3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62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63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3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94213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l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600">
          <a:solidFill>
            <a:schemeClr val="tx1"/>
          </a:solidFill>
          <a:latin typeface="+mn-lt"/>
          <a:ea typeface="+mn-ea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300">
          <a:solidFill>
            <a:schemeClr val="tx1"/>
          </a:solidFill>
          <a:latin typeface="+mn-lt"/>
          <a:ea typeface="+mn-ea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36197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latin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36198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latin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36199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85B16A6-663A-4B09-BEBF-D0376BF914FA}" type="slidenum">
              <a:rPr lang="en-US" altLang="zh-CN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033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34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35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36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37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38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39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3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40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41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42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6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43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3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44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45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46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47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48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49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50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51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52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53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54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55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56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57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3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58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59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60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61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3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62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63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3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232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l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600">
          <a:solidFill>
            <a:schemeClr val="tx1"/>
          </a:solidFill>
          <a:latin typeface="+mn-lt"/>
          <a:ea typeface="+mn-ea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300">
          <a:solidFill>
            <a:schemeClr val="tx1"/>
          </a:solidFill>
          <a:latin typeface="+mn-lt"/>
          <a:ea typeface="+mn-ea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36197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latin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36198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latin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36199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85B16A6-663A-4B09-BEBF-D0376BF914FA}" type="slidenum">
              <a:rPr lang="en-US" altLang="zh-CN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033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34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35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36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37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38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39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3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40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41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42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6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43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3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44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45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46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47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48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49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50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51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52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53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54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55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56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57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3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58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59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60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61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3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62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63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3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02417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l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600">
          <a:solidFill>
            <a:schemeClr val="tx1"/>
          </a:solidFill>
          <a:latin typeface="+mn-lt"/>
          <a:ea typeface="+mn-ea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300">
          <a:solidFill>
            <a:schemeClr val="tx1"/>
          </a:solidFill>
          <a:latin typeface="+mn-lt"/>
          <a:ea typeface="+mn-ea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36197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latin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36198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latin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36199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85B16A6-663A-4B09-BEBF-D0376BF914FA}" type="slidenum">
              <a:rPr lang="en-US" altLang="zh-CN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033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34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35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36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37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38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39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3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40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41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42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6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43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3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44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45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46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47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48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49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50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51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52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53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54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55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56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57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3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58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59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60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61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3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62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63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3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29872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l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600">
          <a:solidFill>
            <a:schemeClr val="tx1"/>
          </a:solidFill>
          <a:latin typeface="+mn-lt"/>
          <a:ea typeface="+mn-ea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300">
          <a:solidFill>
            <a:schemeClr val="tx1"/>
          </a:solidFill>
          <a:latin typeface="+mn-lt"/>
          <a:ea typeface="+mn-ea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6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836712"/>
            <a:ext cx="8352928" cy="5544616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第一章 作业题</a:t>
            </a:r>
          </a:p>
          <a:p>
            <a:pPr marL="0" indent="0">
              <a:buNone/>
            </a:pPr>
            <a:r>
              <a:rPr lang="en-US" altLang="zh-CN" dirty="0"/>
              <a:t>1.</a:t>
            </a:r>
            <a:r>
              <a:rPr lang="zh-CN" altLang="en-US" dirty="0"/>
              <a:t>简述 存储程序 式计算机的特点。</a:t>
            </a:r>
          </a:p>
          <a:p>
            <a:pPr marL="0" indent="0">
              <a:buNone/>
            </a:pPr>
            <a:r>
              <a:rPr lang="en-US" altLang="zh-CN" dirty="0"/>
              <a:t>2.</a:t>
            </a:r>
            <a:r>
              <a:rPr lang="zh-CN" altLang="en-US" dirty="0"/>
              <a:t>简述存储程序式计算机的各个部件的作用。</a:t>
            </a:r>
          </a:p>
          <a:p>
            <a:pPr marL="0" indent="0">
              <a:buNone/>
            </a:pPr>
            <a:r>
              <a:rPr lang="en-US" altLang="zh-CN" dirty="0"/>
              <a:t>3.</a:t>
            </a:r>
            <a:r>
              <a:rPr lang="zh-CN" altLang="en-US" dirty="0"/>
              <a:t>控制器主要包含哪几个组成部件，各有什么作用。</a:t>
            </a:r>
          </a:p>
          <a:p>
            <a:pPr marL="0" indent="0">
              <a:buNone/>
            </a:pPr>
            <a:r>
              <a:rPr lang="en-US" altLang="zh-CN" dirty="0"/>
              <a:t>4.</a:t>
            </a:r>
            <a:r>
              <a:rPr lang="zh-CN" altLang="en-US" dirty="0"/>
              <a:t>主存储器主要包含哪几个组成部分，各有什么作用。</a:t>
            </a:r>
          </a:p>
          <a:p>
            <a:pPr marL="0" indent="0">
              <a:buNone/>
            </a:pPr>
            <a:r>
              <a:rPr lang="en-US" altLang="zh-CN" dirty="0"/>
              <a:t>5.</a:t>
            </a:r>
            <a:r>
              <a:rPr lang="zh-CN" altLang="en-US" dirty="0"/>
              <a:t>什么是存储字长，什么是机器字长，字长与什么寄存器有关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42196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1474788" y="2149473"/>
            <a:ext cx="6415087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CN" sz="2500" b="1" dirty="0">
                <a:solidFill>
                  <a:srgbClr val="000000"/>
                </a:solidFill>
                <a:latin typeface="Times New Roman" pitchFamily="18" charset="0"/>
              </a:rPr>
              <a:t>1.</a:t>
            </a:r>
            <a:r>
              <a:rPr kumimoji="1" lang="en-US" altLang="zh-CN" sz="2500" b="1" dirty="0">
                <a:solidFill>
                  <a:srgbClr val="000000"/>
                </a:solidFill>
                <a:latin typeface="宋体" pitchFamily="2" charset="-122"/>
              </a:rPr>
              <a:t> </a:t>
            </a:r>
            <a:r>
              <a:rPr kumimoji="1" lang="zh-CN" altLang="en-US" sz="2500" b="1" dirty="0">
                <a:solidFill>
                  <a:srgbClr val="000000"/>
                </a:solidFill>
                <a:latin typeface="宋体" pitchFamily="2" charset="-122"/>
              </a:rPr>
              <a:t>计算机由运算器、存储器、控制器、输入设备和输出设备五大部件组成</a:t>
            </a:r>
          </a:p>
        </p:txBody>
      </p:sp>
      <p:sp>
        <p:nvSpPr>
          <p:cNvPr id="14340" name="Text Box 4"/>
          <p:cNvSpPr txBox="1">
            <a:spLocks noChangeArrowheads="1"/>
          </p:cNvSpPr>
          <p:nvPr/>
        </p:nvSpPr>
        <p:spPr bwMode="auto">
          <a:xfrm>
            <a:off x="1474788" y="3879850"/>
            <a:ext cx="656590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CN" sz="2500" b="1" dirty="0">
                <a:solidFill>
                  <a:srgbClr val="000000"/>
                </a:solidFill>
                <a:latin typeface="Times New Roman" pitchFamily="18" charset="0"/>
              </a:rPr>
              <a:t>3.</a:t>
            </a:r>
            <a:r>
              <a:rPr kumimoji="1" lang="en-US" altLang="zh-CN" sz="2500" b="1" dirty="0">
                <a:solidFill>
                  <a:srgbClr val="000000"/>
                </a:solidFill>
                <a:latin typeface="宋体" pitchFamily="2" charset="-122"/>
              </a:rPr>
              <a:t> </a:t>
            </a:r>
            <a:r>
              <a:rPr kumimoji="1" lang="zh-CN" altLang="en-US" sz="2500" b="1" dirty="0">
                <a:solidFill>
                  <a:srgbClr val="000000"/>
                </a:solidFill>
                <a:latin typeface="宋体" pitchFamily="2" charset="-122"/>
              </a:rPr>
              <a:t>指令和数据均用二进制表示</a:t>
            </a:r>
          </a:p>
        </p:txBody>
      </p:sp>
      <p:sp>
        <p:nvSpPr>
          <p:cNvPr id="14341" name="Text Box 5"/>
          <p:cNvSpPr txBox="1">
            <a:spLocks noChangeArrowheads="1"/>
          </p:cNvSpPr>
          <p:nvPr/>
        </p:nvSpPr>
        <p:spPr bwMode="auto">
          <a:xfrm>
            <a:off x="1420813" y="4378325"/>
            <a:ext cx="7010400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CN" sz="2500" b="1">
                <a:solidFill>
                  <a:srgbClr val="000000"/>
                </a:solidFill>
                <a:latin typeface="Times New Roman" pitchFamily="18" charset="0"/>
              </a:rPr>
              <a:t>4.</a:t>
            </a:r>
            <a:r>
              <a:rPr kumimoji="1" lang="en-US" altLang="zh-CN" sz="2500" b="1">
                <a:solidFill>
                  <a:srgbClr val="000000"/>
                </a:solidFill>
                <a:latin typeface="宋体" pitchFamily="2" charset="-122"/>
              </a:rPr>
              <a:t> </a:t>
            </a:r>
            <a:r>
              <a:rPr kumimoji="1" lang="zh-CN" altLang="en-US" sz="2500" b="1">
                <a:solidFill>
                  <a:srgbClr val="000000"/>
                </a:solidFill>
                <a:latin typeface="宋体" pitchFamily="2" charset="-122"/>
              </a:rPr>
              <a:t>指令由操作码和地址码组成，操作码表示操作的性质，地址码表示操作数在存储器中的位置</a:t>
            </a:r>
          </a:p>
        </p:txBody>
      </p:sp>
      <p:sp>
        <p:nvSpPr>
          <p:cNvPr id="14342" name="Text Box 6"/>
          <p:cNvSpPr txBox="1">
            <a:spLocks noChangeArrowheads="1"/>
          </p:cNvSpPr>
          <p:nvPr/>
        </p:nvSpPr>
        <p:spPr bwMode="auto">
          <a:xfrm>
            <a:off x="1433513" y="5821363"/>
            <a:ext cx="7099300" cy="86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CN" sz="2500" b="1">
                <a:solidFill>
                  <a:srgbClr val="000000"/>
                </a:solidFill>
                <a:latin typeface="Times New Roman" pitchFamily="18" charset="0"/>
              </a:rPr>
              <a:t>6.</a:t>
            </a:r>
            <a:r>
              <a:rPr kumimoji="1" lang="en-US" altLang="zh-CN" sz="2500" b="1">
                <a:solidFill>
                  <a:srgbClr val="000000"/>
                </a:solidFill>
                <a:latin typeface="宋体" pitchFamily="2" charset="-122"/>
              </a:rPr>
              <a:t> </a:t>
            </a:r>
            <a:r>
              <a:rPr kumimoji="1" lang="zh-CN" altLang="en-US" sz="2500" b="1">
                <a:solidFill>
                  <a:srgbClr val="000000"/>
                </a:solidFill>
                <a:latin typeface="宋体" pitchFamily="2" charset="-122"/>
              </a:rPr>
              <a:t>以运算器为中心，存储器和输入输出设备之间的数据传送经由运算器</a:t>
            </a:r>
          </a:p>
        </p:txBody>
      </p:sp>
      <p:sp>
        <p:nvSpPr>
          <p:cNvPr id="13323" name="Text Box 8"/>
          <p:cNvSpPr txBox="1">
            <a:spLocks noChangeArrowheads="1"/>
          </p:cNvSpPr>
          <p:nvPr/>
        </p:nvSpPr>
        <p:spPr bwMode="auto">
          <a:xfrm>
            <a:off x="1420813" y="3011488"/>
            <a:ext cx="6808787" cy="86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CN" sz="2500" b="1" dirty="0">
                <a:solidFill>
                  <a:srgbClr val="000000"/>
                </a:solidFill>
                <a:latin typeface="Times New Roman" pitchFamily="18" charset="0"/>
              </a:rPr>
              <a:t>2.</a:t>
            </a:r>
            <a:r>
              <a:rPr kumimoji="1" lang="en-US" altLang="zh-CN" sz="2500" b="1" dirty="0">
                <a:solidFill>
                  <a:srgbClr val="000000"/>
                </a:solidFill>
                <a:latin typeface="宋体" pitchFamily="2" charset="-122"/>
              </a:rPr>
              <a:t> </a:t>
            </a:r>
            <a:r>
              <a:rPr kumimoji="1" lang="zh-CN" altLang="en-US" sz="2500" b="1" dirty="0">
                <a:solidFill>
                  <a:srgbClr val="000000"/>
                </a:solidFill>
                <a:latin typeface="宋体" pitchFamily="2" charset="-122"/>
              </a:rPr>
              <a:t>指令和数据以同等地位存放于存储器内，可按地址寻访</a:t>
            </a:r>
          </a:p>
        </p:txBody>
      </p:sp>
      <p:sp>
        <p:nvSpPr>
          <p:cNvPr id="14346" name="Text Box 10"/>
          <p:cNvSpPr txBox="1">
            <a:spLocks noChangeArrowheads="1"/>
          </p:cNvSpPr>
          <p:nvPr/>
        </p:nvSpPr>
        <p:spPr bwMode="auto">
          <a:xfrm>
            <a:off x="1420813" y="5311775"/>
            <a:ext cx="6735762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CN" sz="2500" b="1">
                <a:solidFill>
                  <a:srgbClr val="000000"/>
                </a:solidFill>
                <a:latin typeface="Times New Roman" pitchFamily="18" charset="0"/>
              </a:rPr>
              <a:t>5. </a:t>
            </a:r>
            <a:r>
              <a:rPr kumimoji="1" lang="zh-CN" altLang="en-US" sz="2500" b="1">
                <a:solidFill>
                  <a:srgbClr val="000000"/>
                </a:solidFill>
              </a:rPr>
              <a:t>指令在存储器中按顺序存放，顺序执行</a:t>
            </a:r>
          </a:p>
        </p:txBody>
      </p:sp>
      <p:sp>
        <p:nvSpPr>
          <p:cNvPr id="14347" name="Text Box 11"/>
          <p:cNvSpPr txBox="1">
            <a:spLocks noChangeArrowheads="1"/>
          </p:cNvSpPr>
          <p:nvPr/>
        </p:nvSpPr>
        <p:spPr bwMode="auto">
          <a:xfrm>
            <a:off x="619025" y="1124744"/>
            <a:ext cx="7550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669999"/>
              </a:buClr>
              <a:buSzPct val="80000"/>
              <a:buFont typeface="Wingdings" pitchFamily="2" charset="2"/>
              <a:buNone/>
            </a:pPr>
            <a:r>
              <a:rPr kumimoji="1" lang="zh-CN" altLang="en-US" sz="3500" b="1" dirty="0" smtClean="0">
                <a:solidFill>
                  <a:srgbClr val="000000"/>
                </a:solidFill>
                <a:latin typeface="宋体" pitchFamily="2" charset="-122"/>
              </a:rPr>
              <a:t>存储程序式</a:t>
            </a:r>
            <a:r>
              <a:rPr kumimoji="1" lang="zh-CN" altLang="en-US" sz="3500" b="1" dirty="0" smtClean="0">
                <a:solidFill>
                  <a:srgbClr val="000000"/>
                </a:solidFill>
                <a:latin typeface="宋体" pitchFamily="2" charset="-122"/>
              </a:rPr>
              <a:t>计算机</a:t>
            </a:r>
            <a:r>
              <a:rPr kumimoji="1" lang="zh-CN" altLang="en-US" sz="3500" b="1" dirty="0">
                <a:solidFill>
                  <a:srgbClr val="000000"/>
                </a:solidFill>
                <a:latin typeface="宋体" pitchFamily="2" charset="-122"/>
              </a:rPr>
              <a:t>的特点</a:t>
            </a:r>
          </a:p>
        </p:txBody>
      </p:sp>
      <p:sp>
        <p:nvSpPr>
          <p:cNvPr id="26634" name="AutoShape 13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2478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4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autoUpdateAnimBg="0"/>
      <p:bldP spid="14340" grpId="0" autoUpdateAnimBg="0"/>
      <p:bldP spid="14341" grpId="0" autoUpdateAnimBg="0"/>
      <p:bldP spid="14342" grpId="0" autoUpdateAnimBg="0"/>
      <p:bldP spid="13323" grpId="0"/>
      <p:bldP spid="14346" grpId="0" autoUpdateAnimBg="0"/>
      <p:bldP spid="14347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AutoShape 2"/>
          <p:cNvSpPr>
            <a:spLocks noChangeArrowheads="1"/>
          </p:cNvSpPr>
          <p:nvPr/>
        </p:nvSpPr>
        <p:spPr bwMode="auto">
          <a:xfrm>
            <a:off x="6067425" y="2100263"/>
            <a:ext cx="2897188" cy="1038225"/>
          </a:xfrm>
          <a:prstGeom prst="wedgeRoundRectCallout">
            <a:avLst>
              <a:gd name="adj1" fmla="val -63722"/>
              <a:gd name="adj2" fmla="val 87921"/>
              <a:gd name="adj3" fmla="val 16667"/>
            </a:avLst>
          </a:prstGeom>
          <a:noFill/>
          <a:ln w="2857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just" fontAlgn="base">
              <a:spcBef>
                <a:spcPct val="20000"/>
              </a:spcBef>
              <a:spcAft>
                <a:spcPct val="0"/>
              </a:spcAft>
            </a:pPr>
            <a:r>
              <a:rPr kumimoji="1" lang="zh-CN" altLang="en-US" sz="2500" b="1">
                <a:solidFill>
                  <a:srgbClr val="000000"/>
                </a:solidFill>
                <a:latin typeface="宋体" pitchFamily="2" charset="-122"/>
              </a:rPr>
              <a:t>算术、逻辑运算</a:t>
            </a:r>
            <a:endParaRPr kumimoji="1" lang="en-US" altLang="zh-CN" sz="2500" b="1">
              <a:solidFill>
                <a:srgbClr val="000000"/>
              </a:solidFill>
              <a:latin typeface="宋体" pitchFamily="2" charset="-122"/>
            </a:endParaRPr>
          </a:p>
          <a:p>
            <a:pPr algn="just" fontAlgn="base">
              <a:spcBef>
                <a:spcPct val="20000"/>
              </a:spcBef>
              <a:spcAft>
                <a:spcPct val="0"/>
              </a:spcAft>
            </a:pPr>
            <a:r>
              <a:rPr kumimoji="1" lang="zh-CN" altLang="en-US" sz="2500" b="1">
                <a:solidFill>
                  <a:srgbClr val="000000"/>
                </a:solidFill>
                <a:latin typeface="宋体" pitchFamily="2" charset="-122"/>
              </a:rPr>
              <a:t>暂存中间运算结果</a:t>
            </a:r>
          </a:p>
        </p:txBody>
      </p:sp>
      <p:sp>
        <p:nvSpPr>
          <p:cNvPr id="15363" name="AutoShape 3"/>
          <p:cNvSpPr>
            <a:spLocks noChangeArrowheads="1"/>
          </p:cNvSpPr>
          <p:nvPr/>
        </p:nvSpPr>
        <p:spPr bwMode="auto">
          <a:xfrm>
            <a:off x="901700" y="1293813"/>
            <a:ext cx="1898650" cy="1038225"/>
          </a:xfrm>
          <a:prstGeom prst="wedgeRoundRectCallout">
            <a:avLst>
              <a:gd name="adj1" fmla="val 103514"/>
              <a:gd name="adj2" fmla="val 15921"/>
              <a:gd name="adj3" fmla="val 16667"/>
            </a:avLst>
          </a:prstGeom>
          <a:noFill/>
          <a:ln w="2857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</a:pPr>
            <a:r>
              <a:rPr kumimoji="1" lang="zh-CN" altLang="en-US" sz="2500" b="1">
                <a:solidFill>
                  <a:srgbClr val="000000"/>
                </a:solidFill>
                <a:latin typeface="宋体" pitchFamily="2" charset="-122"/>
              </a:rPr>
              <a:t>存放数据</a:t>
            </a:r>
          </a:p>
          <a:p>
            <a:pPr algn="ctr" fontAlgn="base">
              <a:spcBef>
                <a:spcPct val="20000"/>
              </a:spcBef>
              <a:spcAft>
                <a:spcPct val="0"/>
              </a:spcAft>
            </a:pPr>
            <a:r>
              <a:rPr kumimoji="1" lang="zh-CN" altLang="en-US" sz="2500" b="1">
                <a:solidFill>
                  <a:srgbClr val="000000"/>
                </a:solidFill>
                <a:latin typeface="宋体" pitchFamily="2" charset="-122"/>
              </a:rPr>
              <a:t>和程序</a:t>
            </a:r>
          </a:p>
        </p:txBody>
      </p:sp>
      <p:sp>
        <p:nvSpPr>
          <p:cNvPr id="15364" name="AutoShape 4"/>
          <p:cNvSpPr>
            <a:spLocks noChangeArrowheads="1"/>
          </p:cNvSpPr>
          <p:nvPr/>
        </p:nvSpPr>
        <p:spPr bwMode="auto">
          <a:xfrm>
            <a:off x="100013" y="1520825"/>
            <a:ext cx="2989262" cy="1379538"/>
          </a:xfrm>
          <a:prstGeom prst="wedgeRoundRectCallout">
            <a:avLst>
              <a:gd name="adj1" fmla="val -7866"/>
              <a:gd name="adj2" fmla="val 88829"/>
              <a:gd name="adj3" fmla="val 16667"/>
            </a:avLst>
          </a:prstGeom>
          <a:noFill/>
          <a:ln w="2857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just" fontAlgn="base">
              <a:spcBef>
                <a:spcPct val="20000"/>
              </a:spcBef>
              <a:spcAft>
                <a:spcPct val="0"/>
              </a:spcAft>
            </a:pPr>
            <a:r>
              <a:rPr kumimoji="1" lang="zh-CN" altLang="en-US" sz="2500" b="1">
                <a:solidFill>
                  <a:srgbClr val="000000"/>
                </a:solidFill>
                <a:latin typeface="宋体" pitchFamily="2" charset="-122"/>
              </a:rPr>
              <a:t>将人熟悉的信息形式转换成机器能识别的形式</a:t>
            </a:r>
          </a:p>
        </p:txBody>
      </p:sp>
      <p:sp>
        <p:nvSpPr>
          <p:cNvPr id="15365" name="AutoShape 5"/>
          <p:cNvSpPr>
            <a:spLocks noChangeArrowheads="1"/>
          </p:cNvSpPr>
          <p:nvPr/>
        </p:nvSpPr>
        <p:spPr bwMode="auto">
          <a:xfrm>
            <a:off x="5822950" y="1781175"/>
            <a:ext cx="3221038" cy="1038225"/>
          </a:xfrm>
          <a:prstGeom prst="wedgeRoundRectCallout">
            <a:avLst>
              <a:gd name="adj1" fmla="val 7949"/>
              <a:gd name="adj2" fmla="val 96787"/>
              <a:gd name="adj3" fmla="val 16667"/>
            </a:avLst>
          </a:prstGeom>
          <a:noFill/>
          <a:ln w="2857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just" fontAlgn="base">
              <a:spcBef>
                <a:spcPct val="20000"/>
              </a:spcBef>
              <a:spcAft>
                <a:spcPct val="0"/>
              </a:spcAft>
            </a:pPr>
            <a:r>
              <a:rPr kumimoji="1" lang="zh-CN" altLang="en-US" sz="2500" b="1">
                <a:solidFill>
                  <a:srgbClr val="000000"/>
                </a:solidFill>
                <a:latin typeface="宋体" pitchFamily="2" charset="-122"/>
              </a:rPr>
              <a:t>将运算结果转换成</a:t>
            </a:r>
          </a:p>
          <a:p>
            <a:pPr algn="just" fontAlgn="base">
              <a:spcBef>
                <a:spcPct val="20000"/>
              </a:spcBef>
              <a:spcAft>
                <a:spcPct val="0"/>
              </a:spcAft>
            </a:pPr>
            <a:r>
              <a:rPr kumimoji="1" lang="zh-CN" altLang="en-US" sz="2500" b="1">
                <a:solidFill>
                  <a:srgbClr val="000000"/>
                </a:solidFill>
                <a:latin typeface="宋体" pitchFamily="2" charset="-122"/>
              </a:rPr>
              <a:t>人们熟悉的形式</a:t>
            </a:r>
          </a:p>
        </p:txBody>
      </p:sp>
      <p:sp>
        <p:nvSpPr>
          <p:cNvPr id="15366" name="AutoShape 6"/>
          <p:cNvSpPr>
            <a:spLocks noChangeArrowheads="1"/>
          </p:cNvSpPr>
          <p:nvPr/>
        </p:nvSpPr>
        <p:spPr bwMode="auto">
          <a:xfrm>
            <a:off x="5883275" y="5200650"/>
            <a:ext cx="2559050" cy="1379538"/>
          </a:xfrm>
          <a:prstGeom prst="wedgeRoundRectCallout">
            <a:avLst>
              <a:gd name="adj1" fmla="val -86370"/>
              <a:gd name="adj2" fmla="val -44208"/>
              <a:gd name="adj3" fmla="val 16667"/>
            </a:avLst>
          </a:prstGeom>
          <a:noFill/>
          <a:ln w="2857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just" fontAlgn="base">
              <a:spcBef>
                <a:spcPct val="20000"/>
              </a:spcBef>
              <a:spcAft>
                <a:spcPct val="0"/>
              </a:spcAft>
            </a:pPr>
            <a:r>
              <a:rPr kumimoji="1" lang="zh-CN" altLang="en-US" sz="2500" b="1">
                <a:solidFill>
                  <a:srgbClr val="000000"/>
                </a:solidFill>
                <a:latin typeface="宋体" pitchFamily="2" charset="-122"/>
              </a:rPr>
              <a:t>控制程序和数据的输入、运行及处理运算结果</a:t>
            </a: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457200" y="1989138"/>
            <a:ext cx="8296275" cy="3519487"/>
            <a:chOff x="288" y="1253"/>
            <a:chExt cx="4917" cy="2211"/>
          </a:xfrm>
        </p:grpSpPr>
        <p:sp>
          <p:nvSpPr>
            <p:cNvPr id="28684" name="Rectangle 10"/>
            <p:cNvSpPr>
              <a:spLocks noChangeArrowheads="1"/>
            </p:cNvSpPr>
            <p:nvPr/>
          </p:nvSpPr>
          <p:spPr bwMode="auto">
            <a:xfrm>
              <a:off x="2438" y="1253"/>
              <a:ext cx="794" cy="426"/>
            </a:xfrm>
            <a:prstGeom prst="rect">
              <a:avLst/>
            </a:prstGeom>
            <a:noFill/>
            <a:ln w="28575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8685" name="Rectangle 11"/>
            <p:cNvSpPr>
              <a:spLocks noChangeArrowheads="1"/>
            </p:cNvSpPr>
            <p:nvPr/>
          </p:nvSpPr>
          <p:spPr bwMode="auto">
            <a:xfrm>
              <a:off x="2494" y="1314"/>
              <a:ext cx="67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kumimoji="1" lang="zh-CN" altLang="en-US" sz="2800" b="1">
                  <a:solidFill>
                    <a:srgbClr val="000000"/>
                  </a:solidFill>
                  <a:latin typeface="宋体" pitchFamily="2" charset="-122"/>
                </a:rPr>
                <a:t>存储器</a:t>
              </a:r>
            </a:p>
          </p:txBody>
        </p:sp>
        <p:sp>
          <p:nvSpPr>
            <p:cNvPr id="28686" name="Rectangle 12"/>
            <p:cNvSpPr>
              <a:spLocks noChangeArrowheads="1"/>
            </p:cNvSpPr>
            <p:nvPr/>
          </p:nvSpPr>
          <p:spPr bwMode="auto">
            <a:xfrm>
              <a:off x="828" y="2115"/>
              <a:ext cx="953" cy="424"/>
            </a:xfrm>
            <a:prstGeom prst="rect">
              <a:avLst/>
            </a:prstGeom>
            <a:noFill/>
            <a:ln w="28575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8687" name="Rectangle 13"/>
            <p:cNvSpPr>
              <a:spLocks noChangeArrowheads="1"/>
            </p:cNvSpPr>
            <p:nvPr/>
          </p:nvSpPr>
          <p:spPr bwMode="auto">
            <a:xfrm>
              <a:off x="880" y="2179"/>
              <a:ext cx="86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kumimoji="1" lang="zh-CN" altLang="en-US" sz="2800" b="1">
                  <a:solidFill>
                    <a:srgbClr val="000000"/>
                  </a:solidFill>
                  <a:latin typeface="宋体" pitchFamily="2" charset="-122"/>
                </a:rPr>
                <a:t>输入设备</a:t>
              </a:r>
            </a:p>
          </p:txBody>
        </p:sp>
        <p:sp>
          <p:nvSpPr>
            <p:cNvPr id="28688" name="Rectangle 14"/>
            <p:cNvSpPr>
              <a:spLocks noChangeArrowheads="1"/>
            </p:cNvSpPr>
            <p:nvPr/>
          </p:nvSpPr>
          <p:spPr bwMode="auto">
            <a:xfrm>
              <a:off x="2425" y="2115"/>
              <a:ext cx="795" cy="424"/>
            </a:xfrm>
            <a:prstGeom prst="rect">
              <a:avLst/>
            </a:prstGeom>
            <a:noFill/>
            <a:ln w="28575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8689" name="Rectangle 15"/>
            <p:cNvSpPr>
              <a:spLocks noChangeArrowheads="1"/>
            </p:cNvSpPr>
            <p:nvPr/>
          </p:nvSpPr>
          <p:spPr bwMode="auto">
            <a:xfrm>
              <a:off x="2514" y="2179"/>
              <a:ext cx="635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kumimoji="1" lang="zh-CN" altLang="en-US" sz="2800" b="1">
                  <a:solidFill>
                    <a:srgbClr val="000000"/>
                  </a:solidFill>
                  <a:latin typeface="宋体" pitchFamily="2" charset="-122"/>
                </a:rPr>
                <a:t>运算器</a:t>
              </a:r>
            </a:p>
          </p:txBody>
        </p:sp>
        <p:sp>
          <p:nvSpPr>
            <p:cNvPr id="28690" name="Rectangle 16"/>
            <p:cNvSpPr>
              <a:spLocks noChangeArrowheads="1"/>
            </p:cNvSpPr>
            <p:nvPr/>
          </p:nvSpPr>
          <p:spPr bwMode="auto">
            <a:xfrm>
              <a:off x="2413" y="3038"/>
              <a:ext cx="794" cy="426"/>
            </a:xfrm>
            <a:prstGeom prst="rect">
              <a:avLst/>
            </a:prstGeom>
            <a:noFill/>
            <a:ln w="28575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8691" name="Rectangle 17"/>
            <p:cNvSpPr>
              <a:spLocks noChangeArrowheads="1"/>
            </p:cNvSpPr>
            <p:nvPr/>
          </p:nvSpPr>
          <p:spPr bwMode="auto">
            <a:xfrm>
              <a:off x="2480" y="3094"/>
              <a:ext cx="635" cy="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kumimoji="1" lang="zh-CN" altLang="en-US" sz="2800" b="1">
                  <a:solidFill>
                    <a:srgbClr val="000000"/>
                  </a:solidFill>
                  <a:latin typeface="宋体" pitchFamily="2" charset="-122"/>
                </a:rPr>
                <a:t>控制器</a:t>
              </a:r>
            </a:p>
          </p:txBody>
        </p:sp>
        <p:sp>
          <p:nvSpPr>
            <p:cNvPr id="28692" name="Rectangle 18"/>
            <p:cNvSpPr>
              <a:spLocks noChangeArrowheads="1"/>
            </p:cNvSpPr>
            <p:nvPr/>
          </p:nvSpPr>
          <p:spPr bwMode="auto">
            <a:xfrm>
              <a:off x="3879" y="2115"/>
              <a:ext cx="953" cy="424"/>
            </a:xfrm>
            <a:prstGeom prst="rect">
              <a:avLst/>
            </a:prstGeom>
            <a:noFill/>
            <a:ln w="28575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8693" name="Rectangle 19"/>
            <p:cNvSpPr>
              <a:spLocks noChangeArrowheads="1"/>
            </p:cNvSpPr>
            <p:nvPr/>
          </p:nvSpPr>
          <p:spPr bwMode="auto">
            <a:xfrm>
              <a:off x="3928" y="2179"/>
              <a:ext cx="847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kumimoji="1" lang="zh-CN" altLang="en-US" sz="2800" b="1">
                  <a:solidFill>
                    <a:srgbClr val="000000"/>
                  </a:solidFill>
                  <a:latin typeface="宋体" pitchFamily="2" charset="-122"/>
                </a:rPr>
                <a:t>输出设备</a:t>
              </a:r>
            </a:p>
          </p:txBody>
        </p:sp>
        <p:sp>
          <p:nvSpPr>
            <p:cNvPr id="28694" name="Freeform 20"/>
            <p:cNvSpPr>
              <a:spLocks/>
            </p:cNvSpPr>
            <p:nvPr/>
          </p:nvSpPr>
          <p:spPr bwMode="auto">
            <a:xfrm>
              <a:off x="1296" y="2543"/>
              <a:ext cx="1104" cy="721"/>
            </a:xfrm>
            <a:custGeom>
              <a:avLst/>
              <a:gdLst>
                <a:gd name="T0" fmla="*/ 0 w 1104"/>
                <a:gd name="T1" fmla="*/ 0 h 721"/>
                <a:gd name="T2" fmla="*/ 0 w 1104"/>
                <a:gd name="T3" fmla="*/ 721 h 721"/>
                <a:gd name="T4" fmla="*/ 1104 w 1104"/>
                <a:gd name="T5" fmla="*/ 721 h 721"/>
                <a:gd name="T6" fmla="*/ 0 60000 65536"/>
                <a:gd name="T7" fmla="*/ 0 60000 65536"/>
                <a:gd name="T8" fmla="*/ 0 60000 65536"/>
                <a:gd name="T9" fmla="*/ 0 w 1104"/>
                <a:gd name="T10" fmla="*/ 0 h 721"/>
                <a:gd name="T11" fmla="*/ 1104 w 1104"/>
                <a:gd name="T12" fmla="*/ 721 h 72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04" h="721">
                  <a:moveTo>
                    <a:pt x="0" y="0"/>
                  </a:moveTo>
                  <a:lnTo>
                    <a:pt x="0" y="721"/>
                  </a:lnTo>
                  <a:lnTo>
                    <a:pt x="1104" y="721"/>
                  </a:lnTo>
                </a:path>
              </a:pathLst>
            </a:custGeom>
            <a:noFill/>
            <a:ln w="38100" cap="flat" cmpd="sng">
              <a:solidFill>
                <a:schemeClr val="folHlink"/>
              </a:solidFill>
              <a:prstDash val="dash"/>
              <a:round/>
              <a:headEnd type="stealth" w="med" len="med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8695" name="Freeform 21"/>
            <p:cNvSpPr>
              <a:spLocks/>
            </p:cNvSpPr>
            <p:nvPr/>
          </p:nvSpPr>
          <p:spPr bwMode="auto">
            <a:xfrm>
              <a:off x="2194" y="1439"/>
              <a:ext cx="478" cy="1597"/>
            </a:xfrm>
            <a:custGeom>
              <a:avLst/>
              <a:gdLst>
                <a:gd name="T0" fmla="*/ 254 w 478"/>
                <a:gd name="T1" fmla="*/ 1 h 1597"/>
                <a:gd name="T2" fmla="*/ 4 w 478"/>
                <a:gd name="T3" fmla="*/ 0 h 1597"/>
                <a:gd name="T4" fmla="*/ 0 w 478"/>
                <a:gd name="T5" fmla="*/ 1355 h 1597"/>
                <a:gd name="T6" fmla="*/ 478 w 478"/>
                <a:gd name="T7" fmla="*/ 1355 h 1597"/>
                <a:gd name="T8" fmla="*/ 476 w 478"/>
                <a:gd name="T9" fmla="*/ 1597 h 159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78"/>
                <a:gd name="T16" fmla="*/ 0 h 1597"/>
                <a:gd name="T17" fmla="*/ 478 w 478"/>
                <a:gd name="T18" fmla="*/ 1597 h 159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78" h="1597">
                  <a:moveTo>
                    <a:pt x="254" y="1"/>
                  </a:moveTo>
                  <a:lnTo>
                    <a:pt x="4" y="0"/>
                  </a:lnTo>
                  <a:lnTo>
                    <a:pt x="0" y="1355"/>
                  </a:lnTo>
                  <a:lnTo>
                    <a:pt x="478" y="1355"/>
                  </a:lnTo>
                  <a:lnTo>
                    <a:pt x="476" y="1597"/>
                  </a:lnTo>
                </a:path>
              </a:pathLst>
            </a:custGeom>
            <a:noFill/>
            <a:ln w="38100" cap="flat" cmpd="sng">
              <a:solidFill>
                <a:schemeClr val="folHlink"/>
              </a:solidFill>
              <a:prstDash val="dash"/>
              <a:round/>
              <a:headEnd type="stealth" w="med" len="med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8696" name="Freeform 22"/>
            <p:cNvSpPr>
              <a:spLocks/>
            </p:cNvSpPr>
            <p:nvPr/>
          </p:nvSpPr>
          <p:spPr bwMode="auto">
            <a:xfrm>
              <a:off x="2928" y="2544"/>
              <a:ext cx="1" cy="494"/>
            </a:xfrm>
            <a:custGeom>
              <a:avLst/>
              <a:gdLst>
                <a:gd name="T0" fmla="*/ 0 w 1"/>
                <a:gd name="T1" fmla="*/ 0 h 494"/>
                <a:gd name="T2" fmla="*/ 0 w 1"/>
                <a:gd name="T3" fmla="*/ 494 h 494"/>
                <a:gd name="T4" fmla="*/ 0 60000 65536"/>
                <a:gd name="T5" fmla="*/ 0 60000 65536"/>
                <a:gd name="T6" fmla="*/ 0 w 1"/>
                <a:gd name="T7" fmla="*/ 0 h 494"/>
                <a:gd name="T8" fmla="*/ 1 w 1"/>
                <a:gd name="T9" fmla="*/ 494 h 49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94">
                  <a:moveTo>
                    <a:pt x="0" y="0"/>
                  </a:moveTo>
                  <a:lnTo>
                    <a:pt x="0" y="494"/>
                  </a:lnTo>
                </a:path>
              </a:pathLst>
            </a:custGeom>
            <a:noFill/>
            <a:ln w="38100" cap="flat" cmpd="sng">
              <a:solidFill>
                <a:schemeClr val="folHlink"/>
              </a:solidFill>
              <a:prstDash val="dash"/>
              <a:round/>
              <a:headEnd type="stealth" w="med" len="med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8697" name="Freeform 23"/>
            <p:cNvSpPr>
              <a:spLocks/>
            </p:cNvSpPr>
            <p:nvPr/>
          </p:nvSpPr>
          <p:spPr bwMode="auto">
            <a:xfrm>
              <a:off x="3210" y="2544"/>
              <a:ext cx="1110" cy="816"/>
            </a:xfrm>
            <a:custGeom>
              <a:avLst/>
              <a:gdLst>
                <a:gd name="T0" fmla="*/ 1110 w 1110"/>
                <a:gd name="T1" fmla="*/ 0 h 816"/>
                <a:gd name="T2" fmla="*/ 1110 w 1110"/>
                <a:gd name="T3" fmla="*/ 816 h 816"/>
                <a:gd name="T4" fmla="*/ 0 w 1110"/>
                <a:gd name="T5" fmla="*/ 816 h 816"/>
                <a:gd name="T6" fmla="*/ 0 60000 65536"/>
                <a:gd name="T7" fmla="*/ 0 60000 65536"/>
                <a:gd name="T8" fmla="*/ 0 60000 65536"/>
                <a:gd name="T9" fmla="*/ 0 w 1110"/>
                <a:gd name="T10" fmla="*/ 0 h 816"/>
                <a:gd name="T11" fmla="*/ 1110 w 1110"/>
                <a:gd name="T12" fmla="*/ 816 h 81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10" h="816">
                  <a:moveTo>
                    <a:pt x="1110" y="0"/>
                  </a:moveTo>
                  <a:lnTo>
                    <a:pt x="1110" y="816"/>
                  </a:lnTo>
                  <a:lnTo>
                    <a:pt x="0" y="816"/>
                  </a:lnTo>
                </a:path>
              </a:pathLst>
            </a:custGeom>
            <a:noFill/>
            <a:ln w="38100" cap="flat" cmpd="sng">
              <a:solidFill>
                <a:schemeClr val="folHlink"/>
              </a:solidFill>
              <a:prstDash val="dash"/>
              <a:round/>
              <a:headEnd type="stealth" w="med" len="med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8698" name="Freeform 24"/>
            <p:cNvSpPr>
              <a:spLocks/>
            </p:cNvSpPr>
            <p:nvPr/>
          </p:nvSpPr>
          <p:spPr bwMode="auto">
            <a:xfrm>
              <a:off x="2682" y="1677"/>
              <a:ext cx="1" cy="435"/>
            </a:xfrm>
            <a:custGeom>
              <a:avLst/>
              <a:gdLst>
                <a:gd name="T0" fmla="*/ 0 w 1"/>
                <a:gd name="T1" fmla="*/ 435 h 435"/>
                <a:gd name="T2" fmla="*/ 0 w 1"/>
                <a:gd name="T3" fmla="*/ 0 h 435"/>
                <a:gd name="T4" fmla="*/ 0 60000 65536"/>
                <a:gd name="T5" fmla="*/ 0 60000 65536"/>
                <a:gd name="T6" fmla="*/ 0 w 1"/>
                <a:gd name="T7" fmla="*/ 0 h 435"/>
                <a:gd name="T8" fmla="*/ 1 w 1"/>
                <a:gd name="T9" fmla="*/ 435 h 43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35">
                  <a:moveTo>
                    <a:pt x="0" y="435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8699" name="Freeform 25"/>
            <p:cNvSpPr>
              <a:spLocks/>
            </p:cNvSpPr>
            <p:nvPr/>
          </p:nvSpPr>
          <p:spPr bwMode="auto">
            <a:xfrm>
              <a:off x="2923" y="1680"/>
              <a:ext cx="1" cy="429"/>
            </a:xfrm>
            <a:custGeom>
              <a:avLst/>
              <a:gdLst>
                <a:gd name="T0" fmla="*/ 0 w 1"/>
                <a:gd name="T1" fmla="*/ 0 h 429"/>
                <a:gd name="T2" fmla="*/ 1 w 1"/>
                <a:gd name="T3" fmla="*/ 429 h 429"/>
                <a:gd name="T4" fmla="*/ 0 60000 65536"/>
                <a:gd name="T5" fmla="*/ 0 60000 65536"/>
                <a:gd name="T6" fmla="*/ 0 w 1"/>
                <a:gd name="T7" fmla="*/ 0 h 429"/>
                <a:gd name="T8" fmla="*/ 1 w 1"/>
                <a:gd name="T9" fmla="*/ 429 h 42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29">
                  <a:moveTo>
                    <a:pt x="0" y="0"/>
                  </a:moveTo>
                  <a:lnTo>
                    <a:pt x="1" y="429"/>
                  </a:lnTo>
                </a:path>
              </a:pathLst>
            </a:custGeom>
            <a:noFill/>
            <a:ln w="381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8700" name="Freeform 26"/>
            <p:cNvSpPr>
              <a:spLocks/>
            </p:cNvSpPr>
            <p:nvPr/>
          </p:nvSpPr>
          <p:spPr bwMode="auto">
            <a:xfrm>
              <a:off x="2921" y="1872"/>
              <a:ext cx="583" cy="1299"/>
            </a:xfrm>
            <a:custGeom>
              <a:avLst/>
              <a:gdLst>
                <a:gd name="T0" fmla="*/ 0 w 583"/>
                <a:gd name="T1" fmla="*/ 0 h 1299"/>
                <a:gd name="T2" fmla="*/ 583 w 583"/>
                <a:gd name="T3" fmla="*/ 0 h 1299"/>
                <a:gd name="T4" fmla="*/ 583 w 583"/>
                <a:gd name="T5" fmla="*/ 1296 h 1299"/>
                <a:gd name="T6" fmla="*/ 286 w 583"/>
                <a:gd name="T7" fmla="*/ 1299 h 129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3"/>
                <a:gd name="T13" fmla="*/ 0 h 1299"/>
                <a:gd name="T14" fmla="*/ 583 w 583"/>
                <a:gd name="T15" fmla="*/ 1299 h 129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3" h="1299">
                  <a:moveTo>
                    <a:pt x="0" y="0"/>
                  </a:moveTo>
                  <a:lnTo>
                    <a:pt x="583" y="0"/>
                  </a:lnTo>
                  <a:lnTo>
                    <a:pt x="583" y="1296"/>
                  </a:lnTo>
                  <a:lnTo>
                    <a:pt x="286" y="1299"/>
                  </a:lnTo>
                </a:path>
              </a:pathLst>
            </a:custGeom>
            <a:noFill/>
            <a:ln w="38100" cap="flat" cmpd="sng">
              <a:solidFill>
                <a:schemeClr val="folHlink"/>
              </a:solidFill>
              <a:prstDash val="solid"/>
              <a:round/>
              <a:headEnd type="oval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8701" name="Freeform 27"/>
            <p:cNvSpPr>
              <a:spLocks/>
            </p:cNvSpPr>
            <p:nvPr/>
          </p:nvSpPr>
          <p:spPr bwMode="auto">
            <a:xfrm>
              <a:off x="288" y="2303"/>
              <a:ext cx="536" cy="1"/>
            </a:xfrm>
            <a:custGeom>
              <a:avLst/>
              <a:gdLst>
                <a:gd name="T0" fmla="*/ 0 w 536"/>
                <a:gd name="T1" fmla="*/ 1 h 1"/>
                <a:gd name="T2" fmla="*/ 536 w 536"/>
                <a:gd name="T3" fmla="*/ 0 h 1"/>
                <a:gd name="T4" fmla="*/ 0 60000 65536"/>
                <a:gd name="T5" fmla="*/ 0 60000 65536"/>
                <a:gd name="T6" fmla="*/ 0 w 536"/>
                <a:gd name="T7" fmla="*/ 0 h 1"/>
                <a:gd name="T8" fmla="*/ 536 w 53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36" h="1">
                  <a:moveTo>
                    <a:pt x="0" y="1"/>
                  </a:moveTo>
                  <a:lnTo>
                    <a:pt x="536" y="0"/>
                  </a:lnTo>
                </a:path>
              </a:pathLst>
            </a:custGeom>
            <a:noFill/>
            <a:ln w="381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8702" name="Freeform 28"/>
            <p:cNvSpPr>
              <a:spLocks/>
            </p:cNvSpPr>
            <p:nvPr/>
          </p:nvSpPr>
          <p:spPr bwMode="auto">
            <a:xfrm>
              <a:off x="1776" y="2304"/>
              <a:ext cx="650" cy="1"/>
            </a:xfrm>
            <a:custGeom>
              <a:avLst/>
              <a:gdLst>
                <a:gd name="T0" fmla="*/ 0 w 650"/>
                <a:gd name="T1" fmla="*/ 0 h 1"/>
                <a:gd name="T2" fmla="*/ 650 w 650"/>
                <a:gd name="T3" fmla="*/ 0 h 1"/>
                <a:gd name="T4" fmla="*/ 0 60000 65536"/>
                <a:gd name="T5" fmla="*/ 0 60000 65536"/>
                <a:gd name="T6" fmla="*/ 0 w 650"/>
                <a:gd name="T7" fmla="*/ 0 h 1"/>
                <a:gd name="T8" fmla="*/ 650 w 650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650" h="1">
                  <a:moveTo>
                    <a:pt x="0" y="0"/>
                  </a:moveTo>
                  <a:lnTo>
                    <a:pt x="650" y="0"/>
                  </a:lnTo>
                </a:path>
              </a:pathLst>
            </a:custGeom>
            <a:noFill/>
            <a:ln w="381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8703" name="Freeform 29"/>
            <p:cNvSpPr>
              <a:spLocks/>
            </p:cNvSpPr>
            <p:nvPr/>
          </p:nvSpPr>
          <p:spPr bwMode="auto">
            <a:xfrm>
              <a:off x="3216" y="2304"/>
              <a:ext cx="660" cy="1"/>
            </a:xfrm>
            <a:custGeom>
              <a:avLst/>
              <a:gdLst>
                <a:gd name="T0" fmla="*/ 0 w 660"/>
                <a:gd name="T1" fmla="*/ 0 h 1"/>
                <a:gd name="T2" fmla="*/ 660 w 660"/>
                <a:gd name="T3" fmla="*/ 0 h 1"/>
                <a:gd name="T4" fmla="*/ 0 60000 65536"/>
                <a:gd name="T5" fmla="*/ 0 60000 65536"/>
                <a:gd name="T6" fmla="*/ 0 w 660"/>
                <a:gd name="T7" fmla="*/ 0 h 1"/>
                <a:gd name="T8" fmla="*/ 660 w 660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660" h="1">
                  <a:moveTo>
                    <a:pt x="0" y="0"/>
                  </a:moveTo>
                  <a:lnTo>
                    <a:pt x="660" y="0"/>
                  </a:lnTo>
                </a:path>
              </a:pathLst>
            </a:custGeom>
            <a:noFill/>
            <a:ln w="381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8704" name="Freeform 30"/>
            <p:cNvSpPr>
              <a:spLocks/>
            </p:cNvSpPr>
            <p:nvPr/>
          </p:nvSpPr>
          <p:spPr bwMode="auto">
            <a:xfrm>
              <a:off x="4837" y="2304"/>
              <a:ext cx="368" cy="1"/>
            </a:xfrm>
            <a:custGeom>
              <a:avLst/>
              <a:gdLst>
                <a:gd name="T0" fmla="*/ 0 w 368"/>
                <a:gd name="T1" fmla="*/ 0 h 1"/>
                <a:gd name="T2" fmla="*/ 368 w 368"/>
                <a:gd name="T3" fmla="*/ 0 h 1"/>
                <a:gd name="T4" fmla="*/ 0 60000 65536"/>
                <a:gd name="T5" fmla="*/ 0 60000 65536"/>
                <a:gd name="T6" fmla="*/ 0 w 368"/>
                <a:gd name="T7" fmla="*/ 0 h 1"/>
                <a:gd name="T8" fmla="*/ 368 w 368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8" h="1">
                  <a:moveTo>
                    <a:pt x="0" y="0"/>
                  </a:moveTo>
                  <a:lnTo>
                    <a:pt x="368" y="0"/>
                  </a:lnTo>
                </a:path>
              </a:pathLst>
            </a:custGeom>
            <a:noFill/>
            <a:ln w="381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</p:grpSp>
      <p:sp>
        <p:nvSpPr>
          <p:cNvPr id="28682" name="AutoShape 31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9774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 animBg="1" autoUpdateAnimBg="0"/>
      <p:bldP spid="15363" grpId="0" animBg="1" autoUpdateAnimBg="0"/>
      <p:bldP spid="15364" grpId="0" animBg="1" autoUpdateAnimBg="0"/>
      <p:bldP spid="15365" grpId="0" animBg="1" autoUpdateAnimBg="0"/>
      <p:bldP spid="15366" grpId="0" animBg="1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2"/>
          <p:cNvSpPr txBox="1">
            <a:spLocks noChangeArrowheads="1"/>
          </p:cNvSpPr>
          <p:nvPr/>
        </p:nvSpPr>
        <p:spPr bwMode="auto">
          <a:xfrm>
            <a:off x="4035425" y="1628775"/>
            <a:ext cx="18319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latin typeface="宋体" pitchFamily="2" charset="-122"/>
              </a:rPr>
              <a:t>取指令</a:t>
            </a:r>
          </a:p>
        </p:txBody>
      </p:sp>
      <p:sp>
        <p:nvSpPr>
          <p:cNvPr id="30723" name="Text Box 3"/>
          <p:cNvSpPr txBox="1">
            <a:spLocks noChangeArrowheads="1"/>
          </p:cNvSpPr>
          <p:nvPr/>
        </p:nvSpPr>
        <p:spPr bwMode="auto">
          <a:xfrm>
            <a:off x="4035425" y="2252663"/>
            <a:ext cx="19431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latin typeface="宋体" pitchFamily="2" charset="-122"/>
              </a:rPr>
              <a:t>分析指令</a:t>
            </a:r>
          </a:p>
        </p:txBody>
      </p:sp>
      <p:sp>
        <p:nvSpPr>
          <p:cNvPr id="30724" name="Text Box 4"/>
          <p:cNvSpPr txBox="1">
            <a:spLocks noChangeArrowheads="1"/>
          </p:cNvSpPr>
          <p:nvPr/>
        </p:nvSpPr>
        <p:spPr bwMode="auto">
          <a:xfrm>
            <a:off x="4035425" y="2847975"/>
            <a:ext cx="18669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latin typeface="宋体" pitchFamily="2" charset="-122"/>
              </a:rPr>
              <a:t>执行指令</a:t>
            </a:r>
          </a:p>
        </p:txBody>
      </p:sp>
      <p:sp>
        <p:nvSpPr>
          <p:cNvPr id="30725" name="Text Box 5"/>
          <p:cNvSpPr txBox="1">
            <a:spLocks noChangeArrowheads="1"/>
          </p:cNvSpPr>
          <p:nvPr/>
        </p:nvSpPr>
        <p:spPr bwMode="auto">
          <a:xfrm>
            <a:off x="5911850" y="1651000"/>
            <a:ext cx="6588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D8D8EC"/>
                </a:solidFill>
                <a:latin typeface="Times New Roman" pitchFamily="18" charset="0"/>
              </a:rPr>
              <a:t>PC</a:t>
            </a:r>
            <a:endParaRPr kumimoji="1" lang="en-US" altLang="zh-CN" sz="28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30726" name="Text Box 6"/>
          <p:cNvSpPr txBox="1">
            <a:spLocks noChangeArrowheads="1"/>
          </p:cNvSpPr>
          <p:nvPr/>
        </p:nvSpPr>
        <p:spPr bwMode="auto">
          <a:xfrm>
            <a:off x="5949950" y="2274888"/>
            <a:ext cx="5794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D8D8EC"/>
                </a:solidFill>
                <a:latin typeface="Times New Roman" pitchFamily="18" charset="0"/>
              </a:rPr>
              <a:t>IR</a:t>
            </a:r>
          </a:p>
        </p:txBody>
      </p:sp>
      <p:sp>
        <p:nvSpPr>
          <p:cNvPr id="30727" name="Text Box 7"/>
          <p:cNvSpPr txBox="1">
            <a:spLocks noChangeArrowheads="1"/>
          </p:cNvSpPr>
          <p:nvPr/>
        </p:nvSpPr>
        <p:spPr bwMode="auto">
          <a:xfrm>
            <a:off x="5891213" y="2870200"/>
            <a:ext cx="6985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D8D8EC"/>
                </a:solidFill>
                <a:latin typeface="Times New Roman" pitchFamily="18" charset="0"/>
              </a:rPr>
              <a:t>CU</a:t>
            </a:r>
            <a:endParaRPr kumimoji="1" lang="en-US" altLang="zh-CN" sz="28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30728" name="AutoShape 8"/>
          <p:cNvSpPr>
            <a:spLocks/>
          </p:cNvSpPr>
          <p:nvPr/>
        </p:nvSpPr>
        <p:spPr bwMode="auto">
          <a:xfrm>
            <a:off x="6705600" y="1811338"/>
            <a:ext cx="152400" cy="838200"/>
          </a:xfrm>
          <a:prstGeom prst="rightBrace">
            <a:avLst>
              <a:gd name="adj1" fmla="val 45833"/>
              <a:gd name="adj2" fmla="val 50000"/>
            </a:avLst>
          </a:prstGeom>
          <a:noFill/>
          <a:ln w="381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0729" name="Text Box 9"/>
          <p:cNvSpPr txBox="1">
            <a:spLocks noChangeArrowheads="1"/>
          </p:cNvSpPr>
          <p:nvPr/>
        </p:nvSpPr>
        <p:spPr bwMode="auto">
          <a:xfrm>
            <a:off x="6934200" y="1957388"/>
            <a:ext cx="12795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latin typeface="宋体" pitchFamily="2" charset="-122"/>
              </a:rPr>
              <a:t>取指</a:t>
            </a:r>
          </a:p>
        </p:txBody>
      </p:sp>
      <p:sp>
        <p:nvSpPr>
          <p:cNvPr id="30730" name="Text Box 10"/>
          <p:cNvSpPr txBox="1">
            <a:spLocks noChangeArrowheads="1"/>
          </p:cNvSpPr>
          <p:nvPr/>
        </p:nvSpPr>
        <p:spPr bwMode="auto">
          <a:xfrm>
            <a:off x="6934200" y="2847975"/>
            <a:ext cx="129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latin typeface="宋体" pitchFamily="2" charset="-122"/>
              </a:rPr>
              <a:t>执行</a:t>
            </a: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3451225" y="3592513"/>
            <a:ext cx="6340475" cy="1031875"/>
            <a:chOff x="2220" y="2518"/>
            <a:chExt cx="3994" cy="650"/>
          </a:xfrm>
        </p:grpSpPr>
        <p:sp>
          <p:nvSpPr>
            <p:cNvPr id="60443" name="Text Box 12"/>
            <p:cNvSpPr txBox="1">
              <a:spLocks noChangeArrowheads="1"/>
            </p:cNvSpPr>
            <p:nvPr/>
          </p:nvSpPr>
          <p:spPr bwMode="auto">
            <a:xfrm>
              <a:off x="2220" y="2518"/>
              <a:ext cx="3994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fontAlgn="base">
                <a:spcBef>
                  <a:spcPct val="20000"/>
                </a:spcBef>
                <a:spcAft>
                  <a:spcPct val="0"/>
                </a:spcAft>
              </a:pPr>
              <a:r>
                <a:rPr kumimoji="1" lang="en-US" altLang="zh-CN" sz="2800" b="1">
                  <a:solidFill>
                    <a:srgbClr val="000000"/>
                  </a:solidFill>
                  <a:latin typeface="Times New Roman" pitchFamily="18" charset="0"/>
                </a:rPr>
                <a:t>PC</a:t>
              </a:r>
              <a:r>
                <a:rPr kumimoji="1" lang="en-US" altLang="zh-CN" sz="2800" b="1">
                  <a:solidFill>
                    <a:srgbClr val="000000"/>
                  </a:solidFill>
                  <a:latin typeface="宋体" pitchFamily="2" charset="-122"/>
                </a:rPr>
                <a:t> </a:t>
              </a:r>
              <a:r>
                <a:rPr kumimoji="1" lang="zh-CN" altLang="en-US" sz="2800" b="1">
                  <a:solidFill>
                    <a:srgbClr val="000000"/>
                  </a:solidFill>
                  <a:latin typeface="宋体" pitchFamily="2" charset="-122"/>
                </a:rPr>
                <a:t>存放当前欲执行指令的地址，</a:t>
              </a:r>
            </a:p>
            <a:p>
              <a:pPr fontAlgn="base">
                <a:spcBef>
                  <a:spcPct val="20000"/>
                </a:spcBef>
                <a:spcAft>
                  <a:spcPct val="0"/>
                </a:spcAft>
              </a:pPr>
              <a:r>
                <a:rPr kumimoji="1" lang="zh-CN" altLang="en-US" sz="2800" b="1">
                  <a:solidFill>
                    <a:srgbClr val="000000"/>
                  </a:solidFill>
                  <a:latin typeface="宋体" pitchFamily="2" charset="-122"/>
                </a:rPr>
                <a:t>   </a:t>
              </a:r>
              <a:r>
                <a:rPr kumimoji="1" lang="zh-CN" altLang="en-US" sz="900" b="1">
                  <a:solidFill>
                    <a:srgbClr val="000000"/>
                  </a:solidFill>
                  <a:latin typeface="宋体" pitchFamily="2" charset="-122"/>
                </a:rPr>
                <a:t> </a:t>
              </a:r>
              <a:r>
                <a:rPr kumimoji="1" lang="zh-CN" altLang="en-US" sz="2800" b="1">
                  <a:solidFill>
                    <a:srgbClr val="000000"/>
                  </a:solidFill>
                  <a:latin typeface="宋体" pitchFamily="2" charset="-122"/>
                </a:rPr>
                <a:t>具有计数功能（</a:t>
              </a:r>
              <a:r>
                <a:rPr kumimoji="1" lang="en-US" altLang="zh-CN" sz="2800" b="1">
                  <a:solidFill>
                    <a:srgbClr val="000000"/>
                  </a:solidFill>
                  <a:latin typeface="Times New Roman" pitchFamily="18" charset="0"/>
                </a:rPr>
                <a:t>PC</a:t>
              </a:r>
              <a:r>
                <a:rPr kumimoji="1" lang="zh-CN" altLang="en-US" sz="2800" b="1">
                  <a:solidFill>
                    <a:srgbClr val="000000"/>
                  </a:solidFill>
                  <a:latin typeface="宋体" pitchFamily="2" charset="-122"/>
                </a:rPr>
                <a:t>）</a:t>
              </a:r>
              <a:r>
                <a:rPr kumimoji="1" lang="en-US" altLang="zh-CN" sz="2800" b="1">
                  <a:solidFill>
                    <a:srgbClr val="000000"/>
                  </a:solidFill>
                  <a:latin typeface="宋体" pitchFamily="2" charset="-122"/>
                </a:rPr>
                <a:t>+</a:t>
              </a:r>
              <a:r>
                <a:rPr kumimoji="1" lang="en-US" altLang="zh-CN" sz="900" b="1">
                  <a:solidFill>
                    <a:srgbClr val="000000"/>
                  </a:solidFill>
                  <a:latin typeface="宋体" pitchFamily="2" charset="-122"/>
                </a:rPr>
                <a:t> </a:t>
              </a:r>
              <a:r>
                <a:rPr kumimoji="1" lang="en-US" altLang="zh-CN" sz="2800" b="1">
                  <a:solidFill>
                    <a:srgbClr val="000000"/>
                  </a:solidFill>
                  <a:latin typeface="宋体" pitchFamily="2" charset="-122"/>
                </a:rPr>
                <a:t>1   </a:t>
              </a:r>
              <a:r>
                <a:rPr kumimoji="1" lang="en-US" altLang="zh-CN" sz="2800" b="1">
                  <a:solidFill>
                    <a:srgbClr val="000000"/>
                  </a:solidFill>
                  <a:latin typeface="Times New Roman" pitchFamily="18" charset="0"/>
                </a:rPr>
                <a:t>PC</a:t>
              </a:r>
            </a:p>
          </p:txBody>
        </p:sp>
        <p:sp>
          <p:nvSpPr>
            <p:cNvPr id="60444" name="Line 13"/>
            <p:cNvSpPr>
              <a:spLocks noChangeShapeType="1"/>
            </p:cNvSpPr>
            <p:nvPr/>
          </p:nvSpPr>
          <p:spPr bwMode="auto">
            <a:xfrm>
              <a:off x="5028" y="3120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</p:grpSp>
      <p:sp>
        <p:nvSpPr>
          <p:cNvPr id="30734" name="Text Box 14"/>
          <p:cNvSpPr txBox="1">
            <a:spLocks noChangeArrowheads="1"/>
          </p:cNvSpPr>
          <p:nvPr/>
        </p:nvSpPr>
        <p:spPr bwMode="auto">
          <a:xfrm>
            <a:off x="3471863" y="4794250"/>
            <a:ext cx="51181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itchFamily="18" charset="0"/>
              </a:rPr>
              <a:t>IR</a:t>
            </a:r>
            <a:r>
              <a:rPr kumimoji="1" lang="en-US" altLang="zh-CN" sz="2800" b="1">
                <a:solidFill>
                  <a:srgbClr val="000000"/>
                </a:solidFill>
                <a:latin typeface="宋体" pitchFamily="2" charset="-122"/>
              </a:rPr>
              <a:t> </a:t>
            </a:r>
            <a:r>
              <a:rPr kumimoji="1" lang="zh-CN" altLang="en-US" sz="2800" b="1">
                <a:solidFill>
                  <a:srgbClr val="000000"/>
                </a:solidFill>
                <a:latin typeface="宋体" pitchFamily="2" charset="-122"/>
              </a:rPr>
              <a:t>存放当前欲执行的指令</a:t>
            </a:r>
          </a:p>
        </p:txBody>
      </p:sp>
      <p:sp>
        <p:nvSpPr>
          <p:cNvPr id="30735" name="Text Box 15"/>
          <p:cNvSpPr txBox="1">
            <a:spLocks noChangeArrowheads="1"/>
          </p:cNvSpPr>
          <p:nvPr/>
        </p:nvSpPr>
        <p:spPr bwMode="auto">
          <a:xfrm>
            <a:off x="7861300" y="2847975"/>
            <a:ext cx="12827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latin typeface="宋体" pitchFamily="2" charset="-122"/>
              </a:rPr>
              <a:t>访存</a:t>
            </a:r>
          </a:p>
        </p:txBody>
      </p:sp>
      <p:sp>
        <p:nvSpPr>
          <p:cNvPr id="30736" name="Text Box 16"/>
          <p:cNvSpPr txBox="1">
            <a:spLocks noChangeArrowheads="1"/>
          </p:cNvSpPr>
          <p:nvPr/>
        </p:nvSpPr>
        <p:spPr bwMode="auto">
          <a:xfrm>
            <a:off x="7861300" y="1957388"/>
            <a:ext cx="1244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latin typeface="宋体" pitchFamily="2" charset="-122"/>
              </a:rPr>
              <a:t>访存</a:t>
            </a:r>
          </a:p>
        </p:txBody>
      </p:sp>
      <p:sp>
        <p:nvSpPr>
          <p:cNvPr id="30737" name="AutoShape 17"/>
          <p:cNvSpPr>
            <a:spLocks/>
          </p:cNvSpPr>
          <p:nvPr/>
        </p:nvSpPr>
        <p:spPr bwMode="auto">
          <a:xfrm>
            <a:off x="3738563" y="1804988"/>
            <a:ext cx="228600" cy="1371600"/>
          </a:xfrm>
          <a:prstGeom prst="leftBrace">
            <a:avLst>
              <a:gd name="adj1" fmla="val 50000"/>
              <a:gd name="adj2" fmla="val 50000"/>
            </a:avLst>
          </a:prstGeom>
          <a:noFill/>
          <a:ln w="381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0738" name="Text Box 18"/>
          <p:cNvSpPr txBox="1">
            <a:spLocks noChangeArrowheads="1"/>
          </p:cNvSpPr>
          <p:nvPr/>
        </p:nvSpPr>
        <p:spPr bwMode="auto">
          <a:xfrm>
            <a:off x="2860675" y="1628775"/>
            <a:ext cx="901700" cy="154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2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latin typeface="宋体" pitchFamily="2" charset="-122"/>
              </a:rPr>
              <a:t>完成</a:t>
            </a:r>
          </a:p>
          <a:p>
            <a:pPr algn="ctr" fontAlgn="base">
              <a:spcBef>
                <a:spcPct val="2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latin typeface="宋体" pitchFamily="2" charset="-122"/>
              </a:rPr>
              <a:t>一条</a:t>
            </a:r>
          </a:p>
          <a:p>
            <a:pPr algn="ctr" fontAlgn="base">
              <a:spcBef>
                <a:spcPct val="2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latin typeface="宋体" pitchFamily="2" charset="-122"/>
              </a:rPr>
              <a:t>指令</a:t>
            </a:r>
          </a:p>
        </p:txBody>
      </p:sp>
      <p:sp>
        <p:nvSpPr>
          <p:cNvPr id="30741" name="Text Box 21"/>
          <p:cNvSpPr txBox="1">
            <a:spLocks noChangeArrowheads="1"/>
          </p:cNvSpPr>
          <p:nvPr/>
        </p:nvSpPr>
        <p:spPr bwMode="auto">
          <a:xfrm>
            <a:off x="704850" y="5562600"/>
            <a:ext cx="77978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itchFamily="18" charset="0"/>
              </a:rPr>
              <a:t>CU</a:t>
            </a:r>
            <a:r>
              <a:rPr kumimoji="1" lang="en-US" altLang="zh-CN" sz="2800" b="1">
                <a:solidFill>
                  <a:srgbClr val="000000"/>
                </a:solidFill>
                <a:latin typeface="宋体" pitchFamily="2" charset="-122"/>
              </a:rPr>
              <a:t> </a:t>
            </a:r>
            <a:r>
              <a:rPr kumimoji="1" lang="zh-CN" altLang="en-US" sz="2800" b="1">
                <a:solidFill>
                  <a:srgbClr val="000000"/>
                </a:solidFill>
                <a:latin typeface="宋体" pitchFamily="2" charset="-122"/>
              </a:rPr>
              <a:t>控制单元： 分析当前指令，发出各种微操作命令序列，以控制所有被控对象</a:t>
            </a:r>
          </a:p>
        </p:txBody>
      </p:sp>
      <p:grpSp>
        <p:nvGrpSpPr>
          <p:cNvPr id="3" name="Group 22"/>
          <p:cNvGrpSpPr>
            <a:grpSpLocks/>
          </p:cNvGrpSpPr>
          <p:nvPr/>
        </p:nvGrpSpPr>
        <p:grpSpPr bwMode="auto">
          <a:xfrm>
            <a:off x="457200" y="1868488"/>
            <a:ext cx="2286000" cy="3276600"/>
            <a:chOff x="288" y="1296"/>
            <a:chExt cx="1440" cy="2064"/>
          </a:xfrm>
        </p:grpSpPr>
        <p:sp>
          <p:nvSpPr>
            <p:cNvPr id="60436" name="Rectangle 23"/>
            <p:cNvSpPr>
              <a:spLocks noChangeArrowheads="1"/>
            </p:cNvSpPr>
            <p:nvPr/>
          </p:nvSpPr>
          <p:spPr bwMode="auto">
            <a:xfrm>
              <a:off x="1104" y="2688"/>
              <a:ext cx="486" cy="332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60437" name="Rectangle 24"/>
            <p:cNvSpPr>
              <a:spLocks noChangeArrowheads="1"/>
            </p:cNvSpPr>
            <p:nvPr/>
          </p:nvSpPr>
          <p:spPr bwMode="auto">
            <a:xfrm>
              <a:off x="1200" y="2707"/>
              <a:ext cx="299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kumimoji="1" lang="en-US" altLang="zh-CN" sz="2800" b="1">
                  <a:solidFill>
                    <a:srgbClr val="000000"/>
                  </a:solidFill>
                  <a:latin typeface="Times New Roman" pitchFamily="18" charset="0"/>
                </a:rPr>
                <a:t>PC</a:t>
              </a:r>
              <a:endParaRPr kumimoji="1" lang="en-US" altLang="zh-CN" sz="2800" b="1">
                <a:solidFill>
                  <a:srgbClr val="000000"/>
                </a:solidFill>
                <a:latin typeface="宋体" pitchFamily="2" charset="-122"/>
              </a:endParaRPr>
            </a:p>
          </p:txBody>
        </p:sp>
        <p:sp>
          <p:nvSpPr>
            <p:cNvPr id="60438" name="Rectangle 25"/>
            <p:cNvSpPr>
              <a:spLocks noChangeArrowheads="1"/>
            </p:cNvSpPr>
            <p:nvPr/>
          </p:nvSpPr>
          <p:spPr bwMode="auto">
            <a:xfrm>
              <a:off x="432" y="2688"/>
              <a:ext cx="501" cy="331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60439" name="Rectangle 26"/>
            <p:cNvSpPr>
              <a:spLocks noChangeArrowheads="1"/>
            </p:cNvSpPr>
            <p:nvPr/>
          </p:nvSpPr>
          <p:spPr bwMode="auto">
            <a:xfrm>
              <a:off x="558" y="2707"/>
              <a:ext cx="249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kumimoji="1" lang="en-US" altLang="zh-CN" sz="2800" b="1">
                  <a:solidFill>
                    <a:srgbClr val="000000"/>
                  </a:solidFill>
                  <a:latin typeface="Times New Roman" pitchFamily="18" charset="0"/>
                </a:rPr>
                <a:t>IR</a:t>
              </a:r>
              <a:endParaRPr kumimoji="1" lang="en-US" altLang="zh-CN" sz="2800" b="1">
                <a:solidFill>
                  <a:srgbClr val="000000"/>
                </a:solidFill>
                <a:latin typeface="宋体" pitchFamily="2" charset="-122"/>
              </a:endParaRPr>
            </a:p>
          </p:txBody>
        </p:sp>
        <p:sp>
          <p:nvSpPr>
            <p:cNvPr id="60440" name="Rectangle 27"/>
            <p:cNvSpPr>
              <a:spLocks noChangeArrowheads="1"/>
            </p:cNvSpPr>
            <p:nvPr/>
          </p:nvSpPr>
          <p:spPr bwMode="auto">
            <a:xfrm>
              <a:off x="288" y="1296"/>
              <a:ext cx="1440" cy="2064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60441" name="Rectangle 28"/>
            <p:cNvSpPr>
              <a:spLocks noChangeArrowheads="1"/>
            </p:cNvSpPr>
            <p:nvPr/>
          </p:nvSpPr>
          <p:spPr bwMode="auto">
            <a:xfrm>
              <a:off x="542" y="1680"/>
              <a:ext cx="886" cy="528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60442" name="Text Box 29"/>
            <p:cNvSpPr txBox="1">
              <a:spLocks noChangeArrowheads="1"/>
            </p:cNvSpPr>
            <p:nvPr/>
          </p:nvSpPr>
          <p:spPr bwMode="auto">
            <a:xfrm>
              <a:off x="566" y="1756"/>
              <a:ext cx="84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kumimoji="1" lang="en-US" altLang="zh-CN" sz="3200" b="1">
                  <a:solidFill>
                    <a:srgbClr val="000000"/>
                  </a:solidFill>
                  <a:latin typeface="Times New Roman" pitchFamily="18" charset="0"/>
                </a:rPr>
                <a:t>CU</a:t>
              </a:r>
            </a:p>
          </p:txBody>
        </p:sp>
      </p:grpSp>
      <p:sp>
        <p:nvSpPr>
          <p:cNvPr id="60435" name="AutoShape 30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29" name="Text Box 20"/>
          <p:cNvSpPr txBox="1">
            <a:spLocks noChangeArrowheads="1"/>
          </p:cNvSpPr>
          <p:nvPr/>
        </p:nvSpPr>
        <p:spPr bwMode="auto">
          <a:xfrm>
            <a:off x="793750" y="409575"/>
            <a:ext cx="59118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zh-CN" altLang="en-US" sz="3600" b="1" dirty="0" smtClean="0">
                <a:solidFill>
                  <a:srgbClr val="000000"/>
                </a:solidFill>
                <a:latin typeface="宋体" pitchFamily="2" charset="-122"/>
              </a:rPr>
              <a:t>控制器</a:t>
            </a:r>
            <a:r>
              <a:rPr kumimoji="1" lang="zh-CN" altLang="en-US" sz="3600" b="1" dirty="0">
                <a:solidFill>
                  <a:srgbClr val="000000"/>
                </a:solidFill>
                <a:latin typeface="宋体" pitchFamily="2" charset="-122"/>
              </a:rPr>
              <a:t>的基本组成</a:t>
            </a:r>
          </a:p>
        </p:txBody>
      </p:sp>
    </p:spTree>
    <p:extLst>
      <p:ext uri="{BB962C8B-B14F-4D97-AF65-F5344CB8AC3E}">
        <p14:creationId xmlns:p14="http://schemas.microsoft.com/office/powerpoint/2010/main" val="2992663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1" dur="500"/>
                                        <p:tgtEl>
                                          <p:spTgt spid="30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0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0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0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0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0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30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30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30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6" dur="500"/>
                                        <p:tgtEl>
                                          <p:spTgt spid="30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30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30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30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30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2" grpId="0" autoUpdateAnimBg="0"/>
      <p:bldP spid="30723" grpId="0" autoUpdateAnimBg="0"/>
      <p:bldP spid="30724" grpId="0" autoUpdateAnimBg="0"/>
      <p:bldP spid="30725" grpId="0" autoUpdateAnimBg="0"/>
      <p:bldP spid="30726" grpId="0" autoUpdateAnimBg="0"/>
      <p:bldP spid="30728" grpId="0" animBg="1"/>
      <p:bldP spid="30729" grpId="0" autoUpdateAnimBg="0"/>
      <p:bldP spid="30730" grpId="0" autoUpdateAnimBg="0"/>
      <p:bldP spid="30734" grpId="0" autoUpdateAnimBg="0"/>
      <p:bldP spid="30735" grpId="0" autoUpdateAnimBg="0"/>
      <p:bldP spid="30736" grpId="0" autoUpdateAnimBg="0"/>
      <p:bldP spid="30737" grpId="0" animBg="1"/>
      <p:bldP spid="30738" grpId="0" autoUpdateAnimBg="0"/>
      <p:bldP spid="30741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/>
          <p:cNvSpPr txBox="1">
            <a:spLocks noChangeArrowheads="1"/>
          </p:cNvSpPr>
          <p:nvPr/>
        </p:nvSpPr>
        <p:spPr bwMode="auto">
          <a:xfrm>
            <a:off x="2879725" y="1989138"/>
            <a:ext cx="14049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latin typeface="宋体" pitchFamily="2" charset="-122"/>
              </a:rPr>
              <a:t>存储体</a:t>
            </a:r>
          </a:p>
        </p:txBody>
      </p:sp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3124200" y="2598738"/>
            <a:ext cx="11604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latin typeface="宋体" pitchFamily="2" charset="-122"/>
              </a:rPr>
              <a:t>大楼</a:t>
            </a:r>
          </a:p>
        </p:txBody>
      </p:sp>
      <p:sp>
        <p:nvSpPr>
          <p:cNvPr id="23556" name="Text Box 4"/>
          <p:cNvSpPr txBox="1">
            <a:spLocks noChangeArrowheads="1"/>
          </p:cNvSpPr>
          <p:nvPr/>
        </p:nvSpPr>
        <p:spPr bwMode="auto">
          <a:xfrm>
            <a:off x="2971800" y="3259138"/>
            <a:ext cx="57896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D8D8EC"/>
                </a:solidFill>
                <a:latin typeface="宋体" pitchFamily="2" charset="-122"/>
              </a:rPr>
              <a:t>存储单元 </a:t>
            </a:r>
            <a:r>
              <a:rPr kumimoji="1" lang="zh-CN" altLang="en-US" sz="2400" b="1">
                <a:solidFill>
                  <a:srgbClr val="000000"/>
                </a:solidFill>
                <a:latin typeface="宋体" pitchFamily="2" charset="-122"/>
              </a:rPr>
              <a:t>存放一串二进制代码</a:t>
            </a:r>
          </a:p>
        </p:txBody>
      </p:sp>
      <p:sp>
        <p:nvSpPr>
          <p:cNvPr id="23557" name="Text Box 5"/>
          <p:cNvSpPr txBox="1">
            <a:spLocks noChangeArrowheads="1"/>
          </p:cNvSpPr>
          <p:nvPr/>
        </p:nvSpPr>
        <p:spPr bwMode="auto">
          <a:xfrm>
            <a:off x="2971800" y="3963988"/>
            <a:ext cx="69754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D8D8EC"/>
                </a:solidFill>
                <a:latin typeface="宋体" pitchFamily="2" charset="-122"/>
              </a:rPr>
              <a:t>存储字   </a:t>
            </a:r>
            <a:r>
              <a:rPr kumimoji="1" lang="zh-CN" altLang="en-US" sz="2400" b="1">
                <a:solidFill>
                  <a:srgbClr val="000000"/>
                </a:solidFill>
                <a:latin typeface="宋体" pitchFamily="2" charset="-122"/>
              </a:rPr>
              <a:t>存储单元中二进制代码的组合</a:t>
            </a:r>
          </a:p>
        </p:txBody>
      </p:sp>
      <p:sp>
        <p:nvSpPr>
          <p:cNvPr id="23559" name="Text Box 7"/>
          <p:cNvSpPr txBox="1">
            <a:spLocks noChangeArrowheads="1"/>
          </p:cNvSpPr>
          <p:nvPr/>
        </p:nvSpPr>
        <p:spPr bwMode="auto">
          <a:xfrm>
            <a:off x="4613275" y="5373688"/>
            <a:ext cx="4835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00"/>
                </a:solidFill>
                <a:latin typeface="宋体" pitchFamily="2" charset="-122"/>
              </a:rPr>
              <a:t>每个存储单元赋予一个地址号</a:t>
            </a:r>
          </a:p>
        </p:txBody>
      </p:sp>
      <p:sp>
        <p:nvSpPr>
          <p:cNvPr id="23561" name="Text Box 9"/>
          <p:cNvSpPr txBox="1">
            <a:spLocks noChangeArrowheads="1"/>
          </p:cNvSpPr>
          <p:nvPr/>
        </p:nvSpPr>
        <p:spPr bwMode="auto">
          <a:xfrm>
            <a:off x="4103688" y="2011363"/>
            <a:ext cx="22685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itchFamily="18" charset="0"/>
              </a:rPr>
              <a:t>–</a:t>
            </a:r>
            <a:r>
              <a:rPr kumimoji="1" lang="en-US" altLang="zh-CN" sz="2800" b="1">
                <a:solidFill>
                  <a:srgbClr val="000000"/>
                </a:solidFill>
                <a:latin typeface="宋体" pitchFamily="2" charset="-122"/>
              </a:rPr>
              <a:t> </a:t>
            </a:r>
            <a:r>
              <a:rPr kumimoji="1" lang="zh-CN" altLang="en-US" sz="2800" b="1">
                <a:solidFill>
                  <a:srgbClr val="000000"/>
                </a:solidFill>
                <a:latin typeface="宋体" pitchFamily="2" charset="-122"/>
              </a:rPr>
              <a:t>存储单元</a:t>
            </a:r>
          </a:p>
        </p:txBody>
      </p:sp>
      <p:sp>
        <p:nvSpPr>
          <p:cNvPr id="23562" name="Text Box 10"/>
          <p:cNvSpPr txBox="1">
            <a:spLocks noChangeArrowheads="1"/>
          </p:cNvSpPr>
          <p:nvPr/>
        </p:nvSpPr>
        <p:spPr bwMode="auto">
          <a:xfrm>
            <a:off x="5995988" y="2011363"/>
            <a:ext cx="22479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itchFamily="18" charset="0"/>
              </a:rPr>
              <a:t>–</a:t>
            </a:r>
            <a:r>
              <a:rPr kumimoji="1" lang="en-US" altLang="zh-CN" sz="2800" b="1">
                <a:solidFill>
                  <a:srgbClr val="000000"/>
                </a:solidFill>
                <a:latin typeface="宋体" pitchFamily="2" charset="-122"/>
              </a:rPr>
              <a:t> </a:t>
            </a:r>
            <a:r>
              <a:rPr kumimoji="1" lang="zh-CN" altLang="en-US" sz="2800" b="1">
                <a:solidFill>
                  <a:srgbClr val="000000"/>
                </a:solidFill>
                <a:latin typeface="宋体" pitchFamily="2" charset="-122"/>
              </a:rPr>
              <a:t>存储元件</a:t>
            </a:r>
          </a:p>
        </p:txBody>
      </p:sp>
      <p:sp>
        <p:nvSpPr>
          <p:cNvPr id="23563" name="Text Box 11"/>
          <p:cNvSpPr txBox="1">
            <a:spLocks noChangeArrowheads="1"/>
          </p:cNvSpPr>
          <p:nvPr/>
        </p:nvSpPr>
        <p:spPr bwMode="auto">
          <a:xfrm>
            <a:off x="7880350" y="2032000"/>
            <a:ext cx="126365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zh-CN" altLang="en-US" sz="2200" b="1">
                <a:solidFill>
                  <a:srgbClr val="000000"/>
                </a:solidFill>
                <a:latin typeface="宋体" pitchFamily="2" charset="-122"/>
              </a:rPr>
              <a:t>（</a:t>
            </a:r>
            <a:r>
              <a:rPr kumimoji="1" lang="en-US" altLang="zh-CN" sz="2200" b="1">
                <a:solidFill>
                  <a:srgbClr val="000000"/>
                </a:solidFill>
                <a:latin typeface="Times New Roman" pitchFamily="18" charset="0"/>
              </a:rPr>
              <a:t>0/1</a:t>
            </a:r>
            <a:r>
              <a:rPr kumimoji="1" lang="zh-CN" altLang="en-US" sz="2200" b="1">
                <a:solidFill>
                  <a:srgbClr val="000000"/>
                </a:solidFill>
                <a:latin typeface="宋体" pitchFamily="2" charset="-122"/>
              </a:rPr>
              <a:t>）</a:t>
            </a:r>
          </a:p>
        </p:txBody>
      </p:sp>
      <p:sp>
        <p:nvSpPr>
          <p:cNvPr id="23564" name="Text Box 12"/>
          <p:cNvSpPr txBox="1">
            <a:spLocks noChangeArrowheads="1"/>
          </p:cNvSpPr>
          <p:nvPr/>
        </p:nvSpPr>
        <p:spPr bwMode="auto">
          <a:xfrm>
            <a:off x="4103688" y="2598738"/>
            <a:ext cx="16922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itchFamily="18" charset="0"/>
              </a:rPr>
              <a:t>–</a:t>
            </a:r>
            <a:r>
              <a:rPr kumimoji="1" lang="en-US" altLang="zh-CN" sz="2800" b="1">
                <a:solidFill>
                  <a:srgbClr val="000000"/>
                </a:solidFill>
                <a:latin typeface="宋体" pitchFamily="2" charset="-122"/>
              </a:rPr>
              <a:t>  </a:t>
            </a:r>
            <a:r>
              <a:rPr kumimoji="1" lang="en-US" altLang="zh-CN" sz="900" b="1">
                <a:solidFill>
                  <a:srgbClr val="000000"/>
                </a:solidFill>
                <a:latin typeface="宋体" pitchFamily="2" charset="-122"/>
              </a:rPr>
              <a:t> </a:t>
            </a:r>
            <a:r>
              <a:rPr kumimoji="1" lang="zh-CN" altLang="en-US" sz="2800" b="1">
                <a:solidFill>
                  <a:srgbClr val="000000"/>
                </a:solidFill>
                <a:latin typeface="宋体" pitchFamily="2" charset="-122"/>
              </a:rPr>
              <a:t>房间</a:t>
            </a:r>
          </a:p>
        </p:txBody>
      </p:sp>
      <p:sp>
        <p:nvSpPr>
          <p:cNvPr id="23565" name="Text Box 13"/>
          <p:cNvSpPr txBox="1">
            <a:spLocks noChangeArrowheads="1"/>
          </p:cNvSpPr>
          <p:nvPr/>
        </p:nvSpPr>
        <p:spPr bwMode="auto">
          <a:xfrm>
            <a:off x="5995988" y="2598738"/>
            <a:ext cx="17002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itchFamily="18" charset="0"/>
              </a:rPr>
              <a:t>–</a:t>
            </a:r>
            <a:r>
              <a:rPr kumimoji="1" lang="en-US" altLang="zh-CN" sz="2800" b="1">
                <a:solidFill>
                  <a:srgbClr val="000000"/>
                </a:solidFill>
                <a:latin typeface="宋体" pitchFamily="2" charset="-122"/>
              </a:rPr>
              <a:t> </a:t>
            </a:r>
            <a:r>
              <a:rPr kumimoji="1" lang="en-US" altLang="zh-CN" sz="900" b="1">
                <a:solidFill>
                  <a:srgbClr val="000000"/>
                </a:solidFill>
                <a:latin typeface="宋体" pitchFamily="2" charset="-122"/>
              </a:rPr>
              <a:t> </a:t>
            </a:r>
            <a:r>
              <a:rPr kumimoji="1" lang="zh-CN" altLang="en-US" sz="2800" b="1">
                <a:solidFill>
                  <a:srgbClr val="000000"/>
                </a:solidFill>
                <a:latin typeface="宋体" pitchFamily="2" charset="-122"/>
              </a:rPr>
              <a:t>床位</a:t>
            </a:r>
          </a:p>
        </p:txBody>
      </p:sp>
      <p:sp>
        <p:nvSpPr>
          <p:cNvPr id="23566" name="Text Box 14"/>
          <p:cNvSpPr txBox="1">
            <a:spLocks noChangeArrowheads="1"/>
          </p:cNvSpPr>
          <p:nvPr/>
        </p:nvSpPr>
        <p:spPr bwMode="auto">
          <a:xfrm>
            <a:off x="7158038" y="2624138"/>
            <a:ext cx="25273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zh-CN" altLang="en-US" sz="2200" b="1">
                <a:solidFill>
                  <a:srgbClr val="000000"/>
                </a:solidFill>
                <a:latin typeface="宋体" pitchFamily="2" charset="-122"/>
              </a:rPr>
              <a:t>（无人</a:t>
            </a:r>
            <a:r>
              <a:rPr kumimoji="1" lang="en-US" altLang="zh-CN" sz="2200" b="1">
                <a:solidFill>
                  <a:srgbClr val="000000"/>
                </a:solidFill>
                <a:latin typeface="宋体" pitchFamily="2" charset="-122"/>
              </a:rPr>
              <a:t>/</a:t>
            </a:r>
            <a:r>
              <a:rPr kumimoji="1" lang="en-US" altLang="zh-CN" sz="800" b="1">
                <a:solidFill>
                  <a:srgbClr val="000000"/>
                </a:solidFill>
                <a:latin typeface="宋体" pitchFamily="2" charset="-122"/>
              </a:rPr>
              <a:t> </a:t>
            </a:r>
            <a:r>
              <a:rPr kumimoji="1" lang="zh-CN" altLang="en-US" sz="2200" b="1">
                <a:solidFill>
                  <a:srgbClr val="000000"/>
                </a:solidFill>
                <a:latin typeface="宋体" pitchFamily="2" charset="-122"/>
              </a:rPr>
              <a:t>有人）</a:t>
            </a:r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457200" y="2420938"/>
            <a:ext cx="2359025" cy="3324225"/>
            <a:chOff x="288" y="1200"/>
            <a:chExt cx="1486" cy="2094"/>
          </a:xfrm>
        </p:grpSpPr>
        <p:sp>
          <p:nvSpPr>
            <p:cNvPr id="44051" name="Text Box 18"/>
            <p:cNvSpPr txBox="1">
              <a:spLocks noChangeArrowheads="1"/>
            </p:cNvSpPr>
            <p:nvPr/>
          </p:nvSpPr>
          <p:spPr bwMode="auto">
            <a:xfrm>
              <a:off x="1115" y="2327"/>
              <a:ext cx="65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defRPr sz="3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fontAlgn="base">
                <a:spcBef>
                  <a:spcPct val="20000"/>
                </a:spcBef>
                <a:spcAft>
                  <a:spcPct val="0"/>
                </a:spcAft>
              </a:pPr>
              <a:r>
                <a:rPr kumimoji="1" lang="en-US" altLang="zh-CN" sz="2800" b="1">
                  <a:solidFill>
                    <a:srgbClr val="000000"/>
                  </a:solidFill>
                  <a:latin typeface="Times New Roman" pitchFamily="18" charset="0"/>
                </a:rPr>
                <a:t>MDR</a:t>
              </a:r>
            </a:p>
          </p:txBody>
        </p:sp>
        <p:sp>
          <p:nvSpPr>
            <p:cNvPr id="44052" name="Rectangle 19"/>
            <p:cNvSpPr>
              <a:spLocks noChangeArrowheads="1"/>
            </p:cNvSpPr>
            <p:nvPr/>
          </p:nvSpPr>
          <p:spPr bwMode="auto">
            <a:xfrm>
              <a:off x="288" y="1200"/>
              <a:ext cx="1458" cy="2094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44053" name="Rectangle 20"/>
            <p:cNvSpPr>
              <a:spLocks noChangeArrowheads="1"/>
            </p:cNvSpPr>
            <p:nvPr/>
          </p:nvSpPr>
          <p:spPr bwMode="auto">
            <a:xfrm>
              <a:off x="639" y="2913"/>
              <a:ext cx="77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20000"/>
                </a:spcBef>
                <a:spcAft>
                  <a:spcPct val="0"/>
                </a:spcAft>
              </a:pPr>
              <a:r>
                <a:rPr kumimoji="1" lang="zh-CN" altLang="en-US" sz="2400" b="1">
                  <a:solidFill>
                    <a:srgbClr val="000000"/>
                  </a:solidFill>
                  <a:latin typeface="宋体" pitchFamily="2" charset="-122"/>
                </a:rPr>
                <a:t>主存储器</a:t>
              </a:r>
            </a:p>
          </p:txBody>
        </p:sp>
        <p:sp>
          <p:nvSpPr>
            <p:cNvPr id="44054" name="Text Box 21"/>
            <p:cNvSpPr txBox="1">
              <a:spLocks noChangeArrowheads="1"/>
            </p:cNvSpPr>
            <p:nvPr/>
          </p:nvSpPr>
          <p:spPr bwMode="auto">
            <a:xfrm>
              <a:off x="609" y="1533"/>
              <a:ext cx="79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fontAlgn="base">
                <a:spcBef>
                  <a:spcPct val="20000"/>
                </a:spcBef>
                <a:spcAft>
                  <a:spcPct val="0"/>
                </a:spcAft>
              </a:pPr>
              <a:r>
                <a:rPr kumimoji="1" lang="zh-CN" altLang="en-US" sz="2800" b="1">
                  <a:solidFill>
                    <a:srgbClr val="000000"/>
                  </a:solidFill>
                  <a:latin typeface="宋体" pitchFamily="2" charset="-122"/>
                </a:rPr>
                <a:t>存储体</a:t>
              </a:r>
            </a:p>
          </p:txBody>
        </p:sp>
        <p:sp>
          <p:nvSpPr>
            <p:cNvPr id="44055" name="Rectangle 22"/>
            <p:cNvSpPr>
              <a:spLocks noChangeArrowheads="1"/>
            </p:cNvSpPr>
            <p:nvPr/>
          </p:nvSpPr>
          <p:spPr bwMode="auto">
            <a:xfrm>
              <a:off x="451" y="1390"/>
              <a:ext cx="1106" cy="667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44056" name="Text Box 23"/>
            <p:cNvSpPr txBox="1">
              <a:spLocks noChangeArrowheads="1"/>
            </p:cNvSpPr>
            <p:nvPr/>
          </p:nvSpPr>
          <p:spPr bwMode="auto">
            <a:xfrm>
              <a:off x="426" y="2327"/>
              <a:ext cx="59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>
              <a:spAutoFit/>
            </a:bodyPr>
            <a:lstStyle>
              <a:lvl1pPr>
                <a:defRPr sz="3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fontAlgn="base">
                <a:spcBef>
                  <a:spcPct val="20000"/>
                </a:spcBef>
                <a:spcAft>
                  <a:spcPct val="0"/>
                </a:spcAft>
              </a:pPr>
              <a:r>
                <a:rPr kumimoji="1" lang="en-US" altLang="zh-CN" sz="2800" b="1">
                  <a:solidFill>
                    <a:srgbClr val="000000"/>
                  </a:solidFill>
                  <a:latin typeface="Times New Roman" pitchFamily="18" charset="0"/>
                </a:rPr>
                <a:t>MAR</a:t>
              </a:r>
            </a:p>
          </p:txBody>
        </p:sp>
        <p:sp>
          <p:nvSpPr>
            <p:cNvPr id="44057" name="Rectangle 24"/>
            <p:cNvSpPr>
              <a:spLocks noChangeArrowheads="1"/>
            </p:cNvSpPr>
            <p:nvPr/>
          </p:nvSpPr>
          <p:spPr bwMode="auto">
            <a:xfrm>
              <a:off x="385" y="2332"/>
              <a:ext cx="631" cy="333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44058" name="Rectangle 25"/>
            <p:cNvSpPr>
              <a:spLocks noChangeArrowheads="1"/>
            </p:cNvSpPr>
            <p:nvPr/>
          </p:nvSpPr>
          <p:spPr bwMode="auto">
            <a:xfrm>
              <a:off x="1092" y="2332"/>
              <a:ext cx="590" cy="333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</p:grpSp>
      <p:sp>
        <p:nvSpPr>
          <p:cNvPr id="44050" name="AutoShape 27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66788" y="764704"/>
            <a:ext cx="4181276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900" dirty="0" smtClean="0"/>
              <a:t>存储器的基本组成</a:t>
            </a:r>
            <a:endParaRPr lang="zh-CN" altLang="en-US" sz="2900" dirty="0"/>
          </a:p>
        </p:txBody>
      </p:sp>
    </p:spTree>
    <p:extLst>
      <p:ext uri="{BB962C8B-B14F-4D97-AF65-F5344CB8AC3E}">
        <p14:creationId xmlns:p14="http://schemas.microsoft.com/office/powerpoint/2010/main" val="3904943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2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23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23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23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23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23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23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4" grpId="0" autoUpdateAnimBg="0"/>
      <p:bldP spid="23555" grpId="0" autoUpdateAnimBg="0"/>
      <p:bldP spid="23556" grpId="0" autoUpdateAnimBg="0"/>
      <p:bldP spid="23557" grpId="0" autoUpdateAnimBg="0"/>
      <p:bldP spid="23559" grpId="0" autoUpdateAnimBg="0"/>
      <p:bldP spid="23561" grpId="0" autoUpdateAnimBg="0"/>
      <p:bldP spid="23562" grpId="0" autoUpdateAnimBg="0"/>
      <p:bldP spid="23563" grpId="0" autoUpdateAnimBg="0"/>
      <p:bldP spid="23564" grpId="0" autoUpdateAnimBg="0"/>
      <p:bldP spid="23565" grpId="0" autoUpdateAnimBg="0"/>
      <p:bldP spid="23566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4114800" y="1273175"/>
            <a:ext cx="13938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CN" sz="3200" b="1">
                <a:solidFill>
                  <a:srgbClr val="D8D8EC"/>
                </a:solidFill>
                <a:latin typeface="Times New Roman" pitchFamily="18" charset="0"/>
              </a:rPr>
              <a:t>MAR</a:t>
            </a:r>
            <a:endParaRPr kumimoji="1" lang="en-US" altLang="zh-CN" sz="32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4580" name="Text Box 4"/>
          <p:cNvSpPr txBox="1">
            <a:spLocks noChangeArrowheads="1"/>
          </p:cNvSpPr>
          <p:nvPr/>
        </p:nvSpPr>
        <p:spPr bwMode="auto">
          <a:xfrm>
            <a:off x="4114800" y="2489200"/>
            <a:ext cx="12493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CN" sz="3200" b="1">
                <a:solidFill>
                  <a:srgbClr val="D8D8EC"/>
                </a:solidFill>
                <a:latin typeface="Times New Roman" pitchFamily="18" charset="0"/>
              </a:rPr>
              <a:t>MDR</a:t>
            </a:r>
            <a:endParaRPr kumimoji="1" lang="en-US" altLang="zh-CN" sz="3200" b="1">
              <a:solidFill>
                <a:srgbClr val="000000"/>
              </a:solidFill>
              <a:latin typeface="Times New Roman" pitchFamily="18" charset="0"/>
            </a:endParaRPr>
          </a:p>
        </p:txBody>
      </p:sp>
      <p:grpSp>
        <p:nvGrpSpPr>
          <p:cNvPr id="46112" name="Group 6"/>
          <p:cNvGrpSpPr>
            <a:grpSpLocks/>
          </p:cNvGrpSpPr>
          <p:nvPr/>
        </p:nvGrpSpPr>
        <p:grpSpPr bwMode="auto">
          <a:xfrm>
            <a:off x="3348038" y="5322888"/>
            <a:ext cx="952500" cy="1057275"/>
            <a:chOff x="2004" y="3277"/>
            <a:chExt cx="600" cy="666"/>
          </a:xfrm>
        </p:grpSpPr>
        <p:grpSp>
          <p:nvGrpSpPr>
            <p:cNvPr id="46114" name="Group 7"/>
            <p:cNvGrpSpPr>
              <a:grpSpLocks/>
            </p:cNvGrpSpPr>
            <p:nvPr/>
          </p:nvGrpSpPr>
          <p:grpSpPr bwMode="auto">
            <a:xfrm>
              <a:off x="2004" y="3277"/>
              <a:ext cx="600" cy="234"/>
              <a:chOff x="2052" y="3277"/>
              <a:chExt cx="600" cy="234"/>
            </a:xfrm>
          </p:grpSpPr>
          <p:sp>
            <p:nvSpPr>
              <p:cNvPr id="46130" name="AutoShape 8"/>
              <p:cNvSpPr>
                <a:spLocks noChangeArrowheads="1"/>
              </p:cNvSpPr>
              <p:nvPr/>
            </p:nvSpPr>
            <p:spPr bwMode="auto">
              <a:xfrm>
                <a:off x="2052" y="3277"/>
                <a:ext cx="168" cy="234"/>
              </a:xfrm>
              <a:prstGeom prst="star4">
                <a:avLst>
                  <a:gd name="adj" fmla="val 12500"/>
                </a:avLst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46131" name="AutoShape 9"/>
              <p:cNvSpPr>
                <a:spLocks noChangeArrowheads="1"/>
              </p:cNvSpPr>
              <p:nvPr/>
            </p:nvSpPr>
            <p:spPr bwMode="auto">
              <a:xfrm>
                <a:off x="2196" y="3277"/>
                <a:ext cx="168" cy="234"/>
              </a:xfrm>
              <a:prstGeom prst="star4">
                <a:avLst>
                  <a:gd name="adj" fmla="val 12500"/>
                </a:avLst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46132" name="AutoShape 10"/>
              <p:cNvSpPr>
                <a:spLocks noChangeArrowheads="1"/>
              </p:cNvSpPr>
              <p:nvPr/>
            </p:nvSpPr>
            <p:spPr bwMode="auto">
              <a:xfrm>
                <a:off x="2340" y="3277"/>
                <a:ext cx="168" cy="234"/>
              </a:xfrm>
              <a:prstGeom prst="star4">
                <a:avLst>
                  <a:gd name="adj" fmla="val 12500"/>
                </a:avLst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46133" name="AutoShape 11"/>
              <p:cNvSpPr>
                <a:spLocks noChangeArrowheads="1"/>
              </p:cNvSpPr>
              <p:nvPr/>
            </p:nvSpPr>
            <p:spPr bwMode="auto">
              <a:xfrm>
                <a:off x="2484" y="3277"/>
                <a:ext cx="168" cy="234"/>
              </a:xfrm>
              <a:prstGeom prst="star4">
                <a:avLst>
                  <a:gd name="adj" fmla="val 12500"/>
                </a:avLst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46115" name="Group 12"/>
            <p:cNvGrpSpPr>
              <a:grpSpLocks/>
            </p:cNvGrpSpPr>
            <p:nvPr/>
          </p:nvGrpSpPr>
          <p:grpSpPr bwMode="auto">
            <a:xfrm>
              <a:off x="2004" y="3565"/>
              <a:ext cx="600" cy="234"/>
              <a:chOff x="2052" y="3277"/>
              <a:chExt cx="600" cy="234"/>
            </a:xfrm>
          </p:grpSpPr>
          <p:sp>
            <p:nvSpPr>
              <p:cNvPr id="46126" name="AutoShape 13"/>
              <p:cNvSpPr>
                <a:spLocks noChangeArrowheads="1"/>
              </p:cNvSpPr>
              <p:nvPr/>
            </p:nvSpPr>
            <p:spPr bwMode="auto">
              <a:xfrm>
                <a:off x="2052" y="3277"/>
                <a:ext cx="168" cy="234"/>
              </a:xfrm>
              <a:prstGeom prst="star4">
                <a:avLst>
                  <a:gd name="adj" fmla="val 12500"/>
                </a:avLst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46127" name="AutoShape 14"/>
              <p:cNvSpPr>
                <a:spLocks noChangeArrowheads="1"/>
              </p:cNvSpPr>
              <p:nvPr/>
            </p:nvSpPr>
            <p:spPr bwMode="auto">
              <a:xfrm>
                <a:off x="2196" y="3277"/>
                <a:ext cx="168" cy="234"/>
              </a:xfrm>
              <a:prstGeom prst="star4">
                <a:avLst>
                  <a:gd name="adj" fmla="val 12500"/>
                </a:avLst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46128" name="AutoShape 15"/>
              <p:cNvSpPr>
                <a:spLocks noChangeArrowheads="1"/>
              </p:cNvSpPr>
              <p:nvPr/>
            </p:nvSpPr>
            <p:spPr bwMode="auto">
              <a:xfrm>
                <a:off x="2340" y="3277"/>
                <a:ext cx="168" cy="234"/>
              </a:xfrm>
              <a:prstGeom prst="star4">
                <a:avLst>
                  <a:gd name="adj" fmla="val 12500"/>
                </a:avLst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46129" name="AutoShape 16"/>
              <p:cNvSpPr>
                <a:spLocks noChangeArrowheads="1"/>
              </p:cNvSpPr>
              <p:nvPr/>
            </p:nvSpPr>
            <p:spPr bwMode="auto">
              <a:xfrm>
                <a:off x="2484" y="3277"/>
                <a:ext cx="168" cy="234"/>
              </a:xfrm>
              <a:prstGeom prst="star4">
                <a:avLst>
                  <a:gd name="adj" fmla="val 12500"/>
                </a:avLst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46116" name="Group 17"/>
            <p:cNvGrpSpPr>
              <a:grpSpLocks/>
            </p:cNvGrpSpPr>
            <p:nvPr/>
          </p:nvGrpSpPr>
          <p:grpSpPr bwMode="auto">
            <a:xfrm>
              <a:off x="2004" y="3421"/>
              <a:ext cx="600" cy="234"/>
              <a:chOff x="2052" y="3277"/>
              <a:chExt cx="600" cy="234"/>
            </a:xfrm>
          </p:grpSpPr>
          <p:sp>
            <p:nvSpPr>
              <p:cNvPr id="46122" name="AutoShape 18"/>
              <p:cNvSpPr>
                <a:spLocks noChangeArrowheads="1"/>
              </p:cNvSpPr>
              <p:nvPr/>
            </p:nvSpPr>
            <p:spPr bwMode="auto">
              <a:xfrm>
                <a:off x="2052" y="3277"/>
                <a:ext cx="168" cy="234"/>
              </a:xfrm>
              <a:prstGeom prst="star4">
                <a:avLst>
                  <a:gd name="adj" fmla="val 12500"/>
                </a:avLst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46123" name="AutoShape 19"/>
              <p:cNvSpPr>
                <a:spLocks noChangeArrowheads="1"/>
              </p:cNvSpPr>
              <p:nvPr/>
            </p:nvSpPr>
            <p:spPr bwMode="auto">
              <a:xfrm>
                <a:off x="2196" y="3277"/>
                <a:ext cx="168" cy="234"/>
              </a:xfrm>
              <a:prstGeom prst="star4">
                <a:avLst>
                  <a:gd name="adj" fmla="val 12500"/>
                </a:avLst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46124" name="AutoShape 20"/>
              <p:cNvSpPr>
                <a:spLocks noChangeArrowheads="1"/>
              </p:cNvSpPr>
              <p:nvPr/>
            </p:nvSpPr>
            <p:spPr bwMode="auto">
              <a:xfrm>
                <a:off x="2340" y="3277"/>
                <a:ext cx="168" cy="234"/>
              </a:xfrm>
              <a:prstGeom prst="star4">
                <a:avLst>
                  <a:gd name="adj" fmla="val 12500"/>
                </a:avLst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46125" name="AutoShape 21"/>
              <p:cNvSpPr>
                <a:spLocks noChangeArrowheads="1"/>
              </p:cNvSpPr>
              <p:nvPr/>
            </p:nvSpPr>
            <p:spPr bwMode="auto">
              <a:xfrm>
                <a:off x="2484" y="3277"/>
                <a:ext cx="168" cy="234"/>
              </a:xfrm>
              <a:prstGeom prst="star4">
                <a:avLst>
                  <a:gd name="adj" fmla="val 12500"/>
                </a:avLst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46117" name="Group 22"/>
            <p:cNvGrpSpPr>
              <a:grpSpLocks/>
            </p:cNvGrpSpPr>
            <p:nvPr/>
          </p:nvGrpSpPr>
          <p:grpSpPr bwMode="auto">
            <a:xfrm>
              <a:off x="2004" y="3709"/>
              <a:ext cx="600" cy="234"/>
              <a:chOff x="2052" y="3277"/>
              <a:chExt cx="600" cy="234"/>
            </a:xfrm>
          </p:grpSpPr>
          <p:sp>
            <p:nvSpPr>
              <p:cNvPr id="46118" name="AutoShape 23"/>
              <p:cNvSpPr>
                <a:spLocks noChangeArrowheads="1"/>
              </p:cNvSpPr>
              <p:nvPr/>
            </p:nvSpPr>
            <p:spPr bwMode="auto">
              <a:xfrm>
                <a:off x="2052" y="3277"/>
                <a:ext cx="168" cy="234"/>
              </a:xfrm>
              <a:prstGeom prst="star4">
                <a:avLst>
                  <a:gd name="adj" fmla="val 12500"/>
                </a:avLst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46119" name="AutoShape 24"/>
              <p:cNvSpPr>
                <a:spLocks noChangeArrowheads="1"/>
              </p:cNvSpPr>
              <p:nvPr/>
            </p:nvSpPr>
            <p:spPr bwMode="auto">
              <a:xfrm>
                <a:off x="2196" y="3277"/>
                <a:ext cx="168" cy="234"/>
              </a:xfrm>
              <a:prstGeom prst="star4">
                <a:avLst>
                  <a:gd name="adj" fmla="val 12500"/>
                </a:avLst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46120" name="AutoShape 25"/>
              <p:cNvSpPr>
                <a:spLocks noChangeArrowheads="1"/>
              </p:cNvSpPr>
              <p:nvPr/>
            </p:nvSpPr>
            <p:spPr bwMode="auto">
              <a:xfrm>
                <a:off x="2340" y="3277"/>
                <a:ext cx="168" cy="234"/>
              </a:xfrm>
              <a:prstGeom prst="star4">
                <a:avLst>
                  <a:gd name="adj" fmla="val 12500"/>
                </a:avLst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46121" name="AutoShape 26"/>
              <p:cNvSpPr>
                <a:spLocks noChangeArrowheads="1"/>
              </p:cNvSpPr>
              <p:nvPr/>
            </p:nvSpPr>
            <p:spPr bwMode="auto">
              <a:xfrm>
                <a:off x="2484" y="3277"/>
                <a:ext cx="168" cy="234"/>
              </a:xfrm>
              <a:prstGeom prst="star4">
                <a:avLst>
                  <a:gd name="adj" fmla="val 12500"/>
                </a:avLst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</p:grpSp>
      <p:grpSp>
        <p:nvGrpSpPr>
          <p:cNvPr id="46103" name="Group 29"/>
          <p:cNvGrpSpPr>
            <a:grpSpLocks/>
          </p:cNvGrpSpPr>
          <p:nvPr/>
        </p:nvGrpSpPr>
        <p:grpSpPr bwMode="auto">
          <a:xfrm>
            <a:off x="4191000" y="4076700"/>
            <a:ext cx="1371600" cy="1514475"/>
            <a:chOff x="4056" y="2640"/>
            <a:chExt cx="864" cy="954"/>
          </a:xfrm>
        </p:grpSpPr>
        <p:sp>
          <p:nvSpPr>
            <p:cNvPr id="46105" name="AutoShape 30"/>
            <p:cNvSpPr>
              <a:spLocks noChangeArrowheads="1"/>
            </p:cNvSpPr>
            <p:nvPr/>
          </p:nvSpPr>
          <p:spPr bwMode="auto">
            <a:xfrm>
              <a:off x="4056" y="3360"/>
              <a:ext cx="168" cy="234"/>
            </a:xfrm>
            <a:prstGeom prst="star4">
              <a:avLst>
                <a:gd name="adj" fmla="val 12500"/>
              </a:avLst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46106" name="AutoShape 31"/>
            <p:cNvSpPr>
              <a:spLocks noChangeArrowheads="1"/>
            </p:cNvSpPr>
            <p:nvPr/>
          </p:nvSpPr>
          <p:spPr bwMode="auto">
            <a:xfrm>
              <a:off x="4176" y="3222"/>
              <a:ext cx="168" cy="234"/>
            </a:xfrm>
            <a:prstGeom prst="star4">
              <a:avLst>
                <a:gd name="adj" fmla="val 12500"/>
              </a:avLst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46107" name="AutoShape 32"/>
            <p:cNvSpPr>
              <a:spLocks noChangeArrowheads="1"/>
            </p:cNvSpPr>
            <p:nvPr/>
          </p:nvSpPr>
          <p:spPr bwMode="auto">
            <a:xfrm>
              <a:off x="4296" y="3120"/>
              <a:ext cx="168" cy="234"/>
            </a:xfrm>
            <a:prstGeom prst="star4">
              <a:avLst>
                <a:gd name="adj" fmla="val 12500"/>
              </a:avLst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46108" name="AutoShape 33"/>
            <p:cNvSpPr>
              <a:spLocks noChangeArrowheads="1"/>
            </p:cNvSpPr>
            <p:nvPr/>
          </p:nvSpPr>
          <p:spPr bwMode="auto">
            <a:xfrm>
              <a:off x="4392" y="2982"/>
              <a:ext cx="168" cy="234"/>
            </a:xfrm>
            <a:prstGeom prst="star4">
              <a:avLst>
                <a:gd name="adj" fmla="val 12500"/>
              </a:avLst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46109" name="AutoShape 34"/>
            <p:cNvSpPr>
              <a:spLocks noChangeArrowheads="1"/>
            </p:cNvSpPr>
            <p:nvPr/>
          </p:nvSpPr>
          <p:spPr bwMode="auto">
            <a:xfrm>
              <a:off x="4632" y="2784"/>
              <a:ext cx="168" cy="234"/>
            </a:xfrm>
            <a:prstGeom prst="star4">
              <a:avLst>
                <a:gd name="adj" fmla="val 12500"/>
              </a:avLst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46110" name="AutoShape 35"/>
            <p:cNvSpPr>
              <a:spLocks noChangeArrowheads="1"/>
            </p:cNvSpPr>
            <p:nvPr/>
          </p:nvSpPr>
          <p:spPr bwMode="auto">
            <a:xfrm>
              <a:off x="4752" y="2640"/>
              <a:ext cx="168" cy="234"/>
            </a:xfrm>
            <a:prstGeom prst="star4">
              <a:avLst>
                <a:gd name="adj" fmla="val 12500"/>
              </a:avLst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46111" name="AutoShape 36"/>
            <p:cNvSpPr>
              <a:spLocks noChangeArrowheads="1"/>
            </p:cNvSpPr>
            <p:nvPr/>
          </p:nvSpPr>
          <p:spPr bwMode="auto">
            <a:xfrm>
              <a:off x="4512" y="2886"/>
              <a:ext cx="168" cy="234"/>
            </a:xfrm>
            <a:prstGeom prst="star4">
              <a:avLst>
                <a:gd name="adj" fmla="val 12500"/>
              </a:avLst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</p:grpSp>
      <p:sp>
        <p:nvSpPr>
          <p:cNvPr id="24618" name="Text Box 42"/>
          <p:cNvSpPr txBox="1">
            <a:spLocks noChangeArrowheads="1"/>
          </p:cNvSpPr>
          <p:nvPr/>
        </p:nvSpPr>
        <p:spPr bwMode="auto">
          <a:xfrm>
            <a:off x="5210175" y="1306513"/>
            <a:ext cx="3729038" cy="938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zh-CN" altLang="en-US" sz="2500" b="1">
                <a:solidFill>
                  <a:srgbClr val="000000"/>
                </a:solidFill>
                <a:latin typeface="宋体" pitchFamily="2" charset="-122"/>
              </a:rPr>
              <a:t>存储器地址寄存器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zh-CN" altLang="en-US" sz="2500" b="1">
                <a:solidFill>
                  <a:srgbClr val="000000"/>
                </a:solidFill>
                <a:latin typeface="宋体" pitchFamily="2" charset="-122"/>
              </a:rPr>
              <a:t>位数反映存储单元的个数</a:t>
            </a:r>
          </a:p>
        </p:txBody>
      </p:sp>
      <p:sp>
        <p:nvSpPr>
          <p:cNvPr id="24619" name="Text Box 43"/>
          <p:cNvSpPr txBox="1">
            <a:spLocks noChangeArrowheads="1"/>
          </p:cNvSpPr>
          <p:nvPr/>
        </p:nvSpPr>
        <p:spPr bwMode="auto">
          <a:xfrm>
            <a:off x="5210175" y="2549525"/>
            <a:ext cx="2762250" cy="938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zh-CN" altLang="en-US" sz="2500" b="1">
                <a:solidFill>
                  <a:srgbClr val="000000"/>
                </a:solidFill>
                <a:latin typeface="宋体" pitchFamily="2" charset="-122"/>
              </a:rPr>
              <a:t>存储器数据寄存器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zh-CN" altLang="en-US" sz="2500" b="1">
                <a:solidFill>
                  <a:srgbClr val="000000"/>
                </a:solidFill>
                <a:latin typeface="宋体" pitchFamily="2" charset="-122"/>
              </a:rPr>
              <a:t>位数反映存储字长</a:t>
            </a:r>
          </a:p>
        </p:txBody>
      </p:sp>
      <p:grpSp>
        <p:nvGrpSpPr>
          <p:cNvPr id="14" name="Group 45"/>
          <p:cNvGrpSpPr>
            <a:grpSpLocks/>
          </p:cNvGrpSpPr>
          <p:nvPr/>
        </p:nvGrpSpPr>
        <p:grpSpPr bwMode="auto">
          <a:xfrm>
            <a:off x="1066800" y="1905000"/>
            <a:ext cx="2209800" cy="3352800"/>
            <a:chOff x="672" y="1200"/>
            <a:chExt cx="1392" cy="2112"/>
          </a:xfrm>
        </p:grpSpPr>
        <p:sp>
          <p:nvSpPr>
            <p:cNvPr id="46093" name="Text Box 46"/>
            <p:cNvSpPr txBox="1">
              <a:spLocks noChangeArrowheads="1"/>
            </p:cNvSpPr>
            <p:nvPr/>
          </p:nvSpPr>
          <p:spPr bwMode="auto">
            <a:xfrm>
              <a:off x="1450" y="2337"/>
              <a:ext cx="53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>
              <a:spAutoFit/>
            </a:bodyPr>
            <a:lstStyle>
              <a:lvl1pPr>
                <a:defRPr sz="3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dist" fontAlgn="base">
                <a:spcBef>
                  <a:spcPct val="20000"/>
                </a:spcBef>
                <a:spcAft>
                  <a:spcPct val="0"/>
                </a:spcAft>
              </a:pPr>
              <a:r>
                <a:rPr kumimoji="1" lang="en-US" altLang="zh-CN" sz="2800" b="1">
                  <a:solidFill>
                    <a:srgbClr val="000000"/>
                  </a:solidFill>
                  <a:latin typeface="Times New Roman" pitchFamily="18" charset="0"/>
                </a:rPr>
                <a:t>MDR</a:t>
              </a:r>
            </a:p>
          </p:txBody>
        </p:sp>
        <p:sp>
          <p:nvSpPr>
            <p:cNvPr id="46094" name="Rectangle 47"/>
            <p:cNvSpPr>
              <a:spLocks noChangeArrowheads="1"/>
            </p:cNvSpPr>
            <p:nvPr/>
          </p:nvSpPr>
          <p:spPr bwMode="auto">
            <a:xfrm>
              <a:off x="672" y="1200"/>
              <a:ext cx="1392" cy="2112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46095" name="Rectangle 48"/>
            <p:cNvSpPr>
              <a:spLocks noChangeArrowheads="1"/>
            </p:cNvSpPr>
            <p:nvPr/>
          </p:nvSpPr>
          <p:spPr bwMode="auto">
            <a:xfrm>
              <a:off x="990" y="2928"/>
              <a:ext cx="77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20000"/>
                </a:spcBef>
                <a:spcAft>
                  <a:spcPct val="0"/>
                </a:spcAft>
              </a:pPr>
              <a:r>
                <a:rPr kumimoji="1" lang="zh-CN" altLang="en-US" sz="2400" b="1">
                  <a:solidFill>
                    <a:srgbClr val="000000"/>
                  </a:solidFill>
                  <a:latin typeface="宋体" pitchFamily="2" charset="-122"/>
                </a:rPr>
                <a:t>主存储器</a:t>
              </a:r>
            </a:p>
          </p:txBody>
        </p:sp>
        <p:sp>
          <p:nvSpPr>
            <p:cNvPr id="46096" name="Text Box 49"/>
            <p:cNvSpPr txBox="1">
              <a:spLocks noChangeArrowheads="1"/>
            </p:cNvSpPr>
            <p:nvPr/>
          </p:nvSpPr>
          <p:spPr bwMode="auto">
            <a:xfrm>
              <a:off x="960" y="1536"/>
              <a:ext cx="79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fontAlgn="base">
                <a:spcBef>
                  <a:spcPct val="20000"/>
                </a:spcBef>
                <a:spcAft>
                  <a:spcPct val="0"/>
                </a:spcAft>
              </a:pPr>
              <a:r>
                <a:rPr kumimoji="1" lang="zh-CN" altLang="en-US" sz="2800" b="1">
                  <a:solidFill>
                    <a:srgbClr val="000000"/>
                  </a:solidFill>
                  <a:latin typeface="宋体" pitchFamily="2" charset="-122"/>
                </a:rPr>
                <a:t>存储体</a:t>
              </a:r>
            </a:p>
          </p:txBody>
        </p:sp>
        <p:sp>
          <p:nvSpPr>
            <p:cNvPr id="46097" name="Rectangle 50"/>
            <p:cNvSpPr>
              <a:spLocks noChangeArrowheads="1"/>
            </p:cNvSpPr>
            <p:nvPr/>
          </p:nvSpPr>
          <p:spPr bwMode="auto">
            <a:xfrm>
              <a:off x="828" y="1392"/>
              <a:ext cx="1056" cy="672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46098" name="Text Box 51"/>
            <p:cNvSpPr txBox="1">
              <a:spLocks noChangeArrowheads="1"/>
            </p:cNvSpPr>
            <p:nvPr/>
          </p:nvSpPr>
          <p:spPr bwMode="auto">
            <a:xfrm>
              <a:off x="804" y="2337"/>
              <a:ext cx="53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>
              <a:spAutoFit/>
            </a:bodyPr>
            <a:lstStyle>
              <a:lvl1pPr>
                <a:defRPr sz="3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dist" fontAlgn="base">
                <a:spcBef>
                  <a:spcPct val="20000"/>
                </a:spcBef>
                <a:spcAft>
                  <a:spcPct val="0"/>
                </a:spcAft>
              </a:pPr>
              <a:r>
                <a:rPr kumimoji="1" lang="en-US" altLang="zh-CN" sz="2800" b="1">
                  <a:solidFill>
                    <a:srgbClr val="000000"/>
                  </a:solidFill>
                  <a:latin typeface="Times New Roman" pitchFamily="18" charset="0"/>
                </a:rPr>
                <a:t>MAR</a:t>
              </a:r>
            </a:p>
          </p:txBody>
        </p:sp>
        <p:sp>
          <p:nvSpPr>
            <p:cNvPr id="46099" name="Rectangle 52"/>
            <p:cNvSpPr>
              <a:spLocks noChangeArrowheads="1"/>
            </p:cNvSpPr>
            <p:nvPr/>
          </p:nvSpPr>
          <p:spPr bwMode="auto">
            <a:xfrm>
              <a:off x="768" y="2342"/>
              <a:ext cx="568" cy="336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46100" name="Rectangle 53"/>
            <p:cNvSpPr>
              <a:spLocks noChangeArrowheads="1"/>
            </p:cNvSpPr>
            <p:nvPr/>
          </p:nvSpPr>
          <p:spPr bwMode="auto">
            <a:xfrm>
              <a:off x="1416" y="2342"/>
              <a:ext cx="593" cy="336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</p:grpSp>
      <p:sp>
        <p:nvSpPr>
          <p:cNvPr id="46092" name="AutoShape 54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3573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4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4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autoUpdateAnimBg="0"/>
      <p:bldP spid="24580" grpId="0" autoUpdateAnimBg="0"/>
      <p:bldP spid="24618" grpId="0" autoUpdateAnimBg="0"/>
      <p:bldP spid="24619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323528" y="3212976"/>
            <a:ext cx="273526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kumimoji="1" lang="en-US" altLang="zh-CN" sz="3200" b="1" dirty="0" smtClean="0">
                <a:solidFill>
                  <a:srgbClr val="000000"/>
                </a:solidFill>
                <a:latin typeface="Times New Roman" pitchFamily="18" charset="0"/>
              </a:rPr>
              <a:t>  </a:t>
            </a:r>
            <a:r>
              <a:rPr kumimoji="1" lang="zh-CN" altLang="en-US" sz="3200" b="1" dirty="0" smtClean="0">
                <a:solidFill>
                  <a:srgbClr val="000000"/>
                </a:solidFill>
                <a:latin typeface="宋体" pitchFamily="2" charset="-122"/>
              </a:rPr>
              <a:t>机器</a:t>
            </a:r>
            <a:r>
              <a:rPr kumimoji="1" lang="zh-CN" altLang="en-US" sz="3200" b="1" dirty="0">
                <a:solidFill>
                  <a:srgbClr val="000000"/>
                </a:solidFill>
                <a:latin typeface="宋体" pitchFamily="2" charset="-122"/>
              </a:rPr>
              <a:t>字长</a:t>
            </a:r>
          </a:p>
        </p:txBody>
      </p:sp>
      <p:sp>
        <p:nvSpPr>
          <p:cNvPr id="34822" name="Text Box 6"/>
          <p:cNvSpPr txBox="1">
            <a:spLocks noChangeArrowheads="1"/>
          </p:cNvSpPr>
          <p:nvPr/>
        </p:nvSpPr>
        <p:spPr bwMode="auto">
          <a:xfrm>
            <a:off x="2699792" y="3212976"/>
            <a:ext cx="5757863" cy="938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CN" sz="2500" b="1" dirty="0" smtClean="0">
                <a:latin typeface="+mn-ea"/>
                <a:ea typeface="+mn-ea"/>
              </a:rPr>
              <a:t>CPU</a:t>
            </a:r>
            <a:r>
              <a:rPr kumimoji="1" lang="zh-CN" altLang="en-US" sz="2500" b="1" dirty="0" smtClean="0">
                <a:latin typeface="+mn-ea"/>
                <a:ea typeface="+mn-ea"/>
              </a:rPr>
              <a:t>一</a:t>
            </a:r>
            <a:r>
              <a:rPr kumimoji="1" lang="zh-CN" altLang="en-US" sz="2500" b="1" dirty="0">
                <a:latin typeface="+mn-ea"/>
                <a:ea typeface="+mn-ea"/>
              </a:rPr>
              <a:t>次能处理数据的位数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zh-CN" altLang="en-US" sz="2500" b="1" dirty="0" smtClean="0">
                <a:latin typeface="+mn-ea"/>
                <a:ea typeface="+mn-ea"/>
              </a:rPr>
              <a:t>与</a:t>
            </a:r>
            <a:r>
              <a:rPr kumimoji="1" lang="en-US" altLang="zh-CN" sz="2500" b="1" dirty="0" smtClean="0">
                <a:latin typeface="+mn-ea"/>
                <a:ea typeface="+mn-ea"/>
              </a:rPr>
              <a:t>CPU</a:t>
            </a:r>
            <a:r>
              <a:rPr kumimoji="1" lang="zh-CN" altLang="en-US" sz="2500" b="1" dirty="0" smtClean="0">
                <a:latin typeface="+mn-ea"/>
                <a:ea typeface="+mn-ea"/>
              </a:rPr>
              <a:t>中的寄存器位数有关</a:t>
            </a:r>
            <a:endParaRPr kumimoji="1" lang="zh-CN" altLang="en-US" sz="2500" b="1" dirty="0">
              <a:latin typeface="+mn-ea"/>
              <a:ea typeface="+mn-ea"/>
            </a:endParaRPr>
          </a:p>
        </p:txBody>
      </p:sp>
      <p:sp>
        <p:nvSpPr>
          <p:cNvPr id="66572" name="AutoShape 27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628800"/>
            <a:ext cx="6754813" cy="749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411760" y="2378100"/>
            <a:ext cx="4248472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900" dirty="0" smtClean="0"/>
              <a:t>存储字长和</a:t>
            </a:r>
            <a:r>
              <a:rPr lang="en-US" altLang="zh-CN" sz="1900" dirty="0" smtClean="0"/>
              <a:t>MDR</a:t>
            </a:r>
            <a:r>
              <a:rPr lang="zh-CN" altLang="en-US" sz="1900" dirty="0" smtClean="0"/>
              <a:t>寄存位数有关</a:t>
            </a:r>
            <a:endParaRPr lang="zh-CN" altLang="en-US" sz="1900" dirty="0"/>
          </a:p>
        </p:txBody>
      </p:sp>
    </p:spTree>
    <p:extLst>
      <p:ext uri="{BB962C8B-B14F-4D97-AF65-F5344CB8AC3E}">
        <p14:creationId xmlns:p14="http://schemas.microsoft.com/office/powerpoint/2010/main" val="4199446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4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9" grpId="0" autoUpdateAnimBg="0"/>
      <p:bldP spid="34822" grpId="0" autoUpdateAnimBg="0"/>
    </p:bldLst>
  </p:timing>
</p:sld>
</file>

<file path=ppt/theme/theme1.xml><?xml version="1.0" encoding="utf-8"?>
<a:theme xmlns:a="http://schemas.openxmlformats.org/drawingml/2006/main" name="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3_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570</Words>
  <Application>Microsoft Office PowerPoint</Application>
  <PresentationFormat>全屏显示(4:3)</PresentationFormat>
  <Paragraphs>91</Paragraphs>
  <Slides>7</Slides>
  <Notes>6</Notes>
  <HiddenSlides>0</HiddenSlides>
  <MMClips>0</MMClips>
  <ScaleCrop>false</ScaleCrop>
  <HeadingPairs>
    <vt:vector size="4" baseType="variant">
      <vt:variant>
        <vt:lpstr>主题</vt:lpstr>
      </vt:variant>
      <vt:variant>
        <vt:i4>5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Network</vt:lpstr>
      <vt:lpstr>1_Network</vt:lpstr>
      <vt:lpstr>2_Network</vt:lpstr>
      <vt:lpstr>3_Network</vt:lpstr>
      <vt:lpstr>4_Network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</dc:creator>
  <cp:lastModifiedBy>admin</cp:lastModifiedBy>
  <cp:revision>6</cp:revision>
  <dcterms:created xsi:type="dcterms:W3CDTF">2024-02-28T04:05:38Z</dcterms:created>
  <dcterms:modified xsi:type="dcterms:W3CDTF">2024-03-01T06:44:22Z</dcterms:modified>
</cp:coreProperties>
</file>